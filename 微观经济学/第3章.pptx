
<file path=[Content_Types].xml><?xml version="1.0" encoding="utf-8"?>
<Types xmlns="http://schemas.openxmlformats.org/package/2006/content-types">
  <Default Extension="bin" ContentType="application/vnd.openxmlformats-officedocument.oleObject"/>
  <Default Extension="jpg" ContentType="image/jpeg"/>
  <Default Extension="png" ContentType="image/png"/>
  <Default Extension="rels" ContentType="application/vnd.openxmlformats-package.relationships+xml"/>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925" r:id="rId2"/>
  </p:sldMasterIdLst>
  <p:notesMasterIdLst>
    <p:notesMasterId r:id="rId85"/>
  </p:notesMasterIdLst>
  <p:sldIdLst>
    <p:sldId id="256" r:id="rId3"/>
    <p:sldId id="258" r:id="rId4"/>
    <p:sldId id="259" r:id="rId5"/>
    <p:sldId id="489" r:id="rId6"/>
    <p:sldId id="490" r:id="rId7"/>
    <p:sldId id="555" r:id="rId8"/>
    <p:sldId id="491" r:id="rId9"/>
    <p:sldId id="492" r:id="rId10"/>
    <p:sldId id="493" r:id="rId11"/>
    <p:sldId id="558" r:id="rId12"/>
    <p:sldId id="494" r:id="rId13"/>
    <p:sldId id="495" r:id="rId14"/>
    <p:sldId id="496" r:id="rId15"/>
    <p:sldId id="497" r:id="rId16"/>
    <p:sldId id="498" r:id="rId17"/>
    <p:sldId id="499" r:id="rId18"/>
    <p:sldId id="559" r:id="rId19"/>
    <p:sldId id="500" r:id="rId20"/>
    <p:sldId id="501" r:id="rId21"/>
    <p:sldId id="502" r:id="rId22"/>
    <p:sldId id="503" r:id="rId23"/>
    <p:sldId id="504" r:id="rId24"/>
    <p:sldId id="505" r:id="rId25"/>
    <p:sldId id="506" r:id="rId26"/>
    <p:sldId id="507" r:id="rId27"/>
    <p:sldId id="508" r:id="rId28"/>
    <p:sldId id="509" r:id="rId29"/>
    <p:sldId id="510" r:id="rId30"/>
    <p:sldId id="511" r:id="rId31"/>
    <p:sldId id="512" r:id="rId32"/>
    <p:sldId id="513" r:id="rId33"/>
    <p:sldId id="514" r:id="rId34"/>
    <p:sldId id="515" r:id="rId35"/>
    <p:sldId id="516" r:id="rId36"/>
    <p:sldId id="517" r:id="rId37"/>
    <p:sldId id="518" r:id="rId38"/>
    <p:sldId id="519" r:id="rId39"/>
    <p:sldId id="568" r:id="rId40"/>
    <p:sldId id="566" r:id="rId41"/>
    <p:sldId id="569" r:id="rId42"/>
    <p:sldId id="520" r:id="rId43"/>
    <p:sldId id="521" r:id="rId44"/>
    <p:sldId id="522" r:id="rId45"/>
    <p:sldId id="560" r:id="rId46"/>
    <p:sldId id="523" r:id="rId47"/>
    <p:sldId id="561" r:id="rId48"/>
    <p:sldId id="562" r:id="rId49"/>
    <p:sldId id="563" r:id="rId50"/>
    <p:sldId id="564" r:id="rId51"/>
    <p:sldId id="565" r:id="rId52"/>
    <p:sldId id="524" r:id="rId53"/>
    <p:sldId id="525" r:id="rId54"/>
    <p:sldId id="527" r:id="rId55"/>
    <p:sldId id="526" r:id="rId56"/>
    <p:sldId id="528" r:id="rId57"/>
    <p:sldId id="529" r:id="rId58"/>
    <p:sldId id="530" r:id="rId59"/>
    <p:sldId id="531" r:id="rId60"/>
    <p:sldId id="532" r:id="rId61"/>
    <p:sldId id="533" r:id="rId62"/>
    <p:sldId id="534" r:id="rId63"/>
    <p:sldId id="556" r:id="rId64"/>
    <p:sldId id="535" r:id="rId65"/>
    <p:sldId id="536" r:id="rId66"/>
    <p:sldId id="537" r:id="rId67"/>
    <p:sldId id="538" r:id="rId68"/>
    <p:sldId id="539" r:id="rId69"/>
    <p:sldId id="540" r:id="rId70"/>
    <p:sldId id="541" r:id="rId71"/>
    <p:sldId id="542" r:id="rId72"/>
    <p:sldId id="543" r:id="rId73"/>
    <p:sldId id="544" r:id="rId74"/>
    <p:sldId id="557" r:id="rId75"/>
    <p:sldId id="545" r:id="rId76"/>
    <p:sldId id="546" r:id="rId77"/>
    <p:sldId id="547" r:id="rId78"/>
    <p:sldId id="548" r:id="rId79"/>
    <p:sldId id="549" r:id="rId80"/>
    <p:sldId id="550" r:id="rId81"/>
    <p:sldId id="551" r:id="rId82"/>
    <p:sldId id="552" r:id="rId83"/>
    <p:sldId id="554" r:id="rId84"/>
  </p:sldIdLst>
  <p:sldSz cx="9144000" cy="6858000" type="screen4x3"/>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B1528"/>
    <a:srgbClr val="FF9900"/>
    <a:srgbClr val="0066FF"/>
    <a:srgbClr val="638713"/>
    <a:srgbClr val="96CB1C"/>
    <a:srgbClr val="A7ACB8"/>
    <a:srgbClr val="F3C97F"/>
    <a:srgbClr val="7F7F7F"/>
    <a:srgbClr val="E422BA"/>
    <a:srgbClr val="CC39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676" autoAdjust="0"/>
    <p:restoredTop sz="94660"/>
  </p:normalViewPr>
  <p:slideViewPr>
    <p:cSldViewPr>
      <p:cViewPr varScale="1">
        <p:scale>
          <a:sx n="77" d="100"/>
          <a:sy n="77" d="100"/>
        </p:scale>
        <p:origin x="90" y="34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image" Target="../media/image23.wmf"/><Relationship Id="rId7" Type="http://schemas.openxmlformats.org/officeDocument/2006/relationships/image" Target="../media/image27.wmf"/><Relationship Id="rId2" Type="http://schemas.openxmlformats.org/officeDocument/2006/relationships/image" Target="../media/image22.wmf"/><Relationship Id="rId1" Type="http://schemas.openxmlformats.org/officeDocument/2006/relationships/image" Target="../media/image21.wmf"/><Relationship Id="rId6" Type="http://schemas.openxmlformats.org/officeDocument/2006/relationships/image" Target="../media/image26.wmf"/><Relationship Id="rId5" Type="http://schemas.openxmlformats.org/officeDocument/2006/relationships/image" Target="../media/image25.wmf"/><Relationship Id="rId10" Type="http://schemas.openxmlformats.org/officeDocument/2006/relationships/image" Target="../media/image30.wmf"/><Relationship Id="rId4" Type="http://schemas.openxmlformats.org/officeDocument/2006/relationships/image" Target="../media/image24.wmf"/><Relationship Id="rId9" Type="http://schemas.openxmlformats.org/officeDocument/2006/relationships/image" Target="../media/image29.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image" Target="../media/image23.wmf"/><Relationship Id="rId7" Type="http://schemas.openxmlformats.org/officeDocument/2006/relationships/image" Target="../media/image27.wmf"/><Relationship Id="rId2" Type="http://schemas.openxmlformats.org/officeDocument/2006/relationships/image" Target="../media/image22.wmf"/><Relationship Id="rId1" Type="http://schemas.openxmlformats.org/officeDocument/2006/relationships/image" Target="../media/image21.wmf"/><Relationship Id="rId6" Type="http://schemas.openxmlformats.org/officeDocument/2006/relationships/image" Target="../media/image26.wmf"/><Relationship Id="rId5" Type="http://schemas.openxmlformats.org/officeDocument/2006/relationships/image" Target="../media/image25.wmf"/><Relationship Id="rId10" Type="http://schemas.openxmlformats.org/officeDocument/2006/relationships/image" Target="../media/image30.wmf"/><Relationship Id="rId4" Type="http://schemas.openxmlformats.org/officeDocument/2006/relationships/image" Target="../media/image24.wmf"/><Relationship Id="rId9" Type="http://schemas.openxmlformats.org/officeDocument/2006/relationships/image" Target="../media/image29.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image" Target="../media/image23.wmf"/><Relationship Id="rId7" Type="http://schemas.openxmlformats.org/officeDocument/2006/relationships/image" Target="../media/image27.wmf"/><Relationship Id="rId2" Type="http://schemas.openxmlformats.org/officeDocument/2006/relationships/image" Target="../media/image22.wmf"/><Relationship Id="rId1" Type="http://schemas.openxmlformats.org/officeDocument/2006/relationships/image" Target="../media/image21.wmf"/><Relationship Id="rId6" Type="http://schemas.openxmlformats.org/officeDocument/2006/relationships/image" Target="../media/image26.wmf"/><Relationship Id="rId5" Type="http://schemas.openxmlformats.org/officeDocument/2006/relationships/image" Target="../media/image25.wmf"/><Relationship Id="rId10" Type="http://schemas.openxmlformats.org/officeDocument/2006/relationships/image" Target="../media/image30.wmf"/><Relationship Id="rId4" Type="http://schemas.openxmlformats.org/officeDocument/2006/relationships/image" Target="../media/image24.wmf"/><Relationship Id="rId9" Type="http://schemas.openxmlformats.org/officeDocument/2006/relationships/image" Target="../media/image29.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38.wmf"/><Relationship Id="rId13" Type="http://schemas.openxmlformats.org/officeDocument/2006/relationships/image" Target="../media/image43.wmf"/><Relationship Id="rId18" Type="http://schemas.openxmlformats.org/officeDocument/2006/relationships/image" Target="../media/image48.wmf"/><Relationship Id="rId3" Type="http://schemas.openxmlformats.org/officeDocument/2006/relationships/image" Target="../media/image33.wmf"/><Relationship Id="rId7" Type="http://schemas.openxmlformats.org/officeDocument/2006/relationships/image" Target="../media/image37.wmf"/><Relationship Id="rId12" Type="http://schemas.openxmlformats.org/officeDocument/2006/relationships/image" Target="../media/image42.wmf"/><Relationship Id="rId17" Type="http://schemas.openxmlformats.org/officeDocument/2006/relationships/image" Target="../media/image47.wmf"/><Relationship Id="rId2" Type="http://schemas.openxmlformats.org/officeDocument/2006/relationships/image" Target="../media/image32.wmf"/><Relationship Id="rId16" Type="http://schemas.openxmlformats.org/officeDocument/2006/relationships/image" Target="../media/image46.wmf"/><Relationship Id="rId1" Type="http://schemas.openxmlformats.org/officeDocument/2006/relationships/image" Target="../media/image31.wmf"/><Relationship Id="rId6" Type="http://schemas.openxmlformats.org/officeDocument/2006/relationships/image" Target="../media/image36.wmf"/><Relationship Id="rId11" Type="http://schemas.openxmlformats.org/officeDocument/2006/relationships/image" Target="../media/image41.wmf"/><Relationship Id="rId5" Type="http://schemas.openxmlformats.org/officeDocument/2006/relationships/image" Target="../media/image35.wmf"/><Relationship Id="rId15" Type="http://schemas.openxmlformats.org/officeDocument/2006/relationships/image" Target="../media/image45.wmf"/><Relationship Id="rId10" Type="http://schemas.openxmlformats.org/officeDocument/2006/relationships/image" Target="../media/image40.wmf"/><Relationship Id="rId4" Type="http://schemas.openxmlformats.org/officeDocument/2006/relationships/image" Target="../media/image34.wmf"/><Relationship Id="rId9" Type="http://schemas.openxmlformats.org/officeDocument/2006/relationships/image" Target="../media/image39.wmf"/><Relationship Id="rId14" Type="http://schemas.openxmlformats.org/officeDocument/2006/relationships/image" Target="../media/image44.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image" Target="../media/image51.wmf"/><Relationship Id="rId7" Type="http://schemas.openxmlformats.org/officeDocument/2006/relationships/image" Target="../media/image55.wmf"/><Relationship Id="rId12" Type="http://schemas.openxmlformats.org/officeDocument/2006/relationships/image" Target="../media/image60.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54.wmf"/><Relationship Id="rId11" Type="http://schemas.openxmlformats.org/officeDocument/2006/relationships/image" Target="../media/image59.wmf"/><Relationship Id="rId5" Type="http://schemas.openxmlformats.org/officeDocument/2006/relationships/image" Target="../media/image53.wmf"/><Relationship Id="rId10" Type="http://schemas.openxmlformats.org/officeDocument/2006/relationships/image" Target="../media/image58.wmf"/><Relationship Id="rId4" Type="http://schemas.openxmlformats.org/officeDocument/2006/relationships/image" Target="../media/image52.wmf"/><Relationship Id="rId9" Type="http://schemas.openxmlformats.org/officeDocument/2006/relationships/image" Target="../media/image57.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image" Target="../media/image50.wmf"/><Relationship Id="rId7" Type="http://schemas.openxmlformats.org/officeDocument/2006/relationships/image" Target="../media/image64.wmf"/><Relationship Id="rId12" Type="http://schemas.openxmlformats.org/officeDocument/2006/relationships/image" Target="../media/image69.wmf"/><Relationship Id="rId2" Type="http://schemas.openxmlformats.org/officeDocument/2006/relationships/image" Target="../media/image49.wmf"/><Relationship Id="rId1" Type="http://schemas.openxmlformats.org/officeDocument/2006/relationships/image" Target="../media/image61.wmf"/><Relationship Id="rId6" Type="http://schemas.openxmlformats.org/officeDocument/2006/relationships/image" Target="../media/image63.wmf"/><Relationship Id="rId11" Type="http://schemas.openxmlformats.org/officeDocument/2006/relationships/image" Target="../media/image68.wmf"/><Relationship Id="rId5" Type="http://schemas.openxmlformats.org/officeDocument/2006/relationships/image" Target="../media/image62.wmf"/><Relationship Id="rId10" Type="http://schemas.openxmlformats.org/officeDocument/2006/relationships/image" Target="../media/image67.wmf"/><Relationship Id="rId4" Type="http://schemas.openxmlformats.org/officeDocument/2006/relationships/image" Target="../media/image51.wmf"/><Relationship Id="rId9" Type="http://schemas.openxmlformats.org/officeDocument/2006/relationships/image" Target="../media/image6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49.wmf"/><Relationship Id="rId6" Type="http://schemas.openxmlformats.org/officeDocument/2006/relationships/image" Target="../media/image87.wmf"/><Relationship Id="rId5" Type="http://schemas.openxmlformats.org/officeDocument/2006/relationships/image" Target="../media/image86.wmf"/><Relationship Id="rId4" Type="http://schemas.openxmlformats.org/officeDocument/2006/relationships/image" Target="../media/image8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49.wmf"/><Relationship Id="rId6" Type="http://schemas.openxmlformats.org/officeDocument/2006/relationships/image" Target="../media/image90.wmf"/><Relationship Id="rId5" Type="http://schemas.openxmlformats.org/officeDocument/2006/relationships/image" Target="../media/image89.wmf"/><Relationship Id="rId4" Type="http://schemas.openxmlformats.org/officeDocument/2006/relationships/image" Target="../media/image88.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49.wmf"/><Relationship Id="rId4" Type="http://schemas.openxmlformats.org/officeDocument/2006/relationships/image" Target="../media/image120.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122.wmf"/><Relationship Id="rId3" Type="http://schemas.openxmlformats.org/officeDocument/2006/relationships/image" Target="../media/image84.wmf"/><Relationship Id="rId7" Type="http://schemas.openxmlformats.org/officeDocument/2006/relationships/image" Target="../media/image87.wmf"/><Relationship Id="rId2" Type="http://schemas.openxmlformats.org/officeDocument/2006/relationships/image" Target="../media/image83.wmf"/><Relationship Id="rId1" Type="http://schemas.openxmlformats.org/officeDocument/2006/relationships/image" Target="../media/image49.wmf"/><Relationship Id="rId6" Type="http://schemas.openxmlformats.org/officeDocument/2006/relationships/image" Target="../media/image86.wmf"/><Relationship Id="rId5" Type="http://schemas.openxmlformats.org/officeDocument/2006/relationships/image" Target="../media/image85.wmf"/><Relationship Id="rId4" Type="http://schemas.openxmlformats.org/officeDocument/2006/relationships/image" Target="../media/image12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49.wmf"/><Relationship Id="rId6" Type="http://schemas.openxmlformats.org/officeDocument/2006/relationships/image" Target="../media/image124.wmf"/><Relationship Id="rId5" Type="http://schemas.openxmlformats.org/officeDocument/2006/relationships/image" Target="../media/image123.wmf"/><Relationship Id="rId4" Type="http://schemas.openxmlformats.org/officeDocument/2006/relationships/image" Target="../media/image120.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126.wmf"/><Relationship Id="rId13" Type="http://schemas.openxmlformats.org/officeDocument/2006/relationships/image" Target="../media/image124.wmf"/><Relationship Id="rId3" Type="http://schemas.openxmlformats.org/officeDocument/2006/relationships/image" Target="../media/image23.wmf"/><Relationship Id="rId7" Type="http://schemas.openxmlformats.org/officeDocument/2006/relationships/image" Target="../media/image27.wmf"/><Relationship Id="rId12" Type="http://schemas.openxmlformats.org/officeDocument/2006/relationships/image" Target="../media/image120.wmf"/><Relationship Id="rId2" Type="http://schemas.openxmlformats.org/officeDocument/2006/relationships/image" Target="../media/image22.wmf"/><Relationship Id="rId1" Type="http://schemas.openxmlformats.org/officeDocument/2006/relationships/image" Target="../media/image21.wmf"/><Relationship Id="rId6" Type="http://schemas.openxmlformats.org/officeDocument/2006/relationships/image" Target="../media/image26.wmf"/><Relationship Id="rId11" Type="http://schemas.openxmlformats.org/officeDocument/2006/relationships/image" Target="../media/image84.wmf"/><Relationship Id="rId5" Type="http://schemas.openxmlformats.org/officeDocument/2006/relationships/image" Target="../media/image25.wmf"/><Relationship Id="rId10" Type="http://schemas.openxmlformats.org/officeDocument/2006/relationships/image" Target="../media/image83.wmf"/><Relationship Id="rId4" Type="http://schemas.openxmlformats.org/officeDocument/2006/relationships/image" Target="../media/image24.wmf"/><Relationship Id="rId9" Type="http://schemas.openxmlformats.org/officeDocument/2006/relationships/image" Target="../media/image49.wmf"/><Relationship Id="rId14" Type="http://schemas.openxmlformats.org/officeDocument/2006/relationships/image" Target="../media/image127.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34.wmf"/><Relationship Id="rId3" Type="http://schemas.openxmlformats.org/officeDocument/2006/relationships/image" Target="../media/image84.wmf"/><Relationship Id="rId7" Type="http://schemas.openxmlformats.org/officeDocument/2006/relationships/image" Target="../media/image133.wmf"/><Relationship Id="rId12" Type="http://schemas.openxmlformats.org/officeDocument/2006/relationships/image" Target="../media/image138.wmf"/><Relationship Id="rId2" Type="http://schemas.openxmlformats.org/officeDocument/2006/relationships/image" Target="../media/image83.wmf"/><Relationship Id="rId1" Type="http://schemas.openxmlformats.org/officeDocument/2006/relationships/image" Target="../media/image49.wmf"/><Relationship Id="rId6" Type="http://schemas.openxmlformats.org/officeDocument/2006/relationships/image" Target="../media/image132.wmf"/><Relationship Id="rId11" Type="http://schemas.openxmlformats.org/officeDocument/2006/relationships/image" Target="../media/image137.wmf"/><Relationship Id="rId5" Type="http://schemas.openxmlformats.org/officeDocument/2006/relationships/image" Target="../media/image131.wmf"/><Relationship Id="rId10" Type="http://schemas.openxmlformats.org/officeDocument/2006/relationships/image" Target="../media/image136.wmf"/><Relationship Id="rId4" Type="http://schemas.openxmlformats.org/officeDocument/2006/relationships/image" Target="../media/image130.wmf"/><Relationship Id="rId9" Type="http://schemas.openxmlformats.org/officeDocument/2006/relationships/image" Target="../media/image135.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133.wmf"/><Relationship Id="rId3" Type="http://schemas.openxmlformats.org/officeDocument/2006/relationships/image" Target="../media/image84.wmf"/><Relationship Id="rId7" Type="http://schemas.openxmlformats.org/officeDocument/2006/relationships/image" Target="../media/image130.wmf"/><Relationship Id="rId2" Type="http://schemas.openxmlformats.org/officeDocument/2006/relationships/image" Target="../media/image83.wmf"/><Relationship Id="rId1" Type="http://schemas.openxmlformats.org/officeDocument/2006/relationships/image" Target="../media/image49.wmf"/><Relationship Id="rId6" Type="http://schemas.openxmlformats.org/officeDocument/2006/relationships/image" Target="../media/image134.wmf"/><Relationship Id="rId5" Type="http://schemas.openxmlformats.org/officeDocument/2006/relationships/image" Target="../media/image132.wmf"/><Relationship Id="rId10" Type="http://schemas.openxmlformats.org/officeDocument/2006/relationships/image" Target="../media/image138.wmf"/><Relationship Id="rId4" Type="http://schemas.openxmlformats.org/officeDocument/2006/relationships/image" Target="../media/image131.wmf"/><Relationship Id="rId9" Type="http://schemas.openxmlformats.org/officeDocument/2006/relationships/image" Target="../media/image135.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144.wmf"/><Relationship Id="rId13" Type="http://schemas.openxmlformats.org/officeDocument/2006/relationships/image" Target="../media/image147.wmf"/><Relationship Id="rId3" Type="http://schemas.openxmlformats.org/officeDocument/2006/relationships/image" Target="../media/image132.wmf"/><Relationship Id="rId7" Type="http://schemas.openxmlformats.org/officeDocument/2006/relationships/image" Target="../media/image135.wmf"/><Relationship Id="rId12" Type="http://schemas.openxmlformats.org/officeDocument/2006/relationships/image" Target="../media/image146.wmf"/><Relationship Id="rId2" Type="http://schemas.openxmlformats.org/officeDocument/2006/relationships/image" Target="../media/image131.wmf"/><Relationship Id="rId1" Type="http://schemas.openxmlformats.org/officeDocument/2006/relationships/image" Target="../media/image83.wmf"/><Relationship Id="rId6" Type="http://schemas.openxmlformats.org/officeDocument/2006/relationships/image" Target="../media/image133.wmf"/><Relationship Id="rId11" Type="http://schemas.openxmlformats.org/officeDocument/2006/relationships/image" Target="../media/image84.wmf"/><Relationship Id="rId5" Type="http://schemas.openxmlformats.org/officeDocument/2006/relationships/image" Target="../media/image130.wmf"/><Relationship Id="rId10" Type="http://schemas.openxmlformats.org/officeDocument/2006/relationships/image" Target="../media/image49.wmf"/><Relationship Id="rId4" Type="http://schemas.openxmlformats.org/officeDocument/2006/relationships/image" Target="../media/image134.wmf"/><Relationship Id="rId9" Type="http://schemas.openxmlformats.org/officeDocument/2006/relationships/image" Target="../media/image145.wmf"/><Relationship Id="rId14" Type="http://schemas.openxmlformats.org/officeDocument/2006/relationships/image" Target="../media/image148.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58.wmf"/><Relationship Id="rId3" Type="http://schemas.openxmlformats.org/officeDocument/2006/relationships/image" Target="../media/image84.wmf"/><Relationship Id="rId7" Type="http://schemas.openxmlformats.org/officeDocument/2006/relationships/image" Target="../media/image157.wmf"/><Relationship Id="rId12" Type="http://schemas.openxmlformats.org/officeDocument/2006/relationships/image" Target="../media/image162.wmf"/><Relationship Id="rId2" Type="http://schemas.openxmlformats.org/officeDocument/2006/relationships/image" Target="../media/image83.wmf"/><Relationship Id="rId1" Type="http://schemas.openxmlformats.org/officeDocument/2006/relationships/image" Target="../media/image49.wmf"/><Relationship Id="rId6" Type="http://schemas.openxmlformats.org/officeDocument/2006/relationships/image" Target="../media/image156.wmf"/><Relationship Id="rId11" Type="http://schemas.openxmlformats.org/officeDocument/2006/relationships/image" Target="../media/image161.wmf"/><Relationship Id="rId5" Type="http://schemas.openxmlformats.org/officeDocument/2006/relationships/image" Target="../media/image155.wmf"/><Relationship Id="rId10" Type="http://schemas.openxmlformats.org/officeDocument/2006/relationships/image" Target="../media/image160.wmf"/><Relationship Id="rId4" Type="http://schemas.openxmlformats.org/officeDocument/2006/relationships/image" Target="../media/image154.wmf"/><Relationship Id="rId9" Type="http://schemas.openxmlformats.org/officeDocument/2006/relationships/image" Target="../media/image159.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49.wmf"/><Relationship Id="rId5" Type="http://schemas.openxmlformats.org/officeDocument/2006/relationships/image" Target="../media/image173.wmf"/><Relationship Id="rId4" Type="http://schemas.openxmlformats.org/officeDocument/2006/relationships/image" Target="../media/image172.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59.wmf"/><Relationship Id="rId13" Type="http://schemas.openxmlformats.org/officeDocument/2006/relationships/image" Target="../media/image177.wmf"/><Relationship Id="rId3" Type="http://schemas.openxmlformats.org/officeDocument/2006/relationships/image" Target="../media/image84.wmf"/><Relationship Id="rId7" Type="http://schemas.openxmlformats.org/officeDocument/2006/relationships/image" Target="../media/image158.wmf"/><Relationship Id="rId12" Type="http://schemas.openxmlformats.org/officeDocument/2006/relationships/image" Target="../media/image156.wmf"/><Relationship Id="rId2" Type="http://schemas.openxmlformats.org/officeDocument/2006/relationships/image" Target="../media/image83.wmf"/><Relationship Id="rId1" Type="http://schemas.openxmlformats.org/officeDocument/2006/relationships/image" Target="../media/image49.wmf"/><Relationship Id="rId6" Type="http://schemas.openxmlformats.org/officeDocument/2006/relationships/image" Target="../media/image176.wmf"/><Relationship Id="rId11" Type="http://schemas.openxmlformats.org/officeDocument/2006/relationships/image" Target="../media/image155.wmf"/><Relationship Id="rId5" Type="http://schemas.openxmlformats.org/officeDocument/2006/relationships/image" Target="../media/image175.wmf"/><Relationship Id="rId10" Type="http://schemas.openxmlformats.org/officeDocument/2006/relationships/image" Target="../media/image154.wmf"/><Relationship Id="rId4" Type="http://schemas.openxmlformats.org/officeDocument/2006/relationships/image" Target="../media/image174.wmf"/><Relationship Id="rId9" Type="http://schemas.openxmlformats.org/officeDocument/2006/relationships/image" Target="../media/image160.wmf"/><Relationship Id="rId14" Type="http://schemas.openxmlformats.org/officeDocument/2006/relationships/image" Target="../media/image17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39DCE84-E34B-40C6-8C27-3DC3A093BC18}" type="datetimeFigureOut">
              <a:rPr lang="zh-CN" altLang="en-US" smtClean="0"/>
              <a:t>2024/4/11</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8402BC-DC3C-4052-B388-C444EE8CBF9B}" type="slidenum">
              <a:rPr lang="zh-CN" altLang="en-US" smtClean="0"/>
              <a:t>‹#›</a:t>
            </a:fld>
            <a:endParaRPr lang="zh-CN" altLang="en-US"/>
          </a:p>
        </p:txBody>
      </p:sp>
    </p:spTree>
    <p:extLst>
      <p:ext uri="{BB962C8B-B14F-4D97-AF65-F5344CB8AC3E}">
        <p14:creationId xmlns:p14="http://schemas.microsoft.com/office/powerpoint/2010/main" val="4827987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72E67C9E-F841-48A2-86C3-9AD23A9D508B}"/>
              </a:ext>
            </a:extLst>
          </p:cNvPr>
          <p:cNvSpPr>
            <a:spLocks noChangeArrowheads="1"/>
          </p:cNvSpPr>
          <p:nvPr/>
        </p:nvSpPr>
        <p:spPr bwMode="auto">
          <a:xfrm>
            <a:off x="4022725"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9048" tIns="49524" rIns="99048" bIns="49524"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1800">
              <a:latin typeface="Times New Roman" panose="02020603050405020304" pitchFamily="18" charset="0"/>
            </a:endParaRPr>
          </a:p>
        </p:txBody>
      </p:sp>
      <p:sp>
        <p:nvSpPr>
          <p:cNvPr id="58371" name="Rectangle 3">
            <a:extLst>
              <a:ext uri="{FF2B5EF4-FFF2-40B4-BE49-F238E27FC236}">
                <a16:creationId xmlns:a16="http://schemas.microsoft.com/office/drawing/2014/main" id="{A58B54EC-D36F-4622-8E52-4F73765DC3AD}"/>
              </a:ext>
            </a:extLst>
          </p:cNvPr>
          <p:cNvSpPr>
            <a:spLocks noChangeArrowheads="1"/>
          </p:cNvSpPr>
          <p:nvPr/>
        </p:nvSpPr>
        <p:spPr bwMode="auto">
          <a:xfrm>
            <a:off x="4022725"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8017" tIns="48148" rIns="98017" bIns="48148"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r>
              <a:rPr lang="zh-CN" altLang="en-US" sz="1300">
                <a:latin typeface="Times New Roman" panose="02020603050405020304" pitchFamily="18" charset="0"/>
              </a:rPr>
              <a:t>77</a:t>
            </a:r>
          </a:p>
        </p:txBody>
      </p:sp>
      <p:sp>
        <p:nvSpPr>
          <p:cNvPr id="58372" name="Rectangle 4">
            <a:extLst>
              <a:ext uri="{FF2B5EF4-FFF2-40B4-BE49-F238E27FC236}">
                <a16:creationId xmlns:a16="http://schemas.microsoft.com/office/drawing/2014/main" id="{80375AB7-39F0-487E-B3DD-B487C32734CB}"/>
              </a:ext>
            </a:extLst>
          </p:cNvPr>
          <p:cNvSpPr>
            <a:spLocks noChangeArrowheads="1"/>
          </p:cNvSpPr>
          <p:nvPr/>
        </p:nvSpPr>
        <p:spPr bwMode="auto">
          <a:xfrm>
            <a:off x="0" y="9723438"/>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9048" tIns="49524" rIns="99048" bIns="49524"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1800">
              <a:latin typeface="Times New Roman" panose="02020603050405020304" pitchFamily="18" charset="0"/>
            </a:endParaRPr>
          </a:p>
        </p:txBody>
      </p:sp>
      <p:sp>
        <p:nvSpPr>
          <p:cNvPr id="58373" name="Rectangle 5">
            <a:extLst>
              <a:ext uri="{FF2B5EF4-FFF2-40B4-BE49-F238E27FC236}">
                <a16:creationId xmlns:a16="http://schemas.microsoft.com/office/drawing/2014/main" id="{94329F08-3FE5-498B-89B0-647E00BF54F1}"/>
              </a:ext>
            </a:extLst>
          </p:cNvPr>
          <p:cNvSpPr>
            <a:spLocks noChangeArrowheads="1"/>
          </p:cNvSpPr>
          <p:nvPr/>
        </p:nvSpPr>
        <p:spPr bwMode="auto">
          <a:xfrm>
            <a:off x="0" y="0"/>
            <a:ext cx="3076575"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9048" tIns="49524" rIns="99048" bIns="49524" anchor="ct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pPr>
            <a:endParaRPr lang="zh-CN" altLang="en-US" sz="1800">
              <a:latin typeface="Times New Roman" panose="02020603050405020304" pitchFamily="18" charset="0"/>
            </a:endParaRPr>
          </a:p>
        </p:txBody>
      </p:sp>
      <p:sp>
        <p:nvSpPr>
          <p:cNvPr id="58374" name="Rectangle 6">
            <a:extLst>
              <a:ext uri="{FF2B5EF4-FFF2-40B4-BE49-F238E27FC236}">
                <a16:creationId xmlns:a16="http://schemas.microsoft.com/office/drawing/2014/main" id="{EEBC8BE2-AFF5-4158-B785-DDB67A10A81E}"/>
              </a:ext>
            </a:extLst>
          </p:cNvPr>
          <p:cNvSpPr>
            <a:spLocks noGrp="1" noRot="1" noChangeAspect="1" noChangeArrowheads="1" noTextEdit="1"/>
          </p:cNvSpPr>
          <p:nvPr>
            <p:ph type="sldImg"/>
          </p:nvPr>
        </p:nvSpPr>
        <p:spPr>
          <a:xfrm>
            <a:off x="1000125" y="774700"/>
            <a:ext cx="5099050" cy="3824288"/>
          </a:xfrm>
          <a:solidFill>
            <a:srgbClr val="FFFFFF"/>
          </a:solidFill>
          <a:ln w="12700" cap="flat"/>
        </p:spPr>
      </p:sp>
      <p:sp>
        <p:nvSpPr>
          <p:cNvPr id="58375" name="Rectangle 7">
            <a:extLst>
              <a:ext uri="{FF2B5EF4-FFF2-40B4-BE49-F238E27FC236}">
                <a16:creationId xmlns:a16="http://schemas.microsoft.com/office/drawing/2014/main" id="{AE8AFCB9-3128-4024-85AD-080F0F76702D}"/>
              </a:ext>
            </a:extLst>
          </p:cNvPr>
          <p:cNvSpPr>
            <a:spLocks noGrp="1" noChangeArrowheads="1"/>
          </p:cNvSpPr>
          <p:nvPr>
            <p:ph type="body" idx="1"/>
          </p:nvPr>
        </p:nvSpPr>
        <p:spPr>
          <a:xfrm>
            <a:off x="946150" y="4860925"/>
            <a:ext cx="5207000" cy="4605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017" tIns="48148" rIns="98017" bIns="48148"/>
          <a:lstStyle/>
          <a:p>
            <a:endParaRPr lang="zh-CN" altLang="en-US">
              <a:latin typeface="Arial" panose="020B0604020202020204" pitchFamily="34" charset="0"/>
            </a:endParaRPr>
          </a:p>
        </p:txBody>
      </p:sp>
    </p:spTree>
    <p:extLst>
      <p:ext uri="{BB962C8B-B14F-4D97-AF65-F5344CB8AC3E}">
        <p14:creationId xmlns:p14="http://schemas.microsoft.com/office/powerpoint/2010/main" val="1364156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kumimoji="1"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kumimoji="1"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kumimoji="1"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kumimoji="1"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Calibri" panose="020F0502020204030204" pitchFamily="34" charset="0"/>
                <a:ea typeface="宋体" panose="02010600030101010101" pitchFamily="2" charset="-122"/>
              </a:defRPr>
            </a:lvl9pPr>
          </a:lstStyle>
          <a:p>
            <a:pPr>
              <a:spcBef>
                <a:spcPct val="0"/>
              </a:spcBef>
            </a:pPr>
            <a:fld id="{E75FAE9A-ADFF-44B3-B985-49BF281D9C10}" type="slidenum">
              <a:rPr kumimoji="0" lang="en-US" altLang="zh-CN" smtClean="0"/>
              <a:pPr>
                <a:spcBef>
                  <a:spcPct val="0"/>
                </a:spcBef>
              </a:pPr>
              <a:t>40</a:t>
            </a:fld>
            <a:endParaRPr kumimoji="0" lang="en-US" altLang="zh-CN"/>
          </a:p>
        </p:txBody>
      </p:sp>
      <p:sp>
        <p:nvSpPr>
          <p:cNvPr id="481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kumimoji="0" lang="zh-CN" altLang="en-US"/>
              <a:t>齐次生产函数</a:t>
            </a:r>
            <a:endParaRPr kumimoji="0" lang="en-US" altLang="zh-CN"/>
          </a:p>
        </p:txBody>
      </p:sp>
    </p:spTree>
    <p:extLst>
      <p:ext uri="{BB962C8B-B14F-4D97-AF65-F5344CB8AC3E}">
        <p14:creationId xmlns:p14="http://schemas.microsoft.com/office/powerpoint/2010/main" val="2276267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0BBB86E-D5C2-470C-A761-76B711CFF298}" type="slidenum">
              <a:rPr lang="en-US" altLang="zh-CN"/>
              <a:pPr/>
              <a:t>‹#›</a:t>
            </a:fld>
            <a:endParaRPr lang="en-US" altLang="zh-CN"/>
          </a:p>
        </p:txBody>
      </p:sp>
    </p:spTree>
    <p:extLst>
      <p:ext uri="{BB962C8B-B14F-4D97-AF65-F5344CB8AC3E}">
        <p14:creationId xmlns:p14="http://schemas.microsoft.com/office/powerpoint/2010/main" val="2816693306"/>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8FCCF5B5-F309-498F-AD2C-ACEEFA3CAC28}" type="slidenum">
              <a:rPr lang="en-US" altLang="zh-CN"/>
              <a:pPr/>
              <a:t>‹#›</a:t>
            </a:fld>
            <a:endParaRPr lang="en-US" altLang="zh-CN"/>
          </a:p>
        </p:txBody>
      </p:sp>
    </p:spTree>
    <p:extLst>
      <p:ext uri="{BB962C8B-B14F-4D97-AF65-F5344CB8AC3E}">
        <p14:creationId xmlns:p14="http://schemas.microsoft.com/office/powerpoint/2010/main" val="1526692948"/>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C0AC7AA5-7C3F-49A2-824F-BFD7F528DB8B}" type="slidenum">
              <a:rPr lang="en-US" altLang="zh-CN"/>
              <a:pPr/>
              <a:t>‹#›</a:t>
            </a:fld>
            <a:endParaRPr lang="en-US" altLang="zh-CN"/>
          </a:p>
        </p:txBody>
      </p:sp>
    </p:spTree>
    <p:extLst>
      <p:ext uri="{BB962C8B-B14F-4D97-AF65-F5344CB8AC3E}">
        <p14:creationId xmlns:p14="http://schemas.microsoft.com/office/powerpoint/2010/main" val="545634165"/>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7C11C28-DE30-4AFA-9879-D2BCB3097282}" type="slidenum">
              <a:rPr lang="en-US" altLang="zh-CN"/>
              <a:pPr/>
              <a:t>‹#›</a:t>
            </a:fld>
            <a:endParaRPr lang="en-US" altLang="zh-CN"/>
          </a:p>
        </p:txBody>
      </p:sp>
    </p:spTree>
    <p:extLst>
      <p:ext uri="{BB962C8B-B14F-4D97-AF65-F5344CB8AC3E}">
        <p14:creationId xmlns:p14="http://schemas.microsoft.com/office/powerpoint/2010/main" val="4283093241"/>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CAEEC78E-0EC8-4D31-8695-687A605D734D}" type="slidenum">
              <a:rPr lang="en-US" altLang="zh-CN"/>
              <a:pPr/>
              <a:t>‹#›</a:t>
            </a:fld>
            <a:endParaRPr lang="en-US" altLang="zh-CN"/>
          </a:p>
        </p:txBody>
      </p:sp>
    </p:spTree>
    <p:extLst>
      <p:ext uri="{BB962C8B-B14F-4D97-AF65-F5344CB8AC3E}">
        <p14:creationId xmlns:p14="http://schemas.microsoft.com/office/powerpoint/2010/main" val="363368514"/>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FC519C61-AA77-49AF-AAC1-478D3B5AE362}" type="slidenum">
              <a:rPr lang="en-US" altLang="zh-CN"/>
              <a:pPr/>
              <a:t>‹#›</a:t>
            </a:fld>
            <a:endParaRPr lang="en-US" altLang="zh-CN"/>
          </a:p>
        </p:txBody>
      </p:sp>
    </p:spTree>
    <p:extLst>
      <p:ext uri="{BB962C8B-B14F-4D97-AF65-F5344CB8AC3E}">
        <p14:creationId xmlns:p14="http://schemas.microsoft.com/office/powerpoint/2010/main" val="2363763234"/>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D17A8C11-982E-4558-ACC7-87CB6FD26E33}" type="slidenum">
              <a:rPr lang="en-US" altLang="zh-CN"/>
              <a:pPr/>
              <a:t>‹#›</a:t>
            </a:fld>
            <a:endParaRPr lang="en-US" altLang="zh-CN"/>
          </a:p>
        </p:txBody>
      </p:sp>
    </p:spTree>
    <p:extLst>
      <p:ext uri="{BB962C8B-B14F-4D97-AF65-F5344CB8AC3E}">
        <p14:creationId xmlns:p14="http://schemas.microsoft.com/office/powerpoint/2010/main" val="2985419488"/>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4A615FF6-0049-477D-8CFF-AAFC1093BE6C}" type="slidenum">
              <a:rPr lang="en-US" altLang="zh-CN"/>
              <a:pPr/>
              <a:t>‹#›</a:t>
            </a:fld>
            <a:endParaRPr lang="en-US" altLang="zh-CN"/>
          </a:p>
        </p:txBody>
      </p:sp>
    </p:spTree>
    <p:extLst>
      <p:ext uri="{BB962C8B-B14F-4D97-AF65-F5344CB8AC3E}">
        <p14:creationId xmlns:p14="http://schemas.microsoft.com/office/powerpoint/2010/main" val="4012413413"/>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DE5E8ED6-8DD2-4AC0-A726-E506AD4A0436}" type="slidenum">
              <a:rPr lang="en-US" altLang="zh-CN"/>
              <a:pPr/>
              <a:t>‹#›</a:t>
            </a:fld>
            <a:endParaRPr lang="en-US" altLang="zh-CN"/>
          </a:p>
        </p:txBody>
      </p:sp>
    </p:spTree>
    <p:extLst>
      <p:ext uri="{BB962C8B-B14F-4D97-AF65-F5344CB8AC3E}">
        <p14:creationId xmlns:p14="http://schemas.microsoft.com/office/powerpoint/2010/main" val="3666679199"/>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FE57E541-0BB1-4DC1-B429-33BA45D5E303}" type="slidenum">
              <a:rPr lang="en-US" altLang="zh-CN"/>
              <a:pPr/>
              <a:t>‹#›</a:t>
            </a:fld>
            <a:endParaRPr lang="en-US" altLang="zh-CN"/>
          </a:p>
        </p:txBody>
      </p:sp>
    </p:spTree>
    <p:extLst>
      <p:ext uri="{BB962C8B-B14F-4D97-AF65-F5344CB8AC3E}">
        <p14:creationId xmlns:p14="http://schemas.microsoft.com/office/powerpoint/2010/main" val="1550760021"/>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333375"/>
            <a:ext cx="2058988" cy="57927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33375"/>
            <a:ext cx="6029325" cy="57927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0E9D6E03-2195-46C7-8FE3-8762D4F8FBAE}" type="slidenum">
              <a:rPr lang="en-US" altLang="zh-CN"/>
              <a:pPr/>
              <a:t>‹#›</a:t>
            </a:fld>
            <a:endParaRPr lang="en-US" altLang="zh-CN"/>
          </a:p>
        </p:txBody>
      </p:sp>
    </p:spTree>
    <p:extLst>
      <p:ext uri="{BB962C8B-B14F-4D97-AF65-F5344CB8AC3E}">
        <p14:creationId xmlns:p14="http://schemas.microsoft.com/office/powerpoint/2010/main" val="3645907258"/>
      </p:ext>
    </p:extLst>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68313" y="333375"/>
            <a:ext cx="8229600" cy="863600"/>
          </a:xfrm>
        </p:spPr>
        <p:txBody>
          <a:bodyPr/>
          <a:lstStyle/>
          <a:p>
            <a:r>
              <a:rPr lang="zh-CN" altLang="en-US"/>
              <a:t>单击此处编辑母版标题样式</a:t>
            </a:r>
          </a:p>
        </p:txBody>
      </p:sp>
      <p:sp>
        <p:nvSpPr>
          <p:cNvPr id="3" name="表格占位符 2"/>
          <p:cNvSpPr>
            <a:spLocks noGrp="1"/>
          </p:cNvSpPr>
          <p:nvPr>
            <p:ph type="tbl" idx="1"/>
          </p:nvPr>
        </p:nvSpPr>
        <p:spPr>
          <a:xfrm>
            <a:off x="457200" y="1341438"/>
            <a:ext cx="8229600" cy="4784725"/>
          </a:xfrm>
        </p:spPr>
        <p:txBody>
          <a:bodyPr/>
          <a:lstStyle/>
          <a:p>
            <a:endParaRPr lang="zh-CN" altLang="en-US"/>
          </a:p>
        </p:txBody>
      </p:sp>
      <p:sp>
        <p:nvSpPr>
          <p:cNvPr id="4" name="日期占位符 3"/>
          <p:cNvSpPr>
            <a:spLocks noGrp="1"/>
          </p:cNvSpPr>
          <p:nvPr>
            <p:ph type="dt" sz="half" idx="10"/>
          </p:nvPr>
        </p:nvSpPr>
        <p:spPr>
          <a:xfrm>
            <a:off x="457200" y="6245225"/>
            <a:ext cx="2133600" cy="476250"/>
          </a:xfrm>
        </p:spPr>
        <p:txBody>
          <a:bodyPr/>
          <a:lstStyle>
            <a:lvl1pPr>
              <a:defRPr/>
            </a:lvl1pPr>
          </a:lstStyle>
          <a:p>
            <a:endParaRPr lang="en-US" altLang="zh-CN"/>
          </a:p>
        </p:txBody>
      </p:sp>
      <p:sp>
        <p:nvSpPr>
          <p:cNvPr id="5" name="页脚占位符 4"/>
          <p:cNvSpPr>
            <a:spLocks noGrp="1"/>
          </p:cNvSpPr>
          <p:nvPr>
            <p:ph type="ftr" sz="quarter" idx="11"/>
          </p:nvPr>
        </p:nvSpPr>
        <p:spPr>
          <a:xfrm>
            <a:off x="3124200" y="6245225"/>
            <a:ext cx="2895600" cy="476250"/>
          </a:xfrm>
        </p:spPr>
        <p:txBody>
          <a:bodyPr/>
          <a:lstStyle>
            <a:lvl1pPr>
              <a:defRPr/>
            </a:lvl1pPr>
          </a:lstStyle>
          <a:p>
            <a:endParaRPr lang="en-US" altLang="zh-CN"/>
          </a:p>
        </p:txBody>
      </p:sp>
      <p:sp>
        <p:nvSpPr>
          <p:cNvPr id="6" name="灯片编号占位符 5"/>
          <p:cNvSpPr>
            <a:spLocks noGrp="1"/>
          </p:cNvSpPr>
          <p:nvPr>
            <p:ph type="sldNum" sz="quarter" idx="12"/>
          </p:nvPr>
        </p:nvSpPr>
        <p:spPr>
          <a:xfrm>
            <a:off x="6553200" y="6245225"/>
            <a:ext cx="2133600" cy="476250"/>
          </a:xfrm>
        </p:spPr>
        <p:txBody>
          <a:bodyPr/>
          <a:lstStyle>
            <a:lvl1pPr>
              <a:defRPr/>
            </a:lvl1pPr>
          </a:lstStyle>
          <a:p>
            <a:fld id="{1F3A719E-8E78-434E-B1D1-5577C94155D5}" type="slidenum">
              <a:rPr lang="en-US" altLang="zh-CN"/>
              <a:pPr/>
              <a:t>‹#›</a:t>
            </a:fld>
            <a:endParaRPr lang="en-US" altLang="zh-CN"/>
          </a:p>
        </p:txBody>
      </p:sp>
    </p:spTree>
    <p:extLst>
      <p:ext uri="{BB962C8B-B14F-4D97-AF65-F5344CB8AC3E}">
        <p14:creationId xmlns:p14="http://schemas.microsoft.com/office/powerpoint/2010/main" val="1283586758"/>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C499190-E45E-45D6-A879-60C92897A5D6}" type="slidenum">
              <a:rPr lang="en-US" altLang="zh-CN"/>
              <a:pPr/>
              <a:t>‹#›</a:t>
            </a:fld>
            <a:endParaRPr lang="en-US" altLang="zh-CN"/>
          </a:p>
        </p:txBody>
      </p:sp>
    </p:spTree>
    <p:extLst>
      <p:ext uri="{BB962C8B-B14F-4D97-AF65-F5344CB8AC3E}">
        <p14:creationId xmlns:p14="http://schemas.microsoft.com/office/powerpoint/2010/main" val="3104387233"/>
      </p:ext>
    </p:extLst>
  </p:cSld>
  <p:clrMapOvr>
    <a:masterClrMapping/>
  </p:clrMapOvr>
  <p:transition>
    <p:random/>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061A5AD8-A960-4D75-A756-6D8768F225BE}" type="slidenum">
              <a:rPr lang="en-US" altLang="zh-CN"/>
              <a:pPr/>
              <a:t>‹#›</a:t>
            </a:fld>
            <a:endParaRPr lang="en-US" altLang="zh-CN"/>
          </a:p>
        </p:txBody>
      </p:sp>
    </p:spTree>
    <p:extLst>
      <p:ext uri="{BB962C8B-B14F-4D97-AF65-F5344CB8AC3E}">
        <p14:creationId xmlns:p14="http://schemas.microsoft.com/office/powerpoint/2010/main" val="223671954"/>
      </p:ext>
    </p:extLst>
  </p:cSld>
  <p:clrMapOvr>
    <a:masterClrMapping/>
  </p:clrMapOvr>
  <p:transition>
    <p:random/>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AE39E9E-6498-4D13-A4CA-D3760C4915C4}" type="slidenum">
              <a:rPr lang="en-US" altLang="zh-CN"/>
              <a:pPr/>
              <a:t>‹#›</a:t>
            </a:fld>
            <a:endParaRPr lang="en-US" altLang="zh-CN"/>
          </a:p>
        </p:txBody>
      </p:sp>
    </p:spTree>
    <p:extLst>
      <p:ext uri="{BB962C8B-B14F-4D97-AF65-F5344CB8AC3E}">
        <p14:creationId xmlns:p14="http://schemas.microsoft.com/office/powerpoint/2010/main" val="3151553947"/>
      </p:ext>
    </p:extLst>
  </p:cSld>
  <p:clrMapOvr>
    <a:masterClrMapping/>
  </p:clrMapOvr>
  <p:transition>
    <p:random/>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341438"/>
            <a:ext cx="4038600" cy="4784725"/>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309265BE-5FEA-4261-A08F-D4CB706D47B0}" type="slidenum">
              <a:rPr lang="en-US" altLang="zh-CN"/>
              <a:pPr/>
              <a:t>‹#›</a:t>
            </a:fld>
            <a:endParaRPr lang="en-US" altLang="zh-CN"/>
          </a:p>
        </p:txBody>
      </p:sp>
    </p:spTree>
    <p:extLst>
      <p:ext uri="{BB962C8B-B14F-4D97-AF65-F5344CB8AC3E}">
        <p14:creationId xmlns:p14="http://schemas.microsoft.com/office/powerpoint/2010/main" val="3207724930"/>
      </p:ext>
    </p:extLst>
  </p:cSld>
  <p:clrMapOvr>
    <a:masterClrMapping/>
  </p:clrMapOvr>
  <p:transition>
    <p:random/>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42C7623B-4363-4020-8A8E-23714281C37F}" type="slidenum">
              <a:rPr lang="en-US" altLang="zh-CN"/>
              <a:pPr/>
              <a:t>‹#›</a:t>
            </a:fld>
            <a:endParaRPr lang="en-US" altLang="zh-CN"/>
          </a:p>
        </p:txBody>
      </p:sp>
    </p:spTree>
    <p:extLst>
      <p:ext uri="{BB962C8B-B14F-4D97-AF65-F5344CB8AC3E}">
        <p14:creationId xmlns:p14="http://schemas.microsoft.com/office/powerpoint/2010/main" val="2146877789"/>
      </p:ext>
    </p:extLst>
  </p:cSld>
  <p:clrMapOvr>
    <a:masterClrMapping/>
  </p:clrMapOvr>
  <p:transition>
    <p:random/>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ABC22C04-0BA0-4044-8C6A-BA96936589E0}" type="slidenum">
              <a:rPr lang="en-US" altLang="zh-CN"/>
              <a:pPr/>
              <a:t>‹#›</a:t>
            </a:fld>
            <a:endParaRPr lang="en-US" altLang="zh-CN"/>
          </a:p>
        </p:txBody>
      </p:sp>
    </p:spTree>
    <p:extLst>
      <p:ext uri="{BB962C8B-B14F-4D97-AF65-F5344CB8AC3E}">
        <p14:creationId xmlns:p14="http://schemas.microsoft.com/office/powerpoint/2010/main" val="3388031227"/>
      </p:ext>
    </p:extLst>
  </p:cSld>
  <p:clrMapOvr>
    <a:masterClrMapping/>
  </p:clrMapOvr>
  <p:transition>
    <p:random/>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C23422A9-53EA-4063-9D91-39C6B5CD3902}" type="slidenum">
              <a:rPr lang="en-US" altLang="zh-CN"/>
              <a:pPr/>
              <a:t>‹#›</a:t>
            </a:fld>
            <a:endParaRPr lang="en-US" altLang="zh-CN"/>
          </a:p>
        </p:txBody>
      </p:sp>
    </p:spTree>
    <p:extLst>
      <p:ext uri="{BB962C8B-B14F-4D97-AF65-F5344CB8AC3E}">
        <p14:creationId xmlns:p14="http://schemas.microsoft.com/office/powerpoint/2010/main" val="2998950137"/>
      </p:ext>
    </p:extLst>
  </p:cSld>
  <p:clrMapOvr>
    <a:masterClrMapping/>
  </p:clrMapOvr>
  <p:transition>
    <p:random/>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906855B5-340D-4BDC-A6F1-39F117C9F640}" type="slidenum">
              <a:rPr lang="en-US" altLang="zh-CN"/>
              <a:pPr/>
              <a:t>‹#›</a:t>
            </a:fld>
            <a:endParaRPr lang="en-US" altLang="zh-CN"/>
          </a:p>
        </p:txBody>
      </p:sp>
    </p:spTree>
    <p:extLst>
      <p:ext uri="{BB962C8B-B14F-4D97-AF65-F5344CB8AC3E}">
        <p14:creationId xmlns:p14="http://schemas.microsoft.com/office/powerpoint/2010/main" val="3155146425"/>
      </p:ext>
    </p:extLst>
  </p:cSld>
  <p:clrMapOvr>
    <a:masterClrMapping/>
  </p:clrMapOvr>
  <p:transition>
    <p:random/>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BEFC5683-BD57-4122-B3B9-5FBC74685BEE}" type="slidenum">
              <a:rPr lang="en-US" altLang="zh-CN"/>
              <a:pPr/>
              <a:t>‹#›</a:t>
            </a:fld>
            <a:endParaRPr lang="en-US" altLang="zh-CN"/>
          </a:p>
        </p:txBody>
      </p:sp>
    </p:spTree>
    <p:extLst>
      <p:ext uri="{BB962C8B-B14F-4D97-AF65-F5344CB8AC3E}">
        <p14:creationId xmlns:p14="http://schemas.microsoft.com/office/powerpoint/2010/main" val="4090348126"/>
      </p:ext>
    </p:extLst>
  </p:cSld>
  <p:clrMapOvr>
    <a:masterClrMapping/>
  </p:clrMapOvr>
  <p:transition>
    <p:random/>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55670B9F-71BB-4EEC-A0BD-1177628248A4}" type="slidenum">
              <a:rPr lang="en-US" altLang="zh-CN"/>
              <a:pPr/>
              <a:t>‹#›</a:t>
            </a:fld>
            <a:endParaRPr lang="en-US" altLang="zh-CN"/>
          </a:p>
        </p:txBody>
      </p:sp>
    </p:spTree>
    <p:extLst>
      <p:ext uri="{BB962C8B-B14F-4D97-AF65-F5344CB8AC3E}">
        <p14:creationId xmlns:p14="http://schemas.microsoft.com/office/powerpoint/2010/main" val="834489047"/>
      </p:ext>
    </p:extLst>
  </p:cSld>
  <p:clrMapOvr>
    <a:masterClrMapping/>
  </p:clrMapOvr>
  <p:transition>
    <p:random/>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38925" y="333375"/>
            <a:ext cx="2058988" cy="57927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333375"/>
            <a:ext cx="6029325" cy="579278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7FA4C62-AB0A-4C73-9918-7E089014F1D4}" type="slidenum">
              <a:rPr lang="en-US" altLang="zh-CN"/>
              <a:pPr/>
              <a:t>‹#›</a:t>
            </a:fld>
            <a:endParaRPr lang="en-US" altLang="zh-CN"/>
          </a:p>
        </p:txBody>
      </p:sp>
    </p:spTree>
    <p:extLst>
      <p:ext uri="{BB962C8B-B14F-4D97-AF65-F5344CB8AC3E}">
        <p14:creationId xmlns:p14="http://schemas.microsoft.com/office/powerpoint/2010/main" val="4279422086"/>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2.pn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68313" y="3333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27" name="Rectangle 3"/>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a:lvl1pPr>
          </a:lstStyle>
          <a:p>
            <a:fld id="{35A7F0CD-EE24-4033-AB84-C8BBAA9527D0}"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926" r:id="rId1"/>
    <p:sldLayoutId id="2147483927" r:id="rId2"/>
    <p:sldLayoutId id="2147483928" r:id="rId3"/>
    <p:sldLayoutId id="2147483929" r:id="rId4"/>
    <p:sldLayoutId id="2147483930" r:id="rId5"/>
    <p:sldLayoutId id="2147483931" r:id="rId6"/>
    <p:sldLayoutId id="2147483932" r:id="rId7"/>
    <p:sldLayoutId id="2147483933" r:id="rId8"/>
    <p:sldLayoutId id="2147483934" r:id="rId9"/>
    <p:sldLayoutId id="2147483935" r:id="rId10"/>
    <p:sldLayoutId id="2147483936" r:id="rId11"/>
    <p:sldLayoutId id="2147483948" r:id="rId12"/>
  </p:sldLayoutIdLst>
  <p:transition>
    <p:random/>
  </p:transition>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468313" y="3333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2051" name="Rectangle 3"/>
          <p:cNvSpPr>
            <a:spLocks noGrp="1" noChangeArrowheads="1"/>
          </p:cNvSpPr>
          <p:nvPr>
            <p:ph type="body" idx="1"/>
          </p:nvPr>
        </p:nvSpPr>
        <p:spPr bwMode="auto">
          <a:xfrm>
            <a:off x="457200" y="1341438"/>
            <a:ext cx="8229600" cy="478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2052" name="Rectangle 4"/>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lvl1pPr>
          </a:lstStyle>
          <a:p>
            <a:endParaRPr lang="en-US" altLang="zh-CN"/>
          </a:p>
        </p:txBody>
      </p:sp>
      <p:sp>
        <p:nvSpPr>
          <p:cNvPr id="2053" name="Rectangle 5"/>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zh-CN"/>
          </a:p>
        </p:txBody>
      </p:sp>
      <p:sp>
        <p:nvSpPr>
          <p:cNvPr id="2054" name="Rectangle 6"/>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400"/>
            </a:lvl1pPr>
          </a:lstStyle>
          <a:p>
            <a:fld id="{667B4DD9-694E-450E-9E13-6B757635FC92}"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ransition>
    <p:random/>
  </p:transition>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5pPr>
      <a:lvl6pPr marL="4572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6pPr>
      <a:lvl7pPr marL="9144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7pPr>
      <a:lvl8pPr marL="13716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8pPr>
      <a:lvl9pPr marL="1828800" algn="l" rtl="0" eaLnBrk="0" fontAlgn="base" hangingPunct="0">
        <a:spcBef>
          <a:spcPct val="0"/>
        </a:spcBef>
        <a:spcAft>
          <a:spcPct val="0"/>
        </a:spcAft>
        <a:defRPr sz="3600">
          <a:solidFill>
            <a:schemeClr val="tx2"/>
          </a:solidFill>
          <a:latin typeface="Arial" panose="020B0604020202020204" pitchFamily="34" charset="0"/>
          <a:ea typeface="黑体" panose="02010609060101010101" pitchFamily="49" charset="-122"/>
        </a:defRPr>
      </a:lvl9pPr>
    </p:titleStyle>
    <p:bodyStyle>
      <a:lvl1pPr marL="342900" indent="-342900" algn="l" rtl="0" eaLnBrk="0" fontAlgn="base" hangingPunct="0">
        <a:spcBef>
          <a:spcPct val="20000"/>
        </a:spcBef>
        <a:spcAft>
          <a:spcPct val="0"/>
        </a:spcAft>
        <a:buChar char="•"/>
        <a:defRPr sz="3200" b="1" kern="1200">
          <a:solidFill>
            <a:srgbClr val="CC0000"/>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0.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oleObject" Target="../embeddings/oleObject5.bin"/><Relationship Id="rId18" Type="http://schemas.openxmlformats.org/officeDocument/2006/relationships/image" Target="../media/image27.wmf"/><Relationship Id="rId3" Type="http://schemas.openxmlformats.org/officeDocument/2006/relationships/tags" Target="../tags/tag2.xml"/><Relationship Id="rId21" Type="http://schemas.openxmlformats.org/officeDocument/2006/relationships/oleObject" Target="../embeddings/oleObject9.bin"/><Relationship Id="rId7" Type="http://schemas.openxmlformats.org/officeDocument/2006/relationships/oleObject" Target="../embeddings/oleObject2.bin"/><Relationship Id="rId12" Type="http://schemas.openxmlformats.org/officeDocument/2006/relationships/image" Target="../media/image24.wmf"/><Relationship Id="rId17" Type="http://schemas.openxmlformats.org/officeDocument/2006/relationships/oleObject" Target="../embeddings/oleObject7.bin"/><Relationship Id="rId2" Type="http://schemas.openxmlformats.org/officeDocument/2006/relationships/tags" Target="../tags/tag1.xml"/><Relationship Id="rId16" Type="http://schemas.openxmlformats.org/officeDocument/2006/relationships/image" Target="../media/image26.wmf"/><Relationship Id="rId20" Type="http://schemas.openxmlformats.org/officeDocument/2006/relationships/image" Target="../media/image28.wmf"/><Relationship Id="rId1" Type="http://schemas.openxmlformats.org/officeDocument/2006/relationships/vmlDrawing" Target="../drawings/vmlDrawing1.vml"/><Relationship Id="rId6" Type="http://schemas.openxmlformats.org/officeDocument/2006/relationships/image" Target="../media/image21.wmf"/><Relationship Id="rId11" Type="http://schemas.openxmlformats.org/officeDocument/2006/relationships/oleObject" Target="../embeddings/oleObject4.bin"/><Relationship Id="rId24" Type="http://schemas.openxmlformats.org/officeDocument/2006/relationships/image" Target="../media/image30.wmf"/><Relationship Id="rId5" Type="http://schemas.openxmlformats.org/officeDocument/2006/relationships/oleObject" Target="../embeddings/oleObject1.bin"/><Relationship Id="rId15" Type="http://schemas.openxmlformats.org/officeDocument/2006/relationships/oleObject" Target="../embeddings/oleObject6.bin"/><Relationship Id="rId23" Type="http://schemas.openxmlformats.org/officeDocument/2006/relationships/oleObject" Target="../embeddings/oleObject10.bin"/><Relationship Id="rId10" Type="http://schemas.openxmlformats.org/officeDocument/2006/relationships/image" Target="../media/image23.wmf"/><Relationship Id="rId19" Type="http://schemas.openxmlformats.org/officeDocument/2006/relationships/oleObject" Target="../embeddings/oleObject8.bin"/><Relationship Id="rId4" Type="http://schemas.openxmlformats.org/officeDocument/2006/relationships/slideLayout" Target="../slideLayouts/slideLayout7.xml"/><Relationship Id="rId9" Type="http://schemas.openxmlformats.org/officeDocument/2006/relationships/oleObject" Target="../embeddings/oleObject3.bin"/><Relationship Id="rId14" Type="http://schemas.openxmlformats.org/officeDocument/2006/relationships/image" Target="../media/image25.wmf"/><Relationship Id="rId22" Type="http://schemas.openxmlformats.org/officeDocument/2006/relationships/image" Target="../media/image29.wmf"/></Relationships>
</file>

<file path=ppt/slides/_rels/slide22.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oleObject" Target="../embeddings/oleObject5.bin"/><Relationship Id="rId18" Type="http://schemas.openxmlformats.org/officeDocument/2006/relationships/image" Target="../media/image27.wmf"/><Relationship Id="rId3" Type="http://schemas.openxmlformats.org/officeDocument/2006/relationships/tags" Target="../tags/tag4.xml"/><Relationship Id="rId21" Type="http://schemas.openxmlformats.org/officeDocument/2006/relationships/oleObject" Target="../embeddings/oleObject9.bin"/><Relationship Id="rId7" Type="http://schemas.openxmlformats.org/officeDocument/2006/relationships/oleObject" Target="../embeddings/oleObject2.bin"/><Relationship Id="rId12" Type="http://schemas.openxmlformats.org/officeDocument/2006/relationships/image" Target="../media/image24.wmf"/><Relationship Id="rId17" Type="http://schemas.openxmlformats.org/officeDocument/2006/relationships/oleObject" Target="../embeddings/oleObject7.bin"/><Relationship Id="rId2" Type="http://schemas.openxmlformats.org/officeDocument/2006/relationships/tags" Target="../tags/tag3.xml"/><Relationship Id="rId16" Type="http://schemas.openxmlformats.org/officeDocument/2006/relationships/image" Target="../media/image26.wmf"/><Relationship Id="rId20" Type="http://schemas.openxmlformats.org/officeDocument/2006/relationships/image" Target="../media/image28.wmf"/><Relationship Id="rId1" Type="http://schemas.openxmlformats.org/officeDocument/2006/relationships/vmlDrawing" Target="../drawings/vmlDrawing2.vml"/><Relationship Id="rId6" Type="http://schemas.openxmlformats.org/officeDocument/2006/relationships/image" Target="../media/image21.wmf"/><Relationship Id="rId11" Type="http://schemas.openxmlformats.org/officeDocument/2006/relationships/oleObject" Target="../embeddings/oleObject4.bin"/><Relationship Id="rId24" Type="http://schemas.openxmlformats.org/officeDocument/2006/relationships/image" Target="../media/image30.wmf"/><Relationship Id="rId5" Type="http://schemas.openxmlformats.org/officeDocument/2006/relationships/oleObject" Target="../embeddings/oleObject1.bin"/><Relationship Id="rId15" Type="http://schemas.openxmlformats.org/officeDocument/2006/relationships/oleObject" Target="../embeddings/oleObject6.bin"/><Relationship Id="rId23" Type="http://schemas.openxmlformats.org/officeDocument/2006/relationships/oleObject" Target="../embeddings/oleObject10.bin"/><Relationship Id="rId10" Type="http://schemas.openxmlformats.org/officeDocument/2006/relationships/image" Target="../media/image23.wmf"/><Relationship Id="rId19" Type="http://schemas.openxmlformats.org/officeDocument/2006/relationships/oleObject" Target="../embeddings/oleObject8.bin"/><Relationship Id="rId4" Type="http://schemas.openxmlformats.org/officeDocument/2006/relationships/slideLayout" Target="../slideLayouts/slideLayout7.xml"/><Relationship Id="rId9" Type="http://schemas.openxmlformats.org/officeDocument/2006/relationships/oleObject" Target="../embeddings/oleObject3.bin"/><Relationship Id="rId14" Type="http://schemas.openxmlformats.org/officeDocument/2006/relationships/image" Target="../media/image25.wmf"/><Relationship Id="rId22" Type="http://schemas.openxmlformats.org/officeDocument/2006/relationships/image" Target="../media/image29.wmf"/></Relationships>
</file>

<file path=ppt/slides/_rels/slide23.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oleObject" Target="../embeddings/oleObject5.bin"/><Relationship Id="rId18" Type="http://schemas.openxmlformats.org/officeDocument/2006/relationships/image" Target="../media/image27.wmf"/><Relationship Id="rId3" Type="http://schemas.openxmlformats.org/officeDocument/2006/relationships/tags" Target="../tags/tag6.xml"/><Relationship Id="rId21" Type="http://schemas.openxmlformats.org/officeDocument/2006/relationships/oleObject" Target="../embeddings/oleObject9.bin"/><Relationship Id="rId7" Type="http://schemas.openxmlformats.org/officeDocument/2006/relationships/oleObject" Target="../embeddings/oleObject2.bin"/><Relationship Id="rId12" Type="http://schemas.openxmlformats.org/officeDocument/2006/relationships/image" Target="../media/image24.wmf"/><Relationship Id="rId17" Type="http://schemas.openxmlformats.org/officeDocument/2006/relationships/oleObject" Target="../embeddings/oleObject7.bin"/><Relationship Id="rId2" Type="http://schemas.openxmlformats.org/officeDocument/2006/relationships/tags" Target="../tags/tag5.xml"/><Relationship Id="rId16" Type="http://schemas.openxmlformats.org/officeDocument/2006/relationships/image" Target="../media/image26.wmf"/><Relationship Id="rId20" Type="http://schemas.openxmlformats.org/officeDocument/2006/relationships/image" Target="../media/image28.wmf"/><Relationship Id="rId1" Type="http://schemas.openxmlformats.org/officeDocument/2006/relationships/vmlDrawing" Target="../drawings/vmlDrawing3.vml"/><Relationship Id="rId6" Type="http://schemas.openxmlformats.org/officeDocument/2006/relationships/image" Target="../media/image21.wmf"/><Relationship Id="rId11" Type="http://schemas.openxmlformats.org/officeDocument/2006/relationships/oleObject" Target="../embeddings/oleObject4.bin"/><Relationship Id="rId24" Type="http://schemas.openxmlformats.org/officeDocument/2006/relationships/image" Target="../media/image30.wmf"/><Relationship Id="rId5" Type="http://schemas.openxmlformats.org/officeDocument/2006/relationships/oleObject" Target="../embeddings/oleObject1.bin"/><Relationship Id="rId15" Type="http://schemas.openxmlformats.org/officeDocument/2006/relationships/oleObject" Target="../embeddings/oleObject6.bin"/><Relationship Id="rId23" Type="http://schemas.openxmlformats.org/officeDocument/2006/relationships/oleObject" Target="../embeddings/oleObject10.bin"/><Relationship Id="rId10" Type="http://schemas.openxmlformats.org/officeDocument/2006/relationships/image" Target="../media/image23.wmf"/><Relationship Id="rId19" Type="http://schemas.openxmlformats.org/officeDocument/2006/relationships/oleObject" Target="../embeddings/oleObject8.bin"/><Relationship Id="rId4" Type="http://schemas.openxmlformats.org/officeDocument/2006/relationships/slideLayout" Target="../slideLayouts/slideLayout7.xml"/><Relationship Id="rId9" Type="http://schemas.openxmlformats.org/officeDocument/2006/relationships/oleObject" Target="../embeddings/oleObject3.bin"/><Relationship Id="rId14" Type="http://schemas.openxmlformats.org/officeDocument/2006/relationships/image" Target="../media/image25.wmf"/><Relationship Id="rId22" Type="http://schemas.openxmlformats.org/officeDocument/2006/relationships/image" Target="../media/image29.w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3" Type="http://schemas.openxmlformats.org/officeDocument/2006/relationships/image" Target="../media/image34.wmf"/><Relationship Id="rId18" Type="http://schemas.openxmlformats.org/officeDocument/2006/relationships/oleObject" Target="../embeddings/oleObject17.bin"/><Relationship Id="rId26" Type="http://schemas.openxmlformats.org/officeDocument/2006/relationships/oleObject" Target="../embeddings/oleObject21.bin"/><Relationship Id="rId39" Type="http://schemas.openxmlformats.org/officeDocument/2006/relationships/image" Target="../media/image47.wmf"/><Relationship Id="rId21" Type="http://schemas.openxmlformats.org/officeDocument/2006/relationships/image" Target="../media/image38.wmf"/><Relationship Id="rId34" Type="http://schemas.openxmlformats.org/officeDocument/2006/relationships/oleObject" Target="../embeddings/oleObject25.bin"/><Relationship Id="rId7" Type="http://schemas.openxmlformats.org/officeDocument/2006/relationships/image" Target="../media/image31.wmf"/><Relationship Id="rId2" Type="http://schemas.openxmlformats.org/officeDocument/2006/relationships/slideLayout" Target="../slideLayouts/slideLayout7.xml"/><Relationship Id="rId16" Type="http://schemas.openxmlformats.org/officeDocument/2006/relationships/oleObject" Target="../embeddings/oleObject16.bin"/><Relationship Id="rId20" Type="http://schemas.openxmlformats.org/officeDocument/2006/relationships/oleObject" Target="../embeddings/oleObject18.bin"/><Relationship Id="rId29" Type="http://schemas.openxmlformats.org/officeDocument/2006/relationships/image" Target="../media/image42.wmf"/><Relationship Id="rId41" Type="http://schemas.openxmlformats.org/officeDocument/2006/relationships/image" Target="../media/image48.wmf"/><Relationship Id="rId1" Type="http://schemas.openxmlformats.org/officeDocument/2006/relationships/vmlDrawing" Target="../drawings/vmlDrawing4.vml"/><Relationship Id="rId6" Type="http://schemas.openxmlformats.org/officeDocument/2006/relationships/oleObject" Target="../embeddings/oleObject11.bin"/><Relationship Id="rId11" Type="http://schemas.openxmlformats.org/officeDocument/2006/relationships/image" Target="../media/image33.wmf"/><Relationship Id="rId24" Type="http://schemas.openxmlformats.org/officeDocument/2006/relationships/oleObject" Target="../embeddings/oleObject20.bin"/><Relationship Id="rId32" Type="http://schemas.openxmlformats.org/officeDocument/2006/relationships/oleObject" Target="../embeddings/oleObject24.bin"/><Relationship Id="rId37" Type="http://schemas.openxmlformats.org/officeDocument/2006/relationships/image" Target="../media/image46.wmf"/><Relationship Id="rId40" Type="http://schemas.openxmlformats.org/officeDocument/2006/relationships/oleObject" Target="../embeddings/oleObject28.bin"/><Relationship Id="rId5" Type="http://schemas.openxmlformats.org/officeDocument/2006/relationships/image" Target="../media/image60.png"/><Relationship Id="rId15" Type="http://schemas.openxmlformats.org/officeDocument/2006/relationships/image" Target="../media/image35.wmf"/><Relationship Id="rId23" Type="http://schemas.openxmlformats.org/officeDocument/2006/relationships/image" Target="../media/image39.wmf"/><Relationship Id="rId28" Type="http://schemas.openxmlformats.org/officeDocument/2006/relationships/oleObject" Target="../embeddings/oleObject22.bin"/><Relationship Id="rId36" Type="http://schemas.openxmlformats.org/officeDocument/2006/relationships/oleObject" Target="../embeddings/oleObject26.bin"/><Relationship Id="rId10" Type="http://schemas.openxmlformats.org/officeDocument/2006/relationships/oleObject" Target="../embeddings/oleObject13.bin"/><Relationship Id="rId19" Type="http://schemas.openxmlformats.org/officeDocument/2006/relationships/image" Target="../media/image37.wmf"/><Relationship Id="rId31" Type="http://schemas.openxmlformats.org/officeDocument/2006/relationships/image" Target="../media/image43.wmf"/><Relationship Id="rId4" Type="http://schemas.openxmlformats.org/officeDocument/2006/relationships/image" Target="../media/image59.png"/><Relationship Id="rId9" Type="http://schemas.openxmlformats.org/officeDocument/2006/relationships/image" Target="../media/image32.wmf"/><Relationship Id="rId14" Type="http://schemas.openxmlformats.org/officeDocument/2006/relationships/oleObject" Target="../embeddings/oleObject15.bin"/><Relationship Id="rId22" Type="http://schemas.openxmlformats.org/officeDocument/2006/relationships/oleObject" Target="../embeddings/oleObject19.bin"/><Relationship Id="rId27" Type="http://schemas.openxmlformats.org/officeDocument/2006/relationships/image" Target="../media/image41.wmf"/><Relationship Id="rId30" Type="http://schemas.openxmlformats.org/officeDocument/2006/relationships/oleObject" Target="../embeddings/oleObject23.bin"/><Relationship Id="rId35" Type="http://schemas.openxmlformats.org/officeDocument/2006/relationships/image" Target="../media/image45.wmf"/><Relationship Id="rId8" Type="http://schemas.openxmlformats.org/officeDocument/2006/relationships/oleObject" Target="../embeddings/oleObject12.bin"/><Relationship Id="rId3" Type="http://schemas.openxmlformats.org/officeDocument/2006/relationships/image" Target="../media/image58.png"/><Relationship Id="rId12" Type="http://schemas.openxmlformats.org/officeDocument/2006/relationships/oleObject" Target="../embeddings/oleObject14.bin"/><Relationship Id="rId17" Type="http://schemas.openxmlformats.org/officeDocument/2006/relationships/image" Target="../media/image36.wmf"/><Relationship Id="rId25" Type="http://schemas.openxmlformats.org/officeDocument/2006/relationships/image" Target="../media/image40.wmf"/><Relationship Id="rId33" Type="http://schemas.openxmlformats.org/officeDocument/2006/relationships/image" Target="../media/image44.wmf"/><Relationship Id="rId38" Type="http://schemas.openxmlformats.org/officeDocument/2006/relationships/oleObject" Target="../embeddings/oleObject27.bin"/></Relationships>
</file>

<file path=ppt/slides/_rels/slide2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png"/><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png"/><Relationship Id="rId2" Type="http://schemas.openxmlformats.org/officeDocument/2006/relationships/image" Target="../media/image62.png"/><Relationship Id="rId1" Type="http://schemas.openxmlformats.org/officeDocument/2006/relationships/slideLayout" Target="../slideLayouts/slideLayout7.xml"/><Relationship Id="rId6" Type="http://schemas.openxmlformats.org/officeDocument/2006/relationships/image" Target="../media/image66.png"/><Relationship Id="rId11" Type="http://schemas.openxmlformats.org/officeDocument/2006/relationships/image" Target="../media/image71.png"/><Relationship Id="rId5" Type="http://schemas.openxmlformats.org/officeDocument/2006/relationships/image" Target="../media/image65.png"/><Relationship Id="rId10" Type="http://schemas.openxmlformats.org/officeDocument/2006/relationships/image" Target="../media/image70.png"/><Relationship Id="rId4" Type="http://schemas.openxmlformats.org/officeDocument/2006/relationships/image" Target="../media/image64.png"/><Relationship Id="rId9" Type="http://schemas.openxmlformats.org/officeDocument/2006/relationships/image" Target="../media/image69.png"/></Relationships>
</file>

<file path=ppt/slides/_rels/slide31.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png"/><Relationship Id="rId1" Type="http://schemas.openxmlformats.org/officeDocument/2006/relationships/slideLayout" Target="../slideLayouts/slideLayout7.xml"/><Relationship Id="rId6" Type="http://schemas.openxmlformats.org/officeDocument/2006/relationships/image" Target="../media/image78.png"/><Relationship Id="rId5" Type="http://schemas.openxmlformats.org/officeDocument/2006/relationships/image" Target="../media/image77.png"/><Relationship Id="rId4" Type="http://schemas.openxmlformats.org/officeDocument/2006/relationships/image" Target="../media/image76.png"/><Relationship Id="rId9" Type="http://schemas.openxmlformats.org/officeDocument/2006/relationships/image" Target="../media/image81.png"/></Relationships>
</file>

<file path=ppt/slides/_rels/slide32.xml.rels><?xml version="1.0" encoding="UTF-8" standalone="yes"?>
<Relationships xmlns="http://schemas.openxmlformats.org/package/2006/relationships"><Relationship Id="rId8" Type="http://schemas.openxmlformats.org/officeDocument/2006/relationships/image" Target="../media/image95.png"/><Relationship Id="rId13" Type="http://schemas.openxmlformats.org/officeDocument/2006/relationships/image" Target="../media/image100.png"/><Relationship Id="rId7" Type="http://schemas.openxmlformats.org/officeDocument/2006/relationships/image" Target="../media/image94.png"/><Relationship Id="rId12" Type="http://schemas.openxmlformats.org/officeDocument/2006/relationships/image" Target="../media/image99.png"/><Relationship Id="rId2" Type="http://schemas.openxmlformats.org/officeDocument/2006/relationships/image" Target="../media/image49.png"/><Relationship Id="rId1" Type="http://schemas.openxmlformats.org/officeDocument/2006/relationships/slideLayout" Target="../slideLayouts/slideLayout7.xml"/><Relationship Id="rId6" Type="http://schemas.openxmlformats.org/officeDocument/2006/relationships/image" Target="../media/image93.png"/><Relationship Id="rId11" Type="http://schemas.openxmlformats.org/officeDocument/2006/relationships/image" Target="../media/image98.png"/><Relationship Id="rId5" Type="http://schemas.openxmlformats.org/officeDocument/2006/relationships/image" Target="../media/image92.png"/><Relationship Id="rId10" Type="http://schemas.openxmlformats.org/officeDocument/2006/relationships/image" Target="../media/image97.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s>
</file>

<file path=ppt/slides/_rels/slide33.xml.rels><?xml version="1.0" encoding="UTF-8" standalone="yes"?>
<Relationships xmlns="http://schemas.openxmlformats.org/package/2006/relationships"><Relationship Id="rId8" Type="http://schemas.openxmlformats.org/officeDocument/2006/relationships/image" Target="../media/image87.png"/><Relationship Id="rId13" Type="http://schemas.openxmlformats.org/officeDocument/2006/relationships/image" Target="../media/image104.png"/><Relationship Id="rId3" Type="http://schemas.openxmlformats.org/officeDocument/2006/relationships/image" Target="../media/image19.png"/><Relationship Id="rId7" Type="http://schemas.openxmlformats.org/officeDocument/2006/relationships/image" Target="../media/image86.png"/><Relationship Id="rId12" Type="http://schemas.openxmlformats.org/officeDocument/2006/relationships/image" Target="../media/image102.png"/><Relationship Id="rId2" Type="http://schemas.openxmlformats.org/officeDocument/2006/relationships/image" Target="../media/image83.png"/><Relationship Id="rId1" Type="http://schemas.openxmlformats.org/officeDocument/2006/relationships/slideLayout" Target="../slideLayouts/slideLayout7.xml"/><Relationship Id="rId6" Type="http://schemas.openxmlformats.org/officeDocument/2006/relationships/image" Target="../media/image85.png"/><Relationship Id="rId11" Type="http://schemas.openxmlformats.org/officeDocument/2006/relationships/image" Target="../media/image90.png"/><Relationship Id="rId5" Type="http://schemas.openxmlformats.org/officeDocument/2006/relationships/image" Target="../media/image84.png"/><Relationship Id="rId15" Type="http://schemas.openxmlformats.org/officeDocument/2006/relationships/image" Target="../media/image106.png"/><Relationship Id="rId10" Type="http://schemas.openxmlformats.org/officeDocument/2006/relationships/image" Target="../media/image89.png"/><Relationship Id="rId4" Type="http://schemas.openxmlformats.org/officeDocument/2006/relationships/image" Target="../media/image103.png"/><Relationship Id="rId9" Type="http://schemas.openxmlformats.org/officeDocument/2006/relationships/image" Target="../media/image88.png"/><Relationship Id="rId14" Type="http://schemas.openxmlformats.org/officeDocument/2006/relationships/image" Target="../media/image105.png"/></Relationships>
</file>

<file path=ppt/slides/_rels/slide34.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3" Type="http://schemas.openxmlformats.org/officeDocument/2006/relationships/image" Target="../media/image52.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110.png"/><Relationship Id="rId11" Type="http://schemas.openxmlformats.org/officeDocument/2006/relationships/image" Target="../media/image115.png"/><Relationship Id="rId5" Type="http://schemas.openxmlformats.org/officeDocument/2006/relationships/image" Target="../media/image109.png"/><Relationship Id="rId15" Type="http://schemas.openxmlformats.org/officeDocument/2006/relationships/image" Target="../media/image53.png"/><Relationship Id="rId10" Type="http://schemas.openxmlformats.org/officeDocument/2006/relationships/image" Target="../media/image114.png"/><Relationship Id="rId4" Type="http://schemas.openxmlformats.org/officeDocument/2006/relationships/image" Target="../media/image108.png"/><Relationship Id="rId9" Type="http://schemas.openxmlformats.org/officeDocument/2006/relationships/image" Target="../media/image113.png"/><Relationship Id="rId14" Type="http://schemas.openxmlformats.org/officeDocument/2006/relationships/image" Target="../media/image118.png"/></Relationships>
</file>

<file path=ppt/slides/_rels/slide35.x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oleObject" Target="../embeddings/oleObject34.bin"/><Relationship Id="rId18" Type="http://schemas.openxmlformats.org/officeDocument/2006/relationships/image" Target="../media/image56.wmf"/><Relationship Id="rId26" Type="http://schemas.openxmlformats.org/officeDocument/2006/relationships/image" Target="../media/image60.wmf"/><Relationship Id="rId3" Type="http://schemas.openxmlformats.org/officeDocument/2006/relationships/oleObject" Target="../embeddings/oleObject29.bin"/><Relationship Id="rId21" Type="http://schemas.openxmlformats.org/officeDocument/2006/relationships/oleObject" Target="../embeddings/oleObject38.bin"/><Relationship Id="rId7" Type="http://schemas.openxmlformats.org/officeDocument/2006/relationships/oleObject" Target="../embeddings/oleObject31.bin"/><Relationship Id="rId12" Type="http://schemas.openxmlformats.org/officeDocument/2006/relationships/image" Target="../media/image53.wmf"/><Relationship Id="rId17" Type="http://schemas.openxmlformats.org/officeDocument/2006/relationships/oleObject" Target="../embeddings/oleObject36.bin"/><Relationship Id="rId25" Type="http://schemas.openxmlformats.org/officeDocument/2006/relationships/oleObject" Target="../embeddings/oleObject40.bin"/><Relationship Id="rId2" Type="http://schemas.openxmlformats.org/officeDocument/2006/relationships/slideLayout" Target="../slideLayouts/slideLayout7.xml"/><Relationship Id="rId16" Type="http://schemas.openxmlformats.org/officeDocument/2006/relationships/image" Target="../media/image55.wmf"/><Relationship Id="rId20" Type="http://schemas.openxmlformats.org/officeDocument/2006/relationships/image" Target="../media/image57.wmf"/><Relationship Id="rId29" Type="http://schemas.openxmlformats.org/officeDocument/2006/relationships/image" Target="../media/image134.png"/><Relationship Id="rId1" Type="http://schemas.openxmlformats.org/officeDocument/2006/relationships/vmlDrawing" Target="../drawings/vmlDrawing5.vml"/><Relationship Id="rId6" Type="http://schemas.openxmlformats.org/officeDocument/2006/relationships/image" Target="../media/image50.wmf"/><Relationship Id="rId11" Type="http://schemas.openxmlformats.org/officeDocument/2006/relationships/oleObject" Target="../embeddings/oleObject33.bin"/><Relationship Id="rId24" Type="http://schemas.openxmlformats.org/officeDocument/2006/relationships/image" Target="../media/image59.wmf"/><Relationship Id="rId5" Type="http://schemas.openxmlformats.org/officeDocument/2006/relationships/oleObject" Target="../embeddings/oleObject30.bin"/><Relationship Id="rId15" Type="http://schemas.openxmlformats.org/officeDocument/2006/relationships/oleObject" Target="../embeddings/oleObject35.bin"/><Relationship Id="rId23" Type="http://schemas.openxmlformats.org/officeDocument/2006/relationships/oleObject" Target="../embeddings/oleObject39.bin"/><Relationship Id="rId28" Type="http://schemas.openxmlformats.org/officeDocument/2006/relationships/image" Target="../media/image133.png"/><Relationship Id="rId10" Type="http://schemas.openxmlformats.org/officeDocument/2006/relationships/image" Target="../media/image52.wmf"/><Relationship Id="rId19" Type="http://schemas.openxmlformats.org/officeDocument/2006/relationships/oleObject" Target="../embeddings/oleObject37.bin"/><Relationship Id="rId4" Type="http://schemas.openxmlformats.org/officeDocument/2006/relationships/image" Target="../media/image49.wmf"/><Relationship Id="rId9" Type="http://schemas.openxmlformats.org/officeDocument/2006/relationships/oleObject" Target="../embeddings/oleObject32.bin"/><Relationship Id="rId14" Type="http://schemas.openxmlformats.org/officeDocument/2006/relationships/image" Target="../media/image54.wmf"/><Relationship Id="rId22" Type="http://schemas.openxmlformats.org/officeDocument/2006/relationships/image" Target="../media/image58.wmf"/><Relationship Id="rId27" Type="http://schemas.openxmlformats.org/officeDocument/2006/relationships/image" Target="../media/image13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50.wmf"/><Relationship Id="rId13" Type="http://schemas.openxmlformats.org/officeDocument/2006/relationships/oleObject" Target="../embeddings/oleObject46.bin"/><Relationship Id="rId18" Type="http://schemas.openxmlformats.org/officeDocument/2006/relationships/image" Target="../media/image65.wmf"/><Relationship Id="rId26" Type="http://schemas.openxmlformats.org/officeDocument/2006/relationships/image" Target="../media/image69.wmf"/><Relationship Id="rId3" Type="http://schemas.openxmlformats.org/officeDocument/2006/relationships/oleObject" Target="../embeddings/oleObject41.bin"/><Relationship Id="rId21" Type="http://schemas.openxmlformats.org/officeDocument/2006/relationships/oleObject" Target="../embeddings/oleObject50.bin"/><Relationship Id="rId7" Type="http://schemas.openxmlformats.org/officeDocument/2006/relationships/oleObject" Target="../embeddings/oleObject43.bin"/><Relationship Id="rId12" Type="http://schemas.openxmlformats.org/officeDocument/2006/relationships/image" Target="../media/image62.wmf"/><Relationship Id="rId17" Type="http://schemas.openxmlformats.org/officeDocument/2006/relationships/oleObject" Target="../embeddings/oleObject48.bin"/><Relationship Id="rId25" Type="http://schemas.openxmlformats.org/officeDocument/2006/relationships/oleObject" Target="../embeddings/oleObject52.bin"/><Relationship Id="rId2" Type="http://schemas.openxmlformats.org/officeDocument/2006/relationships/slideLayout" Target="../slideLayouts/slideLayout7.xml"/><Relationship Id="rId16" Type="http://schemas.openxmlformats.org/officeDocument/2006/relationships/image" Target="../media/image64.wmf"/><Relationship Id="rId20" Type="http://schemas.openxmlformats.org/officeDocument/2006/relationships/image" Target="../media/image66.wmf"/><Relationship Id="rId1" Type="http://schemas.openxmlformats.org/officeDocument/2006/relationships/vmlDrawing" Target="../drawings/vmlDrawing6.vml"/><Relationship Id="rId6" Type="http://schemas.openxmlformats.org/officeDocument/2006/relationships/image" Target="../media/image49.wmf"/><Relationship Id="rId11" Type="http://schemas.openxmlformats.org/officeDocument/2006/relationships/oleObject" Target="../embeddings/oleObject45.bin"/><Relationship Id="rId24" Type="http://schemas.openxmlformats.org/officeDocument/2006/relationships/image" Target="../media/image68.wmf"/><Relationship Id="rId5" Type="http://schemas.openxmlformats.org/officeDocument/2006/relationships/oleObject" Target="../embeddings/oleObject42.bin"/><Relationship Id="rId15" Type="http://schemas.openxmlformats.org/officeDocument/2006/relationships/oleObject" Target="../embeddings/oleObject47.bin"/><Relationship Id="rId23" Type="http://schemas.openxmlformats.org/officeDocument/2006/relationships/oleObject" Target="../embeddings/oleObject51.bin"/><Relationship Id="rId10" Type="http://schemas.openxmlformats.org/officeDocument/2006/relationships/image" Target="../media/image51.wmf"/><Relationship Id="rId19" Type="http://schemas.openxmlformats.org/officeDocument/2006/relationships/oleObject" Target="../embeddings/oleObject49.bin"/><Relationship Id="rId4" Type="http://schemas.openxmlformats.org/officeDocument/2006/relationships/image" Target="../media/image61.wmf"/><Relationship Id="rId9" Type="http://schemas.openxmlformats.org/officeDocument/2006/relationships/oleObject" Target="../embeddings/oleObject44.bin"/><Relationship Id="rId14" Type="http://schemas.openxmlformats.org/officeDocument/2006/relationships/image" Target="../media/image63.wmf"/><Relationship Id="rId22" Type="http://schemas.openxmlformats.org/officeDocument/2006/relationships/image" Target="../media/image67.wmf"/><Relationship Id="rId27" Type="http://schemas.openxmlformats.org/officeDocument/2006/relationships/image" Target="../media/image82.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158.png"/><Relationship Id="rId3" Type="http://schemas.openxmlformats.org/officeDocument/2006/relationships/image" Target="../media/image145.png"/><Relationship Id="rId7" Type="http://schemas.openxmlformats.org/officeDocument/2006/relationships/image" Target="../media/image157.png"/><Relationship Id="rId2" Type="http://schemas.openxmlformats.org/officeDocument/2006/relationships/image" Target="../media/image152.png"/><Relationship Id="rId1" Type="http://schemas.openxmlformats.org/officeDocument/2006/relationships/slideLayout" Target="../slideLayouts/slideLayout7.xml"/><Relationship Id="rId6" Type="http://schemas.openxmlformats.org/officeDocument/2006/relationships/image" Target="../media/image156.png"/><Relationship Id="rId5" Type="http://schemas.openxmlformats.org/officeDocument/2006/relationships/image" Target="../media/image155.png"/><Relationship Id="rId4" Type="http://schemas.openxmlformats.org/officeDocument/2006/relationships/image" Target="../media/image14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oleObject" Target="../embeddings/oleObject58.bin"/><Relationship Id="rId3" Type="http://schemas.openxmlformats.org/officeDocument/2006/relationships/oleObject" Target="../embeddings/oleObject53.bin"/><Relationship Id="rId7" Type="http://schemas.openxmlformats.org/officeDocument/2006/relationships/oleObject" Target="../embeddings/oleObject55.bin"/><Relationship Id="rId12" Type="http://schemas.openxmlformats.org/officeDocument/2006/relationships/image" Target="../media/image86.wmf"/><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83.wmf"/><Relationship Id="rId11" Type="http://schemas.openxmlformats.org/officeDocument/2006/relationships/oleObject" Target="../embeddings/oleObject57.bin"/><Relationship Id="rId5" Type="http://schemas.openxmlformats.org/officeDocument/2006/relationships/oleObject" Target="../embeddings/oleObject54.bin"/><Relationship Id="rId10" Type="http://schemas.openxmlformats.org/officeDocument/2006/relationships/image" Target="../media/image85.wmf"/><Relationship Id="rId4" Type="http://schemas.openxmlformats.org/officeDocument/2006/relationships/image" Target="../media/image49.wmf"/><Relationship Id="rId9" Type="http://schemas.openxmlformats.org/officeDocument/2006/relationships/oleObject" Target="../embeddings/oleObject56.bin"/><Relationship Id="rId14" Type="http://schemas.openxmlformats.org/officeDocument/2006/relationships/image" Target="../media/image87.wmf"/></Relationships>
</file>

<file path=ppt/slides/_rels/slide55.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oleObject" Target="../embeddings/oleObject64.bin"/><Relationship Id="rId3" Type="http://schemas.openxmlformats.org/officeDocument/2006/relationships/oleObject" Target="../embeddings/oleObject59.bin"/><Relationship Id="rId7" Type="http://schemas.openxmlformats.org/officeDocument/2006/relationships/oleObject" Target="../embeddings/oleObject61.bin"/><Relationship Id="rId12" Type="http://schemas.openxmlformats.org/officeDocument/2006/relationships/image" Target="../media/image89.wmf"/><Relationship Id="rId17" Type="http://schemas.openxmlformats.org/officeDocument/2006/relationships/image" Target="../media/image119.png"/><Relationship Id="rId2" Type="http://schemas.openxmlformats.org/officeDocument/2006/relationships/slideLayout" Target="../slideLayouts/slideLayout7.xml"/><Relationship Id="rId16" Type="http://schemas.openxmlformats.org/officeDocument/2006/relationships/image" Target="../media/image107.png"/><Relationship Id="rId1" Type="http://schemas.openxmlformats.org/officeDocument/2006/relationships/vmlDrawing" Target="../drawings/vmlDrawing8.vml"/><Relationship Id="rId6" Type="http://schemas.openxmlformats.org/officeDocument/2006/relationships/image" Target="../media/image83.wmf"/><Relationship Id="rId11" Type="http://schemas.openxmlformats.org/officeDocument/2006/relationships/oleObject" Target="../embeddings/oleObject63.bin"/><Relationship Id="rId5" Type="http://schemas.openxmlformats.org/officeDocument/2006/relationships/oleObject" Target="../embeddings/oleObject60.bin"/><Relationship Id="rId15" Type="http://schemas.openxmlformats.org/officeDocument/2006/relationships/oleObject" Target="../embeddings/oleObject65.bin"/><Relationship Id="rId10" Type="http://schemas.openxmlformats.org/officeDocument/2006/relationships/image" Target="../media/image88.wmf"/><Relationship Id="rId4" Type="http://schemas.openxmlformats.org/officeDocument/2006/relationships/image" Target="../media/image49.wmf"/><Relationship Id="rId9" Type="http://schemas.openxmlformats.org/officeDocument/2006/relationships/oleObject" Target="../embeddings/oleObject62.bin"/><Relationship Id="rId14" Type="http://schemas.openxmlformats.org/officeDocument/2006/relationships/image" Target="../media/image90.wmf"/></Relationships>
</file>

<file path=ppt/slides/_rels/slide56.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image" Target="../media/image119.png"/><Relationship Id="rId3" Type="http://schemas.openxmlformats.org/officeDocument/2006/relationships/oleObject" Target="../embeddings/oleObject66.bin"/><Relationship Id="rId7" Type="http://schemas.openxmlformats.org/officeDocument/2006/relationships/oleObject" Target="../embeddings/oleObject68.bin"/><Relationship Id="rId12" Type="http://schemas.openxmlformats.org/officeDocument/2006/relationships/image" Target="../media/image122.png"/><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83.wmf"/><Relationship Id="rId11" Type="http://schemas.openxmlformats.org/officeDocument/2006/relationships/image" Target="../media/image121.png"/><Relationship Id="rId5" Type="http://schemas.openxmlformats.org/officeDocument/2006/relationships/oleObject" Target="../embeddings/oleObject67.bin"/><Relationship Id="rId10" Type="http://schemas.openxmlformats.org/officeDocument/2006/relationships/image" Target="../media/image120.wmf"/><Relationship Id="rId4" Type="http://schemas.openxmlformats.org/officeDocument/2006/relationships/image" Target="../media/image49.wmf"/><Relationship Id="rId9" Type="http://schemas.openxmlformats.org/officeDocument/2006/relationships/oleObject" Target="../embeddings/oleObject69.bin"/></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oleObject" Target="../embeddings/oleObject76.bin"/><Relationship Id="rId18" Type="http://schemas.openxmlformats.org/officeDocument/2006/relationships/oleObject" Target="../embeddings/oleObject79.bin"/><Relationship Id="rId3" Type="http://schemas.openxmlformats.org/officeDocument/2006/relationships/oleObject" Target="../embeddings/oleObject70.bin"/><Relationship Id="rId21" Type="http://schemas.openxmlformats.org/officeDocument/2006/relationships/image" Target="../media/image122.wmf"/><Relationship Id="rId7" Type="http://schemas.openxmlformats.org/officeDocument/2006/relationships/oleObject" Target="../embeddings/oleObject72.bin"/><Relationship Id="rId12" Type="http://schemas.openxmlformats.org/officeDocument/2006/relationships/oleObject" Target="../embeddings/oleObject75.bin"/><Relationship Id="rId17" Type="http://schemas.openxmlformats.org/officeDocument/2006/relationships/image" Target="../media/image86.wmf"/><Relationship Id="rId2" Type="http://schemas.openxmlformats.org/officeDocument/2006/relationships/slideLayout" Target="../slideLayouts/slideLayout7.xml"/><Relationship Id="rId16" Type="http://schemas.openxmlformats.org/officeDocument/2006/relationships/oleObject" Target="../embeddings/oleObject78.bin"/><Relationship Id="rId20" Type="http://schemas.openxmlformats.org/officeDocument/2006/relationships/oleObject" Target="../embeddings/oleObject80.bin"/><Relationship Id="rId1" Type="http://schemas.openxmlformats.org/officeDocument/2006/relationships/vmlDrawing" Target="../drawings/vmlDrawing10.vml"/><Relationship Id="rId6" Type="http://schemas.openxmlformats.org/officeDocument/2006/relationships/image" Target="../media/image83.wmf"/><Relationship Id="rId11" Type="http://schemas.openxmlformats.org/officeDocument/2006/relationships/oleObject" Target="../embeddings/oleObject74.bin"/><Relationship Id="rId5" Type="http://schemas.openxmlformats.org/officeDocument/2006/relationships/oleObject" Target="../embeddings/oleObject71.bin"/><Relationship Id="rId15" Type="http://schemas.openxmlformats.org/officeDocument/2006/relationships/image" Target="../media/image85.wmf"/><Relationship Id="rId10" Type="http://schemas.openxmlformats.org/officeDocument/2006/relationships/image" Target="../media/image120.wmf"/><Relationship Id="rId19" Type="http://schemas.openxmlformats.org/officeDocument/2006/relationships/image" Target="../media/image87.wmf"/><Relationship Id="rId4" Type="http://schemas.openxmlformats.org/officeDocument/2006/relationships/image" Target="../media/image49.wmf"/><Relationship Id="rId9" Type="http://schemas.openxmlformats.org/officeDocument/2006/relationships/oleObject" Target="../embeddings/oleObject73.bin"/><Relationship Id="rId14" Type="http://schemas.openxmlformats.org/officeDocument/2006/relationships/oleObject" Target="../embeddings/oleObject77.bin"/></Relationships>
</file>

<file path=ppt/slides/_rels/slide59.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oleObject" Target="../embeddings/oleObject86.bin"/><Relationship Id="rId3" Type="http://schemas.openxmlformats.org/officeDocument/2006/relationships/oleObject" Target="../embeddings/oleObject81.bin"/><Relationship Id="rId7" Type="http://schemas.openxmlformats.org/officeDocument/2006/relationships/oleObject" Target="../embeddings/oleObject83.bin"/><Relationship Id="rId12" Type="http://schemas.openxmlformats.org/officeDocument/2006/relationships/image" Target="../media/image123.wmf"/><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83.wmf"/><Relationship Id="rId11" Type="http://schemas.openxmlformats.org/officeDocument/2006/relationships/oleObject" Target="../embeddings/oleObject85.bin"/><Relationship Id="rId5" Type="http://schemas.openxmlformats.org/officeDocument/2006/relationships/oleObject" Target="../embeddings/oleObject82.bin"/><Relationship Id="rId15" Type="http://schemas.openxmlformats.org/officeDocument/2006/relationships/image" Target="../media/image125.png"/><Relationship Id="rId10" Type="http://schemas.openxmlformats.org/officeDocument/2006/relationships/image" Target="../media/image120.wmf"/><Relationship Id="rId4" Type="http://schemas.openxmlformats.org/officeDocument/2006/relationships/image" Target="../media/image49.wmf"/><Relationship Id="rId9" Type="http://schemas.openxmlformats.org/officeDocument/2006/relationships/oleObject" Target="../embeddings/oleObject84.bin"/><Relationship Id="rId14" Type="http://schemas.openxmlformats.org/officeDocument/2006/relationships/image" Target="../media/image124.wmf"/></Relationships>
</file>

<file path=ppt/slides/_rels/slide60.x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oleObject" Target="../embeddings/oleObject92.bin"/><Relationship Id="rId18" Type="http://schemas.openxmlformats.org/officeDocument/2006/relationships/image" Target="../media/image126.wmf"/><Relationship Id="rId26" Type="http://schemas.openxmlformats.org/officeDocument/2006/relationships/image" Target="../media/image120.wmf"/><Relationship Id="rId3" Type="http://schemas.openxmlformats.org/officeDocument/2006/relationships/oleObject" Target="../embeddings/oleObject87.bin"/><Relationship Id="rId21" Type="http://schemas.openxmlformats.org/officeDocument/2006/relationships/oleObject" Target="../embeddings/oleObject96.bin"/><Relationship Id="rId7" Type="http://schemas.openxmlformats.org/officeDocument/2006/relationships/oleObject" Target="../embeddings/oleObject89.bin"/><Relationship Id="rId12" Type="http://schemas.openxmlformats.org/officeDocument/2006/relationships/image" Target="../media/image25.wmf"/><Relationship Id="rId17" Type="http://schemas.openxmlformats.org/officeDocument/2006/relationships/oleObject" Target="../embeddings/oleObject94.bin"/><Relationship Id="rId25" Type="http://schemas.openxmlformats.org/officeDocument/2006/relationships/oleObject" Target="../embeddings/oleObject98.bin"/><Relationship Id="rId2" Type="http://schemas.openxmlformats.org/officeDocument/2006/relationships/slideLayout" Target="../slideLayouts/slideLayout7.xml"/><Relationship Id="rId16" Type="http://schemas.openxmlformats.org/officeDocument/2006/relationships/image" Target="../media/image27.wmf"/><Relationship Id="rId20" Type="http://schemas.openxmlformats.org/officeDocument/2006/relationships/image" Target="../media/image49.wmf"/><Relationship Id="rId29" Type="http://schemas.openxmlformats.org/officeDocument/2006/relationships/oleObject" Target="../embeddings/oleObject100.bin"/><Relationship Id="rId1" Type="http://schemas.openxmlformats.org/officeDocument/2006/relationships/vmlDrawing" Target="../drawings/vmlDrawing12.vml"/><Relationship Id="rId6" Type="http://schemas.openxmlformats.org/officeDocument/2006/relationships/image" Target="../media/image22.wmf"/><Relationship Id="rId11" Type="http://schemas.openxmlformats.org/officeDocument/2006/relationships/oleObject" Target="../embeddings/oleObject91.bin"/><Relationship Id="rId24" Type="http://schemas.openxmlformats.org/officeDocument/2006/relationships/image" Target="../media/image84.wmf"/><Relationship Id="rId5" Type="http://schemas.openxmlformats.org/officeDocument/2006/relationships/oleObject" Target="../embeddings/oleObject88.bin"/><Relationship Id="rId15" Type="http://schemas.openxmlformats.org/officeDocument/2006/relationships/oleObject" Target="../embeddings/oleObject93.bin"/><Relationship Id="rId23" Type="http://schemas.openxmlformats.org/officeDocument/2006/relationships/oleObject" Target="../embeddings/oleObject97.bin"/><Relationship Id="rId28" Type="http://schemas.openxmlformats.org/officeDocument/2006/relationships/image" Target="../media/image124.wmf"/><Relationship Id="rId10" Type="http://schemas.openxmlformats.org/officeDocument/2006/relationships/image" Target="../media/image24.wmf"/><Relationship Id="rId19" Type="http://schemas.openxmlformats.org/officeDocument/2006/relationships/oleObject" Target="../embeddings/oleObject95.bin"/><Relationship Id="rId4" Type="http://schemas.openxmlformats.org/officeDocument/2006/relationships/image" Target="../media/image21.wmf"/><Relationship Id="rId9" Type="http://schemas.openxmlformats.org/officeDocument/2006/relationships/oleObject" Target="../embeddings/oleObject90.bin"/><Relationship Id="rId14" Type="http://schemas.openxmlformats.org/officeDocument/2006/relationships/image" Target="../media/image26.wmf"/><Relationship Id="rId22" Type="http://schemas.openxmlformats.org/officeDocument/2006/relationships/image" Target="../media/image83.wmf"/><Relationship Id="rId27" Type="http://schemas.openxmlformats.org/officeDocument/2006/relationships/oleObject" Target="../embeddings/oleObject99.bin"/><Relationship Id="rId30" Type="http://schemas.openxmlformats.org/officeDocument/2006/relationships/image" Target="../media/image127.wmf"/></Relationships>
</file>

<file path=ppt/slides/_rels/slide61.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40.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8" Type="http://schemas.openxmlformats.org/officeDocument/2006/relationships/image" Target="../media/image83.wmf"/><Relationship Id="rId13" Type="http://schemas.openxmlformats.org/officeDocument/2006/relationships/oleObject" Target="../embeddings/oleObject105.bin"/><Relationship Id="rId18" Type="http://schemas.openxmlformats.org/officeDocument/2006/relationships/image" Target="../media/image133.wmf"/><Relationship Id="rId26" Type="http://schemas.openxmlformats.org/officeDocument/2006/relationships/image" Target="../media/image137.wmf"/><Relationship Id="rId3" Type="http://schemas.openxmlformats.org/officeDocument/2006/relationships/image" Target="../media/image139.png"/><Relationship Id="rId21" Type="http://schemas.openxmlformats.org/officeDocument/2006/relationships/oleObject" Target="../embeddings/oleObject109.bin"/><Relationship Id="rId7" Type="http://schemas.openxmlformats.org/officeDocument/2006/relationships/oleObject" Target="../embeddings/oleObject102.bin"/><Relationship Id="rId12" Type="http://schemas.openxmlformats.org/officeDocument/2006/relationships/image" Target="../media/image130.wmf"/><Relationship Id="rId17" Type="http://schemas.openxmlformats.org/officeDocument/2006/relationships/oleObject" Target="../embeddings/oleObject107.bin"/><Relationship Id="rId25" Type="http://schemas.openxmlformats.org/officeDocument/2006/relationships/oleObject" Target="../embeddings/oleObject111.bin"/><Relationship Id="rId2" Type="http://schemas.openxmlformats.org/officeDocument/2006/relationships/slideLayout" Target="../slideLayouts/slideLayout7.xml"/><Relationship Id="rId16" Type="http://schemas.openxmlformats.org/officeDocument/2006/relationships/image" Target="../media/image132.wmf"/><Relationship Id="rId20" Type="http://schemas.openxmlformats.org/officeDocument/2006/relationships/image" Target="../media/image134.wmf"/><Relationship Id="rId29" Type="http://schemas.openxmlformats.org/officeDocument/2006/relationships/image" Target="../media/image142.png"/><Relationship Id="rId1" Type="http://schemas.openxmlformats.org/officeDocument/2006/relationships/vmlDrawing" Target="../drawings/vmlDrawing13.vml"/><Relationship Id="rId6" Type="http://schemas.openxmlformats.org/officeDocument/2006/relationships/image" Target="../media/image49.wmf"/><Relationship Id="rId11" Type="http://schemas.openxmlformats.org/officeDocument/2006/relationships/oleObject" Target="../embeddings/oleObject104.bin"/><Relationship Id="rId24" Type="http://schemas.openxmlformats.org/officeDocument/2006/relationships/image" Target="../media/image136.wmf"/><Relationship Id="rId5" Type="http://schemas.openxmlformats.org/officeDocument/2006/relationships/oleObject" Target="../embeddings/oleObject101.bin"/><Relationship Id="rId15" Type="http://schemas.openxmlformats.org/officeDocument/2006/relationships/oleObject" Target="../embeddings/oleObject106.bin"/><Relationship Id="rId23" Type="http://schemas.openxmlformats.org/officeDocument/2006/relationships/oleObject" Target="../embeddings/oleObject110.bin"/><Relationship Id="rId28" Type="http://schemas.openxmlformats.org/officeDocument/2006/relationships/image" Target="../media/image138.wmf"/><Relationship Id="rId10" Type="http://schemas.openxmlformats.org/officeDocument/2006/relationships/image" Target="../media/image84.wmf"/><Relationship Id="rId19" Type="http://schemas.openxmlformats.org/officeDocument/2006/relationships/oleObject" Target="../embeddings/oleObject108.bin"/><Relationship Id="rId31" Type="http://schemas.microsoft.com/office/2007/relationships/hdphoto" Target="../media/hdphoto1.wdp"/><Relationship Id="rId4" Type="http://schemas.openxmlformats.org/officeDocument/2006/relationships/image" Target="../media/image141.png"/><Relationship Id="rId9" Type="http://schemas.openxmlformats.org/officeDocument/2006/relationships/oleObject" Target="../embeddings/oleObject103.bin"/><Relationship Id="rId14" Type="http://schemas.openxmlformats.org/officeDocument/2006/relationships/image" Target="../media/image131.wmf"/><Relationship Id="rId22" Type="http://schemas.openxmlformats.org/officeDocument/2006/relationships/image" Target="../media/image135.wmf"/><Relationship Id="rId27" Type="http://schemas.openxmlformats.org/officeDocument/2006/relationships/oleObject" Target="../embeddings/oleObject112.bin"/><Relationship Id="rId30" Type="http://schemas.openxmlformats.org/officeDocument/2006/relationships/image" Target="../media/image143.png"/></Relationships>
</file>

<file path=ppt/slides/_rels/slide67.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oleObject" Target="../embeddings/oleObject118.bin"/><Relationship Id="rId18" Type="http://schemas.openxmlformats.org/officeDocument/2006/relationships/image" Target="../media/image133.wmf"/><Relationship Id="rId3" Type="http://schemas.openxmlformats.org/officeDocument/2006/relationships/oleObject" Target="../embeddings/oleObject113.bin"/><Relationship Id="rId21" Type="http://schemas.openxmlformats.org/officeDocument/2006/relationships/oleObject" Target="../embeddings/oleObject122.bin"/><Relationship Id="rId7" Type="http://schemas.openxmlformats.org/officeDocument/2006/relationships/oleObject" Target="../embeddings/oleObject115.bin"/><Relationship Id="rId12" Type="http://schemas.openxmlformats.org/officeDocument/2006/relationships/image" Target="../media/image132.wmf"/><Relationship Id="rId17" Type="http://schemas.openxmlformats.org/officeDocument/2006/relationships/oleObject" Target="../embeddings/oleObject120.bin"/><Relationship Id="rId2" Type="http://schemas.openxmlformats.org/officeDocument/2006/relationships/slideLayout" Target="../slideLayouts/slideLayout7.xml"/><Relationship Id="rId16" Type="http://schemas.openxmlformats.org/officeDocument/2006/relationships/image" Target="../media/image130.wmf"/><Relationship Id="rId20" Type="http://schemas.openxmlformats.org/officeDocument/2006/relationships/image" Target="../media/image135.wmf"/><Relationship Id="rId1" Type="http://schemas.openxmlformats.org/officeDocument/2006/relationships/vmlDrawing" Target="../drawings/vmlDrawing14.vml"/><Relationship Id="rId6" Type="http://schemas.openxmlformats.org/officeDocument/2006/relationships/image" Target="../media/image83.wmf"/><Relationship Id="rId11" Type="http://schemas.openxmlformats.org/officeDocument/2006/relationships/oleObject" Target="../embeddings/oleObject117.bin"/><Relationship Id="rId5" Type="http://schemas.openxmlformats.org/officeDocument/2006/relationships/oleObject" Target="../embeddings/oleObject114.bin"/><Relationship Id="rId15" Type="http://schemas.openxmlformats.org/officeDocument/2006/relationships/oleObject" Target="../embeddings/oleObject119.bin"/><Relationship Id="rId10" Type="http://schemas.openxmlformats.org/officeDocument/2006/relationships/image" Target="../media/image131.wmf"/><Relationship Id="rId19" Type="http://schemas.openxmlformats.org/officeDocument/2006/relationships/oleObject" Target="../embeddings/oleObject121.bin"/><Relationship Id="rId4" Type="http://schemas.openxmlformats.org/officeDocument/2006/relationships/image" Target="../media/image49.wmf"/><Relationship Id="rId9" Type="http://schemas.openxmlformats.org/officeDocument/2006/relationships/oleObject" Target="../embeddings/oleObject116.bin"/><Relationship Id="rId14" Type="http://schemas.openxmlformats.org/officeDocument/2006/relationships/image" Target="../media/image134.wmf"/><Relationship Id="rId22" Type="http://schemas.openxmlformats.org/officeDocument/2006/relationships/image" Target="../media/image138.wmf"/></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3" Type="http://schemas.openxmlformats.org/officeDocument/2006/relationships/oleObject" Target="../embeddings/oleObject128.bin"/><Relationship Id="rId18" Type="http://schemas.openxmlformats.org/officeDocument/2006/relationships/image" Target="../media/image144.wmf"/><Relationship Id="rId26" Type="http://schemas.openxmlformats.org/officeDocument/2006/relationships/oleObject" Target="../embeddings/oleObject135.bin"/><Relationship Id="rId21" Type="http://schemas.openxmlformats.org/officeDocument/2006/relationships/oleObject" Target="../embeddings/oleObject132.bin"/><Relationship Id="rId34" Type="http://schemas.openxmlformats.org/officeDocument/2006/relationships/oleObject" Target="../embeddings/oleObject141.bin"/><Relationship Id="rId7" Type="http://schemas.openxmlformats.org/officeDocument/2006/relationships/oleObject" Target="../embeddings/oleObject125.bin"/><Relationship Id="rId12" Type="http://schemas.openxmlformats.org/officeDocument/2006/relationships/image" Target="../media/image130.wmf"/><Relationship Id="rId17" Type="http://schemas.openxmlformats.org/officeDocument/2006/relationships/oleObject" Target="../embeddings/oleObject130.bin"/><Relationship Id="rId25" Type="http://schemas.openxmlformats.org/officeDocument/2006/relationships/oleObject" Target="../embeddings/oleObject134.bin"/><Relationship Id="rId33" Type="http://schemas.openxmlformats.org/officeDocument/2006/relationships/image" Target="../media/image147.wmf"/><Relationship Id="rId38" Type="http://schemas.openxmlformats.org/officeDocument/2006/relationships/image" Target="../media/image153.png"/><Relationship Id="rId2" Type="http://schemas.openxmlformats.org/officeDocument/2006/relationships/slideLayout" Target="../slideLayouts/slideLayout7.xml"/><Relationship Id="rId16" Type="http://schemas.openxmlformats.org/officeDocument/2006/relationships/image" Target="../media/image135.wmf"/><Relationship Id="rId20" Type="http://schemas.openxmlformats.org/officeDocument/2006/relationships/image" Target="../media/image145.wmf"/><Relationship Id="rId29" Type="http://schemas.openxmlformats.org/officeDocument/2006/relationships/oleObject" Target="../embeddings/oleObject138.bin"/><Relationship Id="rId1" Type="http://schemas.openxmlformats.org/officeDocument/2006/relationships/vmlDrawing" Target="../drawings/vmlDrawing15.vml"/><Relationship Id="rId6" Type="http://schemas.openxmlformats.org/officeDocument/2006/relationships/image" Target="../media/image131.wmf"/><Relationship Id="rId11" Type="http://schemas.openxmlformats.org/officeDocument/2006/relationships/oleObject" Target="../embeddings/oleObject127.bin"/><Relationship Id="rId24" Type="http://schemas.openxmlformats.org/officeDocument/2006/relationships/image" Target="../media/image84.wmf"/><Relationship Id="rId32" Type="http://schemas.openxmlformats.org/officeDocument/2006/relationships/oleObject" Target="../embeddings/oleObject140.bin"/><Relationship Id="rId37" Type="http://schemas.openxmlformats.org/officeDocument/2006/relationships/image" Target="../media/image151.png"/><Relationship Id="rId5" Type="http://schemas.openxmlformats.org/officeDocument/2006/relationships/oleObject" Target="../embeddings/oleObject124.bin"/><Relationship Id="rId15" Type="http://schemas.openxmlformats.org/officeDocument/2006/relationships/oleObject" Target="../embeddings/oleObject129.bin"/><Relationship Id="rId23" Type="http://schemas.openxmlformats.org/officeDocument/2006/relationships/oleObject" Target="../embeddings/oleObject133.bin"/><Relationship Id="rId28" Type="http://schemas.openxmlformats.org/officeDocument/2006/relationships/oleObject" Target="../embeddings/oleObject137.bin"/><Relationship Id="rId36" Type="http://schemas.openxmlformats.org/officeDocument/2006/relationships/image" Target="../media/image149.png"/><Relationship Id="rId10" Type="http://schemas.openxmlformats.org/officeDocument/2006/relationships/image" Target="../media/image134.wmf"/><Relationship Id="rId19" Type="http://schemas.openxmlformats.org/officeDocument/2006/relationships/oleObject" Target="../embeddings/oleObject131.bin"/><Relationship Id="rId31" Type="http://schemas.openxmlformats.org/officeDocument/2006/relationships/image" Target="../media/image146.wmf"/><Relationship Id="rId4" Type="http://schemas.openxmlformats.org/officeDocument/2006/relationships/image" Target="../media/image83.wmf"/><Relationship Id="rId9" Type="http://schemas.openxmlformats.org/officeDocument/2006/relationships/oleObject" Target="../embeddings/oleObject126.bin"/><Relationship Id="rId14" Type="http://schemas.openxmlformats.org/officeDocument/2006/relationships/image" Target="../media/image133.wmf"/><Relationship Id="rId22" Type="http://schemas.openxmlformats.org/officeDocument/2006/relationships/image" Target="../media/image49.wmf"/><Relationship Id="rId27" Type="http://schemas.openxmlformats.org/officeDocument/2006/relationships/oleObject" Target="../embeddings/oleObject136.bin"/><Relationship Id="rId30" Type="http://schemas.openxmlformats.org/officeDocument/2006/relationships/oleObject" Target="../embeddings/oleObject139.bin"/><Relationship Id="rId35" Type="http://schemas.openxmlformats.org/officeDocument/2006/relationships/image" Target="../media/image148.wmf"/><Relationship Id="rId8" Type="http://schemas.openxmlformats.org/officeDocument/2006/relationships/image" Target="../media/image132.wmf"/><Relationship Id="rId3" Type="http://schemas.openxmlformats.org/officeDocument/2006/relationships/oleObject" Target="../embeddings/oleObject123.bin"/></Relationships>
</file>

<file path=ppt/slides/_rels/slide70.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oleObject" Target="../embeddings/oleObject147.bin"/><Relationship Id="rId18" Type="http://schemas.openxmlformats.org/officeDocument/2006/relationships/image" Target="../media/image158.wmf"/><Relationship Id="rId26" Type="http://schemas.openxmlformats.org/officeDocument/2006/relationships/image" Target="../media/image162.wmf"/><Relationship Id="rId3" Type="http://schemas.openxmlformats.org/officeDocument/2006/relationships/oleObject" Target="../embeddings/oleObject142.bin"/><Relationship Id="rId21" Type="http://schemas.openxmlformats.org/officeDocument/2006/relationships/oleObject" Target="../embeddings/oleObject151.bin"/><Relationship Id="rId7" Type="http://schemas.openxmlformats.org/officeDocument/2006/relationships/oleObject" Target="../embeddings/oleObject144.bin"/><Relationship Id="rId12" Type="http://schemas.openxmlformats.org/officeDocument/2006/relationships/image" Target="../media/image155.wmf"/><Relationship Id="rId17" Type="http://schemas.openxmlformats.org/officeDocument/2006/relationships/oleObject" Target="../embeddings/oleObject149.bin"/><Relationship Id="rId25" Type="http://schemas.openxmlformats.org/officeDocument/2006/relationships/oleObject" Target="../embeddings/oleObject153.bin"/><Relationship Id="rId2" Type="http://schemas.openxmlformats.org/officeDocument/2006/relationships/slideLayout" Target="../slideLayouts/slideLayout7.xml"/><Relationship Id="rId16" Type="http://schemas.openxmlformats.org/officeDocument/2006/relationships/image" Target="../media/image157.wmf"/><Relationship Id="rId20" Type="http://schemas.openxmlformats.org/officeDocument/2006/relationships/image" Target="../media/image159.wmf"/><Relationship Id="rId1" Type="http://schemas.openxmlformats.org/officeDocument/2006/relationships/vmlDrawing" Target="../drawings/vmlDrawing16.vml"/><Relationship Id="rId6" Type="http://schemas.openxmlformats.org/officeDocument/2006/relationships/image" Target="../media/image83.wmf"/><Relationship Id="rId11" Type="http://schemas.openxmlformats.org/officeDocument/2006/relationships/oleObject" Target="../embeddings/oleObject146.bin"/><Relationship Id="rId24" Type="http://schemas.openxmlformats.org/officeDocument/2006/relationships/image" Target="../media/image161.wmf"/><Relationship Id="rId5" Type="http://schemas.openxmlformats.org/officeDocument/2006/relationships/oleObject" Target="../embeddings/oleObject143.bin"/><Relationship Id="rId15" Type="http://schemas.openxmlformats.org/officeDocument/2006/relationships/oleObject" Target="../embeddings/oleObject148.bin"/><Relationship Id="rId23" Type="http://schemas.openxmlformats.org/officeDocument/2006/relationships/oleObject" Target="../embeddings/oleObject152.bin"/><Relationship Id="rId10" Type="http://schemas.openxmlformats.org/officeDocument/2006/relationships/image" Target="../media/image154.wmf"/><Relationship Id="rId19" Type="http://schemas.openxmlformats.org/officeDocument/2006/relationships/oleObject" Target="../embeddings/oleObject150.bin"/><Relationship Id="rId4" Type="http://schemas.openxmlformats.org/officeDocument/2006/relationships/image" Target="../media/image49.wmf"/><Relationship Id="rId9" Type="http://schemas.openxmlformats.org/officeDocument/2006/relationships/oleObject" Target="../embeddings/oleObject145.bin"/><Relationship Id="rId14" Type="http://schemas.openxmlformats.org/officeDocument/2006/relationships/image" Target="../media/image156.wmf"/><Relationship Id="rId22" Type="http://schemas.openxmlformats.org/officeDocument/2006/relationships/image" Target="../media/image160.wmf"/></Relationships>
</file>

<file path=ppt/slides/_rels/slide71.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image" Target="../media/image196.png"/><Relationship Id="rId1" Type="http://schemas.openxmlformats.org/officeDocument/2006/relationships/slideLayout" Target="../slideLayouts/slideLayout7.xml"/><Relationship Id="rId6" Type="http://schemas.openxmlformats.org/officeDocument/2006/relationships/image" Target="../media/image170.png"/><Relationship Id="rId5" Type="http://schemas.openxmlformats.org/officeDocument/2006/relationships/image" Target="../media/image168.png"/><Relationship Id="rId4" Type="http://schemas.openxmlformats.org/officeDocument/2006/relationships/image" Target="../media/image167.png"/></Relationships>
</file>

<file path=ppt/slides/_rels/slide78.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154.bin"/><Relationship Id="rId7" Type="http://schemas.openxmlformats.org/officeDocument/2006/relationships/oleObject" Target="../embeddings/oleObject156.bin"/><Relationship Id="rId12" Type="http://schemas.openxmlformats.org/officeDocument/2006/relationships/image" Target="../media/image173.wmf"/><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image" Target="../media/image83.wmf"/><Relationship Id="rId11" Type="http://schemas.openxmlformats.org/officeDocument/2006/relationships/oleObject" Target="../embeddings/oleObject158.bin"/><Relationship Id="rId5" Type="http://schemas.openxmlformats.org/officeDocument/2006/relationships/oleObject" Target="../embeddings/oleObject155.bin"/><Relationship Id="rId10" Type="http://schemas.openxmlformats.org/officeDocument/2006/relationships/image" Target="../media/image172.wmf"/><Relationship Id="rId4" Type="http://schemas.openxmlformats.org/officeDocument/2006/relationships/image" Target="../media/image49.wmf"/><Relationship Id="rId9" Type="http://schemas.openxmlformats.org/officeDocument/2006/relationships/oleObject" Target="../embeddings/oleObject157.bin"/></Relationships>
</file>

<file path=ppt/slides/_rels/slide82.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oleObject" Target="../embeddings/oleObject164.bin"/><Relationship Id="rId18" Type="http://schemas.openxmlformats.org/officeDocument/2006/relationships/image" Target="../media/image159.wmf"/><Relationship Id="rId26" Type="http://schemas.openxmlformats.org/officeDocument/2006/relationships/image" Target="../media/image156.wmf"/><Relationship Id="rId3" Type="http://schemas.openxmlformats.org/officeDocument/2006/relationships/oleObject" Target="../embeddings/oleObject159.bin"/><Relationship Id="rId21" Type="http://schemas.openxmlformats.org/officeDocument/2006/relationships/oleObject" Target="../embeddings/oleObject168.bin"/><Relationship Id="rId7" Type="http://schemas.openxmlformats.org/officeDocument/2006/relationships/oleObject" Target="../embeddings/oleObject161.bin"/><Relationship Id="rId12" Type="http://schemas.openxmlformats.org/officeDocument/2006/relationships/image" Target="../media/image175.wmf"/><Relationship Id="rId17" Type="http://schemas.openxmlformats.org/officeDocument/2006/relationships/oleObject" Target="../embeddings/oleObject166.bin"/><Relationship Id="rId25" Type="http://schemas.openxmlformats.org/officeDocument/2006/relationships/oleObject" Target="../embeddings/oleObject170.bin"/><Relationship Id="rId2" Type="http://schemas.openxmlformats.org/officeDocument/2006/relationships/slideLayout" Target="../slideLayouts/slideLayout7.xml"/><Relationship Id="rId16" Type="http://schemas.openxmlformats.org/officeDocument/2006/relationships/image" Target="../media/image158.wmf"/><Relationship Id="rId20" Type="http://schemas.openxmlformats.org/officeDocument/2006/relationships/image" Target="../media/image160.wmf"/><Relationship Id="rId29" Type="http://schemas.openxmlformats.org/officeDocument/2006/relationships/oleObject" Target="../embeddings/oleObject172.bin"/><Relationship Id="rId1" Type="http://schemas.openxmlformats.org/officeDocument/2006/relationships/vmlDrawing" Target="../drawings/vmlDrawing18.vml"/><Relationship Id="rId6" Type="http://schemas.openxmlformats.org/officeDocument/2006/relationships/image" Target="../media/image83.wmf"/><Relationship Id="rId11" Type="http://schemas.openxmlformats.org/officeDocument/2006/relationships/oleObject" Target="../embeddings/oleObject163.bin"/><Relationship Id="rId24" Type="http://schemas.openxmlformats.org/officeDocument/2006/relationships/image" Target="../media/image155.wmf"/><Relationship Id="rId5" Type="http://schemas.openxmlformats.org/officeDocument/2006/relationships/oleObject" Target="../embeddings/oleObject160.bin"/><Relationship Id="rId15" Type="http://schemas.openxmlformats.org/officeDocument/2006/relationships/oleObject" Target="../embeddings/oleObject165.bin"/><Relationship Id="rId23" Type="http://schemas.openxmlformats.org/officeDocument/2006/relationships/oleObject" Target="../embeddings/oleObject169.bin"/><Relationship Id="rId28" Type="http://schemas.openxmlformats.org/officeDocument/2006/relationships/image" Target="../media/image177.wmf"/><Relationship Id="rId10" Type="http://schemas.openxmlformats.org/officeDocument/2006/relationships/image" Target="../media/image174.wmf"/><Relationship Id="rId19" Type="http://schemas.openxmlformats.org/officeDocument/2006/relationships/oleObject" Target="../embeddings/oleObject167.bin"/><Relationship Id="rId4" Type="http://schemas.openxmlformats.org/officeDocument/2006/relationships/image" Target="../media/image49.wmf"/><Relationship Id="rId9" Type="http://schemas.openxmlformats.org/officeDocument/2006/relationships/oleObject" Target="../embeddings/oleObject162.bin"/><Relationship Id="rId14" Type="http://schemas.openxmlformats.org/officeDocument/2006/relationships/image" Target="../media/image176.wmf"/><Relationship Id="rId22" Type="http://schemas.openxmlformats.org/officeDocument/2006/relationships/image" Target="../media/image154.wmf"/><Relationship Id="rId27" Type="http://schemas.openxmlformats.org/officeDocument/2006/relationships/oleObject" Target="../embeddings/oleObject171.bin"/><Relationship Id="rId30" Type="http://schemas.openxmlformats.org/officeDocument/2006/relationships/image" Target="../media/image178.wmf"/></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lum/>
          </a:blip>
          <a:srcRect/>
          <a:stretch>
            <a:fillRect/>
          </a:stretch>
        </a:blip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ctrTitle" idx="4294967295"/>
          </p:nvPr>
        </p:nvSpPr>
        <p:spPr>
          <a:xfrm>
            <a:off x="1691481" y="2276872"/>
            <a:ext cx="5761038" cy="1441450"/>
          </a:xfrm>
        </p:spPr>
        <p:txBody>
          <a:bodyPr/>
          <a:lstStyle/>
          <a:p>
            <a:pPr eaLnBrk="1" hangingPunct="1"/>
            <a:r>
              <a:rPr lang="zh-CN" altLang="en-US" dirty="0">
                <a:latin typeface="微软雅黑" panose="020B0503020204020204" pitchFamily="34" charset="-122"/>
                <a:ea typeface="微软雅黑" panose="020B0503020204020204" pitchFamily="34" charset="-122"/>
              </a:rPr>
              <a:t>第三章</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企业的生产和成本</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blinds(horizontal)">
                                      <p:cBhvr>
                                        <p:cTn id="7" dur="10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椭圆 55">
            <a:extLst>
              <a:ext uri="{FF2B5EF4-FFF2-40B4-BE49-F238E27FC236}">
                <a16:creationId xmlns:a16="http://schemas.microsoft.com/office/drawing/2014/main" id="{5F39A9E1-08D6-416C-81B9-5336D5D57A7A}"/>
              </a:ext>
            </a:extLst>
          </p:cNvPr>
          <p:cNvSpPr/>
          <p:nvPr/>
        </p:nvSpPr>
        <p:spPr>
          <a:xfrm>
            <a:off x="2103263" y="1388905"/>
            <a:ext cx="1338610" cy="1359703"/>
          </a:xfrm>
          <a:prstGeom prst="ellipse">
            <a:avLst/>
          </a:prstGeom>
          <a:solidFill>
            <a:srgbClr val="AFD9E6"/>
          </a:solidFill>
          <a:ln w="25400">
            <a:solidFill>
              <a:srgbClr val="C3C9D7"/>
            </a:solidFill>
          </a:ln>
        </p:spPr>
        <p:style>
          <a:lnRef idx="2">
            <a:schemeClr val="accent1">
              <a:shade val="50000"/>
            </a:schemeClr>
          </a:lnRef>
          <a:fillRef idx="1">
            <a:schemeClr val="accent1"/>
          </a:fillRef>
          <a:effectRef idx="0">
            <a:schemeClr val="accent1"/>
          </a:effectRef>
          <a:fontRef idx="minor">
            <a:schemeClr val="lt1"/>
          </a:fontRef>
        </p:style>
        <p:txBody>
          <a:bodyPr lIns="129989" tIns="64994" rIns="129989" bIns="64994"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zh-CN" altLang="en-US" sz="996"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55" name="椭圆 54">
            <a:extLst>
              <a:ext uri="{FF2B5EF4-FFF2-40B4-BE49-F238E27FC236}">
                <a16:creationId xmlns:a16="http://schemas.microsoft.com/office/drawing/2014/main" id="{104B378D-7E0C-4631-B298-1042DADB8B10}"/>
              </a:ext>
            </a:extLst>
          </p:cNvPr>
          <p:cNvSpPr/>
          <p:nvPr/>
        </p:nvSpPr>
        <p:spPr>
          <a:xfrm>
            <a:off x="1433811" y="2856034"/>
            <a:ext cx="1338610" cy="1359703"/>
          </a:xfrm>
          <a:prstGeom prst="ellipse">
            <a:avLst/>
          </a:prstGeom>
          <a:solidFill>
            <a:srgbClr val="AFD9E6"/>
          </a:solidFill>
          <a:ln w="25400">
            <a:solidFill>
              <a:srgbClr val="C3C9D7"/>
            </a:solidFill>
          </a:ln>
        </p:spPr>
        <p:style>
          <a:lnRef idx="2">
            <a:schemeClr val="accent1">
              <a:shade val="50000"/>
            </a:schemeClr>
          </a:lnRef>
          <a:fillRef idx="1">
            <a:schemeClr val="accent1"/>
          </a:fillRef>
          <a:effectRef idx="0">
            <a:schemeClr val="accent1"/>
          </a:effectRef>
          <a:fontRef idx="minor">
            <a:schemeClr val="lt1"/>
          </a:fontRef>
        </p:style>
        <p:txBody>
          <a:bodyPr lIns="129989" tIns="64994" rIns="129989" bIns="64994"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zh-CN" altLang="en-US" sz="996"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48" name="椭圆 47">
            <a:extLst>
              <a:ext uri="{FF2B5EF4-FFF2-40B4-BE49-F238E27FC236}">
                <a16:creationId xmlns:a16="http://schemas.microsoft.com/office/drawing/2014/main" id="{7550FA69-E101-4839-8A41-3D3EC9EE4939}"/>
              </a:ext>
            </a:extLst>
          </p:cNvPr>
          <p:cNvSpPr/>
          <p:nvPr/>
        </p:nvSpPr>
        <p:spPr>
          <a:xfrm>
            <a:off x="6140488" y="2852936"/>
            <a:ext cx="1338610" cy="1359703"/>
          </a:xfrm>
          <a:prstGeom prst="ellipse">
            <a:avLst/>
          </a:prstGeom>
          <a:solidFill>
            <a:srgbClr val="AFD9E6"/>
          </a:solidFill>
          <a:ln w="25400">
            <a:solidFill>
              <a:srgbClr val="C3C9D7"/>
            </a:solidFill>
          </a:ln>
        </p:spPr>
        <p:style>
          <a:lnRef idx="2">
            <a:schemeClr val="accent1">
              <a:shade val="50000"/>
            </a:schemeClr>
          </a:lnRef>
          <a:fillRef idx="1">
            <a:schemeClr val="accent1"/>
          </a:fillRef>
          <a:effectRef idx="0">
            <a:schemeClr val="accent1"/>
          </a:effectRef>
          <a:fontRef idx="minor">
            <a:schemeClr val="lt1"/>
          </a:fontRef>
        </p:style>
        <p:txBody>
          <a:bodyPr lIns="129989" tIns="64994" rIns="129989" bIns="64994"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zh-CN" altLang="en-US" sz="996"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47" name="椭圆 46">
            <a:extLst>
              <a:ext uri="{FF2B5EF4-FFF2-40B4-BE49-F238E27FC236}">
                <a16:creationId xmlns:a16="http://schemas.microsoft.com/office/drawing/2014/main" id="{5297132A-2693-486A-9790-45B1998D4BF4}"/>
              </a:ext>
            </a:extLst>
          </p:cNvPr>
          <p:cNvSpPr/>
          <p:nvPr/>
        </p:nvSpPr>
        <p:spPr>
          <a:xfrm>
            <a:off x="5488285" y="1386687"/>
            <a:ext cx="1338610" cy="1359703"/>
          </a:xfrm>
          <a:prstGeom prst="ellipse">
            <a:avLst/>
          </a:prstGeom>
          <a:solidFill>
            <a:srgbClr val="AFD9E6"/>
          </a:solidFill>
          <a:ln w="25400">
            <a:solidFill>
              <a:srgbClr val="C3C9D7"/>
            </a:solidFill>
          </a:ln>
        </p:spPr>
        <p:style>
          <a:lnRef idx="2">
            <a:schemeClr val="accent1">
              <a:shade val="50000"/>
            </a:schemeClr>
          </a:lnRef>
          <a:fillRef idx="1">
            <a:schemeClr val="accent1"/>
          </a:fillRef>
          <a:effectRef idx="0">
            <a:schemeClr val="accent1"/>
          </a:effectRef>
          <a:fontRef idx="minor">
            <a:schemeClr val="lt1"/>
          </a:fontRef>
        </p:style>
        <p:txBody>
          <a:bodyPr lIns="129989" tIns="64994" rIns="129989" bIns="64994"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zh-CN" altLang="en-US" sz="996"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cxnSp>
        <p:nvCxnSpPr>
          <p:cNvPr id="43" name="直接连接符 42">
            <a:extLst>
              <a:ext uri="{FF2B5EF4-FFF2-40B4-BE49-F238E27FC236}">
                <a16:creationId xmlns:a16="http://schemas.microsoft.com/office/drawing/2014/main" id="{101B474A-8E5A-4E48-99F6-E53942163908}"/>
              </a:ext>
            </a:extLst>
          </p:cNvPr>
          <p:cNvCxnSpPr>
            <a:cxnSpLocks/>
          </p:cNvCxnSpPr>
          <p:nvPr/>
        </p:nvCxnSpPr>
        <p:spPr>
          <a:xfrm flipH="1">
            <a:off x="3568384" y="3645024"/>
            <a:ext cx="833618" cy="1024867"/>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7EE09F0C-BB30-4221-81CE-2CB92D5AB3AA}"/>
              </a:ext>
            </a:extLst>
          </p:cNvPr>
          <p:cNvCxnSpPr>
            <a:cxnSpLocks/>
          </p:cNvCxnSpPr>
          <p:nvPr/>
        </p:nvCxnSpPr>
        <p:spPr>
          <a:xfrm>
            <a:off x="4249602" y="3492624"/>
            <a:ext cx="1114346" cy="1177267"/>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EAAA2811-1B12-48C6-A4DD-7E323889F109}"/>
              </a:ext>
            </a:extLst>
          </p:cNvPr>
          <p:cNvCxnSpPr/>
          <p:nvPr/>
        </p:nvCxnSpPr>
        <p:spPr>
          <a:xfrm flipH="1">
            <a:off x="2892651" y="3592874"/>
            <a:ext cx="1566611"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E60C2204-6E8D-40F4-AA1A-7DB89271BF36}"/>
              </a:ext>
            </a:extLst>
          </p:cNvPr>
          <p:cNvCxnSpPr/>
          <p:nvPr/>
        </p:nvCxnSpPr>
        <p:spPr>
          <a:xfrm>
            <a:off x="4459261" y="3599169"/>
            <a:ext cx="1566611"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B44E90DC-CC0B-444C-9935-9E306B8BFC63}"/>
              </a:ext>
            </a:extLst>
          </p:cNvPr>
          <p:cNvCxnSpPr/>
          <p:nvPr/>
        </p:nvCxnSpPr>
        <p:spPr>
          <a:xfrm rot="16200000" flipV="1">
            <a:off x="3675958" y="2894353"/>
            <a:ext cx="1566608"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BAC3B850-6E34-4898-B23A-76CAFA100F31}"/>
              </a:ext>
            </a:extLst>
          </p:cNvPr>
          <p:cNvCxnSpPr/>
          <p:nvPr/>
        </p:nvCxnSpPr>
        <p:spPr>
          <a:xfrm rot="2700000" flipH="1">
            <a:off x="3122074" y="3123777"/>
            <a:ext cx="1566611"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99BF69F7-2DC9-42C6-81A5-96AA571C196D}"/>
              </a:ext>
            </a:extLst>
          </p:cNvPr>
          <p:cNvCxnSpPr/>
          <p:nvPr/>
        </p:nvCxnSpPr>
        <p:spPr>
          <a:xfrm rot="18900000">
            <a:off x="4229839" y="3123777"/>
            <a:ext cx="1566611" cy="0"/>
          </a:xfrm>
          <a:prstGeom prst="line">
            <a:avLst/>
          </a:prstGeom>
          <a:ln w="12700">
            <a:solidFill>
              <a:schemeClr val="bg1">
                <a:lumMod val="65000"/>
              </a:schemeClr>
            </a:solidFill>
            <a:prstDash val="dash"/>
            <a:headEnd type="none" w="lg" len="lg"/>
            <a:tailEnd type="triangle"/>
          </a:ln>
        </p:spPr>
        <p:style>
          <a:lnRef idx="1">
            <a:schemeClr val="accent1"/>
          </a:lnRef>
          <a:fillRef idx="0">
            <a:schemeClr val="accent1"/>
          </a:fillRef>
          <a:effectRef idx="0">
            <a:schemeClr val="accent1"/>
          </a:effectRef>
          <a:fontRef idx="minor">
            <a:schemeClr val="tx1"/>
          </a:fontRef>
        </p:style>
      </p:cxnSp>
      <p:grpSp>
        <p:nvGrpSpPr>
          <p:cNvPr id="28" name="组合 27">
            <a:extLst>
              <a:ext uri="{FF2B5EF4-FFF2-40B4-BE49-F238E27FC236}">
                <a16:creationId xmlns:a16="http://schemas.microsoft.com/office/drawing/2014/main" id="{BB7C593C-3749-473A-9497-B69182DA8786}"/>
              </a:ext>
            </a:extLst>
          </p:cNvPr>
          <p:cNvGrpSpPr/>
          <p:nvPr/>
        </p:nvGrpSpPr>
        <p:grpSpPr>
          <a:xfrm>
            <a:off x="3455682" y="2509804"/>
            <a:ext cx="1996315" cy="1996315"/>
            <a:chOff x="3815003" y="3087488"/>
            <a:chExt cx="2237712" cy="2237713"/>
          </a:xfrm>
        </p:grpSpPr>
        <p:sp>
          <p:nvSpPr>
            <p:cNvPr id="29" name="椭圆 28">
              <a:extLst>
                <a:ext uri="{FF2B5EF4-FFF2-40B4-BE49-F238E27FC236}">
                  <a16:creationId xmlns:a16="http://schemas.microsoft.com/office/drawing/2014/main" id="{569F6038-BAB4-4767-AD79-9CF6E63A58CB}"/>
                </a:ext>
              </a:extLst>
            </p:cNvPr>
            <p:cNvSpPr/>
            <p:nvPr/>
          </p:nvSpPr>
          <p:spPr>
            <a:xfrm>
              <a:off x="3993415" y="3271064"/>
              <a:ext cx="1872208" cy="1872208"/>
            </a:xfrm>
            <a:prstGeom prst="ellipse">
              <a:avLst/>
            </a:prstGeom>
            <a:solidFill>
              <a:srgbClr val="85B2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zh-CN" altLang="en-US" sz="996"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30" name="椭圆 4">
              <a:extLst>
                <a:ext uri="{FF2B5EF4-FFF2-40B4-BE49-F238E27FC236}">
                  <a16:creationId xmlns:a16="http://schemas.microsoft.com/office/drawing/2014/main" id="{1DFA4A47-B5E9-4B53-8E7A-3D3F022C0765}"/>
                </a:ext>
              </a:extLst>
            </p:cNvPr>
            <p:cNvSpPr/>
            <p:nvPr/>
          </p:nvSpPr>
          <p:spPr>
            <a:xfrm>
              <a:off x="3815003" y="3087488"/>
              <a:ext cx="2237712" cy="2237713"/>
            </a:xfrm>
            <a:custGeom>
              <a:avLst/>
              <a:gdLst/>
              <a:ahLst/>
              <a:cxnLst/>
              <a:rect l="l" t="t" r="r" b="b"/>
              <a:pathLst>
                <a:path w="2473262" h="2473262">
                  <a:moveTo>
                    <a:pt x="1236631" y="235688"/>
                  </a:moveTo>
                  <a:cubicBezTo>
                    <a:pt x="683825" y="235688"/>
                    <a:pt x="235688" y="683825"/>
                    <a:pt x="235688" y="1236631"/>
                  </a:cubicBezTo>
                  <a:cubicBezTo>
                    <a:pt x="235688" y="1789437"/>
                    <a:pt x="683825" y="2237574"/>
                    <a:pt x="1236631" y="2237574"/>
                  </a:cubicBezTo>
                  <a:cubicBezTo>
                    <a:pt x="1789437" y="2237574"/>
                    <a:pt x="2237574" y="1789437"/>
                    <a:pt x="2237574" y="1236631"/>
                  </a:cubicBezTo>
                  <a:cubicBezTo>
                    <a:pt x="2237574" y="683825"/>
                    <a:pt x="1789437" y="235688"/>
                    <a:pt x="1236631" y="235688"/>
                  </a:cubicBezTo>
                  <a:close/>
                  <a:moveTo>
                    <a:pt x="1236631" y="0"/>
                  </a:moveTo>
                  <a:cubicBezTo>
                    <a:pt x="1919603" y="0"/>
                    <a:pt x="2473262" y="553659"/>
                    <a:pt x="2473262" y="1236631"/>
                  </a:cubicBezTo>
                  <a:cubicBezTo>
                    <a:pt x="2473262" y="1919603"/>
                    <a:pt x="1919603" y="2473262"/>
                    <a:pt x="1236631" y="2473262"/>
                  </a:cubicBezTo>
                  <a:cubicBezTo>
                    <a:pt x="553659" y="2473262"/>
                    <a:pt x="0" y="1919603"/>
                    <a:pt x="0" y="1236631"/>
                  </a:cubicBezTo>
                  <a:cubicBezTo>
                    <a:pt x="0" y="553659"/>
                    <a:pt x="553659" y="0"/>
                    <a:pt x="1236631" y="0"/>
                  </a:cubicBezTo>
                  <a:close/>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zh-CN" altLang="en-US" sz="996"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31" name="Rectangle 11">
            <a:extLst>
              <a:ext uri="{FF2B5EF4-FFF2-40B4-BE49-F238E27FC236}">
                <a16:creationId xmlns:a16="http://schemas.microsoft.com/office/drawing/2014/main" id="{C2362568-ECEB-4A41-B20E-AFAAE680D3BA}"/>
              </a:ext>
            </a:extLst>
          </p:cNvPr>
          <p:cNvSpPr>
            <a:spLocks noChangeArrowheads="1"/>
          </p:cNvSpPr>
          <p:nvPr/>
        </p:nvSpPr>
        <p:spPr bwMode="gray">
          <a:xfrm>
            <a:off x="3818786" y="3133350"/>
            <a:ext cx="1305807" cy="799706"/>
          </a:xfrm>
          <a:prstGeom prst="rect">
            <a:avLst/>
          </a:prstGeom>
          <a:noFill/>
          <a:ln>
            <a:noFill/>
          </a:ln>
        </p:spPr>
        <p:txBody>
          <a:bodyPr wrap="square">
            <a:spAutoFit/>
          </a:bodyPr>
          <a:lstStyle/>
          <a:p>
            <a:pPr lvl="0" algn="ctr" fontAlgn="auto">
              <a:lnSpc>
                <a:spcPct val="120000"/>
              </a:lnSpc>
              <a:spcBef>
                <a:spcPts val="0"/>
              </a:spcBef>
              <a:spcAft>
                <a:spcPts val="0"/>
              </a:spcAft>
              <a:defRPr/>
            </a:pPr>
            <a:r>
              <a:rPr lang="zh-CN" altLang="en-US" sz="2000" b="1" dirty="0">
                <a:latin typeface="微软雅黑" panose="020B0503020204020204" pitchFamily="34" charset="-122"/>
                <a:ea typeface="微软雅黑" panose="020B0503020204020204" pitchFamily="34" charset="-122"/>
              </a:rPr>
              <a:t>企业的生产和成本</a:t>
            </a:r>
            <a:endParaRPr kumimoji="0" lang="zh-CN" altLang="en-US" sz="20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33" name="椭圆 32">
            <a:extLst>
              <a:ext uri="{FF2B5EF4-FFF2-40B4-BE49-F238E27FC236}">
                <a16:creationId xmlns:a16="http://schemas.microsoft.com/office/drawing/2014/main" id="{F67D70E9-A9FD-4238-965A-ABD5CAAC3720}"/>
              </a:ext>
            </a:extLst>
          </p:cNvPr>
          <p:cNvSpPr/>
          <p:nvPr/>
        </p:nvSpPr>
        <p:spPr>
          <a:xfrm>
            <a:off x="3785983" y="655681"/>
            <a:ext cx="1338610" cy="1359703"/>
          </a:xfrm>
          <a:prstGeom prst="ellipse">
            <a:avLst/>
          </a:prstGeom>
          <a:solidFill>
            <a:srgbClr val="AFD9E6"/>
          </a:solidFill>
          <a:ln w="25400">
            <a:solidFill>
              <a:srgbClr val="C3C9D7"/>
            </a:solidFill>
          </a:ln>
        </p:spPr>
        <p:style>
          <a:lnRef idx="2">
            <a:schemeClr val="accent1">
              <a:shade val="50000"/>
            </a:schemeClr>
          </a:lnRef>
          <a:fillRef idx="1">
            <a:schemeClr val="accent1"/>
          </a:fillRef>
          <a:effectRef idx="0">
            <a:schemeClr val="accent1"/>
          </a:effectRef>
          <a:fontRef idx="minor">
            <a:schemeClr val="lt1"/>
          </a:fontRef>
        </p:style>
        <p:txBody>
          <a:bodyPr lIns="129989" tIns="64994" rIns="129989" bIns="64994"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zh-CN" altLang="en-US" sz="996" b="1" i="0" u="none" strike="noStrike" kern="1200" cap="none" spc="0" normalizeH="0" baseline="0" noProof="0">
              <a:ln>
                <a:noFill/>
              </a:ln>
              <a:solidFill>
                <a:schemeClr val="bg1"/>
              </a:solidFill>
              <a:effectLst/>
              <a:uLnTx/>
              <a:uFillTx/>
              <a:latin typeface="Arial" panose="020B0604020202020204" pitchFamily="34" charset="0"/>
              <a:ea typeface="微软雅黑" panose="020B0503020204020204" pitchFamily="34" charset="-122"/>
              <a:cs typeface="+mn-cs"/>
              <a:sym typeface="Arial" panose="020B0604020202020204" pitchFamily="34" charset="0"/>
            </a:endParaRPr>
          </a:p>
        </p:txBody>
      </p:sp>
      <p:sp>
        <p:nvSpPr>
          <p:cNvPr id="36" name="TextBox 36">
            <a:extLst>
              <a:ext uri="{FF2B5EF4-FFF2-40B4-BE49-F238E27FC236}">
                <a16:creationId xmlns:a16="http://schemas.microsoft.com/office/drawing/2014/main" id="{2A330DBE-4F06-423A-BCC5-665EE26DF4A4}"/>
              </a:ext>
            </a:extLst>
          </p:cNvPr>
          <p:cNvSpPr txBox="1"/>
          <p:nvPr/>
        </p:nvSpPr>
        <p:spPr>
          <a:xfrm>
            <a:off x="2152549" y="1687297"/>
            <a:ext cx="1239743" cy="697182"/>
          </a:xfrm>
          <a:prstGeom prst="rect">
            <a:avLst/>
          </a:prstGeom>
          <a:noFill/>
        </p:spPr>
        <p:txBody>
          <a:bodyPr wrap="square" lIns="129989" tIns="64994" rIns="129989" bIns="64994" rtlCol="0">
            <a:spAutoFit/>
          </a:bodyPr>
          <a:lstStyle/>
          <a:p>
            <a:pPr lvl="0" algn="ctr" fontAlgn="auto">
              <a:lnSpc>
                <a:spcPct val="120000"/>
              </a:lnSpc>
              <a:spcBef>
                <a:spcPts val="0"/>
              </a:spcBef>
              <a:spcAft>
                <a:spcPts val="0"/>
              </a:spcAft>
              <a:defRPr/>
            </a:pPr>
            <a:r>
              <a:rPr lang="zh-CN" altLang="en-US" sz="1600" b="1" dirty="0">
                <a:latin typeface="微软雅黑" panose="020B0503020204020204" pitchFamily="34" charset="-122"/>
                <a:ea typeface="微软雅黑" panose="020B0503020204020204" pitchFamily="34" charset="-122"/>
              </a:rPr>
              <a:t>第七节</a:t>
            </a:r>
            <a:endParaRPr lang="en-US" altLang="zh-CN" sz="1600" b="1" dirty="0">
              <a:latin typeface="微软雅黑" panose="020B0503020204020204" pitchFamily="34" charset="-122"/>
              <a:ea typeface="微软雅黑" panose="020B0503020204020204" pitchFamily="34" charset="-122"/>
            </a:endParaRPr>
          </a:p>
          <a:p>
            <a:pPr lvl="0" algn="ctr" fontAlgn="auto">
              <a:lnSpc>
                <a:spcPct val="120000"/>
              </a:lnSpc>
              <a:spcBef>
                <a:spcPts val="0"/>
              </a:spcBef>
              <a:spcAft>
                <a:spcPts val="0"/>
              </a:spcAft>
              <a:defRPr/>
            </a:pPr>
            <a:r>
              <a:rPr lang="zh-CN" altLang="en-US" sz="1600" b="1" dirty="0">
                <a:latin typeface="微软雅黑" panose="020B0503020204020204" pitchFamily="34" charset="-122"/>
                <a:ea typeface="微软雅黑" panose="020B0503020204020204" pitchFamily="34" charset="-122"/>
              </a:rPr>
              <a:t>本章评析</a:t>
            </a:r>
            <a:endParaRPr kumimoji="0" lang="zh-CN" altLang="en-US" sz="16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37" name="TextBox 37">
            <a:extLst>
              <a:ext uri="{FF2B5EF4-FFF2-40B4-BE49-F238E27FC236}">
                <a16:creationId xmlns:a16="http://schemas.microsoft.com/office/drawing/2014/main" id="{5300A1F4-488D-4D03-8D95-0995717A5BE4}"/>
              </a:ext>
            </a:extLst>
          </p:cNvPr>
          <p:cNvSpPr txBox="1"/>
          <p:nvPr/>
        </p:nvSpPr>
        <p:spPr>
          <a:xfrm>
            <a:off x="3985193" y="977113"/>
            <a:ext cx="946402" cy="697182"/>
          </a:xfrm>
          <a:prstGeom prst="rect">
            <a:avLst/>
          </a:prstGeom>
          <a:noFill/>
        </p:spPr>
        <p:txBody>
          <a:bodyPr wrap="square" lIns="129989" tIns="64994" rIns="129989" bIns="64994" rtlCol="0">
            <a:spAutoFit/>
          </a:bodyPr>
          <a:lstStyle/>
          <a:p>
            <a:pPr lvl="0" algn="ctr" fontAlgn="auto">
              <a:lnSpc>
                <a:spcPct val="120000"/>
              </a:lnSpc>
              <a:spcBef>
                <a:spcPts val="0"/>
              </a:spcBef>
              <a:spcAft>
                <a:spcPts val="0"/>
              </a:spcAft>
              <a:defRPr/>
            </a:pPr>
            <a:r>
              <a:rPr lang="zh-CN" altLang="en-US" sz="1600" b="1" dirty="0">
                <a:latin typeface="微软雅黑" panose="020B0503020204020204" pitchFamily="34" charset="-122"/>
                <a:ea typeface="微软雅黑" panose="020B0503020204020204" pitchFamily="34" charset="-122"/>
              </a:rPr>
              <a:t>第一节企业</a:t>
            </a:r>
            <a:endParaRPr kumimoji="0" lang="zh-CN" altLang="en-US" sz="16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38" name="TextBox 38">
            <a:extLst>
              <a:ext uri="{FF2B5EF4-FFF2-40B4-BE49-F238E27FC236}">
                <a16:creationId xmlns:a16="http://schemas.microsoft.com/office/drawing/2014/main" id="{C362D766-CBDD-4424-9786-D4A780183731}"/>
              </a:ext>
            </a:extLst>
          </p:cNvPr>
          <p:cNvSpPr txBox="1"/>
          <p:nvPr/>
        </p:nvSpPr>
        <p:spPr>
          <a:xfrm>
            <a:off x="5526520" y="1734949"/>
            <a:ext cx="1283273" cy="697182"/>
          </a:xfrm>
          <a:prstGeom prst="rect">
            <a:avLst/>
          </a:prstGeom>
          <a:noFill/>
        </p:spPr>
        <p:txBody>
          <a:bodyPr wrap="square" lIns="129989" tIns="64994" rIns="129989" bIns="64994" rtlCol="0">
            <a:spAutoFit/>
          </a:bodyPr>
          <a:lstStyle/>
          <a:p>
            <a:pPr lvl="0" algn="ctr" fontAlgn="auto">
              <a:lnSpc>
                <a:spcPct val="120000"/>
              </a:lnSpc>
              <a:spcBef>
                <a:spcPts val="0"/>
              </a:spcBef>
              <a:spcAft>
                <a:spcPts val="0"/>
              </a:spcAft>
              <a:defRPr/>
            </a:pPr>
            <a:r>
              <a:rPr lang="zh-CN" altLang="en-US" sz="1600" b="1" dirty="0">
                <a:latin typeface="微软雅黑" panose="020B0503020204020204" pitchFamily="34" charset="-122"/>
                <a:ea typeface="微软雅黑" panose="020B0503020204020204" pitchFamily="34" charset="-122"/>
              </a:rPr>
              <a:t>第二节</a:t>
            </a:r>
            <a:endParaRPr lang="en-US" altLang="zh-CN" sz="1600" b="1" dirty="0">
              <a:latin typeface="微软雅黑" panose="020B0503020204020204" pitchFamily="34" charset="-122"/>
              <a:ea typeface="微软雅黑" panose="020B0503020204020204" pitchFamily="34" charset="-122"/>
            </a:endParaRPr>
          </a:p>
          <a:p>
            <a:pPr lvl="0" algn="ctr" fontAlgn="auto">
              <a:lnSpc>
                <a:spcPct val="120000"/>
              </a:lnSpc>
              <a:spcBef>
                <a:spcPts val="0"/>
              </a:spcBef>
              <a:spcAft>
                <a:spcPts val="0"/>
              </a:spcAft>
              <a:defRPr/>
            </a:pPr>
            <a:r>
              <a:rPr lang="zh-CN" altLang="en-US" sz="1600" b="1" dirty="0">
                <a:latin typeface="微软雅黑" panose="020B0503020204020204" pitchFamily="34" charset="-122"/>
                <a:ea typeface="微软雅黑" panose="020B0503020204020204" pitchFamily="34" charset="-122"/>
              </a:rPr>
              <a:t>生产函数</a:t>
            </a:r>
            <a:endParaRPr kumimoji="0" lang="zh-CN" altLang="en-US" sz="16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39" name="TextBox 39">
            <a:extLst>
              <a:ext uri="{FF2B5EF4-FFF2-40B4-BE49-F238E27FC236}">
                <a16:creationId xmlns:a16="http://schemas.microsoft.com/office/drawing/2014/main" id="{04F10708-D891-4BC9-8C45-D362D287C06F}"/>
              </a:ext>
            </a:extLst>
          </p:cNvPr>
          <p:cNvSpPr txBox="1"/>
          <p:nvPr/>
        </p:nvSpPr>
        <p:spPr>
          <a:xfrm>
            <a:off x="6196768" y="3050203"/>
            <a:ext cx="1260254" cy="992647"/>
          </a:xfrm>
          <a:prstGeom prst="rect">
            <a:avLst/>
          </a:prstGeom>
          <a:noFill/>
        </p:spPr>
        <p:txBody>
          <a:bodyPr wrap="square" lIns="129989" tIns="64994" rIns="129989" bIns="64994" rtlCol="0">
            <a:spAutoFit/>
          </a:bodyPr>
          <a:lstStyle/>
          <a:p>
            <a:pPr lvl="0" algn="ctr" fontAlgn="auto">
              <a:lnSpc>
                <a:spcPct val="120000"/>
              </a:lnSpc>
              <a:spcBef>
                <a:spcPts val="0"/>
              </a:spcBef>
              <a:spcAft>
                <a:spcPts val="0"/>
              </a:spcAft>
              <a:defRPr/>
            </a:pPr>
            <a:r>
              <a:rPr lang="zh-CN" altLang="en-US" sz="1600" b="1" dirty="0">
                <a:latin typeface="微软雅黑" panose="020B0503020204020204" pitchFamily="34" charset="-122"/>
                <a:ea typeface="微软雅黑" panose="020B0503020204020204" pitchFamily="34" charset="-122"/>
              </a:rPr>
              <a:t>第三节</a:t>
            </a:r>
            <a:endParaRPr lang="en-US" altLang="zh-CN" sz="1600" b="1" dirty="0">
              <a:latin typeface="微软雅黑" panose="020B0503020204020204" pitchFamily="34" charset="-122"/>
              <a:ea typeface="微软雅黑" panose="020B0503020204020204" pitchFamily="34" charset="-122"/>
            </a:endParaRPr>
          </a:p>
          <a:p>
            <a:pPr lvl="0" algn="ctr" fontAlgn="auto">
              <a:lnSpc>
                <a:spcPct val="120000"/>
              </a:lnSpc>
              <a:spcBef>
                <a:spcPts val="0"/>
              </a:spcBef>
              <a:spcAft>
                <a:spcPts val="0"/>
              </a:spcAft>
              <a:defRPr/>
            </a:pPr>
            <a:r>
              <a:rPr lang="zh-CN" altLang="en-US" sz="1600" b="1" dirty="0">
                <a:latin typeface="微软雅黑" panose="020B0503020204020204" pitchFamily="34" charset="-122"/>
                <a:ea typeface="微软雅黑" panose="020B0503020204020204" pitchFamily="34" charset="-122"/>
              </a:rPr>
              <a:t>短期生产函数</a:t>
            </a:r>
            <a:endParaRPr kumimoji="0" lang="zh-CN" altLang="en-US" sz="16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51" name="椭圆 50">
            <a:extLst>
              <a:ext uri="{FF2B5EF4-FFF2-40B4-BE49-F238E27FC236}">
                <a16:creationId xmlns:a16="http://schemas.microsoft.com/office/drawing/2014/main" id="{94689E78-2DA2-46BD-8ADD-0B5436842ADB}"/>
              </a:ext>
            </a:extLst>
          </p:cNvPr>
          <p:cNvSpPr/>
          <p:nvPr/>
        </p:nvSpPr>
        <p:spPr>
          <a:xfrm>
            <a:off x="5136103" y="4620147"/>
            <a:ext cx="1338610" cy="1359703"/>
          </a:xfrm>
          <a:prstGeom prst="ellipse">
            <a:avLst/>
          </a:prstGeom>
          <a:solidFill>
            <a:srgbClr val="AFD9E6"/>
          </a:solidFill>
          <a:ln w="25400">
            <a:solidFill>
              <a:srgbClr val="C3C9D7"/>
            </a:solidFill>
          </a:ln>
        </p:spPr>
        <p:style>
          <a:lnRef idx="2">
            <a:schemeClr val="accent1">
              <a:shade val="50000"/>
            </a:schemeClr>
          </a:lnRef>
          <a:fillRef idx="1">
            <a:schemeClr val="accent1"/>
          </a:fillRef>
          <a:effectRef idx="0">
            <a:schemeClr val="accent1"/>
          </a:effectRef>
          <a:fontRef idx="minor">
            <a:schemeClr val="lt1"/>
          </a:fontRef>
        </p:style>
        <p:txBody>
          <a:bodyPr lIns="129989" tIns="64994" rIns="129989" bIns="64994"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zh-CN" altLang="en-US" sz="996"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53" name="椭圆 52">
            <a:extLst>
              <a:ext uri="{FF2B5EF4-FFF2-40B4-BE49-F238E27FC236}">
                <a16:creationId xmlns:a16="http://schemas.microsoft.com/office/drawing/2014/main" id="{DBCCC63B-222D-48D2-B876-96C6267813BC}"/>
              </a:ext>
            </a:extLst>
          </p:cNvPr>
          <p:cNvSpPr/>
          <p:nvPr/>
        </p:nvSpPr>
        <p:spPr>
          <a:xfrm>
            <a:off x="2536097" y="4620037"/>
            <a:ext cx="1338610" cy="1359703"/>
          </a:xfrm>
          <a:prstGeom prst="ellipse">
            <a:avLst/>
          </a:prstGeom>
          <a:solidFill>
            <a:srgbClr val="AFD9E6"/>
          </a:solidFill>
          <a:ln w="25400">
            <a:solidFill>
              <a:srgbClr val="C3C9D7"/>
            </a:solidFill>
          </a:ln>
        </p:spPr>
        <p:style>
          <a:lnRef idx="2">
            <a:schemeClr val="accent1">
              <a:shade val="50000"/>
            </a:schemeClr>
          </a:lnRef>
          <a:fillRef idx="1">
            <a:schemeClr val="accent1"/>
          </a:fillRef>
          <a:effectRef idx="0">
            <a:schemeClr val="accent1"/>
          </a:effectRef>
          <a:fontRef idx="minor">
            <a:schemeClr val="lt1"/>
          </a:fontRef>
        </p:style>
        <p:txBody>
          <a:bodyPr lIns="129989" tIns="64994" rIns="129989" bIns="64994" rtlCol="0" anchor="ctr"/>
          <a:lstStyle/>
          <a:p>
            <a:pPr marL="0" marR="0" lvl="0" indent="0" algn="ctr" defTabSz="914400" rtl="0" eaLnBrk="1" fontAlgn="auto" latinLnBrk="0" hangingPunct="1">
              <a:lnSpc>
                <a:spcPct val="120000"/>
              </a:lnSpc>
              <a:spcBef>
                <a:spcPts val="0"/>
              </a:spcBef>
              <a:spcAft>
                <a:spcPts val="0"/>
              </a:spcAft>
              <a:buClrTx/>
              <a:buSzTx/>
              <a:buFontTx/>
              <a:buNone/>
              <a:tabLst/>
              <a:defRPr/>
            </a:pPr>
            <a:endParaRPr kumimoji="0" lang="zh-CN" altLang="en-US" sz="996" b="1" i="0" u="none" strike="noStrike" kern="1200" cap="none" spc="0" normalizeH="0" baseline="0" noProof="0">
              <a:ln>
                <a:noFill/>
              </a:ln>
              <a:solidFill>
                <a:schemeClr val="bg1"/>
              </a:solidFill>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57" name="TextBox 39">
            <a:extLst>
              <a:ext uri="{FF2B5EF4-FFF2-40B4-BE49-F238E27FC236}">
                <a16:creationId xmlns:a16="http://schemas.microsoft.com/office/drawing/2014/main" id="{BF95FCFF-03B7-49FE-8F9A-239E940319DD}"/>
              </a:ext>
            </a:extLst>
          </p:cNvPr>
          <p:cNvSpPr txBox="1"/>
          <p:nvPr/>
        </p:nvSpPr>
        <p:spPr>
          <a:xfrm>
            <a:off x="5175281" y="4828843"/>
            <a:ext cx="1260254" cy="992647"/>
          </a:xfrm>
          <a:prstGeom prst="rect">
            <a:avLst/>
          </a:prstGeom>
          <a:noFill/>
        </p:spPr>
        <p:txBody>
          <a:bodyPr wrap="square" lIns="129989" tIns="64994" rIns="129989" bIns="64994" rtlCol="0">
            <a:spAutoFit/>
          </a:bodyPr>
          <a:lstStyle/>
          <a:p>
            <a:pPr lvl="0" algn="ctr" fontAlgn="auto">
              <a:lnSpc>
                <a:spcPct val="120000"/>
              </a:lnSpc>
              <a:spcBef>
                <a:spcPts val="0"/>
              </a:spcBef>
              <a:spcAft>
                <a:spcPts val="0"/>
              </a:spcAft>
              <a:defRPr/>
            </a:pPr>
            <a:r>
              <a:rPr lang="zh-CN" altLang="en-US" sz="1600" b="1" dirty="0">
                <a:latin typeface="微软雅黑" panose="020B0503020204020204" pitchFamily="34" charset="-122"/>
                <a:ea typeface="微软雅黑" panose="020B0503020204020204" pitchFamily="34" charset="-122"/>
              </a:rPr>
              <a:t>第四节</a:t>
            </a:r>
            <a:endParaRPr lang="en-US" altLang="zh-CN" sz="1600" b="1" dirty="0">
              <a:latin typeface="微软雅黑" panose="020B0503020204020204" pitchFamily="34" charset="-122"/>
              <a:ea typeface="微软雅黑" panose="020B0503020204020204" pitchFamily="34" charset="-122"/>
            </a:endParaRPr>
          </a:p>
          <a:p>
            <a:pPr lvl="0" algn="ctr" fontAlgn="auto">
              <a:lnSpc>
                <a:spcPct val="120000"/>
              </a:lnSpc>
              <a:spcBef>
                <a:spcPts val="0"/>
              </a:spcBef>
              <a:spcAft>
                <a:spcPts val="0"/>
              </a:spcAft>
              <a:defRPr/>
            </a:pPr>
            <a:r>
              <a:rPr lang="zh-CN" altLang="en-US" sz="1600" b="1" dirty="0">
                <a:latin typeface="微软雅黑" panose="020B0503020204020204" pitchFamily="34" charset="-122"/>
                <a:ea typeface="微软雅黑" panose="020B0503020204020204" pitchFamily="34" charset="-122"/>
              </a:rPr>
              <a:t>长期生产函数</a:t>
            </a:r>
            <a:endParaRPr kumimoji="0" lang="zh-CN" altLang="en-US" sz="16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58" name="TextBox 39">
            <a:extLst>
              <a:ext uri="{FF2B5EF4-FFF2-40B4-BE49-F238E27FC236}">
                <a16:creationId xmlns:a16="http://schemas.microsoft.com/office/drawing/2014/main" id="{0FCCD75D-783B-44E8-90F7-23B730428F53}"/>
              </a:ext>
            </a:extLst>
          </p:cNvPr>
          <p:cNvSpPr txBox="1"/>
          <p:nvPr/>
        </p:nvSpPr>
        <p:spPr>
          <a:xfrm>
            <a:off x="2588141" y="4803564"/>
            <a:ext cx="1260254" cy="992647"/>
          </a:xfrm>
          <a:prstGeom prst="rect">
            <a:avLst/>
          </a:prstGeom>
          <a:noFill/>
        </p:spPr>
        <p:txBody>
          <a:bodyPr wrap="square" lIns="129989" tIns="64994" rIns="129989" bIns="64994" rtlCol="0">
            <a:spAutoFit/>
          </a:bodyPr>
          <a:lstStyle/>
          <a:p>
            <a:pPr lvl="0" algn="ctr" fontAlgn="auto">
              <a:lnSpc>
                <a:spcPct val="120000"/>
              </a:lnSpc>
              <a:spcBef>
                <a:spcPts val="0"/>
              </a:spcBef>
              <a:spcAft>
                <a:spcPts val="0"/>
              </a:spcAft>
              <a:defRPr/>
            </a:pPr>
            <a:r>
              <a:rPr lang="zh-CN" altLang="en-US" sz="1600" b="1" dirty="0">
                <a:latin typeface="微软雅黑" panose="020B0503020204020204" pitchFamily="34" charset="-122"/>
                <a:ea typeface="微软雅黑" panose="020B0503020204020204" pitchFamily="34" charset="-122"/>
              </a:rPr>
              <a:t>第五节</a:t>
            </a:r>
            <a:endParaRPr lang="en-US" altLang="zh-CN" sz="1600" b="1" dirty="0">
              <a:latin typeface="微软雅黑" panose="020B0503020204020204" pitchFamily="34" charset="-122"/>
              <a:ea typeface="微软雅黑" panose="020B0503020204020204" pitchFamily="34" charset="-122"/>
            </a:endParaRPr>
          </a:p>
          <a:p>
            <a:pPr lvl="0" algn="ctr" fontAlgn="auto">
              <a:lnSpc>
                <a:spcPct val="120000"/>
              </a:lnSpc>
              <a:spcBef>
                <a:spcPts val="0"/>
              </a:spcBef>
              <a:spcAft>
                <a:spcPts val="0"/>
              </a:spcAft>
              <a:defRPr/>
            </a:pPr>
            <a:r>
              <a:rPr lang="zh-CN" altLang="en-US" sz="1600" b="1" dirty="0">
                <a:latin typeface="微软雅黑" panose="020B0503020204020204" pitchFamily="34" charset="-122"/>
                <a:ea typeface="微软雅黑" panose="020B0503020204020204" pitchFamily="34" charset="-122"/>
              </a:rPr>
              <a:t>短期成本函数</a:t>
            </a:r>
            <a:endParaRPr kumimoji="0" lang="zh-CN" altLang="en-US" sz="16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59" name="TextBox 39">
            <a:extLst>
              <a:ext uri="{FF2B5EF4-FFF2-40B4-BE49-F238E27FC236}">
                <a16:creationId xmlns:a16="http://schemas.microsoft.com/office/drawing/2014/main" id="{5A302B33-50A8-4C64-9899-3C7935D52322}"/>
              </a:ext>
            </a:extLst>
          </p:cNvPr>
          <p:cNvSpPr txBox="1"/>
          <p:nvPr/>
        </p:nvSpPr>
        <p:spPr>
          <a:xfrm>
            <a:off x="1482305" y="3024598"/>
            <a:ext cx="1260254" cy="992647"/>
          </a:xfrm>
          <a:prstGeom prst="rect">
            <a:avLst/>
          </a:prstGeom>
          <a:noFill/>
        </p:spPr>
        <p:txBody>
          <a:bodyPr wrap="square" lIns="129989" tIns="64994" rIns="129989" bIns="64994" rtlCol="0">
            <a:spAutoFit/>
          </a:bodyPr>
          <a:lstStyle/>
          <a:p>
            <a:pPr lvl="0" algn="ctr" fontAlgn="auto">
              <a:lnSpc>
                <a:spcPct val="120000"/>
              </a:lnSpc>
              <a:spcBef>
                <a:spcPts val="0"/>
              </a:spcBef>
              <a:spcAft>
                <a:spcPts val="0"/>
              </a:spcAft>
              <a:defRPr/>
            </a:pPr>
            <a:r>
              <a:rPr lang="zh-CN" altLang="en-US" sz="1600" b="1" dirty="0">
                <a:latin typeface="微软雅黑" panose="020B0503020204020204" pitchFamily="34" charset="-122"/>
                <a:ea typeface="微软雅黑" panose="020B0503020204020204" pitchFamily="34" charset="-122"/>
              </a:rPr>
              <a:t>第六节</a:t>
            </a:r>
            <a:endParaRPr lang="en-US" altLang="zh-CN" sz="1600" b="1" dirty="0">
              <a:latin typeface="微软雅黑" panose="020B0503020204020204" pitchFamily="34" charset="-122"/>
              <a:ea typeface="微软雅黑" panose="020B0503020204020204" pitchFamily="34" charset="-122"/>
            </a:endParaRPr>
          </a:p>
          <a:p>
            <a:pPr lvl="0" algn="ctr" fontAlgn="auto">
              <a:lnSpc>
                <a:spcPct val="120000"/>
              </a:lnSpc>
              <a:spcBef>
                <a:spcPts val="0"/>
              </a:spcBef>
              <a:spcAft>
                <a:spcPts val="0"/>
              </a:spcAft>
              <a:defRPr/>
            </a:pPr>
            <a:r>
              <a:rPr lang="zh-CN" altLang="en-US" sz="1600" b="1" dirty="0">
                <a:latin typeface="微软雅黑" panose="020B0503020204020204" pitchFamily="34" charset="-122"/>
                <a:ea typeface="微软雅黑" panose="020B0503020204020204" pitchFamily="34" charset="-122"/>
              </a:rPr>
              <a:t>长期成本函数</a:t>
            </a:r>
            <a:endParaRPr kumimoji="0" lang="zh-CN" altLang="en-US" sz="16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Arial" panose="020B0604020202020204" pitchFamily="34" charset="0"/>
            </a:endParaRPr>
          </a:p>
        </p:txBody>
      </p:sp>
      <p:sp>
        <p:nvSpPr>
          <p:cNvPr id="2" name="标注: 线形 1">
            <a:extLst>
              <a:ext uri="{FF2B5EF4-FFF2-40B4-BE49-F238E27FC236}">
                <a16:creationId xmlns:a16="http://schemas.microsoft.com/office/drawing/2014/main" id="{20F40F8D-AC00-44FF-B4BA-51E42A61AD5C}"/>
              </a:ext>
            </a:extLst>
          </p:cNvPr>
          <p:cNvSpPr/>
          <p:nvPr/>
        </p:nvSpPr>
        <p:spPr bwMode="auto">
          <a:xfrm>
            <a:off x="7621403" y="14274"/>
            <a:ext cx="1514790" cy="5688632"/>
          </a:xfrm>
          <a:prstGeom prst="borderCallout1">
            <a:avLst>
              <a:gd name="adj1" fmla="val 47558"/>
              <a:gd name="adj2" fmla="val 96"/>
              <a:gd name="adj3" fmla="val 10664"/>
              <a:gd name="adj4" fmla="val -57004"/>
            </a:avLst>
          </a:prstGeom>
          <a:solidFill>
            <a:srgbClr val="AFD9E6"/>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考察了消费者的消费选择行为之后，本章开始转向企业的生产行为。</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lang="en-US" altLang="zh-CN" dirty="0"/>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企业行为目标通常是利润最大化，利润等于收益与成本之差。即企业要选择一个产量使该差额最大化。</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lang="en-US" altLang="zh-CN" dirty="0"/>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本章主要探讨产量和成本。</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p:cTn id="12" dur="500" fill="hold"/>
                                        <p:tgtEl>
                                          <p:spTgt spid="31"/>
                                        </p:tgtEl>
                                        <p:attrNameLst>
                                          <p:attrName>ppt_w</p:attrName>
                                        </p:attrNameLst>
                                      </p:cBhvr>
                                      <p:tavLst>
                                        <p:tav tm="0">
                                          <p:val>
                                            <p:fltVal val="0"/>
                                          </p:val>
                                        </p:tav>
                                        <p:tav tm="100000">
                                          <p:val>
                                            <p:strVal val="#ppt_w"/>
                                          </p:val>
                                        </p:tav>
                                      </p:tavLst>
                                    </p:anim>
                                    <p:anim calcmode="lin" valueType="num">
                                      <p:cBhvr>
                                        <p:cTn id="13" dur="500" fill="hold"/>
                                        <p:tgtEl>
                                          <p:spTgt spid="31"/>
                                        </p:tgtEl>
                                        <p:attrNameLst>
                                          <p:attrName>ppt_h</p:attrName>
                                        </p:attrNameLst>
                                      </p:cBhvr>
                                      <p:tavLst>
                                        <p:tav tm="0">
                                          <p:val>
                                            <p:fltVal val="0"/>
                                          </p:val>
                                        </p:tav>
                                        <p:tav tm="100000">
                                          <p:val>
                                            <p:strVal val="#ppt_h"/>
                                          </p:val>
                                        </p:tav>
                                      </p:tavLst>
                                    </p:anim>
                                    <p:animEffect transition="in" filter="fade">
                                      <p:cBhvr>
                                        <p:cTn id="14" dur="500"/>
                                        <p:tgtEl>
                                          <p:spTgt spid="31"/>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wipe(down)">
                                      <p:cBhvr>
                                        <p:cTn id="19" dur="500"/>
                                        <p:tgtEl>
                                          <p:spTgt spid="23"/>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3"/>
                                        </p:tgtEl>
                                        <p:attrNameLst>
                                          <p:attrName>style.visibility</p:attrName>
                                        </p:attrNameLst>
                                      </p:cBhvr>
                                      <p:to>
                                        <p:strVal val="visible"/>
                                      </p:to>
                                    </p:set>
                                    <p:anim calcmode="lin" valueType="num">
                                      <p:cBhvr>
                                        <p:cTn id="24" dur="500" fill="hold"/>
                                        <p:tgtEl>
                                          <p:spTgt spid="33"/>
                                        </p:tgtEl>
                                        <p:attrNameLst>
                                          <p:attrName>ppt_w</p:attrName>
                                        </p:attrNameLst>
                                      </p:cBhvr>
                                      <p:tavLst>
                                        <p:tav tm="0">
                                          <p:val>
                                            <p:fltVal val="0"/>
                                          </p:val>
                                        </p:tav>
                                        <p:tav tm="100000">
                                          <p:val>
                                            <p:strVal val="#ppt_w"/>
                                          </p:val>
                                        </p:tav>
                                      </p:tavLst>
                                    </p:anim>
                                    <p:anim calcmode="lin" valueType="num">
                                      <p:cBhvr>
                                        <p:cTn id="25" dur="500" fill="hold"/>
                                        <p:tgtEl>
                                          <p:spTgt spid="33"/>
                                        </p:tgtEl>
                                        <p:attrNameLst>
                                          <p:attrName>ppt_h</p:attrName>
                                        </p:attrNameLst>
                                      </p:cBhvr>
                                      <p:tavLst>
                                        <p:tav tm="0">
                                          <p:val>
                                            <p:fltVal val="0"/>
                                          </p:val>
                                        </p:tav>
                                        <p:tav tm="100000">
                                          <p:val>
                                            <p:strVal val="#ppt_h"/>
                                          </p:val>
                                        </p:tav>
                                      </p:tavLst>
                                    </p:anim>
                                    <p:animEffect transition="in" filter="fade">
                                      <p:cBhvr>
                                        <p:cTn id="26" dur="500"/>
                                        <p:tgtEl>
                                          <p:spTgt spid="33"/>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anim calcmode="lin" valueType="num">
                                      <p:cBhvr>
                                        <p:cTn id="29" dur="500" fill="hold"/>
                                        <p:tgtEl>
                                          <p:spTgt spid="37"/>
                                        </p:tgtEl>
                                        <p:attrNameLst>
                                          <p:attrName>ppt_w</p:attrName>
                                        </p:attrNameLst>
                                      </p:cBhvr>
                                      <p:tavLst>
                                        <p:tav tm="0">
                                          <p:val>
                                            <p:fltVal val="0"/>
                                          </p:val>
                                        </p:tav>
                                        <p:tav tm="100000">
                                          <p:val>
                                            <p:strVal val="#ppt_w"/>
                                          </p:val>
                                        </p:tav>
                                      </p:tavLst>
                                    </p:anim>
                                    <p:anim calcmode="lin" valueType="num">
                                      <p:cBhvr>
                                        <p:cTn id="30" dur="500" fill="hold"/>
                                        <p:tgtEl>
                                          <p:spTgt spid="37"/>
                                        </p:tgtEl>
                                        <p:attrNameLst>
                                          <p:attrName>ppt_h</p:attrName>
                                        </p:attrNameLst>
                                      </p:cBhvr>
                                      <p:tavLst>
                                        <p:tav tm="0">
                                          <p:val>
                                            <p:fltVal val="0"/>
                                          </p:val>
                                        </p:tav>
                                        <p:tav tm="100000">
                                          <p:val>
                                            <p:strVal val="#ppt_h"/>
                                          </p:val>
                                        </p:tav>
                                      </p:tavLst>
                                    </p:anim>
                                    <p:animEffect transition="in" filter="fade">
                                      <p:cBhvr>
                                        <p:cTn id="31" dur="500"/>
                                        <p:tgtEl>
                                          <p:spTgt spid="3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wipe(left)">
                                      <p:cBhvr>
                                        <p:cTn id="36" dur="500"/>
                                        <p:tgtEl>
                                          <p:spTgt spid="25"/>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47"/>
                                        </p:tgtEl>
                                        <p:attrNameLst>
                                          <p:attrName>style.visibility</p:attrName>
                                        </p:attrNameLst>
                                      </p:cBhvr>
                                      <p:to>
                                        <p:strVal val="visible"/>
                                      </p:to>
                                    </p:set>
                                    <p:anim calcmode="lin" valueType="num">
                                      <p:cBhvr>
                                        <p:cTn id="41" dur="500" fill="hold"/>
                                        <p:tgtEl>
                                          <p:spTgt spid="47"/>
                                        </p:tgtEl>
                                        <p:attrNameLst>
                                          <p:attrName>ppt_w</p:attrName>
                                        </p:attrNameLst>
                                      </p:cBhvr>
                                      <p:tavLst>
                                        <p:tav tm="0">
                                          <p:val>
                                            <p:fltVal val="0"/>
                                          </p:val>
                                        </p:tav>
                                        <p:tav tm="100000">
                                          <p:val>
                                            <p:strVal val="#ppt_w"/>
                                          </p:val>
                                        </p:tav>
                                      </p:tavLst>
                                    </p:anim>
                                    <p:anim calcmode="lin" valueType="num">
                                      <p:cBhvr>
                                        <p:cTn id="42" dur="500" fill="hold"/>
                                        <p:tgtEl>
                                          <p:spTgt spid="47"/>
                                        </p:tgtEl>
                                        <p:attrNameLst>
                                          <p:attrName>ppt_h</p:attrName>
                                        </p:attrNameLst>
                                      </p:cBhvr>
                                      <p:tavLst>
                                        <p:tav tm="0">
                                          <p:val>
                                            <p:fltVal val="0"/>
                                          </p:val>
                                        </p:tav>
                                        <p:tav tm="100000">
                                          <p:val>
                                            <p:strVal val="#ppt_h"/>
                                          </p:val>
                                        </p:tav>
                                      </p:tavLst>
                                    </p:anim>
                                    <p:animEffect transition="in" filter="fade">
                                      <p:cBhvr>
                                        <p:cTn id="43" dur="500"/>
                                        <p:tgtEl>
                                          <p:spTgt spid="47"/>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38"/>
                                        </p:tgtEl>
                                        <p:attrNameLst>
                                          <p:attrName>style.visibility</p:attrName>
                                        </p:attrNameLst>
                                      </p:cBhvr>
                                      <p:to>
                                        <p:strVal val="visible"/>
                                      </p:to>
                                    </p:set>
                                    <p:anim calcmode="lin" valueType="num">
                                      <p:cBhvr>
                                        <p:cTn id="46" dur="500" fill="hold"/>
                                        <p:tgtEl>
                                          <p:spTgt spid="38"/>
                                        </p:tgtEl>
                                        <p:attrNameLst>
                                          <p:attrName>ppt_w</p:attrName>
                                        </p:attrNameLst>
                                      </p:cBhvr>
                                      <p:tavLst>
                                        <p:tav tm="0">
                                          <p:val>
                                            <p:fltVal val="0"/>
                                          </p:val>
                                        </p:tav>
                                        <p:tav tm="100000">
                                          <p:val>
                                            <p:strVal val="#ppt_w"/>
                                          </p:val>
                                        </p:tav>
                                      </p:tavLst>
                                    </p:anim>
                                    <p:anim calcmode="lin" valueType="num">
                                      <p:cBhvr>
                                        <p:cTn id="47" dur="500" fill="hold"/>
                                        <p:tgtEl>
                                          <p:spTgt spid="38"/>
                                        </p:tgtEl>
                                        <p:attrNameLst>
                                          <p:attrName>ppt_h</p:attrName>
                                        </p:attrNameLst>
                                      </p:cBhvr>
                                      <p:tavLst>
                                        <p:tav tm="0">
                                          <p:val>
                                            <p:fltVal val="0"/>
                                          </p:val>
                                        </p:tav>
                                        <p:tav tm="100000">
                                          <p:val>
                                            <p:strVal val="#ppt_h"/>
                                          </p:val>
                                        </p:tav>
                                      </p:tavLst>
                                    </p:anim>
                                    <p:animEffect transition="in" filter="fade">
                                      <p:cBhvr>
                                        <p:cTn id="48" dur="500"/>
                                        <p:tgtEl>
                                          <p:spTgt spid="38"/>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wipe(left)">
                                      <p:cBhvr>
                                        <p:cTn id="53" dur="500"/>
                                        <p:tgtEl>
                                          <p:spTgt spid="22"/>
                                        </p:tgtEl>
                                      </p:cBhvr>
                                    </p:animEffect>
                                  </p:childTnLst>
                                </p:cTn>
                              </p:par>
                            </p:childTnLst>
                          </p:cTn>
                        </p:par>
                      </p:childTnLst>
                    </p:cTn>
                  </p:par>
                  <p:par>
                    <p:cTn id="54" fill="hold">
                      <p:stCondLst>
                        <p:cond delay="indefinite"/>
                      </p:stCondLst>
                      <p:childTnLst>
                        <p:par>
                          <p:cTn id="55" fill="hold">
                            <p:stCondLst>
                              <p:cond delay="0"/>
                            </p:stCondLst>
                            <p:childTnLst>
                              <p:par>
                                <p:cTn id="56" presetID="53" presetClass="entr" presetSubtype="16" fill="hold" grpId="0" nodeType="clickEffect">
                                  <p:stCondLst>
                                    <p:cond delay="0"/>
                                  </p:stCondLst>
                                  <p:childTnLst>
                                    <p:set>
                                      <p:cBhvr>
                                        <p:cTn id="57" dur="1" fill="hold">
                                          <p:stCondLst>
                                            <p:cond delay="0"/>
                                          </p:stCondLst>
                                        </p:cTn>
                                        <p:tgtEl>
                                          <p:spTgt spid="48"/>
                                        </p:tgtEl>
                                        <p:attrNameLst>
                                          <p:attrName>style.visibility</p:attrName>
                                        </p:attrNameLst>
                                      </p:cBhvr>
                                      <p:to>
                                        <p:strVal val="visible"/>
                                      </p:to>
                                    </p:set>
                                    <p:anim calcmode="lin" valueType="num">
                                      <p:cBhvr>
                                        <p:cTn id="58" dur="500" fill="hold"/>
                                        <p:tgtEl>
                                          <p:spTgt spid="48"/>
                                        </p:tgtEl>
                                        <p:attrNameLst>
                                          <p:attrName>ppt_w</p:attrName>
                                        </p:attrNameLst>
                                      </p:cBhvr>
                                      <p:tavLst>
                                        <p:tav tm="0">
                                          <p:val>
                                            <p:fltVal val="0"/>
                                          </p:val>
                                        </p:tav>
                                        <p:tav tm="100000">
                                          <p:val>
                                            <p:strVal val="#ppt_w"/>
                                          </p:val>
                                        </p:tav>
                                      </p:tavLst>
                                    </p:anim>
                                    <p:anim calcmode="lin" valueType="num">
                                      <p:cBhvr>
                                        <p:cTn id="59" dur="500" fill="hold"/>
                                        <p:tgtEl>
                                          <p:spTgt spid="48"/>
                                        </p:tgtEl>
                                        <p:attrNameLst>
                                          <p:attrName>ppt_h</p:attrName>
                                        </p:attrNameLst>
                                      </p:cBhvr>
                                      <p:tavLst>
                                        <p:tav tm="0">
                                          <p:val>
                                            <p:fltVal val="0"/>
                                          </p:val>
                                        </p:tav>
                                        <p:tav tm="100000">
                                          <p:val>
                                            <p:strVal val="#ppt_h"/>
                                          </p:val>
                                        </p:tav>
                                      </p:tavLst>
                                    </p:anim>
                                    <p:animEffect transition="in" filter="fade">
                                      <p:cBhvr>
                                        <p:cTn id="60" dur="500"/>
                                        <p:tgtEl>
                                          <p:spTgt spid="48"/>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39"/>
                                        </p:tgtEl>
                                        <p:attrNameLst>
                                          <p:attrName>style.visibility</p:attrName>
                                        </p:attrNameLst>
                                      </p:cBhvr>
                                      <p:to>
                                        <p:strVal val="visible"/>
                                      </p:to>
                                    </p:set>
                                    <p:anim calcmode="lin" valueType="num">
                                      <p:cBhvr>
                                        <p:cTn id="63" dur="500" fill="hold"/>
                                        <p:tgtEl>
                                          <p:spTgt spid="39"/>
                                        </p:tgtEl>
                                        <p:attrNameLst>
                                          <p:attrName>ppt_w</p:attrName>
                                        </p:attrNameLst>
                                      </p:cBhvr>
                                      <p:tavLst>
                                        <p:tav tm="0">
                                          <p:val>
                                            <p:fltVal val="0"/>
                                          </p:val>
                                        </p:tav>
                                        <p:tav tm="100000">
                                          <p:val>
                                            <p:strVal val="#ppt_w"/>
                                          </p:val>
                                        </p:tav>
                                      </p:tavLst>
                                    </p:anim>
                                    <p:anim calcmode="lin" valueType="num">
                                      <p:cBhvr>
                                        <p:cTn id="64" dur="500" fill="hold"/>
                                        <p:tgtEl>
                                          <p:spTgt spid="39"/>
                                        </p:tgtEl>
                                        <p:attrNameLst>
                                          <p:attrName>ppt_h</p:attrName>
                                        </p:attrNameLst>
                                      </p:cBhvr>
                                      <p:tavLst>
                                        <p:tav tm="0">
                                          <p:val>
                                            <p:fltVal val="0"/>
                                          </p:val>
                                        </p:tav>
                                        <p:tav tm="100000">
                                          <p:val>
                                            <p:strVal val="#ppt_h"/>
                                          </p:val>
                                        </p:tav>
                                      </p:tavLst>
                                    </p:anim>
                                    <p:animEffect transition="in" filter="fade">
                                      <p:cBhvr>
                                        <p:cTn id="65" dur="500"/>
                                        <p:tgtEl>
                                          <p:spTgt spid="39"/>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40"/>
                                        </p:tgtEl>
                                        <p:attrNameLst>
                                          <p:attrName>style.visibility</p:attrName>
                                        </p:attrNameLst>
                                      </p:cBhvr>
                                      <p:to>
                                        <p:strVal val="visible"/>
                                      </p:to>
                                    </p:set>
                                    <p:animEffect transition="in" filter="wipe(left)">
                                      <p:cBhvr>
                                        <p:cTn id="70" dur="500"/>
                                        <p:tgtEl>
                                          <p:spTgt spid="40"/>
                                        </p:tgtEl>
                                      </p:cBhvr>
                                    </p:animEffect>
                                  </p:childTnLst>
                                </p:cTn>
                              </p:par>
                            </p:childTnLst>
                          </p:cTn>
                        </p:par>
                      </p:childTnLst>
                    </p:cTn>
                  </p:par>
                  <p:par>
                    <p:cTn id="71" fill="hold">
                      <p:stCondLst>
                        <p:cond delay="indefinite"/>
                      </p:stCondLst>
                      <p:childTnLst>
                        <p:par>
                          <p:cTn id="72" fill="hold">
                            <p:stCondLst>
                              <p:cond delay="0"/>
                            </p:stCondLst>
                            <p:childTnLst>
                              <p:par>
                                <p:cTn id="73" presetID="53" presetClass="entr" presetSubtype="16" fill="hold" grpId="0" nodeType="clickEffect">
                                  <p:stCondLst>
                                    <p:cond delay="0"/>
                                  </p:stCondLst>
                                  <p:childTnLst>
                                    <p:set>
                                      <p:cBhvr>
                                        <p:cTn id="74" dur="1" fill="hold">
                                          <p:stCondLst>
                                            <p:cond delay="0"/>
                                          </p:stCondLst>
                                        </p:cTn>
                                        <p:tgtEl>
                                          <p:spTgt spid="51"/>
                                        </p:tgtEl>
                                        <p:attrNameLst>
                                          <p:attrName>style.visibility</p:attrName>
                                        </p:attrNameLst>
                                      </p:cBhvr>
                                      <p:to>
                                        <p:strVal val="visible"/>
                                      </p:to>
                                    </p:set>
                                    <p:anim calcmode="lin" valueType="num">
                                      <p:cBhvr>
                                        <p:cTn id="75" dur="500" fill="hold"/>
                                        <p:tgtEl>
                                          <p:spTgt spid="51"/>
                                        </p:tgtEl>
                                        <p:attrNameLst>
                                          <p:attrName>ppt_w</p:attrName>
                                        </p:attrNameLst>
                                      </p:cBhvr>
                                      <p:tavLst>
                                        <p:tav tm="0">
                                          <p:val>
                                            <p:fltVal val="0"/>
                                          </p:val>
                                        </p:tav>
                                        <p:tav tm="100000">
                                          <p:val>
                                            <p:strVal val="#ppt_w"/>
                                          </p:val>
                                        </p:tav>
                                      </p:tavLst>
                                    </p:anim>
                                    <p:anim calcmode="lin" valueType="num">
                                      <p:cBhvr>
                                        <p:cTn id="76" dur="500" fill="hold"/>
                                        <p:tgtEl>
                                          <p:spTgt spid="51"/>
                                        </p:tgtEl>
                                        <p:attrNameLst>
                                          <p:attrName>ppt_h</p:attrName>
                                        </p:attrNameLst>
                                      </p:cBhvr>
                                      <p:tavLst>
                                        <p:tav tm="0">
                                          <p:val>
                                            <p:fltVal val="0"/>
                                          </p:val>
                                        </p:tav>
                                        <p:tav tm="100000">
                                          <p:val>
                                            <p:strVal val="#ppt_h"/>
                                          </p:val>
                                        </p:tav>
                                      </p:tavLst>
                                    </p:anim>
                                    <p:animEffect transition="in" filter="fade">
                                      <p:cBhvr>
                                        <p:cTn id="77" dur="500"/>
                                        <p:tgtEl>
                                          <p:spTgt spid="51"/>
                                        </p:tgtEl>
                                      </p:cBhvr>
                                    </p:animEffect>
                                  </p:childTnLst>
                                </p:cTn>
                              </p:par>
                              <p:par>
                                <p:cTn id="78" presetID="53" presetClass="entr" presetSubtype="16" fill="hold" grpId="0" nodeType="withEffect">
                                  <p:stCondLst>
                                    <p:cond delay="0"/>
                                  </p:stCondLst>
                                  <p:childTnLst>
                                    <p:set>
                                      <p:cBhvr>
                                        <p:cTn id="79" dur="1" fill="hold">
                                          <p:stCondLst>
                                            <p:cond delay="0"/>
                                          </p:stCondLst>
                                        </p:cTn>
                                        <p:tgtEl>
                                          <p:spTgt spid="57"/>
                                        </p:tgtEl>
                                        <p:attrNameLst>
                                          <p:attrName>style.visibility</p:attrName>
                                        </p:attrNameLst>
                                      </p:cBhvr>
                                      <p:to>
                                        <p:strVal val="visible"/>
                                      </p:to>
                                    </p:set>
                                    <p:anim calcmode="lin" valueType="num">
                                      <p:cBhvr>
                                        <p:cTn id="80" dur="500" fill="hold"/>
                                        <p:tgtEl>
                                          <p:spTgt spid="57"/>
                                        </p:tgtEl>
                                        <p:attrNameLst>
                                          <p:attrName>ppt_w</p:attrName>
                                        </p:attrNameLst>
                                      </p:cBhvr>
                                      <p:tavLst>
                                        <p:tav tm="0">
                                          <p:val>
                                            <p:fltVal val="0"/>
                                          </p:val>
                                        </p:tav>
                                        <p:tav tm="100000">
                                          <p:val>
                                            <p:strVal val="#ppt_w"/>
                                          </p:val>
                                        </p:tav>
                                      </p:tavLst>
                                    </p:anim>
                                    <p:anim calcmode="lin" valueType="num">
                                      <p:cBhvr>
                                        <p:cTn id="81" dur="500" fill="hold"/>
                                        <p:tgtEl>
                                          <p:spTgt spid="57"/>
                                        </p:tgtEl>
                                        <p:attrNameLst>
                                          <p:attrName>ppt_h</p:attrName>
                                        </p:attrNameLst>
                                      </p:cBhvr>
                                      <p:tavLst>
                                        <p:tav tm="0">
                                          <p:val>
                                            <p:fltVal val="0"/>
                                          </p:val>
                                        </p:tav>
                                        <p:tav tm="100000">
                                          <p:val>
                                            <p:strVal val="#ppt_h"/>
                                          </p:val>
                                        </p:tav>
                                      </p:tavLst>
                                    </p:anim>
                                    <p:animEffect transition="in" filter="fade">
                                      <p:cBhvr>
                                        <p:cTn id="82" dur="500"/>
                                        <p:tgtEl>
                                          <p:spTgt spid="57"/>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nodeType="clickEffect">
                                  <p:stCondLst>
                                    <p:cond delay="0"/>
                                  </p:stCondLst>
                                  <p:childTnLst>
                                    <p:set>
                                      <p:cBhvr>
                                        <p:cTn id="86" dur="1" fill="hold">
                                          <p:stCondLst>
                                            <p:cond delay="0"/>
                                          </p:stCondLst>
                                        </p:cTn>
                                        <p:tgtEl>
                                          <p:spTgt spid="43"/>
                                        </p:tgtEl>
                                        <p:attrNameLst>
                                          <p:attrName>style.visibility</p:attrName>
                                        </p:attrNameLst>
                                      </p:cBhvr>
                                      <p:to>
                                        <p:strVal val="visible"/>
                                      </p:to>
                                    </p:set>
                                    <p:animEffect transition="in" filter="wipe(right)">
                                      <p:cBhvr>
                                        <p:cTn id="87" dur="500"/>
                                        <p:tgtEl>
                                          <p:spTgt spid="43"/>
                                        </p:tgtEl>
                                      </p:cBhvr>
                                    </p:animEffect>
                                  </p:childTnLst>
                                </p:cTn>
                              </p:par>
                            </p:childTnLst>
                          </p:cTn>
                        </p:par>
                      </p:childTnLst>
                    </p:cTn>
                  </p:par>
                  <p:par>
                    <p:cTn id="88" fill="hold">
                      <p:stCondLst>
                        <p:cond delay="indefinite"/>
                      </p:stCondLst>
                      <p:childTnLst>
                        <p:par>
                          <p:cTn id="89" fill="hold">
                            <p:stCondLst>
                              <p:cond delay="0"/>
                            </p:stCondLst>
                            <p:childTnLst>
                              <p:par>
                                <p:cTn id="90" presetID="53" presetClass="entr" presetSubtype="16" fill="hold" grpId="0" nodeType="clickEffect">
                                  <p:stCondLst>
                                    <p:cond delay="0"/>
                                  </p:stCondLst>
                                  <p:childTnLst>
                                    <p:set>
                                      <p:cBhvr>
                                        <p:cTn id="91" dur="1" fill="hold">
                                          <p:stCondLst>
                                            <p:cond delay="0"/>
                                          </p:stCondLst>
                                        </p:cTn>
                                        <p:tgtEl>
                                          <p:spTgt spid="53"/>
                                        </p:tgtEl>
                                        <p:attrNameLst>
                                          <p:attrName>style.visibility</p:attrName>
                                        </p:attrNameLst>
                                      </p:cBhvr>
                                      <p:to>
                                        <p:strVal val="visible"/>
                                      </p:to>
                                    </p:set>
                                    <p:anim calcmode="lin" valueType="num">
                                      <p:cBhvr>
                                        <p:cTn id="92" dur="500" fill="hold"/>
                                        <p:tgtEl>
                                          <p:spTgt spid="53"/>
                                        </p:tgtEl>
                                        <p:attrNameLst>
                                          <p:attrName>ppt_w</p:attrName>
                                        </p:attrNameLst>
                                      </p:cBhvr>
                                      <p:tavLst>
                                        <p:tav tm="0">
                                          <p:val>
                                            <p:fltVal val="0"/>
                                          </p:val>
                                        </p:tav>
                                        <p:tav tm="100000">
                                          <p:val>
                                            <p:strVal val="#ppt_w"/>
                                          </p:val>
                                        </p:tav>
                                      </p:tavLst>
                                    </p:anim>
                                    <p:anim calcmode="lin" valueType="num">
                                      <p:cBhvr>
                                        <p:cTn id="93" dur="500" fill="hold"/>
                                        <p:tgtEl>
                                          <p:spTgt spid="53"/>
                                        </p:tgtEl>
                                        <p:attrNameLst>
                                          <p:attrName>ppt_h</p:attrName>
                                        </p:attrNameLst>
                                      </p:cBhvr>
                                      <p:tavLst>
                                        <p:tav tm="0">
                                          <p:val>
                                            <p:fltVal val="0"/>
                                          </p:val>
                                        </p:tav>
                                        <p:tav tm="100000">
                                          <p:val>
                                            <p:strVal val="#ppt_h"/>
                                          </p:val>
                                        </p:tav>
                                      </p:tavLst>
                                    </p:anim>
                                    <p:animEffect transition="in" filter="fade">
                                      <p:cBhvr>
                                        <p:cTn id="94" dur="500"/>
                                        <p:tgtEl>
                                          <p:spTgt spid="53"/>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58"/>
                                        </p:tgtEl>
                                        <p:attrNameLst>
                                          <p:attrName>style.visibility</p:attrName>
                                        </p:attrNameLst>
                                      </p:cBhvr>
                                      <p:to>
                                        <p:strVal val="visible"/>
                                      </p:to>
                                    </p:set>
                                    <p:anim calcmode="lin" valueType="num">
                                      <p:cBhvr>
                                        <p:cTn id="97" dur="500" fill="hold"/>
                                        <p:tgtEl>
                                          <p:spTgt spid="58"/>
                                        </p:tgtEl>
                                        <p:attrNameLst>
                                          <p:attrName>ppt_w</p:attrName>
                                        </p:attrNameLst>
                                      </p:cBhvr>
                                      <p:tavLst>
                                        <p:tav tm="0">
                                          <p:val>
                                            <p:fltVal val="0"/>
                                          </p:val>
                                        </p:tav>
                                        <p:tav tm="100000">
                                          <p:val>
                                            <p:strVal val="#ppt_w"/>
                                          </p:val>
                                        </p:tav>
                                      </p:tavLst>
                                    </p:anim>
                                    <p:anim calcmode="lin" valueType="num">
                                      <p:cBhvr>
                                        <p:cTn id="98" dur="500" fill="hold"/>
                                        <p:tgtEl>
                                          <p:spTgt spid="58"/>
                                        </p:tgtEl>
                                        <p:attrNameLst>
                                          <p:attrName>ppt_h</p:attrName>
                                        </p:attrNameLst>
                                      </p:cBhvr>
                                      <p:tavLst>
                                        <p:tav tm="0">
                                          <p:val>
                                            <p:fltVal val="0"/>
                                          </p:val>
                                        </p:tav>
                                        <p:tav tm="100000">
                                          <p:val>
                                            <p:strVal val="#ppt_h"/>
                                          </p:val>
                                        </p:tav>
                                      </p:tavLst>
                                    </p:anim>
                                    <p:animEffect transition="in" filter="fade">
                                      <p:cBhvr>
                                        <p:cTn id="99" dur="500"/>
                                        <p:tgtEl>
                                          <p:spTgt spid="58"/>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2" fill="hold" nodeType="clickEffect">
                                  <p:stCondLst>
                                    <p:cond delay="0"/>
                                  </p:stCondLst>
                                  <p:childTnLst>
                                    <p:set>
                                      <p:cBhvr>
                                        <p:cTn id="103" dur="1" fill="hold">
                                          <p:stCondLst>
                                            <p:cond delay="0"/>
                                          </p:stCondLst>
                                        </p:cTn>
                                        <p:tgtEl>
                                          <p:spTgt spid="21"/>
                                        </p:tgtEl>
                                        <p:attrNameLst>
                                          <p:attrName>style.visibility</p:attrName>
                                        </p:attrNameLst>
                                      </p:cBhvr>
                                      <p:to>
                                        <p:strVal val="visible"/>
                                      </p:to>
                                    </p:set>
                                    <p:animEffect transition="in" filter="wipe(right)">
                                      <p:cBhvr>
                                        <p:cTn id="104" dur="500"/>
                                        <p:tgtEl>
                                          <p:spTgt spid="21"/>
                                        </p:tgtEl>
                                      </p:cBhvr>
                                    </p:animEffect>
                                  </p:childTnLst>
                                </p:cTn>
                              </p:par>
                            </p:childTnLst>
                          </p:cTn>
                        </p:par>
                      </p:childTnLst>
                    </p:cTn>
                  </p:par>
                  <p:par>
                    <p:cTn id="105" fill="hold">
                      <p:stCondLst>
                        <p:cond delay="indefinite"/>
                      </p:stCondLst>
                      <p:childTnLst>
                        <p:par>
                          <p:cTn id="106" fill="hold">
                            <p:stCondLst>
                              <p:cond delay="0"/>
                            </p:stCondLst>
                            <p:childTnLst>
                              <p:par>
                                <p:cTn id="107" presetID="53" presetClass="entr" presetSubtype="16" fill="hold" grpId="0" nodeType="clickEffect">
                                  <p:stCondLst>
                                    <p:cond delay="0"/>
                                  </p:stCondLst>
                                  <p:childTnLst>
                                    <p:set>
                                      <p:cBhvr>
                                        <p:cTn id="108" dur="1" fill="hold">
                                          <p:stCondLst>
                                            <p:cond delay="0"/>
                                          </p:stCondLst>
                                        </p:cTn>
                                        <p:tgtEl>
                                          <p:spTgt spid="55"/>
                                        </p:tgtEl>
                                        <p:attrNameLst>
                                          <p:attrName>style.visibility</p:attrName>
                                        </p:attrNameLst>
                                      </p:cBhvr>
                                      <p:to>
                                        <p:strVal val="visible"/>
                                      </p:to>
                                    </p:set>
                                    <p:anim calcmode="lin" valueType="num">
                                      <p:cBhvr>
                                        <p:cTn id="109" dur="500" fill="hold"/>
                                        <p:tgtEl>
                                          <p:spTgt spid="55"/>
                                        </p:tgtEl>
                                        <p:attrNameLst>
                                          <p:attrName>ppt_w</p:attrName>
                                        </p:attrNameLst>
                                      </p:cBhvr>
                                      <p:tavLst>
                                        <p:tav tm="0">
                                          <p:val>
                                            <p:fltVal val="0"/>
                                          </p:val>
                                        </p:tav>
                                        <p:tav tm="100000">
                                          <p:val>
                                            <p:strVal val="#ppt_w"/>
                                          </p:val>
                                        </p:tav>
                                      </p:tavLst>
                                    </p:anim>
                                    <p:anim calcmode="lin" valueType="num">
                                      <p:cBhvr>
                                        <p:cTn id="110" dur="500" fill="hold"/>
                                        <p:tgtEl>
                                          <p:spTgt spid="55"/>
                                        </p:tgtEl>
                                        <p:attrNameLst>
                                          <p:attrName>ppt_h</p:attrName>
                                        </p:attrNameLst>
                                      </p:cBhvr>
                                      <p:tavLst>
                                        <p:tav tm="0">
                                          <p:val>
                                            <p:fltVal val="0"/>
                                          </p:val>
                                        </p:tav>
                                        <p:tav tm="100000">
                                          <p:val>
                                            <p:strVal val="#ppt_h"/>
                                          </p:val>
                                        </p:tav>
                                      </p:tavLst>
                                    </p:anim>
                                    <p:animEffect transition="in" filter="fade">
                                      <p:cBhvr>
                                        <p:cTn id="111" dur="500"/>
                                        <p:tgtEl>
                                          <p:spTgt spid="55"/>
                                        </p:tgtEl>
                                      </p:cBhvr>
                                    </p:animEffect>
                                  </p:childTnLst>
                                </p:cTn>
                              </p:par>
                              <p:par>
                                <p:cTn id="112" presetID="53" presetClass="entr" presetSubtype="16" fill="hold" grpId="0" nodeType="withEffect">
                                  <p:stCondLst>
                                    <p:cond delay="0"/>
                                  </p:stCondLst>
                                  <p:childTnLst>
                                    <p:set>
                                      <p:cBhvr>
                                        <p:cTn id="113" dur="1" fill="hold">
                                          <p:stCondLst>
                                            <p:cond delay="0"/>
                                          </p:stCondLst>
                                        </p:cTn>
                                        <p:tgtEl>
                                          <p:spTgt spid="59"/>
                                        </p:tgtEl>
                                        <p:attrNameLst>
                                          <p:attrName>style.visibility</p:attrName>
                                        </p:attrNameLst>
                                      </p:cBhvr>
                                      <p:to>
                                        <p:strVal val="visible"/>
                                      </p:to>
                                    </p:set>
                                    <p:anim calcmode="lin" valueType="num">
                                      <p:cBhvr>
                                        <p:cTn id="114" dur="500" fill="hold"/>
                                        <p:tgtEl>
                                          <p:spTgt spid="59"/>
                                        </p:tgtEl>
                                        <p:attrNameLst>
                                          <p:attrName>ppt_w</p:attrName>
                                        </p:attrNameLst>
                                      </p:cBhvr>
                                      <p:tavLst>
                                        <p:tav tm="0">
                                          <p:val>
                                            <p:fltVal val="0"/>
                                          </p:val>
                                        </p:tav>
                                        <p:tav tm="100000">
                                          <p:val>
                                            <p:strVal val="#ppt_w"/>
                                          </p:val>
                                        </p:tav>
                                      </p:tavLst>
                                    </p:anim>
                                    <p:anim calcmode="lin" valueType="num">
                                      <p:cBhvr>
                                        <p:cTn id="115" dur="500" fill="hold"/>
                                        <p:tgtEl>
                                          <p:spTgt spid="59"/>
                                        </p:tgtEl>
                                        <p:attrNameLst>
                                          <p:attrName>ppt_h</p:attrName>
                                        </p:attrNameLst>
                                      </p:cBhvr>
                                      <p:tavLst>
                                        <p:tav tm="0">
                                          <p:val>
                                            <p:fltVal val="0"/>
                                          </p:val>
                                        </p:tav>
                                        <p:tav tm="100000">
                                          <p:val>
                                            <p:strVal val="#ppt_h"/>
                                          </p:val>
                                        </p:tav>
                                      </p:tavLst>
                                    </p:anim>
                                    <p:animEffect transition="in" filter="fade">
                                      <p:cBhvr>
                                        <p:cTn id="116" dur="500"/>
                                        <p:tgtEl>
                                          <p:spTgt spid="59"/>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2" fill="hold" nodeType="click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wipe(right)">
                                      <p:cBhvr>
                                        <p:cTn id="121" dur="500"/>
                                        <p:tgtEl>
                                          <p:spTgt spid="24"/>
                                        </p:tgtEl>
                                      </p:cBhvr>
                                    </p:animEffect>
                                  </p:childTnLst>
                                </p:cTn>
                              </p:par>
                            </p:childTnLst>
                          </p:cTn>
                        </p:par>
                      </p:childTnLst>
                    </p:cTn>
                  </p:par>
                  <p:par>
                    <p:cTn id="122" fill="hold">
                      <p:stCondLst>
                        <p:cond delay="indefinite"/>
                      </p:stCondLst>
                      <p:childTnLst>
                        <p:par>
                          <p:cTn id="123" fill="hold">
                            <p:stCondLst>
                              <p:cond delay="0"/>
                            </p:stCondLst>
                            <p:childTnLst>
                              <p:par>
                                <p:cTn id="124" presetID="53" presetClass="entr" presetSubtype="16" fill="hold" grpId="0" nodeType="clickEffect">
                                  <p:stCondLst>
                                    <p:cond delay="0"/>
                                  </p:stCondLst>
                                  <p:childTnLst>
                                    <p:set>
                                      <p:cBhvr>
                                        <p:cTn id="125" dur="1" fill="hold">
                                          <p:stCondLst>
                                            <p:cond delay="0"/>
                                          </p:stCondLst>
                                        </p:cTn>
                                        <p:tgtEl>
                                          <p:spTgt spid="56"/>
                                        </p:tgtEl>
                                        <p:attrNameLst>
                                          <p:attrName>style.visibility</p:attrName>
                                        </p:attrNameLst>
                                      </p:cBhvr>
                                      <p:to>
                                        <p:strVal val="visible"/>
                                      </p:to>
                                    </p:set>
                                    <p:anim calcmode="lin" valueType="num">
                                      <p:cBhvr>
                                        <p:cTn id="126" dur="500" fill="hold"/>
                                        <p:tgtEl>
                                          <p:spTgt spid="56"/>
                                        </p:tgtEl>
                                        <p:attrNameLst>
                                          <p:attrName>ppt_w</p:attrName>
                                        </p:attrNameLst>
                                      </p:cBhvr>
                                      <p:tavLst>
                                        <p:tav tm="0">
                                          <p:val>
                                            <p:fltVal val="0"/>
                                          </p:val>
                                        </p:tav>
                                        <p:tav tm="100000">
                                          <p:val>
                                            <p:strVal val="#ppt_w"/>
                                          </p:val>
                                        </p:tav>
                                      </p:tavLst>
                                    </p:anim>
                                    <p:anim calcmode="lin" valueType="num">
                                      <p:cBhvr>
                                        <p:cTn id="127" dur="500" fill="hold"/>
                                        <p:tgtEl>
                                          <p:spTgt spid="56"/>
                                        </p:tgtEl>
                                        <p:attrNameLst>
                                          <p:attrName>ppt_h</p:attrName>
                                        </p:attrNameLst>
                                      </p:cBhvr>
                                      <p:tavLst>
                                        <p:tav tm="0">
                                          <p:val>
                                            <p:fltVal val="0"/>
                                          </p:val>
                                        </p:tav>
                                        <p:tav tm="100000">
                                          <p:val>
                                            <p:strVal val="#ppt_h"/>
                                          </p:val>
                                        </p:tav>
                                      </p:tavLst>
                                    </p:anim>
                                    <p:animEffect transition="in" filter="fade">
                                      <p:cBhvr>
                                        <p:cTn id="128" dur="500"/>
                                        <p:tgtEl>
                                          <p:spTgt spid="56"/>
                                        </p:tgtEl>
                                      </p:cBhvr>
                                    </p:animEffect>
                                  </p:childTnLst>
                                </p:cTn>
                              </p:par>
                              <p:par>
                                <p:cTn id="129" presetID="53" presetClass="entr" presetSubtype="16" fill="hold" grpId="0" nodeType="withEffect">
                                  <p:stCondLst>
                                    <p:cond delay="0"/>
                                  </p:stCondLst>
                                  <p:childTnLst>
                                    <p:set>
                                      <p:cBhvr>
                                        <p:cTn id="130" dur="1" fill="hold">
                                          <p:stCondLst>
                                            <p:cond delay="0"/>
                                          </p:stCondLst>
                                        </p:cTn>
                                        <p:tgtEl>
                                          <p:spTgt spid="36"/>
                                        </p:tgtEl>
                                        <p:attrNameLst>
                                          <p:attrName>style.visibility</p:attrName>
                                        </p:attrNameLst>
                                      </p:cBhvr>
                                      <p:to>
                                        <p:strVal val="visible"/>
                                      </p:to>
                                    </p:set>
                                    <p:anim calcmode="lin" valueType="num">
                                      <p:cBhvr>
                                        <p:cTn id="131" dur="500" fill="hold"/>
                                        <p:tgtEl>
                                          <p:spTgt spid="36"/>
                                        </p:tgtEl>
                                        <p:attrNameLst>
                                          <p:attrName>ppt_w</p:attrName>
                                        </p:attrNameLst>
                                      </p:cBhvr>
                                      <p:tavLst>
                                        <p:tav tm="0">
                                          <p:val>
                                            <p:fltVal val="0"/>
                                          </p:val>
                                        </p:tav>
                                        <p:tav tm="100000">
                                          <p:val>
                                            <p:strVal val="#ppt_w"/>
                                          </p:val>
                                        </p:tav>
                                      </p:tavLst>
                                    </p:anim>
                                    <p:anim calcmode="lin" valueType="num">
                                      <p:cBhvr>
                                        <p:cTn id="132" dur="500" fill="hold"/>
                                        <p:tgtEl>
                                          <p:spTgt spid="36"/>
                                        </p:tgtEl>
                                        <p:attrNameLst>
                                          <p:attrName>ppt_h</p:attrName>
                                        </p:attrNameLst>
                                      </p:cBhvr>
                                      <p:tavLst>
                                        <p:tav tm="0">
                                          <p:val>
                                            <p:fltVal val="0"/>
                                          </p:val>
                                        </p:tav>
                                        <p:tav tm="100000">
                                          <p:val>
                                            <p:strVal val="#ppt_h"/>
                                          </p:val>
                                        </p:tav>
                                      </p:tavLst>
                                    </p:anim>
                                    <p:animEffect transition="in" filter="fade">
                                      <p:cBhvr>
                                        <p:cTn id="133"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5" grpId="0" animBg="1"/>
      <p:bldP spid="48" grpId="0" animBg="1"/>
      <p:bldP spid="47" grpId="0" animBg="1"/>
      <p:bldP spid="31" grpId="0"/>
      <p:bldP spid="33" grpId="0" animBg="1"/>
      <p:bldP spid="36" grpId="0"/>
      <p:bldP spid="37" grpId="0"/>
      <p:bldP spid="38" grpId="0"/>
      <p:bldP spid="39" grpId="0"/>
      <p:bldP spid="51" grpId="0" animBg="1"/>
      <p:bldP spid="53" grpId="0" animBg="1"/>
      <p:bldP spid="57" grpId="0"/>
      <p:bldP spid="58" grpId="0"/>
      <p:bldP spid="5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FB4F87B-14D3-41A2-8914-71009D86447B}"/>
              </a:ext>
            </a:extLst>
          </p:cNvPr>
          <p:cNvSpPr/>
          <p:nvPr/>
        </p:nvSpPr>
        <p:spPr>
          <a:xfrm>
            <a:off x="1077134" y="2852936"/>
            <a:ext cx="2120265"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16" name="矩形 15">
            <a:extLst>
              <a:ext uri="{FF2B5EF4-FFF2-40B4-BE49-F238E27FC236}">
                <a16:creationId xmlns:a16="http://schemas.microsoft.com/office/drawing/2014/main" id="{75B95B61-8924-4573-B795-15C463A42878}"/>
              </a:ext>
            </a:extLst>
          </p:cNvPr>
          <p:cNvSpPr/>
          <p:nvPr/>
        </p:nvSpPr>
        <p:spPr>
          <a:xfrm>
            <a:off x="3613006" y="2852936"/>
            <a:ext cx="2120265"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16E681FC-9E7B-4FF3-AFD8-2331153CAE5F}"/>
              </a:ext>
            </a:extLst>
          </p:cNvPr>
          <p:cNvSpPr/>
          <p:nvPr/>
        </p:nvSpPr>
        <p:spPr>
          <a:xfrm>
            <a:off x="6148243" y="2852936"/>
            <a:ext cx="2120265"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19" name="文本框 18">
            <a:extLst>
              <a:ext uri="{FF2B5EF4-FFF2-40B4-BE49-F238E27FC236}">
                <a16:creationId xmlns:a16="http://schemas.microsoft.com/office/drawing/2014/main" id="{C119FA67-874E-41D5-9249-F729AA998D3C}"/>
              </a:ext>
            </a:extLst>
          </p:cNvPr>
          <p:cNvSpPr txBox="1"/>
          <p:nvPr/>
        </p:nvSpPr>
        <p:spPr>
          <a:xfrm>
            <a:off x="2649220" y="1245850"/>
            <a:ext cx="3845560" cy="646331"/>
          </a:xfrm>
          <a:prstGeom prst="rect">
            <a:avLst/>
          </a:prstGeom>
          <a:noFill/>
        </p:spPr>
        <p:txBody>
          <a:bodyPr wrap="square" rtlCol="0">
            <a:spAutoFit/>
          </a:bodyPr>
          <a:lstStyle/>
          <a:p>
            <a:pPr algn="ctr"/>
            <a:r>
              <a:rPr lang="zh-CN" altLang="en-US" sz="3600" b="1" dirty="0">
                <a:solidFill>
                  <a:srgbClr val="262626"/>
                </a:solidFill>
                <a:latin typeface="微软雅黑" panose="020B0503020204020204" pitchFamily="34" charset="-122"/>
                <a:ea typeface="微软雅黑" panose="020B0503020204020204" pitchFamily="34" charset="-122"/>
              </a:rPr>
              <a:t>第一节 </a:t>
            </a:r>
            <a:r>
              <a:rPr lang="en-US" altLang="zh-CN" sz="3600" b="1" dirty="0">
                <a:solidFill>
                  <a:srgbClr val="262626"/>
                </a:solidFill>
                <a:latin typeface="微软雅黑" panose="020B0503020204020204" pitchFamily="34" charset="-122"/>
                <a:ea typeface="微软雅黑" panose="020B0503020204020204" pitchFamily="34" charset="-122"/>
              </a:rPr>
              <a:t> </a:t>
            </a:r>
            <a:r>
              <a:rPr lang="zh-CN" altLang="en-US" sz="3600" b="1" dirty="0">
                <a:solidFill>
                  <a:srgbClr val="262626"/>
                </a:solidFill>
                <a:latin typeface="微软雅黑" panose="020B0503020204020204" pitchFamily="34" charset="-122"/>
                <a:ea typeface="微软雅黑" panose="020B0503020204020204" pitchFamily="34" charset="-122"/>
              </a:rPr>
              <a:t>企业</a:t>
            </a:r>
            <a:endParaRPr lang="en-US" altLang="zh-CN" sz="3600" b="1" dirty="0">
              <a:solidFill>
                <a:srgbClr val="262626"/>
              </a:solidFill>
              <a:latin typeface="微软雅黑" panose="020B0503020204020204" pitchFamily="34" charset="-122"/>
              <a:ea typeface="微软雅黑" panose="020B0503020204020204" pitchFamily="34" charset="-122"/>
            </a:endParaRPr>
          </a:p>
        </p:txBody>
      </p:sp>
      <p:sp>
        <p:nvSpPr>
          <p:cNvPr id="20" name="文本框 19">
            <a:extLst>
              <a:ext uri="{FF2B5EF4-FFF2-40B4-BE49-F238E27FC236}">
                <a16:creationId xmlns:a16="http://schemas.microsoft.com/office/drawing/2014/main" id="{3F6C7E23-4364-425B-96F0-6A04CBE5A029}"/>
              </a:ext>
            </a:extLst>
          </p:cNvPr>
          <p:cNvSpPr txBox="1"/>
          <p:nvPr/>
        </p:nvSpPr>
        <p:spPr>
          <a:xfrm>
            <a:off x="1430829" y="3367286"/>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01</a:t>
            </a:r>
          </a:p>
        </p:txBody>
      </p:sp>
      <p:sp>
        <p:nvSpPr>
          <p:cNvPr id="21" name="文本框 20">
            <a:extLst>
              <a:ext uri="{FF2B5EF4-FFF2-40B4-BE49-F238E27FC236}">
                <a16:creationId xmlns:a16="http://schemas.microsoft.com/office/drawing/2014/main" id="{15E977AF-2FF4-456E-99B4-776861D9E65E}"/>
              </a:ext>
            </a:extLst>
          </p:cNvPr>
          <p:cNvSpPr txBox="1"/>
          <p:nvPr/>
        </p:nvSpPr>
        <p:spPr>
          <a:xfrm>
            <a:off x="1077769" y="4012446"/>
            <a:ext cx="2119630" cy="368300"/>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企业的类型</a:t>
            </a:r>
            <a:endParaRPr lang="zh-CN" altLang="en-US" b="1" dirty="0">
              <a:solidFill>
                <a:srgbClr val="262626"/>
              </a:solidFill>
              <a:latin typeface="微软雅黑" panose="020B0503020204020204" pitchFamily="34" charset="-122"/>
              <a:ea typeface="微软雅黑" panose="020B0503020204020204" pitchFamily="34" charset="-122"/>
              <a:sym typeface="+mn-ea"/>
            </a:endParaRPr>
          </a:p>
        </p:txBody>
      </p:sp>
      <p:sp>
        <p:nvSpPr>
          <p:cNvPr id="23" name="文本框 22">
            <a:extLst>
              <a:ext uri="{FF2B5EF4-FFF2-40B4-BE49-F238E27FC236}">
                <a16:creationId xmlns:a16="http://schemas.microsoft.com/office/drawing/2014/main" id="{0CBB5614-5268-4231-85B3-36D3F55196B4}"/>
              </a:ext>
            </a:extLst>
          </p:cNvPr>
          <p:cNvSpPr txBox="1"/>
          <p:nvPr/>
        </p:nvSpPr>
        <p:spPr>
          <a:xfrm>
            <a:off x="3957558" y="3287896"/>
            <a:ext cx="1414145" cy="645160"/>
          </a:xfrm>
          <a:prstGeom prst="rect">
            <a:avLst/>
          </a:prstGeom>
          <a:noFill/>
        </p:spPr>
        <p:txBody>
          <a:bodyPr wrap="square" rtlCol="0">
            <a:spAutoFit/>
          </a:bodyPr>
          <a:lstStyle/>
          <a:p>
            <a:pPr algn="ctr"/>
            <a:r>
              <a:rPr lang="en-US" altLang="zh-CN" sz="3600" b="1">
                <a:solidFill>
                  <a:srgbClr val="262626"/>
                </a:solidFill>
                <a:latin typeface="微软雅黑" panose="020B0503020204020204" pitchFamily="34" charset="-122"/>
                <a:ea typeface="微软雅黑" panose="020B0503020204020204" pitchFamily="34" charset="-122"/>
              </a:rPr>
              <a:t>02</a:t>
            </a:r>
          </a:p>
        </p:txBody>
      </p:sp>
      <p:sp>
        <p:nvSpPr>
          <p:cNvPr id="24" name="文本框 23">
            <a:extLst>
              <a:ext uri="{FF2B5EF4-FFF2-40B4-BE49-F238E27FC236}">
                <a16:creationId xmlns:a16="http://schemas.microsoft.com/office/drawing/2014/main" id="{001FFEA0-2C8C-4557-8171-1153042D43DC}"/>
              </a:ext>
            </a:extLst>
          </p:cNvPr>
          <p:cNvSpPr txBox="1"/>
          <p:nvPr/>
        </p:nvSpPr>
        <p:spPr>
          <a:xfrm>
            <a:off x="3604498" y="3933056"/>
            <a:ext cx="2119630" cy="646331"/>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企业的利润</a:t>
            </a:r>
            <a:endParaRPr lang="en-US" altLang="zh-CN" b="1" dirty="0">
              <a:latin typeface="微软雅黑" panose="020B0503020204020204" pitchFamily="34" charset="-122"/>
              <a:ea typeface="微软雅黑" panose="020B0503020204020204" pitchFamily="34" charset="-122"/>
            </a:endParaRPr>
          </a:p>
          <a:p>
            <a:pPr algn="ctr" fontAlgn="auto">
              <a:lnSpc>
                <a:spcPct val="100000"/>
              </a:lnSpc>
            </a:pPr>
            <a:r>
              <a:rPr lang="zh-CN" altLang="en-US" b="1" dirty="0">
                <a:latin typeface="微软雅黑" panose="020B0503020204020204" pitchFamily="34" charset="-122"/>
                <a:ea typeface="微软雅黑" panose="020B0503020204020204" pitchFamily="34" charset="-122"/>
              </a:rPr>
              <a:t>最大化目标</a:t>
            </a:r>
            <a:endParaRPr lang="zh-CN" altLang="en-US" b="1" dirty="0">
              <a:solidFill>
                <a:srgbClr val="262626"/>
              </a:solidFill>
              <a:latin typeface="微软雅黑" panose="020B0503020204020204" pitchFamily="34" charset="-122"/>
              <a:ea typeface="微软雅黑" panose="020B0503020204020204" pitchFamily="34" charset="-122"/>
              <a:sym typeface="+mn-ea"/>
            </a:endParaRPr>
          </a:p>
        </p:txBody>
      </p:sp>
      <p:sp>
        <p:nvSpPr>
          <p:cNvPr id="26" name="文本框 25">
            <a:extLst>
              <a:ext uri="{FF2B5EF4-FFF2-40B4-BE49-F238E27FC236}">
                <a16:creationId xmlns:a16="http://schemas.microsoft.com/office/drawing/2014/main" id="{CD7E3468-6EA2-4DAE-A228-79F21B450585}"/>
              </a:ext>
            </a:extLst>
          </p:cNvPr>
          <p:cNvSpPr txBox="1"/>
          <p:nvPr/>
        </p:nvSpPr>
        <p:spPr>
          <a:xfrm>
            <a:off x="6470757" y="3367286"/>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03</a:t>
            </a:r>
          </a:p>
        </p:txBody>
      </p:sp>
      <p:sp>
        <p:nvSpPr>
          <p:cNvPr id="27" name="文本框 26">
            <a:extLst>
              <a:ext uri="{FF2B5EF4-FFF2-40B4-BE49-F238E27FC236}">
                <a16:creationId xmlns:a16="http://schemas.microsoft.com/office/drawing/2014/main" id="{494A511E-6F50-4AA2-89A7-AB04F7AE1717}"/>
              </a:ext>
            </a:extLst>
          </p:cNvPr>
          <p:cNvSpPr txBox="1"/>
          <p:nvPr/>
        </p:nvSpPr>
        <p:spPr>
          <a:xfrm>
            <a:off x="6117697" y="4012446"/>
            <a:ext cx="2119630" cy="368300"/>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企业的其他目标</a:t>
            </a:r>
            <a:endParaRPr lang="zh-CN" altLang="en-US" b="1" dirty="0">
              <a:solidFill>
                <a:srgbClr val="262626"/>
              </a:solidFill>
              <a:latin typeface="微软雅黑" panose="020B0503020204020204" pitchFamily="34" charset="-122"/>
              <a:ea typeface="微软雅黑" panose="020B0503020204020204" pitchFamily="34" charset="-122"/>
              <a:sym typeface="+mn-ea"/>
            </a:endParaRPr>
          </a:p>
        </p:txBody>
      </p:sp>
      <p:sp>
        <p:nvSpPr>
          <p:cNvPr id="2" name="线形标注 1 1"/>
          <p:cNvSpPr/>
          <p:nvPr/>
        </p:nvSpPr>
        <p:spPr bwMode="auto">
          <a:xfrm>
            <a:off x="6691504" y="633202"/>
            <a:ext cx="1912944" cy="491542"/>
          </a:xfrm>
          <a:prstGeom prst="borderCallout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有时也称为厂商</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1"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childTnLst>
                                </p:cTn>
                              </p:par>
                              <p:par>
                                <p:cTn id="17" presetID="53" presetClass="entr" presetSubtype="16" fill="hold" grpId="1"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fltVal val="0"/>
                                          </p:val>
                                        </p:tav>
                                        <p:tav tm="100000">
                                          <p:val>
                                            <p:strVal val="#ppt_w"/>
                                          </p:val>
                                        </p:tav>
                                      </p:tavLst>
                                    </p:anim>
                                    <p:anim calcmode="lin" valueType="num">
                                      <p:cBhvr>
                                        <p:cTn id="20" dur="500" fill="hold"/>
                                        <p:tgtEl>
                                          <p:spTgt spid="20"/>
                                        </p:tgtEl>
                                        <p:attrNameLst>
                                          <p:attrName>ppt_h</p:attrName>
                                        </p:attrNameLst>
                                      </p:cBhvr>
                                      <p:tavLst>
                                        <p:tav tm="0">
                                          <p:val>
                                            <p:fltVal val="0"/>
                                          </p:val>
                                        </p:tav>
                                        <p:tav tm="100000">
                                          <p:val>
                                            <p:strVal val="#ppt_h"/>
                                          </p:val>
                                        </p:tav>
                                      </p:tavLst>
                                    </p:anim>
                                    <p:animEffect transition="in" filter="fade">
                                      <p:cBhvr>
                                        <p:cTn id="21" dur="500"/>
                                        <p:tgtEl>
                                          <p:spTgt spid="20"/>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21"/>
                                        </p:tgtEl>
                                        <p:attrNameLst>
                                          <p:attrName>style.visibility</p:attrName>
                                        </p:attrNameLst>
                                      </p:cBhvr>
                                      <p:to>
                                        <p:strVal val="visible"/>
                                      </p:to>
                                    </p:set>
                                    <p:anim calcmode="lin" valueType="num">
                                      <p:cBhvr>
                                        <p:cTn id="24" dur="500" fill="hold"/>
                                        <p:tgtEl>
                                          <p:spTgt spid="21"/>
                                        </p:tgtEl>
                                        <p:attrNameLst>
                                          <p:attrName>ppt_w</p:attrName>
                                        </p:attrNameLst>
                                      </p:cBhvr>
                                      <p:tavLst>
                                        <p:tav tm="0">
                                          <p:val>
                                            <p:fltVal val="0"/>
                                          </p:val>
                                        </p:tav>
                                        <p:tav tm="100000">
                                          <p:val>
                                            <p:strVal val="#ppt_w"/>
                                          </p:val>
                                        </p:tav>
                                      </p:tavLst>
                                    </p:anim>
                                    <p:anim calcmode="lin" valueType="num">
                                      <p:cBhvr>
                                        <p:cTn id="25" dur="500" fill="hold"/>
                                        <p:tgtEl>
                                          <p:spTgt spid="21"/>
                                        </p:tgtEl>
                                        <p:attrNameLst>
                                          <p:attrName>ppt_h</p:attrName>
                                        </p:attrNameLst>
                                      </p:cBhvr>
                                      <p:tavLst>
                                        <p:tav tm="0">
                                          <p:val>
                                            <p:fltVal val="0"/>
                                          </p:val>
                                        </p:tav>
                                        <p:tav tm="100000">
                                          <p:val>
                                            <p:strVal val="#ppt_h"/>
                                          </p:val>
                                        </p:tav>
                                      </p:tavLst>
                                    </p:anim>
                                    <p:animEffect transition="in" filter="fade">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1"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500" fill="hold"/>
                                        <p:tgtEl>
                                          <p:spTgt spid="16"/>
                                        </p:tgtEl>
                                        <p:attrNameLst>
                                          <p:attrName>ppt_w</p:attrName>
                                        </p:attrNameLst>
                                      </p:cBhvr>
                                      <p:tavLst>
                                        <p:tav tm="0">
                                          <p:val>
                                            <p:fltVal val="0"/>
                                          </p:val>
                                        </p:tav>
                                        <p:tav tm="100000">
                                          <p:val>
                                            <p:strVal val="#ppt_w"/>
                                          </p:val>
                                        </p:tav>
                                      </p:tavLst>
                                    </p:anim>
                                    <p:anim calcmode="lin" valueType="num">
                                      <p:cBhvr>
                                        <p:cTn id="32" dur="500" fill="hold"/>
                                        <p:tgtEl>
                                          <p:spTgt spid="16"/>
                                        </p:tgtEl>
                                        <p:attrNameLst>
                                          <p:attrName>ppt_h</p:attrName>
                                        </p:attrNameLst>
                                      </p:cBhvr>
                                      <p:tavLst>
                                        <p:tav tm="0">
                                          <p:val>
                                            <p:fltVal val="0"/>
                                          </p:val>
                                        </p:tav>
                                        <p:tav tm="100000">
                                          <p:val>
                                            <p:strVal val="#ppt_h"/>
                                          </p:val>
                                        </p:tav>
                                      </p:tavLst>
                                    </p:anim>
                                    <p:animEffect transition="in" filter="fade">
                                      <p:cBhvr>
                                        <p:cTn id="33" dur="500"/>
                                        <p:tgtEl>
                                          <p:spTgt spid="16"/>
                                        </p:tgtEl>
                                      </p:cBhvr>
                                    </p:animEffect>
                                  </p:childTnLst>
                                </p:cTn>
                              </p:par>
                              <p:par>
                                <p:cTn id="34" presetID="53" presetClass="entr" presetSubtype="16" fill="hold" grpId="1" nodeType="withEffect">
                                  <p:stCondLst>
                                    <p:cond delay="0"/>
                                  </p:stCondLst>
                                  <p:childTnLst>
                                    <p:set>
                                      <p:cBhvr>
                                        <p:cTn id="35" dur="1" fill="hold">
                                          <p:stCondLst>
                                            <p:cond delay="0"/>
                                          </p:stCondLst>
                                        </p:cTn>
                                        <p:tgtEl>
                                          <p:spTgt spid="23"/>
                                        </p:tgtEl>
                                        <p:attrNameLst>
                                          <p:attrName>style.visibility</p:attrName>
                                        </p:attrNameLst>
                                      </p:cBhvr>
                                      <p:to>
                                        <p:strVal val="visible"/>
                                      </p:to>
                                    </p:set>
                                    <p:anim calcmode="lin" valueType="num">
                                      <p:cBhvr>
                                        <p:cTn id="36" dur="500" fill="hold"/>
                                        <p:tgtEl>
                                          <p:spTgt spid="23"/>
                                        </p:tgtEl>
                                        <p:attrNameLst>
                                          <p:attrName>ppt_w</p:attrName>
                                        </p:attrNameLst>
                                      </p:cBhvr>
                                      <p:tavLst>
                                        <p:tav tm="0">
                                          <p:val>
                                            <p:fltVal val="0"/>
                                          </p:val>
                                        </p:tav>
                                        <p:tav tm="100000">
                                          <p:val>
                                            <p:strVal val="#ppt_w"/>
                                          </p:val>
                                        </p:tav>
                                      </p:tavLst>
                                    </p:anim>
                                    <p:anim calcmode="lin" valueType="num">
                                      <p:cBhvr>
                                        <p:cTn id="37" dur="500" fill="hold"/>
                                        <p:tgtEl>
                                          <p:spTgt spid="23"/>
                                        </p:tgtEl>
                                        <p:attrNameLst>
                                          <p:attrName>ppt_h</p:attrName>
                                        </p:attrNameLst>
                                      </p:cBhvr>
                                      <p:tavLst>
                                        <p:tav tm="0">
                                          <p:val>
                                            <p:fltVal val="0"/>
                                          </p:val>
                                        </p:tav>
                                        <p:tav tm="100000">
                                          <p:val>
                                            <p:strVal val="#ppt_h"/>
                                          </p:val>
                                        </p:tav>
                                      </p:tavLst>
                                    </p:anim>
                                    <p:animEffect transition="in" filter="fade">
                                      <p:cBhvr>
                                        <p:cTn id="38" dur="500"/>
                                        <p:tgtEl>
                                          <p:spTgt spid="23"/>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24"/>
                                        </p:tgtEl>
                                        <p:attrNameLst>
                                          <p:attrName>style.visibility</p:attrName>
                                        </p:attrNameLst>
                                      </p:cBhvr>
                                      <p:to>
                                        <p:strVal val="visible"/>
                                      </p:to>
                                    </p:set>
                                    <p:anim calcmode="lin" valueType="num">
                                      <p:cBhvr>
                                        <p:cTn id="41" dur="500" fill="hold"/>
                                        <p:tgtEl>
                                          <p:spTgt spid="24"/>
                                        </p:tgtEl>
                                        <p:attrNameLst>
                                          <p:attrName>ppt_w</p:attrName>
                                        </p:attrNameLst>
                                      </p:cBhvr>
                                      <p:tavLst>
                                        <p:tav tm="0">
                                          <p:val>
                                            <p:fltVal val="0"/>
                                          </p:val>
                                        </p:tav>
                                        <p:tav tm="100000">
                                          <p:val>
                                            <p:strVal val="#ppt_w"/>
                                          </p:val>
                                        </p:tav>
                                      </p:tavLst>
                                    </p:anim>
                                    <p:anim calcmode="lin" valueType="num">
                                      <p:cBhvr>
                                        <p:cTn id="42" dur="500" fill="hold"/>
                                        <p:tgtEl>
                                          <p:spTgt spid="24"/>
                                        </p:tgtEl>
                                        <p:attrNameLst>
                                          <p:attrName>ppt_h</p:attrName>
                                        </p:attrNameLst>
                                      </p:cBhvr>
                                      <p:tavLst>
                                        <p:tav tm="0">
                                          <p:val>
                                            <p:fltVal val="0"/>
                                          </p:val>
                                        </p:tav>
                                        <p:tav tm="100000">
                                          <p:val>
                                            <p:strVal val="#ppt_h"/>
                                          </p:val>
                                        </p:tav>
                                      </p:tavLst>
                                    </p:anim>
                                    <p:animEffect transition="in" filter="fade">
                                      <p:cBhvr>
                                        <p:cTn id="43" dur="500"/>
                                        <p:tgtEl>
                                          <p:spTgt spid="24"/>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1" nodeType="click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p:cTn id="48" dur="500" fill="hold"/>
                                        <p:tgtEl>
                                          <p:spTgt spid="17"/>
                                        </p:tgtEl>
                                        <p:attrNameLst>
                                          <p:attrName>ppt_w</p:attrName>
                                        </p:attrNameLst>
                                      </p:cBhvr>
                                      <p:tavLst>
                                        <p:tav tm="0">
                                          <p:val>
                                            <p:fltVal val="0"/>
                                          </p:val>
                                        </p:tav>
                                        <p:tav tm="100000">
                                          <p:val>
                                            <p:strVal val="#ppt_w"/>
                                          </p:val>
                                        </p:tav>
                                      </p:tavLst>
                                    </p:anim>
                                    <p:anim calcmode="lin" valueType="num">
                                      <p:cBhvr>
                                        <p:cTn id="49" dur="500" fill="hold"/>
                                        <p:tgtEl>
                                          <p:spTgt spid="17"/>
                                        </p:tgtEl>
                                        <p:attrNameLst>
                                          <p:attrName>ppt_h</p:attrName>
                                        </p:attrNameLst>
                                      </p:cBhvr>
                                      <p:tavLst>
                                        <p:tav tm="0">
                                          <p:val>
                                            <p:fltVal val="0"/>
                                          </p:val>
                                        </p:tav>
                                        <p:tav tm="100000">
                                          <p:val>
                                            <p:strVal val="#ppt_h"/>
                                          </p:val>
                                        </p:tav>
                                      </p:tavLst>
                                    </p:anim>
                                    <p:animEffect transition="in" filter="fade">
                                      <p:cBhvr>
                                        <p:cTn id="50" dur="500"/>
                                        <p:tgtEl>
                                          <p:spTgt spid="17"/>
                                        </p:tgtEl>
                                      </p:cBhvr>
                                    </p:animEffect>
                                  </p:childTnLst>
                                </p:cTn>
                              </p:par>
                              <p:par>
                                <p:cTn id="51" presetID="53" presetClass="entr" presetSubtype="16" fill="hold" grpId="1" nodeType="withEffect">
                                  <p:stCondLst>
                                    <p:cond delay="0"/>
                                  </p:stCondLst>
                                  <p:childTnLst>
                                    <p:set>
                                      <p:cBhvr>
                                        <p:cTn id="52" dur="1" fill="hold">
                                          <p:stCondLst>
                                            <p:cond delay="0"/>
                                          </p:stCondLst>
                                        </p:cTn>
                                        <p:tgtEl>
                                          <p:spTgt spid="26"/>
                                        </p:tgtEl>
                                        <p:attrNameLst>
                                          <p:attrName>style.visibility</p:attrName>
                                        </p:attrNameLst>
                                      </p:cBhvr>
                                      <p:to>
                                        <p:strVal val="visible"/>
                                      </p:to>
                                    </p:set>
                                    <p:anim calcmode="lin" valueType="num">
                                      <p:cBhvr>
                                        <p:cTn id="53" dur="500" fill="hold"/>
                                        <p:tgtEl>
                                          <p:spTgt spid="26"/>
                                        </p:tgtEl>
                                        <p:attrNameLst>
                                          <p:attrName>ppt_w</p:attrName>
                                        </p:attrNameLst>
                                      </p:cBhvr>
                                      <p:tavLst>
                                        <p:tav tm="0">
                                          <p:val>
                                            <p:fltVal val="0"/>
                                          </p:val>
                                        </p:tav>
                                        <p:tav tm="100000">
                                          <p:val>
                                            <p:strVal val="#ppt_w"/>
                                          </p:val>
                                        </p:tav>
                                      </p:tavLst>
                                    </p:anim>
                                    <p:anim calcmode="lin" valueType="num">
                                      <p:cBhvr>
                                        <p:cTn id="54" dur="500" fill="hold"/>
                                        <p:tgtEl>
                                          <p:spTgt spid="26"/>
                                        </p:tgtEl>
                                        <p:attrNameLst>
                                          <p:attrName>ppt_h</p:attrName>
                                        </p:attrNameLst>
                                      </p:cBhvr>
                                      <p:tavLst>
                                        <p:tav tm="0">
                                          <p:val>
                                            <p:fltVal val="0"/>
                                          </p:val>
                                        </p:tav>
                                        <p:tav tm="100000">
                                          <p:val>
                                            <p:strVal val="#ppt_h"/>
                                          </p:val>
                                        </p:tav>
                                      </p:tavLst>
                                    </p:anim>
                                    <p:animEffect transition="in" filter="fade">
                                      <p:cBhvr>
                                        <p:cTn id="55" dur="500"/>
                                        <p:tgtEl>
                                          <p:spTgt spid="26"/>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p:cTn id="58" dur="500" fill="hold"/>
                                        <p:tgtEl>
                                          <p:spTgt spid="27"/>
                                        </p:tgtEl>
                                        <p:attrNameLst>
                                          <p:attrName>ppt_w</p:attrName>
                                        </p:attrNameLst>
                                      </p:cBhvr>
                                      <p:tavLst>
                                        <p:tav tm="0">
                                          <p:val>
                                            <p:fltVal val="0"/>
                                          </p:val>
                                        </p:tav>
                                        <p:tav tm="100000">
                                          <p:val>
                                            <p:strVal val="#ppt_w"/>
                                          </p:val>
                                        </p:tav>
                                      </p:tavLst>
                                    </p:anim>
                                    <p:anim calcmode="lin" valueType="num">
                                      <p:cBhvr>
                                        <p:cTn id="59" dur="500" fill="hold"/>
                                        <p:tgtEl>
                                          <p:spTgt spid="27"/>
                                        </p:tgtEl>
                                        <p:attrNameLst>
                                          <p:attrName>ppt_h</p:attrName>
                                        </p:attrNameLst>
                                      </p:cBhvr>
                                      <p:tavLst>
                                        <p:tav tm="0">
                                          <p:val>
                                            <p:fltVal val="0"/>
                                          </p:val>
                                        </p:tav>
                                        <p:tav tm="100000">
                                          <p:val>
                                            <p:strVal val="#ppt_h"/>
                                          </p:val>
                                        </p:tav>
                                      </p:tavLst>
                                    </p:anim>
                                    <p:animEffect transition="in" filter="fade">
                                      <p:cBhvr>
                                        <p:cTn id="6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6" grpId="0" animBg="1"/>
      <p:bldP spid="16" grpId="1" animBg="1"/>
      <p:bldP spid="17" grpId="0" animBg="1"/>
      <p:bldP spid="17" grpId="1" animBg="1"/>
      <p:bldP spid="19" grpId="0"/>
      <p:bldP spid="20" grpId="0"/>
      <p:bldP spid="20" grpId="1"/>
      <p:bldP spid="21" grpId="0"/>
      <p:bldP spid="23" grpId="0"/>
      <p:bldP spid="23" grpId="1"/>
      <p:bldP spid="24" grpId="0"/>
      <p:bldP spid="26" grpId="0"/>
      <p:bldP spid="26" grpId="1"/>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圆角 19">
            <a:extLst>
              <a:ext uri="{FF2B5EF4-FFF2-40B4-BE49-F238E27FC236}">
                <a16:creationId xmlns:a16="http://schemas.microsoft.com/office/drawing/2014/main" id="{C1BBA153-CAC4-418E-B8FE-FCFCA85EB186}"/>
              </a:ext>
            </a:extLst>
          </p:cNvPr>
          <p:cNvSpPr/>
          <p:nvPr/>
        </p:nvSpPr>
        <p:spPr>
          <a:xfrm>
            <a:off x="714095" y="4581128"/>
            <a:ext cx="2634763" cy="425657"/>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DD31E90E-F6BA-4FF7-88B9-E3CEFF39791E}"/>
              </a:ext>
            </a:extLst>
          </p:cNvPr>
          <p:cNvSpPr/>
          <p:nvPr/>
        </p:nvSpPr>
        <p:spPr>
          <a:xfrm>
            <a:off x="704394" y="2217832"/>
            <a:ext cx="1798057" cy="41132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圆角 16">
            <a:extLst>
              <a:ext uri="{FF2B5EF4-FFF2-40B4-BE49-F238E27FC236}">
                <a16:creationId xmlns:a16="http://schemas.microsoft.com/office/drawing/2014/main" id="{ECF1D951-D6FB-4DA1-ACCF-24BBF665825B}"/>
              </a:ext>
            </a:extLst>
          </p:cNvPr>
          <p:cNvSpPr/>
          <p:nvPr/>
        </p:nvSpPr>
        <p:spPr>
          <a:xfrm>
            <a:off x="704393" y="1205617"/>
            <a:ext cx="1135890" cy="418014"/>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extBox 15">
            <a:extLst>
              <a:ext uri="{FF2B5EF4-FFF2-40B4-BE49-F238E27FC236}">
                <a16:creationId xmlns:a16="http://schemas.microsoft.com/office/drawing/2014/main" id="{091856C6-2E4C-4757-929C-E8FB106659A1}"/>
              </a:ext>
            </a:extLst>
          </p:cNvPr>
          <p:cNvSpPr txBox="1"/>
          <p:nvPr/>
        </p:nvSpPr>
        <p:spPr>
          <a:xfrm>
            <a:off x="3488666" y="2336536"/>
            <a:ext cx="4468947" cy="738664"/>
          </a:xfrm>
          <a:prstGeom prst="rect">
            <a:avLst/>
          </a:prstGeom>
          <a:noFill/>
        </p:spPr>
        <p:txBody>
          <a:bodyPr wrap="square" rtlCol="0">
            <a:spAutoFit/>
          </a:bodyPr>
          <a:lstStyle/>
          <a:p>
            <a:pPr marL="285750" indent="-285750">
              <a:lnSpc>
                <a:spcPct val="150000"/>
              </a:lnSpc>
              <a:spcBef>
                <a:spcPts val="0"/>
              </a:spcBef>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个人独资企业是单个自然人投资并所有的企业，也称为业主制企业。</a:t>
            </a:r>
          </a:p>
        </p:txBody>
      </p:sp>
      <p:sp>
        <p:nvSpPr>
          <p:cNvPr id="25" name="TextBox 15">
            <a:extLst>
              <a:ext uri="{FF2B5EF4-FFF2-40B4-BE49-F238E27FC236}">
                <a16:creationId xmlns:a16="http://schemas.microsoft.com/office/drawing/2014/main" id="{2ED837A4-692F-4773-9567-0B5B73D1CF59}"/>
              </a:ext>
            </a:extLst>
          </p:cNvPr>
          <p:cNvSpPr txBox="1"/>
          <p:nvPr/>
        </p:nvSpPr>
        <p:spPr>
          <a:xfrm>
            <a:off x="3492553" y="3202687"/>
            <a:ext cx="4353841" cy="523220"/>
          </a:xfrm>
          <a:prstGeom prst="rect">
            <a:avLst/>
          </a:prstGeom>
          <a:noFill/>
        </p:spPr>
        <p:txBody>
          <a:bodyPr wrap="square" rtlCol="0">
            <a:spAutoFit/>
          </a:bodyPr>
          <a:lstStyle/>
          <a:p>
            <a:pPr marL="285750" indent="-285750">
              <a:spcBef>
                <a:spcPts val="0"/>
              </a:spcBef>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合伙制企业是指由两个或两个以上的自然人共同出资、合伙经营、共享收益、共担风险的企业。</a:t>
            </a:r>
          </a:p>
        </p:txBody>
      </p:sp>
      <p:sp>
        <p:nvSpPr>
          <p:cNvPr id="26" name="TextBox 15">
            <a:extLst>
              <a:ext uri="{FF2B5EF4-FFF2-40B4-BE49-F238E27FC236}">
                <a16:creationId xmlns:a16="http://schemas.microsoft.com/office/drawing/2014/main" id="{D0AB18D4-84E9-46A5-8642-9D08EA080A1D}"/>
              </a:ext>
            </a:extLst>
          </p:cNvPr>
          <p:cNvSpPr txBox="1"/>
          <p:nvPr/>
        </p:nvSpPr>
        <p:spPr>
          <a:xfrm>
            <a:off x="3488666" y="3922767"/>
            <a:ext cx="4353841" cy="523220"/>
          </a:xfrm>
          <a:prstGeom prst="rect">
            <a:avLst/>
          </a:prstGeom>
          <a:noFill/>
        </p:spPr>
        <p:txBody>
          <a:bodyPr wrap="square" rtlCol="0">
            <a:spAutoFit/>
          </a:bodyPr>
          <a:lstStyle/>
          <a:p>
            <a:pPr marL="285750" indent="-285750">
              <a:spcBef>
                <a:spcPts val="0"/>
              </a:spcBef>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公司是按照法律程序建立起来的企业组织，包括有限责任公司和股份有限公司。</a:t>
            </a:r>
          </a:p>
        </p:txBody>
      </p:sp>
      <p:sp>
        <p:nvSpPr>
          <p:cNvPr id="30" name="矩形 29">
            <a:extLst>
              <a:ext uri="{FF2B5EF4-FFF2-40B4-BE49-F238E27FC236}">
                <a16:creationId xmlns:a16="http://schemas.microsoft.com/office/drawing/2014/main" id="{549618E8-DBDD-409B-8389-24C6BAFCFCFD}"/>
              </a:ext>
            </a:extLst>
          </p:cNvPr>
          <p:cNvSpPr/>
          <p:nvPr/>
        </p:nvSpPr>
        <p:spPr>
          <a:xfrm>
            <a:off x="7541031" y="33210"/>
            <a:ext cx="147668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第一节  企业</a:t>
            </a:r>
          </a:p>
        </p:txBody>
      </p:sp>
      <p:sp>
        <p:nvSpPr>
          <p:cNvPr id="34" name="矩形 33">
            <a:extLst>
              <a:ext uri="{FF2B5EF4-FFF2-40B4-BE49-F238E27FC236}">
                <a16:creationId xmlns:a16="http://schemas.microsoft.com/office/drawing/2014/main" id="{3FB6CE4B-DF8B-4346-8F73-671591DBFDB0}"/>
              </a:ext>
            </a:extLst>
          </p:cNvPr>
          <p:cNvSpPr/>
          <p:nvPr/>
        </p:nvSpPr>
        <p:spPr>
          <a:xfrm>
            <a:off x="683568" y="519063"/>
            <a:ext cx="2377574" cy="461665"/>
          </a:xfrm>
          <a:prstGeom prst="rect">
            <a:avLst/>
          </a:prstGeom>
          <a:solidFill>
            <a:srgbClr val="F3C97F"/>
          </a:solidFill>
          <a:effectLst>
            <a:outerShdw blurRad="63500" sx="102000" sy="102000" algn="ctr" rotWithShape="0">
              <a:prstClr val="black">
                <a:alpha val="40000"/>
              </a:prstClr>
            </a:outerShdw>
          </a:effectLst>
        </p:spPr>
        <p:txBody>
          <a:bodyPr wrap="non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一、</a:t>
            </a:r>
            <a:r>
              <a:rPr lang="zh-CN" altLang="en-US" sz="2400" b="1" dirty="0">
                <a:solidFill>
                  <a:schemeClr val="bg1"/>
                </a:solidFill>
                <a:latin typeface="微软雅黑" panose="020B0503020204020204" pitchFamily="34" charset="-122"/>
                <a:ea typeface="微软雅黑" panose="020B0503020204020204" pitchFamily="34" charset="-122"/>
              </a:rPr>
              <a:t>企业的类型</a:t>
            </a:r>
            <a:endParaRPr lang="zh-CN" altLang="en-US" sz="2400" b="1" spc="150" dirty="0">
              <a:solidFill>
                <a:schemeClr val="bg1"/>
              </a:solidFill>
              <a:latin typeface="微软雅黑" panose="020B0503020204020204" pitchFamily="34" charset="-122"/>
              <a:ea typeface="微软雅黑" panose="020B0503020204020204" pitchFamily="34" charset="-122"/>
            </a:endParaRPr>
          </a:p>
        </p:txBody>
      </p:sp>
      <p:sp>
        <p:nvSpPr>
          <p:cNvPr id="43" name="TextBox 15">
            <a:extLst>
              <a:ext uri="{FF2B5EF4-FFF2-40B4-BE49-F238E27FC236}">
                <a16:creationId xmlns:a16="http://schemas.microsoft.com/office/drawing/2014/main" id="{2E0C61B0-880F-4165-A5F0-0CB7D18C677D}"/>
              </a:ext>
            </a:extLst>
          </p:cNvPr>
          <p:cNvSpPr txBox="1"/>
          <p:nvPr/>
        </p:nvSpPr>
        <p:spPr>
          <a:xfrm>
            <a:off x="1158051" y="5236932"/>
            <a:ext cx="6430872" cy="738664"/>
          </a:xfrm>
          <a:prstGeom prst="rect">
            <a:avLst/>
          </a:prstGeom>
          <a:noFill/>
        </p:spPr>
        <p:txBody>
          <a:bodyPr wrap="square" rtlCol="0">
            <a:spAutoFit/>
          </a:bodyPr>
          <a:lstStyle/>
          <a:p>
            <a:pPr marL="285750" indent="-285750">
              <a:spcBef>
                <a:spcPts val="0"/>
              </a:spcBef>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与个人独资和合伙制企业相比，公司制企业有利于筹集大量的资金，同时由于股份分散、责任有限，极大地降低了单个股东的风险。但公司制企业所有权与经营权分离，导致企业不能完全体现股东的利益。</a:t>
            </a:r>
          </a:p>
        </p:txBody>
      </p:sp>
      <p:sp>
        <p:nvSpPr>
          <p:cNvPr id="45" name="矩形 44">
            <a:extLst>
              <a:ext uri="{FF2B5EF4-FFF2-40B4-BE49-F238E27FC236}">
                <a16:creationId xmlns:a16="http://schemas.microsoft.com/office/drawing/2014/main" id="{A732329B-52DE-4730-801B-97994D259CCF}"/>
              </a:ext>
            </a:extLst>
          </p:cNvPr>
          <p:cNvSpPr/>
          <p:nvPr/>
        </p:nvSpPr>
        <p:spPr>
          <a:xfrm>
            <a:off x="718489" y="1124744"/>
            <a:ext cx="1135890" cy="458908"/>
          </a:xfrm>
          <a:prstGeom prst="rect">
            <a:avLst/>
          </a:prstGeom>
        </p:spPr>
        <p:txBody>
          <a:bodyPr wrap="square">
            <a:spAutoFit/>
          </a:bodyPr>
          <a:lstStyle/>
          <a:p>
            <a:pPr marL="285750" indent="-285750">
              <a:lnSpc>
                <a:spcPct val="150000"/>
              </a:lnSpc>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企业</a:t>
            </a:r>
            <a:endParaRPr lang="en-US" altLang="zh-CN" spc="150" dirty="0">
              <a:solidFill>
                <a:srgbClr val="000000"/>
              </a:solidFill>
              <a:latin typeface="微软雅黑" panose="020B0503020204020204" pitchFamily="34" charset="-122"/>
              <a:ea typeface="微软雅黑" panose="020B0503020204020204" pitchFamily="34" charset="-122"/>
            </a:endParaRPr>
          </a:p>
        </p:txBody>
      </p:sp>
      <p:sp>
        <p:nvSpPr>
          <p:cNvPr id="39" name="矩形 38">
            <a:extLst>
              <a:ext uri="{FF2B5EF4-FFF2-40B4-BE49-F238E27FC236}">
                <a16:creationId xmlns:a16="http://schemas.microsoft.com/office/drawing/2014/main" id="{C4EFAB30-EB61-437C-B708-6818806D9C8E}"/>
              </a:ext>
            </a:extLst>
          </p:cNvPr>
          <p:cNvSpPr/>
          <p:nvPr/>
        </p:nvSpPr>
        <p:spPr>
          <a:xfrm>
            <a:off x="1158051" y="1659161"/>
            <a:ext cx="6678010" cy="584775"/>
          </a:xfrm>
          <a:prstGeom prst="rect">
            <a:avLst/>
          </a:prstGeom>
        </p:spPr>
        <p:txBody>
          <a:bodyPr wrap="square">
            <a:spAutoFit/>
          </a:bodyPr>
          <a:lstStyle/>
          <a:p>
            <a:pPr marL="285750" indent="-285750">
              <a:buClr>
                <a:schemeClr val="tx1"/>
              </a:buClr>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经济学中的企业泛指能够做出统一生产和供给决策的基本单位，它们使用各种投入品以制造和销售产品或服务。</a:t>
            </a:r>
          </a:p>
        </p:txBody>
      </p:sp>
      <p:sp>
        <p:nvSpPr>
          <p:cNvPr id="46" name="矩形 45">
            <a:extLst>
              <a:ext uri="{FF2B5EF4-FFF2-40B4-BE49-F238E27FC236}">
                <a16:creationId xmlns:a16="http://schemas.microsoft.com/office/drawing/2014/main" id="{152C3C44-33D6-4F06-8C23-FBE42FA62835}"/>
              </a:ext>
            </a:extLst>
          </p:cNvPr>
          <p:cNvSpPr/>
          <p:nvPr/>
        </p:nvSpPr>
        <p:spPr>
          <a:xfrm>
            <a:off x="715056" y="2141731"/>
            <a:ext cx="1987144" cy="458908"/>
          </a:xfrm>
          <a:prstGeom prst="rect">
            <a:avLst/>
          </a:prstGeom>
        </p:spPr>
        <p:txBody>
          <a:bodyPr wrap="square">
            <a:spAutoFit/>
          </a:bodyPr>
          <a:lstStyle/>
          <a:p>
            <a:pPr marL="285750" indent="-285750">
              <a:lnSpc>
                <a:spcPct val="150000"/>
              </a:lnSpc>
              <a:buFont typeface="Wingdings" panose="05000000000000000000" pitchFamily="2" charset="2"/>
              <a:buChar char="u"/>
            </a:pPr>
            <a:r>
              <a:rPr lang="zh-CN" altLang="en-US" dirty="0">
                <a:latin typeface="微软雅黑" panose="020B0503020204020204" pitchFamily="34" charset="-122"/>
                <a:ea typeface="微软雅黑" panose="020B0503020204020204" pitchFamily="34" charset="-122"/>
              </a:rPr>
              <a:t>企业的类型</a:t>
            </a:r>
          </a:p>
        </p:txBody>
      </p:sp>
      <p:sp>
        <p:nvSpPr>
          <p:cNvPr id="47" name="矩形 46">
            <a:extLst>
              <a:ext uri="{FF2B5EF4-FFF2-40B4-BE49-F238E27FC236}">
                <a16:creationId xmlns:a16="http://schemas.microsoft.com/office/drawing/2014/main" id="{F67F9874-EBBD-47D2-8214-61F158A86764}"/>
              </a:ext>
            </a:extLst>
          </p:cNvPr>
          <p:cNvSpPr/>
          <p:nvPr/>
        </p:nvSpPr>
        <p:spPr>
          <a:xfrm>
            <a:off x="1158051" y="2678369"/>
            <a:ext cx="1704313" cy="338554"/>
          </a:xfrm>
          <a:prstGeom prst="rect">
            <a:avLst/>
          </a:prstGeom>
        </p:spPr>
        <p:txBody>
          <a:bodyPr wrap="none">
            <a:spAutoFit/>
          </a:bodyPr>
          <a:lstStyle/>
          <a:p>
            <a:pPr marL="285750" indent="-285750" algn="ctr">
              <a:buClr>
                <a:schemeClr val="tx1"/>
              </a:buClr>
              <a:buFont typeface="Wingdings" panose="05000000000000000000" pitchFamily="2" charset="2"/>
              <a:buChar char="Ø"/>
              <a:defRPr/>
            </a:pPr>
            <a:r>
              <a:rPr lang="zh-CN" altLang="en-US" sz="1600" dirty="0">
                <a:latin typeface="微软雅黑" panose="020B0503020204020204" pitchFamily="34" charset="-122"/>
                <a:ea typeface="微软雅黑" panose="020B0503020204020204" pitchFamily="34" charset="-122"/>
              </a:rPr>
              <a:t>个人独资企业</a:t>
            </a:r>
            <a:endParaRPr lang="en-US" altLang="zh-CN" sz="1600" dirty="0">
              <a:latin typeface="微软雅黑" panose="020B0503020204020204" pitchFamily="34" charset="-122"/>
              <a:ea typeface="微软雅黑" panose="020B0503020204020204" pitchFamily="34" charset="-122"/>
            </a:endParaRPr>
          </a:p>
        </p:txBody>
      </p:sp>
      <p:sp>
        <p:nvSpPr>
          <p:cNvPr id="48" name="矩形 47">
            <a:extLst>
              <a:ext uri="{FF2B5EF4-FFF2-40B4-BE49-F238E27FC236}">
                <a16:creationId xmlns:a16="http://schemas.microsoft.com/office/drawing/2014/main" id="{82BEC7DA-9106-4DFF-BA2A-14687913AC7D}"/>
              </a:ext>
            </a:extLst>
          </p:cNvPr>
          <p:cNvSpPr/>
          <p:nvPr/>
        </p:nvSpPr>
        <p:spPr>
          <a:xfrm>
            <a:off x="1158051" y="3329679"/>
            <a:ext cx="1499128" cy="338554"/>
          </a:xfrm>
          <a:prstGeom prst="rect">
            <a:avLst/>
          </a:prstGeom>
        </p:spPr>
        <p:txBody>
          <a:bodyPr wrap="none">
            <a:spAutoFit/>
          </a:bodyPr>
          <a:lstStyle/>
          <a:p>
            <a:pPr marL="285750" indent="-285750" algn="ctr">
              <a:buClr>
                <a:schemeClr val="tx1"/>
              </a:buClr>
              <a:buFont typeface="Wingdings" panose="05000000000000000000" pitchFamily="2" charset="2"/>
              <a:buChar char="Ø"/>
              <a:defRPr/>
            </a:pPr>
            <a:r>
              <a:rPr lang="zh-CN" altLang="en-US" sz="1600" dirty="0">
                <a:latin typeface="微软雅黑" panose="020B0503020204020204" pitchFamily="34" charset="-122"/>
                <a:ea typeface="微软雅黑" panose="020B0503020204020204" pitchFamily="34" charset="-122"/>
              </a:rPr>
              <a:t>合伙制企业</a:t>
            </a:r>
            <a:endParaRPr lang="en-US" altLang="zh-CN" sz="1600" dirty="0">
              <a:latin typeface="微软雅黑" panose="020B0503020204020204" pitchFamily="34" charset="-122"/>
              <a:ea typeface="微软雅黑" panose="020B0503020204020204" pitchFamily="34" charset="-122"/>
            </a:endParaRPr>
          </a:p>
        </p:txBody>
      </p:sp>
      <p:sp>
        <p:nvSpPr>
          <p:cNvPr id="49" name="矩形 48">
            <a:extLst>
              <a:ext uri="{FF2B5EF4-FFF2-40B4-BE49-F238E27FC236}">
                <a16:creationId xmlns:a16="http://schemas.microsoft.com/office/drawing/2014/main" id="{3FC3D8A3-899E-4526-9B7F-7F799C45BCAC}"/>
              </a:ext>
            </a:extLst>
          </p:cNvPr>
          <p:cNvSpPr/>
          <p:nvPr/>
        </p:nvSpPr>
        <p:spPr>
          <a:xfrm>
            <a:off x="1162365" y="4015100"/>
            <a:ext cx="883575" cy="338554"/>
          </a:xfrm>
          <a:prstGeom prst="rect">
            <a:avLst/>
          </a:prstGeom>
        </p:spPr>
        <p:txBody>
          <a:bodyPr wrap="none">
            <a:spAutoFit/>
          </a:bodyPr>
          <a:lstStyle/>
          <a:p>
            <a:pPr marL="285750" indent="-285750" algn="ctr">
              <a:buClr>
                <a:schemeClr val="tx1"/>
              </a:buClr>
              <a:buFont typeface="Wingdings" panose="05000000000000000000" pitchFamily="2" charset="2"/>
              <a:buChar char="Ø"/>
              <a:defRPr/>
            </a:pPr>
            <a:r>
              <a:rPr lang="zh-CN" altLang="en-US" sz="1600" dirty="0">
                <a:latin typeface="微软雅黑" panose="020B0503020204020204" pitchFamily="34" charset="-122"/>
                <a:ea typeface="微软雅黑" panose="020B0503020204020204" pitchFamily="34" charset="-122"/>
              </a:rPr>
              <a:t>公司</a:t>
            </a:r>
            <a:endParaRPr lang="en-US" altLang="zh-CN" sz="1600" dirty="0">
              <a:latin typeface="微软雅黑" panose="020B0503020204020204" pitchFamily="34" charset="-122"/>
              <a:ea typeface="微软雅黑" panose="020B0503020204020204" pitchFamily="34" charset="-122"/>
            </a:endParaRPr>
          </a:p>
        </p:txBody>
      </p:sp>
      <p:sp>
        <p:nvSpPr>
          <p:cNvPr id="50" name="矩形 49">
            <a:extLst>
              <a:ext uri="{FF2B5EF4-FFF2-40B4-BE49-F238E27FC236}">
                <a16:creationId xmlns:a16="http://schemas.microsoft.com/office/drawing/2014/main" id="{81C233E4-C005-4017-9F52-8E044FB670E7}"/>
              </a:ext>
            </a:extLst>
          </p:cNvPr>
          <p:cNvSpPr/>
          <p:nvPr/>
        </p:nvSpPr>
        <p:spPr>
          <a:xfrm>
            <a:off x="719569" y="4607779"/>
            <a:ext cx="2555326" cy="369332"/>
          </a:xfrm>
          <a:prstGeom prst="rect">
            <a:avLst/>
          </a:prstGeom>
        </p:spPr>
        <p:txBody>
          <a:bodyPr wrap="square">
            <a:spAutoFit/>
          </a:bodyPr>
          <a:lstStyle/>
          <a:p>
            <a:pPr marL="285750" indent="-285750">
              <a:buFont typeface="Wingdings" panose="05000000000000000000" pitchFamily="2" charset="2"/>
              <a:buChar char="u"/>
              <a:defRPr/>
            </a:pPr>
            <a:r>
              <a:rPr lang="zh-CN" altLang="en-US" dirty="0">
                <a:latin typeface="微软雅黑" panose="020B0503020204020204" pitchFamily="34" charset="-122"/>
                <a:ea typeface="微软雅黑" panose="020B0503020204020204" pitchFamily="34" charset="-122"/>
              </a:rPr>
              <a:t>不同类型企业的比较</a:t>
            </a:r>
            <a:endParaRPr lang="en-US" altLang="zh-CN" dirty="0">
              <a:latin typeface="微软雅黑" panose="020B0503020204020204" pitchFamily="34" charset="-122"/>
              <a:ea typeface="微软雅黑" panose="020B0503020204020204" pitchFamily="34" charset="-122"/>
            </a:endParaRPr>
          </a:p>
        </p:txBody>
      </p:sp>
      <p:sp>
        <p:nvSpPr>
          <p:cNvPr id="2" name="线形标注 1 1"/>
          <p:cNvSpPr/>
          <p:nvPr/>
        </p:nvSpPr>
        <p:spPr bwMode="auto">
          <a:xfrm>
            <a:off x="5973974" y="4433615"/>
            <a:ext cx="3023026" cy="670519"/>
          </a:xfrm>
          <a:prstGeom prst="borderCallout1">
            <a:avLst>
              <a:gd name="adj1" fmla="val 43421"/>
              <a:gd name="adj2" fmla="val -1353"/>
              <a:gd name="adj3" fmla="val 53001"/>
              <a:gd name="adj4" fmla="val -8393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有限责任与无限责任</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lang="zh-CN" altLang="en-US" dirty="0"/>
              <a:t>经营权与所有权是否分离</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8477070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ppt_w</p:attrName>
                                        </p:attrNameLst>
                                      </p:cBhvr>
                                      <p:tavLst>
                                        <p:tav tm="0">
                                          <p:val>
                                            <p:fltVal val="0"/>
                                          </p:val>
                                        </p:tav>
                                        <p:tav tm="100000">
                                          <p:val>
                                            <p:strVal val="#ppt_w"/>
                                          </p:val>
                                        </p:tav>
                                      </p:tavLst>
                                    </p:anim>
                                    <p:anim calcmode="lin" valueType="num">
                                      <p:cBhvr>
                                        <p:cTn id="8" dur="500" fill="hold"/>
                                        <p:tgtEl>
                                          <p:spTgt spid="34"/>
                                        </p:tgtEl>
                                        <p:attrNameLst>
                                          <p:attrName>ppt_h</p:attrName>
                                        </p:attrNameLst>
                                      </p:cBhvr>
                                      <p:tavLst>
                                        <p:tav tm="0">
                                          <p:val>
                                            <p:fltVal val="0"/>
                                          </p:val>
                                        </p:tav>
                                        <p:tav tm="100000">
                                          <p:val>
                                            <p:strVal val="#ppt_h"/>
                                          </p:val>
                                        </p:tav>
                                      </p:tavLst>
                                    </p:anim>
                                    <p:animEffect transition="in" filter="fade">
                                      <p:cBhvr>
                                        <p:cTn id="9" dur="500"/>
                                        <p:tgtEl>
                                          <p:spTgt spid="34"/>
                                        </p:tgtEl>
                                      </p:cBhvr>
                                    </p:animEffect>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barn(inVertical)">
                                      <p:cBhvr>
                                        <p:cTn id="14" dur="500"/>
                                        <p:tgtEl>
                                          <p:spTgt spid="17"/>
                                        </p:tgtEl>
                                      </p:cBhvr>
                                    </p:animEffect>
                                  </p:childTnLst>
                                </p:cTn>
                              </p:par>
                              <p:par>
                                <p:cTn id="15" presetID="16" presetClass="entr" presetSubtype="21" fill="hold" grpId="0" nodeType="withEffect">
                                  <p:stCondLst>
                                    <p:cond delay="0"/>
                                  </p:stCondLst>
                                  <p:childTnLst>
                                    <p:set>
                                      <p:cBhvr>
                                        <p:cTn id="16" dur="1" fill="hold">
                                          <p:stCondLst>
                                            <p:cond delay="0"/>
                                          </p:stCondLst>
                                        </p:cTn>
                                        <p:tgtEl>
                                          <p:spTgt spid="45"/>
                                        </p:tgtEl>
                                        <p:attrNameLst>
                                          <p:attrName>style.visibility</p:attrName>
                                        </p:attrNameLst>
                                      </p:cBhvr>
                                      <p:to>
                                        <p:strVal val="visible"/>
                                      </p:to>
                                    </p:set>
                                    <p:animEffect transition="in" filter="barn(inVertical)">
                                      <p:cBhvr>
                                        <p:cTn id="17" dur="500"/>
                                        <p:tgtEl>
                                          <p:spTgt spid="4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wipe(left)">
                                      <p:cBhvr>
                                        <p:cTn id="22" dur="500"/>
                                        <p:tgtEl>
                                          <p:spTgt spid="39"/>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barn(inVertical)">
                                      <p:cBhvr>
                                        <p:cTn id="27" dur="500"/>
                                        <p:tgtEl>
                                          <p:spTgt spid="19"/>
                                        </p:tgtEl>
                                      </p:cBhvr>
                                    </p:animEffect>
                                  </p:childTnLst>
                                </p:cTn>
                              </p:par>
                              <p:par>
                                <p:cTn id="28" presetID="16" presetClass="entr" presetSubtype="21" fill="hold" grpId="0" nodeType="withEffect">
                                  <p:stCondLst>
                                    <p:cond delay="0"/>
                                  </p:stCondLst>
                                  <p:childTnLst>
                                    <p:set>
                                      <p:cBhvr>
                                        <p:cTn id="29" dur="1" fill="hold">
                                          <p:stCondLst>
                                            <p:cond delay="0"/>
                                          </p:stCondLst>
                                        </p:cTn>
                                        <p:tgtEl>
                                          <p:spTgt spid="46"/>
                                        </p:tgtEl>
                                        <p:attrNameLst>
                                          <p:attrName>style.visibility</p:attrName>
                                        </p:attrNameLst>
                                      </p:cBhvr>
                                      <p:to>
                                        <p:strVal val="visible"/>
                                      </p:to>
                                    </p:set>
                                    <p:animEffect transition="in" filter="barn(inVertical)">
                                      <p:cBhvr>
                                        <p:cTn id="30" dur="500"/>
                                        <p:tgtEl>
                                          <p:spTgt spid="46"/>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47"/>
                                        </p:tgtEl>
                                        <p:attrNameLst>
                                          <p:attrName>style.visibility</p:attrName>
                                        </p:attrNameLst>
                                      </p:cBhvr>
                                      <p:to>
                                        <p:strVal val="visible"/>
                                      </p:to>
                                    </p:set>
                                    <p:animEffect transition="in" filter="wipe(left)">
                                      <p:cBhvr>
                                        <p:cTn id="35" dur="500"/>
                                        <p:tgtEl>
                                          <p:spTgt spid="47"/>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wipe(left)">
                                      <p:cBhvr>
                                        <p:cTn id="40" dur="500"/>
                                        <p:tgtEl>
                                          <p:spTgt spid="1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nodeType="click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wipe(left)">
                                      <p:cBhvr>
                                        <p:cTn id="45" dur="500"/>
                                        <p:tgtEl>
                                          <p:spTgt spid="48">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wipe(left)">
                                      <p:cBhvr>
                                        <p:cTn id="50" dur="500"/>
                                        <p:tgtEl>
                                          <p:spTgt spid="2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49"/>
                                        </p:tgtEl>
                                        <p:attrNameLst>
                                          <p:attrName>style.visibility</p:attrName>
                                        </p:attrNameLst>
                                      </p:cBhvr>
                                      <p:to>
                                        <p:strVal val="visible"/>
                                      </p:to>
                                    </p:set>
                                    <p:animEffect transition="in" filter="wipe(left)">
                                      <p:cBhvr>
                                        <p:cTn id="55" dur="500"/>
                                        <p:tgtEl>
                                          <p:spTgt spid="49"/>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wipe(left)">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barn(inVertical)">
                                      <p:cBhvr>
                                        <p:cTn id="65" dur="500"/>
                                        <p:tgtEl>
                                          <p:spTgt spid="20"/>
                                        </p:tgtEl>
                                      </p:cBhvr>
                                    </p:animEffect>
                                  </p:childTnLst>
                                </p:cTn>
                              </p:par>
                              <p:par>
                                <p:cTn id="66" presetID="16" presetClass="entr" presetSubtype="21" fill="hold" grpId="0" nodeType="with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barn(inVertical)">
                                      <p:cBhvr>
                                        <p:cTn id="68" dur="500"/>
                                        <p:tgtEl>
                                          <p:spTgt spid="50"/>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wipe(left)">
                                      <p:cBhvr>
                                        <p:cTn id="73"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9" grpId="0" animBg="1"/>
      <p:bldP spid="17" grpId="0" animBg="1"/>
      <p:bldP spid="15" grpId="0"/>
      <p:bldP spid="25" grpId="0"/>
      <p:bldP spid="26" grpId="0"/>
      <p:bldP spid="34" grpId="0" animBg="1"/>
      <p:bldP spid="43" grpId="0"/>
      <p:bldP spid="45" grpId="0"/>
      <p:bldP spid="39" grpId="0"/>
      <p:bldP spid="46" grpId="0"/>
      <p:bldP spid="47" grpId="0"/>
      <p:bldP spid="49" grpId="0"/>
      <p:bldP spid="5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7AFF8ED8-EFD7-4F33-A7CF-A4DDFE3237BC}"/>
              </a:ext>
            </a:extLst>
          </p:cNvPr>
          <p:cNvSpPr/>
          <p:nvPr/>
        </p:nvSpPr>
        <p:spPr>
          <a:xfrm>
            <a:off x="1106850" y="1310813"/>
            <a:ext cx="1088886" cy="38212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3F33BB40-03AB-46A2-86F3-299D0D35CDC8}"/>
              </a:ext>
            </a:extLst>
          </p:cNvPr>
          <p:cNvSpPr/>
          <p:nvPr/>
        </p:nvSpPr>
        <p:spPr>
          <a:xfrm>
            <a:off x="580922" y="520573"/>
            <a:ext cx="392254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r>
              <a:rPr lang="zh-CN" altLang="en-US" sz="2400" b="1" dirty="0">
                <a:solidFill>
                  <a:schemeClr val="bg1"/>
                </a:solidFill>
                <a:latin typeface="微软雅黑" panose="020B0503020204020204" pitchFamily="34" charset="-122"/>
                <a:ea typeface="微软雅黑" panose="020B0503020204020204" pitchFamily="34" charset="-122"/>
              </a:rPr>
              <a:t>企业的利润最大化目标</a:t>
            </a:r>
            <a:endParaRPr lang="zh-CN" altLang="en-US" sz="2400" b="1" spc="150" dirty="0">
              <a:solidFill>
                <a:schemeClr val="bg1"/>
              </a:solidFill>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997DE112-E4F1-45AF-A34F-EB1DDAD760B7}"/>
              </a:ext>
            </a:extLst>
          </p:cNvPr>
          <p:cNvSpPr/>
          <p:nvPr/>
        </p:nvSpPr>
        <p:spPr>
          <a:xfrm>
            <a:off x="7541031" y="33210"/>
            <a:ext cx="147668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第一节  企业</a:t>
            </a:r>
          </a:p>
        </p:txBody>
      </p:sp>
      <p:sp>
        <p:nvSpPr>
          <p:cNvPr id="9" name="矩形 8">
            <a:extLst>
              <a:ext uri="{FF2B5EF4-FFF2-40B4-BE49-F238E27FC236}">
                <a16:creationId xmlns:a16="http://schemas.microsoft.com/office/drawing/2014/main" id="{75D7E3EA-D278-4F6C-BD79-3C11023489EF}"/>
              </a:ext>
            </a:extLst>
          </p:cNvPr>
          <p:cNvSpPr/>
          <p:nvPr/>
        </p:nvSpPr>
        <p:spPr>
          <a:xfrm>
            <a:off x="1126627" y="1301819"/>
            <a:ext cx="986167" cy="400110"/>
          </a:xfrm>
          <a:prstGeom prst="rect">
            <a:avLst/>
          </a:prstGeom>
        </p:spPr>
        <p:txBody>
          <a:bodyPr wrap="none">
            <a:spAutoFit/>
          </a:bodyPr>
          <a:lstStyle/>
          <a:p>
            <a:pPr marL="285750" indent="-285750">
              <a:buClr>
                <a:schemeClr val="tx1"/>
              </a:buClr>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利润</a:t>
            </a:r>
          </a:p>
        </p:txBody>
      </p:sp>
      <p:sp>
        <p:nvSpPr>
          <p:cNvPr id="10" name="矩形 9">
            <a:extLst>
              <a:ext uri="{FF2B5EF4-FFF2-40B4-BE49-F238E27FC236}">
                <a16:creationId xmlns:a16="http://schemas.microsoft.com/office/drawing/2014/main" id="{3BFDC112-E9E1-4689-B443-F332A70910DC}"/>
              </a:ext>
            </a:extLst>
          </p:cNvPr>
          <p:cNvSpPr/>
          <p:nvPr/>
        </p:nvSpPr>
        <p:spPr>
          <a:xfrm>
            <a:off x="1187624" y="1835532"/>
            <a:ext cx="2728632" cy="369332"/>
          </a:xfrm>
          <a:prstGeom prst="rect">
            <a:avLst/>
          </a:prstGeom>
        </p:spPr>
        <p:txBody>
          <a:bodyPr wrap="non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利润=总收益 - 总成本</a:t>
            </a:r>
          </a:p>
        </p:txBody>
      </p:sp>
      <p:sp>
        <p:nvSpPr>
          <p:cNvPr id="11" name="矩形 10">
            <a:extLst>
              <a:ext uri="{FF2B5EF4-FFF2-40B4-BE49-F238E27FC236}">
                <a16:creationId xmlns:a16="http://schemas.microsoft.com/office/drawing/2014/main" id="{40CAA6AA-1A4A-47BD-8EE8-DE6CED7F7D3E}"/>
              </a:ext>
            </a:extLst>
          </p:cNvPr>
          <p:cNvSpPr/>
          <p:nvPr/>
        </p:nvSpPr>
        <p:spPr>
          <a:xfrm>
            <a:off x="4503464" y="2564904"/>
            <a:ext cx="4176464" cy="584775"/>
          </a:xfrm>
          <a:prstGeom prst="rect">
            <a:avLst/>
          </a:prstGeom>
        </p:spPr>
        <p:txBody>
          <a:bodyPr wrap="square">
            <a:spAutoFit/>
          </a:bodyPr>
          <a:lstStyle/>
          <a:p>
            <a:pPr marL="285750" indent="-285750">
              <a:buClr>
                <a:schemeClr val="tx1"/>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企业的利润等于销售产品的总收益与生产商品的总成本两者之间的差额。</a:t>
            </a:r>
          </a:p>
        </p:txBody>
      </p:sp>
      <p:sp>
        <p:nvSpPr>
          <p:cNvPr id="12" name="矩形 11">
            <a:extLst>
              <a:ext uri="{FF2B5EF4-FFF2-40B4-BE49-F238E27FC236}">
                <a16:creationId xmlns:a16="http://schemas.microsoft.com/office/drawing/2014/main" id="{78AC12BA-557C-4F9C-9C1E-0A3ADBBD227E}"/>
              </a:ext>
            </a:extLst>
          </p:cNvPr>
          <p:cNvSpPr/>
          <p:nvPr/>
        </p:nvSpPr>
        <p:spPr>
          <a:xfrm>
            <a:off x="4503463" y="3576865"/>
            <a:ext cx="4514253" cy="584775"/>
          </a:xfrm>
          <a:prstGeom prst="rect">
            <a:avLst/>
          </a:prstGeom>
        </p:spPr>
        <p:txBody>
          <a:bodyPr wrap="square">
            <a:spAutoFit/>
          </a:bodyPr>
          <a:lstStyle/>
          <a:p>
            <a:pPr marL="285750" indent="-285750">
              <a:buClr>
                <a:schemeClr val="tx1"/>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总收益</a:t>
            </a:r>
            <a:r>
              <a:rPr lang="en-US" altLang="zh-CN" sz="1600" dirty="0">
                <a:latin typeface="微软雅黑" panose="020B0503020204020204" pitchFamily="34" charset="-122"/>
                <a:ea typeface="微软雅黑" panose="020B0503020204020204" pitchFamily="34" charset="-122"/>
              </a:rPr>
              <a:t>TR</a:t>
            </a:r>
            <a:r>
              <a:rPr lang="zh-CN" altLang="en-US" sz="1600" dirty="0">
                <a:latin typeface="微软雅黑" panose="020B0503020204020204" pitchFamily="34" charset="-122"/>
                <a:ea typeface="微软雅黑" panose="020B0503020204020204" pitchFamily="34" charset="-122"/>
              </a:rPr>
              <a:t>，是企业的销售收入，等于销售产品的价格与销售数量的乘积，即</a:t>
            </a:r>
            <a:r>
              <a:rPr lang="en-US" altLang="zh-CN" sz="1600" dirty="0">
                <a:latin typeface="微软雅黑" panose="020B0503020204020204" pitchFamily="34" charset="-122"/>
                <a:ea typeface="微软雅黑" panose="020B0503020204020204" pitchFamily="34" charset="-122"/>
              </a:rPr>
              <a:t>TR=P*Q</a:t>
            </a:r>
            <a:endParaRPr lang="zh-CN" altLang="en-US" sz="1600" dirty="0">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a16="http://schemas.microsoft.com/office/drawing/2014/main" id="{21B67E48-AF12-458D-A936-6F71DFF79040}"/>
              </a:ext>
            </a:extLst>
          </p:cNvPr>
          <p:cNvSpPr/>
          <p:nvPr/>
        </p:nvSpPr>
        <p:spPr>
          <a:xfrm>
            <a:off x="4503464" y="4595440"/>
            <a:ext cx="4389016" cy="584775"/>
          </a:xfrm>
          <a:prstGeom prst="rect">
            <a:avLst/>
          </a:prstGeom>
        </p:spPr>
        <p:txBody>
          <a:bodyPr wrap="square">
            <a:spAutoFit/>
          </a:bodyPr>
          <a:lstStyle/>
          <a:p>
            <a:pPr marL="285750" indent="-285750">
              <a:buClr>
                <a:schemeClr val="tx1"/>
              </a:buClr>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总成本</a:t>
            </a:r>
            <a:r>
              <a:rPr lang="en-US" altLang="zh-CN" sz="1600" dirty="0">
                <a:latin typeface="微软雅黑" panose="020B0503020204020204" pitchFamily="34" charset="-122"/>
                <a:ea typeface="微软雅黑" panose="020B0503020204020204" pitchFamily="34" charset="-122"/>
              </a:rPr>
              <a:t>TC</a:t>
            </a:r>
            <a:r>
              <a:rPr lang="zh-CN" altLang="en-US" sz="1600" dirty="0">
                <a:latin typeface="微软雅黑" panose="020B0503020204020204" pitchFamily="34" charset="-122"/>
                <a:ea typeface="微软雅黑" panose="020B0503020204020204" pitchFamily="34" charset="-122"/>
              </a:rPr>
              <a:t>，是企业生产过程中的各种有形与无形支出，它们都取决于企业的产出数量。</a:t>
            </a:r>
          </a:p>
        </p:txBody>
      </p:sp>
      <p:pic>
        <p:nvPicPr>
          <p:cNvPr id="24" name="图片 23">
            <a:extLst>
              <a:ext uri="{FF2B5EF4-FFF2-40B4-BE49-F238E27FC236}">
                <a16:creationId xmlns:a16="http://schemas.microsoft.com/office/drawing/2014/main" id="{03050788-94E8-431C-B2C6-E95FC43DB5E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13312" y="2477598"/>
            <a:ext cx="3156083" cy="3368083"/>
          </a:xfrm>
          <a:prstGeom prst="rect">
            <a:avLst/>
          </a:prstGeom>
        </p:spPr>
      </p:pic>
      <p:sp>
        <p:nvSpPr>
          <p:cNvPr id="4" name="标注: 线形 3">
            <a:extLst>
              <a:ext uri="{FF2B5EF4-FFF2-40B4-BE49-F238E27FC236}">
                <a16:creationId xmlns:a16="http://schemas.microsoft.com/office/drawing/2014/main" id="{5A6CC241-978B-46A4-A151-BB374182EA4A}"/>
              </a:ext>
            </a:extLst>
          </p:cNvPr>
          <p:cNvSpPr/>
          <p:nvPr/>
        </p:nvSpPr>
        <p:spPr bwMode="auto">
          <a:xfrm>
            <a:off x="7741067" y="5295456"/>
            <a:ext cx="1152128" cy="1512749"/>
          </a:xfrm>
          <a:prstGeom prst="borderCallout1">
            <a:avLst>
              <a:gd name="adj1" fmla="val 40767"/>
              <a:gd name="adj2" fmla="val -7677"/>
              <a:gd name="adj3" fmla="val -1844"/>
              <a:gd name="adj4" fmla="val -7832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无论是总收益还是总成本，都与产量有关。</a:t>
            </a:r>
          </a:p>
        </p:txBody>
      </p:sp>
      <p:sp>
        <p:nvSpPr>
          <p:cNvPr id="5" name="标注: 线形(带边框和强调线) 4">
            <a:extLst>
              <a:ext uri="{FF2B5EF4-FFF2-40B4-BE49-F238E27FC236}">
                <a16:creationId xmlns:a16="http://schemas.microsoft.com/office/drawing/2014/main" id="{F99CFFEF-0029-44C8-A8C0-199667700573}"/>
              </a:ext>
            </a:extLst>
          </p:cNvPr>
          <p:cNvSpPr/>
          <p:nvPr/>
        </p:nvSpPr>
        <p:spPr bwMode="auto">
          <a:xfrm>
            <a:off x="7687142" y="1268234"/>
            <a:ext cx="1368152" cy="1174815"/>
          </a:xfrm>
          <a:prstGeom prst="accentBorderCallout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价格取决于市场需求。假设产量与销售量一致。</a:t>
            </a:r>
          </a:p>
        </p:txBody>
      </p:sp>
    </p:spTree>
    <p:extLst>
      <p:ext uri="{BB962C8B-B14F-4D97-AF65-F5344CB8AC3E}">
        <p14:creationId xmlns:p14="http://schemas.microsoft.com/office/powerpoint/2010/main" val="277826090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p:cTn id="12" dur="500" fill="hold"/>
                                        <p:tgtEl>
                                          <p:spTgt spid="24"/>
                                        </p:tgtEl>
                                        <p:attrNameLst>
                                          <p:attrName>ppt_w</p:attrName>
                                        </p:attrNameLst>
                                      </p:cBhvr>
                                      <p:tavLst>
                                        <p:tav tm="0">
                                          <p:val>
                                            <p:fltVal val="0"/>
                                          </p:val>
                                        </p:tav>
                                        <p:tav tm="100000">
                                          <p:val>
                                            <p:strVal val="#ppt_w"/>
                                          </p:val>
                                        </p:tav>
                                      </p:tavLst>
                                    </p:anim>
                                    <p:anim calcmode="lin" valueType="num">
                                      <p:cBhvr>
                                        <p:cTn id="13" dur="500" fill="hold"/>
                                        <p:tgtEl>
                                          <p:spTgt spid="24"/>
                                        </p:tgtEl>
                                        <p:attrNameLst>
                                          <p:attrName>ppt_h</p:attrName>
                                        </p:attrNameLst>
                                      </p:cBhvr>
                                      <p:tavLst>
                                        <p:tav tm="0">
                                          <p:val>
                                            <p:fltVal val="0"/>
                                          </p:val>
                                        </p:tav>
                                        <p:tav tm="100000">
                                          <p:val>
                                            <p:strVal val="#ppt_h"/>
                                          </p:val>
                                        </p:tav>
                                      </p:tavLst>
                                    </p:anim>
                                    <p:animEffect transition="in" filter="fade">
                                      <p:cBhvr>
                                        <p:cTn id="14" dur="500"/>
                                        <p:tgtEl>
                                          <p:spTgt spid="24"/>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down)">
                                      <p:cBhvr>
                                        <p:cTn id="19" dur="500"/>
                                        <p:tgtEl>
                                          <p:spTgt spid="14"/>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barn(inVertical)">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2">
                                            <p:txEl>
                                              <p:pRg st="0" end="0"/>
                                            </p:txEl>
                                          </p:spTgt>
                                        </p:tgtEl>
                                        <p:attrNameLst>
                                          <p:attrName>style.visibility</p:attrName>
                                        </p:attrNameLst>
                                      </p:cBhvr>
                                      <p:to>
                                        <p:strVal val="visible"/>
                                      </p:to>
                                    </p:set>
                                    <p:animEffect transition="in" filter="barn(inVertical)">
                                      <p:cBhvr>
                                        <p:cTn id="37" dur="500"/>
                                        <p:tgtEl>
                                          <p:spTgt spid="12">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 grpId="0" animBg="1"/>
      <p:bldP spid="9" grpId="0"/>
      <p:bldP spid="10" grpId="0"/>
      <p:bldP spid="11"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a:extLst>
              <a:ext uri="{FF2B5EF4-FFF2-40B4-BE49-F238E27FC236}">
                <a16:creationId xmlns:a16="http://schemas.microsoft.com/office/drawing/2014/main" id="{107EF654-AED5-4B84-996D-FF0D451F1686}"/>
              </a:ext>
            </a:extLst>
          </p:cNvPr>
          <p:cNvSpPr/>
          <p:nvPr/>
        </p:nvSpPr>
        <p:spPr>
          <a:xfrm>
            <a:off x="4392444" y="3905232"/>
            <a:ext cx="3492944" cy="427953"/>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a16="http://schemas.microsoft.com/office/drawing/2014/main" id="{CEFFBB97-066C-4FD3-A4DD-C13F03E92EC9}"/>
              </a:ext>
            </a:extLst>
          </p:cNvPr>
          <p:cNvSpPr/>
          <p:nvPr/>
        </p:nvSpPr>
        <p:spPr>
          <a:xfrm>
            <a:off x="4392444" y="1169368"/>
            <a:ext cx="1906067" cy="38212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B6EDFCC9-D443-483F-ADA7-873147C13B03}"/>
              </a:ext>
            </a:extLst>
          </p:cNvPr>
          <p:cNvSpPr/>
          <p:nvPr/>
        </p:nvSpPr>
        <p:spPr>
          <a:xfrm>
            <a:off x="4466133" y="1178825"/>
            <a:ext cx="1755609" cy="400110"/>
          </a:xfrm>
          <a:prstGeom prst="rect">
            <a:avLst/>
          </a:prstGeom>
        </p:spPr>
        <p:txBody>
          <a:bodyPr wrap="none">
            <a:spAutoFit/>
          </a:bodyPr>
          <a:lstStyle/>
          <a:p>
            <a:pPr marL="285750" indent="-28575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利润最大化</a:t>
            </a:r>
          </a:p>
        </p:txBody>
      </p:sp>
      <p:sp>
        <p:nvSpPr>
          <p:cNvPr id="3" name="矩形 2">
            <a:extLst>
              <a:ext uri="{FF2B5EF4-FFF2-40B4-BE49-F238E27FC236}">
                <a16:creationId xmlns:a16="http://schemas.microsoft.com/office/drawing/2014/main" id="{AE4EF3C3-91A8-4B7F-94FE-6B787C26979E}"/>
              </a:ext>
            </a:extLst>
          </p:cNvPr>
          <p:cNvSpPr/>
          <p:nvPr/>
        </p:nvSpPr>
        <p:spPr>
          <a:xfrm>
            <a:off x="4572000" y="1628800"/>
            <a:ext cx="3419255" cy="523220"/>
          </a:xfrm>
          <a:prstGeom prst="rect">
            <a:avLst/>
          </a:prstGeom>
        </p:spPr>
        <p:txBody>
          <a:bodyPr wrap="square">
            <a:spAutoFit/>
          </a:bodyPr>
          <a:lstStyle/>
          <a:p>
            <a:pPr marL="285750" indent="-285750">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经济学中将企业的生产和经营目标确定为利润最大化。</a:t>
            </a:r>
          </a:p>
        </p:txBody>
      </p:sp>
      <p:sp>
        <p:nvSpPr>
          <p:cNvPr id="4" name="矩形 3">
            <a:extLst>
              <a:ext uri="{FF2B5EF4-FFF2-40B4-BE49-F238E27FC236}">
                <a16:creationId xmlns:a16="http://schemas.microsoft.com/office/drawing/2014/main" id="{F648C16D-7ADE-4135-86D6-D143A5BB1A33}"/>
              </a:ext>
            </a:extLst>
          </p:cNvPr>
          <p:cNvSpPr/>
          <p:nvPr/>
        </p:nvSpPr>
        <p:spPr>
          <a:xfrm>
            <a:off x="4572000" y="2430696"/>
            <a:ext cx="4032448" cy="369332"/>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利润最大化是企业的长期目标趋向</a:t>
            </a:r>
          </a:p>
        </p:txBody>
      </p:sp>
      <p:sp>
        <p:nvSpPr>
          <p:cNvPr id="6" name="矩形 5">
            <a:extLst>
              <a:ext uri="{FF2B5EF4-FFF2-40B4-BE49-F238E27FC236}">
                <a16:creationId xmlns:a16="http://schemas.microsoft.com/office/drawing/2014/main" id="{E7656180-0F74-43CB-AA7C-09D3E718D101}"/>
              </a:ext>
            </a:extLst>
          </p:cNvPr>
          <p:cNvSpPr/>
          <p:nvPr/>
        </p:nvSpPr>
        <p:spPr>
          <a:xfrm>
            <a:off x="4572000" y="3167964"/>
            <a:ext cx="4392488" cy="369332"/>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利润最大化是企业的意愿和决策原则</a:t>
            </a:r>
          </a:p>
        </p:txBody>
      </p:sp>
      <p:sp>
        <p:nvSpPr>
          <p:cNvPr id="7" name="矩形 6">
            <a:extLst>
              <a:ext uri="{FF2B5EF4-FFF2-40B4-BE49-F238E27FC236}">
                <a16:creationId xmlns:a16="http://schemas.microsoft.com/office/drawing/2014/main" id="{EFF24C3B-CCB0-4230-BA19-C892CD7F0D11}"/>
              </a:ext>
            </a:extLst>
          </p:cNvPr>
          <p:cNvSpPr/>
          <p:nvPr/>
        </p:nvSpPr>
        <p:spPr>
          <a:xfrm>
            <a:off x="4466133" y="3933075"/>
            <a:ext cx="3419255" cy="400110"/>
          </a:xfrm>
          <a:prstGeom prst="rect">
            <a:avLst/>
          </a:prstGeom>
        </p:spPr>
        <p:txBody>
          <a:bodyPr wrap="square">
            <a:spAutoFit/>
          </a:bodyPr>
          <a:lstStyle/>
          <a:p>
            <a:pPr marL="342900" indent="-34290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对利润最大化假定的批评</a:t>
            </a:r>
          </a:p>
        </p:txBody>
      </p:sp>
      <p:sp>
        <p:nvSpPr>
          <p:cNvPr id="8" name="矩形 7">
            <a:extLst>
              <a:ext uri="{FF2B5EF4-FFF2-40B4-BE49-F238E27FC236}">
                <a16:creationId xmlns:a16="http://schemas.microsoft.com/office/drawing/2014/main" id="{B842A24A-5967-4A21-8943-86511792CC57}"/>
              </a:ext>
            </a:extLst>
          </p:cNvPr>
          <p:cNvSpPr/>
          <p:nvPr/>
        </p:nvSpPr>
        <p:spPr>
          <a:xfrm>
            <a:off x="4608029" y="4575980"/>
            <a:ext cx="2569152" cy="369332"/>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令人满意的利润</a:t>
            </a:r>
          </a:p>
        </p:txBody>
      </p:sp>
      <p:sp>
        <p:nvSpPr>
          <p:cNvPr id="9" name="矩形 8">
            <a:extLst>
              <a:ext uri="{FF2B5EF4-FFF2-40B4-BE49-F238E27FC236}">
                <a16:creationId xmlns:a16="http://schemas.microsoft.com/office/drawing/2014/main" id="{8302B12F-DCA8-424D-9A99-80D0282D0305}"/>
              </a:ext>
            </a:extLst>
          </p:cNvPr>
          <p:cNvSpPr/>
          <p:nvPr/>
        </p:nvSpPr>
        <p:spPr>
          <a:xfrm>
            <a:off x="4608028" y="4976041"/>
            <a:ext cx="4140435" cy="523220"/>
          </a:xfrm>
          <a:prstGeom prst="rect">
            <a:avLst/>
          </a:prstGeom>
        </p:spPr>
        <p:txBody>
          <a:bodyPr wrap="square">
            <a:spAutoFit/>
          </a:bodyPr>
          <a:lstStyle/>
          <a:p>
            <a:pPr marL="285750" indent="-285750">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由于种种原因企业难以实现利润最大化，只能实现令人满意的利润。</a:t>
            </a:r>
          </a:p>
        </p:txBody>
      </p:sp>
      <p:sp>
        <p:nvSpPr>
          <p:cNvPr id="10" name="矩形 9">
            <a:extLst>
              <a:ext uri="{FF2B5EF4-FFF2-40B4-BE49-F238E27FC236}">
                <a16:creationId xmlns:a16="http://schemas.microsoft.com/office/drawing/2014/main" id="{215FC8CF-1A53-419D-9FE4-57D626F6127F}"/>
              </a:ext>
            </a:extLst>
          </p:cNvPr>
          <p:cNvSpPr/>
          <p:nvPr/>
        </p:nvSpPr>
        <p:spPr>
          <a:xfrm>
            <a:off x="4608029" y="5677586"/>
            <a:ext cx="1755608" cy="369332"/>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其他目标</a:t>
            </a:r>
          </a:p>
        </p:txBody>
      </p:sp>
      <p:pic>
        <p:nvPicPr>
          <p:cNvPr id="12" name="图片 11">
            <a:extLst>
              <a:ext uri="{FF2B5EF4-FFF2-40B4-BE49-F238E27FC236}">
                <a16:creationId xmlns:a16="http://schemas.microsoft.com/office/drawing/2014/main" id="{87197949-7241-4796-A7BA-7F063DD6E1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5101" y="1330368"/>
            <a:ext cx="4811424" cy="5149728"/>
          </a:xfrm>
          <a:prstGeom prst="rect">
            <a:avLst/>
          </a:prstGeom>
        </p:spPr>
      </p:pic>
      <p:sp>
        <p:nvSpPr>
          <p:cNvPr id="13" name="矩形 12">
            <a:extLst>
              <a:ext uri="{FF2B5EF4-FFF2-40B4-BE49-F238E27FC236}">
                <a16:creationId xmlns:a16="http://schemas.microsoft.com/office/drawing/2014/main" id="{B2A211F3-3133-45BF-8C4B-17D3589B39C8}"/>
              </a:ext>
            </a:extLst>
          </p:cNvPr>
          <p:cNvSpPr/>
          <p:nvPr/>
        </p:nvSpPr>
        <p:spPr>
          <a:xfrm>
            <a:off x="7541031" y="33210"/>
            <a:ext cx="147668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第一节  企业</a:t>
            </a:r>
          </a:p>
        </p:txBody>
      </p:sp>
      <p:sp>
        <p:nvSpPr>
          <p:cNvPr id="14" name="矩形 13">
            <a:extLst>
              <a:ext uri="{FF2B5EF4-FFF2-40B4-BE49-F238E27FC236}">
                <a16:creationId xmlns:a16="http://schemas.microsoft.com/office/drawing/2014/main" id="{CB58793E-A357-4786-8805-023D7077FCFD}"/>
              </a:ext>
            </a:extLst>
          </p:cNvPr>
          <p:cNvSpPr/>
          <p:nvPr/>
        </p:nvSpPr>
        <p:spPr>
          <a:xfrm>
            <a:off x="580922" y="520573"/>
            <a:ext cx="392254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二、</a:t>
            </a:r>
            <a:r>
              <a:rPr lang="zh-CN" altLang="en-US" sz="2400" b="1" dirty="0">
                <a:solidFill>
                  <a:schemeClr val="bg1"/>
                </a:solidFill>
                <a:latin typeface="微软雅黑" panose="020B0503020204020204" pitchFamily="34" charset="-122"/>
                <a:ea typeface="微软雅黑" panose="020B0503020204020204" pitchFamily="34" charset="-122"/>
              </a:rPr>
              <a:t>企业的利润最大化目标</a:t>
            </a:r>
            <a:endParaRPr lang="zh-CN" altLang="en-US" sz="2400" b="1" spc="150" dirty="0">
              <a:solidFill>
                <a:schemeClr val="bg1"/>
              </a:solidFill>
              <a:latin typeface="微软雅黑" panose="020B0503020204020204" pitchFamily="34" charset="-122"/>
              <a:ea typeface="微软雅黑" panose="020B0503020204020204" pitchFamily="34" charset="-122"/>
            </a:endParaRPr>
          </a:p>
        </p:txBody>
      </p:sp>
      <p:sp>
        <p:nvSpPr>
          <p:cNvPr id="17" name="矩形 16">
            <a:extLst>
              <a:ext uri="{FF2B5EF4-FFF2-40B4-BE49-F238E27FC236}">
                <a16:creationId xmlns:a16="http://schemas.microsoft.com/office/drawing/2014/main" id="{7D28ABA7-74D3-4C49-A87C-9D889EE1B499}"/>
              </a:ext>
            </a:extLst>
          </p:cNvPr>
          <p:cNvSpPr/>
          <p:nvPr/>
        </p:nvSpPr>
        <p:spPr bwMode="auto">
          <a:xfrm>
            <a:off x="2411760" y="2935814"/>
            <a:ext cx="1656184" cy="3111103"/>
          </a:xfrm>
          <a:prstGeom prst="rect">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en-US" altLang="zh-CN" dirty="0"/>
              <a:t>1.</a:t>
            </a:r>
            <a:r>
              <a:rPr lang="zh-CN" altLang="en-US" dirty="0"/>
              <a:t>不确定性使得最优化决策很难得到保证。</a:t>
            </a:r>
            <a:endParaRPr lang="en-US" altLang="zh-CN" dirty="0"/>
          </a:p>
          <a:p>
            <a:r>
              <a:rPr lang="en-US" altLang="zh-CN" dirty="0"/>
              <a:t>2.</a:t>
            </a:r>
            <a:r>
              <a:rPr lang="zh-CN" altLang="en-US" dirty="0"/>
              <a:t>短期的利润最大化有可能危及未来的利润。</a:t>
            </a:r>
            <a:endParaRPr lang="en-US" altLang="zh-CN" dirty="0"/>
          </a:p>
          <a:p>
            <a:r>
              <a:rPr lang="en-US" altLang="zh-CN" dirty="0"/>
              <a:t>3.</a:t>
            </a:r>
            <a:r>
              <a:rPr lang="zh-CN" altLang="en-US" dirty="0"/>
              <a:t>经营权与所有权的分离导致委托代理问题。</a:t>
            </a: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19" name="直接箭头连接符 18">
            <a:extLst>
              <a:ext uri="{FF2B5EF4-FFF2-40B4-BE49-F238E27FC236}">
                <a16:creationId xmlns:a16="http://schemas.microsoft.com/office/drawing/2014/main" id="{2A46B198-0548-47C0-9648-FB67BC7AC179}"/>
              </a:ext>
            </a:extLst>
          </p:cNvPr>
          <p:cNvCxnSpPr>
            <a:cxnSpLocks/>
            <a:stCxn id="17" idx="3"/>
          </p:cNvCxnSpPr>
          <p:nvPr/>
        </p:nvCxnSpPr>
        <p:spPr bwMode="auto">
          <a:xfrm>
            <a:off x="4067944" y="4491366"/>
            <a:ext cx="504056" cy="84614"/>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409996526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fade">
                                      <p:cBhvr>
                                        <p:cTn id="24" dur="1000"/>
                                        <p:tgtEl>
                                          <p:spTgt spid="2"/>
                                        </p:tgtEl>
                                      </p:cBhvr>
                                    </p:animEffect>
                                    <p:anim calcmode="lin" valueType="num">
                                      <p:cBhvr>
                                        <p:cTn id="25" dur="1000" fill="hold"/>
                                        <p:tgtEl>
                                          <p:spTgt spid="2"/>
                                        </p:tgtEl>
                                        <p:attrNameLst>
                                          <p:attrName>ppt_x</p:attrName>
                                        </p:attrNameLst>
                                      </p:cBhvr>
                                      <p:tavLst>
                                        <p:tav tm="0">
                                          <p:val>
                                            <p:strVal val="#ppt_x"/>
                                          </p:val>
                                        </p:tav>
                                        <p:tav tm="100000">
                                          <p:val>
                                            <p:strVal val="#ppt_x"/>
                                          </p:val>
                                        </p:tav>
                                      </p:tavLst>
                                    </p:anim>
                                    <p:anim calcmode="lin" valueType="num">
                                      <p:cBhvr>
                                        <p:cTn id="2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1000"/>
                                        <p:tgtEl>
                                          <p:spTgt spid="3"/>
                                        </p:tgtEl>
                                      </p:cBhvr>
                                    </p:animEffect>
                                    <p:anim calcmode="lin" valueType="num">
                                      <p:cBhvr>
                                        <p:cTn id="32" dur="1000" fill="hold"/>
                                        <p:tgtEl>
                                          <p:spTgt spid="3"/>
                                        </p:tgtEl>
                                        <p:attrNameLst>
                                          <p:attrName>ppt_x</p:attrName>
                                        </p:attrNameLst>
                                      </p:cBhvr>
                                      <p:tavLst>
                                        <p:tav tm="0">
                                          <p:val>
                                            <p:strVal val="#ppt_x"/>
                                          </p:val>
                                        </p:tav>
                                        <p:tav tm="100000">
                                          <p:val>
                                            <p:strVal val="#ppt_x"/>
                                          </p:val>
                                        </p:tav>
                                      </p:tavLst>
                                    </p:anim>
                                    <p:anim calcmode="lin" valueType="num">
                                      <p:cBhvr>
                                        <p:cTn id="3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1000"/>
                                        <p:tgtEl>
                                          <p:spTgt spid="4"/>
                                        </p:tgtEl>
                                      </p:cBhvr>
                                    </p:animEffect>
                                    <p:anim calcmode="lin" valueType="num">
                                      <p:cBhvr>
                                        <p:cTn id="39" dur="1000" fill="hold"/>
                                        <p:tgtEl>
                                          <p:spTgt spid="4"/>
                                        </p:tgtEl>
                                        <p:attrNameLst>
                                          <p:attrName>ppt_x</p:attrName>
                                        </p:attrNameLst>
                                      </p:cBhvr>
                                      <p:tavLst>
                                        <p:tav tm="0">
                                          <p:val>
                                            <p:strVal val="#ppt_x"/>
                                          </p:val>
                                        </p:tav>
                                        <p:tav tm="100000">
                                          <p:val>
                                            <p:strVal val="#ppt_x"/>
                                          </p:val>
                                        </p:tav>
                                      </p:tavLst>
                                    </p:anim>
                                    <p:anim calcmode="lin" valueType="num">
                                      <p:cBhvr>
                                        <p:cTn id="4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fade">
                                      <p:cBhvr>
                                        <p:cTn id="45" dur="1000"/>
                                        <p:tgtEl>
                                          <p:spTgt spid="6"/>
                                        </p:tgtEl>
                                      </p:cBhvr>
                                    </p:animEffect>
                                    <p:anim calcmode="lin" valueType="num">
                                      <p:cBhvr>
                                        <p:cTn id="46" dur="1000" fill="hold"/>
                                        <p:tgtEl>
                                          <p:spTgt spid="6"/>
                                        </p:tgtEl>
                                        <p:attrNameLst>
                                          <p:attrName>ppt_x</p:attrName>
                                        </p:attrNameLst>
                                      </p:cBhvr>
                                      <p:tavLst>
                                        <p:tav tm="0">
                                          <p:val>
                                            <p:strVal val="#ppt_x"/>
                                          </p:val>
                                        </p:tav>
                                        <p:tav tm="100000">
                                          <p:val>
                                            <p:strVal val="#ppt_x"/>
                                          </p:val>
                                        </p:tav>
                                      </p:tavLst>
                                    </p:anim>
                                    <p:anim calcmode="lin" valueType="num">
                                      <p:cBhvr>
                                        <p:cTn id="47"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1000"/>
                                        <p:tgtEl>
                                          <p:spTgt spid="16"/>
                                        </p:tgtEl>
                                      </p:cBhvr>
                                    </p:animEffect>
                                    <p:anim calcmode="lin" valueType="num">
                                      <p:cBhvr>
                                        <p:cTn id="53" dur="1000" fill="hold"/>
                                        <p:tgtEl>
                                          <p:spTgt spid="16"/>
                                        </p:tgtEl>
                                        <p:attrNameLst>
                                          <p:attrName>ppt_x</p:attrName>
                                        </p:attrNameLst>
                                      </p:cBhvr>
                                      <p:tavLst>
                                        <p:tav tm="0">
                                          <p:val>
                                            <p:strVal val="#ppt_x"/>
                                          </p:val>
                                        </p:tav>
                                        <p:tav tm="100000">
                                          <p:val>
                                            <p:strVal val="#ppt_x"/>
                                          </p:val>
                                        </p:tav>
                                      </p:tavLst>
                                    </p:anim>
                                    <p:anim calcmode="lin" valueType="num">
                                      <p:cBhvr>
                                        <p:cTn id="54" dur="1000" fill="hold"/>
                                        <p:tgtEl>
                                          <p:spTgt spid="16"/>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fade">
                                      <p:cBhvr>
                                        <p:cTn id="57" dur="1000"/>
                                        <p:tgtEl>
                                          <p:spTgt spid="7"/>
                                        </p:tgtEl>
                                      </p:cBhvr>
                                    </p:animEffect>
                                    <p:anim calcmode="lin" valueType="num">
                                      <p:cBhvr>
                                        <p:cTn id="58" dur="1000" fill="hold"/>
                                        <p:tgtEl>
                                          <p:spTgt spid="7"/>
                                        </p:tgtEl>
                                        <p:attrNameLst>
                                          <p:attrName>ppt_x</p:attrName>
                                        </p:attrNameLst>
                                      </p:cBhvr>
                                      <p:tavLst>
                                        <p:tav tm="0">
                                          <p:val>
                                            <p:strVal val="#ppt_x"/>
                                          </p:val>
                                        </p:tav>
                                        <p:tav tm="100000">
                                          <p:val>
                                            <p:strVal val="#ppt_x"/>
                                          </p:val>
                                        </p:tav>
                                      </p:tavLst>
                                    </p:anim>
                                    <p:anim calcmode="lin" valueType="num">
                                      <p:cBhvr>
                                        <p:cTn id="5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8">
                                            <p:txEl>
                                              <p:pRg st="0" end="0"/>
                                            </p:txEl>
                                          </p:spTgt>
                                        </p:tgtEl>
                                        <p:attrNameLst>
                                          <p:attrName>style.visibility</p:attrName>
                                        </p:attrNameLst>
                                      </p:cBhvr>
                                      <p:to>
                                        <p:strVal val="visible"/>
                                      </p:to>
                                    </p:set>
                                    <p:animEffect transition="in" filter="fade">
                                      <p:cBhvr>
                                        <p:cTn id="64" dur="1000"/>
                                        <p:tgtEl>
                                          <p:spTgt spid="8">
                                            <p:txEl>
                                              <p:pRg st="0" end="0"/>
                                            </p:txEl>
                                          </p:spTgt>
                                        </p:tgtEl>
                                      </p:cBhvr>
                                    </p:animEffect>
                                    <p:anim calcmode="lin" valueType="num">
                                      <p:cBhvr>
                                        <p:cTn id="6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66"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9"/>
                                        </p:tgtEl>
                                        <p:attrNameLst>
                                          <p:attrName>style.visibility</p:attrName>
                                        </p:attrNameLst>
                                      </p:cBhvr>
                                      <p:to>
                                        <p:strVal val="visible"/>
                                      </p:to>
                                    </p:set>
                                    <p:animEffect transition="in" filter="fade">
                                      <p:cBhvr>
                                        <p:cTn id="71" dur="1000"/>
                                        <p:tgtEl>
                                          <p:spTgt spid="9"/>
                                        </p:tgtEl>
                                      </p:cBhvr>
                                    </p:animEffect>
                                    <p:anim calcmode="lin" valueType="num">
                                      <p:cBhvr>
                                        <p:cTn id="72" dur="1000" fill="hold"/>
                                        <p:tgtEl>
                                          <p:spTgt spid="9"/>
                                        </p:tgtEl>
                                        <p:attrNameLst>
                                          <p:attrName>ppt_x</p:attrName>
                                        </p:attrNameLst>
                                      </p:cBhvr>
                                      <p:tavLst>
                                        <p:tav tm="0">
                                          <p:val>
                                            <p:strVal val="#ppt_x"/>
                                          </p:val>
                                        </p:tav>
                                        <p:tav tm="100000">
                                          <p:val>
                                            <p:strVal val="#ppt_x"/>
                                          </p:val>
                                        </p:tav>
                                      </p:tavLst>
                                    </p:anim>
                                    <p:anim calcmode="lin" valueType="num">
                                      <p:cBhvr>
                                        <p:cTn id="7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nodeType="clickEffect">
                                  <p:stCondLst>
                                    <p:cond delay="0"/>
                                  </p:stCondLst>
                                  <p:childTnLst>
                                    <p:set>
                                      <p:cBhvr>
                                        <p:cTn id="77" dur="1" fill="hold">
                                          <p:stCondLst>
                                            <p:cond delay="0"/>
                                          </p:stCondLst>
                                        </p:cTn>
                                        <p:tgtEl>
                                          <p:spTgt spid="10">
                                            <p:txEl>
                                              <p:pRg st="0" end="0"/>
                                            </p:txEl>
                                          </p:spTgt>
                                        </p:tgtEl>
                                        <p:attrNameLst>
                                          <p:attrName>style.visibility</p:attrName>
                                        </p:attrNameLst>
                                      </p:cBhvr>
                                      <p:to>
                                        <p:strVal val="visible"/>
                                      </p:to>
                                    </p:set>
                                    <p:animEffect transition="in" filter="fade">
                                      <p:cBhvr>
                                        <p:cTn id="78" dur="1000"/>
                                        <p:tgtEl>
                                          <p:spTgt spid="10">
                                            <p:txEl>
                                              <p:pRg st="0" end="0"/>
                                            </p:txEl>
                                          </p:spTgt>
                                        </p:tgtEl>
                                      </p:cBhvr>
                                    </p:animEffect>
                                    <p:anim calcmode="lin" valueType="num">
                                      <p:cBhvr>
                                        <p:cTn id="7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8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5" grpId="0" animBg="1"/>
      <p:bldP spid="2" grpId="0"/>
      <p:bldP spid="3" grpId="0"/>
      <p:bldP spid="4" grpId="0"/>
      <p:bldP spid="6" grpId="0"/>
      <p:bldP spid="7" grpId="0"/>
      <p:bldP spid="9" grpId="0"/>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72B0A13-A25B-4D09-9AA2-B1B2203FDCF0}"/>
              </a:ext>
            </a:extLst>
          </p:cNvPr>
          <p:cNvSpPr/>
          <p:nvPr/>
        </p:nvSpPr>
        <p:spPr>
          <a:xfrm>
            <a:off x="7541031" y="33210"/>
            <a:ext cx="147668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第一节  企业</a:t>
            </a:r>
          </a:p>
        </p:txBody>
      </p:sp>
      <p:sp>
        <p:nvSpPr>
          <p:cNvPr id="3" name="矩形 2">
            <a:extLst>
              <a:ext uri="{FF2B5EF4-FFF2-40B4-BE49-F238E27FC236}">
                <a16:creationId xmlns:a16="http://schemas.microsoft.com/office/drawing/2014/main" id="{63936462-53CD-4AD7-961C-60D9589EDEFB}"/>
              </a:ext>
            </a:extLst>
          </p:cNvPr>
          <p:cNvSpPr/>
          <p:nvPr/>
        </p:nvSpPr>
        <p:spPr>
          <a:xfrm>
            <a:off x="580922" y="520573"/>
            <a:ext cx="312698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三、企业的其他目标</a:t>
            </a:r>
          </a:p>
        </p:txBody>
      </p:sp>
      <p:sp>
        <p:nvSpPr>
          <p:cNvPr id="6" name="Freeform 8">
            <a:extLst>
              <a:ext uri="{FF2B5EF4-FFF2-40B4-BE49-F238E27FC236}">
                <a16:creationId xmlns:a16="http://schemas.microsoft.com/office/drawing/2014/main" id="{500D6A05-35D0-4B08-AF5B-150BA83C1846}"/>
              </a:ext>
            </a:extLst>
          </p:cNvPr>
          <p:cNvSpPr/>
          <p:nvPr/>
        </p:nvSpPr>
        <p:spPr bwMode="auto">
          <a:xfrm>
            <a:off x="3120061" y="2561461"/>
            <a:ext cx="1497685" cy="1732068"/>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85B2D2"/>
          </a:solidFill>
          <a:ln>
            <a:noFill/>
          </a:ln>
        </p:spPr>
        <p:txBody>
          <a:bodyPr vert="horz" wrap="square" lIns="68571" tIns="34285" rIns="68571" bIns="3428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7" name="Freeform 9">
            <a:extLst>
              <a:ext uri="{FF2B5EF4-FFF2-40B4-BE49-F238E27FC236}">
                <a16:creationId xmlns:a16="http://schemas.microsoft.com/office/drawing/2014/main" id="{ADCE1466-CDFE-4A37-8534-10C23182B343}"/>
              </a:ext>
            </a:extLst>
          </p:cNvPr>
          <p:cNvSpPr/>
          <p:nvPr/>
        </p:nvSpPr>
        <p:spPr bwMode="auto">
          <a:xfrm>
            <a:off x="4644008" y="2060848"/>
            <a:ext cx="1497685" cy="1732068"/>
          </a:xfrm>
          <a:custGeom>
            <a:avLst/>
            <a:gdLst>
              <a:gd name="T0" fmla="*/ 1130 w 2260"/>
              <a:gd name="T1" fmla="*/ 0 h 2610"/>
              <a:gd name="T2" fmla="*/ 1695 w 2260"/>
              <a:gd name="T3" fmla="*/ 326 h 2610"/>
              <a:gd name="T4" fmla="*/ 2260 w 2260"/>
              <a:gd name="T5" fmla="*/ 652 h 2610"/>
              <a:gd name="T6" fmla="*/ 2260 w 2260"/>
              <a:gd name="T7" fmla="*/ 1305 h 2610"/>
              <a:gd name="T8" fmla="*/ 2260 w 2260"/>
              <a:gd name="T9" fmla="*/ 1957 h 2610"/>
              <a:gd name="T10" fmla="*/ 1695 w 2260"/>
              <a:gd name="T11" fmla="*/ 2283 h 2610"/>
              <a:gd name="T12" fmla="*/ 1130 w 2260"/>
              <a:gd name="T13" fmla="*/ 2610 h 2610"/>
              <a:gd name="T14" fmla="*/ 565 w 2260"/>
              <a:gd name="T15" fmla="*/ 2283 h 2610"/>
              <a:gd name="T16" fmla="*/ 0 w 2260"/>
              <a:gd name="T17" fmla="*/ 1957 h 2610"/>
              <a:gd name="T18" fmla="*/ 0 w 2260"/>
              <a:gd name="T19" fmla="*/ 1305 h 2610"/>
              <a:gd name="T20" fmla="*/ 0 w 2260"/>
              <a:gd name="T21" fmla="*/ 652 h 2610"/>
              <a:gd name="T22" fmla="*/ 565 w 2260"/>
              <a:gd name="T23" fmla="*/ 326 h 2610"/>
              <a:gd name="T24" fmla="*/ 1130 w 2260"/>
              <a:gd name="T25" fmla="*/ 0 h 26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10">
                <a:moveTo>
                  <a:pt x="1130" y="0"/>
                </a:moveTo>
                <a:lnTo>
                  <a:pt x="1695" y="326"/>
                </a:lnTo>
                <a:lnTo>
                  <a:pt x="2260" y="652"/>
                </a:lnTo>
                <a:lnTo>
                  <a:pt x="2260" y="1305"/>
                </a:lnTo>
                <a:lnTo>
                  <a:pt x="2260" y="1957"/>
                </a:lnTo>
                <a:lnTo>
                  <a:pt x="1695" y="2283"/>
                </a:lnTo>
                <a:lnTo>
                  <a:pt x="1130" y="2610"/>
                </a:lnTo>
                <a:lnTo>
                  <a:pt x="565" y="2283"/>
                </a:lnTo>
                <a:lnTo>
                  <a:pt x="0" y="1957"/>
                </a:lnTo>
                <a:lnTo>
                  <a:pt x="0" y="1305"/>
                </a:lnTo>
                <a:lnTo>
                  <a:pt x="0" y="652"/>
                </a:lnTo>
                <a:lnTo>
                  <a:pt x="565" y="326"/>
                </a:lnTo>
                <a:lnTo>
                  <a:pt x="1130" y="0"/>
                </a:lnTo>
                <a:close/>
              </a:path>
            </a:pathLst>
          </a:custGeom>
          <a:solidFill>
            <a:srgbClr val="C3C9D7"/>
          </a:solidFill>
          <a:ln>
            <a:noFill/>
          </a:ln>
        </p:spPr>
        <p:txBody>
          <a:bodyPr vert="horz" wrap="square" lIns="68571" tIns="34285" rIns="68571" bIns="3428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8" name="Freeform 10">
            <a:extLst>
              <a:ext uri="{FF2B5EF4-FFF2-40B4-BE49-F238E27FC236}">
                <a16:creationId xmlns:a16="http://schemas.microsoft.com/office/drawing/2014/main" id="{10D925F6-B31C-437E-88F1-3AE5EE465A4C}"/>
              </a:ext>
            </a:extLst>
          </p:cNvPr>
          <p:cNvSpPr/>
          <p:nvPr/>
        </p:nvSpPr>
        <p:spPr bwMode="auto">
          <a:xfrm>
            <a:off x="4310412" y="3633146"/>
            <a:ext cx="1497685" cy="1732068"/>
          </a:xfrm>
          <a:custGeom>
            <a:avLst/>
            <a:gdLst>
              <a:gd name="T0" fmla="*/ 1130 w 2260"/>
              <a:gd name="T1" fmla="*/ 0 h 2609"/>
              <a:gd name="T2" fmla="*/ 1695 w 2260"/>
              <a:gd name="T3" fmla="*/ 326 h 2609"/>
              <a:gd name="T4" fmla="*/ 2260 w 2260"/>
              <a:gd name="T5" fmla="*/ 652 h 2609"/>
              <a:gd name="T6" fmla="*/ 2260 w 2260"/>
              <a:gd name="T7" fmla="*/ 1305 h 2609"/>
              <a:gd name="T8" fmla="*/ 2260 w 2260"/>
              <a:gd name="T9" fmla="*/ 1957 h 2609"/>
              <a:gd name="T10" fmla="*/ 1695 w 2260"/>
              <a:gd name="T11" fmla="*/ 2283 h 2609"/>
              <a:gd name="T12" fmla="*/ 1130 w 2260"/>
              <a:gd name="T13" fmla="*/ 2609 h 2609"/>
              <a:gd name="T14" fmla="*/ 565 w 2260"/>
              <a:gd name="T15" fmla="*/ 2283 h 2609"/>
              <a:gd name="T16" fmla="*/ 0 w 2260"/>
              <a:gd name="T17" fmla="*/ 1957 h 2609"/>
              <a:gd name="T18" fmla="*/ 0 w 2260"/>
              <a:gd name="T19" fmla="*/ 1305 h 2609"/>
              <a:gd name="T20" fmla="*/ 0 w 2260"/>
              <a:gd name="T21" fmla="*/ 652 h 2609"/>
              <a:gd name="T22" fmla="*/ 565 w 2260"/>
              <a:gd name="T23" fmla="*/ 326 h 2609"/>
              <a:gd name="T24" fmla="*/ 1130 w 2260"/>
              <a:gd name="T25" fmla="*/ 0 h 26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60" h="2609">
                <a:moveTo>
                  <a:pt x="1130" y="0"/>
                </a:moveTo>
                <a:lnTo>
                  <a:pt x="1695" y="326"/>
                </a:lnTo>
                <a:lnTo>
                  <a:pt x="2260" y="652"/>
                </a:lnTo>
                <a:lnTo>
                  <a:pt x="2260" y="1305"/>
                </a:lnTo>
                <a:lnTo>
                  <a:pt x="2260" y="1957"/>
                </a:lnTo>
                <a:lnTo>
                  <a:pt x="1695" y="2283"/>
                </a:lnTo>
                <a:lnTo>
                  <a:pt x="1130" y="2609"/>
                </a:lnTo>
                <a:lnTo>
                  <a:pt x="565" y="2283"/>
                </a:lnTo>
                <a:lnTo>
                  <a:pt x="0" y="1957"/>
                </a:lnTo>
                <a:lnTo>
                  <a:pt x="0" y="1305"/>
                </a:lnTo>
                <a:lnTo>
                  <a:pt x="0" y="652"/>
                </a:lnTo>
                <a:lnTo>
                  <a:pt x="565" y="326"/>
                </a:lnTo>
                <a:lnTo>
                  <a:pt x="1130" y="0"/>
                </a:lnTo>
                <a:close/>
              </a:path>
            </a:pathLst>
          </a:custGeom>
          <a:solidFill>
            <a:srgbClr val="E5AB71"/>
          </a:solidFill>
          <a:ln>
            <a:noFill/>
          </a:ln>
        </p:spPr>
        <p:txBody>
          <a:bodyPr vert="horz" wrap="square" lIns="68571" tIns="34285" rIns="68571" bIns="34285"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00" b="1" i="0" u="none" strike="noStrike" kern="0" cap="none" spc="0" normalizeH="0" baseline="0" noProof="0">
              <a:ln>
                <a:noFill/>
              </a:ln>
              <a:effectLst/>
              <a:uLnTx/>
              <a:uFillTx/>
              <a:latin typeface="微软雅黑" panose="020B0503020204020204" pitchFamily="34" charset="-122"/>
              <a:ea typeface="微软雅黑" panose="020B0503020204020204" pitchFamily="34" charset="-122"/>
            </a:endParaRPr>
          </a:p>
        </p:txBody>
      </p:sp>
      <p:sp>
        <p:nvSpPr>
          <p:cNvPr id="25" name="TextBox 62">
            <a:extLst>
              <a:ext uri="{FF2B5EF4-FFF2-40B4-BE49-F238E27FC236}">
                <a16:creationId xmlns:a16="http://schemas.microsoft.com/office/drawing/2014/main" id="{5BD2148A-E660-4AD6-A7CF-8D621F1A08D2}"/>
              </a:ext>
            </a:extLst>
          </p:cNvPr>
          <p:cNvSpPr txBox="1"/>
          <p:nvPr/>
        </p:nvSpPr>
        <p:spPr>
          <a:xfrm>
            <a:off x="295320" y="1650769"/>
            <a:ext cx="3239438" cy="1054125"/>
          </a:xfrm>
          <a:prstGeom prst="rect">
            <a:avLst/>
          </a:prstGeom>
          <a:noFill/>
        </p:spPr>
        <p:txBody>
          <a:bodyPr wrap="square" lIns="68571" tIns="34285" rIns="68571" bIns="34285" rtlCol="0">
            <a:spAutoFit/>
          </a:bodyPr>
          <a:lstStyle/>
          <a:p>
            <a:pPr marL="285750" marR="0" lvl="0" indent="-285750" defTabSz="914400" eaLnBrk="1" fontAlgn="auto" latinLnBrk="0" hangingPunct="1">
              <a:lnSpc>
                <a:spcPct val="100000"/>
              </a:lnSpc>
              <a:spcBef>
                <a:spcPts val="0"/>
              </a:spcBef>
              <a:spcAft>
                <a:spcPts val="0"/>
              </a:spcAft>
              <a:buSzTx/>
              <a:buFont typeface="Wingdings" panose="05000000000000000000" pitchFamily="2" charset="2"/>
              <a:buChar char="l"/>
              <a:defRPr/>
            </a:pPr>
            <a:r>
              <a:rPr lang="zh-CN" altLang="en-US" sz="1600" kern="0" dirty="0">
                <a:latin typeface="微软雅黑" panose="020B0503020204020204" pitchFamily="34" charset="-122"/>
                <a:ea typeface="微软雅黑" panose="020B0503020204020204" pitchFamily="34" charset="-122"/>
              </a:rPr>
              <a:t>在现代经济社会占主导地位的公司制企业中，公司的所有权与经营权分离使得公司内部决策存在着众多的委托</a:t>
            </a:r>
            <a:r>
              <a:rPr lang="en-US" altLang="zh-CN" sz="1600" kern="0" dirty="0">
                <a:latin typeface="微软雅黑" panose="020B0503020204020204" pitchFamily="34" charset="-122"/>
                <a:ea typeface="微软雅黑" panose="020B0503020204020204" pitchFamily="34" charset="-122"/>
              </a:rPr>
              <a:t>-</a:t>
            </a:r>
            <a:r>
              <a:rPr lang="zh-CN" altLang="en-US" sz="1600" kern="0" dirty="0">
                <a:latin typeface="微软雅黑" panose="020B0503020204020204" pitchFamily="34" charset="-122"/>
                <a:ea typeface="微软雅黑" panose="020B0503020204020204" pitchFamily="34" charset="-122"/>
              </a:rPr>
              <a:t>代理关系。</a:t>
            </a:r>
            <a:endParaRPr kumimoji="0"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7" name="TextBox 62">
            <a:extLst>
              <a:ext uri="{FF2B5EF4-FFF2-40B4-BE49-F238E27FC236}">
                <a16:creationId xmlns:a16="http://schemas.microsoft.com/office/drawing/2014/main" id="{ED5155AC-259E-452D-99F9-CB5FCEE00832}"/>
              </a:ext>
            </a:extLst>
          </p:cNvPr>
          <p:cNvSpPr txBox="1"/>
          <p:nvPr/>
        </p:nvSpPr>
        <p:spPr>
          <a:xfrm>
            <a:off x="295320" y="3029773"/>
            <a:ext cx="2669735" cy="807903"/>
          </a:xfrm>
          <a:prstGeom prst="rect">
            <a:avLst/>
          </a:prstGeom>
          <a:noFill/>
        </p:spPr>
        <p:txBody>
          <a:bodyPr wrap="square" lIns="68571" tIns="34285" rIns="68571" bIns="34285" rtlCol="0">
            <a:spAutoFit/>
          </a:bodyPr>
          <a:lstStyle/>
          <a:p>
            <a:pPr marL="285750" marR="0" lvl="0" indent="-285750" defTabSz="914400" eaLnBrk="1" fontAlgn="auto" latinLnBrk="0" hangingPunct="1">
              <a:lnSpc>
                <a:spcPct val="100000"/>
              </a:lnSpc>
              <a:spcBef>
                <a:spcPts val="0"/>
              </a:spcBef>
              <a:spcAft>
                <a:spcPts val="0"/>
              </a:spcAft>
              <a:buSzTx/>
              <a:buFont typeface="Wingdings" panose="05000000000000000000" pitchFamily="2" charset="2"/>
              <a:buChar char="l"/>
              <a:defRPr/>
            </a:pPr>
            <a:r>
              <a:rPr lang="zh-CN" altLang="en-US" sz="1600" kern="0" dirty="0">
                <a:latin typeface="微软雅黑" panose="020B0503020204020204" pitchFamily="34" charset="-122"/>
                <a:ea typeface="微软雅黑" panose="020B0503020204020204" pitchFamily="34" charset="-122"/>
              </a:rPr>
              <a:t>代理人的行为动机是自己的利益最大化，而不一定是委托的利益最大化。</a:t>
            </a:r>
            <a:endParaRPr kumimoji="0"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29" name="TextBox 62">
            <a:extLst>
              <a:ext uri="{FF2B5EF4-FFF2-40B4-BE49-F238E27FC236}">
                <a16:creationId xmlns:a16="http://schemas.microsoft.com/office/drawing/2014/main" id="{AE883DA8-7FE3-42F9-BA2E-CF4350155C90}"/>
              </a:ext>
            </a:extLst>
          </p:cNvPr>
          <p:cNvSpPr txBox="1"/>
          <p:nvPr/>
        </p:nvSpPr>
        <p:spPr>
          <a:xfrm>
            <a:off x="295320" y="4162555"/>
            <a:ext cx="2880320" cy="1054125"/>
          </a:xfrm>
          <a:prstGeom prst="rect">
            <a:avLst/>
          </a:prstGeom>
          <a:noFill/>
        </p:spPr>
        <p:txBody>
          <a:bodyPr wrap="square" lIns="68571" tIns="34285" rIns="68571" bIns="34285" rtlCol="0">
            <a:spAutoFit/>
          </a:bodyPr>
          <a:lstStyle/>
          <a:p>
            <a:pPr marL="285750" marR="0" lvl="0" indent="-285750" defTabSz="914400" eaLnBrk="1" fontAlgn="auto" latinLnBrk="0" hangingPunct="1">
              <a:lnSpc>
                <a:spcPct val="100000"/>
              </a:lnSpc>
              <a:spcBef>
                <a:spcPts val="0"/>
              </a:spcBef>
              <a:spcAft>
                <a:spcPts val="0"/>
              </a:spcAft>
              <a:buSzTx/>
              <a:buFont typeface="Wingdings" panose="05000000000000000000" pitchFamily="2" charset="2"/>
              <a:buChar char="l"/>
              <a:defRPr/>
            </a:pPr>
            <a:r>
              <a:rPr lang="zh-CN" altLang="en-US" sz="1600" kern="0" dirty="0">
                <a:latin typeface="微软雅黑" panose="020B0503020204020204" pitchFamily="34" charset="-122"/>
                <a:ea typeface="微软雅黑" panose="020B0503020204020204" pitchFamily="34" charset="-122"/>
              </a:rPr>
              <a:t>在一个信息不完全的环境中，代理人的决策可能偏离委托人的目标，最终使得企业偏离利润最大化目标。</a:t>
            </a:r>
            <a:endParaRPr kumimoji="0"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31" name="TextBox 62">
            <a:extLst>
              <a:ext uri="{FF2B5EF4-FFF2-40B4-BE49-F238E27FC236}">
                <a16:creationId xmlns:a16="http://schemas.microsoft.com/office/drawing/2014/main" id="{8C2AF368-3184-479F-BBB5-D0310319B57F}"/>
              </a:ext>
            </a:extLst>
          </p:cNvPr>
          <p:cNvSpPr txBox="1"/>
          <p:nvPr/>
        </p:nvSpPr>
        <p:spPr>
          <a:xfrm>
            <a:off x="5872478" y="1872757"/>
            <a:ext cx="2942000" cy="1054125"/>
          </a:xfrm>
          <a:prstGeom prst="rect">
            <a:avLst/>
          </a:prstGeom>
          <a:noFill/>
        </p:spPr>
        <p:txBody>
          <a:bodyPr wrap="square" lIns="68571" tIns="34285" rIns="68571" bIns="34285" rtlCol="0">
            <a:spAutoFit/>
          </a:bodyPr>
          <a:lstStyle/>
          <a:p>
            <a:pPr marL="285750" lvl="0" indent="-285750" fontAlgn="auto">
              <a:spcBef>
                <a:spcPts val="0"/>
              </a:spcBef>
              <a:spcAft>
                <a:spcPts val="0"/>
              </a:spcAft>
              <a:buFont typeface="Wingdings" panose="05000000000000000000" pitchFamily="2" charset="2"/>
              <a:buChar char="l"/>
              <a:defRPr/>
            </a:pPr>
            <a:r>
              <a:rPr lang="zh-CN" altLang="en-US" sz="1600" kern="0" dirty="0">
                <a:latin typeface="微软雅黑" panose="020B0503020204020204" pitchFamily="34" charset="-122"/>
                <a:ea typeface="微软雅黑" panose="020B0503020204020204" pitchFamily="34" charset="-122"/>
              </a:rPr>
              <a:t>销售额是一个标志企业健康状态的晴雨表，销售收入最大化可能超越利润最大化成为企业占统治地位的目标。</a:t>
            </a:r>
            <a:endParaRPr kumimoji="0" lang="zh-CN" altLang="en-US" sz="1600" b="0"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
        <p:nvSpPr>
          <p:cNvPr id="35" name="TextBox 62">
            <a:extLst>
              <a:ext uri="{FF2B5EF4-FFF2-40B4-BE49-F238E27FC236}">
                <a16:creationId xmlns:a16="http://schemas.microsoft.com/office/drawing/2014/main" id="{68AFA1DE-3616-4A96-B97D-5F9ADA877FFB}"/>
              </a:ext>
            </a:extLst>
          </p:cNvPr>
          <p:cNvSpPr txBox="1"/>
          <p:nvPr/>
        </p:nvSpPr>
        <p:spPr>
          <a:xfrm>
            <a:off x="5821229" y="4390668"/>
            <a:ext cx="3089883" cy="807903"/>
          </a:xfrm>
          <a:prstGeom prst="rect">
            <a:avLst/>
          </a:prstGeom>
          <a:noFill/>
        </p:spPr>
        <p:txBody>
          <a:bodyPr wrap="square" lIns="68571" tIns="34285" rIns="68571" bIns="34285" rtlCol="0">
            <a:spAutoFit/>
          </a:bodyPr>
          <a:lstStyle/>
          <a:p>
            <a:pPr marL="285750" lvl="0" indent="-285750" fontAlgn="auto">
              <a:spcBef>
                <a:spcPts val="0"/>
              </a:spcBef>
              <a:spcAft>
                <a:spcPts val="0"/>
              </a:spcAft>
              <a:buFont typeface="Wingdings" panose="05000000000000000000" pitchFamily="2" charset="2"/>
              <a:buChar char="l"/>
              <a:defRPr/>
            </a:pPr>
            <a:r>
              <a:rPr lang="zh-CN" altLang="en-US" sz="1600" kern="0" dirty="0">
                <a:latin typeface="微软雅黑" panose="020B0503020204020204" pitchFamily="34" charset="-122"/>
                <a:ea typeface="微软雅黑" panose="020B0503020204020204" pitchFamily="34" charset="-122"/>
              </a:rPr>
              <a:t>企业长期规模最大化指管理者寻求销售收入或企业资本价值在一定时期内的最大增长。</a:t>
            </a:r>
          </a:p>
        </p:txBody>
      </p:sp>
      <p:sp>
        <p:nvSpPr>
          <p:cNvPr id="36" name="矩形 35">
            <a:extLst>
              <a:ext uri="{FF2B5EF4-FFF2-40B4-BE49-F238E27FC236}">
                <a16:creationId xmlns:a16="http://schemas.microsoft.com/office/drawing/2014/main" id="{EDD08FFC-A55A-43B7-941B-D363C78D08FC}"/>
              </a:ext>
            </a:extLst>
          </p:cNvPr>
          <p:cNvSpPr/>
          <p:nvPr/>
        </p:nvSpPr>
        <p:spPr>
          <a:xfrm>
            <a:off x="3105567" y="3104806"/>
            <a:ext cx="1569661" cy="646331"/>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代理人自身</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利益的最大化</a:t>
            </a:r>
          </a:p>
        </p:txBody>
      </p:sp>
      <p:sp>
        <p:nvSpPr>
          <p:cNvPr id="37" name="矩形 36">
            <a:extLst>
              <a:ext uri="{FF2B5EF4-FFF2-40B4-BE49-F238E27FC236}">
                <a16:creationId xmlns:a16="http://schemas.microsoft.com/office/drawing/2014/main" id="{9F6BA586-762E-4D86-8325-63A2CC7E5ABC}"/>
              </a:ext>
            </a:extLst>
          </p:cNvPr>
          <p:cNvSpPr/>
          <p:nvPr/>
        </p:nvSpPr>
        <p:spPr>
          <a:xfrm>
            <a:off x="4612118" y="2605777"/>
            <a:ext cx="1569661" cy="646331"/>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短期销售</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收入的最大化</a:t>
            </a:r>
          </a:p>
        </p:txBody>
      </p:sp>
      <p:sp>
        <p:nvSpPr>
          <p:cNvPr id="38" name="矩形 37">
            <a:extLst>
              <a:ext uri="{FF2B5EF4-FFF2-40B4-BE49-F238E27FC236}">
                <a16:creationId xmlns:a16="http://schemas.microsoft.com/office/drawing/2014/main" id="{7516B732-B539-42BE-892B-690A95B7F7A5}"/>
              </a:ext>
            </a:extLst>
          </p:cNvPr>
          <p:cNvSpPr/>
          <p:nvPr/>
        </p:nvSpPr>
        <p:spPr>
          <a:xfrm>
            <a:off x="4252930" y="4176014"/>
            <a:ext cx="1569661" cy="646331"/>
          </a:xfrm>
          <a:prstGeom prst="rect">
            <a:avLst/>
          </a:prstGeom>
        </p:spPr>
        <p:txBody>
          <a:bodyPr wrap="none">
            <a:spAutoFit/>
          </a:bodyPr>
          <a:lstStyle/>
          <a:p>
            <a:pPr algn="ctr"/>
            <a:r>
              <a:rPr lang="zh-CN" altLang="en-US" dirty="0">
                <a:latin typeface="微软雅黑" panose="020B0503020204020204" pitchFamily="34" charset="-122"/>
                <a:ea typeface="微软雅黑" panose="020B0503020204020204" pitchFamily="34" charset="-122"/>
              </a:rPr>
              <a:t>长期规模增长</a:t>
            </a:r>
            <a:endParaRPr lang="en-US" altLang="zh-CN" dirty="0">
              <a:latin typeface="微软雅黑" panose="020B0503020204020204" pitchFamily="34" charset="-122"/>
              <a:ea typeface="微软雅黑" panose="020B0503020204020204" pitchFamily="34" charset="-122"/>
            </a:endParaRPr>
          </a:p>
          <a:p>
            <a:pPr algn="ctr"/>
            <a:r>
              <a:rPr lang="zh-CN" altLang="en-US" dirty="0">
                <a:latin typeface="微软雅黑" panose="020B0503020204020204" pitchFamily="34" charset="-122"/>
                <a:ea typeface="微软雅黑" panose="020B0503020204020204" pitchFamily="34" charset="-122"/>
              </a:rPr>
              <a:t>的最大化</a:t>
            </a:r>
          </a:p>
        </p:txBody>
      </p:sp>
      <p:sp>
        <p:nvSpPr>
          <p:cNvPr id="4" name="标注: 线形 3">
            <a:extLst>
              <a:ext uri="{FF2B5EF4-FFF2-40B4-BE49-F238E27FC236}">
                <a16:creationId xmlns:a16="http://schemas.microsoft.com/office/drawing/2014/main" id="{ABB2C830-E6DA-4286-8603-C6B92A26DA0A}"/>
              </a:ext>
            </a:extLst>
          </p:cNvPr>
          <p:cNvSpPr/>
          <p:nvPr/>
        </p:nvSpPr>
        <p:spPr bwMode="auto">
          <a:xfrm>
            <a:off x="3779912" y="5733256"/>
            <a:ext cx="2304256" cy="612648"/>
          </a:xfrm>
          <a:prstGeom prst="borderCallout1">
            <a:avLst>
              <a:gd name="adj1" fmla="val -5673"/>
              <a:gd name="adj2" fmla="val 51312"/>
              <a:gd name="adj3" fmla="val -36753"/>
              <a:gd name="adj4" fmla="val 5097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利润最大化依然被认为是最重要的目标。</a:t>
            </a:r>
          </a:p>
        </p:txBody>
      </p:sp>
    </p:spTree>
    <p:extLst>
      <p:ext uri="{BB962C8B-B14F-4D97-AF65-F5344CB8AC3E}">
        <p14:creationId xmlns:p14="http://schemas.microsoft.com/office/powerpoint/2010/main" val="53924631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8" fill="hold" grpId="0" nodeType="clickEffect">
                                  <p:stCondLst>
                                    <p:cond delay="0"/>
                                  </p:stCondLst>
                                  <p:childTnLst>
                                    <p:set>
                                      <p:cBhvr>
                                        <p:cTn id="13" dur="1" fill="hold">
                                          <p:stCondLst>
                                            <p:cond delay="0"/>
                                          </p:stCondLst>
                                        </p:cTn>
                                        <p:tgtEl>
                                          <p:spTgt spid="36"/>
                                        </p:tgtEl>
                                        <p:attrNameLst>
                                          <p:attrName>style.visibility</p:attrName>
                                        </p:attrNameLst>
                                      </p:cBhvr>
                                      <p:to>
                                        <p:strVal val="visible"/>
                                      </p:to>
                                    </p:set>
                                    <p:anim calcmode="lin" valueType="num">
                                      <p:cBhvr additive="base">
                                        <p:cTn id="14" dur="500" fill="hold"/>
                                        <p:tgtEl>
                                          <p:spTgt spid="36"/>
                                        </p:tgtEl>
                                        <p:attrNameLst>
                                          <p:attrName>ppt_x</p:attrName>
                                        </p:attrNameLst>
                                      </p:cBhvr>
                                      <p:tavLst>
                                        <p:tav tm="0">
                                          <p:val>
                                            <p:strVal val="0-#ppt_w/2"/>
                                          </p:val>
                                        </p:tav>
                                        <p:tav tm="100000">
                                          <p:val>
                                            <p:strVal val="#ppt_x"/>
                                          </p:val>
                                        </p:tav>
                                      </p:tavLst>
                                    </p:anim>
                                    <p:anim calcmode="lin" valueType="num">
                                      <p:cBhvr additive="base">
                                        <p:cTn id="15" dur="500" fill="hold"/>
                                        <p:tgtEl>
                                          <p:spTgt spid="36"/>
                                        </p:tgtEl>
                                        <p:attrNameLst>
                                          <p:attrName>ppt_y</p:attrName>
                                        </p:attrNameLst>
                                      </p:cBhvr>
                                      <p:tavLst>
                                        <p:tav tm="0">
                                          <p:val>
                                            <p:strVal val="#ppt_y"/>
                                          </p:val>
                                        </p:tav>
                                        <p:tav tm="100000">
                                          <p:val>
                                            <p:strVal val="#ppt_y"/>
                                          </p:val>
                                        </p:tav>
                                      </p:tavLst>
                                    </p:anim>
                                  </p:childTnLst>
                                </p:cTn>
                              </p:par>
                              <p:par>
                                <p:cTn id="16" presetID="2" presetClass="entr" presetSubtype="8"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0-#ppt_w/2"/>
                                          </p:val>
                                        </p:tav>
                                        <p:tav tm="100000">
                                          <p:val>
                                            <p:strVal val="#ppt_x"/>
                                          </p:val>
                                        </p:tav>
                                      </p:tavLst>
                                    </p:anim>
                                    <p:anim calcmode="lin" valueType="num">
                                      <p:cBhvr additive="base">
                                        <p:cTn id="19"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25"/>
                                        </p:tgtEl>
                                        <p:attrNameLst>
                                          <p:attrName>style.visibility</p:attrName>
                                        </p:attrNameLst>
                                      </p:cBhvr>
                                      <p:to>
                                        <p:strVal val="visible"/>
                                      </p:to>
                                    </p:set>
                                    <p:animEffect transition="in" filter="fade">
                                      <p:cBhvr>
                                        <p:cTn id="24" dur="1000"/>
                                        <p:tgtEl>
                                          <p:spTgt spid="25"/>
                                        </p:tgtEl>
                                      </p:cBhvr>
                                    </p:animEffect>
                                    <p:anim calcmode="lin" valueType="num">
                                      <p:cBhvr>
                                        <p:cTn id="25" dur="1000" fill="hold"/>
                                        <p:tgtEl>
                                          <p:spTgt spid="25"/>
                                        </p:tgtEl>
                                        <p:attrNameLst>
                                          <p:attrName>ppt_x</p:attrName>
                                        </p:attrNameLst>
                                      </p:cBhvr>
                                      <p:tavLst>
                                        <p:tav tm="0">
                                          <p:val>
                                            <p:strVal val="#ppt_x"/>
                                          </p:val>
                                        </p:tav>
                                        <p:tav tm="100000">
                                          <p:val>
                                            <p:strVal val="#ppt_x"/>
                                          </p:val>
                                        </p:tav>
                                      </p:tavLst>
                                    </p:anim>
                                    <p:anim calcmode="lin" valueType="num">
                                      <p:cBhvr>
                                        <p:cTn id="26"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1000"/>
                                        <p:tgtEl>
                                          <p:spTgt spid="27"/>
                                        </p:tgtEl>
                                      </p:cBhvr>
                                    </p:animEffect>
                                    <p:anim calcmode="lin" valueType="num">
                                      <p:cBhvr>
                                        <p:cTn id="32" dur="1000" fill="hold"/>
                                        <p:tgtEl>
                                          <p:spTgt spid="27"/>
                                        </p:tgtEl>
                                        <p:attrNameLst>
                                          <p:attrName>ppt_x</p:attrName>
                                        </p:attrNameLst>
                                      </p:cBhvr>
                                      <p:tavLst>
                                        <p:tav tm="0">
                                          <p:val>
                                            <p:strVal val="#ppt_x"/>
                                          </p:val>
                                        </p:tav>
                                        <p:tav tm="100000">
                                          <p:val>
                                            <p:strVal val="#ppt_x"/>
                                          </p:val>
                                        </p:tav>
                                      </p:tavLst>
                                    </p:anim>
                                    <p:anim calcmode="lin" valueType="num">
                                      <p:cBhvr>
                                        <p:cTn id="33"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1000"/>
                                        <p:tgtEl>
                                          <p:spTgt spid="29"/>
                                        </p:tgtEl>
                                      </p:cBhvr>
                                    </p:animEffect>
                                    <p:anim calcmode="lin" valueType="num">
                                      <p:cBhvr>
                                        <p:cTn id="39" dur="1000" fill="hold"/>
                                        <p:tgtEl>
                                          <p:spTgt spid="29"/>
                                        </p:tgtEl>
                                        <p:attrNameLst>
                                          <p:attrName>ppt_x</p:attrName>
                                        </p:attrNameLst>
                                      </p:cBhvr>
                                      <p:tavLst>
                                        <p:tav tm="0">
                                          <p:val>
                                            <p:strVal val="#ppt_x"/>
                                          </p:val>
                                        </p:tav>
                                        <p:tav tm="100000">
                                          <p:val>
                                            <p:strVal val="#ppt_x"/>
                                          </p:val>
                                        </p:tav>
                                      </p:tavLst>
                                    </p:anim>
                                    <p:anim calcmode="lin" valueType="num">
                                      <p:cBhvr>
                                        <p:cTn id="4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anim calcmode="lin" valueType="num">
                                      <p:cBhvr additive="base">
                                        <p:cTn id="45" dur="500" fill="hold"/>
                                        <p:tgtEl>
                                          <p:spTgt spid="7"/>
                                        </p:tgtEl>
                                        <p:attrNameLst>
                                          <p:attrName>ppt_x</p:attrName>
                                        </p:attrNameLst>
                                      </p:cBhvr>
                                      <p:tavLst>
                                        <p:tav tm="0">
                                          <p:val>
                                            <p:strVal val="1+#ppt_w/2"/>
                                          </p:val>
                                        </p:tav>
                                        <p:tav tm="100000">
                                          <p:val>
                                            <p:strVal val="#ppt_x"/>
                                          </p:val>
                                        </p:tav>
                                      </p:tavLst>
                                    </p:anim>
                                    <p:anim calcmode="lin" valueType="num">
                                      <p:cBhvr additive="base">
                                        <p:cTn id="46" dur="500" fill="hold"/>
                                        <p:tgtEl>
                                          <p:spTgt spid="7"/>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anim calcmode="lin" valueType="num">
                                      <p:cBhvr additive="base">
                                        <p:cTn id="49" dur="500" fill="hold"/>
                                        <p:tgtEl>
                                          <p:spTgt spid="37"/>
                                        </p:tgtEl>
                                        <p:attrNameLst>
                                          <p:attrName>ppt_x</p:attrName>
                                        </p:attrNameLst>
                                      </p:cBhvr>
                                      <p:tavLst>
                                        <p:tav tm="0">
                                          <p:val>
                                            <p:strVal val="1+#ppt_w/2"/>
                                          </p:val>
                                        </p:tav>
                                        <p:tav tm="100000">
                                          <p:val>
                                            <p:strVal val="#ppt_x"/>
                                          </p:val>
                                        </p:tav>
                                      </p:tavLst>
                                    </p:anim>
                                    <p:anim calcmode="lin" valueType="num">
                                      <p:cBhvr additive="base">
                                        <p:cTn id="50"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1"/>
                                        </p:tgtEl>
                                        <p:attrNameLst>
                                          <p:attrName>style.visibility</p:attrName>
                                        </p:attrNameLst>
                                      </p:cBhvr>
                                      <p:to>
                                        <p:strVal val="visible"/>
                                      </p:to>
                                    </p:set>
                                    <p:animEffect transition="in" filter="fade">
                                      <p:cBhvr>
                                        <p:cTn id="55" dur="1000"/>
                                        <p:tgtEl>
                                          <p:spTgt spid="31"/>
                                        </p:tgtEl>
                                      </p:cBhvr>
                                    </p:animEffect>
                                    <p:anim calcmode="lin" valueType="num">
                                      <p:cBhvr>
                                        <p:cTn id="56" dur="1000" fill="hold"/>
                                        <p:tgtEl>
                                          <p:spTgt spid="31"/>
                                        </p:tgtEl>
                                        <p:attrNameLst>
                                          <p:attrName>ppt_x</p:attrName>
                                        </p:attrNameLst>
                                      </p:cBhvr>
                                      <p:tavLst>
                                        <p:tav tm="0">
                                          <p:val>
                                            <p:strVal val="#ppt_x"/>
                                          </p:val>
                                        </p:tav>
                                        <p:tav tm="100000">
                                          <p:val>
                                            <p:strVal val="#ppt_x"/>
                                          </p:val>
                                        </p:tav>
                                      </p:tavLst>
                                    </p:anim>
                                    <p:anim calcmode="lin" valueType="num">
                                      <p:cBhvr>
                                        <p:cTn id="5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8"/>
                                        </p:tgtEl>
                                        <p:attrNameLst>
                                          <p:attrName>style.visibility</p:attrName>
                                        </p:attrNameLst>
                                      </p:cBhvr>
                                      <p:to>
                                        <p:strVal val="visible"/>
                                      </p:to>
                                    </p:set>
                                    <p:anim calcmode="lin" valueType="num">
                                      <p:cBhvr additive="base">
                                        <p:cTn id="62" dur="500" fill="hold"/>
                                        <p:tgtEl>
                                          <p:spTgt spid="8"/>
                                        </p:tgtEl>
                                        <p:attrNameLst>
                                          <p:attrName>ppt_x</p:attrName>
                                        </p:attrNameLst>
                                      </p:cBhvr>
                                      <p:tavLst>
                                        <p:tav tm="0">
                                          <p:val>
                                            <p:strVal val="#ppt_x"/>
                                          </p:val>
                                        </p:tav>
                                        <p:tav tm="100000">
                                          <p:val>
                                            <p:strVal val="#ppt_x"/>
                                          </p:val>
                                        </p:tav>
                                      </p:tavLst>
                                    </p:anim>
                                    <p:anim calcmode="lin" valueType="num">
                                      <p:cBhvr additive="base">
                                        <p:cTn id="63" dur="500" fill="hold"/>
                                        <p:tgtEl>
                                          <p:spTgt spid="8"/>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38"/>
                                        </p:tgtEl>
                                        <p:attrNameLst>
                                          <p:attrName>style.visibility</p:attrName>
                                        </p:attrNameLst>
                                      </p:cBhvr>
                                      <p:to>
                                        <p:strVal val="visible"/>
                                      </p:to>
                                    </p:set>
                                    <p:anim calcmode="lin" valueType="num">
                                      <p:cBhvr additive="base">
                                        <p:cTn id="66" dur="500" fill="hold"/>
                                        <p:tgtEl>
                                          <p:spTgt spid="38"/>
                                        </p:tgtEl>
                                        <p:attrNameLst>
                                          <p:attrName>ppt_x</p:attrName>
                                        </p:attrNameLst>
                                      </p:cBhvr>
                                      <p:tavLst>
                                        <p:tav tm="0">
                                          <p:val>
                                            <p:strVal val="#ppt_x"/>
                                          </p:val>
                                        </p:tav>
                                        <p:tav tm="100000">
                                          <p:val>
                                            <p:strVal val="#ppt_x"/>
                                          </p:val>
                                        </p:tav>
                                      </p:tavLst>
                                    </p:anim>
                                    <p:anim calcmode="lin" valueType="num">
                                      <p:cBhvr additive="base">
                                        <p:cTn id="67"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fade">
                                      <p:cBhvr>
                                        <p:cTn id="72" dur="1000"/>
                                        <p:tgtEl>
                                          <p:spTgt spid="35"/>
                                        </p:tgtEl>
                                      </p:cBhvr>
                                    </p:animEffect>
                                    <p:anim calcmode="lin" valueType="num">
                                      <p:cBhvr>
                                        <p:cTn id="73" dur="1000" fill="hold"/>
                                        <p:tgtEl>
                                          <p:spTgt spid="35"/>
                                        </p:tgtEl>
                                        <p:attrNameLst>
                                          <p:attrName>ppt_x</p:attrName>
                                        </p:attrNameLst>
                                      </p:cBhvr>
                                      <p:tavLst>
                                        <p:tav tm="0">
                                          <p:val>
                                            <p:strVal val="#ppt_x"/>
                                          </p:val>
                                        </p:tav>
                                        <p:tav tm="100000">
                                          <p:val>
                                            <p:strVal val="#ppt_x"/>
                                          </p:val>
                                        </p:tav>
                                      </p:tavLst>
                                    </p:anim>
                                    <p:anim calcmode="lin" valueType="num">
                                      <p:cBhvr>
                                        <p:cTn id="74"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7" grpId="0" animBg="1"/>
      <p:bldP spid="8" grpId="0" animBg="1"/>
      <p:bldP spid="25" grpId="0"/>
      <p:bldP spid="27" grpId="0"/>
      <p:bldP spid="29" grpId="0"/>
      <p:bldP spid="31" grpId="0"/>
      <p:bldP spid="35" grpId="0"/>
      <p:bldP spid="36" grpId="0"/>
      <p:bldP spid="37" grpId="0"/>
      <p:bldP spid="3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6C72918-E8CF-4017-9ADE-98CD63E8BB00}"/>
              </a:ext>
            </a:extLst>
          </p:cNvPr>
          <p:cNvSpPr/>
          <p:nvPr/>
        </p:nvSpPr>
        <p:spPr>
          <a:xfrm>
            <a:off x="1077134" y="2852936"/>
            <a:ext cx="2120265"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5AA8018B-4411-44F1-BDE6-A67A54B3C269}"/>
              </a:ext>
            </a:extLst>
          </p:cNvPr>
          <p:cNvSpPr/>
          <p:nvPr/>
        </p:nvSpPr>
        <p:spPr>
          <a:xfrm>
            <a:off x="3613006" y="2852936"/>
            <a:ext cx="2120265"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34A370A1-5A01-4AB1-8A56-4820A7BCB046}"/>
              </a:ext>
            </a:extLst>
          </p:cNvPr>
          <p:cNvSpPr/>
          <p:nvPr/>
        </p:nvSpPr>
        <p:spPr>
          <a:xfrm>
            <a:off x="6148243" y="2852936"/>
            <a:ext cx="2120265"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4A3FDEF6-65B4-49D4-B8DF-0D5CBA362E94}"/>
              </a:ext>
            </a:extLst>
          </p:cNvPr>
          <p:cNvSpPr txBox="1"/>
          <p:nvPr/>
        </p:nvSpPr>
        <p:spPr>
          <a:xfrm>
            <a:off x="2649220" y="1245850"/>
            <a:ext cx="3845560" cy="646331"/>
          </a:xfrm>
          <a:prstGeom prst="rect">
            <a:avLst/>
          </a:prstGeom>
          <a:noFill/>
        </p:spPr>
        <p:txBody>
          <a:bodyPr wrap="square" rtlCol="0">
            <a:spAutoFit/>
          </a:bodyPr>
          <a:lstStyle/>
          <a:p>
            <a:pPr algn="ctr"/>
            <a:r>
              <a:rPr lang="zh-CN" altLang="en-US" sz="3600" b="1" dirty="0">
                <a:solidFill>
                  <a:srgbClr val="262626"/>
                </a:solidFill>
                <a:latin typeface="微软雅黑" panose="020B0503020204020204" pitchFamily="34" charset="-122"/>
                <a:ea typeface="微软雅黑" panose="020B0503020204020204" pitchFamily="34" charset="-122"/>
              </a:rPr>
              <a:t>第二节  生产函数</a:t>
            </a:r>
            <a:endParaRPr lang="en-US" altLang="zh-CN" sz="3600" b="1" dirty="0">
              <a:solidFill>
                <a:srgbClr val="262626"/>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B5288ACA-12A9-4368-B02B-AD453F0C042E}"/>
              </a:ext>
            </a:extLst>
          </p:cNvPr>
          <p:cNvSpPr txBox="1"/>
          <p:nvPr/>
        </p:nvSpPr>
        <p:spPr>
          <a:xfrm>
            <a:off x="1430829" y="3367286"/>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01</a:t>
            </a:r>
          </a:p>
        </p:txBody>
      </p:sp>
      <p:sp>
        <p:nvSpPr>
          <p:cNvPr id="7" name="文本框 6">
            <a:extLst>
              <a:ext uri="{FF2B5EF4-FFF2-40B4-BE49-F238E27FC236}">
                <a16:creationId xmlns:a16="http://schemas.microsoft.com/office/drawing/2014/main" id="{8EF007A6-F1A9-499F-819A-16D023FEAB10}"/>
              </a:ext>
            </a:extLst>
          </p:cNvPr>
          <p:cNvSpPr txBox="1"/>
          <p:nvPr/>
        </p:nvSpPr>
        <p:spPr>
          <a:xfrm>
            <a:off x="1077769" y="4012446"/>
            <a:ext cx="2119630" cy="368300"/>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生产和生产函数</a:t>
            </a:r>
            <a:endParaRPr lang="zh-CN" altLang="en-US" b="1" dirty="0">
              <a:solidFill>
                <a:srgbClr val="262626"/>
              </a:solidFill>
              <a:latin typeface="微软雅黑" panose="020B0503020204020204" pitchFamily="34" charset="-122"/>
              <a:ea typeface="微软雅黑" panose="020B0503020204020204" pitchFamily="34" charset="-122"/>
              <a:sym typeface="+mn-ea"/>
            </a:endParaRPr>
          </a:p>
        </p:txBody>
      </p:sp>
      <p:sp>
        <p:nvSpPr>
          <p:cNvPr id="8" name="文本框 7">
            <a:extLst>
              <a:ext uri="{FF2B5EF4-FFF2-40B4-BE49-F238E27FC236}">
                <a16:creationId xmlns:a16="http://schemas.microsoft.com/office/drawing/2014/main" id="{2E978A1A-FFCD-409E-BB56-7F2349BDEA63}"/>
              </a:ext>
            </a:extLst>
          </p:cNvPr>
          <p:cNvSpPr txBox="1"/>
          <p:nvPr/>
        </p:nvSpPr>
        <p:spPr>
          <a:xfrm>
            <a:off x="3957493" y="3367286"/>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02</a:t>
            </a:r>
          </a:p>
        </p:txBody>
      </p:sp>
      <p:sp>
        <p:nvSpPr>
          <p:cNvPr id="9" name="文本框 8">
            <a:extLst>
              <a:ext uri="{FF2B5EF4-FFF2-40B4-BE49-F238E27FC236}">
                <a16:creationId xmlns:a16="http://schemas.microsoft.com/office/drawing/2014/main" id="{D2EABF2A-107A-4564-B739-BB1A60BE4618}"/>
              </a:ext>
            </a:extLst>
          </p:cNvPr>
          <p:cNvSpPr txBox="1"/>
          <p:nvPr/>
        </p:nvSpPr>
        <p:spPr>
          <a:xfrm>
            <a:off x="3604433" y="4012446"/>
            <a:ext cx="2119630" cy="369332"/>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短期和长期</a:t>
            </a:r>
            <a:endParaRPr lang="zh-CN" altLang="en-US" b="1" dirty="0">
              <a:solidFill>
                <a:srgbClr val="262626"/>
              </a:solidFill>
              <a:latin typeface="微软雅黑" panose="020B0503020204020204" pitchFamily="34" charset="-122"/>
              <a:ea typeface="微软雅黑" panose="020B0503020204020204" pitchFamily="34" charset="-122"/>
              <a:sym typeface="+mn-ea"/>
            </a:endParaRPr>
          </a:p>
        </p:txBody>
      </p:sp>
      <p:sp>
        <p:nvSpPr>
          <p:cNvPr id="10" name="文本框 9">
            <a:extLst>
              <a:ext uri="{FF2B5EF4-FFF2-40B4-BE49-F238E27FC236}">
                <a16:creationId xmlns:a16="http://schemas.microsoft.com/office/drawing/2014/main" id="{576415D5-3371-4657-A4B4-2A51D05CA687}"/>
              </a:ext>
            </a:extLst>
          </p:cNvPr>
          <p:cNvSpPr txBox="1"/>
          <p:nvPr/>
        </p:nvSpPr>
        <p:spPr>
          <a:xfrm>
            <a:off x="6470757" y="3367286"/>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03</a:t>
            </a:r>
          </a:p>
        </p:txBody>
      </p:sp>
      <p:sp>
        <p:nvSpPr>
          <p:cNvPr id="11" name="文本框 10">
            <a:extLst>
              <a:ext uri="{FF2B5EF4-FFF2-40B4-BE49-F238E27FC236}">
                <a16:creationId xmlns:a16="http://schemas.microsoft.com/office/drawing/2014/main" id="{9D9AE8D2-6A67-480D-BD67-6BD32115FF54}"/>
              </a:ext>
            </a:extLst>
          </p:cNvPr>
          <p:cNvSpPr txBox="1"/>
          <p:nvPr/>
        </p:nvSpPr>
        <p:spPr>
          <a:xfrm>
            <a:off x="6201069" y="4012446"/>
            <a:ext cx="2119630" cy="368300"/>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生产函数的例子</a:t>
            </a:r>
            <a:endParaRPr lang="zh-CN" altLang="en-US" b="1" dirty="0">
              <a:solidFill>
                <a:srgbClr val="262626"/>
              </a:solidFill>
              <a:latin typeface="微软雅黑" panose="020B0503020204020204" pitchFamily="34" charset="-122"/>
              <a:ea typeface="微软雅黑" panose="020B0503020204020204" pitchFamily="34" charset="-122"/>
              <a:sym typeface="+mn-ea"/>
            </a:endParaRPr>
          </a:p>
        </p:txBody>
      </p:sp>
      <p:sp>
        <p:nvSpPr>
          <p:cNvPr id="12" name="标注: 线形 11">
            <a:extLst>
              <a:ext uri="{FF2B5EF4-FFF2-40B4-BE49-F238E27FC236}">
                <a16:creationId xmlns:a16="http://schemas.microsoft.com/office/drawing/2014/main" id="{1609E812-0C24-4120-8DC7-E342BCA2BF57}"/>
              </a:ext>
            </a:extLst>
          </p:cNvPr>
          <p:cNvSpPr/>
          <p:nvPr/>
        </p:nvSpPr>
        <p:spPr bwMode="auto">
          <a:xfrm>
            <a:off x="6372200" y="116633"/>
            <a:ext cx="2664296" cy="2368003"/>
          </a:xfrm>
          <a:prstGeom prst="borderCallout1">
            <a:avLst>
              <a:gd name="adj1" fmla="val 18750"/>
              <a:gd name="adj2" fmla="val -8333"/>
              <a:gd name="adj3" fmla="val 46155"/>
              <a:gd name="adj4" fmla="val -2842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zh-CN" altLang="en-US" dirty="0"/>
              <a:t>生产理论有两个研究内容：</a:t>
            </a:r>
            <a:endParaRPr lang="en-US" altLang="zh-CN" dirty="0"/>
          </a:p>
          <a:p>
            <a:r>
              <a:rPr lang="en-US" altLang="zh-CN" dirty="0"/>
              <a:t>1.</a:t>
            </a:r>
            <a:r>
              <a:rPr lang="zh-CN" altLang="en-US" dirty="0"/>
              <a:t> 研究投入的生产要素与产量的关系，即生产中的物质技术关系。</a:t>
            </a:r>
          </a:p>
          <a:p>
            <a:r>
              <a:rPr lang="en-US" altLang="zh-CN" dirty="0"/>
              <a:t>2.</a:t>
            </a:r>
            <a:r>
              <a:rPr lang="zh-CN" altLang="en-US" dirty="0"/>
              <a:t> 研究成本与收益的关系，即生产中的经济关系。</a:t>
            </a:r>
          </a:p>
        </p:txBody>
      </p:sp>
    </p:spTree>
    <p:extLst>
      <p:ext uri="{BB962C8B-B14F-4D97-AF65-F5344CB8AC3E}">
        <p14:creationId xmlns:p14="http://schemas.microsoft.com/office/powerpoint/2010/main" val="301749193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1"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par>
                                <p:cTn id="17" presetID="53" presetClass="entr" presetSubtype="16" fill="hold" grpId="1"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1"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
                                          </p:val>
                                        </p:tav>
                                        <p:tav tm="100000">
                                          <p:val>
                                            <p:strVal val="#ppt_w"/>
                                          </p:val>
                                        </p:tav>
                                      </p:tavLst>
                                    </p:anim>
                                    <p:anim calcmode="lin" valueType="num">
                                      <p:cBhvr>
                                        <p:cTn id="32" dur="500" fill="hold"/>
                                        <p:tgtEl>
                                          <p:spTgt spid="3"/>
                                        </p:tgtEl>
                                        <p:attrNameLst>
                                          <p:attrName>ppt_h</p:attrName>
                                        </p:attrNameLst>
                                      </p:cBhvr>
                                      <p:tavLst>
                                        <p:tav tm="0">
                                          <p:val>
                                            <p:fltVal val="0"/>
                                          </p:val>
                                        </p:tav>
                                        <p:tav tm="100000">
                                          <p:val>
                                            <p:strVal val="#ppt_h"/>
                                          </p:val>
                                        </p:tav>
                                      </p:tavLst>
                                    </p:anim>
                                    <p:animEffect transition="in" filter="fade">
                                      <p:cBhvr>
                                        <p:cTn id="33" dur="500"/>
                                        <p:tgtEl>
                                          <p:spTgt spid="3"/>
                                        </p:tgtEl>
                                      </p:cBhvr>
                                    </p:animEffect>
                                  </p:childTnLst>
                                </p:cTn>
                              </p:par>
                              <p:par>
                                <p:cTn id="34" presetID="53" presetClass="entr" presetSubtype="16" fill="hold" grpId="1"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1"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p:cTn id="48" dur="500" fill="hold"/>
                                        <p:tgtEl>
                                          <p:spTgt spid="4"/>
                                        </p:tgtEl>
                                        <p:attrNameLst>
                                          <p:attrName>ppt_w</p:attrName>
                                        </p:attrNameLst>
                                      </p:cBhvr>
                                      <p:tavLst>
                                        <p:tav tm="0">
                                          <p:val>
                                            <p:fltVal val="0"/>
                                          </p:val>
                                        </p:tav>
                                        <p:tav tm="100000">
                                          <p:val>
                                            <p:strVal val="#ppt_w"/>
                                          </p:val>
                                        </p:tav>
                                      </p:tavLst>
                                    </p:anim>
                                    <p:anim calcmode="lin" valueType="num">
                                      <p:cBhvr>
                                        <p:cTn id="49" dur="500" fill="hold"/>
                                        <p:tgtEl>
                                          <p:spTgt spid="4"/>
                                        </p:tgtEl>
                                        <p:attrNameLst>
                                          <p:attrName>ppt_h</p:attrName>
                                        </p:attrNameLst>
                                      </p:cBhvr>
                                      <p:tavLst>
                                        <p:tav tm="0">
                                          <p:val>
                                            <p:fltVal val="0"/>
                                          </p:val>
                                        </p:tav>
                                        <p:tav tm="100000">
                                          <p:val>
                                            <p:strVal val="#ppt_h"/>
                                          </p:val>
                                        </p:tav>
                                      </p:tavLst>
                                    </p:anim>
                                    <p:animEffect transition="in" filter="fade">
                                      <p:cBhvr>
                                        <p:cTn id="50" dur="500"/>
                                        <p:tgtEl>
                                          <p:spTgt spid="4"/>
                                        </p:tgtEl>
                                      </p:cBhvr>
                                    </p:animEffect>
                                  </p:childTnLst>
                                </p:cTn>
                              </p:par>
                              <p:par>
                                <p:cTn id="51" presetID="53" presetClass="entr" presetSubtype="16" fill="hold" grpId="1" nodeType="with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500" fill="hold"/>
                                        <p:tgtEl>
                                          <p:spTgt spid="10"/>
                                        </p:tgtEl>
                                        <p:attrNameLst>
                                          <p:attrName>ppt_w</p:attrName>
                                        </p:attrNameLst>
                                      </p:cBhvr>
                                      <p:tavLst>
                                        <p:tav tm="0">
                                          <p:val>
                                            <p:fltVal val="0"/>
                                          </p:val>
                                        </p:tav>
                                        <p:tav tm="100000">
                                          <p:val>
                                            <p:strVal val="#ppt_w"/>
                                          </p:val>
                                        </p:tav>
                                      </p:tavLst>
                                    </p:anim>
                                    <p:anim calcmode="lin" valueType="num">
                                      <p:cBhvr>
                                        <p:cTn id="54" dur="500" fill="hold"/>
                                        <p:tgtEl>
                                          <p:spTgt spid="10"/>
                                        </p:tgtEl>
                                        <p:attrNameLst>
                                          <p:attrName>ppt_h</p:attrName>
                                        </p:attrNameLst>
                                      </p:cBhvr>
                                      <p:tavLst>
                                        <p:tav tm="0">
                                          <p:val>
                                            <p:fltVal val="0"/>
                                          </p:val>
                                        </p:tav>
                                        <p:tav tm="100000">
                                          <p:val>
                                            <p:strVal val="#ppt_h"/>
                                          </p:val>
                                        </p:tav>
                                      </p:tavLst>
                                    </p:anim>
                                    <p:animEffect transition="in" filter="fade">
                                      <p:cBhvr>
                                        <p:cTn id="55" dur="500"/>
                                        <p:tgtEl>
                                          <p:spTgt spid="10"/>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 calcmode="lin" valueType="num">
                                      <p:cBhvr>
                                        <p:cTn id="58" dur="500" fill="hold"/>
                                        <p:tgtEl>
                                          <p:spTgt spid="11"/>
                                        </p:tgtEl>
                                        <p:attrNameLst>
                                          <p:attrName>ppt_w</p:attrName>
                                        </p:attrNameLst>
                                      </p:cBhvr>
                                      <p:tavLst>
                                        <p:tav tm="0">
                                          <p:val>
                                            <p:fltVal val="0"/>
                                          </p:val>
                                        </p:tav>
                                        <p:tav tm="100000">
                                          <p:val>
                                            <p:strVal val="#ppt_w"/>
                                          </p:val>
                                        </p:tav>
                                      </p:tavLst>
                                    </p:anim>
                                    <p:anim calcmode="lin" valueType="num">
                                      <p:cBhvr>
                                        <p:cTn id="59" dur="500" fill="hold"/>
                                        <p:tgtEl>
                                          <p:spTgt spid="11"/>
                                        </p:tgtEl>
                                        <p:attrNameLst>
                                          <p:attrName>ppt_h</p:attrName>
                                        </p:attrNameLst>
                                      </p:cBhvr>
                                      <p:tavLst>
                                        <p:tav tm="0">
                                          <p:val>
                                            <p:fltVal val="0"/>
                                          </p:val>
                                        </p:tav>
                                        <p:tav tm="100000">
                                          <p:val>
                                            <p:strVal val="#ppt_h"/>
                                          </p:val>
                                        </p:tav>
                                      </p:tavLst>
                                    </p:anim>
                                    <p:animEffect transition="in" filter="fade">
                                      <p:cBhvr>
                                        <p:cTn id="6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p:bldP spid="6" grpId="0"/>
      <p:bldP spid="6" grpId="1"/>
      <p:bldP spid="7" grpId="0"/>
      <p:bldP spid="8" grpId="0"/>
      <p:bldP spid="8" grpId="1"/>
      <p:bldP spid="9" grpId="0"/>
      <p:bldP spid="10" grpId="0"/>
      <p:bldP spid="10" grpId="1"/>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圆角 25">
            <a:extLst>
              <a:ext uri="{FF2B5EF4-FFF2-40B4-BE49-F238E27FC236}">
                <a16:creationId xmlns:a16="http://schemas.microsoft.com/office/drawing/2014/main" id="{2A6D9DEB-08BD-4D88-8A12-1E01A91933F1}"/>
              </a:ext>
            </a:extLst>
          </p:cNvPr>
          <p:cNvSpPr/>
          <p:nvPr/>
        </p:nvSpPr>
        <p:spPr>
          <a:xfrm>
            <a:off x="6363504" y="5321023"/>
            <a:ext cx="1702022" cy="38212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a16="http://schemas.microsoft.com/office/drawing/2014/main" id="{49354AF3-890D-4795-8032-C8D9BF723D7B}"/>
              </a:ext>
            </a:extLst>
          </p:cNvPr>
          <p:cNvSpPr/>
          <p:nvPr/>
        </p:nvSpPr>
        <p:spPr>
          <a:xfrm>
            <a:off x="4220630" y="5323057"/>
            <a:ext cx="1684656" cy="38212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2287394A-AFCE-428C-B300-EA581AC3722A}"/>
              </a:ext>
            </a:extLst>
          </p:cNvPr>
          <p:cNvSpPr/>
          <p:nvPr/>
        </p:nvSpPr>
        <p:spPr>
          <a:xfrm>
            <a:off x="2609024" y="5321023"/>
            <a:ext cx="1043876" cy="38212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781E8909-4F37-4296-84BF-C6F571B10E90}"/>
              </a:ext>
            </a:extLst>
          </p:cNvPr>
          <p:cNvSpPr/>
          <p:nvPr/>
        </p:nvSpPr>
        <p:spPr>
          <a:xfrm>
            <a:off x="7164288" y="21265"/>
            <a:ext cx="1938351"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第二节  生产函数</a:t>
            </a:r>
          </a:p>
        </p:txBody>
      </p:sp>
      <p:sp>
        <p:nvSpPr>
          <p:cNvPr id="3" name="矩形 2">
            <a:extLst>
              <a:ext uri="{FF2B5EF4-FFF2-40B4-BE49-F238E27FC236}">
                <a16:creationId xmlns:a16="http://schemas.microsoft.com/office/drawing/2014/main" id="{582EC8A6-1C64-47B3-A0D8-6F3C05020955}"/>
              </a:ext>
            </a:extLst>
          </p:cNvPr>
          <p:cNvSpPr>
            <a:spLocks noChangeArrowheads="1"/>
          </p:cNvSpPr>
          <p:nvPr/>
        </p:nvSpPr>
        <p:spPr bwMode="auto">
          <a:xfrm>
            <a:off x="0" y="5045964"/>
            <a:ext cx="904168" cy="76200"/>
          </a:xfrm>
          <a:prstGeom prst="rect">
            <a:avLst/>
          </a:prstGeom>
          <a:solidFill>
            <a:srgbClr val="E5AB71"/>
          </a:solidFill>
          <a:ln w="15875" algn="ctr">
            <a:noFill/>
            <a:miter lim="800000"/>
          </a:ln>
        </p:spPr>
        <p:txBody>
          <a:bodyPr lIns="115187" tIns="57593" rIns="115187" bIns="57593" anchor="ctr"/>
          <a:lstStyle/>
          <a:p>
            <a:pPr algn="ctr" defTabSz="1217295"/>
            <a:endParaRPr lang="zh-CN" altLang="en-US" sz="2400" dirty="0">
              <a:latin typeface="印品黑体" panose="00000500000000000000" pitchFamily="2" charset="-122"/>
              <a:ea typeface="印品黑体" panose="00000500000000000000" pitchFamily="2" charset="-122"/>
              <a:sym typeface="微软雅黑" panose="020B0503020204020204" pitchFamily="34" charset="-122"/>
            </a:endParaRPr>
          </a:p>
        </p:txBody>
      </p:sp>
      <p:sp>
        <p:nvSpPr>
          <p:cNvPr id="4" name="矩形 3">
            <a:extLst>
              <a:ext uri="{FF2B5EF4-FFF2-40B4-BE49-F238E27FC236}">
                <a16:creationId xmlns:a16="http://schemas.microsoft.com/office/drawing/2014/main" id="{3C2FF4D9-3943-4B42-BC71-41869D9CC793}"/>
              </a:ext>
            </a:extLst>
          </p:cNvPr>
          <p:cNvSpPr>
            <a:spLocks noChangeArrowheads="1"/>
          </p:cNvSpPr>
          <p:nvPr/>
        </p:nvSpPr>
        <p:spPr bwMode="auto">
          <a:xfrm>
            <a:off x="1325126" y="5045964"/>
            <a:ext cx="7818874" cy="76200"/>
          </a:xfrm>
          <a:prstGeom prst="rect">
            <a:avLst/>
          </a:prstGeom>
          <a:solidFill>
            <a:srgbClr val="E5AB71"/>
          </a:solidFill>
          <a:ln w="15875" algn="ctr">
            <a:noFill/>
            <a:miter lim="800000"/>
          </a:ln>
        </p:spPr>
        <p:txBody>
          <a:bodyPr lIns="115187" tIns="57593" rIns="115187" bIns="57593" anchor="ctr"/>
          <a:lstStyle/>
          <a:p>
            <a:pPr algn="ctr" defTabSz="1217295"/>
            <a:endParaRPr lang="zh-CN" altLang="en-US" sz="2400" dirty="0">
              <a:latin typeface="印品黑体" panose="00000500000000000000" pitchFamily="2" charset="-122"/>
              <a:ea typeface="印品黑体" panose="00000500000000000000" pitchFamily="2" charset="-122"/>
              <a:sym typeface="微软雅黑" panose="020B0503020204020204" pitchFamily="34" charset="-122"/>
            </a:endParaRPr>
          </a:p>
        </p:txBody>
      </p:sp>
      <p:sp>
        <p:nvSpPr>
          <p:cNvPr id="5" name="矩形 4">
            <a:extLst>
              <a:ext uri="{FF2B5EF4-FFF2-40B4-BE49-F238E27FC236}">
                <a16:creationId xmlns:a16="http://schemas.microsoft.com/office/drawing/2014/main" id="{2F0E4228-2B0B-4F57-A34E-FB9372E7D9D6}"/>
              </a:ext>
            </a:extLst>
          </p:cNvPr>
          <p:cNvSpPr>
            <a:spLocks noChangeArrowheads="1"/>
          </p:cNvSpPr>
          <p:nvPr/>
        </p:nvSpPr>
        <p:spPr bwMode="auto">
          <a:xfrm>
            <a:off x="816853" y="4486497"/>
            <a:ext cx="588241" cy="76200"/>
          </a:xfrm>
          <a:prstGeom prst="rect">
            <a:avLst/>
          </a:prstGeom>
          <a:solidFill>
            <a:srgbClr val="E5AB71"/>
          </a:solidFill>
          <a:ln w="15875" algn="ctr">
            <a:noFill/>
            <a:miter lim="800000"/>
          </a:ln>
        </p:spPr>
        <p:txBody>
          <a:bodyPr lIns="115187" tIns="57593" rIns="115187" bIns="57593" anchor="ctr"/>
          <a:lstStyle/>
          <a:p>
            <a:pPr algn="ctr" defTabSz="1217295"/>
            <a:endParaRPr lang="zh-CN" altLang="en-US" sz="2400" dirty="0">
              <a:latin typeface="印品黑体" panose="00000500000000000000" pitchFamily="2" charset="-122"/>
              <a:ea typeface="印品黑体" panose="00000500000000000000" pitchFamily="2" charset="-122"/>
              <a:sym typeface="微软雅黑" panose="020B0503020204020204" pitchFamily="34" charset="-122"/>
            </a:endParaRPr>
          </a:p>
        </p:txBody>
      </p:sp>
      <p:sp>
        <p:nvSpPr>
          <p:cNvPr id="6" name="矩形 5">
            <a:extLst>
              <a:ext uri="{FF2B5EF4-FFF2-40B4-BE49-F238E27FC236}">
                <a16:creationId xmlns:a16="http://schemas.microsoft.com/office/drawing/2014/main" id="{8C6C49E9-8770-4EE9-92B9-EFFFDE4B83A8}"/>
              </a:ext>
            </a:extLst>
          </p:cNvPr>
          <p:cNvSpPr>
            <a:spLocks noChangeArrowheads="1"/>
          </p:cNvSpPr>
          <p:nvPr/>
        </p:nvSpPr>
        <p:spPr bwMode="auto">
          <a:xfrm rot="5400000">
            <a:off x="555711" y="4747641"/>
            <a:ext cx="609600" cy="87313"/>
          </a:xfrm>
          <a:prstGeom prst="rect">
            <a:avLst/>
          </a:prstGeom>
          <a:solidFill>
            <a:srgbClr val="E5AB71"/>
          </a:solidFill>
          <a:ln w="15875" algn="ctr">
            <a:noFill/>
            <a:miter lim="800000"/>
          </a:ln>
        </p:spPr>
        <p:txBody>
          <a:bodyPr rot="10800000" vert="eaVert" lIns="115187" tIns="57593" rIns="115187" bIns="57593" anchor="ctr"/>
          <a:lstStyle/>
          <a:p>
            <a:pPr algn="ctr" defTabSz="1217295"/>
            <a:endParaRPr lang="zh-CN" altLang="en-US" sz="2400" dirty="0">
              <a:latin typeface="印品黑体" panose="00000500000000000000" pitchFamily="2" charset="-122"/>
              <a:ea typeface="印品黑体" panose="00000500000000000000" pitchFamily="2" charset="-122"/>
              <a:sym typeface="微软雅黑" panose="020B0503020204020204" pitchFamily="34" charset="-122"/>
            </a:endParaRPr>
          </a:p>
        </p:txBody>
      </p:sp>
      <p:sp>
        <p:nvSpPr>
          <p:cNvPr id="7" name="矩形 6">
            <a:extLst>
              <a:ext uri="{FF2B5EF4-FFF2-40B4-BE49-F238E27FC236}">
                <a16:creationId xmlns:a16="http://schemas.microsoft.com/office/drawing/2014/main" id="{C302B580-9414-453A-AB23-D3CD0D0E5039}"/>
              </a:ext>
            </a:extLst>
          </p:cNvPr>
          <p:cNvSpPr>
            <a:spLocks noChangeArrowheads="1"/>
          </p:cNvSpPr>
          <p:nvPr/>
        </p:nvSpPr>
        <p:spPr bwMode="auto">
          <a:xfrm rot="5400000">
            <a:off x="1063189" y="4752124"/>
            <a:ext cx="609600" cy="85725"/>
          </a:xfrm>
          <a:prstGeom prst="rect">
            <a:avLst/>
          </a:prstGeom>
          <a:solidFill>
            <a:srgbClr val="E5AB71"/>
          </a:solidFill>
          <a:ln w="15875" algn="ctr">
            <a:noFill/>
            <a:miter lim="800000"/>
          </a:ln>
        </p:spPr>
        <p:txBody>
          <a:bodyPr rot="10800000" vert="eaVert" lIns="115187" tIns="57593" rIns="115187" bIns="57593" anchor="ctr"/>
          <a:lstStyle/>
          <a:p>
            <a:pPr algn="ctr" defTabSz="1217295"/>
            <a:endParaRPr lang="zh-CN" altLang="en-US" sz="2400" dirty="0">
              <a:latin typeface="印品黑体" panose="00000500000000000000" pitchFamily="2" charset="-122"/>
              <a:ea typeface="印品黑体" panose="00000500000000000000" pitchFamily="2" charset="-122"/>
              <a:sym typeface="微软雅黑" panose="020B0503020204020204" pitchFamily="34" charset="-122"/>
            </a:endParaRPr>
          </a:p>
        </p:txBody>
      </p:sp>
      <p:cxnSp>
        <p:nvCxnSpPr>
          <p:cNvPr id="11" name="直接连接符 10">
            <a:extLst>
              <a:ext uri="{FF2B5EF4-FFF2-40B4-BE49-F238E27FC236}">
                <a16:creationId xmlns:a16="http://schemas.microsoft.com/office/drawing/2014/main" id="{2DA6B343-69D4-41F5-8268-05D2245F5BBC}"/>
              </a:ext>
            </a:extLst>
          </p:cNvPr>
          <p:cNvCxnSpPr>
            <a:cxnSpLocks noChangeShapeType="1"/>
          </p:cNvCxnSpPr>
          <p:nvPr/>
        </p:nvCxnSpPr>
        <p:spPr bwMode="auto">
          <a:xfrm>
            <a:off x="2225397" y="1538016"/>
            <a:ext cx="4327" cy="3544261"/>
          </a:xfrm>
          <a:prstGeom prst="line">
            <a:avLst/>
          </a:prstGeom>
          <a:noFill/>
          <a:ln w="9525" algn="ctr">
            <a:solidFill>
              <a:srgbClr val="3E2714"/>
            </a:solidFill>
            <a:prstDash val="dash"/>
            <a:round/>
            <a:headEnd type="oval" w="med" len="med"/>
          </a:ln>
        </p:spPr>
      </p:cxnSp>
      <p:sp>
        <p:nvSpPr>
          <p:cNvPr id="13" name="TextBox 73">
            <a:extLst>
              <a:ext uri="{FF2B5EF4-FFF2-40B4-BE49-F238E27FC236}">
                <a16:creationId xmlns:a16="http://schemas.microsoft.com/office/drawing/2014/main" id="{79C720B8-ECB3-4C8C-9B40-971752C5BD8F}"/>
              </a:ext>
            </a:extLst>
          </p:cNvPr>
          <p:cNvSpPr txBox="1">
            <a:spLocks noChangeArrowheads="1"/>
          </p:cNvSpPr>
          <p:nvPr/>
        </p:nvSpPr>
        <p:spPr bwMode="auto">
          <a:xfrm>
            <a:off x="2300836" y="1684709"/>
            <a:ext cx="1551084" cy="692497"/>
          </a:xfrm>
          <a:prstGeom prst="rect">
            <a:avLst/>
          </a:prstGeom>
          <a:noFill/>
          <a:ln w="9525">
            <a:noFill/>
            <a:miter lim="800000"/>
          </a:ln>
        </p:spPr>
        <p:txBody>
          <a:bodyPr wrap="square" lIns="0" tIns="0" rIns="0" bIns="0">
            <a:spAutoFit/>
          </a:bodyPr>
          <a:lstStyle/>
          <a:p>
            <a:pPr marL="285750" indent="-285750" defTabSz="1217295">
              <a:lnSpc>
                <a:spcPts val="1765"/>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企业把各种投入转换为产出的一个过程。</a:t>
            </a:r>
          </a:p>
        </p:txBody>
      </p:sp>
      <p:cxnSp>
        <p:nvCxnSpPr>
          <p:cNvPr id="17" name="直接连接符 16">
            <a:extLst>
              <a:ext uri="{FF2B5EF4-FFF2-40B4-BE49-F238E27FC236}">
                <a16:creationId xmlns:a16="http://schemas.microsoft.com/office/drawing/2014/main" id="{F663F504-07C1-4E31-89E1-237622A6D04B}"/>
              </a:ext>
            </a:extLst>
          </p:cNvPr>
          <p:cNvCxnSpPr>
            <a:cxnSpLocks noChangeShapeType="1"/>
          </p:cNvCxnSpPr>
          <p:nvPr/>
        </p:nvCxnSpPr>
        <p:spPr bwMode="auto">
          <a:xfrm>
            <a:off x="4045882" y="1553659"/>
            <a:ext cx="0" cy="3531525"/>
          </a:xfrm>
          <a:prstGeom prst="line">
            <a:avLst/>
          </a:prstGeom>
          <a:noFill/>
          <a:ln w="9525" algn="ctr">
            <a:solidFill>
              <a:srgbClr val="3E2714"/>
            </a:solidFill>
            <a:prstDash val="dash"/>
            <a:round/>
            <a:headEnd type="oval" w="med" len="med"/>
          </a:ln>
        </p:spPr>
      </p:cxnSp>
      <p:sp>
        <p:nvSpPr>
          <p:cNvPr id="18" name="TextBox 117">
            <a:extLst>
              <a:ext uri="{FF2B5EF4-FFF2-40B4-BE49-F238E27FC236}">
                <a16:creationId xmlns:a16="http://schemas.microsoft.com/office/drawing/2014/main" id="{69660574-D05B-4717-9454-BC13645F27FB}"/>
              </a:ext>
            </a:extLst>
          </p:cNvPr>
          <p:cNvSpPr txBox="1">
            <a:spLocks noChangeArrowheads="1"/>
          </p:cNvSpPr>
          <p:nvPr/>
        </p:nvSpPr>
        <p:spPr bwMode="auto">
          <a:xfrm>
            <a:off x="4210981" y="3475330"/>
            <a:ext cx="1790339" cy="830997"/>
          </a:xfrm>
          <a:prstGeom prst="rect">
            <a:avLst/>
          </a:prstGeom>
          <a:noFill/>
          <a:ln w="9525">
            <a:noFill/>
            <a:miter lim="800000"/>
          </a:ln>
        </p:spPr>
        <p:txBody>
          <a:bodyPr wrap="square" lIns="0" tIns="0" rIns="0" bIns="0">
            <a:spAutoFit/>
          </a:bodyPr>
          <a:lstStyle/>
          <a:p>
            <a:pPr marL="285750" indent="-285750" defTabSz="1217295">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劳动</a:t>
            </a:r>
            <a:r>
              <a:rPr lang="en-US" altLang="zh-CN" dirty="0">
                <a:latin typeface="微软雅黑" panose="020B0503020204020204" pitchFamily="34" charset="-122"/>
                <a:ea typeface="微软雅黑" panose="020B0503020204020204" pitchFamily="34" charset="-122"/>
                <a:sym typeface="微软雅黑" panose="020B0503020204020204" pitchFamily="34" charset="-122"/>
              </a:rPr>
              <a:t>L</a:t>
            </a: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、资本</a:t>
            </a:r>
            <a:r>
              <a:rPr lang="en-US" altLang="zh-CN" dirty="0">
                <a:latin typeface="微软雅黑" panose="020B0503020204020204" pitchFamily="34" charset="-122"/>
                <a:ea typeface="微软雅黑" panose="020B0503020204020204" pitchFamily="34" charset="-122"/>
                <a:sym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、土地</a:t>
            </a:r>
            <a:r>
              <a:rPr lang="en-US" altLang="zh-CN" dirty="0">
                <a:latin typeface="微软雅黑" panose="020B0503020204020204" pitchFamily="34" charset="-122"/>
                <a:ea typeface="微软雅黑" panose="020B0503020204020204" pitchFamily="34" charset="-122"/>
                <a:sym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sym typeface="微软雅黑" panose="020B0503020204020204" pitchFamily="34" charset="-122"/>
              </a:rPr>
              <a:t>、企业家才能</a:t>
            </a:r>
            <a:r>
              <a:rPr lang="en-US" altLang="zh-CN" dirty="0">
                <a:latin typeface="微软雅黑" panose="020B0503020204020204" pitchFamily="34" charset="-122"/>
                <a:ea typeface="微软雅黑" panose="020B0503020204020204" pitchFamily="34" charset="-122"/>
                <a:sym typeface="微软雅黑" panose="020B0503020204020204" pitchFamily="34" charset="-122"/>
              </a:rPr>
              <a:t>E</a:t>
            </a:r>
            <a:endParaRPr lang="zh-CN" altLang="en-US"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9" name="TextBox 118">
            <a:extLst>
              <a:ext uri="{FF2B5EF4-FFF2-40B4-BE49-F238E27FC236}">
                <a16:creationId xmlns:a16="http://schemas.microsoft.com/office/drawing/2014/main" id="{0703C81C-353B-489D-ACCA-0ED458C18B18}"/>
              </a:ext>
            </a:extLst>
          </p:cNvPr>
          <p:cNvSpPr txBox="1">
            <a:spLocks noChangeArrowheads="1"/>
          </p:cNvSpPr>
          <p:nvPr/>
        </p:nvSpPr>
        <p:spPr bwMode="auto">
          <a:xfrm>
            <a:off x="4231617" y="1684709"/>
            <a:ext cx="1365899" cy="461665"/>
          </a:xfrm>
          <a:prstGeom prst="rect">
            <a:avLst/>
          </a:prstGeom>
          <a:noFill/>
          <a:ln w="9525">
            <a:noFill/>
            <a:miter lim="800000"/>
          </a:ln>
        </p:spPr>
        <p:txBody>
          <a:bodyPr wrap="square" lIns="0" tIns="0" rIns="0" bIns="0">
            <a:spAutoFit/>
          </a:bodyPr>
          <a:lstStyle/>
          <a:p>
            <a:pPr marL="285750" indent="-285750" defTabSz="1217295">
              <a:lnSpc>
                <a:spcPts val="1765"/>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生产过程中的各种投入。</a:t>
            </a:r>
          </a:p>
        </p:txBody>
      </p:sp>
      <p:cxnSp>
        <p:nvCxnSpPr>
          <p:cNvPr id="23" name="直接连接符 22">
            <a:extLst>
              <a:ext uri="{FF2B5EF4-FFF2-40B4-BE49-F238E27FC236}">
                <a16:creationId xmlns:a16="http://schemas.microsoft.com/office/drawing/2014/main" id="{2E4C5A54-B368-4A64-A7D1-80DDB2FB73B1}"/>
              </a:ext>
            </a:extLst>
          </p:cNvPr>
          <p:cNvCxnSpPr>
            <a:cxnSpLocks noChangeShapeType="1"/>
          </p:cNvCxnSpPr>
          <p:nvPr/>
        </p:nvCxnSpPr>
        <p:spPr bwMode="auto">
          <a:xfrm>
            <a:off x="6219600" y="1538016"/>
            <a:ext cx="0" cy="3515418"/>
          </a:xfrm>
          <a:prstGeom prst="line">
            <a:avLst/>
          </a:prstGeom>
          <a:noFill/>
          <a:ln w="9525" algn="ctr">
            <a:solidFill>
              <a:srgbClr val="3E2714"/>
            </a:solidFill>
            <a:prstDash val="dash"/>
            <a:round/>
            <a:headEnd type="oval" w="med" len="med"/>
          </a:ln>
        </p:spPr>
      </p:cxnSp>
      <p:sp>
        <p:nvSpPr>
          <p:cNvPr id="25" name="TextBox 124">
            <a:extLst>
              <a:ext uri="{FF2B5EF4-FFF2-40B4-BE49-F238E27FC236}">
                <a16:creationId xmlns:a16="http://schemas.microsoft.com/office/drawing/2014/main" id="{1FA52478-209D-4116-A85B-9A21DE764EE2}"/>
              </a:ext>
            </a:extLst>
          </p:cNvPr>
          <p:cNvSpPr txBox="1">
            <a:spLocks noChangeArrowheads="1"/>
          </p:cNvSpPr>
          <p:nvPr/>
        </p:nvSpPr>
        <p:spPr bwMode="auto">
          <a:xfrm>
            <a:off x="6405337" y="1683965"/>
            <a:ext cx="2415129" cy="1384995"/>
          </a:xfrm>
          <a:prstGeom prst="rect">
            <a:avLst/>
          </a:prstGeom>
          <a:noFill/>
          <a:ln w="9525">
            <a:noFill/>
            <a:miter lim="800000"/>
          </a:ln>
        </p:spPr>
        <p:txBody>
          <a:bodyPr wrap="square" lIns="0" tIns="0" rIns="0" bIns="0">
            <a:spAutoFit/>
          </a:bodyPr>
          <a:lstStyle/>
          <a:p>
            <a:pPr marL="285750" indent="-285750" defTabSz="1217295">
              <a:lnSpc>
                <a:spcPts val="1765"/>
              </a:lnSpc>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sym typeface="微软雅黑" panose="020B0503020204020204" pitchFamily="34" charset="-122"/>
              </a:rPr>
              <a:t>生产函数表示在技术水平不变的条件下，企业在一定时期内使用的各种生产要素数量与它们所能生产的最大产量之间的关系。</a:t>
            </a:r>
          </a:p>
        </p:txBody>
      </p:sp>
      <p:sp>
        <p:nvSpPr>
          <p:cNvPr id="32" name="Freeform 9">
            <a:extLst>
              <a:ext uri="{FF2B5EF4-FFF2-40B4-BE49-F238E27FC236}">
                <a16:creationId xmlns:a16="http://schemas.microsoft.com/office/drawing/2014/main" id="{B7DC39B5-6A54-4480-B33E-32673784F5D2}"/>
              </a:ext>
            </a:extLst>
          </p:cNvPr>
          <p:cNvSpPr>
            <a:spLocks noEditPoints="1"/>
          </p:cNvSpPr>
          <p:nvPr/>
        </p:nvSpPr>
        <p:spPr bwMode="auto">
          <a:xfrm>
            <a:off x="222251" y="1556792"/>
            <a:ext cx="1806393" cy="2727965"/>
          </a:xfrm>
          <a:custGeom>
            <a:avLst/>
            <a:gdLst>
              <a:gd name="T0" fmla="*/ 2147483647 w 2676"/>
              <a:gd name="T1" fmla="*/ 2147483647 h 2848"/>
              <a:gd name="T2" fmla="*/ 2147483647 w 2676"/>
              <a:gd name="T3" fmla="*/ 2147483647 h 2848"/>
              <a:gd name="T4" fmla="*/ 2147483647 w 2676"/>
              <a:gd name="T5" fmla="*/ 2147483647 h 2848"/>
              <a:gd name="T6" fmla="*/ 0 w 2676"/>
              <a:gd name="T7" fmla="*/ 2147483647 h 2848"/>
              <a:gd name="T8" fmla="*/ 2147483647 w 2676"/>
              <a:gd name="T9" fmla="*/ 2147483647 h 2848"/>
              <a:gd name="T10" fmla="*/ 2147483647 w 2676"/>
              <a:gd name="T11" fmla="*/ 2147483647 h 2848"/>
              <a:gd name="T12" fmla="*/ 2147483647 w 2676"/>
              <a:gd name="T13" fmla="*/ 2147483647 h 2848"/>
              <a:gd name="T14" fmla="*/ 2147483647 w 2676"/>
              <a:gd name="T15" fmla="*/ 0 h 2848"/>
              <a:gd name="T16" fmla="*/ 2147483647 w 2676"/>
              <a:gd name="T17" fmla="*/ 2147483647 h 2848"/>
              <a:gd name="T18" fmla="*/ 2147483647 w 2676"/>
              <a:gd name="T19" fmla="*/ 2147483647 h 2848"/>
              <a:gd name="T20" fmla="*/ 2147483647 w 2676"/>
              <a:gd name="T21" fmla="*/ 2147483647 h 2848"/>
              <a:gd name="T22" fmla="*/ 2147483647 w 2676"/>
              <a:gd name="T23" fmla="*/ 2147483647 h 2848"/>
              <a:gd name="T24" fmla="*/ 2147483647 w 2676"/>
              <a:gd name="T25" fmla="*/ 2147483647 h 2848"/>
              <a:gd name="T26" fmla="*/ 2147483647 w 2676"/>
              <a:gd name="T27" fmla="*/ 2147483647 h 2848"/>
              <a:gd name="T28" fmla="*/ 2147483647 w 2676"/>
              <a:gd name="T29" fmla="*/ 2147483647 h 2848"/>
              <a:gd name="T30" fmla="*/ 2147483647 w 2676"/>
              <a:gd name="T31" fmla="*/ 2147483647 h 2848"/>
              <a:gd name="T32" fmla="*/ 2147483647 w 2676"/>
              <a:gd name="T33" fmla="*/ 2147483647 h 2848"/>
              <a:gd name="T34" fmla="*/ 2147483647 w 2676"/>
              <a:gd name="T35" fmla="*/ 2147483647 h 2848"/>
              <a:gd name="T36" fmla="*/ 2147483647 w 2676"/>
              <a:gd name="T37" fmla="*/ 2147483647 h 2848"/>
              <a:gd name="T38" fmla="*/ 2147483647 w 2676"/>
              <a:gd name="T39" fmla="*/ 2147483647 h 2848"/>
              <a:gd name="T40" fmla="*/ 2147483647 w 2676"/>
              <a:gd name="T41" fmla="*/ 2147483647 h 2848"/>
              <a:gd name="T42" fmla="*/ 2147483647 w 2676"/>
              <a:gd name="T43" fmla="*/ 2147483647 h 2848"/>
              <a:gd name="T44" fmla="*/ 2147483647 w 2676"/>
              <a:gd name="T45" fmla="*/ 2147483647 h 2848"/>
              <a:gd name="T46" fmla="*/ 2147483647 w 2676"/>
              <a:gd name="T47" fmla="*/ 2147483647 h 2848"/>
              <a:gd name="T48" fmla="*/ 2147483647 w 2676"/>
              <a:gd name="T49" fmla="*/ 2147483647 h 2848"/>
              <a:gd name="T50" fmla="*/ 2147483647 w 2676"/>
              <a:gd name="T51" fmla="*/ 2147483647 h 2848"/>
              <a:gd name="T52" fmla="*/ 2147483647 w 2676"/>
              <a:gd name="T53" fmla="*/ 2147483647 h 2848"/>
              <a:gd name="T54" fmla="*/ 2147483647 w 2676"/>
              <a:gd name="T55" fmla="*/ 2147483647 h 2848"/>
              <a:gd name="T56" fmla="*/ 2147483647 w 2676"/>
              <a:gd name="T57" fmla="*/ 2147483647 h 2848"/>
              <a:gd name="T58" fmla="*/ 2147483647 w 2676"/>
              <a:gd name="T59" fmla="*/ 2147483647 h 2848"/>
              <a:gd name="T60" fmla="*/ 2147483647 w 2676"/>
              <a:gd name="T61" fmla="*/ 2147483647 h 2848"/>
              <a:gd name="T62" fmla="*/ 2147483647 w 2676"/>
              <a:gd name="T63" fmla="*/ 2147483647 h 2848"/>
              <a:gd name="T64" fmla="*/ 2147483647 w 2676"/>
              <a:gd name="T65" fmla="*/ 2147483647 h 2848"/>
              <a:gd name="T66" fmla="*/ 2147483647 w 2676"/>
              <a:gd name="T67" fmla="*/ 2147483647 h 2848"/>
              <a:gd name="T68" fmla="*/ 2147483647 w 2676"/>
              <a:gd name="T69" fmla="*/ 2147483647 h 2848"/>
              <a:gd name="T70" fmla="*/ 2147483647 w 2676"/>
              <a:gd name="T71" fmla="*/ 2147483647 h 2848"/>
              <a:gd name="T72" fmla="*/ 2147483647 w 2676"/>
              <a:gd name="T73" fmla="*/ 2147483647 h 2848"/>
              <a:gd name="T74" fmla="*/ 2147483647 w 2676"/>
              <a:gd name="T75" fmla="*/ 2147483647 h 2848"/>
              <a:gd name="T76" fmla="*/ 2147483647 w 2676"/>
              <a:gd name="T77" fmla="*/ 2147483647 h 2848"/>
              <a:gd name="T78" fmla="*/ 2147483647 w 2676"/>
              <a:gd name="T79" fmla="*/ 2147483647 h 2848"/>
              <a:gd name="T80" fmla="*/ 2147483647 w 2676"/>
              <a:gd name="T81" fmla="*/ 2147483647 h 2848"/>
              <a:gd name="T82" fmla="*/ 2147483647 w 2676"/>
              <a:gd name="T83" fmla="*/ 2147483647 h 2848"/>
              <a:gd name="T84" fmla="*/ 2147483647 w 2676"/>
              <a:gd name="T85" fmla="*/ 2147483647 h 2848"/>
              <a:gd name="T86" fmla="*/ 2147483647 w 2676"/>
              <a:gd name="T87" fmla="*/ 2147483647 h 2848"/>
              <a:gd name="T88" fmla="*/ 2147483647 w 2676"/>
              <a:gd name="T89" fmla="*/ 2147483647 h 2848"/>
              <a:gd name="T90" fmla="*/ 2147483647 w 2676"/>
              <a:gd name="T91" fmla="*/ 2147483647 h 2848"/>
              <a:gd name="T92" fmla="*/ 2147483647 w 2676"/>
              <a:gd name="T93" fmla="*/ 2147483647 h 2848"/>
              <a:gd name="T94" fmla="*/ 2147483647 w 2676"/>
              <a:gd name="T95" fmla="*/ 2147483647 h 2848"/>
              <a:gd name="T96" fmla="*/ 2147483647 w 2676"/>
              <a:gd name="T97" fmla="*/ 2147483647 h 2848"/>
              <a:gd name="T98" fmla="*/ 2147483647 w 2676"/>
              <a:gd name="T99" fmla="*/ 2147483647 h 2848"/>
              <a:gd name="T100" fmla="*/ 2147483647 w 2676"/>
              <a:gd name="T101" fmla="*/ 2147483647 h 2848"/>
              <a:gd name="T102" fmla="*/ 2147483647 w 2676"/>
              <a:gd name="T103" fmla="*/ 2147483647 h 2848"/>
              <a:gd name="T104" fmla="*/ 2147483647 w 2676"/>
              <a:gd name="T105" fmla="*/ 2147483647 h 2848"/>
              <a:gd name="T106" fmla="*/ 2147483647 w 2676"/>
              <a:gd name="T107" fmla="*/ 2147483647 h 2848"/>
              <a:gd name="T108" fmla="*/ 2147483647 w 2676"/>
              <a:gd name="T109" fmla="*/ 2147483647 h 2848"/>
              <a:gd name="T110" fmla="*/ 2147483647 w 2676"/>
              <a:gd name="T111" fmla="*/ 2147483647 h 2848"/>
              <a:gd name="T112" fmla="*/ 2147483647 w 2676"/>
              <a:gd name="T113" fmla="*/ 2147483647 h 2848"/>
              <a:gd name="T114" fmla="*/ 2147483647 w 2676"/>
              <a:gd name="T115" fmla="*/ 2147483647 h 2848"/>
              <a:gd name="T116" fmla="*/ 2147483647 w 2676"/>
              <a:gd name="T117" fmla="*/ 2147483647 h 2848"/>
              <a:gd name="T118" fmla="*/ 2147483647 w 2676"/>
              <a:gd name="T119" fmla="*/ 2147483647 h 2848"/>
              <a:gd name="T120" fmla="*/ 2147483647 w 2676"/>
              <a:gd name="T121" fmla="*/ 2147483647 h 2848"/>
              <a:gd name="T122" fmla="*/ 2147483647 w 2676"/>
              <a:gd name="T123" fmla="*/ 2147483647 h 284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676"/>
              <a:gd name="T187" fmla="*/ 0 h 2848"/>
              <a:gd name="T188" fmla="*/ 2676 w 2676"/>
              <a:gd name="T189" fmla="*/ 2848 h 284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676" h="2848">
                <a:moveTo>
                  <a:pt x="764" y="1468"/>
                </a:moveTo>
                <a:lnTo>
                  <a:pt x="132" y="1468"/>
                </a:lnTo>
                <a:cubicBezTo>
                  <a:pt x="91" y="1468"/>
                  <a:pt x="58" y="1452"/>
                  <a:pt x="36" y="1427"/>
                </a:cubicBezTo>
                <a:cubicBezTo>
                  <a:pt x="12" y="1401"/>
                  <a:pt x="0" y="1365"/>
                  <a:pt x="0" y="1325"/>
                </a:cubicBezTo>
                <a:cubicBezTo>
                  <a:pt x="0" y="1220"/>
                  <a:pt x="16" y="1037"/>
                  <a:pt x="83" y="843"/>
                </a:cubicBezTo>
                <a:cubicBezTo>
                  <a:pt x="128" y="710"/>
                  <a:pt x="198" y="572"/>
                  <a:pt x="302" y="448"/>
                </a:cubicBezTo>
                <a:cubicBezTo>
                  <a:pt x="463" y="257"/>
                  <a:pt x="645" y="145"/>
                  <a:pt x="830" y="80"/>
                </a:cubicBezTo>
                <a:cubicBezTo>
                  <a:pt x="1014" y="16"/>
                  <a:pt x="1200" y="0"/>
                  <a:pt x="1369" y="0"/>
                </a:cubicBezTo>
                <a:cubicBezTo>
                  <a:pt x="1521" y="0"/>
                  <a:pt x="1738" y="26"/>
                  <a:pt x="1955" y="115"/>
                </a:cubicBezTo>
                <a:cubicBezTo>
                  <a:pt x="2115" y="180"/>
                  <a:pt x="2276" y="279"/>
                  <a:pt x="2412" y="426"/>
                </a:cubicBezTo>
                <a:cubicBezTo>
                  <a:pt x="2517" y="540"/>
                  <a:pt x="2583" y="667"/>
                  <a:pt x="2623" y="798"/>
                </a:cubicBezTo>
                <a:cubicBezTo>
                  <a:pt x="2669" y="953"/>
                  <a:pt x="2676" y="1113"/>
                  <a:pt x="2663" y="1258"/>
                </a:cubicBezTo>
                <a:cubicBezTo>
                  <a:pt x="2645" y="1440"/>
                  <a:pt x="2572" y="1589"/>
                  <a:pt x="2470" y="1716"/>
                </a:cubicBezTo>
                <a:cubicBezTo>
                  <a:pt x="2370" y="1841"/>
                  <a:pt x="2243" y="1944"/>
                  <a:pt x="2115" y="2036"/>
                </a:cubicBezTo>
                <a:cubicBezTo>
                  <a:pt x="1973" y="2139"/>
                  <a:pt x="1882" y="2230"/>
                  <a:pt x="1826" y="2320"/>
                </a:cubicBezTo>
                <a:cubicBezTo>
                  <a:pt x="1773" y="2408"/>
                  <a:pt x="1753" y="2497"/>
                  <a:pt x="1753" y="2597"/>
                </a:cubicBezTo>
                <a:lnTo>
                  <a:pt x="1753" y="2808"/>
                </a:lnTo>
                <a:lnTo>
                  <a:pt x="1753" y="2848"/>
                </a:lnTo>
                <a:lnTo>
                  <a:pt x="1713" y="2848"/>
                </a:lnTo>
                <a:lnTo>
                  <a:pt x="904" y="2848"/>
                </a:lnTo>
                <a:lnTo>
                  <a:pt x="864" y="2848"/>
                </a:lnTo>
                <a:lnTo>
                  <a:pt x="864" y="2808"/>
                </a:lnTo>
                <a:lnTo>
                  <a:pt x="864" y="2501"/>
                </a:lnTo>
                <a:cubicBezTo>
                  <a:pt x="864" y="2304"/>
                  <a:pt x="896" y="2146"/>
                  <a:pt x="963" y="2008"/>
                </a:cubicBezTo>
                <a:cubicBezTo>
                  <a:pt x="1029" y="1870"/>
                  <a:pt x="1127" y="1754"/>
                  <a:pt x="1258" y="1640"/>
                </a:cubicBezTo>
                <a:cubicBezTo>
                  <a:pt x="1295" y="1608"/>
                  <a:pt x="1342" y="1576"/>
                  <a:pt x="1391" y="1542"/>
                </a:cubicBezTo>
                <a:cubicBezTo>
                  <a:pt x="1526" y="1449"/>
                  <a:pt x="1684" y="1340"/>
                  <a:pt x="1684" y="1195"/>
                </a:cubicBezTo>
                <a:cubicBezTo>
                  <a:pt x="1684" y="1109"/>
                  <a:pt x="1649" y="1032"/>
                  <a:pt x="1585" y="977"/>
                </a:cubicBezTo>
                <a:cubicBezTo>
                  <a:pt x="1523" y="924"/>
                  <a:pt x="1435" y="891"/>
                  <a:pt x="1325" y="891"/>
                </a:cubicBezTo>
                <a:cubicBezTo>
                  <a:pt x="1211" y="891"/>
                  <a:pt x="1103" y="939"/>
                  <a:pt x="1020" y="1022"/>
                </a:cubicBezTo>
                <a:cubicBezTo>
                  <a:pt x="939" y="1103"/>
                  <a:pt x="882" y="1218"/>
                  <a:pt x="867" y="1355"/>
                </a:cubicBezTo>
                <a:cubicBezTo>
                  <a:pt x="865" y="1381"/>
                  <a:pt x="861" y="1405"/>
                  <a:pt x="848" y="1426"/>
                </a:cubicBezTo>
                <a:cubicBezTo>
                  <a:pt x="832" y="1452"/>
                  <a:pt x="807" y="1468"/>
                  <a:pt x="764" y="1468"/>
                </a:cubicBezTo>
                <a:close/>
                <a:moveTo>
                  <a:pt x="132" y="1388"/>
                </a:moveTo>
                <a:lnTo>
                  <a:pt x="764" y="1388"/>
                </a:lnTo>
                <a:cubicBezTo>
                  <a:pt x="774" y="1388"/>
                  <a:pt x="779" y="1387"/>
                  <a:pt x="780" y="1384"/>
                </a:cubicBezTo>
                <a:cubicBezTo>
                  <a:pt x="784" y="1378"/>
                  <a:pt x="786" y="1363"/>
                  <a:pt x="788" y="1347"/>
                </a:cubicBezTo>
                <a:cubicBezTo>
                  <a:pt x="805" y="1191"/>
                  <a:pt x="870" y="1059"/>
                  <a:pt x="963" y="966"/>
                </a:cubicBezTo>
                <a:cubicBezTo>
                  <a:pt x="1061" y="867"/>
                  <a:pt x="1190" y="811"/>
                  <a:pt x="1325" y="811"/>
                </a:cubicBezTo>
                <a:cubicBezTo>
                  <a:pt x="1455" y="811"/>
                  <a:pt x="1561" y="851"/>
                  <a:pt x="1637" y="916"/>
                </a:cubicBezTo>
                <a:cubicBezTo>
                  <a:pt x="1719" y="987"/>
                  <a:pt x="1764" y="1086"/>
                  <a:pt x="1764" y="1195"/>
                </a:cubicBezTo>
                <a:cubicBezTo>
                  <a:pt x="1764" y="1382"/>
                  <a:pt x="1588" y="1504"/>
                  <a:pt x="1436" y="1608"/>
                </a:cubicBezTo>
                <a:cubicBezTo>
                  <a:pt x="1389" y="1640"/>
                  <a:pt x="1344" y="1671"/>
                  <a:pt x="1311" y="1700"/>
                </a:cubicBezTo>
                <a:cubicBezTo>
                  <a:pt x="1187" y="1808"/>
                  <a:pt x="1095" y="1916"/>
                  <a:pt x="1034" y="2042"/>
                </a:cubicBezTo>
                <a:cubicBezTo>
                  <a:pt x="974" y="2169"/>
                  <a:pt x="944" y="2316"/>
                  <a:pt x="944" y="2501"/>
                </a:cubicBezTo>
                <a:lnTo>
                  <a:pt x="944" y="2768"/>
                </a:lnTo>
                <a:lnTo>
                  <a:pt x="1673" y="2768"/>
                </a:lnTo>
                <a:lnTo>
                  <a:pt x="1673" y="2597"/>
                </a:lnTo>
                <a:cubicBezTo>
                  <a:pt x="1673" y="2483"/>
                  <a:pt x="1696" y="2381"/>
                  <a:pt x="1758" y="2279"/>
                </a:cubicBezTo>
                <a:cubicBezTo>
                  <a:pt x="1819" y="2179"/>
                  <a:pt x="1917" y="2081"/>
                  <a:pt x="2069" y="1971"/>
                </a:cubicBezTo>
                <a:cubicBezTo>
                  <a:pt x="2191" y="1883"/>
                  <a:pt x="2313" y="1784"/>
                  <a:pt x="2408" y="1666"/>
                </a:cubicBezTo>
                <a:cubicBezTo>
                  <a:pt x="2500" y="1550"/>
                  <a:pt x="2567" y="1415"/>
                  <a:pt x="2583" y="1250"/>
                </a:cubicBezTo>
                <a:cubicBezTo>
                  <a:pt x="2596" y="1115"/>
                  <a:pt x="2590" y="966"/>
                  <a:pt x="2546" y="820"/>
                </a:cubicBezTo>
                <a:cubicBezTo>
                  <a:pt x="2510" y="701"/>
                  <a:pt x="2449" y="584"/>
                  <a:pt x="2353" y="481"/>
                </a:cubicBezTo>
                <a:cubicBezTo>
                  <a:pt x="2226" y="343"/>
                  <a:pt x="2075" y="250"/>
                  <a:pt x="1925" y="189"/>
                </a:cubicBezTo>
                <a:cubicBezTo>
                  <a:pt x="1719" y="105"/>
                  <a:pt x="1514" y="80"/>
                  <a:pt x="1369" y="80"/>
                </a:cubicBezTo>
                <a:cubicBezTo>
                  <a:pt x="1207" y="80"/>
                  <a:pt x="1030" y="95"/>
                  <a:pt x="857" y="156"/>
                </a:cubicBezTo>
                <a:cubicBezTo>
                  <a:pt x="684" y="216"/>
                  <a:pt x="514" y="321"/>
                  <a:pt x="363" y="500"/>
                </a:cubicBezTo>
                <a:cubicBezTo>
                  <a:pt x="266" y="614"/>
                  <a:pt x="201" y="744"/>
                  <a:pt x="158" y="869"/>
                </a:cubicBezTo>
                <a:cubicBezTo>
                  <a:pt x="95" y="1053"/>
                  <a:pt x="80" y="1226"/>
                  <a:pt x="80" y="1325"/>
                </a:cubicBezTo>
                <a:cubicBezTo>
                  <a:pt x="80" y="1346"/>
                  <a:pt x="85" y="1363"/>
                  <a:pt x="95" y="1374"/>
                </a:cubicBezTo>
                <a:cubicBezTo>
                  <a:pt x="103" y="1383"/>
                  <a:pt x="115" y="1388"/>
                  <a:pt x="132" y="1388"/>
                </a:cubicBezTo>
                <a:close/>
              </a:path>
            </a:pathLst>
          </a:custGeom>
          <a:solidFill>
            <a:srgbClr val="E5AB71"/>
          </a:solidFill>
          <a:ln w="9525">
            <a:noFill/>
            <a:round/>
          </a:ln>
        </p:spPr>
        <p:txBody>
          <a:bodyPr/>
          <a:lstStyle/>
          <a:p>
            <a:pPr defTabSz="914400"/>
            <a:endParaRPr lang="zh-CN" altLang="en-US" dirty="0">
              <a:latin typeface="印品黑体" panose="00000500000000000000" pitchFamily="2" charset="-122"/>
              <a:ea typeface="印品黑体" panose="00000500000000000000" pitchFamily="2" charset="-122"/>
              <a:sym typeface="微软雅黑" panose="020B0503020204020204" pitchFamily="34" charset="-122"/>
            </a:endParaRPr>
          </a:p>
        </p:txBody>
      </p:sp>
      <p:sp>
        <p:nvSpPr>
          <p:cNvPr id="37" name="矩形 36">
            <a:extLst>
              <a:ext uri="{FF2B5EF4-FFF2-40B4-BE49-F238E27FC236}">
                <a16:creationId xmlns:a16="http://schemas.microsoft.com/office/drawing/2014/main" id="{3948D3EF-4110-4A8E-BF3A-ED2BDDBF1933}"/>
              </a:ext>
            </a:extLst>
          </p:cNvPr>
          <p:cNvSpPr/>
          <p:nvPr/>
        </p:nvSpPr>
        <p:spPr>
          <a:xfrm>
            <a:off x="580922" y="520573"/>
            <a:ext cx="312698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一、生产和生产函数</a:t>
            </a:r>
          </a:p>
        </p:txBody>
      </p:sp>
      <p:sp>
        <p:nvSpPr>
          <p:cNvPr id="39" name="矩形 38">
            <a:extLst>
              <a:ext uri="{FF2B5EF4-FFF2-40B4-BE49-F238E27FC236}">
                <a16:creationId xmlns:a16="http://schemas.microsoft.com/office/drawing/2014/main" id="{E8E28CB4-A187-4B2A-85EC-CB772D79C869}"/>
              </a:ext>
            </a:extLst>
          </p:cNvPr>
          <p:cNvSpPr/>
          <p:nvPr/>
        </p:nvSpPr>
        <p:spPr>
          <a:xfrm>
            <a:off x="2609023" y="5303034"/>
            <a:ext cx="1043876" cy="400110"/>
          </a:xfrm>
          <a:prstGeom prst="rect">
            <a:avLst/>
          </a:prstGeom>
          <a:noFill/>
        </p:spPr>
        <p:txBody>
          <a:bodyPr wrap="none">
            <a:spAutoFit/>
          </a:bodyPr>
          <a:lstStyle/>
          <a:p>
            <a:pPr marL="342900" indent="-34290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生产</a:t>
            </a:r>
          </a:p>
        </p:txBody>
      </p:sp>
      <p:sp>
        <p:nvSpPr>
          <p:cNvPr id="40" name="矩形 39">
            <a:extLst>
              <a:ext uri="{FF2B5EF4-FFF2-40B4-BE49-F238E27FC236}">
                <a16:creationId xmlns:a16="http://schemas.microsoft.com/office/drawing/2014/main" id="{72A130FB-46D1-47A4-910B-C0AB78B89A7E}"/>
              </a:ext>
            </a:extLst>
          </p:cNvPr>
          <p:cNvSpPr/>
          <p:nvPr/>
        </p:nvSpPr>
        <p:spPr>
          <a:xfrm>
            <a:off x="4258968" y="5303034"/>
            <a:ext cx="1556836" cy="400110"/>
          </a:xfrm>
          <a:prstGeom prst="rect">
            <a:avLst/>
          </a:prstGeom>
          <a:noFill/>
        </p:spPr>
        <p:txBody>
          <a:bodyPr wrap="none">
            <a:spAutoFit/>
          </a:bodyPr>
          <a:lstStyle/>
          <a:p>
            <a:pPr marL="342900" indent="-34290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生产要素</a:t>
            </a:r>
          </a:p>
        </p:txBody>
      </p:sp>
      <p:sp>
        <p:nvSpPr>
          <p:cNvPr id="41" name="矩形 40">
            <a:extLst>
              <a:ext uri="{FF2B5EF4-FFF2-40B4-BE49-F238E27FC236}">
                <a16:creationId xmlns:a16="http://schemas.microsoft.com/office/drawing/2014/main" id="{37DE06C1-F7E0-4EF6-9627-175BD7427D5F}"/>
              </a:ext>
            </a:extLst>
          </p:cNvPr>
          <p:cNvSpPr/>
          <p:nvPr/>
        </p:nvSpPr>
        <p:spPr>
          <a:xfrm>
            <a:off x="6363503" y="5303034"/>
            <a:ext cx="1556836" cy="400110"/>
          </a:xfrm>
          <a:prstGeom prst="rect">
            <a:avLst/>
          </a:prstGeom>
          <a:noFill/>
        </p:spPr>
        <p:txBody>
          <a:bodyPr wrap="none">
            <a:spAutoFit/>
          </a:bodyPr>
          <a:lstStyle/>
          <a:p>
            <a:pPr marL="342900" indent="-34290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生产函数</a:t>
            </a: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BFD14754-E339-4784-87B2-33971319BE8E}"/>
                  </a:ext>
                </a:extLst>
              </p:cNvPr>
              <p:cNvSpPr txBox="1"/>
              <p:nvPr/>
            </p:nvSpPr>
            <p:spPr>
              <a:xfrm>
                <a:off x="6437871" y="3429000"/>
                <a:ext cx="2238585" cy="276999"/>
              </a:xfrm>
              <a:prstGeom prst="rect">
                <a:avLst/>
              </a:prstGeom>
              <a:noFill/>
            </p:spPr>
            <p:txBody>
              <a:bodyPr wrap="square" lIns="0" tIns="0" rIns="0" bIns="0" rtlCol="0">
                <a:spAutoFit/>
              </a:bodyPr>
              <a:lstStyle/>
              <a:p>
                <a:pPr marL="285750" indent="-285750">
                  <a:buFont typeface="Wingdings" panose="05000000000000000000" pitchFamily="2" charset="2"/>
                  <a:buChar char="Ø"/>
                </a:pPr>
                <a14:m>
                  <m:oMath xmlns:m="http://schemas.openxmlformats.org/officeDocument/2006/math">
                    <m:r>
                      <a:rPr lang="zh-CN" altLang="en-US" i="1" dirty="0" smtClean="0">
                        <a:solidFill>
                          <a:schemeClr val="tx1"/>
                        </a:solidFill>
                        <a:latin typeface="Cambria Math" panose="02040503050406030204" pitchFamily="18" charset="0"/>
                      </a:rPr>
                      <m:t>𝑄</m:t>
                    </m:r>
                    <m:r>
                      <a:rPr lang="zh-CN" altLang="en-US" i="1" smtClean="0">
                        <a:solidFill>
                          <a:schemeClr val="tx1"/>
                        </a:solidFill>
                        <a:latin typeface="Cambria Math" panose="02040503050406030204" pitchFamily="18" charset="0"/>
                      </a:rPr>
                      <m:t>=</m:t>
                    </m:r>
                    <m:r>
                      <a:rPr lang="zh-CN" altLang="en-US" i="1" smtClean="0">
                        <a:solidFill>
                          <a:schemeClr val="tx1"/>
                        </a:solidFill>
                        <a:latin typeface="Cambria Math" panose="02040503050406030204" pitchFamily="18" charset="0"/>
                      </a:rPr>
                      <m:t>𝑓</m:t>
                    </m:r>
                  </m:oMath>
                </a14:m>
                <a:r>
                  <a:rPr lang="en-US" altLang="zh-CN" i="1" dirty="0">
                    <a:solidFill>
                      <a:schemeClr val="tx1"/>
                    </a:solidFill>
                    <a:latin typeface="微软雅黑" panose="020B0503020204020204" pitchFamily="34" charset="-122"/>
                    <a:ea typeface="微软雅黑" panose="020B0503020204020204" pitchFamily="34" charset="-122"/>
                  </a:rPr>
                  <a:t>( </a:t>
                </a:r>
                <a:r>
                  <a:rPr lang="en-US" altLang="zh-CN" i="1" dirty="0">
                    <a:solidFill>
                      <a:schemeClr val="tx1"/>
                    </a:solidFill>
                    <a:latin typeface="+mn-ea"/>
                    <a:ea typeface="+mn-ea"/>
                  </a:rPr>
                  <a:t>L,K,N,E…</a:t>
                </a:r>
                <a:r>
                  <a:rPr lang="en-US" altLang="zh-CN" i="1" dirty="0">
                    <a:solidFill>
                      <a:schemeClr val="tx1"/>
                    </a:solidFill>
                    <a:latin typeface="微软雅黑" panose="020B0503020204020204" pitchFamily="34" charset="-122"/>
                    <a:ea typeface="微软雅黑" panose="020B0503020204020204" pitchFamily="34" charset="-122"/>
                  </a:rPr>
                  <a:t>)</a:t>
                </a:r>
                <a:endParaRPr lang="zh-CN" altLang="en-US"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3" name="文本框 42">
                <a:extLst>
                  <a:ext uri="{FF2B5EF4-FFF2-40B4-BE49-F238E27FC236}">
                    <a16:creationId xmlns:a16="http://schemas.microsoft.com/office/drawing/2014/main" id="{BFD14754-E339-4784-87B2-33971319BE8E}"/>
                  </a:ext>
                </a:extLst>
              </p:cNvPr>
              <p:cNvSpPr txBox="1">
                <a:spLocks noRot="1" noChangeAspect="1" noMove="1" noResize="1" noEditPoints="1" noAdjustHandles="1" noChangeArrowheads="1" noChangeShapeType="1" noTextEdit="1"/>
              </p:cNvSpPr>
              <p:nvPr/>
            </p:nvSpPr>
            <p:spPr>
              <a:xfrm>
                <a:off x="6437871" y="3429000"/>
                <a:ext cx="2238585" cy="276999"/>
              </a:xfrm>
              <a:prstGeom prst="rect">
                <a:avLst/>
              </a:prstGeom>
              <a:blipFill>
                <a:blip r:embed="rId2"/>
                <a:stretch>
                  <a:fillRect l="-5722" t="-33333" r="-2452" b="-5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B4DC48DD-D2F8-4E14-8639-2E690CA6B20B}"/>
                  </a:ext>
                </a:extLst>
              </p:cNvPr>
              <p:cNvSpPr txBox="1"/>
              <p:nvPr/>
            </p:nvSpPr>
            <p:spPr>
              <a:xfrm>
                <a:off x="6437871" y="3869899"/>
                <a:ext cx="1558440" cy="276999"/>
              </a:xfrm>
              <a:prstGeom prst="rect">
                <a:avLst/>
              </a:prstGeom>
              <a:noFill/>
            </p:spPr>
            <p:txBody>
              <a:bodyPr wrap="none" lIns="0" tIns="0" rIns="0" bIns="0" rtlCol="0">
                <a:spAutoFit/>
              </a:bodyPr>
              <a:lstStyle/>
              <a:p>
                <a:pPr marL="285750" indent="-285750">
                  <a:buFont typeface="Wingdings" panose="05000000000000000000" pitchFamily="2" charset="2"/>
                  <a:buChar char="Ø"/>
                </a:pPr>
                <a14:m>
                  <m:oMath xmlns:m="http://schemas.openxmlformats.org/officeDocument/2006/math">
                    <m:r>
                      <a:rPr lang="zh-CN" altLang="en-US" i="1" smtClean="0">
                        <a:solidFill>
                          <a:schemeClr val="tx1"/>
                        </a:solidFill>
                        <a:latin typeface="Cambria Math" panose="02040503050406030204" pitchFamily="18" charset="0"/>
                      </a:rPr>
                      <m:t>𝑄</m:t>
                    </m:r>
                    <m:r>
                      <a:rPr lang="zh-CN" altLang="en-US" i="1" smtClean="0">
                        <a:solidFill>
                          <a:schemeClr val="tx1"/>
                        </a:solidFill>
                        <a:latin typeface="Cambria Math" panose="02040503050406030204" pitchFamily="18" charset="0"/>
                      </a:rPr>
                      <m:t>=</m:t>
                    </m:r>
                    <m:r>
                      <a:rPr lang="zh-CN" altLang="en-US" i="1" smtClean="0">
                        <a:solidFill>
                          <a:schemeClr val="tx1"/>
                        </a:solidFill>
                        <a:latin typeface="Cambria Math" panose="02040503050406030204" pitchFamily="18" charset="0"/>
                      </a:rPr>
                      <m:t>𝑓</m:t>
                    </m:r>
                    <m:r>
                      <m:rPr>
                        <m:nor/>
                      </m:rPr>
                      <a:rPr lang="en-US" altLang="zh-CN" i="1" dirty="0" smtClean="0">
                        <a:solidFill>
                          <a:schemeClr val="tx1"/>
                        </a:solidFill>
                        <a:latin typeface="微软雅黑" panose="020B0503020204020204" pitchFamily="34" charset="-122"/>
                        <a:ea typeface="微软雅黑" panose="020B0503020204020204" pitchFamily="34" charset="-122"/>
                      </a:rPr>
                      <m:t>(</m:t>
                    </m:r>
                    <m:r>
                      <m:rPr>
                        <m:nor/>
                      </m:rPr>
                      <a:rPr lang="en-US" altLang="zh-CN" b="0" dirty="0" smtClean="0">
                        <a:solidFill>
                          <a:schemeClr val="tx1"/>
                        </a:solidFill>
                      </a:rPr>
                      <m:t> </m:t>
                    </m:r>
                    <m:r>
                      <m:rPr>
                        <m:nor/>
                      </m:rPr>
                      <a:rPr lang="en-US" altLang="zh-CN" i="1" dirty="0">
                        <a:solidFill>
                          <a:schemeClr val="tx1"/>
                        </a:solidFill>
                        <a:latin typeface="+mn-ea"/>
                      </a:rPr>
                      <m:t>L</m:t>
                    </m:r>
                    <m:r>
                      <m:rPr>
                        <m:nor/>
                      </m:rPr>
                      <a:rPr lang="en-US" altLang="zh-CN" i="1" dirty="0">
                        <a:solidFill>
                          <a:schemeClr val="tx1"/>
                        </a:solidFill>
                        <a:latin typeface="+mn-ea"/>
                      </a:rPr>
                      <m:t>,</m:t>
                    </m:r>
                    <m:r>
                      <m:rPr>
                        <m:nor/>
                      </m:rPr>
                      <a:rPr lang="en-US" altLang="zh-CN" i="1" dirty="0">
                        <a:solidFill>
                          <a:schemeClr val="tx1"/>
                        </a:solidFill>
                        <a:latin typeface="+mn-ea"/>
                      </a:rPr>
                      <m:t>K</m:t>
                    </m:r>
                    <m:r>
                      <m:rPr>
                        <m:nor/>
                      </m:rPr>
                      <a:rPr lang="en-US" altLang="zh-CN" b="0" i="1" dirty="0" smtClean="0">
                        <a:solidFill>
                          <a:schemeClr val="tx1"/>
                        </a:solidFill>
                        <a:latin typeface="+mn-ea"/>
                      </a:rPr>
                      <m:t> </m:t>
                    </m:r>
                    <m:r>
                      <m:rPr>
                        <m:nor/>
                      </m:rPr>
                      <a:rPr lang="en-US" altLang="zh-CN" i="1" dirty="0">
                        <a:solidFill>
                          <a:schemeClr val="tx1"/>
                        </a:solidFill>
                        <a:latin typeface="微软雅黑" panose="020B0503020204020204" pitchFamily="34" charset="-122"/>
                        <a:ea typeface="微软雅黑" panose="020B0503020204020204" pitchFamily="34" charset="-122"/>
                      </a:rPr>
                      <m:t>)</m:t>
                    </m:r>
                  </m:oMath>
                </a14:m>
                <a:endParaRPr lang="zh-CN" altLang="en-US"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45" name="文本框 44">
                <a:extLst>
                  <a:ext uri="{FF2B5EF4-FFF2-40B4-BE49-F238E27FC236}">
                    <a16:creationId xmlns:a16="http://schemas.microsoft.com/office/drawing/2014/main" id="{B4DC48DD-D2F8-4E14-8639-2E690CA6B20B}"/>
                  </a:ext>
                </a:extLst>
              </p:cNvPr>
              <p:cNvSpPr txBox="1">
                <a:spLocks noRot="1" noChangeAspect="1" noMove="1" noResize="1" noEditPoints="1" noAdjustHandles="1" noChangeArrowheads="1" noChangeShapeType="1" noTextEdit="1"/>
              </p:cNvSpPr>
              <p:nvPr/>
            </p:nvSpPr>
            <p:spPr>
              <a:xfrm>
                <a:off x="6437871" y="3869899"/>
                <a:ext cx="1558440" cy="276999"/>
              </a:xfrm>
              <a:prstGeom prst="rect">
                <a:avLst/>
              </a:prstGeom>
              <a:blipFill>
                <a:blip r:embed="rId3"/>
                <a:stretch>
                  <a:fillRect l="-8203" t="-20000" r="-6250" b="-44444"/>
                </a:stretch>
              </a:blipFill>
            </p:spPr>
            <p:txBody>
              <a:bodyPr/>
              <a:lstStyle/>
              <a:p>
                <a:r>
                  <a:rPr lang="zh-CN" altLang="en-US">
                    <a:noFill/>
                  </a:rPr>
                  <a:t> </a:t>
                </a:r>
              </a:p>
            </p:txBody>
          </p:sp>
        </mc:Fallback>
      </mc:AlternateContent>
      <p:sp>
        <p:nvSpPr>
          <p:cNvPr id="9" name="标注: 线形 8">
            <a:extLst>
              <a:ext uri="{FF2B5EF4-FFF2-40B4-BE49-F238E27FC236}">
                <a16:creationId xmlns:a16="http://schemas.microsoft.com/office/drawing/2014/main" id="{C096C31F-66BE-496E-8972-FC4DBC0AB202}"/>
              </a:ext>
            </a:extLst>
          </p:cNvPr>
          <p:cNvSpPr/>
          <p:nvPr/>
        </p:nvSpPr>
        <p:spPr bwMode="auto">
          <a:xfrm>
            <a:off x="5724128" y="638004"/>
            <a:ext cx="3197353" cy="612648"/>
          </a:xfrm>
          <a:prstGeom prst="borderCallout1">
            <a:avLst>
              <a:gd name="adj1" fmla="val 18750"/>
              <a:gd name="adj2" fmla="val -8333"/>
              <a:gd name="adj3" fmla="val 151566"/>
              <a:gd name="adj4" fmla="val 443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生产函数反映了企业所使用的生产技术状况，是单值函数。</a:t>
            </a:r>
          </a:p>
        </p:txBody>
      </p:sp>
    </p:spTree>
    <p:extLst>
      <p:ext uri="{BB962C8B-B14F-4D97-AF65-F5344CB8AC3E}">
        <p14:creationId xmlns:p14="http://schemas.microsoft.com/office/powerpoint/2010/main" val="196793685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fltVal val="0"/>
                                          </p:val>
                                        </p:tav>
                                        <p:tav tm="100000">
                                          <p:val>
                                            <p:strVal val="#ppt_h"/>
                                          </p:val>
                                        </p:tav>
                                      </p:tavLst>
                                    </p:anim>
                                    <p:animEffect transition="in" filter="fade">
                                      <p:cBhvr>
                                        <p:cTn id="9" dur="500"/>
                                        <p:tgtEl>
                                          <p:spTgt spid="37"/>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circle(in)">
                                      <p:cBhvr>
                                        <p:cTn id="14" dur="2000"/>
                                        <p:tgtEl>
                                          <p:spTgt spid="3"/>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in)">
                                      <p:cBhvr>
                                        <p:cTn id="17" dur="2000"/>
                                        <p:tgtEl>
                                          <p:spTgt spid="5"/>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circle(in)">
                                      <p:cBhvr>
                                        <p:cTn id="20" dur="2000"/>
                                        <p:tgtEl>
                                          <p:spTgt spid="6"/>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circle(in)">
                                      <p:cBhvr>
                                        <p:cTn id="23" dur="2000"/>
                                        <p:tgtEl>
                                          <p:spTgt spid="7"/>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circle(in)">
                                      <p:cBhvr>
                                        <p:cTn id="26" dur="2000"/>
                                        <p:tgtEl>
                                          <p:spTgt spid="32"/>
                                        </p:tgtEl>
                                      </p:cBhvr>
                                    </p:animEffect>
                                  </p:childTnLst>
                                </p:cTn>
                              </p:par>
                              <p:par>
                                <p:cTn id="27" presetID="6" presetClass="entr" presetSubtype="16"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circle(in)">
                                      <p:cBhvr>
                                        <p:cTn id="29" dur="20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fade">
                                      <p:cBhvr>
                                        <p:cTn id="34" dur="500"/>
                                        <p:tgtEl>
                                          <p:spTgt spid="22"/>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wipe(down)">
                                      <p:cBhvr>
                                        <p:cTn id="45" dur="500"/>
                                        <p:tgtEl>
                                          <p:spTgt spid="13"/>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fade">
                                      <p:cBhvr>
                                        <p:cTn id="53" dur="500"/>
                                        <p:tgtEl>
                                          <p:spTgt spid="4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17"/>
                                        </p:tgtEl>
                                        <p:attrNameLst>
                                          <p:attrName>style.visibility</p:attrName>
                                        </p:attrNameLst>
                                      </p:cBhvr>
                                      <p:to>
                                        <p:strVal val="visible"/>
                                      </p:to>
                                    </p:set>
                                    <p:animEffect transition="in" filter="wipe(down)">
                                      <p:cBhvr>
                                        <p:cTn id="58" dur="500"/>
                                        <p:tgtEl>
                                          <p:spTgt spid="17"/>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animEffect transition="in" filter="wipe(down)">
                                      <p:cBhvr>
                                        <p:cTn id="61" dur="500"/>
                                        <p:tgtEl>
                                          <p:spTgt spid="18"/>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down)">
                                      <p:cBhvr>
                                        <p:cTn id="66" dur="500"/>
                                        <p:tgtEl>
                                          <p:spTgt spid="19"/>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41"/>
                                        </p:tgtEl>
                                        <p:attrNameLst>
                                          <p:attrName>style.visibility</p:attrName>
                                        </p:attrNameLst>
                                      </p:cBhvr>
                                      <p:to>
                                        <p:strVal val="visible"/>
                                      </p:to>
                                    </p:set>
                                    <p:animEffect transition="in" filter="fade">
                                      <p:cBhvr>
                                        <p:cTn id="74" dur="500"/>
                                        <p:tgtEl>
                                          <p:spTgt spid="41"/>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wipe(down)">
                                      <p:cBhvr>
                                        <p:cTn id="79" dur="500"/>
                                        <p:tgtEl>
                                          <p:spTgt spid="23"/>
                                        </p:tgtEl>
                                      </p:cBhvr>
                                    </p:animEffect>
                                  </p:childTnLst>
                                </p:cTn>
                              </p:par>
                              <p:par>
                                <p:cTn id="80" presetID="22" presetClass="entr" presetSubtype="4" fill="hold" grpId="0" nodeType="withEffect">
                                  <p:stCondLst>
                                    <p:cond delay="0"/>
                                  </p:stCondLst>
                                  <p:childTnLst>
                                    <p:set>
                                      <p:cBhvr>
                                        <p:cTn id="81" dur="1" fill="hold">
                                          <p:stCondLst>
                                            <p:cond delay="0"/>
                                          </p:stCondLst>
                                        </p:cTn>
                                        <p:tgtEl>
                                          <p:spTgt spid="45"/>
                                        </p:tgtEl>
                                        <p:attrNameLst>
                                          <p:attrName>style.visibility</p:attrName>
                                        </p:attrNameLst>
                                      </p:cBhvr>
                                      <p:to>
                                        <p:strVal val="visible"/>
                                      </p:to>
                                    </p:set>
                                    <p:animEffect transition="in" filter="wipe(down)">
                                      <p:cBhvr>
                                        <p:cTn id="82" dur="500"/>
                                        <p:tgtEl>
                                          <p:spTgt spid="45"/>
                                        </p:tgtEl>
                                      </p:cBhvr>
                                    </p:animEffect>
                                  </p:childTnLst>
                                </p:cTn>
                              </p:par>
                              <p:par>
                                <p:cTn id="83" presetID="22" presetClass="entr" presetSubtype="4" fill="hold" grpId="0" nodeType="withEffect">
                                  <p:stCondLst>
                                    <p:cond delay="0"/>
                                  </p:stCondLst>
                                  <p:childTnLst>
                                    <p:set>
                                      <p:cBhvr>
                                        <p:cTn id="84" dur="1" fill="hold">
                                          <p:stCondLst>
                                            <p:cond delay="0"/>
                                          </p:stCondLst>
                                        </p:cTn>
                                        <p:tgtEl>
                                          <p:spTgt spid="43"/>
                                        </p:tgtEl>
                                        <p:attrNameLst>
                                          <p:attrName>style.visibility</p:attrName>
                                        </p:attrNameLst>
                                      </p:cBhvr>
                                      <p:to>
                                        <p:strVal val="visible"/>
                                      </p:to>
                                    </p:set>
                                    <p:animEffect transition="in" filter="wipe(down)">
                                      <p:cBhvr>
                                        <p:cTn id="85" dur="500"/>
                                        <p:tgtEl>
                                          <p:spTgt spid="43"/>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wipe(down)">
                                      <p:cBhvr>
                                        <p:cTn id="9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4" grpId="0" animBg="1"/>
      <p:bldP spid="22" grpId="0" animBg="1"/>
      <p:bldP spid="3" grpId="0" animBg="1"/>
      <p:bldP spid="4" grpId="0" animBg="1"/>
      <p:bldP spid="5" grpId="0" animBg="1"/>
      <p:bldP spid="6" grpId="0" animBg="1"/>
      <p:bldP spid="7" grpId="0" animBg="1"/>
      <p:bldP spid="13" grpId="0"/>
      <p:bldP spid="18" grpId="0"/>
      <p:bldP spid="19" grpId="0"/>
      <p:bldP spid="25" grpId="0"/>
      <p:bldP spid="32" grpId="0" animBg="1"/>
      <p:bldP spid="37" grpId="0" animBg="1"/>
      <p:bldP spid="39" grpId="0"/>
      <p:bldP spid="40" grpId="0"/>
      <p:bldP spid="41" grpId="0"/>
      <p:bldP spid="43" grpId="0"/>
      <p:bldP spid="4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2CD3B88-F738-46EF-8102-2891B0D765F0}"/>
              </a:ext>
            </a:extLst>
          </p:cNvPr>
          <p:cNvSpPr>
            <a:spLocks noGrp="1"/>
          </p:cNvSpPr>
          <p:nvPr>
            <p:ph idx="1"/>
          </p:nvPr>
        </p:nvSpPr>
        <p:spPr>
          <a:xfrm>
            <a:off x="457200" y="836712"/>
            <a:ext cx="8229600" cy="5289451"/>
          </a:xfrm>
        </p:spPr>
        <p:txBody>
          <a:bodyPr>
            <a:normAutofit fontScale="70000" lnSpcReduction="20000"/>
          </a:bodyPr>
          <a:lstStyle/>
          <a:p>
            <a:pPr>
              <a:lnSpc>
                <a:spcPct val="150000"/>
              </a:lnSpc>
            </a:pPr>
            <a:r>
              <a:rPr lang="zh-CN" altLang="en-US" dirty="0"/>
              <a:t>生产要素是指从事生产所必须投入的各种经济资源，在经济学中一般分为四类：</a:t>
            </a:r>
          </a:p>
          <a:p>
            <a:pPr lvl="1">
              <a:lnSpc>
                <a:spcPct val="150000"/>
              </a:lnSpc>
            </a:pPr>
            <a:r>
              <a:rPr lang="zh-CN" altLang="en-US" dirty="0"/>
              <a:t>土地（</a:t>
            </a:r>
            <a:r>
              <a:rPr lang="en-US" altLang="zh-CN" dirty="0"/>
              <a:t>N</a:t>
            </a:r>
            <a:r>
              <a:rPr lang="zh-CN" altLang="en-US" dirty="0"/>
              <a:t>）：经济学中的“土地”是一种广义概念，泛指自然界中一切能用于生产的物质，包括土地、矿产、阳光、雨水、海洋、森林等。</a:t>
            </a:r>
          </a:p>
          <a:p>
            <a:pPr lvl="1">
              <a:lnSpc>
                <a:spcPct val="150000"/>
              </a:lnSpc>
            </a:pPr>
            <a:r>
              <a:rPr lang="zh-CN" altLang="en-US" dirty="0"/>
              <a:t>劳动（</a:t>
            </a:r>
            <a:r>
              <a:rPr lang="en-US" altLang="zh-CN" dirty="0"/>
              <a:t>L</a:t>
            </a:r>
            <a:r>
              <a:rPr lang="zh-CN" altLang="en-US" dirty="0"/>
              <a:t>）：是指人类在生产程中以体力和脑力形式提供的各种服务。</a:t>
            </a:r>
          </a:p>
          <a:p>
            <a:pPr lvl="1">
              <a:lnSpc>
                <a:spcPct val="150000"/>
              </a:lnSpc>
            </a:pPr>
            <a:r>
              <a:rPr lang="zh-CN" altLang="en-US" dirty="0"/>
              <a:t>资本（</a:t>
            </a:r>
            <a:r>
              <a:rPr lang="en-US" altLang="zh-CN" dirty="0"/>
              <a:t>K</a:t>
            </a:r>
            <a:r>
              <a:rPr lang="zh-CN" altLang="en-US" dirty="0"/>
              <a:t>）：指由劳动与土地两种原始要素生产出来，再用于生产过程的中间产品，有实物形态的机器、厂房等，也有货币形态的资本。</a:t>
            </a:r>
          </a:p>
          <a:p>
            <a:pPr lvl="1">
              <a:lnSpc>
                <a:spcPct val="150000"/>
              </a:lnSpc>
            </a:pPr>
            <a:r>
              <a:rPr lang="zh-CN" altLang="en-US" dirty="0"/>
              <a:t>企业家才能（</a:t>
            </a:r>
            <a:r>
              <a:rPr lang="en-US" altLang="zh-CN" dirty="0"/>
              <a:t>E</a:t>
            </a:r>
            <a:r>
              <a:rPr lang="zh-CN" altLang="en-US" dirty="0"/>
              <a:t>）：指企业家经营企业的组织能力、管理能力与创新能力。</a:t>
            </a:r>
          </a:p>
          <a:p>
            <a:endParaRPr lang="zh-CN" altLang="en-US" dirty="0"/>
          </a:p>
        </p:txBody>
      </p:sp>
    </p:spTree>
    <p:extLst>
      <p:ext uri="{BB962C8B-B14F-4D97-AF65-F5344CB8AC3E}">
        <p14:creationId xmlns:p14="http://schemas.microsoft.com/office/powerpoint/2010/main" val="2573253084"/>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圆角 11">
            <a:extLst>
              <a:ext uri="{FF2B5EF4-FFF2-40B4-BE49-F238E27FC236}">
                <a16:creationId xmlns:a16="http://schemas.microsoft.com/office/drawing/2014/main" id="{864FB657-A368-4D42-8689-D318EDD3083A}"/>
              </a:ext>
            </a:extLst>
          </p:cNvPr>
          <p:cNvSpPr/>
          <p:nvPr/>
        </p:nvSpPr>
        <p:spPr>
          <a:xfrm>
            <a:off x="1195435" y="1524754"/>
            <a:ext cx="2584477" cy="461665"/>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1D368491-0A17-4B27-AF71-FAD2E0170CC9}"/>
              </a:ext>
            </a:extLst>
          </p:cNvPr>
          <p:cNvSpPr/>
          <p:nvPr/>
        </p:nvSpPr>
        <p:spPr>
          <a:xfrm>
            <a:off x="7164288" y="21265"/>
            <a:ext cx="1938351"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第二节  生产函数</a:t>
            </a:r>
          </a:p>
        </p:txBody>
      </p:sp>
      <p:sp>
        <p:nvSpPr>
          <p:cNvPr id="3" name="矩形 2">
            <a:extLst>
              <a:ext uri="{FF2B5EF4-FFF2-40B4-BE49-F238E27FC236}">
                <a16:creationId xmlns:a16="http://schemas.microsoft.com/office/drawing/2014/main" id="{7B5C13A7-A5F9-47A3-80EF-00FF51FE7F10}"/>
              </a:ext>
            </a:extLst>
          </p:cNvPr>
          <p:cNvSpPr/>
          <p:nvPr/>
        </p:nvSpPr>
        <p:spPr>
          <a:xfrm>
            <a:off x="1259632" y="1544640"/>
            <a:ext cx="2880320"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spc="150" dirty="0">
                <a:latin typeface="微软雅黑" panose="020B0503020204020204" pitchFamily="34" charset="-122"/>
                <a:ea typeface="微软雅黑" panose="020B0503020204020204" pitchFamily="34" charset="-122"/>
              </a:rPr>
              <a:t>生产函数的目的</a:t>
            </a:r>
          </a:p>
        </p:txBody>
      </p:sp>
      <p:sp>
        <p:nvSpPr>
          <p:cNvPr id="4" name="矩形 3">
            <a:extLst>
              <a:ext uri="{FF2B5EF4-FFF2-40B4-BE49-F238E27FC236}">
                <a16:creationId xmlns:a16="http://schemas.microsoft.com/office/drawing/2014/main" id="{3AC01299-0F7F-4801-8440-7F7499F2AE7C}"/>
              </a:ext>
            </a:extLst>
          </p:cNvPr>
          <p:cNvSpPr/>
          <p:nvPr/>
        </p:nvSpPr>
        <p:spPr>
          <a:xfrm>
            <a:off x="1295636" y="2485869"/>
            <a:ext cx="6732748" cy="646331"/>
          </a:xfrm>
          <a:prstGeom prst="rect">
            <a:avLst/>
          </a:prstGeom>
        </p:spPr>
        <p:txBody>
          <a:bodyPr wrap="square">
            <a:spAutoFit/>
          </a:bodyPr>
          <a:lstStyle/>
          <a:p>
            <a:pPr marL="342900" indent="-34290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刻画投入和产出之间的关系，可以用总产量、平均产量和边际产量来说明这种关系，这三种指标都可以说明生产函数的性质。</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C3DC17A-84D1-4AB6-B08B-451E7787F33F}"/>
                  </a:ext>
                </a:extLst>
              </p:cNvPr>
              <p:cNvSpPr txBox="1"/>
              <p:nvPr/>
            </p:nvSpPr>
            <p:spPr>
              <a:xfrm>
                <a:off x="1429910" y="3559440"/>
                <a:ext cx="1872209" cy="349711"/>
              </a:xfrm>
              <a:prstGeom prst="rect">
                <a:avLst/>
              </a:prstGeom>
              <a:noFill/>
            </p:spPr>
            <p:txBody>
              <a:bodyPr wrap="square" lIns="0" tIns="0" rIns="0" bIns="0" rtlCol="0">
                <a:spAutoFit/>
              </a:bodyPr>
              <a:lstStyle/>
              <a:p>
                <a:pPr marL="285750" indent="-285750">
                  <a:buFont typeface="Wingdings" panose="05000000000000000000" pitchFamily="2" charset="2"/>
                  <a:buChar char="l"/>
                </a:pPr>
                <a14:m>
                  <m:oMath xmlns:m="http://schemas.openxmlformats.org/officeDocument/2006/math">
                    <m:r>
                      <m:rPr>
                        <m:nor/>
                      </m:rPr>
                      <a:rPr lang="zh-CN" altLang="en-US" sz="1600" dirty="0" smtClean="0">
                        <a:solidFill>
                          <a:schemeClr val="tx1"/>
                        </a:solidFill>
                        <a:latin typeface="微软雅黑" panose="020B0503020204020204" pitchFamily="34" charset="-122"/>
                        <a:ea typeface="微软雅黑" panose="020B0503020204020204" pitchFamily="34" charset="-122"/>
                      </a:rPr>
                      <m:t>平均产量</m:t>
                    </m:r>
                    <m:r>
                      <a:rPr lang="en-US" altLang="zh-CN" sz="1600" i="1" smtClean="0">
                        <a:solidFill>
                          <a:schemeClr val="tx1"/>
                        </a:solidFill>
                        <a:latin typeface="Cambria Math" panose="02040503050406030204" pitchFamily="18" charset="0"/>
                      </a:rPr>
                      <m:t>=</m:t>
                    </m:r>
                    <m:f>
                      <m:fPr>
                        <m:ctrlPr>
                          <a:rPr lang="en-US" altLang="zh-CN" sz="1600" i="1" smtClean="0">
                            <a:solidFill>
                              <a:schemeClr val="tx1"/>
                            </a:solidFill>
                            <a:latin typeface="Cambria Math" panose="02040503050406030204" pitchFamily="18" charset="0"/>
                          </a:rPr>
                        </m:ctrlPr>
                      </m:fPr>
                      <m:num>
                        <m:r>
                          <a:rPr lang="en-US" altLang="zh-CN" sz="1600" b="0" i="1" smtClean="0">
                            <a:solidFill>
                              <a:schemeClr val="tx1"/>
                            </a:solidFill>
                            <a:latin typeface="Cambria Math" panose="02040503050406030204" pitchFamily="18" charset="0"/>
                          </a:rPr>
                          <m:t>𝑄</m:t>
                        </m:r>
                      </m:num>
                      <m:den>
                        <m:r>
                          <a:rPr lang="en-US" altLang="zh-CN" sz="1600" b="0" i="1" smtClean="0">
                            <a:solidFill>
                              <a:schemeClr val="tx1"/>
                            </a:solidFill>
                            <a:latin typeface="Cambria Math" panose="02040503050406030204" pitchFamily="18" charset="0"/>
                          </a:rPr>
                          <m:t>𝐿</m:t>
                        </m:r>
                      </m:den>
                    </m:f>
                  </m:oMath>
                </a14:m>
                <a:endParaRPr lang="zh-CN" altLang="en-US" sz="16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9C3DC17A-84D1-4AB6-B08B-451E7787F33F}"/>
                  </a:ext>
                </a:extLst>
              </p:cNvPr>
              <p:cNvSpPr txBox="1">
                <a:spLocks noRot="1" noChangeAspect="1" noMove="1" noResize="1" noEditPoints="1" noAdjustHandles="1" noChangeArrowheads="1" noChangeShapeType="1" noTextEdit="1"/>
              </p:cNvSpPr>
              <p:nvPr/>
            </p:nvSpPr>
            <p:spPr>
              <a:xfrm>
                <a:off x="1429910" y="3559440"/>
                <a:ext cx="1872209" cy="349711"/>
              </a:xfrm>
              <a:prstGeom prst="rect">
                <a:avLst/>
              </a:prstGeom>
              <a:blipFill>
                <a:blip r:embed="rId2"/>
                <a:stretch>
                  <a:fillRect l="-6189" b="-15789"/>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5E68FFEC-056D-4503-874C-4F43D84B595C}"/>
              </a:ext>
            </a:extLst>
          </p:cNvPr>
          <p:cNvSpPr/>
          <p:nvPr/>
        </p:nvSpPr>
        <p:spPr>
          <a:xfrm>
            <a:off x="4438778" y="3565663"/>
            <a:ext cx="3262432" cy="338554"/>
          </a:xfrm>
          <a:prstGeom prst="rect">
            <a:avLst/>
          </a:prstGeom>
        </p:spPr>
        <p:txBody>
          <a:bodyPr wrap="none">
            <a:spAutoFit/>
          </a:bodyPr>
          <a:lstStyle/>
          <a:p>
            <a:r>
              <a:rPr lang="zh-CN" altLang="en-US" sz="1600" dirty="0">
                <a:latin typeface="微软雅黑" panose="020B0503020204020204" pitchFamily="34" charset="-122"/>
                <a:ea typeface="微软雅黑" panose="020B0503020204020204" pitchFamily="34" charset="-122"/>
              </a:rPr>
              <a:t>可变要素如劳动投入的平均产出。</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7A249C3-EED8-41B0-B860-C5D1D51DC520}"/>
                  </a:ext>
                </a:extLst>
              </p:cNvPr>
              <p:cNvSpPr txBox="1"/>
              <p:nvPr/>
            </p:nvSpPr>
            <p:spPr>
              <a:xfrm>
                <a:off x="1441017" y="4258096"/>
                <a:ext cx="2570074" cy="356572"/>
              </a:xfrm>
              <a:prstGeom prst="rect">
                <a:avLst/>
              </a:prstGeom>
              <a:noFill/>
            </p:spPr>
            <p:txBody>
              <a:bodyPr wrap="square" lIns="0" tIns="0" rIns="0" bIns="0" rtlCol="0">
                <a:spAutoFit/>
              </a:bodyPr>
              <a:lstStyle/>
              <a:p>
                <a:pPr marL="285750" indent="-285750">
                  <a:buFont typeface="Wingdings" panose="05000000000000000000" pitchFamily="2" charset="2"/>
                  <a:buChar char="l"/>
                </a:pPr>
                <a14:m>
                  <m:oMath xmlns:m="http://schemas.openxmlformats.org/officeDocument/2006/math">
                    <m:r>
                      <m:rPr>
                        <m:nor/>
                      </m:rPr>
                      <a:rPr lang="zh-CN" altLang="en-US" sz="1600" dirty="0" smtClean="0">
                        <a:solidFill>
                          <a:schemeClr val="tx1"/>
                        </a:solidFill>
                        <a:latin typeface="微软雅黑" panose="020B0503020204020204" pitchFamily="34" charset="-122"/>
                        <a:ea typeface="微软雅黑" panose="020B0503020204020204" pitchFamily="34" charset="-122"/>
                      </a:rPr>
                      <m:t>边际产量</m:t>
                    </m:r>
                    <m:r>
                      <a:rPr lang="pt-BR" altLang="zh-CN" sz="1600" i="1" smtClean="0">
                        <a:solidFill>
                          <a:schemeClr val="tx1"/>
                        </a:solidFill>
                        <a:latin typeface="Cambria Math" panose="02040503050406030204" pitchFamily="18" charset="0"/>
                      </a:rPr>
                      <m:t>=</m:t>
                    </m:r>
                    <m:f>
                      <m:fPr>
                        <m:ctrlPr>
                          <a:rPr lang="pt-BR" altLang="zh-CN" sz="1600" i="1" smtClean="0">
                            <a:solidFill>
                              <a:schemeClr val="tx1"/>
                            </a:solidFill>
                            <a:latin typeface="Cambria Math" panose="02040503050406030204" pitchFamily="18" charset="0"/>
                          </a:rPr>
                        </m:ctrlPr>
                      </m:fPr>
                      <m:num>
                        <m:r>
                          <m:rPr>
                            <m:sty m:val="p"/>
                          </m:rPr>
                          <a:rPr lang="pt-BR" altLang="zh-CN" sz="1600" i="1" smtClean="0">
                            <a:solidFill>
                              <a:schemeClr val="tx1"/>
                            </a:solidFill>
                            <a:latin typeface="Cambria Math" panose="02040503050406030204" pitchFamily="18" charset="0"/>
                          </a:rPr>
                          <m:t>Δ</m:t>
                        </m:r>
                        <m:r>
                          <a:rPr lang="pt-BR" altLang="zh-CN" sz="1600" i="1" smtClean="0">
                            <a:solidFill>
                              <a:schemeClr val="tx1"/>
                            </a:solidFill>
                            <a:latin typeface="Cambria Math" panose="02040503050406030204" pitchFamily="18" charset="0"/>
                          </a:rPr>
                          <m:t>𝑄</m:t>
                        </m:r>
                      </m:num>
                      <m:den>
                        <m:r>
                          <m:rPr>
                            <m:sty m:val="p"/>
                          </m:rPr>
                          <a:rPr lang="pt-BR" altLang="zh-CN" sz="1600" i="1" smtClean="0">
                            <a:solidFill>
                              <a:schemeClr val="tx1"/>
                            </a:solidFill>
                            <a:latin typeface="Cambria Math" panose="02040503050406030204" pitchFamily="18" charset="0"/>
                          </a:rPr>
                          <m:t>Δ</m:t>
                        </m:r>
                        <m:r>
                          <a:rPr lang="pt-BR" altLang="zh-CN" sz="1600" i="1" smtClean="0">
                            <a:solidFill>
                              <a:schemeClr val="tx1"/>
                            </a:solidFill>
                            <a:latin typeface="Cambria Math" panose="02040503050406030204" pitchFamily="18" charset="0"/>
                          </a:rPr>
                          <m:t>𝐿</m:t>
                        </m:r>
                      </m:den>
                    </m:f>
                    <m:r>
                      <a:rPr lang="pt-BR" altLang="zh-CN" sz="1600" i="1" smtClean="0">
                        <a:solidFill>
                          <a:schemeClr val="tx1"/>
                        </a:solidFill>
                        <a:latin typeface="Cambria Math" panose="02040503050406030204" pitchFamily="18" charset="0"/>
                      </a:rPr>
                      <m:t>=</m:t>
                    </m:r>
                    <m:f>
                      <m:fPr>
                        <m:ctrlPr>
                          <a:rPr lang="pt-BR" altLang="zh-CN" sz="1600" i="1" smtClean="0">
                            <a:solidFill>
                              <a:schemeClr val="tx1"/>
                            </a:solidFill>
                            <a:latin typeface="Cambria Math" panose="02040503050406030204" pitchFamily="18" charset="0"/>
                          </a:rPr>
                        </m:ctrlPr>
                      </m:fPr>
                      <m:num>
                        <m:r>
                          <a:rPr lang="pt-BR" altLang="zh-CN" sz="1600" i="1" smtClean="0">
                            <a:solidFill>
                              <a:schemeClr val="tx1"/>
                            </a:solidFill>
                            <a:latin typeface="Cambria Math" panose="02040503050406030204" pitchFamily="18" charset="0"/>
                          </a:rPr>
                          <m:t>ⅆ</m:t>
                        </m:r>
                        <m:r>
                          <a:rPr lang="pt-BR" altLang="zh-CN" sz="1600" i="1" smtClean="0">
                            <a:solidFill>
                              <a:schemeClr val="tx1"/>
                            </a:solidFill>
                            <a:latin typeface="Cambria Math" panose="02040503050406030204" pitchFamily="18" charset="0"/>
                          </a:rPr>
                          <m:t>𝑄</m:t>
                        </m:r>
                      </m:num>
                      <m:den>
                        <m:r>
                          <a:rPr lang="pt-BR" altLang="zh-CN" sz="1600" i="1" smtClean="0">
                            <a:solidFill>
                              <a:schemeClr val="tx1"/>
                            </a:solidFill>
                            <a:latin typeface="Cambria Math" panose="02040503050406030204" pitchFamily="18" charset="0"/>
                          </a:rPr>
                          <m:t>ⅆ</m:t>
                        </m:r>
                        <m:r>
                          <a:rPr lang="pt-BR" altLang="zh-CN" sz="1600" i="1" smtClean="0">
                            <a:solidFill>
                              <a:schemeClr val="tx1"/>
                            </a:solidFill>
                            <a:latin typeface="Cambria Math" panose="02040503050406030204" pitchFamily="18" charset="0"/>
                          </a:rPr>
                          <m:t>𝐿</m:t>
                        </m:r>
                      </m:den>
                    </m:f>
                  </m:oMath>
                </a14:m>
                <a:endParaRPr lang="zh-CN" altLang="en-US" sz="1600" dirty="0">
                  <a:solidFill>
                    <a:schemeClr val="tx1"/>
                  </a:solidFill>
                </a:endParaRPr>
              </a:p>
            </p:txBody>
          </p:sp>
        </mc:Choice>
        <mc:Fallback xmlns="">
          <p:sp>
            <p:nvSpPr>
              <p:cNvPr id="8" name="文本框 7">
                <a:extLst>
                  <a:ext uri="{FF2B5EF4-FFF2-40B4-BE49-F238E27FC236}">
                    <a16:creationId xmlns:a16="http://schemas.microsoft.com/office/drawing/2014/main" id="{A7A249C3-EED8-41B0-B860-C5D1D51DC520}"/>
                  </a:ext>
                </a:extLst>
              </p:cNvPr>
              <p:cNvSpPr txBox="1">
                <a:spLocks noRot="1" noChangeAspect="1" noMove="1" noResize="1" noEditPoints="1" noAdjustHandles="1" noChangeArrowheads="1" noChangeShapeType="1" noTextEdit="1"/>
              </p:cNvSpPr>
              <p:nvPr/>
            </p:nvSpPr>
            <p:spPr>
              <a:xfrm>
                <a:off x="1441017" y="4258096"/>
                <a:ext cx="2570074" cy="356572"/>
              </a:xfrm>
              <a:prstGeom prst="rect">
                <a:avLst/>
              </a:prstGeom>
              <a:blipFill>
                <a:blip r:embed="rId3"/>
                <a:stretch>
                  <a:fillRect l="-4502" b="-15517"/>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D28E1454-C6AA-45D7-B9D3-08B5A427B1DC}"/>
              </a:ext>
            </a:extLst>
          </p:cNvPr>
          <p:cNvSpPr/>
          <p:nvPr/>
        </p:nvSpPr>
        <p:spPr>
          <a:xfrm>
            <a:off x="4438778" y="4293969"/>
            <a:ext cx="3672800" cy="338554"/>
          </a:xfrm>
          <a:prstGeom prst="rect">
            <a:avLst/>
          </a:prstGeom>
        </p:spPr>
        <p:txBody>
          <a:bodyPr wrap="none">
            <a:spAutoFit/>
          </a:bodyPr>
          <a:lstStyle/>
          <a:p>
            <a:r>
              <a:rPr lang="zh-CN" altLang="en-US" sz="1600" dirty="0">
                <a:latin typeface="微软雅黑" panose="020B0503020204020204" pitchFamily="34" charset="-122"/>
                <a:ea typeface="微软雅黑" panose="020B0503020204020204" pitchFamily="34" charset="-122"/>
              </a:rPr>
              <a:t>每增加一单位投入所能够增加的产量。</a:t>
            </a:r>
          </a:p>
        </p:txBody>
      </p:sp>
      <p:sp>
        <p:nvSpPr>
          <p:cNvPr id="10" name="矩形 9">
            <a:extLst>
              <a:ext uri="{FF2B5EF4-FFF2-40B4-BE49-F238E27FC236}">
                <a16:creationId xmlns:a16="http://schemas.microsoft.com/office/drawing/2014/main" id="{6C3292D9-2510-4569-A5F8-E4C2A2D5B0D2}"/>
              </a:ext>
            </a:extLst>
          </p:cNvPr>
          <p:cNvSpPr/>
          <p:nvPr/>
        </p:nvSpPr>
        <p:spPr>
          <a:xfrm>
            <a:off x="1357902" y="4978176"/>
            <a:ext cx="1296144" cy="338554"/>
          </a:xfrm>
          <a:prstGeom prst="rect">
            <a:avLst/>
          </a:prstGeom>
          <a:noFill/>
        </p:spPr>
        <p:txBody>
          <a:bodyPr wrap="square">
            <a:spAutoFit/>
          </a:bodyPr>
          <a:lstStyle/>
          <a:p>
            <a:pPr marL="285750" indent="-285750">
              <a:buFont typeface="Wingdings" panose="05000000000000000000" pitchFamily="2" charset="2"/>
              <a:buChar char="l"/>
            </a:pPr>
            <a:r>
              <a:rPr lang="zh-CN" altLang="en-US" sz="1600" dirty="0">
                <a:latin typeface="微软雅黑" panose="020B0503020204020204" pitchFamily="34" charset="-122"/>
                <a:ea typeface="微软雅黑" panose="020B0503020204020204" pitchFamily="34" charset="-122"/>
              </a:rPr>
              <a:t>总产量</a:t>
            </a:r>
          </a:p>
        </p:txBody>
      </p:sp>
      <p:sp>
        <p:nvSpPr>
          <p:cNvPr id="11" name="矩形 10">
            <a:extLst>
              <a:ext uri="{FF2B5EF4-FFF2-40B4-BE49-F238E27FC236}">
                <a16:creationId xmlns:a16="http://schemas.microsoft.com/office/drawing/2014/main" id="{9ACA4021-FFB9-48A6-951A-605DD7CB9C28}"/>
              </a:ext>
            </a:extLst>
          </p:cNvPr>
          <p:cNvSpPr/>
          <p:nvPr/>
        </p:nvSpPr>
        <p:spPr>
          <a:xfrm>
            <a:off x="4461045" y="5003884"/>
            <a:ext cx="2852063" cy="338554"/>
          </a:xfrm>
          <a:prstGeom prst="rect">
            <a:avLst/>
          </a:prstGeom>
        </p:spPr>
        <p:txBody>
          <a:bodyPr wrap="none">
            <a:spAutoFit/>
          </a:bodyPr>
          <a:lstStyle/>
          <a:p>
            <a:r>
              <a:rPr lang="zh-CN" altLang="en-US" sz="1600" dirty="0">
                <a:latin typeface="微软雅黑" panose="020B0503020204020204" pitchFamily="34" charset="-122"/>
                <a:ea typeface="微软雅黑" panose="020B0503020204020204" pitchFamily="34" charset="-122"/>
              </a:rPr>
              <a:t>所有要素投入所带来的产量。</a:t>
            </a:r>
          </a:p>
        </p:txBody>
      </p:sp>
      <p:sp>
        <p:nvSpPr>
          <p:cNvPr id="13" name="矩形 12">
            <a:extLst>
              <a:ext uri="{FF2B5EF4-FFF2-40B4-BE49-F238E27FC236}">
                <a16:creationId xmlns:a16="http://schemas.microsoft.com/office/drawing/2014/main" id="{9FFC88AB-6B0B-4CEF-97C6-7183BEB118C9}"/>
              </a:ext>
            </a:extLst>
          </p:cNvPr>
          <p:cNvSpPr/>
          <p:nvPr/>
        </p:nvSpPr>
        <p:spPr>
          <a:xfrm>
            <a:off x="580922" y="520573"/>
            <a:ext cx="312698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一、生产和生产函数</a:t>
            </a:r>
          </a:p>
        </p:txBody>
      </p:sp>
    </p:spTree>
    <p:extLst>
      <p:ext uri="{BB962C8B-B14F-4D97-AF65-F5344CB8AC3E}">
        <p14:creationId xmlns:p14="http://schemas.microsoft.com/office/powerpoint/2010/main" val="302461129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barn(inVertical)">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down)">
                                      <p:cBhvr>
                                        <p:cTn id="31" dur="5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barn(inVertical)">
                                      <p:cBhvr>
                                        <p:cTn id="36" dur="500"/>
                                        <p:tgtEl>
                                          <p:spTgt spid="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wipe(down)">
                                      <p:cBhvr>
                                        <p:cTn id="41" dur="500"/>
                                        <p:tgtEl>
                                          <p:spTgt spid="8"/>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barn(inVertical)">
                                      <p:cBhvr>
                                        <p:cTn id="46" dur="500"/>
                                        <p:tgtEl>
                                          <p:spTgt spid="9"/>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down)">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barn(inVertical)">
                                      <p:cBhvr>
                                        <p:cTn id="5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 grpId="0"/>
      <p:bldP spid="4" grpId="0"/>
      <p:bldP spid="6" grpId="0"/>
      <p:bldP spid="7" grpId="0"/>
      <p:bldP spid="8" grpId="0"/>
      <p:bldP spid="9" grpId="0"/>
      <p:bldP spid="10" grpId="0"/>
      <p:bldP spid="11" grpId="0"/>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8F777ED-6B65-4AF8-B36E-4723E6509272}"/>
              </a:ext>
            </a:extLst>
          </p:cNvPr>
          <p:cNvSpPr/>
          <p:nvPr/>
        </p:nvSpPr>
        <p:spPr>
          <a:xfrm>
            <a:off x="7164288" y="21265"/>
            <a:ext cx="1938351"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第二节  生产函数</a:t>
            </a:r>
          </a:p>
        </p:txBody>
      </p:sp>
      <p:sp>
        <p:nvSpPr>
          <p:cNvPr id="6" name="矩形 5">
            <a:extLst>
              <a:ext uri="{FF2B5EF4-FFF2-40B4-BE49-F238E27FC236}">
                <a16:creationId xmlns:a16="http://schemas.microsoft.com/office/drawing/2014/main" id="{3820BEDE-2B81-47AC-8689-69B03B4C1172}"/>
              </a:ext>
            </a:extLst>
          </p:cNvPr>
          <p:cNvSpPr/>
          <p:nvPr/>
        </p:nvSpPr>
        <p:spPr bwMode="auto">
          <a:xfrm>
            <a:off x="1565666" y="1318930"/>
            <a:ext cx="6012668" cy="3600400"/>
          </a:xfrm>
          <a:prstGeom prst="rect">
            <a:avLst/>
          </a:prstGeom>
          <a:noFill/>
          <a:ln w="63500" cap="flat" cmpd="sng" algn="ctr">
            <a:solidFill>
              <a:srgbClr val="85B2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文本框 6">
            <a:extLst>
              <a:ext uri="{FF2B5EF4-FFF2-40B4-BE49-F238E27FC236}">
                <a16:creationId xmlns:a16="http://schemas.microsoft.com/office/drawing/2014/main" id="{1986B1CC-90AA-4EB8-B528-FA4A7630E106}"/>
              </a:ext>
            </a:extLst>
          </p:cNvPr>
          <p:cNvSpPr txBox="1"/>
          <p:nvPr/>
        </p:nvSpPr>
        <p:spPr>
          <a:xfrm>
            <a:off x="2111807" y="1462946"/>
            <a:ext cx="4920386" cy="523220"/>
          </a:xfrm>
          <a:prstGeom prst="rect">
            <a:avLst/>
          </a:prstGeom>
          <a:noFill/>
        </p:spPr>
        <p:txBody>
          <a:bodyPr wrap="none" rtlCol="0">
            <a:spAutoFit/>
          </a:bodyPr>
          <a:lstStyle/>
          <a:p>
            <a:r>
              <a:rPr lang="en-US" altLang="zh-CN" sz="2800" dirty="0"/>
              <a:t>L           Q           MP           AP</a:t>
            </a:r>
          </a:p>
        </p:txBody>
      </p:sp>
      <p:sp>
        <p:nvSpPr>
          <p:cNvPr id="8" name="文本框 7">
            <a:extLst>
              <a:ext uri="{FF2B5EF4-FFF2-40B4-BE49-F238E27FC236}">
                <a16:creationId xmlns:a16="http://schemas.microsoft.com/office/drawing/2014/main" id="{0C74170D-9933-4E48-985F-BCDD467FCD9D}"/>
              </a:ext>
            </a:extLst>
          </p:cNvPr>
          <p:cNvSpPr txBox="1"/>
          <p:nvPr/>
        </p:nvSpPr>
        <p:spPr>
          <a:xfrm>
            <a:off x="2142393" y="2039010"/>
            <a:ext cx="4796506" cy="461665"/>
          </a:xfrm>
          <a:prstGeom prst="rect">
            <a:avLst/>
          </a:prstGeom>
          <a:noFill/>
        </p:spPr>
        <p:txBody>
          <a:bodyPr wrap="none" rtlCol="0">
            <a:spAutoFit/>
          </a:bodyPr>
          <a:lstStyle/>
          <a:p>
            <a:r>
              <a:rPr lang="en-US" altLang="zh-CN" sz="2400" dirty="0"/>
              <a:t>0             0               ---               ---</a:t>
            </a:r>
          </a:p>
        </p:txBody>
      </p:sp>
      <p:sp>
        <p:nvSpPr>
          <p:cNvPr id="9" name="文本框 8">
            <a:extLst>
              <a:ext uri="{FF2B5EF4-FFF2-40B4-BE49-F238E27FC236}">
                <a16:creationId xmlns:a16="http://schemas.microsoft.com/office/drawing/2014/main" id="{F54D2B86-7C37-4763-BA72-18B5A234BAB1}"/>
              </a:ext>
            </a:extLst>
          </p:cNvPr>
          <p:cNvSpPr txBox="1"/>
          <p:nvPr/>
        </p:nvSpPr>
        <p:spPr>
          <a:xfrm>
            <a:off x="2123728" y="2543066"/>
            <a:ext cx="4953600" cy="461665"/>
          </a:xfrm>
          <a:prstGeom prst="rect">
            <a:avLst/>
          </a:prstGeom>
          <a:noFill/>
        </p:spPr>
        <p:txBody>
          <a:bodyPr wrap="none" rtlCol="0">
            <a:spAutoFit/>
          </a:bodyPr>
          <a:lstStyle/>
          <a:p>
            <a:r>
              <a:rPr lang="en-US" altLang="zh-CN" sz="2400" dirty="0"/>
              <a:t>1            20              20               20</a:t>
            </a:r>
            <a:endParaRPr lang="zh-CN" altLang="en-US" sz="2400" dirty="0"/>
          </a:p>
        </p:txBody>
      </p:sp>
      <p:sp>
        <p:nvSpPr>
          <p:cNvPr id="10" name="文本框 9">
            <a:extLst>
              <a:ext uri="{FF2B5EF4-FFF2-40B4-BE49-F238E27FC236}">
                <a16:creationId xmlns:a16="http://schemas.microsoft.com/office/drawing/2014/main" id="{E7E93779-13AE-4F2C-B741-619E6DB268E2}"/>
              </a:ext>
            </a:extLst>
          </p:cNvPr>
          <p:cNvSpPr txBox="1"/>
          <p:nvPr/>
        </p:nvSpPr>
        <p:spPr>
          <a:xfrm>
            <a:off x="2142393" y="3047122"/>
            <a:ext cx="4868640" cy="461665"/>
          </a:xfrm>
          <a:prstGeom prst="rect">
            <a:avLst/>
          </a:prstGeom>
          <a:noFill/>
        </p:spPr>
        <p:txBody>
          <a:bodyPr wrap="none" rtlCol="0">
            <a:spAutoFit/>
          </a:bodyPr>
          <a:lstStyle/>
          <a:p>
            <a:r>
              <a:rPr lang="en-US" altLang="zh-CN" sz="2400" dirty="0"/>
              <a:t>2            46              </a:t>
            </a:r>
            <a:r>
              <a:rPr lang="en-US" altLang="zh-CN" sz="2400" b="1" dirty="0"/>
              <a:t>26</a:t>
            </a:r>
            <a:r>
              <a:rPr lang="en-US" altLang="zh-CN" sz="2400" dirty="0"/>
              <a:t>               23</a:t>
            </a:r>
            <a:endParaRPr lang="zh-CN" altLang="en-US" sz="2400" dirty="0"/>
          </a:p>
        </p:txBody>
      </p:sp>
      <p:sp>
        <p:nvSpPr>
          <p:cNvPr id="12" name="文本框 11">
            <a:extLst>
              <a:ext uri="{FF2B5EF4-FFF2-40B4-BE49-F238E27FC236}">
                <a16:creationId xmlns:a16="http://schemas.microsoft.com/office/drawing/2014/main" id="{EACEC820-2E30-4426-916B-C339D09914A6}"/>
              </a:ext>
            </a:extLst>
          </p:cNvPr>
          <p:cNvSpPr txBox="1"/>
          <p:nvPr/>
        </p:nvSpPr>
        <p:spPr>
          <a:xfrm>
            <a:off x="2142393" y="3521561"/>
            <a:ext cx="5211683" cy="461665"/>
          </a:xfrm>
          <a:prstGeom prst="rect">
            <a:avLst/>
          </a:prstGeom>
          <a:noFill/>
        </p:spPr>
        <p:txBody>
          <a:bodyPr wrap="none" rtlCol="0">
            <a:spAutoFit/>
          </a:bodyPr>
          <a:lstStyle/>
          <a:p>
            <a:r>
              <a:rPr lang="en-US" altLang="zh-CN" sz="2400" dirty="0"/>
              <a:t>3            70              24             </a:t>
            </a:r>
            <a:r>
              <a:rPr lang="en-US" altLang="zh-CN" sz="2400" b="1" dirty="0"/>
              <a:t>23.33</a:t>
            </a:r>
            <a:endParaRPr lang="zh-CN" altLang="en-US" sz="2400" b="1" dirty="0"/>
          </a:p>
        </p:txBody>
      </p:sp>
      <p:sp>
        <p:nvSpPr>
          <p:cNvPr id="13" name="文本框 12">
            <a:extLst>
              <a:ext uri="{FF2B5EF4-FFF2-40B4-BE49-F238E27FC236}">
                <a16:creationId xmlns:a16="http://schemas.microsoft.com/office/drawing/2014/main" id="{11C28BDE-5B39-44E0-8578-D259A7FE239C}"/>
              </a:ext>
            </a:extLst>
          </p:cNvPr>
          <p:cNvSpPr txBox="1"/>
          <p:nvPr/>
        </p:nvSpPr>
        <p:spPr>
          <a:xfrm>
            <a:off x="2142393" y="3953609"/>
            <a:ext cx="4868640" cy="461665"/>
          </a:xfrm>
          <a:prstGeom prst="rect">
            <a:avLst/>
          </a:prstGeom>
          <a:noFill/>
        </p:spPr>
        <p:txBody>
          <a:bodyPr wrap="none" rtlCol="0">
            <a:spAutoFit/>
          </a:bodyPr>
          <a:lstStyle/>
          <a:p>
            <a:r>
              <a:rPr lang="en-US" altLang="zh-CN" sz="2400" dirty="0"/>
              <a:t>4            92              22               23</a:t>
            </a:r>
            <a:endParaRPr lang="zh-CN" altLang="en-US" sz="2400" dirty="0"/>
          </a:p>
        </p:txBody>
      </p:sp>
      <p:sp>
        <p:nvSpPr>
          <p:cNvPr id="14" name="文本框 13">
            <a:extLst>
              <a:ext uri="{FF2B5EF4-FFF2-40B4-BE49-F238E27FC236}">
                <a16:creationId xmlns:a16="http://schemas.microsoft.com/office/drawing/2014/main" id="{C558EF3F-28EB-40D2-A626-5FD85AA2FE86}"/>
              </a:ext>
            </a:extLst>
          </p:cNvPr>
          <p:cNvSpPr txBox="1"/>
          <p:nvPr/>
        </p:nvSpPr>
        <p:spPr>
          <a:xfrm>
            <a:off x="2142393" y="4385657"/>
            <a:ext cx="4932376" cy="461665"/>
          </a:xfrm>
          <a:prstGeom prst="rect">
            <a:avLst/>
          </a:prstGeom>
          <a:noFill/>
        </p:spPr>
        <p:txBody>
          <a:bodyPr wrap="none" rtlCol="0">
            <a:spAutoFit/>
          </a:bodyPr>
          <a:lstStyle/>
          <a:p>
            <a:r>
              <a:rPr lang="en-US" altLang="zh-CN" sz="2400" dirty="0"/>
              <a:t>5           110             18               22</a:t>
            </a:r>
            <a:endParaRPr lang="zh-CN" altLang="en-US" sz="2400" dirty="0"/>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0660DC31-7650-419D-B49E-F0DFBA9CD278}"/>
                  </a:ext>
                </a:extLst>
              </p:cNvPr>
              <p:cNvSpPr txBox="1"/>
              <p:nvPr/>
            </p:nvSpPr>
            <p:spPr>
              <a:xfrm>
                <a:off x="763960" y="5229200"/>
                <a:ext cx="2996461" cy="69147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CN" sz="2400" dirty="0" smtClean="0">
                          <a:solidFill>
                            <a:schemeClr val="tx1"/>
                          </a:solidFill>
                        </a:rPr>
                        <m:t>Average</m:t>
                      </m:r>
                      <m:r>
                        <m:rPr>
                          <m:nor/>
                        </m:rPr>
                        <a:rPr lang="en-US" altLang="zh-CN" sz="2400" dirty="0" smtClean="0">
                          <a:solidFill>
                            <a:schemeClr val="tx1"/>
                          </a:solidFill>
                        </a:rPr>
                        <m:t> </m:t>
                      </m:r>
                      <m:r>
                        <m:rPr>
                          <m:nor/>
                        </m:rPr>
                        <a:rPr lang="en-US" altLang="zh-CN" sz="2400" dirty="0" smtClean="0">
                          <a:solidFill>
                            <a:schemeClr val="tx1"/>
                          </a:solidFill>
                        </a:rPr>
                        <m:t>Product</m:t>
                      </m:r>
                      <m:r>
                        <a:rPr lang="en-US" altLang="zh-CN" sz="2400" i="1" smtClean="0">
                          <a:solidFill>
                            <a:schemeClr val="tx1"/>
                          </a:solidFill>
                          <a:latin typeface="Cambria Math" panose="02040503050406030204" pitchFamily="18" charset="0"/>
                        </a:rPr>
                        <m:t>=</m:t>
                      </m:r>
                      <m:f>
                        <m:fPr>
                          <m:ctrlPr>
                            <a:rPr lang="en-US" altLang="zh-CN" sz="2400" i="1" smtClean="0">
                              <a:solidFill>
                                <a:schemeClr val="tx1"/>
                              </a:solidFill>
                              <a:latin typeface="Cambria Math" panose="02040503050406030204" pitchFamily="18" charset="0"/>
                            </a:rPr>
                          </m:ctrlPr>
                        </m:fPr>
                        <m:num>
                          <m:r>
                            <a:rPr lang="en-US" altLang="zh-CN" sz="2400" b="0" i="1" smtClean="0">
                              <a:solidFill>
                                <a:schemeClr val="tx1"/>
                              </a:solidFill>
                              <a:latin typeface="Cambria Math" panose="02040503050406030204" pitchFamily="18" charset="0"/>
                            </a:rPr>
                            <m:t>𝑄</m:t>
                          </m:r>
                        </m:num>
                        <m:den>
                          <m:r>
                            <a:rPr lang="en-US" altLang="zh-CN" sz="2400" b="0" i="1" smtClean="0">
                              <a:solidFill>
                                <a:schemeClr val="tx1"/>
                              </a:solidFill>
                              <a:latin typeface="Cambria Math" panose="02040503050406030204" pitchFamily="18" charset="0"/>
                            </a:rPr>
                            <m:t>𝐿</m:t>
                          </m:r>
                        </m:den>
                      </m:f>
                    </m:oMath>
                  </m:oMathPara>
                </a14:m>
                <a:endParaRPr lang="zh-CN" altLang="en-US" sz="2400" dirty="0">
                  <a:solidFill>
                    <a:schemeClr val="tx1"/>
                  </a:solidFill>
                </a:endParaRPr>
              </a:p>
            </p:txBody>
          </p:sp>
        </mc:Choice>
        <mc:Fallback xmlns="">
          <p:sp>
            <p:nvSpPr>
              <p:cNvPr id="15" name="文本框 14">
                <a:extLst>
                  <a:ext uri="{FF2B5EF4-FFF2-40B4-BE49-F238E27FC236}">
                    <a16:creationId xmlns:a16="http://schemas.microsoft.com/office/drawing/2014/main" id="{0660DC31-7650-419D-B49E-F0DFBA9CD278}"/>
                  </a:ext>
                </a:extLst>
              </p:cNvPr>
              <p:cNvSpPr txBox="1">
                <a:spLocks noRot="1" noChangeAspect="1" noMove="1" noResize="1" noEditPoints="1" noAdjustHandles="1" noChangeArrowheads="1" noChangeShapeType="1" noTextEdit="1"/>
              </p:cNvSpPr>
              <p:nvPr/>
            </p:nvSpPr>
            <p:spPr>
              <a:xfrm>
                <a:off x="763960" y="5229200"/>
                <a:ext cx="2996461" cy="691471"/>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A21BD869-3BBA-4FB3-87D4-67113CAB0BFF}"/>
                  </a:ext>
                </a:extLst>
              </p:cNvPr>
              <p:cNvSpPr txBox="1"/>
              <p:nvPr/>
            </p:nvSpPr>
            <p:spPr>
              <a:xfrm>
                <a:off x="4427984" y="5229200"/>
                <a:ext cx="3956131" cy="70121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nor/>
                        </m:rPr>
                        <a:rPr lang="en-US" altLang="zh-CN" sz="2400" dirty="0" smtClean="0">
                          <a:solidFill>
                            <a:schemeClr val="tx1"/>
                          </a:solidFill>
                        </a:rPr>
                        <m:t>Marginal</m:t>
                      </m:r>
                      <m:r>
                        <m:rPr>
                          <m:nor/>
                        </m:rPr>
                        <a:rPr lang="en-US" altLang="zh-CN" sz="2400" dirty="0" smtClean="0">
                          <a:solidFill>
                            <a:schemeClr val="tx1"/>
                          </a:solidFill>
                        </a:rPr>
                        <m:t> </m:t>
                      </m:r>
                      <m:r>
                        <m:rPr>
                          <m:nor/>
                        </m:rPr>
                        <a:rPr lang="en-US" altLang="zh-CN" sz="2400" dirty="0" smtClean="0">
                          <a:solidFill>
                            <a:schemeClr val="tx1"/>
                          </a:solidFill>
                        </a:rPr>
                        <m:t>Product</m:t>
                      </m:r>
                      <m:r>
                        <a:rPr lang="en-US" altLang="zh-CN" sz="2400" i="1" smtClean="0">
                          <a:solidFill>
                            <a:schemeClr val="tx1"/>
                          </a:solidFill>
                          <a:latin typeface="Cambria Math" panose="02040503050406030204" pitchFamily="18" charset="0"/>
                        </a:rPr>
                        <m:t>=</m:t>
                      </m:r>
                      <m:f>
                        <m:fPr>
                          <m:ctrlPr>
                            <a:rPr lang="pt-BR" altLang="zh-CN" sz="2400" i="1">
                              <a:solidFill>
                                <a:schemeClr val="tx1"/>
                              </a:solidFill>
                              <a:latin typeface="Cambria Math" panose="02040503050406030204" pitchFamily="18" charset="0"/>
                            </a:rPr>
                          </m:ctrlPr>
                        </m:fPr>
                        <m:num>
                          <m:r>
                            <m:rPr>
                              <m:sty m:val="p"/>
                            </m:rPr>
                            <a:rPr lang="pt-BR" altLang="zh-CN" sz="2400" i="1">
                              <a:solidFill>
                                <a:schemeClr val="tx1"/>
                              </a:solidFill>
                              <a:latin typeface="Cambria Math" panose="02040503050406030204" pitchFamily="18" charset="0"/>
                            </a:rPr>
                            <m:t>Δ</m:t>
                          </m:r>
                          <m:r>
                            <a:rPr lang="pt-BR" altLang="zh-CN" sz="2400" i="1">
                              <a:solidFill>
                                <a:schemeClr val="tx1"/>
                              </a:solidFill>
                              <a:latin typeface="Cambria Math" panose="02040503050406030204" pitchFamily="18" charset="0"/>
                            </a:rPr>
                            <m:t>𝑄</m:t>
                          </m:r>
                        </m:num>
                        <m:den>
                          <m:r>
                            <m:rPr>
                              <m:sty m:val="p"/>
                            </m:rPr>
                            <a:rPr lang="pt-BR" altLang="zh-CN" sz="2400" i="1">
                              <a:solidFill>
                                <a:schemeClr val="tx1"/>
                              </a:solidFill>
                              <a:latin typeface="Cambria Math" panose="02040503050406030204" pitchFamily="18" charset="0"/>
                            </a:rPr>
                            <m:t>Δ</m:t>
                          </m:r>
                          <m:r>
                            <a:rPr lang="pt-BR" altLang="zh-CN" sz="2400" i="1">
                              <a:solidFill>
                                <a:schemeClr val="tx1"/>
                              </a:solidFill>
                              <a:latin typeface="Cambria Math" panose="02040503050406030204" pitchFamily="18" charset="0"/>
                            </a:rPr>
                            <m:t>𝐿</m:t>
                          </m:r>
                        </m:den>
                      </m:f>
                      <m:r>
                        <a:rPr lang="pt-BR" altLang="zh-CN" sz="2400" i="1">
                          <a:solidFill>
                            <a:schemeClr val="tx1"/>
                          </a:solidFill>
                          <a:latin typeface="Cambria Math" panose="02040503050406030204" pitchFamily="18" charset="0"/>
                        </a:rPr>
                        <m:t>=</m:t>
                      </m:r>
                      <m:f>
                        <m:fPr>
                          <m:ctrlPr>
                            <a:rPr lang="pt-BR" altLang="zh-CN" sz="2400" i="1">
                              <a:solidFill>
                                <a:schemeClr val="tx1"/>
                              </a:solidFill>
                              <a:latin typeface="Cambria Math" panose="02040503050406030204" pitchFamily="18" charset="0"/>
                            </a:rPr>
                          </m:ctrlPr>
                        </m:fPr>
                        <m:num>
                          <m:r>
                            <a:rPr lang="pt-BR" altLang="zh-CN" sz="2400" i="1">
                              <a:solidFill>
                                <a:schemeClr val="tx1"/>
                              </a:solidFill>
                              <a:latin typeface="Cambria Math" panose="02040503050406030204" pitchFamily="18" charset="0"/>
                            </a:rPr>
                            <m:t>ⅆ</m:t>
                          </m:r>
                          <m:r>
                            <a:rPr lang="pt-BR" altLang="zh-CN" sz="2400" i="1">
                              <a:solidFill>
                                <a:schemeClr val="tx1"/>
                              </a:solidFill>
                              <a:latin typeface="Cambria Math" panose="02040503050406030204" pitchFamily="18" charset="0"/>
                            </a:rPr>
                            <m:t>𝑄</m:t>
                          </m:r>
                        </m:num>
                        <m:den>
                          <m:r>
                            <a:rPr lang="pt-BR" altLang="zh-CN" sz="2400" i="1">
                              <a:solidFill>
                                <a:schemeClr val="tx1"/>
                              </a:solidFill>
                              <a:latin typeface="Cambria Math" panose="02040503050406030204" pitchFamily="18" charset="0"/>
                            </a:rPr>
                            <m:t>ⅆ</m:t>
                          </m:r>
                          <m:r>
                            <a:rPr lang="pt-BR" altLang="zh-CN" sz="2400" i="1">
                              <a:solidFill>
                                <a:schemeClr val="tx1"/>
                              </a:solidFill>
                              <a:latin typeface="Cambria Math" panose="02040503050406030204" pitchFamily="18" charset="0"/>
                            </a:rPr>
                            <m:t>𝐿</m:t>
                          </m:r>
                        </m:den>
                      </m:f>
                    </m:oMath>
                  </m:oMathPara>
                </a14:m>
                <a:endParaRPr lang="zh-CN" altLang="en-US" sz="2400" dirty="0">
                  <a:solidFill>
                    <a:schemeClr val="tx1"/>
                  </a:solidFill>
                </a:endParaRPr>
              </a:p>
            </p:txBody>
          </p:sp>
        </mc:Choice>
        <mc:Fallback xmlns="">
          <p:sp>
            <p:nvSpPr>
              <p:cNvPr id="17" name="文本框 16">
                <a:extLst>
                  <a:ext uri="{FF2B5EF4-FFF2-40B4-BE49-F238E27FC236}">
                    <a16:creationId xmlns:a16="http://schemas.microsoft.com/office/drawing/2014/main" id="{A21BD869-3BBA-4FB3-87D4-67113CAB0BFF}"/>
                  </a:ext>
                </a:extLst>
              </p:cNvPr>
              <p:cNvSpPr txBox="1">
                <a:spLocks noRot="1" noChangeAspect="1" noMove="1" noResize="1" noEditPoints="1" noAdjustHandles="1" noChangeArrowheads="1" noChangeShapeType="1" noTextEdit="1"/>
              </p:cNvSpPr>
              <p:nvPr/>
            </p:nvSpPr>
            <p:spPr>
              <a:xfrm>
                <a:off x="4427984" y="5229200"/>
                <a:ext cx="3956131" cy="701218"/>
              </a:xfrm>
              <a:prstGeom prst="rect">
                <a:avLst/>
              </a:prstGeom>
              <a:blipFill>
                <a:blip r:embed="rId3"/>
                <a:stretch>
                  <a:fillRect/>
                </a:stretch>
              </a:blipFill>
            </p:spPr>
            <p:txBody>
              <a:bodyPr/>
              <a:lstStyle/>
              <a:p>
                <a:r>
                  <a:rPr lang="zh-CN" altLang="en-US">
                    <a:noFill/>
                  </a:rPr>
                  <a:t> </a:t>
                </a:r>
              </a:p>
            </p:txBody>
          </p:sp>
        </mc:Fallback>
      </mc:AlternateContent>
      <p:sp>
        <p:nvSpPr>
          <p:cNvPr id="16" name="矩形 15">
            <a:extLst>
              <a:ext uri="{FF2B5EF4-FFF2-40B4-BE49-F238E27FC236}">
                <a16:creationId xmlns:a16="http://schemas.microsoft.com/office/drawing/2014/main" id="{864AA634-82BB-43C6-AED0-799F649940F4}"/>
              </a:ext>
            </a:extLst>
          </p:cNvPr>
          <p:cNvSpPr/>
          <p:nvPr/>
        </p:nvSpPr>
        <p:spPr>
          <a:xfrm>
            <a:off x="580922" y="520573"/>
            <a:ext cx="312698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一、生产和生产函数</a:t>
            </a:r>
          </a:p>
        </p:txBody>
      </p:sp>
    </p:spTree>
    <p:extLst>
      <p:ext uri="{BB962C8B-B14F-4D97-AF65-F5344CB8AC3E}">
        <p14:creationId xmlns:p14="http://schemas.microsoft.com/office/powerpoint/2010/main" val="259709658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left)">
                                      <p:cBhvr>
                                        <p:cTn id="14" dur="500"/>
                                        <p:tgtEl>
                                          <p:spTgt spid="6"/>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wipe(left)">
                                      <p:cBhvr>
                                        <p:cTn id="20" dur="500"/>
                                        <p:tgtEl>
                                          <p:spTgt spid="8"/>
                                        </p:tgtEl>
                                      </p:cBhvr>
                                    </p:animEffect>
                                  </p:childTnLst>
                                </p:cTn>
                              </p:par>
                              <p:par>
                                <p:cTn id="21" presetID="2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left)">
                                      <p:cBhvr>
                                        <p:cTn id="23" dur="500"/>
                                        <p:tgtEl>
                                          <p:spTgt spid="9"/>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wipe(left)">
                                      <p:cBhvr>
                                        <p:cTn id="26" dur="500"/>
                                        <p:tgtEl>
                                          <p:spTgt spid="10"/>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left)">
                                      <p:cBhvr>
                                        <p:cTn id="32" dur="500"/>
                                        <p:tgtEl>
                                          <p:spTgt spid="13"/>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wipe(left)">
                                      <p:cBhvr>
                                        <p:cTn id="35" dur="500"/>
                                        <p:tgtEl>
                                          <p:spTgt spid="14"/>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1000"/>
                                        <p:tgtEl>
                                          <p:spTgt spid="15"/>
                                        </p:tgtEl>
                                      </p:cBhvr>
                                    </p:animEffect>
                                    <p:anim calcmode="lin" valueType="num">
                                      <p:cBhvr>
                                        <p:cTn id="41" dur="1000" fill="hold"/>
                                        <p:tgtEl>
                                          <p:spTgt spid="15"/>
                                        </p:tgtEl>
                                        <p:attrNameLst>
                                          <p:attrName>ppt_x</p:attrName>
                                        </p:attrNameLst>
                                      </p:cBhvr>
                                      <p:tavLst>
                                        <p:tav tm="0">
                                          <p:val>
                                            <p:strVal val="#ppt_x"/>
                                          </p:val>
                                        </p:tav>
                                        <p:tav tm="100000">
                                          <p:val>
                                            <p:strVal val="#ppt_x"/>
                                          </p:val>
                                        </p:tav>
                                      </p:tavLst>
                                    </p:anim>
                                    <p:anim calcmode="lin" valueType="num">
                                      <p:cBhvr>
                                        <p:cTn id="4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1000"/>
                                        <p:tgtEl>
                                          <p:spTgt spid="17"/>
                                        </p:tgtEl>
                                      </p:cBhvr>
                                    </p:animEffect>
                                    <p:anim calcmode="lin" valueType="num">
                                      <p:cBhvr>
                                        <p:cTn id="48" dur="1000" fill="hold"/>
                                        <p:tgtEl>
                                          <p:spTgt spid="17"/>
                                        </p:tgtEl>
                                        <p:attrNameLst>
                                          <p:attrName>ppt_x</p:attrName>
                                        </p:attrNameLst>
                                      </p:cBhvr>
                                      <p:tavLst>
                                        <p:tav tm="0">
                                          <p:val>
                                            <p:strVal val="#ppt_x"/>
                                          </p:val>
                                        </p:tav>
                                        <p:tav tm="100000">
                                          <p:val>
                                            <p:strVal val="#ppt_x"/>
                                          </p:val>
                                        </p:tav>
                                      </p:tavLst>
                                    </p:anim>
                                    <p:anim calcmode="lin" valueType="num">
                                      <p:cBhvr>
                                        <p:cTn id="4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p:bldP spid="10" grpId="0"/>
      <p:bldP spid="12" grpId="0"/>
      <p:bldP spid="13" grpId="0"/>
      <p:bldP spid="14" grpId="0"/>
      <p:bldP spid="15" grpId="0"/>
      <p:bldP spid="17" grpId="0"/>
      <p:bldP spid="16"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圆角 36">
            <a:extLst>
              <a:ext uri="{FF2B5EF4-FFF2-40B4-BE49-F238E27FC236}">
                <a16:creationId xmlns:a16="http://schemas.microsoft.com/office/drawing/2014/main" id="{58047D0C-58F3-4A73-98C4-C9D75E7DAA06}"/>
              </a:ext>
            </a:extLst>
          </p:cNvPr>
          <p:cNvSpPr/>
          <p:nvPr/>
        </p:nvSpPr>
        <p:spPr>
          <a:xfrm>
            <a:off x="997368" y="4660727"/>
            <a:ext cx="3871983"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矩形: 圆角 35">
            <a:extLst>
              <a:ext uri="{FF2B5EF4-FFF2-40B4-BE49-F238E27FC236}">
                <a16:creationId xmlns:a16="http://schemas.microsoft.com/office/drawing/2014/main" id="{05295E67-6D33-4CF0-B918-3D0D4FEAB923}"/>
              </a:ext>
            </a:extLst>
          </p:cNvPr>
          <p:cNvSpPr/>
          <p:nvPr/>
        </p:nvSpPr>
        <p:spPr>
          <a:xfrm>
            <a:off x="997368" y="2996952"/>
            <a:ext cx="2926561"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圆角 32">
            <a:extLst>
              <a:ext uri="{FF2B5EF4-FFF2-40B4-BE49-F238E27FC236}">
                <a16:creationId xmlns:a16="http://schemas.microsoft.com/office/drawing/2014/main" id="{BCFD12C9-E509-42E4-B9C0-58DBF0622F20}"/>
              </a:ext>
            </a:extLst>
          </p:cNvPr>
          <p:cNvSpPr/>
          <p:nvPr/>
        </p:nvSpPr>
        <p:spPr>
          <a:xfrm>
            <a:off x="997368" y="1279212"/>
            <a:ext cx="1813317"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965FFCDD-745A-42CF-A3EE-FFC8D11F4FA9}"/>
              </a:ext>
            </a:extLst>
          </p:cNvPr>
          <p:cNvSpPr/>
          <p:nvPr/>
        </p:nvSpPr>
        <p:spPr>
          <a:xfrm>
            <a:off x="7164288" y="21265"/>
            <a:ext cx="1938351"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第二节  生产函数</a:t>
            </a:r>
          </a:p>
        </p:txBody>
      </p:sp>
      <p:sp>
        <p:nvSpPr>
          <p:cNvPr id="47" name="矩形 46">
            <a:extLst>
              <a:ext uri="{FF2B5EF4-FFF2-40B4-BE49-F238E27FC236}">
                <a16:creationId xmlns:a16="http://schemas.microsoft.com/office/drawing/2014/main" id="{C027D467-9CC5-4609-B3C6-9B77B0B9B6D1}"/>
              </a:ext>
            </a:extLst>
          </p:cNvPr>
          <p:cNvSpPr/>
          <p:nvPr/>
        </p:nvSpPr>
        <p:spPr>
          <a:xfrm>
            <a:off x="580922" y="520573"/>
            <a:ext cx="6151317"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二、企业生产中的时间维度：短期和长期</a:t>
            </a:r>
          </a:p>
        </p:txBody>
      </p:sp>
      <p:sp>
        <p:nvSpPr>
          <p:cNvPr id="69" name="矩形 68">
            <a:extLst>
              <a:ext uri="{FF2B5EF4-FFF2-40B4-BE49-F238E27FC236}">
                <a16:creationId xmlns:a16="http://schemas.microsoft.com/office/drawing/2014/main" id="{5136CB30-F935-4968-AE67-894C92AC497A}"/>
              </a:ext>
            </a:extLst>
          </p:cNvPr>
          <p:cNvSpPr/>
          <p:nvPr/>
        </p:nvSpPr>
        <p:spPr>
          <a:xfrm>
            <a:off x="997368" y="1300698"/>
            <a:ext cx="1813317" cy="400110"/>
          </a:xfrm>
          <a:prstGeom prst="rect">
            <a:avLst/>
          </a:prstGeom>
        </p:spPr>
        <p:txBody>
          <a:bodyPr wrap="none">
            <a:spAutoFit/>
          </a:bodyPr>
          <a:lstStyle/>
          <a:p>
            <a:pPr marL="342900" indent="-34290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短期和长期</a:t>
            </a:r>
          </a:p>
        </p:txBody>
      </p:sp>
      <p:sp>
        <p:nvSpPr>
          <p:cNvPr id="70" name="矩形 69">
            <a:extLst>
              <a:ext uri="{FF2B5EF4-FFF2-40B4-BE49-F238E27FC236}">
                <a16:creationId xmlns:a16="http://schemas.microsoft.com/office/drawing/2014/main" id="{BF7E5D82-A764-4EA6-817A-7B4543D77A2F}"/>
              </a:ext>
            </a:extLst>
          </p:cNvPr>
          <p:cNvSpPr/>
          <p:nvPr/>
        </p:nvSpPr>
        <p:spPr>
          <a:xfrm>
            <a:off x="997368" y="1772816"/>
            <a:ext cx="6814992" cy="584775"/>
          </a:xfrm>
          <a:prstGeom prst="rect">
            <a:avLst/>
          </a:prstGeom>
        </p:spPr>
        <p:txBody>
          <a:bodyPr wrap="square">
            <a:spAutoFit/>
          </a:bodyPr>
          <a:lstStyle/>
          <a:p>
            <a:pPr marL="285750" indent="-28575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短期是指生产者来不及调整全部生产要素的数量，至少有一种生产要素的数量固定不变的一段时期。</a:t>
            </a:r>
            <a:endParaRPr lang="en-US" altLang="zh-CN" sz="1600" dirty="0">
              <a:latin typeface="微软雅黑" panose="020B0503020204020204" pitchFamily="34" charset="-122"/>
              <a:ea typeface="微软雅黑" panose="020B0503020204020204" pitchFamily="34" charset="-122"/>
            </a:endParaRPr>
          </a:p>
        </p:txBody>
      </p:sp>
      <p:sp>
        <p:nvSpPr>
          <p:cNvPr id="78" name="矩形 77">
            <a:extLst>
              <a:ext uri="{FF2B5EF4-FFF2-40B4-BE49-F238E27FC236}">
                <a16:creationId xmlns:a16="http://schemas.microsoft.com/office/drawing/2014/main" id="{DA9D183C-8D43-47B1-9D8F-CA18FA781B44}"/>
              </a:ext>
            </a:extLst>
          </p:cNvPr>
          <p:cNvSpPr/>
          <p:nvPr/>
        </p:nvSpPr>
        <p:spPr>
          <a:xfrm>
            <a:off x="997368" y="3022683"/>
            <a:ext cx="2822243" cy="400110"/>
          </a:xfrm>
          <a:prstGeom prst="rect">
            <a:avLst/>
          </a:prstGeom>
        </p:spPr>
        <p:txBody>
          <a:bodyPr wrap="square">
            <a:spAutoFit/>
          </a:bodyPr>
          <a:lstStyle/>
          <a:p>
            <a:pPr marL="342900" indent="-34290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可变与不变生产要素</a:t>
            </a:r>
          </a:p>
        </p:txBody>
      </p:sp>
      <p:sp>
        <p:nvSpPr>
          <p:cNvPr id="83" name="矩形 82">
            <a:extLst>
              <a:ext uri="{FF2B5EF4-FFF2-40B4-BE49-F238E27FC236}">
                <a16:creationId xmlns:a16="http://schemas.microsoft.com/office/drawing/2014/main" id="{75904F9C-86C5-44B2-AB29-C97010A599BE}"/>
              </a:ext>
            </a:extLst>
          </p:cNvPr>
          <p:cNvSpPr/>
          <p:nvPr/>
        </p:nvSpPr>
        <p:spPr>
          <a:xfrm>
            <a:off x="1029759" y="3563576"/>
            <a:ext cx="6566577" cy="338554"/>
          </a:xfrm>
          <a:prstGeom prst="rect">
            <a:avLst/>
          </a:prstGeom>
        </p:spPr>
        <p:txBody>
          <a:bodyPr wrap="square">
            <a:spAutoFit/>
          </a:bodyPr>
          <a:lstStyle/>
          <a:p>
            <a:pPr marL="285750" indent="-28575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将可调整的生产要素称为可变要素，如短期中的劳动投入。</a:t>
            </a:r>
            <a:endParaRPr lang="en-US" altLang="zh-CN" sz="1600" dirty="0">
              <a:latin typeface="微软雅黑" panose="020B0503020204020204" pitchFamily="34" charset="-122"/>
              <a:ea typeface="微软雅黑" panose="020B0503020204020204" pitchFamily="34" charset="-122"/>
            </a:endParaRPr>
          </a:p>
        </p:txBody>
      </p:sp>
      <p:sp>
        <p:nvSpPr>
          <p:cNvPr id="85" name="矩形 84">
            <a:extLst>
              <a:ext uri="{FF2B5EF4-FFF2-40B4-BE49-F238E27FC236}">
                <a16:creationId xmlns:a16="http://schemas.microsoft.com/office/drawing/2014/main" id="{172BB4D5-FBD3-416A-A83C-6CF1485BD20E}"/>
              </a:ext>
            </a:extLst>
          </p:cNvPr>
          <p:cNvSpPr/>
          <p:nvPr/>
        </p:nvSpPr>
        <p:spPr>
          <a:xfrm>
            <a:off x="997368" y="4686458"/>
            <a:ext cx="3871983" cy="400110"/>
          </a:xfrm>
          <a:prstGeom prst="rect">
            <a:avLst/>
          </a:prstGeom>
        </p:spPr>
        <p:txBody>
          <a:bodyPr wrap="square">
            <a:spAutoFit/>
          </a:bodyPr>
          <a:lstStyle/>
          <a:p>
            <a:pPr marL="285750" indent="-28575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短期生产函数与长期生产函数</a:t>
            </a:r>
          </a:p>
        </p:txBody>
      </p:sp>
      <p:sp>
        <p:nvSpPr>
          <p:cNvPr id="95" name="矩形 94">
            <a:extLst>
              <a:ext uri="{FF2B5EF4-FFF2-40B4-BE49-F238E27FC236}">
                <a16:creationId xmlns:a16="http://schemas.microsoft.com/office/drawing/2014/main" id="{7D4039D9-A27C-49BE-B9FA-90A9EE267771}"/>
              </a:ext>
            </a:extLst>
          </p:cNvPr>
          <p:cNvSpPr/>
          <p:nvPr/>
        </p:nvSpPr>
        <p:spPr>
          <a:xfrm>
            <a:off x="997368" y="5155061"/>
            <a:ext cx="2570719" cy="338554"/>
          </a:xfrm>
          <a:prstGeom prst="rect">
            <a:avLst/>
          </a:prstGeom>
        </p:spPr>
        <p:txBody>
          <a:bodyPr wrap="square">
            <a:spAutoFit/>
          </a:bodyPr>
          <a:lstStyle/>
          <a:p>
            <a:pPr marL="285750" indent="-28575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短期生产函数</a:t>
            </a:r>
            <a:endParaRPr lang="en-US" altLang="zh-CN" sz="16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01" name="文本框 100">
                <a:extLst>
                  <a:ext uri="{FF2B5EF4-FFF2-40B4-BE49-F238E27FC236}">
                    <a16:creationId xmlns:a16="http://schemas.microsoft.com/office/drawing/2014/main" id="{43CF4BCE-5337-4299-B7A7-E5A950F82C14}"/>
                  </a:ext>
                </a:extLst>
              </p:cNvPr>
              <p:cNvSpPr txBox="1"/>
              <p:nvPr/>
            </p:nvSpPr>
            <p:spPr>
              <a:xfrm>
                <a:off x="2663315" y="5191781"/>
                <a:ext cx="1107226" cy="246221"/>
              </a:xfrm>
              <a:prstGeom prst="rect">
                <a:avLst/>
              </a:prstGeom>
              <a:noFill/>
            </p:spPr>
            <p:txBody>
              <a:bodyPr wrap="none" lIns="0" tIns="0" rIns="0" bIns="0" rtlCol="0">
                <a:spAutoFit/>
              </a:bodyPr>
              <a:lstStyle/>
              <a:p>
                <a:pPr>
                  <a:buClr>
                    <a:srgbClr val="CB0528"/>
                  </a:buClr>
                </a:pPr>
                <a14:m>
                  <m:oMath xmlns:m="http://schemas.openxmlformats.org/officeDocument/2006/math">
                    <m:r>
                      <a:rPr lang="zh-CN" altLang="en-US" sz="1600" i="1" smtClean="0">
                        <a:solidFill>
                          <a:schemeClr val="tx1"/>
                        </a:solidFill>
                        <a:latin typeface="Cambria Math" panose="02040503050406030204" pitchFamily="18" charset="0"/>
                      </a:rPr>
                      <m:t>𝑄</m:t>
                    </m:r>
                    <m:r>
                      <a:rPr lang="zh-CN" altLang="en-US" sz="1600" i="1" smtClean="0">
                        <a:solidFill>
                          <a:schemeClr val="tx1"/>
                        </a:solidFill>
                        <a:latin typeface="Cambria Math" panose="02040503050406030204" pitchFamily="18" charset="0"/>
                      </a:rPr>
                      <m:t>=</m:t>
                    </m:r>
                    <m:r>
                      <a:rPr lang="zh-CN" altLang="en-US" sz="1600" i="1">
                        <a:solidFill>
                          <a:schemeClr val="tx1"/>
                        </a:solidFill>
                        <a:latin typeface="Cambria Math" panose="02040503050406030204" pitchFamily="18" charset="0"/>
                      </a:rPr>
                      <m:t>𝑓</m:t>
                    </m:r>
                    <m:r>
                      <m:rPr>
                        <m:nor/>
                      </m:rPr>
                      <a:rPr lang="en-US" altLang="zh-CN" sz="1600" i="1" dirty="0">
                        <a:solidFill>
                          <a:schemeClr val="tx1"/>
                        </a:solidFill>
                        <a:latin typeface="微软雅黑" panose="020B0503020204020204" pitchFamily="34" charset="-122"/>
                        <a:ea typeface="微软雅黑" panose="020B0503020204020204" pitchFamily="34" charset="-122"/>
                      </a:rPr>
                      <m:t>(</m:t>
                    </m:r>
                    <m:r>
                      <a:rPr lang="en-US" altLang="zh-CN" sz="1600" b="0" i="1" dirty="0" smtClean="0">
                        <a:solidFill>
                          <a:schemeClr val="tx1"/>
                        </a:solidFill>
                        <a:latin typeface="Cambria Math" panose="02040503050406030204" pitchFamily="18" charset="0"/>
                        <a:ea typeface="微软雅黑" panose="020B0503020204020204" pitchFamily="34" charset="-122"/>
                      </a:rPr>
                      <m:t> </m:t>
                    </m:r>
                    <m:r>
                      <a:rPr lang="zh-CN" altLang="en-US" sz="1600" i="1" smtClean="0">
                        <a:solidFill>
                          <a:schemeClr val="tx1"/>
                        </a:solidFill>
                        <a:latin typeface="Cambria Math" panose="02040503050406030204" pitchFamily="18" charset="0"/>
                      </a:rPr>
                      <m:t>𝐿</m:t>
                    </m:r>
                    <m:r>
                      <a:rPr lang="en-US" altLang="zh-CN" sz="1600" b="0" i="1" smtClean="0">
                        <a:solidFill>
                          <a:schemeClr val="tx1"/>
                        </a:solidFill>
                        <a:latin typeface="Cambria Math" panose="02040503050406030204" pitchFamily="18" charset="0"/>
                      </a:rPr>
                      <m:t>,</m:t>
                    </m:r>
                    <m:acc>
                      <m:accPr>
                        <m:chr m:val="̅"/>
                        <m:ctrlPr>
                          <a:rPr lang="zh-CN" altLang="en-US" sz="1600" i="1" smtClean="0">
                            <a:solidFill>
                              <a:schemeClr val="tx1"/>
                            </a:solidFill>
                            <a:latin typeface="Cambria Math" panose="02040503050406030204" pitchFamily="18" charset="0"/>
                          </a:rPr>
                        </m:ctrlPr>
                      </m:accPr>
                      <m:e>
                        <m:r>
                          <a:rPr lang="zh-CN" altLang="en-US" sz="1600" i="1" smtClean="0">
                            <a:solidFill>
                              <a:schemeClr val="tx1"/>
                            </a:solidFill>
                            <a:latin typeface="Cambria Math" panose="02040503050406030204" pitchFamily="18" charset="0"/>
                          </a:rPr>
                          <m:t>𝐾</m:t>
                        </m:r>
                      </m:e>
                    </m:acc>
                  </m:oMath>
                </a14:m>
                <a:r>
                  <a:rPr lang="zh-CN" altLang="en-US" sz="1600" dirty="0">
                    <a:solidFill>
                      <a:schemeClr val="tx1"/>
                    </a:solidFill>
                    <a:latin typeface="微软雅黑" panose="020B0503020204020204" pitchFamily="34" charset="-122"/>
                    <a:ea typeface="微软雅黑" panose="020B0503020204020204" pitchFamily="34" charset="-122"/>
                  </a:rPr>
                  <a:t> </a:t>
                </a:r>
                <a:r>
                  <a:rPr lang="en-US" altLang="zh-CN" sz="1600" i="1" dirty="0">
                    <a:solidFill>
                      <a:schemeClr val="tx1"/>
                    </a:solidFill>
                    <a:latin typeface="微软雅黑" panose="020B0503020204020204" pitchFamily="34" charset="-122"/>
                    <a:ea typeface="微软雅黑" panose="020B0503020204020204" pitchFamily="34" charset="-122"/>
                  </a:rPr>
                  <a:t>)</a:t>
                </a:r>
                <a:endParaRPr lang="zh-CN" altLang="en-US" sz="1600" dirty="0">
                  <a:solidFill>
                    <a:schemeClr val="tx1"/>
                  </a:solidFill>
                </a:endParaRPr>
              </a:p>
            </p:txBody>
          </p:sp>
        </mc:Choice>
        <mc:Fallback xmlns="">
          <p:sp>
            <p:nvSpPr>
              <p:cNvPr id="101" name="文本框 100">
                <a:extLst>
                  <a:ext uri="{FF2B5EF4-FFF2-40B4-BE49-F238E27FC236}">
                    <a16:creationId xmlns:a16="http://schemas.microsoft.com/office/drawing/2014/main" id="{43CF4BCE-5337-4299-B7A7-E5A950F82C14}"/>
                  </a:ext>
                </a:extLst>
              </p:cNvPr>
              <p:cNvSpPr txBox="1">
                <a:spLocks noRot="1" noChangeAspect="1" noMove="1" noResize="1" noEditPoints="1" noAdjustHandles="1" noChangeArrowheads="1" noChangeShapeType="1" noTextEdit="1"/>
              </p:cNvSpPr>
              <p:nvPr/>
            </p:nvSpPr>
            <p:spPr>
              <a:xfrm>
                <a:off x="2663315" y="5191781"/>
                <a:ext cx="1107226" cy="246221"/>
              </a:xfrm>
              <a:prstGeom prst="rect">
                <a:avLst/>
              </a:prstGeom>
              <a:blipFill>
                <a:blip r:embed="rId2"/>
                <a:stretch>
                  <a:fillRect l="-8242" t="-27500" r="-13187"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3" name="文本框 102">
                <a:extLst>
                  <a:ext uri="{FF2B5EF4-FFF2-40B4-BE49-F238E27FC236}">
                    <a16:creationId xmlns:a16="http://schemas.microsoft.com/office/drawing/2014/main" id="{D56C64D0-C6F0-4989-8F70-E306D2E77EFF}"/>
                  </a:ext>
                </a:extLst>
              </p:cNvPr>
              <p:cNvSpPr txBox="1"/>
              <p:nvPr/>
            </p:nvSpPr>
            <p:spPr>
              <a:xfrm>
                <a:off x="2617903" y="5648665"/>
                <a:ext cx="1192441" cy="246221"/>
              </a:xfrm>
              <a:prstGeom prst="rect">
                <a:avLst/>
              </a:prstGeom>
              <a:noFill/>
            </p:spPr>
            <p:txBody>
              <a:bodyPr wrap="none" lIns="0" tIns="0" rIns="0" bIns="0" rtlCol="0">
                <a:spAutoFit/>
              </a:bodyPr>
              <a:lstStyle/>
              <a:p>
                <a:pPr>
                  <a:buClr>
                    <a:srgbClr val="CB0528"/>
                  </a:buClr>
                </a:pPr>
                <a14:m>
                  <m:oMathPara xmlns:m="http://schemas.openxmlformats.org/officeDocument/2006/math">
                    <m:oMathParaPr>
                      <m:jc m:val="centerGroup"/>
                    </m:oMathParaPr>
                    <m:oMath xmlns:m="http://schemas.openxmlformats.org/officeDocument/2006/math">
                      <m:r>
                        <a:rPr lang="zh-CN" altLang="en-US" sz="1600" i="1" smtClean="0">
                          <a:solidFill>
                            <a:schemeClr val="tx1"/>
                          </a:solidFill>
                          <a:latin typeface="Cambria Math" panose="02040503050406030204" pitchFamily="18" charset="0"/>
                        </a:rPr>
                        <m:t>𝑄</m:t>
                      </m:r>
                      <m:r>
                        <a:rPr lang="zh-CN" altLang="en-US" sz="1600" i="1" smtClean="0">
                          <a:solidFill>
                            <a:schemeClr val="tx1"/>
                          </a:solidFill>
                          <a:latin typeface="Cambria Math" panose="02040503050406030204" pitchFamily="18" charset="0"/>
                        </a:rPr>
                        <m:t>=</m:t>
                      </m:r>
                      <m:r>
                        <a:rPr lang="zh-CN" altLang="en-US" sz="1600" i="1" smtClean="0">
                          <a:solidFill>
                            <a:schemeClr val="tx1"/>
                          </a:solidFill>
                          <a:latin typeface="Cambria Math" panose="02040503050406030204" pitchFamily="18" charset="0"/>
                        </a:rPr>
                        <m:t>𝑓</m:t>
                      </m:r>
                      <m:r>
                        <m:rPr>
                          <m:nor/>
                        </m:rPr>
                        <a:rPr lang="en-US" altLang="zh-CN" sz="1600" i="1" dirty="0" smtClean="0">
                          <a:solidFill>
                            <a:schemeClr val="tx1"/>
                          </a:solidFill>
                          <a:latin typeface="微软雅黑" panose="020B0503020204020204" pitchFamily="34" charset="-122"/>
                          <a:ea typeface="微软雅黑" panose="020B0503020204020204" pitchFamily="34" charset="-122"/>
                        </a:rPr>
                        <m:t>(</m:t>
                      </m:r>
                      <m:r>
                        <m:rPr>
                          <m:nor/>
                        </m:rPr>
                        <a:rPr lang="en-US" altLang="zh-CN" sz="1600" b="0" dirty="0" smtClean="0">
                          <a:solidFill>
                            <a:schemeClr val="tx1"/>
                          </a:solidFill>
                        </a:rPr>
                        <m:t> </m:t>
                      </m:r>
                      <m:r>
                        <m:rPr>
                          <m:nor/>
                        </m:rPr>
                        <a:rPr lang="en-US" altLang="zh-CN" sz="1600" i="1" dirty="0">
                          <a:solidFill>
                            <a:schemeClr val="tx1"/>
                          </a:solidFill>
                          <a:latin typeface="+mn-ea"/>
                        </a:rPr>
                        <m:t>L</m:t>
                      </m:r>
                      <m:r>
                        <m:rPr>
                          <m:nor/>
                        </m:rPr>
                        <a:rPr lang="en-US" altLang="zh-CN" sz="1600" i="1" dirty="0">
                          <a:solidFill>
                            <a:schemeClr val="tx1"/>
                          </a:solidFill>
                          <a:latin typeface="+mn-ea"/>
                        </a:rPr>
                        <m:t>,</m:t>
                      </m:r>
                      <m:r>
                        <m:rPr>
                          <m:nor/>
                        </m:rPr>
                        <a:rPr lang="en-US" altLang="zh-CN" sz="1600" i="1" dirty="0">
                          <a:solidFill>
                            <a:schemeClr val="tx1"/>
                          </a:solidFill>
                          <a:latin typeface="+mn-ea"/>
                        </a:rPr>
                        <m:t>K</m:t>
                      </m:r>
                      <m:r>
                        <m:rPr>
                          <m:nor/>
                        </m:rPr>
                        <a:rPr lang="en-US" altLang="zh-CN" sz="1600" b="0" i="1" dirty="0" smtClean="0">
                          <a:solidFill>
                            <a:schemeClr val="tx1"/>
                          </a:solidFill>
                          <a:latin typeface="+mn-ea"/>
                        </a:rPr>
                        <m:t> </m:t>
                      </m:r>
                      <m:r>
                        <m:rPr>
                          <m:nor/>
                        </m:rPr>
                        <a:rPr lang="en-US" altLang="zh-CN" sz="1600" i="1" dirty="0">
                          <a:solidFill>
                            <a:schemeClr val="tx1"/>
                          </a:solidFill>
                          <a:latin typeface="微软雅黑" panose="020B0503020204020204" pitchFamily="34" charset="-122"/>
                          <a:ea typeface="微软雅黑" panose="020B0503020204020204" pitchFamily="34" charset="-122"/>
                        </a:rPr>
                        <m:t>)</m:t>
                      </m:r>
                    </m:oMath>
                  </m:oMathPara>
                </a14:m>
                <a:endParaRPr lang="zh-CN" altLang="en-US" sz="1600" i="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03" name="文本框 102">
                <a:extLst>
                  <a:ext uri="{FF2B5EF4-FFF2-40B4-BE49-F238E27FC236}">
                    <a16:creationId xmlns:a16="http://schemas.microsoft.com/office/drawing/2014/main" id="{D56C64D0-C6F0-4989-8F70-E306D2E77EFF}"/>
                  </a:ext>
                </a:extLst>
              </p:cNvPr>
              <p:cNvSpPr txBox="1">
                <a:spLocks noRot="1" noChangeAspect="1" noMove="1" noResize="1" noEditPoints="1" noAdjustHandles="1" noChangeArrowheads="1" noChangeShapeType="1" noTextEdit="1"/>
              </p:cNvSpPr>
              <p:nvPr/>
            </p:nvSpPr>
            <p:spPr>
              <a:xfrm>
                <a:off x="2617903" y="5648665"/>
                <a:ext cx="1192441" cy="246221"/>
              </a:xfrm>
              <a:prstGeom prst="rect">
                <a:avLst/>
              </a:prstGeom>
              <a:blipFill>
                <a:blip r:embed="rId3"/>
                <a:stretch>
                  <a:fillRect l="-4082" t="-5000" r="-5612" b="-35000"/>
                </a:stretch>
              </a:blipFill>
            </p:spPr>
            <p:txBody>
              <a:bodyPr/>
              <a:lstStyle/>
              <a:p>
                <a:r>
                  <a:rPr lang="zh-CN" altLang="en-US">
                    <a:noFill/>
                  </a:rPr>
                  <a:t> </a:t>
                </a:r>
              </a:p>
            </p:txBody>
          </p:sp>
        </mc:Fallback>
      </mc:AlternateContent>
      <p:sp>
        <p:nvSpPr>
          <p:cNvPr id="104" name="矩形 103">
            <a:extLst>
              <a:ext uri="{FF2B5EF4-FFF2-40B4-BE49-F238E27FC236}">
                <a16:creationId xmlns:a16="http://schemas.microsoft.com/office/drawing/2014/main" id="{F937B157-0CAC-4349-A269-737E77F5CAF3}"/>
              </a:ext>
            </a:extLst>
          </p:cNvPr>
          <p:cNvSpPr/>
          <p:nvPr/>
        </p:nvSpPr>
        <p:spPr>
          <a:xfrm>
            <a:off x="997368" y="5610194"/>
            <a:ext cx="2570719" cy="338554"/>
          </a:xfrm>
          <a:prstGeom prst="rect">
            <a:avLst/>
          </a:prstGeom>
        </p:spPr>
        <p:txBody>
          <a:bodyPr wrap="square">
            <a:spAutoFit/>
          </a:bodyPr>
          <a:lstStyle/>
          <a:p>
            <a:pPr marL="285750" indent="-28575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长期生产函数</a:t>
            </a:r>
            <a:endParaRPr lang="en-US" altLang="zh-CN" sz="16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B34C01C0-CB90-4C45-B644-52490EC2A495}"/>
              </a:ext>
            </a:extLst>
          </p:cNvPr>
          <p:cNvSpPr/>
          <p:nvPr/>
        </p:nvSpPr>
        <p:spPr>
          <a:xfrm>
            <a:off x="997368" y="2442374"/>
            <a:ext cx="6304793" cy="338554"/>
          </a:xfrm>
          <a:prstGeom prst="rect">
            <a:avLst/>
          </a:prstGeom>
        </p:spPr>
        <p:txBody>
          <a:bodyPr wrap="square">
            <a:spAutoFit/>
          </a:bodyPr>
          <a:lstStyle/>
          <a:p>
            <a:pPr marL="285750" indent="-28575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长期是指生产者可以调整全部生产要素的时期。</a:t>
            </a:r>
          </a:p>
        </p:txBody>
      </p:sp>
      <p:sp>
        <p:nvSpPr>
          <p:cNvPr id="4" name="矩形 3">
            <a:extLst>
              <a:ext uri="{FF2B5EF4-FFF2-40B4-BE49-F238E27FC236}">
                <a16:creationId xmlns:a16="http://schemas.microsoft.com/office/drawing/2014/main" id="{A2820767-6D99-4C71-8992-71B4DB229FB7}"/>
              </a:ext>
            </a:extLst>
          </p:cNvPr>
          <p:cNvSpPr/>
          <p:nvPr/>
        </p:nvSpPr>
        <p:spPr>
          <a:xfrm>
            <a:off x="1026274" y="3995624"/>
            <a:ext cx="7425719" cy="338554"/>
          </a:xfrm>
          <a:prstGeom prst="rect">
            <a:avLst/>
          </a:prstGeom>
        </p:spPr>
        <p:txBody>
          <a:bodyPr wrap="square">
            <a:spAutoFit/>
          </a:bodyPr>
          <a:lstStyle/>
          <a:p>
            <a:pPr marL="285750" indent="-28575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不能或来不及调整的生产要素称为不变要素或固定要素，如短期中的技术。</a:t>
            </a:r>
          </a:p>
        </p:txBody>
      </p:sp>
      <p:sp>
        <p:nvSpPr>
          <p:cNvPr id="5" name="矩形 4">
            <a:extLst>
              <a:ext uri="{FF2B5EF4-FFF2-40B4-BE49-F238E27FC236}">
                <a16:creationId xmlns:a16="http://schemas.microsoft.com/office/drawing/2014/main" id="{6D0FDA2D-9BDB-4FDD-87C8-24FCDD26AB80}"/>
              </a:ext>
            </a:extLst>
          </p:cNvPr>
          <p:cNvSpPr/>
          <p:nvPr/>
        </p:nvSpPr>
        <p:spPr>
          <a:xfrm>
            <a:off x="4310451" y="5625582"/>
            <a:ext cx="2774331" cy="307777"/>
          </a:xfrm>
          <a:prstGeom prst="rect">
            <a:avLst/>
          </a:prstGeom>
        </p:spPr>
        <p:txBody>
          <a:bodyPr wrap="square">
            <a:spAutoFit/>
          </a:bodyPr>
          <a:lstStyle/>
          <a:p>
            <a:pPr marL="285750" indent="-285750">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资本投入和劳动投入都可变。</a:t>
            </a:r>
            <a:endParaRPr lang="en-US" altLang="zh-CN" sz="140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D7C96D89-1B9D-4285-83A2-1A4A23C66012}"/>
              </a:ext>
            </a:extLst>
          </p:cNvPr>
          <p:cNvSpPr/>
          <p:nvPr/>
        </p:nvSpPr>
        <p:spPr>
          <a:xfrm>
            <a:off x="4313255" y="5150873"/>
            <a:ext cx="3005706" cy="307777"/>
          </a:xfrm>
          <a:prstGeom prst="rect">
            <a:avLst/>
          </a:prstGeom>
        </p:spPr>
        <p:txBody>
          <a:bodyPr wrap="square">
            <a:spAutoFit/>
          </a:bodyPr>
          <a:lstStyle/>
          <a:p>
            <a:pPr marL="285750" indent="-285750">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资本投入不变，  劳动投入可变。</a:t>
            </a:r>
            <a:endParaRPr lang="en-US" altLang="zh-CN" sz="1400" dirty="0">
              <a:latin typeface="微软雅黑" panose="020B0503020204020204" pitchFamily="34" charset="-122"/>
              <a:ea typeface="微软雅黑" panose="020B0503020204020204" pitchFamily="34" charset="-122"/>
            </a:endParaRPr>
          </a:p>
        </p:txBody>
      </p:sp>
      <p:sp>
        <p:nvSpPr>
          <p:cNvPr id="7" name="线形标注 1 6"/>
          <p:cNvSpPr/>
          <p:nvPr/>
        </p:nvSpPr>
        <p:spPr bwMode="auto">
          <a:xfrm>
            <a:off x="4828092" y="2740765"/>
            <a:ext cx="3272300" cy="707758"/>
          </a:xfrm>
          <a:prstGeom prst="borderCallout1">
            <a:avLst>
              <a:gd name="adj1" fmla="val 46577"/>
              <a:gd name="adj2" fmla="val -1186"/>
              <a:gd name="adj3" fmla="val 68772"/>
              <a:gd name="adj4" fmla="val -3118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与上学期</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政经</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中“不变资本”“可变资本”是有区别的。</a:t>
            </a:r>
          </a:p>
        </p:txBody>
      </p:sp>
    </p:spTree>
    <p:extLst>
      <p:ext uri="{BB962C8B-B14F-4D97-AF65-F5344CB8AC3E}">
        <p14:creationId xmlns:p14="http://schemas.microsoft.com/office/powerpoint/2010/main" val="421810147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 calcmode="lin" valueType="num">
                                      <p:cBhvr>
                                        <p:cTn id="7" dur="500" fill="hold"/>
                                        <p:tgtEl>
                                          <p:spTgt spid="47"/>
                                        </p:tgtEl>
                                        <p:attrNameLst>
                                          <p:attrName>ppt_w</p:attrName>
                                        </p:attrNameLst>
                                      </p:cBhvr>
                                      <p:tavLst>
                                        <p:tav tm="0">
                                          <p:val>
                                            <p:fltVal val="0"/>
                                          </p:val>
                                        </p:tav>
                                        <p:tav tm="100000">
                                          <p:val>
                                            <p:strVal val="#ppt_w"/>
                                          </p:val>
                                        </p:tav>
                                      </p:tavLst>
                                    </p:anim>
                                    <p:anim calcmode="lin" valueType="num">
                                      <p:cBhvr>
                                        <p:cTn id="8" dur="500" fill="hold"/>
                                        <p:tgtEl>
                                          <p:spTgt spid="47"/>
                                        </p:tgtEl>
                                        <p:attrNameLst>
                                          <p:attrName>ppt_h</p:attrName>
                                        </p:attrNameLst>
                                      </p:cBhvr>
                                      <p:tavLst>
                                        <p:tav tm="0">
                                          <p:val>
                                            <p:fltVal val="0"/>
                                          </p:val>
                                        </p:tav>
                                        <p:tav tm="100000">
                                          <p:val>
                                            <p:strVal val="#ppt_h"/>
                                          </p:val>
                                        </p:tav>
                                      </p:tavLst>
                                    </p:anim>
                                    <p:animEffect transition="in" filter="fade">
                                      <p:cBhvr>
                                        <p:cTn id="9" dur="500"/>
                                        <p:tgtEl>
                                          <p:spTgt spid="47"/>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3"/>
                                        </p:tgtEl>
                                        <p:attrNameLst>
                                          <p:attrName>style.visibility</p:attrName>
                                        </p:attrNameLst>
                                      </p:cBhvr>
                                      <p:to>
                                        <p:strVal val="visible"/>
                                      </p:to>
                                    </p:set>
                                    <p:animEffect transition="in" filter="wipe(down)">
                                      <p:cBhvr>
                                        <p:cTn id="14" dur="500"/>
                                        <p:tgtEl>
                                          <p:spTgt spid="33"/>
                                        </p:tgtEl>
                                      </p:cBhvr>
                                    </p:animEffect>
                                  </p:childTnLst>
                                </p:cTn>
                              </p:par>
                              <p:par>
                                <p:cTn id="15" presetID="22" presetClass="entr" presetSubtype="4" fill="hold" grpId="0" nodeType="withEffect">
                                  <p:stCondLst>
                                    <p:cond delay="0"/>
                                  </p:stCondLst>
                                  <p:childTnLst>
                                    <p:set>
                                      <p:cBhvr>
                                        <p:cTn id="16" dur="1" fill="hold">
                                          <p:stCondLst>
                                            <p:cond delay="0"/>
                                          </p:stCondLst>
                                        </p:cTn>
                                        <p:tgtEl>
                                          <p:spTgt spid="69"/>
                                        </p:tgtEl>
                                        <p:attrNameLst>
                                          <p:attrName>style.visibility</p:attrName>
                                        </p:attrNameLst>
                                      </p:cBhvr>
                                      <p:to>
                                        <p:strVal val="visible"/>
                                      </p:to>
                                    </p:set>
                                    <p:animEffect transition="in" filter="wipe(down)">
                                      <p:cBhvr>
                                        <p:cTn id="17" dur="500"/>
                                        <p:tgtEl>
                                          <p:spTgt spid="6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wipe(down)">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down)">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wipe(down)">
                                      <p:cBhvr>
                                        <p:cTn id="32" dur="500"/>
                                        <p:tgtEl>
                                          <p:spTgt spid="36"/>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78"/>
                                        </p:tgtEl>
                                        <p:attrNameLst>
                                          <p:attrName>style.visibility</p:attrName>
                                        </p:attrNameLst>
                                      </p:cBhvr>
                                      <p:to>
                                        <p:strVal val="visible"/>
                                      </p:to>
                                    </p:set>
                                    <p:animEffect transition="in" filter="wipe(down)">
                                      <p:cBhvr>
                                        <p:cTn id="35" dur="500"/>
                                        <p:tgtEl>
                                          <p:spTgt spid="78"/>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83"/>
                                        </p:tgtEl>
                                        <p:attrNameLst>
                                          <p:attrName>style.visibility</p:attrName>
                                        </p:attrNameLst>
                                      </p:cBhvr>
                                      <p:to>
                                        <p:strVal val="visible"/>
                                      </p:to>
                                    </p:set>
                                    <p:animEffect transition="in" filter="wipe(down)">
                                      <p:cBhvr>
                                        <p:cTn id="40" dur="500"/>
                                        <p:tgtEl>
                                          <p:spTgt spid="8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nodeType="clickEffect">
                                  <p:stCondLst>
                                    <p:cond delay="0"/>
                                  </p:stCondLst>
                                  <p:childTnLst>
                                    <p:set>
                                      <p:cBhvr>
                                        <p:cTn id="44" dur="1" fill="hold">
                                          <p:stCondLst>
                                            <p:cond delay="0"/>
                                          </p:stCondLst>
                                        </p:cTn>
                                        <p:tgtEl>
                                          <p:spTgt spid="4">
                                            <p:txEl>
                                              <p:pRg st="0" end="0"/>
                                            </p:txEl>
                                          </p:spTgt>
                                        </p:tgtEl>
                                        <p:attrNameLst>
                                          <p:attrName>style.visibility</p:attrName>
                                        </p:attrNameLst>
                                      </p:cBhvr>
                                      <p:to>
                                        <p:strVal val="visible"/>
                                      </p:to>
                                    </p:set>
                                    <p:animEffect transition="in" filter="wipe(down)">
                                      <p:cBhvr>
                                        <p:cTn id="45" dur="500"/>
                                        <p:tgtEl>
                                          <p:spTgt spid="4">
                                            <p:txEl>
                                              <p:pRg st="0" end="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37"/>
                                        </p:tgtEl>
                                        <p:attrNameLst>
                                          <p:attrName>style.visibility</p:attrName>
                                        </p:attrNameLst>
                                      </p:cBhvr>
                                      <p:to>
                                        <p:strVal val="visible"/>
                                      </p:to>
                                    </p:set>
                                    <p:animEffect transition="in" filter="wipe(down)">
                                      <p:cBhvr>
                                        <p:cTn id="50" dur="500"/>
                                        <p:tgtEl>
                                          <p:spTgt spid="37"/>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85"/>
                                        </p:tgtEl>
                                        <p:attrNameLst>
                                          <p:attrName>style.visibility</p:attrName>
                                        </p:attrNameLst>
                                      </p:cBhvr>
                                      <p:to>
                                        <p:strVal val="visible"/>
                                      </p:to>
                                    </p:set>
                                    <p:animEffect transition="in" filter="wipe(down)">
                                      <p:cBhvr>
                                        <p:cTn id="53" dur="500"/>
                                        <p:tgtEl>
                                          <p:spTgt spid="8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95"/>
                                        </p:tgtEl>
                                        <p:attrNameLst>
                                          <p:attrName>style.visibility</p:attrName>
                                        </p:attrNameLst>
                                      </p:cBhvr>
                                      <p:to>
                                        <p:strVal val="visible"/>
                                      </p:to>
                                    </p:set>
                                    <p:animEffect transition="in" filter="wipe(down)">
                                      <p:cBhvr>
                                        <p:cTn id="58" dur="500"/>
                                        <p:tgtEl>
                                          <p:spTgt spid="95"/>
                                        </p:tgtEl>
                                      </p:cBhvr>
                                    </p:animEffect>
                                  </p:childTnLst>
                                </p:cTn>
                              </p:par>
                              <p:par>
                                <p:cTn id="59" presetID="22" presetClass="entr" presetSubtype="4" fill="hold" grpId="0" nodeType="withEffect">
                                  <p:stCondLst>
                                    <p:cond delay="0"/>
                                  </p:stCondLst>
                                  <p:childTnLst>
                                    <p:set>
                                      <p:cBhvr>
                                        <p:cTn id="60" dur="1" fill="hold">
                                          <p:stCondLst>
                                            <p:cond delay="0"/>
                                          </p:stCondLst>
                                        </p:cTn>
                                        <p:tgtEl>
                                          <p:spTgt spid="101"/>
                                        </p:tgtEl>
                                        <p:attrNameLst>
                                          <p:attrName>style.visibility</p:attrName>
                                        </p:attrNameLst>
                                      </p:cBhvr>
                                      <p:to>
                                        <p:strVal val="visible"/>
                                      </p:to>
                                    </p:set>
                                    <p:animEffect transition="in" filter="wipe(down)">
                                      <p:cBhvr>
                                        <p:cTn id="61" dur="500"/>
                                        <p:tgtEl>
                                          <p:spTgt spid="101"/>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4" fill="hold" grpId="0" nodeType="click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wipe(down)">
                                      <p:cBhvr>
                                        <p:cTn id="66" dur="500"/>
                                        <p:tgtEl>
                                          <p:spTgt spid="6"/>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103"/>
                                        </p:tgtEl>
                                        <p:attrNameLst>
                                          <p:attrName>style.visibility</p:attrName>
                                        </p:attrNameLst>
                                      </p:cBhvr>
                                      <p:to>
                                        <p:strVal val="visible"/>
                                      </p:to>
                                    </p:set>
                                    <p:animEffect transition="in" filter="wipe(down)">
                                      <p:cBhvr>
                                        <p:cTn id="71" dur="500"/>
                                        <p:tgtEl>
                                          <p:spTgt spid="103"/>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104"/>
                                        </p:tgtEl>
                                        <p:attrNameLst>
                                          <p:attrName>style.visibility</p:attrName>
                                        </p:attrNameLst>
                                      </p:cBhvr>
                                      <p:to>
                                        <p:strVal val="visible"/>
                                      </p:to>
                                    </p:set>
                                    <p:animEffect transition="in" filter="wipe(down)">
                                      <p:cBhvr>
                                        <p:cTn id="74" dur="500"/>
                                        <p:tgtEl>
                                          <p:spTgt spid="104"/>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5">
                                            <p:txEl>
                                              <p:pRg st="0" end="0"/>
                                            </p:txEl>
                                          </p:spTgt>
                                        </p:tgtEl>
                                        <p:attrNameLst>
                                          <p:attrName>style.visibility</p:attrName>
                                        </p:attrNameLst>
                                      </p:cBhvr>
                                      <p:to>
                                        <p:strVal val="visible"/>
                                      </p:to>
                                    </p:set>
                                    <p:animEffect transition="in" filter="wipe(down)">
                                      <p:cBhvr>
                                        <p:cTn id="79"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6" grpId="0" animBg="1"/>
      <p:bldP spid="33" grpId="0" animBg="1"/>
      <p:bldP spid="47" grpId="0" animBg="1"/>
      <p:bldP spid="69" grpId="0"/>
      <p:bldP spid="70" grpId="0"/>
      <p:bldP spid="78" grpId="0"/>
      <p:bldP spid="83" grpId="0"/>
      <p:bldP spid="85" grpId="0"/>
      <p:bldP spid="95" grpId="0"/>
      <p:bldP spid="101" grpId="0"/>
      <p:bldP spid="103" grpId="0"/>
      <p:bldP spid="104" grpId="0"/>
      <p:bldP spid="3" grpId="0"/>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A1591672-38ED-4C0D-8F8E-B407F23AD02B}"/>
              </a:ext>
            </a:extLst>
          </p:cNvPr>
          <p:cNvSpPr/>
          <p:nvPr/>
        </p:nvSpPr>
        <p:spPr>
          <a:xfrm>
            <a:off x="584976" y="4289605"/>
            <a:ext cx="3474028"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DE8B3356-2CF9-49A8-949A-94B0127BCB70}"/>
              </a:ext>
            </a:extLst>
          </p:cNvPr>
          <p:cNvSpPr/>
          <p:nvPr/>
        </p:nvSpPr>
        <p:spPr>
          <a:xfrm>
            <a:off x="605213" y="1434803"/>
            <a:ext cx="2926561"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357B7A80-128D-484C-85E1-ACE2007CDF02}"/>
              </a:ext>
            </a:extLst>
          </p:cNvPr>
          <p:cNvSpPr/>
          <p:nvPr/>
        </p:nvSpPr>
        <p:spPr>
          <a:xfrm>
            <a:off x="7164288" y="21265"/>
            <a:ext cx="1938351"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第二节  生产函数</a:t>
            </a:r>
          </a:p>
        </p:txBody>
      </p:sp>
      <p:sp>
        <p:nvSpPr>
          <p:cNvPr id="3" name="矩形 2">
            <a:extLst>
              <a:ext uri="{FF2B5EF4-FFF2-40B4-BE49-F238E27FC236}">
                <a16:creationId xmlns:a16="http://schemas.microsoft.com/office/drawing/2014/main" id="{5FA02BCC-C86F-4CF6-8C81-5412939A2DA3}"/>
              </a:ext>
            </a:extLst>
          </p:cNvPr>
          <p:cNvSpPr/>
          <p:nvPr/>
        </p:nvSpPr>
        <p:spPr>
          <a:xfrm>
            <a:off x="580923" y="520573"/>
            <a:ext cx="319899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三、生产函数的例子</a:t>
            </a:r>
          </a:p>
        </p:txBody>
      </p:sp>
      <p:sp>
        <p:nvSpPr>
          <p:cNvPr id="4" name="矩形 3">
            <a:extLst>
              <a:ext uri="{FF2B5EF4-FFF2-40B4-BE49-F238E27FC236}">
                <a16:creationId xmlns:a16="http://schemas.microsoft.com/office/drawing/2014/main" id="{EC6C2024-DCFC-451A-9962-06102811A879}"/>
              </a:ext>
            </a:extLst>
          </p:cNvPr>
          <p:cNvSpPr/>
          <p:nvPr/>
        </p:nvSpPr>
        <p:spPr>
          <a:xfrm>
            <a:off x="677729" y="1460534"/>
            <a:ext cx="2781531" cy="400110"/>
          </a:xfrm>
          <a:prstGeom prst="rect">
            <a:avLst/>
          </a:prstGeom>
        </p:spPr>
        <p:txBody>
          <a:bodyPr wrap="none">
            <a:spAutoFit/>
          </a:bodyPr>
          <a:lstStyle/>
          <a:p>
            <a:pPr marL="285750" indent="-28575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固定比例的生产函数</a:t>
            </a:r>
          </a:p>
        </p:txBody>
      </p:sp>
      <p:sp>
        <p:nvSpPr>
          <p:cNvPr id="5" name="矩形 4">
            <a:extLst>
              <a:ext uri="{FF2B5EF4-FFF2-40B4-BE49-F238E27FC236}">
                <a16:creationId xmlns:a16="http://schemas.microsoft.com/office/drawing/2014/main" id="{BBD2BB3C-153A-40B3-8812-F4181244B479}"/>
              </a:ext>
            </a:extLst>
          </p:cNvPr>
          <p:cNvSpPr/>
          <p:nvPr/>
        </p:nvSpPr>
        <p:spPr>
          <a:xfrm>
            <a:off x="677729" y="2023531"/>
            <a:ext cx="3474028" cy="923330"/>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固定比例的生产函数是指生产要素按固定比例搭配的生产函数，如出租车和出租车司机。</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72307B8-072F-40C3-AFE1-553DEDDDBA85}"/>
                  </a:ext>
                </a:extLst>
              </p:cNvPr>
              <p:cNvSpPr txBox="1"/>
              <p:nvPr/>
            </p:nvSpPr>
            <p:spPr>
              <a:xfrm>
                <a:off x="1399467" y="3521020"/>
                <a:ext cx="2036626" cy="412036"/>
              </a:xfrm>
              <a:prstGeom prst="rect">
                <a:avLst/>
              </a:prstGeom>
              <a:noFill/>
            </p:spPr>
            <p:txBody>
              <a:bodyPr wrap="square" lIns="0" tIns="0" rIns="0" bIns="0" rtlCol="0">
                <a:spAutoFit/>
              </a:bodyPr>
              <a:lstStyle/>
              <a:p>
                <a:pPr marL="285750" indent="-285750">
                  <a:buFont typeface="Wingdings" panose="05000000000000000000" pitchFamily="2" charset="2"/>
                  <a:buChar char="l"/>
                </a:pPr>
                <a14:m>
                  <m:oMath xmlns:m="http://schemas.openxmlformats.org/officeDocument/2006/math">
                    <m:r>
                      <a:rPr lang="zh-CN" altLang="en-US" i="1" smtClean="0">
                        <a:solidFill>
                          <a:schemeClr val="tx1"/>
                        </a:solidFill>
                        <a:latin typeface="Cambria Math" panose="02040503050406030204" pitchFamily="18" charset="0"/>
                      </a:rPr>
                      <m:t>𝑄</m:t>
                    </m:r>
                    <m:r>
                      <a:rPr lang="zh-CN" altLang="en-US" i="1" smtClean="0">
                        <a:solidFill>
                          <a:schemeClr val="tx1"/>
                        </a:solidFill>
                        <a:latin typeface="Cambria Math" panose="02040503050406030204" pitchFamily="18" charset="0"/>
                      </a:rPr>
                      <m:t>=</m:t>
                    </m:r>
                    <m:r>
                      <a:rPr lang="zh-CN" altLang="en-US" i="1" smtClean="0">
                        <a:solidFill>
                          <a:schemeClr val="tx1"/>
                        </a:solidFill>
                        <a:latin typeface="Cambria Math" panose="02040503050406030204" pitchFamily="18" charset="0"/>
                      </a:rPr>
                      <m:t>𝐴</m:t>
                    </m:r>
                    <m:func>
                      <m:funcPr>
                        <m:ctrlPr>
                          <a:rPr lang="zh-CN" altLang="en-US" i="1" smtClean="0">
                            <a:solidFill>
                              <a:schemeClr val="tx1"/>
                            </a:solidFill>
                            <a:latin typeface="Cambria Math" panose="02040503050406030204" pitchFamily="18" charset="0"/>
                          </a:rPr>
                        </m:ctrlPr>
                      </m:funcPr>
                      <m:fName>
                        <m:r>
                          <m:rPr>
                            <m:sty m:val="p"/>
                          </m:rPr>
                          <a:rPr lang="zh-CN" altLang="en-US" i="1" smtClean="0">
                            <a:solidFill>
                              <a:schemeClr val="tx1"/>
                            </a:solidFill>
                            <a:latin typeface="Cambria Math" panose="02040503050406030204" pitchFamily="18" charset="0"/>
                          </a:rPr>
                          <m:t>min</m:t>
                        </m:r>
                      </m:fName>
                      <m:e>
                        <m:d>
                          <m:dPr>
                            <m:begChr m:val="{"/>
                            <m:endChr m:val="}"/>
                            <m:ctrlPr>
                              <a:rPr lang="zh-CN" altLang="en-US" i="1" smtClean="0">
                                <a:solidFill>
                                  <a:schemeClr val="tx1"/>
                                </a:solidFill>
                                <a:latin typeface="Cambria Math" panose="02040503050406030204" pitchFamily="18" charset="0"/>
                              </a:rPr>
                            </m:ctrlPr>
                          </m:dPr>
                          <m:e>
                            <m:f>
                              <m:fPr>
                                <m:ctrlPr>
                                  <a:rPr lang="zh-CN" altLang="en-US" i="1" smtClean="0">
                                    <a:solidFill>
                                      <a:schemeClr val="tx1"/>
                                    </a:solidFill>
                                    <a:latin typeface="Cambria Math" panose="02040503050406030204" pitchFamily="18" charset="0"/>
                                  </a:rPr>
                                </m:ctrlPr>
                              </m:fPr>
                              <m:num>
                                <m:r>
                                  <a:rPr lang="zh-CN" altLang="en-US" i="1" smtClean="0">
                                    <a:solidFill>
                                      <a:schemeClr val="tx1"/>
                                    </a:solidFill>
                                    <a:latin typeface="Cambria Math" panose="02040503050406030204" pitchFamily="18" charset="0"/>
                                  </a:rPr>
                                  <m:t>𝐿</m:t>
                                </m:r>
                              </m:num>
                              <m:den>
                                <m:r>
                                  <a:rPr lang="zh-CN" altLang="en-US" i="1" smtClean="0">
                                    <a:solidFill>
                                      <a:schemeClr val="tx1"/>
                                    </a:solidFill>
                                    <a:latin typeface="Cambria Math" panose="02040503050406030204" pitchFamily="18" charset="0"/>
                                  </a:rPr>
                                  <m:t>𝑎</m:t>
                                </m:r>
                              </m:den>
                            </m:f>
                            <m:r>
                              <a:rPr lang="en-US" altLang="zh-CN" b="0" i="1" smtClean="0">
                                <a:solidFill>
                                  <a:schemeClr val="tx1"/>
                                </a:solidFill>
                                <a:latin typeface="Cambria Math" panose="02040503050406030204" pitchFamily="18" charset="0"/>
                              </a:rPr>
                              <m:t>,</m:t>
                            </m:r>
                            <m:f>
                              <m:fPr>
                                <m:ctrlPr>
                                  <a:rPr lang="zh-CN" altLang="en-US" i="1" smtClean="0">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𝐾</m:t>
                                </m:r>
                              </m:num>
                              <m:den>
                                <m:r>
                                  <a:rPr lang="zh-CN" altLang="en-US" i="1" smtClean="0">
                                    <a:solidFill>
                                      <a:schemeClr val="tx1"/>
                                    </a:solidFill>
                                    <a:latin typeface="Cambria Math" panose="02040503050406030204" pitchFamily="18" charset="0"/>
                                  </a:rPr>
                                  <m:t>𝑏</m:t>
                                </m:r>
                              </m:den>
                            </m:f>
                          </m:e>
                        </m:d>
                      </m:e>
                    </m:func>
                  </m:oMath>
                </a14:m>
                <a:endParaRPr lang="zh-CN" altLang="en-US" dirty="0">
                  <a:solidFill>
                    <a:schemeClr val="tx1"/>
                  </a:solidFill>
                  <a:latin typeface="微软雅黑" panose="020B0503020204020204" pitchFamily="34" charset="-122"/>
                  <a:ea typeface="微软雅黑" panose="020B0503020204020204" pitchFamily="34" charset="-122"/>
                </a:endParaRPr>
              </a:p>
            </p:txBody>
          </p:sp>
        </mc:Choice>
        <mc:Fallback xmlns="">
          <p:sp>
            <p:nvSpPr>
              <p:cNvPr id="6" name="文本框 5">
                <a:extLst>
                  <a:ext uri="{FF2B5EF4-FFF2-40B4-BE49-F238E27FC236}">
                    <a16:creationId xmlns:a16="http://schemas.microsoft.com/office/drawing/2014/main" id="{C72307B8-072F-40C3-AFE1-553DEDDDBA85}"/>
                  </a:ext>
                </a:extLst>
              </p:cNvPr>
              <p:cNvSpPr txBox="1">
                <a:spLocks noRot="1" noChangeAspect="1" noMove="1" noResize="1" noEditPoints="1" noAdjustHandles="1" noChangeArrowheads="1" noChangeShapeType="1" noTextEdit="1"/>
              </p:cNvSpPr>
              <p:nvPr/>
            </p:nvSpPr>
            <p:spPr>
              <a:xfrm>
                <a:off x="1399467" y="3521020"/>
                <a:ext cx="2036626" cy="412036"/>
              </a:xfrm>
              <a:prstGeom prst="rect">
                <a:avLst/>
              </a:prstGeom>
              <a:blipFill>
                <a:blip r:embed="rId2"/>
                <a:stretch>
                  <a:fillRect l="-6587" b="-134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C36E9CA-4CA9-46E9-868B-062E2B08C87B}"/>
                  </a:ext>
                </a:extLst>
              </p:cNvPr>
              <p:cNvSpPr txBox="1"/>
              <p:nvPr/>
            </p:nvSpPr>
            <p:spPr>
              <a:xfrm>
                <a:off x="1428297" y="4880932"/>
                <a:ext cx="1614096" cy="382284"/>
              </a:xfrm>
              <a:prstGeom prst="rect">
                <a:avLst/>
              </a:prstGeom>
              <a:noFill/>
            </p:spPr>
            <p:txBody>
              <a:bodyPr wrap="none" rtlCol="0">
                <a:spAutoFit/>
              </a:bodyPr>
              <a:lstStyle/>
              <a:p>
                <a:pPr marL="285750" indent="-285750">
                  <a:buFont typeface="Wingdings" panose="05000000000000000000" pitchFamily="2" charset="2"/>
                  <a:buChar char="l"/>
                </a:pPr>
                <a14:m>
                  <m:oMath xmlns:m="http://schemas.openxmlformats.org/officeDocument/2006/math">
                    <m:r>
                      <a:rPr lang="en-US" altLang="zh-CN" i="1" smtClean="0">
                        <a:solidFill>
                          <a:schemeClr val="tx1"/>
                        </a:solidFill>
                        <a:latin typeface="Cambria Math" panose="02040503050406030204" pitchFamily="18" charset="0"/>
                      </a:rPr>
                      <m:t>𝑄</m:t>
                    </m:r>
                    <m:r>
                      <a:rPr lang="en-US" altLang="zh-CN" i="1" smtClean="0">
                        <a:solidFill>
                          <a:schemeClr val="tx1"/>
                        </a:solidFill>
                        <a:latin typeface="Cambria Math" panose="02040503050406030204" pitchFamily="18" charset="0"/>
                      </a:rPr>
                      <m:t>=</m:t>
                    </m:r>
                    <m:r>
                      <a:rPr lang="en-US" altLang="zh-CN" i="1" smtClean="0">
                        <a:solidFill>
                          <a:schemeClr val="tx1"/>
                        </a:solidFill>
                        <a:latin typeface="Cambria Math" panose="02040503050406030204" pitchFamily="18" charset="0"/>
                      </a:rPr>
                      <m:t>𝐴</m:t>
                    </m:r>
                    <m:sSup>
                      <m:sSupPr>
                        <m:ctrlPr>
                          <a:rPr lang="en-US"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𝐿</m:t>
                        </m:r>
                      </m:e>
                      <m:sup>
                        <m:r>
                          <a:rPr lang="en-US" altLang="zh-CN" i="1">
                            <a:solidFill>
                              <a:schemeClr val="tx1"/>
                            </a:solidFill>
                            <a:latin typeface="Cambria Math" panose="02040503050406030204" pitchFamily="18" charset="0"/>
                          </a:rPr>
                          <m:t>𝛼</m:t>
                        </m:r>
                      </m:sup>
                    </m:sSup>
                    <m:sSup>
                      <m:sSupPr>
                        <m:ctrlPr>
                          <a:rPr lang="en-US" altLang="zh-CN" i="1">
                            <a:solidFill>
                              <a:schemeClr val="tx1"/>
                            </a:solidFill>
                            <a:latin typeface="Cambria Math" panose="02040503050406030204" pitchFamily="18" charset="0"/>
                          </a:rPr>
                        </m:ctrlPr>
                      </m:sSupPr>
                      <m:e>
                        <m:r>
                          <a:rPr lang="en-US" altLang="zh-CN" i="1">
                            <a:solidFill>
                              <a:schemeClr val="tx1"/>
                            </a:solidFill>
                            <a:latin typeface="Cambria Math" panose="02040503050406030204" pitchFamily="18" charset="0"/>
                          </a:rPr>
                          <m:t>𝐾</m:t>
                        </m:r>
                      </m:e>
                      <m:sup>
                        <m:r>
                          <a:rPr lang="en-US" altLang="zh-CN" i="1">
                            <a:solidFill>
                              <a:schemeClr val="tx1"/>
                            </a:solidFill>
                            <a:latin typeface="Cambria Math" panose="02040503050406030204" pitchFamily="18" charset="0"/>
                          </a:rPr>
                          <m:t>𝛽</m:t>
                        </m:r>
                      </m:sup>
                    </m:sSup>
                  </m:oMath>
                </a14:m>
                <a:endParaRPr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 name="文本框 7">
                <a:extLst>
                  <a:ext uri="{FF2B5EF4-FFF2-40B4-BE49-F238E27FC236}">
                    <a16:creationId xmlns:a16="http://schemas.microsoft.com/office/drawing/2014/main" id="{DC36E9CA-4CA9-46E9-868B-062E2B08C87B}"/>
                  </a:ext>
                </a:extLst>
              </p:cNvPr>
              <p:cNvSpPr txBox="1">
                <a:spLocks noRot="1" noChangeAspect="1" noMove="1" noResize="1" noEditPoints="1" noAdjustHandles="1" noChangeArrowheads="1" noChangeShapeType="1" noTextEdit="1"/>
              </p:cNvSpPr>
              <p:nvPr/>
            </p:nvSpPr>
            <p:spPr>
              <a:xfrm>
                <a:off x="1428297" y="4880932"/>
                <a:ext cx="1614096" cy="382284"/>
              </a:xfrm>
              <a:prstGeom prst="rect">
                <a:avLst/>
              </a:prstGeom>
              <a:blipFill>
                <a:blip r:embed="rId3"/>
                <a:stretch>
                  <a:fillRect l="-2264" b="-20968"/>
                </a:stretch>
              </a:blipFill>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19469934-79A5-4217-B33C-450DFF3C7C12}"/>
              </a:ext>
            </a:extLst>
          </p:cNvPr>
          <p:cNvSpPr/>
          <p:nvPr/>
        </p:nvSpPr>
        <p:spPr>
          <a:xfrm>
            <a:off x="677729" y="4320128"/>
            <a:ext cx="3315331" cy="400110"/>
          </a:xfrm>
          <a:prstGeom prst="rect">
            <a:avLst/>
          </a:prstGeom>
        </p:spPr>
        <p:txBody>
          <a:bodyPr wrap="none">
            <a:spAutoFit/>
          </a:bodyPr>
          <a:lstStyle/>
          <a:p>
            <a:pPr marL="285750" indent="-28575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柯布</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道格拉斯生产函数</a:t>
            </a:r>
          </a:p>
        </p:txBody>
      </p:sp>
      <p:sp>
        <p:nvSpPr>
          <p:cNvPr id="11" name="矩形 10">
            <a:extLst>
              <a:ext uri="{FF2B5EF4-FFF2-40B4-BE49-F238E27FC236}">
                <a16:creationId xmlns:a16="http://schemas.microsoft.com/office/drawing/2014/main" id="{92E5ABB8-F136-4697-9B6D-FF2EC59DEFB7}"/>
              </a:ext>
            </a:extLst>
          </p:cNvPr>
          <p:cNvSpPr/>
          <p:nvPr/>
        </p:nvSpPr>
        <p:spPr>
          <a:xfrm>
            <a:off x="755576" y="5451321"/>
            <a:ext cx="6910044" cy="369332"/>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A是技术水平，L是劳动投入量，K是资本投入量，α、β是贡献率。</a:t>
            </a:r>
          </a:p>
        </p:txBody>
      </p:sp>
      <p:sp>
        <p:nvSpPr>
          <p:cNvPr id="7" name="矩形 6">
            <a:extLst>
              <a:ext uri="{FF2B5EF4-FFF2-40B4-BE49-F238E27FC236}">
                <a16:creationId xmlns:a16="http://schemas.microsoft.com/office/drawing/2014/main" id="{1E1A4118-61F6-45C0-A1C9-1571D34DADA2}"/>
              </a:ext>
            </a:extLst>
          </p:cNvPr>
          <p:cNvSpPr/>
          <p:nvPr/>
        </p:nvSpPr>
        <p:spPr>
          <a:xfrm>
            <a:off x="677729" y="2987660"/>
            <a:ext cx="3474028" cy="369332"/>
          </a:xfrm>
          <a:prstGeom prst="rect">
            <a:avLst/>
          </a:prstGeom>
        </p:spPr>
        <p:txBody>
          <a:bodyPr wrap="non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产量取决于较少的生产要素。</a:t>
            </a:r>
          </a:p>
        </p:txBody>
      </p:sp>
      <p:pic>
        <p:nvPicPr>
          <p:cNvPr id="12" name="图片 11">
            <a:extLst>
              <a:ext uri="{FF2B5EF4-FFF2-40B4-BE49-F238E27FC236}">
                <a16:creationId xmlns:a16="http://schemas.microsoft.com/office/drawing/2014/main" id="{902D9D02-F8E2-4B6E-BD52-253C022FB1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84092" y="1018431"/>
            <a:ext cx="4471911" cy="4003949"/>
          </a:xfrm>
          <a:prstGeom prst="rect">
            <a:avLst/>
          </a:prstGeom>
        </p:spPr>
      </p:pic>
      <p:sp>
        <p:nvSpPr>
          <p:cNvPr id="10" name="标注: 线形 9">
            <a:extLst>
              <a:ext uri="{FF2B5EF4-FFF2-40B4-BE49-F238E27FC236}">
                <a16:creationId xmlns:a16="http://schemas.microsoft.com/office/drawing/2014/main" id="{AD6CC085-E74F-40D2-A98A-C0D5CB6D0D73}"/>
              </a:ext>
            </a:extLst>
          </p:cNvPr>
          <p:cNvSpPr/>
          <p:nvPr/>
        </p:nvSpPr>
        <p:spPr bwMode="auto">
          <a:xfrm>
            <a:off x="4628865" y="335490"/>
            <a:ext cx="2520280" cy="715818"/>
          </a:xfrm>
          <a:prstGeom prst="borderCallout1">
            <a:avLst>
              <a:gd name="adj1" fmla="val 57460"/>
              <a:gd name="adj2" fmla="val -197"/>
              <a:gd name="adj3" fmla="val 59081"/>
              <a:gd name="adj4" fmla="val -3217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采用具体形式的生产函数来说明</a:t>
            </a:r>
          </a:p>
        </p:txBody>
      </p:sp>
      <p:sp>
        <p:nvSpPr>
          <p:cNvPr id="15" name="标注: 线形 14">
            <a:extLst>
              <a:ext uri="{FF2B5EF4-FFF2-40B4-BE49-F238E27FC236}">
                <a16:creationId xmlns:a16="http://schemas.microsoft.com/office/drawing/2014/main" id="{7F5F06E9-7CCA-4D6A-A8D3-98E3C12A7EF6}"/>
              </a:ext>
            </a:extLst>
          </p:cNvPr>
          <p:cNvSpPr/>
          <p:nvPr/>
        </p:nvSpPr>
        <p:spPr bwMode="auto">
          <a:xfrm>
            <a:off x="3635896" y="3334342"/>
            <a:ext cx="1152128" cy="923330"/>
          </a:xfrm>
          <a:prstGeom prst="borderCallout1">
            <a:avLst>
              <a:gd name="adj1" fmla="val 18750"/>
              <a:gd name="adj2" fmla="val -8333"/>
              <a:gd name="adj3" fmla="val -1476"/>
              <a:gd name="adj4" fmla="val -2924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暗含生产要素之间不能替代</a:t>
            </a:r>
          </a:p>
        </p:txBody>
      </p:sp>
      <p:sp>
        <p:nvSpPr>
          <p:cNvPr id="16" name="标注: 线形 15">
            <a:extLst>
              <a:ext uri="{FF2B5EF4-FFF2-40B4-BE49-F238E27FC236}">
                <a16:creationId xmlns:a16="http://schemas.microsoft.com/office/drawing/2014/main" id="{B3D80882-FF5D-4A64-8BB2-C9509A7DAB85}"/>
              </a:ext>
            </a:extLst>
          </p:cNvPr>
          <p:cNvSpPr/>
          <p:nvPr/>
        </p:nvSpPr>
        <p:spPr bwMode="auto">
          <a:xfrm>
            <a:off x="6372200" y="5891685"/>
            <a:ext cx="2627784" cy="715818"/>
          </a:xfrm>
          <a:prstGeom prst="borderCallout1">
            <a:avLst>
              <a:gd name="adj1" fmla="val 41838"/>
              <a:gd name="adj2" fmla="val -8333"/>
              <a:gd name="adj3" fmla="val -5740"/>
              <a:gd name="adj4" fmla="val -5680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r>
              <a:rPr lang="el-GR" altLang="zh-CN" sz="1200" dirty="0"/>
              <a:t>α</a:t>
            </a:r>
            <a:r>
              <a:rPr lang="zh-CN" altLang="el-GR" sz="1200" dirty="0"/>
              <a:t>、</a:t>
            </a:r>
            <a:r>
              <a:rPr lang="el-GR" altLang="zh-CN" sz="1200" dirty="0"/>
              <a:t>β</a:t>
            </a:r>
            <a:r>
              <a:rPr lang="zh-CN" altLang="en-US" sz="1200" dirty="0"/>
              <a:t>分别表示产出关于劳动和资本的弹性值，即劳动和资本投入增加</a:t>
            </a:r>
            <a:r>
              <a:rPr lang="en-US" altLang="zh-CN" sz="1200" dirty="0"/>
              <a:t>1%</a:t>
            </a:r>
            <a:r>
              <a:rPr lang="zh-CN" altLang="en-US" sz="1200" dirty="0"/>
              <a:t>，产出增加的百分比分别为</a:t>
            </a:r>
            <a:r>
              <a:rPr lang="el-GR" altLang="zh-CN" sz="1200" dirty="0"/>
              <a:t>α</a:t>
            </a:r>
            <a:r>
              <a:rPr lang="zh-CN" altLang="el-GR" sz="1200" dirty="0"/>
              <a:t>、</a:t>
            </a:r>
            <a:r>
              <a:rPr lang="el-GR" altLang="zh-CN" sz="1200" dirty="0"/>
              <a:t>β</a:t>
            </a:r>
            <a:endParaRPr kumimoji="0" lang="zh-CN" altLang="en-US" sz="12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17" name="标注: 线形 16">
            <a:extLst>
              <a:ext uri="{FF2B5EF4-FFF2-40B4-BE49-F238E27FC236}">
                <a16:creationId xmlns:a16="http://schemas.microsoft.com/office/drawing/2014/main" id="{4DFB7EDE-B77E-4C4D-AC75-B7DCA2C456ED}"/>
              </a:ext>
            </a:extLst>
          </p:cNvPr>
          <p:cNvSpPr/>
          <p:nvPr/>
        </p:nvSpPr>
        <p:spPr bwMode="auto">
          <a:xfrm>
            <a:off x="4492483" y="2021700"/>
            <a:ext cx="1697173" cy="715818"/>
          </a:xfrm>
          <a:prstGeom prst="borderCallout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假设一辆出租车配</a:t>
            </a:r>
            <a:r>
              <a:rPr lang="zh-CN" altLang="en-US" dirty="0"/>
              <a:t>两位司机。</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1208559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1000"/>
                                        <p:tgtEl>
                                          <p:spTgt spid="5"/>
                                        </p:tgtEl>
                                      </p:cBhvr>
                                    </p:animEffect>
                                    <p:anim calcmode="lin" valueType="num">
                                      <p:cBhvr>
                                        <p:cTn id="28" dur="1000" fill="hold"/>
                                        <p:tgtEl>
                                          <p:spTgt spid="5"/>
                                        </p:tgtEl>
                                        <p:attrNameLst>
                                          <p:attrName>ppt_x</p:attrName>
                                        </p:attrNameLst>
                                      </p:cBhvr>
                                      <p:tavLst>
                                        <p:tav tm="0">
                                          <p:val>
                                            <p:strVal val="#ppt_x"/>
                                          </p:val>
                                        </p:tav>
                                        <p:tav tm="100000">
                                          <p:val>
                                            <p:strVal val="#ppt_x"/>
                                          </p:val>
                                        </p:tav>
                                      </p:tavLst>
                                    </p:anim>
                                    <p:anim calcmode="lin" valueType="num">
                                      <p:cBhvr>
                                        <p:cTn id="2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animEffect transition="in" filter="wipe(left)">
                                      <p:cBhvr>
                                        <p:cTn id="41" dur="500"/>
                                        <p:tgtEl>
                                          <p:spTgt spid="6"/>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500"/>
                                        <p:tgtEl>
                                          <p:spTgt spid="9"/>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wipe(left)">
                                      <p:cBhvr>
                                        <p:cTn id="54" dur="500"/>
                                        <p:tgtEl>
                                          <p:spTgt spid="8"/>
                                        </p:tgtEl>
                                      </p:cBhvr>
                                    </p:animEffect>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grpId="0" nodeType="clickEffect">
                                  <p:stCondLst>
                                    <p:cond delay="0"/>
                                  </p:stCondLst>
                                  <p:childTnLst>
                                    <p:set>
                                      <p:cBhvr>
                                        <p:cTn id="58" dur="1" fill="hold">
                                          <p:stCondLst>
                                            <p:cond delay="0"/>
                                          </p:stCondLst>
                                        </p:cTn>
                                        <p:tgtEl>
                                          <p:spTgt spid="11"/>
                                        </p:tgtEl>
                                        <p:attrNameLst>
                                          <p:attrName>style.visibility</p:attrName>
                                        </p:attrNameLst>
                                      </p:cBhvr>
                                      <p:to>
                                        <p:strVal val="visible"/>
                                      </p:to>
                                    </p:set>
                                    <p:animEffect transition="in" filter="fade">
                                      <p:cBhvr>
                                        <p:cTn id="59" dur="1000"/>
                                        <p:tgtEl>
                                          <p:spTgt spid="11"/>
                                        </p:tgtEl>
                                      </p:cBhvr>
                                    </p:animEffect>
                                    <p:anim calcmode="lin" valueType="num">
                                      <p:cBhvr>
                                        <p:cTn id="60" dur="1000" fill="hold"/>
                                        <p:tgtEl>
                                          <p:spTgt spid="11"/>
                                        </p:tgtEl>
                                        <p:attrNameLst>
                                          <p:attrName>ppt_x</p:attrName>
                                        </p:attrNameLst>
                                      </p:cBhvr>
                                      <p:tavLst>
                                        <p:tav tm="0">
                                          <p:val>
                                            <p:strVal val="#ppt_x"/>
                                          </p:val>
                                        </p:tav>
                                        <p:tav tm="100000">
                                          <p:val>
                                            <p:strVal val="#ppt_x"/>
                                          </p:val>
                                        </p:tav>
                                      </p:tavLst>
                                    </p:anim>
                                    <p:anim calcmode="lin" valueType="num">
                                      <p:cBhvr>
                                        <p:cTn id="6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P spid="3" grpId="0" animBg="1"/>
      <p:bldP spid="4" grpId="0"/>
      <p:bldP spid="5" grpId="0"/>
      <p:bldP spid="6" grpId="0"/>
      <p:bldP spid="8" grpId="0"/>
      <p:bldP spid="9" grpId="0"/>
      <p:bldP spid="11"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9BE2BCD-3952-46BB-AB6A-4A3D17037FE4}"/>
              </a:ext>
            </a:extLst>
          </p:cNvPr>
          <p:cNvSpPr/>
          <p:nvPr/>
        </p:nvSpPr>
        <p:spPr>
          <a:xfrm>
            <a:off x="747435" y="2893071"/>
            <a:ext cx="1741403"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49BCA43-6777-4BA3-A39B-A02C320EFF46}"/>
              </a:ext>
            </a:extLst>
          </p:cNvPr>
          <p:cNvSpPr/>
          <p:nvPr/>
        </p:nvSpPr>
        <p:spPr>
          <a:xfrm>
            <a:off x="2792370" y="2885689"/>
            <a:ext cx="1728951"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28FB5ED5-32DD-46B3-95FB-C0ABA2FF995E}"/>
              </a:ext>
            </a:extLst>
          </p:cNvPr>
          <p:cNvSpPr/>
          <p:nvPr/>
        </p:nvSpPr>
        <p:spPr>
          <a:xfrm>
            <a:off x="4802993" y="2887971"/>
            <a:ext cx="1728951"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3C9D496C-D8B8-4078-A3B5-09B1A760BEB6}"/>
              </a:ext>
            </a:extLst>
          </p:cNvPr>
          <p:cNvSpPr txBox="1"/>
          <p:nvPr/>
        </p:nvSpPr>
        <p:spPr>
          <a:xfrm>
            <a:off x="2307592" y="1340768"/>
            <a:ext cx="4731092" cy="646331"/>
          </a:xfrm>
          <a:prstGeom prst="rect">
            <a:avLst/>
          </a:prstGeom>
          <a:noFill/>
        </p:spPr>
        <p:txBody>
          <a:bodyPr wrap="square" rtlCol="0">
            <a:spAutoFit/>
          </a:bodyPr>
          <a:lstStyle/>
          <a:p>
            <a:pPr algn="ctr"/>
            <a:r>
              <a:rPr lang="zh-CN" altLang="en-US" sz="3600" b="1" dirty="0">
                <a:solidFill>
                  <a:srgbClr val="262626"/>
                </a:solidFill>
                <a:latin typeface="微软雅黑" panose="020B0503020204020204" pitchFamily="34" charset="-122"/>
                <a:ea typeface="微软雅黑" panose="020B0503020204020204" pitchFamily="34" charset="-122"/>
              </a:rPr>
              <a:t>第三节  短期生产函数</a:t>
            </a:r>
            <a:endParaRPr lang="en-US" altLang="zh-CN" sz="3600" b="1" dirty="0">
              <a:solidFill>
                <a:srgbClr val="262626"/>
              </a:solidFill>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FCB33326-6EF9-4223-8418-3951BA03DA1A}"/>
              </a:ext>
            </a:extLst>
          </p:cNvPr>
          <p:cNvSpPr txBox="1"/>
          <p:nvPr/>
        </p:nvSpPr>
        <p:spPr>
          <a:xfrm>
            <a:off x="949651" y="3329772"/>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01</a:t>
            </a:r>
          </a:p>
        </p:txBody>
      </p:sp>
      <p:sp>
        <p:nvSpPr>
          <p:cNvPr id="7" name="文本框 6">
            <a:extLst>
              <a:ext uri="{FF2B5EF4-FFF2-40B4-BE49-F238E27FC236}">
                <a16:creationId xmlns:a16="http://schemas.microsoft.com/office/drawing/2014/main" id="{DCEAE516-F182-4849-A6EB-726E060D84CA}"/>
              </a:ext>
            </a:extLst>
          </p:cNvPr>
          <p:cNvSpPr txBox="1"/>
          <p:nvPr/>
        </p:nvSpPr>
        <p:spPr>
          <a:xfrm>
            <a:off x="596591" y="3974932"/>
            <a:ext cx="2119630" cy="646331"/>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总产量、平均</a:t>
            </a:r>
            <a:endParaRPr lang="en-US" altLang="zh-CN" b="1" dirty="0">
              <a:latin typeface="微软雅黑" panose="020B0503020204020204" pitchFamily="34" charset="-122"/>
              <a:ea typeface="微软雅黑" panose="020B0503020204020204" pitchFamily="34" charset="-122"/>
            </a:endParaRPr>
          </a:p>
          <a:p>
            <a:pPr algn="ctr" fontAlgn="auto">
              <a:lnSpc>
                <a:spcPct val="100000"/>
              </a:lnSpc>
            </a:pPr>
            <a:r>
              <a:rPr lang="zh-CN" altLang="en-US" b="1" dirty="0">
                <a:latin typeface="微软雅黑" panose="020B0503020204020204" pitchFamily="34" charset="-122"/>
                <a:ea typeface="微软雅黑" panose="020B0503020204020204" pitchFamily="34" charset="-122"/>
              </a:rPr>
              <a:t>产量和边际产量</a:t>
            </a:r>
            <a:endParaRPr lang="zh-CN" altLang="en-US" b="1" dirty="0">
              <a:solidFill>
                <a:srgbClr val="262626"/>
              </a:solidFill>
              <a:latin typeface="微软雅黑" panose="020B0503020204020204" pitchFamily="34" charset="-122"/>
              <a:ea typeface="微软雅黑" panose="020B0503020204020204" pitchFamily="34" charset="-122"/>
              <a:sym typeface="+mn-ea"/>
            </a:endParaRPr>
          </a:p>
        </p:txBody>
      </p:sp>
      <p:sp>
        <p:nvSpPr>
          <p:cNvPr id="8" name="文本框 7">
            <a:extLst>
              <a:ext uri="{FF2B5EF4-FFF2-40B4-BE49-F238E27FC236}">
                <a16:creationId xmlns:a16="http://schemas.microsoft.com/office/drawing/2014/main" id="{4E2423BF-CC41-4EFD-B0C9-9043C92E5F12}"/>
              </a:ext>
            </a:extLst>
          </p:cNvPr>
          <p:cNvSpPr txBox="1"/>
          <p:nvPr/>
        </p:nvSpPr>
        <p:spPr>
          <a:xfrm>
            <a:off x="2980844" y="3329772"/>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02</a:t>
            </a:r>
          </a:p>
        </p:txBody>
      </p:sp>
      <p:sp>
        <p:nvSpPr>
          <p:cNvPr id="9" name="文本框 8">
            <a:extLst>
              <a:ext uri="{FF2B5EF4-FFF2-40B4-BE49-F238E27FC236}">
                <a16:creationId xmlns:a16="http://schemas.microsoft.com/office/drawing/2014/main" id="{B4D8063F-068C-43C9-86E3-5DB343729833}"/>
              </a:ext>
            </a:extLst>
          </p:cNvPr>
          <p:cNvSpPr txBox="1"/>
          <p:nvPr/>
        </p:nvSpPr>
        <p:spPr>
          <a:xfrm>
            <a:off x="2627784" y="3974932"/>
            <a:ext cx="2119630" cy="646331"/>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边际报酬</a:t>
            </a:r>
            <a:endParaRPr lang="en-US" altLang="zh-CN" b="1" dirty="0">
              <a:latin typeface="微软雅黑" panose="020B0503020204020204" pitchFamily="34" charset="-122"/>
              <a:ea typeface="微软雅黑" panose="020B0503020204020204" pitchFamily="34" charset="-122"/>
            </a:endParaRPr>
          </a:p>
          <a:p>
            <a:pPr algn="ctr" fontAlgn="auto">
              <a:lnSpc>
                <a:spcPct val="100000"/>
              </a:lnSpc>
            </a:pPr>
            <a:r>
              <a:rPr lang="zh-CN" altLang="en-US" b="1" dirty="0">
                <a:latin typeface="微软雅黑" panose="020B0503020204020204" pitchFamily="34" charset="-122"/>
                <a:ea typeface="微软雅黑" panose="020B0503020204020204" pitchFamily="34" charset="-122"/>
              </a:rPr>
              <a:t>递减规律</a:t>
            </a:r>
            <a:endParaRPr lang="zh-CN" altLang="en-US" b="1" dirty="0">
              <a:solidFill>
                <a:srgbClr val="262626"/>
              </a:solidFill>
              <a:latin typeface="微软雅黑" panose="020B0503020204020204" pitchFamily="34" charset="-122"/>
              <a:ea typeface="微软雅黑" panose="020B0503020204020204" pitchFamily="34" charset="-122"/>
              <a:sym typeface="+mn-ea"/>
            </a:endParaRPr>
          </a:p>
        </p:txBody>
      </p:sp>
      <p:sp>
        <p:nvSpPr>
          <p:cNvPr id="10" name="文本框 9">
            <a:extLst>
              <a:ext uri="{FF2B5EF4-FFF2-40B4-BE49-F238E27FC236}">
                <a16:creationId xmlns:a16="http://schemas.microsoft.com/office/drawing/2014/main" id="{C8821902-94B8-4E8F-9F97-D61C960AADB0}"/>
              </a:ext>
            </a:extLst>
          </p:cNvPr>
          <p:cNvSpPr txBox="1"/>
          <p:nvPr/>
        </p:nvSpPr>
        <p:spPr>
          <a:xfrm>
            <a:off x="4957042" y="3196789"/>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03</a:t>
            </a:r>
          </a:p>
        </p:txBody>
      </p:sp>
      <p:sp>
        <p:nvSpPr>
          <p:cNvPr id="11" name="文本框 10">
            <a:extLst>
              <a:ext uri="{FF2B5EF4-FFF2-40B4-BE49-F238E27FC236}">
                <a16:creationId xmlns:a16="http://schemas.microsoft.com/office/drawing/2014/main" id="{A19DE98A-A9E5-451F-AC7B-6648EA037512}"/>
              </a:ext>
            </a:extLst>
          </p:cNvPr>
          <p:cNvSpPr txBox="1"/>
          <p:nvPr/>
        </p:nvSpPr>
        <p:spPr>
          <a:xfrm>
            <a:off x="4612610" y="3841949"/>
            <a:ext cx="2119630" cy="923330"/>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总产量、平均</a:t>
            </a:r>
            <a:endParaRPr lang="en-US" altLang="zh-CN" b="1" dirty="0">
              <a:latin typeface="微软雅黑" panose="020B0503020204020204" pitchFamily="34" charset="-122"/>
              <a:ea typeface="微软雅黑" panose="020B0503020204020204" pitchFamily="34" charset="-122"/>
            </a:endParaRPr>
          </a:p>
          <a:p>
            <a:pPr algn="ctr" fontAlgn="auto">
              <a:lnSpc>
                <a:spcPct val="100000"/>
              </a:lnSpc>
            </a:pPr>
            <a:r>
              <a:rPr lang="zh-CN" altLang="en-US" b="1" dirty="0">
                <a:latin typeface="微软雅黑" panose="020B0503020204020204" pitchFamily="34" charset="-122"/>
                <a:ea typeface="微软雅黑" panose="020B0503020204020204" pitchFamily="34" charset="-122"/>
              </a:rPr>
              <a:t>产量和边际产量</a:t>
            </a:r>
            <a:endParaRPr lang="en-US" altLang="zh-CN" b="1" dirty="0">
              <a:latin typeface="微软雅黑" panose="020B0503020204020204" pitchFamily="34" charset="-122"/>
              <a:ea typeface="微软雅黑" panose="020B0503020204020204" pitchFamily="34" charset="-122"/>
            </a:endParaRPr>
          </a:p>
          <a:p>
            <a:pPr algn="ctr" fontAlgn="auto">
              <a:lnSpc>
                <a:spcPct val="100000"/>
              </a:lnSpc>
            </a:pPr>
            <a:r>
              <a:rPr lang="zh-CN" altLang="en-US" b="1" dirty="0">
                <a:latin typeface="微软雅黑" panose="020B0503020204020204" pitchFamily="34" charset="-122"/>
                <a:ea typeface="微软雅黑" panose="020B0503020204020204" pitchFamily="34" charset="-122"/>
              </a:rPr>
              <a:t>之间的关系</a:t>
            </a:r>
            <a:endParaRPr lang="zh-CN" altLang="en-US" b="1" dirty="0">
              <a:solidFill>
                <a:srgbClr val="262626"/>
              </a:solidFill>
              <a:latin typeface="微软雅黑" panose="020B0503020204020204" pitchFamily="34" charset="-122"/>
              <a:ea typeface="微软雅黑" panose="020B0503020204020204" pitchFamily="34" charset="-122"/>
              <a:sym typeface="+mn-ea"/>
            </a:endParaRPr>
          </a:p>
        </p:txBody>
      </p:sp>
      <p:sp>
        <p:nvSpPr>
          <p:cNvPr id="12" name="矩形 11">
            <a:extLst>
              <a:ext uri="{FF2B5EF4-FFF2-40B4-BE49-F238E27FC236}">
                <a16:creationId xmlns:a16="http://schemas.microsoft.com/office/drawing/2014/main" id="{3EA35DEB-7E1C-4202-95C5-B2D08D23750C}"/>
              </a:ext>
            </a:extLst>
          </p:cNvPr>
          <p:cNvSpPr/>
          <p:nvPr/>
        </p:nvSpPr>
        <p:spPr>
          <a:xfrm>
            <a:off x="6803489" y="2885689"/>
            <a:ext cx="1728951"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C1023DA6-E171-4DC3-8204-7AD99F87285B}"/>
              </a:ext>
            </a:extLst>
          </p:cNvPr>
          <p:cNvSpPr txBox="1"/>
          <p:nvPr/>
        </p:nvSpPr>
        <p:spPr>
          <a:xfrm>
            <a:off x="6960891" y="3327529"/>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04</a:t>
            </a:r>
          </a:p>
        </p:txBody>
      </p:sp>
      <p:sp>
        <p:nvSpPr>
          <p:cNvPr id="15" name="文本框 14">
            <a:extLst>
              <a:ext uri="{FF2B5EF4-FFF2-40B4-BE49-F238E27FC236}">
                <a16:creationId xmlns:a16="http://schemas.microsoft.com/office/drawing/2014/main" id="{827A3198-1AA7-4D8B-A6FF-929695C76B3E}"/>
              </a:ext>
            </a:extLst>
          </p:cNvPr>
          <p:cNvSpPr txBox="1"/>
          <p:nvPr/>
        </p:nvSpPr>
        <p:spPr>
          <a:xfrm>
            <a:off x="7137842" y="3972689"/>
            <a:ext cx="1134075" cy="646331"/>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生产的</a:t>
            </a:r>
            <a:endParaRPr lang="en-US" altLang="zh-CN" b="1" dirty="0">
              <a:latin typeface="微软雅黑" panose="020B0503020204020204" pitchFamily="34" charset="-122"/>
              <a:ea typeface="微软雅黑" panose="020B0503020204020204" pitchFamily="34" charset="-122"/>
            </a:endParaRPr>
          </a:p>
          <a:p>
            <a:pPr algn="ctr"/>
            <a:r>
              <a:rPr lang="zh-CN" altLang="en-US" b="1" dirty="0">
                <a:latin typeface="微软雅黑" panose="020B0503020204020204" pitchFamily="34" charset="-122"/>
                <a:ea typeface="微软雅黑" panose="020B0503020204020204" pitchFamily="34" charset="-122"/>
              </a:rPr>
              <a:t>三个阶段</a:t>
            </a:r>
          </a:p>
        </p:txBody>
      </p:sp>
      <p:sp>
        <p:nvSpPr>
          <p:cNvPr id="14" name="标注: 线形 13">
            <a:extLst>
              <a:ext uri="{FF2B5EF4-FFF2-40B4-BE49-F238E27FC236}">
                <a16:creationId xmlns:a16="http://schemas.microsoft.com/office/drawing/2014/main" id="{614A4CC2-BB65-4CFC-8B49-8F4DE7BA5818}"/>
              </a:ext>
            </a:extLst>
          </p:cNvPr>
          <p:cNvSpPr/>
          <p:nvPr/>
        </p:nvSpPr>
        <p:spPr bwMode="auto">
          <a:xfrm>
            <a:off x="7038684" y="307503"/>
            <a:ext cx="2105316" cy="1249289"/>
          </a:xfrm>
          <a:prstGeom prst="borderCallout1">
            <a:avLst>
              <a:gd name="adj1" fmla="val 18750"/>
              <a:gd name="adj2" fmla="val -8333"/>
              <a:gd name="adj3" fmla="val 61211"/>
              <a:gd name="adj4" fmla="val -1780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考察假设企业处于短期，只有一种生产要素可变时的情形。</a:t>
            </a:r>
          </a:p>
        </p:txBody>
      </p:sp>
    </p:spTree>
    <p:extLst>
      <p:ext uri="{BB962C8B-B14F-4D97-AF65-F5344CB8AC3E}">
        <p14:creationId xmlns:p14="http://schemas.microsoft.com/office/powerpoint/2010/main" val="259162139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1"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par>
                                <p:cTn id="17" presetID="53" presetClass="entr" presetSubtype="16" fill="hold" grpId="1"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1"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
                                          </p:val>
                                        </p:tav>
                                        <p:tav tm="100000">
                                          <p:val>
                                            <p:strVal val="#ppt_w"/>
                                          </p:val>
                                        </p:tav>
                                      </p:tavLst>
                                    </p:anim>
                                    <p:anim calcmode="lin" valueType="num">
                                      <p:cBhvr>
                                        <p:cTn id="32" dur="500" fill="hold"/>
                                        <p:tgtEl>
                                          <p:spTgt spid="3"/>
                                        </p:tgtEl>
                                        <p:attrNameLst>
                                          <p:attrName>ppt_h</p:attrName>
                                        </p:attrNameLst>
                                      </p:cBhvr>
                                      <p:tavLst>
                                        <p:tav tm="0">
                                          <p:val>
                                            <p:fltVal val="0"/>
                                          </p:val>
                                        </p:tav>
                                        <p:tav tm="100000">
                                          <p:val>
                                            <p:strVal val="#ppt_h"/>
                                          </p:val>
                                        </p:tav>
                                      </p:tavLst>
                                    </p:anim>
                                    <p:animEffect transition="in" filter="fade">
                                      <p:cBhvr>
                                        <p:cTn id="33" dur="500"/>
                                        <p:tgtEl>
                                          <p:spTgt spid="3"/>
                                        </p:tgtEl>
                                      </p:cBhvr>
                                    </p:animEffect>
                                  </p:childTnLst>
                                </p:cTn>
                              </p:par>
                              <p:par>
                                <p:cTn id="34" presetID="53" presetClass="entr" presetSubtype="16" fill="hold" grpId="1"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1"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p:cTn id="48" dur="500" fill="hold"/>
                                        <p:tgtEl>
                                          <p:spTgt spid="4"/>
                                        </p:tgtEl>
                                        <p:attrNameLst>
                                          <p:attrName>ppt_w</p:attrName>
                                        </p:attrNameLst>
                                      </p:cBhvr>
                                      <p:tavLst>
                                        <p:tav tm="0">
                                          <p:val>
                                            <p:fltVal val="0"/>
                                          </p:val>
                                        </p:tav>
                                        <p:tav tm="100000">
                                          <p:val>
                                            <p:strVal val="#ppt_w"/>
                                          </p:val>
                                        </p:tav>
                                      </p:tavLst>
                                    </p:anim>
                                    <p:anim calcmode="lin" valueType="num">
                                      <p:cBhvr>
                                        <p:cTn id="49" dur="500" fill="hold"/>
                                        <p:tgtEl>
                                          <p:spTgt spid="4"/>
                                        </p:tgtEl>
                                        <p:attrNameLst>
                                          <p:attrName>ppt_h</p:attrName>
                                        </p:attrNameLst>
                                      </p:cBhvr>
                                      <p:tavLst>
                                        <p:tav tm="0">
                                          <p:val>
                                            <p:fltVal val="0"/>
                                          </p:val>
                                        </p:tav>
                                        <p:tav tm="100000">
                                          <p:val>
                                            <p:strVal val="#ppt_h"/>
                                          </p:val>
                                        </p:tav>
                                      </p:tavLst>
                                    </p:anim>
                                    <p:animEffect transition="in" filter="fade">
                                      <p:cBhvr>
                                        <p:cTn id="50" dur="500"/>
                                        <p:tgtEl>
                                          <p:spTgt spid="4"/>
                                        </p:tgtEl>
                                      </p:cBhvr>
                                    </p:animEffect>
                                  </p:childTnLst>
                                </p:cTn>
                              </p:par>
                              <p:par>
                                <p:cTn id="51" presetID="53" presetClass="entr" presetSubtype="16" fill="hold" grpId="1" nodeType="with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500" fill="hold"/>
                                        <p:tgtEl>
                                          <p:spTgt spid="10"/>
                                        </p:tgtEl>
                                        <p:attrNameLst>
                                          <p:attrName>ppt_w</p:attrName>
                                        </p:attrNameLst>
                                      </p:cBhvr>
                                      <p:tavLst>
                                        <p:tav tm="0">
                                          <p:val>
                                            <p:fltVal val="0"/>
                                          </p:val>
                                        </p:tav>
                                        <p:tav tm="100000">
                                          <p:val>
                                            <p:strVal val="#ppt_w"/>
                                          </p:val>
                                        </p:tav>
                                      </p:tavLst>
                                    </p:anim>
                                    <p:anim calcmode="lin" valueType="num">
                                      <p:cBhvr>
                                        <p:cTn id="54" dur="500" fill="hold"/>
                                        <p:tgtEl>
                                          <p:spTgt spid="10"/>
                                        </p:tgtEl>
                                        <p:attrNameLst>
                                          <p:attrName>ppt_h</p:attrName>
                                        </p:attrNameLst>
                                      </p:cBhvr>
                                      <p:tavLst>
                                        <p:tav tm="0">
                                          <p:val>
                                            <p:fltVal val="0"/>
                                          </p:val>
                                        </p:tav>
                                        <p:tav tm="100000">
                                          <p:val>
                                            <p:strVal val="#ppt_h"/>
                                          </p:val>
                                        </p:tav>
                                      </p:tavLst>
                                    </p:anim>
                                    <p:animEffect transition="in" filter="fade">
                                      <p:cBhvr>
                                        <p:cTn id="55" dur="500"/>
                                        <p:tgtEl>
                                          <p:spTgt spid="10"/>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 calcmode="lin" valueType="num">
                                      <p:cBhvr>
                                        <p:cTn id="58" dur="500" fill="hold"/>
                                        <p:tgtEl>
                                          <p:spTgt spid="11"/>
                                        </p:tgtEl>
                                        <p:attrNameLst>
                                          <p:attrName>ppt_w</p:attrName>
                                        </p:attrNameLst>
                                      </p:cBhvr>
                                      <p:tavLst>
                                        <p:tav tm="0">
                                          <p:val>
                                            <p:fltVal val="0"/>
                                          </p:val>
                                        </p:tav>
                                        <p:tav tm="100000">
                                          <p:val>
                                            <p:strVal val="#ppt_w"/>
                                          </p:val>
                                        </p:tav>
                                      </p:tavLst>
                                    </p:anim>
                                    <p:anim calcmode="lin" valueType="num">
                                      <p:cBhvr>
                                        <p:cTn id="59" dur="500" fill="hold"/>
                                        <p:tgtEl>
                                          <p:spTgt spid="11"/>
                                        </p:tgtEl>
                                        <p:attrNameLst>
                                          <p:attrName>ppt_h</p:attrName>
                                        </p:attrNameLst>
                                      </p:cBhvr>
                                      <p:tavLst>
                                        <p:tav tm="0">
                                          <p:val>
                                            <p:fltVal val="0"/>
                                          </p:val>
                                        </p:tav>
                                        <p:tav tm="100000">
                                          <p:val>
                                            <p:strVal val="#ppt_h"/>
                                          </p:val>
                                        </p:tav>
                                      </p:tavLst>
                                    </p:anim>
                                    <p:animEffect transition="in" filter="fade">
                                      <p:cBhvr>
                                        <p:cTn id="60" dur="500"/>
                                        <p:tgtEl>
                                          <p:spTgt spid="11"/>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1" nodeType="clickEffect">
                                  <p:stCondLst>
                                    <p:cond delay="0"/>
                                  </p:stCondLst>
                                  <p:childTnLst>
                                    <p:set>
                                      <p:cBhvr>
                                        <p:cTn id="64" dur="1" fill="hold">
                                          <p:stCondLst>
                                            <p:cond delay="0"/>
                                          </p:stCondLst>
                                        </p:cTn>
                                        <p:tgtEl>
                                          <p:spTgt spid="12"/>
                                        </p:tgtEl>
                                        <p:attrNameLst>
                                          <p:attrName>style.visibility</p:attrName>
                                        </p:attrNameLst>
                                      </p:cBhvr>
                                      <p:to>
                                        <p:strVal val="visible"/>
                                      </p:to>
                                    </p:set>
                                    <p:anim calcmode="lin" valueType="num">
                                      <p:cBhvr>
                                        <p:cTn id="65" dur="500" fill="hold"/>
                                        <p:tgtEl>
                                          <p:spTgt spid="12"/>
                                        </p:tgtEl>
                                        <p:attrNameLst>
                                          <p:attrName>ppt_w</p:attrName>
                                        </p:attrNameLst>
                                      </p:cBhvr>
                                      <p:tavLst>
                                        <p:tav tm="0">
                                          <p:val>
                                            <p:fltVal val="0"/>
                                          </p:val>
                                        </p:tav>
                                        <p:tav tm="100000">
                                          <p:val>
                                            <p:strVal val="#ppt_w"/>
                                          </p:val>
                                        </p:tav>
                                      </p:tavLst>
                                    </p:anim>
                                    <p:anim calcmode="lin" valueType="num">
                                      <p:cBhvr>
                                        <p:cTn id="66" dur="500" fill="hold"/>
                                        <p:tgtEl>
                                          <p:spTgt spid="12"/>
                                        </p:tgtEl>
                                        <p:attrNameLst>
                                          <p:attrName>ppt_h</p:attrName>
                                        </p:attrNameLst>
                                      </p:cBhvr>
                                      <p:tavLst>
                                        <p:tav tm="0">
                                          <p:val>
                                            <p:fltVal val="0"/>
                                          </p:val>
                                        </p:tav>
                                        <p:tav tm="100000">
                                          <p:val>
                                            <p:strVal val="#ppt_h"/>
                                          </p:val>
                                        </p:tav>
                                      </p:tavLst>
                                    </p:anim>
                                    <p:animEffect transition="in" filter="fade">
                                      <p:cBhvr>
                                        <p:cTn id="67" dur="500"/>
                                        <p:tgtEl>
                                          <p:spTgt spid="12"/>
                                        </p:tgtEl>
                                      </p:cBhvr>
                                    </p:animEffect>
                                  </p:childTnLst>
                                </p:cTn>
                              </p:par>
                              <p:par>
                                <p:cTn id="68" presetID="53" presetClass="entr" presetSubtype="16" fill="hold" grpId="1" nodeType="withEffect">
                                  <p:stCondLst>
                                    <p:cond delay="0"/>
                                  </p:stCondLst>
                                  <p:childTnLst>
                                    <p:set>
                                      <p:cBhvr>
                                        <p:cTn id="69" dur="1" fill="hold">
                                          <p:stCondLst>
                                            <p:cond delay="0"/>
                                          </p:stCondLst>
                                        </p:cTn>
                                        <p:tgtEl>
                                          <p:spTgt spid="13"/>
                                        </p:tgtEl>
                                        <p:attrNameLst>
                                          <p:attrName>style.visibility</p:attrName>
                                        </p:attrNameLst>
                                      </p:cBhvr>
                                      <p:to>
                                        <p:strVal val="visible"/>
                                      </p:to>
                                    </p:set>
                                    <p:anim calcmode="lin" valueType="num">
                                      <p:cBhvr>
                                        <p:cTn id="70" dur="500" fill="hold"/>
                                        <p:tgtEl>
                                          <p:spTgt spid="13"/>
                                        </p:tgtEl>
                                        <p:attrNameLst>
                                          <p:attrName>ppt_w</p:attrName>
                                        </p:attrNameLst>
                                      </p:cBhvr>
                                      <p:tavLst>
                                        <p:tav tm="0">
                                          <p:val>
                                            <p:fltVal val="0"/>
                                          </p:val>
                                        </p:tav>
                                        <p:tav tm="100000">
                                          <p:val>
                                            <p:strVal val="#ppt_w"/>
                                          </p:val>
                                        </p:tav>
                                      </p:tavLst>
                                    </p:anim>
                                    <p:anim calcmode="lin" valueType="num">
                                      <p:cBhvr>
                                        <p:cTn id="71" dur="500" fill="hold"/>
                                        <p:tgtEl>
                                          <p:spTgt spid="13"/>
                                        </p:tgtEl>
                                        <p:attrNameLst>
                                          <p:attrName>ppt_h</p:attrName>
                                        </p:attrNameLst>
                                      </p:cBhvr>
                                      <p:tavLst>
                                        <p:tav tm="0">
                                          <p:val>
                                            <p:fltVal val="0"/>
                                          </p:val>
                                        </p:tav>
                                        <p:tav tm="100000">
                                          <p:val>
                                            <p:strVal val="#ppt_h"/>
                                          </p:val>
                                        </p:tav>
                                      </p:tavLst>
                                    </p:anim>
                                    <p:animEffect transition="in" filter="fade">
                                      <p:cBhvr>
                                        <p:cTn id="72" dur="500"/>
                                        <p:tgtEl>
                                          <p:spTgt spid="13"/>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15"/>
                                        </p:tgtEl>
                                        <p:attrNameLst>
                                          <p:attrName>style.visibility</p:attrName>
                                        </p:attrNameLst>
                                      </p:cBhvr>
                                      <p:to>
                                        <p:strVal val="visible"/>
                                      </p:to>
                                    </p:set>
                                    <p:anim calcmode="lin" valueType="num">
                                      <p:cBhvr>
                                        <p:cTn id="75" dur="500" fill="hold"/>
                                        <p:tgtEl>
                                          <p:spTgt spid="15"/>
                                        </p:tgtEl>
                                        <p:attrNameLst>
                                          <p:attrName>ppt_w</p:attrName>
                                        </p:attrNameLst>
                                      </p:cBhvr>
                                      <p:tavLst>
                                        <p:tav tm="0">
                                          <p:val>
                                            <p:fltVal val="0"/>
                                          </p:val>
                                        </p:tav>
                                        <p:tav tm="100000">
                                          <p:val>
                                            <p:strVal val="#ppt_w"/>
                                          </p:val>
                                        </p:tav>
                                      </p:tavLst>
                                    </p:anim>
                                    <p:anim calcmode="lin" valueType="num">
                                      <p:cBhvr>
                                        <p:cTn id="76" dur="500" fill="hold"/>
                                        <p:tgtEl>
                                          <p:spTgt spid="15"/>
                                        </p:tgtEl>
                                        <p:attrNameLst>
                                          <p:attrName>ppt_h</p:attrName>
                                        </p:attrNameLst>
                                      </p:cBhvr>
                                      <p:tavLst>
                                        <p:tav tm="0">
                                          <p:val>
                                            <p:fltVal val="0"/>
                                          </p:val>
                                        </p:tav>
                                        <p:tav tm="100000">
                                          <p:val>
                                            <p:strVal val="#ppt_h"/>
                                          </p:val>
                                        </p:tav>
                                      </p:tavLst>
                                    </p:anim>
                                    <p:animEffect transition="in" filter="fade">
                                      <p:cBhvr>
                                        <p:cTn id="7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p:bldP spid="6" grpId="0"/>
      <p:bldP spid="6" grpId="1"/>
      <p:bldP spid="7" grpId="0"/>
      <p:bldP spid="8" grpId="0"/>
      <p:bldP spid="8" grpId="1"/>
      <p:bldP spid="9" grpId="0"/>
      <p:bldP spid="10" grpId="0"/>
      <p:bldP spid="10" grpId="1"/>
      <p:bldP spid="11" grpId="0"/>
      <p:bldP spid="12" grpId="0" animBg="1"/>
      <p:bldP spid="12" grpId="1" animBg="1"/>
      <p:bldP spid="13" grpId="0"/>
      <p:bldP spid="13" grpId="1"/>
      <p:bldP spid="1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直接连接符 39">
            <a:extLst>
              <a:ext uri="{FF2B5EF4-FFF2-40B4-BE49-F238E27FC236}">
                <a16:creationId xmlns:a16="http://schemas.microsoft.com/office/drawing/2014/main" id="{6E6A69D2-CF29-488D-9814-733095713BF0}"/>
              </a:ext>
            </a:extLst>
          </p:cNvPr>
          <p:cNvCxnSpPr>
            <a:cxnSpLocks/>
          </p:cNvCxnSpPr>
          <p:nvPr/>
        </p:nvCxnSpPr>
        <p:spPr>
          <a:xfrm>
            <a:off x="7596192" y="1485979"/>
            <a:ext cx="0" cy="502861"/>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E28FCCA-FF12-49F9-8B12-1B76133A9C5D}"/>
              </a:ext>
            </a:extLst>
          </p:cNvPr>
          <p:cNvCxnSpPr>
            <a:cxnSpLocks/>
          </p:cNvCxnSpPr>
          <p:nvPr/>
        </p:nvCxnSpPr>
        <p:spPr>
          <a:xfrm>
            <a:off x="4645763" y="1485980"/>
            <a:ext cx="0" cy="502861"/>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a:extLst>
              <a:ext uri="{FF2B5EF4-FFF2-40B4-BE49-F238E27FC236}">
                <a16:creationId xmlns:a16="http://schemas.microsoft.com/office/drawing/2014/main" id="{15AA67D5-B461-4CE9-BB9E-B4F8B6F3E63F}"/>
              </a:ext>
            </a:extLst>
          </p:cNvPr>
          <p:cNvCxnSpPr>
            <a:cxnSpLocks/>
          </p:cNvCxnSpPr>
          <p:nvPr/>
        </p:nvCxnSpPr>
        <p:spPr>
          <a:xfrm>
            <a:off x="1756933" y="1485979"/>
            <a:ext cx="0" cy="502861"/>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3" name="矩形: 圆角 42">
            <a:extLst>
              <a:ext uri="{FF2B5EF4-FFF2-40B4-BE49-F238E27FC236}">
                <a16:creationId xmlns:a16="http://schemas.microsoft.com/office/drawing/2014/main" id="{B08C8E97-5864-47FE-9A3A-D7E799EFEB66}"/>
              </a:ext>
            </a:extLst>
          </p:cNvPr>
          <p:cNvSpPr/>
          <p:nvPr/>
        </p:nvSpPr>
        <p:spPr>
          <a:xfrm>
            <a:off x="6337560" y="1099013"/>
            <a:ext cx="2266888"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圆角 33">
            <a:extLst>
              <a:ext uri="{FF2B5EF4-FFF2-40B4-BE49-F238E27FC236}">
                <a16:creationId xmlns:a16="http://schemas.microsoft.com/office/drawing/2014/main" id="{9A529F2A-0FB0-406A-BEAC-3DFF8890A885}"/>
              </a:ext>
            </a:extLst>
          </p:cNvPr>
          <p:cNvSpPr/>
          <p:nvPr/>
        </p:nvSpPr>
        <p:spPr>
          <a:xfrm>
            <a:off x="3525652" y="1099013"/>
            <a:ext cx="2268570"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a16="http://schemas.microsoft.com/office/drawing/2014/main" id="{8040AFBD-0CC2-45B4-BA07-B624866AE071}"/>
              </a:ext>
            </a:extLst>
          </p:cNvPr>
          <p:cNvSpPr/>
          <p:nvPr/>
        </p:nvSpPr>
        <p:spPr>
          <a:xfrm>
            <a:off x="759598" y="1099013"/>
            <a:ext cx="2048523"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2ABC4D5A-8F6F-4279-8570-7783F4EE2197}"/>
              </a:ext>
            </a:extLst>
          </p:cNvPr>
          <p:cNvSpPr/>
          <p:nvPr/>
        </p:nvSpPr>
        <p:spPr>
          <a:xfrm>
            <a:off x="6732240" y="35332"/>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第三节 短期生产函数</a:t>
            </a:r>
          </a:p>
        </p:txBody>
      </p:sp>
      <p:sp>
        <p:nvSpPr>
          <p:cNvPr id="3" name="矩形 2">
            <a:extLst>
              <a:ext uri="{FF2B5EF4-FFF2-40B4-BE49-F238E27FC236}">
                <a16:creationId xmlns:a16="http://schemas.microsoft.com/office/drawing/2014/main" id="{2B2C0E66-276F-4510-B715-5CA7D00A3EB3}"/>
              </a:ext>
            </a:extLst>
          </p:cNvPr>
          <p:cNvSpPr/>
          <p:nvPr/>
        </p:nvSpPr>
        <p:spPr>
          <a:xfrm>
            <a:off x="580922" y="520573"/>
            <a:ext cx="5215213"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一、总产量、平均产量和边际产量</a:t>
            </a:r>
          </a:p>
        </p:txBody>
      </p:sp>
      <p:cxnSp>
        <p:nvCxnSpPr>
          <p:cNvPr id="5" name="直接连接符 4">
            <a:extLst>
              <a:ext uri="{FF2B5EF4-FFF2-40B4-BE49-F238E27FC236}">
                <a16:creationId xmlns:a16="http://schemas.microsoft.com/office/drawing/2014/main" id="{7168C24E-64A7-4B99-B975-548AB60DCC69}"/>
              </a:ext>
            </a:extLst>
          </p:cNvPr>
          <p:cNvCxnSpPr>
            <a:cxnSpLocks/>
          </p:cNvCxnSpPr>
          <p:nvPr/>
        </p:nvCxnSpPr>
        <p:spPr>
          <a:xfrm>
            <a:off x="1756933" y="2735035"/>
            <a:ext cx="0" cy="1005723"/>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1E335B6C-7260-45F8-A4CE-AF38211A3A74}"/>
              </a:ext>
            </a:extLst>
          </p:cNvPr>
          <p:cNvCxnSpPr>
            <a:cxnSpLocks/>
          </p:cNvCxnSpPr>
          <p:nvPr/>
        </p:nvCxnSpPr>
        <p:spPr>
          <a:xfrm>
            <a:off x="4645763" y="2735035"/>
            <a:ext cx="0" cy="1005723"/>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547344F2-1A84-495E-8325-C1C16B3E5C1A}"/>
              </a:ext>
            </a:extLst>
          </p:cNvPr>
          <p:cNvCxnSpPr>
            <a:cxnSpLocks/>
          </p:cNvCxnSpPr>
          <p:nvPr/>
        </p:nvCxnSpPr>
        <p:spPr>
          <a:xfrm>
            <a:off x="7596192" y="2735035"/>
            <a:ext cx="0" cy="1005723"/>
          </a:xfrm>
          <a:prstGeom prst="line">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泪滴形 7">
            <a:extLst>
              <a:ext uri="{FF2B5EF4-FFF2-40B4-BE49-F238E27FC236}">
                <a16:creationId xmlns:a16="http://schemas.microsoft.com/office/drawing/2014/main" id="{22FC1F96-F324-4930-9E9D-1ADD404E35B9}"/>
              </a:ext>
            </a:extLst>
          </p:cNvPr>
          <p:cNvSpPr/>
          <p:nvPr/>
        </p:nvSpPr>
        <p:spPr>
          <a:xfrm rot="18902573">
            <a:off x="709413" y="3997277"/>
            <a:ext cx="2094319" cy="2094319"/>
          </a:xfrm>
          <a:prstGeom prst="teardrop">
            <a:avLst/>
          </a:prstGeom>
          <a:solidFill>
            <a:srgbClr val="AFD9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9" name="椭圆 8">
            <a:extLst>
              <a:ext uri="{FF2B5EF4-FFF2-40B4-BE49-F238E27FC236}">
                <a16:creationId xmlns:a16="http://schemas.microsoft.com/office/drawing/2014/main" id="{3250C386-35E9-4434-8EFA-FEA0EE0F59C4}"/>
              </a:ext>
            </a:extLst>
          </p:cNvPr>
          <p:cNvSpPr/>
          <p:nvPr/>
        </p:nvSpPr>
        <p:spPr>
          <a:xfrm rot="18902573">
            <a:off x="937316" y="4203995"/>
            <a:ext cx="1632859" cy="16328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796FC708-33EC-4127-A3D2-B0E09BCD51B0}"/>
                  </a:ext>
                </a:extLst>
              </p:cNvPr>
              <p:cNvSpPr txBox="1"/>
              <p:nvPr/>
            </p:nvSpPr>
            <p:spPr>
              <a:xfrm>
                <a:off x="923737" y="4871639"/>
                <a:ext cx="159492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b="1" i="1" smtClean="0">
                          <a:solidFill>
                            <a:schemeClr val="tx1"/>
                          </a:solidFill>
                          <a:latin typeface="Cambria Math" panose="02040503050406030204" pitchFamily="18" charset="0"/>
                        </a:rPr>
                        <m:t>𝑻</m:t>
                      </m:r>
                      <m:sSub>
                        <m:sSubPr>
                          <m:ctrlPr>
                            <a:rPr lang="zh-CN" altLang="en-US"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𝑷</m:t>
                          </m:r>
                        </m:e>
                        <m:sub>
                          <m:r>
                            <a:rPr lang="zh-CN" altLang="en-US" b="1" i="1" smtClean="0">
                              <a:solidFill>
                                <a:schemeClr val="tx1"/>
                              </a:solidFill>
                              <a:latin typeface="Cambria Math" panose="02040503050406030204" pitchFamily="18" charset="0"/>
                            </a:rPr>
                            <m:t>𝑳</m:t>
                          </m:r>
                        </m:sub>
                      </m:sSub>
                      <m:r>
                        <a:rPr lang="zh-CN" altLang="en-US" b="1" i="1" smtClean="0">
                          <a:solidFill>
                            <a:schemeClr val="tx1"/>
                          </a:solidFill>
                          <a:latin typeface="Cambria Math" panose="02040503050406030204" pitchFamily="18" charset="0"/>
                        </a:rPr>
                        <m:t>=</m:t>
                      </m:r>
                      <m:r>
                        <a:rPr lang="zh-CN" altLang="en-US" b="1" i="1">
                          <a:solidFill>
                            <a:schemeClr val="tx1"/>
                          </a:solidFill>
                          <a:latin typeface="Cambria Math" panose="02040503050406030204" pitchFamily="18" charset="0"/>
                        </a:rPr>
                        <m:t>𝒇</m:t>
                      </m:r>
                      <m:r>
                        <m:rPr>
                          <m:nor/>
                        </m:rPr>
                        <a:rPr lang="en-US" altLang="zh-CN" b="1" i="1" dirty="0">
                          <a:solidFill>
                            <a:schemeClr val="tx1"/>
                          </a:solidFill>
                          <a:latin typeface="微软雅黑" panose="020B0503020204020204" pitchFamily="34" charset="-122"/>
                          <a:ea typeface="微软雅黑" panose="020B0503020204020204" pitchFamily="34" charset="-122"/>
                        </a:rPr>
                        <m:t>(</m:t>
                      </m:r>
                      <m:r>
                        <a:rPr lang="en-US" altLang="zh-CN" b="1" i="1" dirty="0">
                          <a:solidFill>
                            <a:schemeClr val="tx1"/>
                          </a:solidFill>
                          <a:latin typeface="Cambria Math" panose="02040503050406030204" pitchFamily="18" charset="0"/>
                          <a:ea typeface="微软雅黑" panose="020B0503020204020204" pitchFamily="34" charset="-122"/>
                        </a:rPr>
                        <m:t> </m:t>
                      </m:r>
                      <m:r>
                        <a:rPr lang="zh-CN" altLang="en-US" b="1" i="1">
                          <a:solidFill>
                            <a:schemeClr val="tx1"/>
                          </a:solidFill>
                          <a:latin typeface="Cambria Math" panose="02040503050406030204" pitchFamily="18" charset="0"/>
                        </a:rPr>
                        <m:t>𝑳</m:t>
                      </m:r>
                      <m:r>
                        <a:rPr lang="en-US" altLang="zh-CN" b="1" i="1">
                          <a:solidFill>
                            <a:schemeClr val="tx1"/>
                          </a:solidFill>
                          <a:latin typeface="Cambria Math" panose="02040503050406030204" pitchFamily="18" charset="0"/>
                        </a:rPr>
                        <m:t>,</m:t>
                      </m:r>
                      <m:acc>
                        <m:accPr>
                          <m:chr m:val="̅"/>
                          <m:ctrlPr>
                            <a:rPr lang="zh-CN" altLang="en-US" b="1" i="1">
                              <a:solidFill>
                                <a:schemeClr val="tx1"/>
                              </a:solidFill>
                              <a:latin typeface="Cambria Math" panose="02040503050406030204" pitchFamily="18" charset="0"/>
                            </a:rPr>
                          </m:ctrlPr>
                        </m:accPr>
                        <m:e>
                          <m:r>
                            <a:rPr lang="zh-CN" altLang="en-US" b="1" i="1">
                              <a:solidFill>
                                <a:schemeClr val="tx1"/>
                              </a:solidFill>
                              <a:latin typeface="Cambria Math" panose="02040503050406030204" pitchFamily="18" charset="0"/>
                            </a:rPr>
                            <m:t>𝑲</m:t>
                          </m:r>
                        </m:e>
                      </m:acc>
                      <m:r>
                        <m:rPr>
                          <m:nor/>
                        </m:rPr>
                        <a:rPr lang="zh-CN" altLang="en-US" b="1" dirty="0">
                          <a:solidFill>
                            <a:schemeClr val="tx1"/>
                          </a:solidFill>
                          <a:latin typeface="微软雅黑" panose="020B0503020204020204" pitchFamily="34" charset="-122"/>
                          <a:ea typeface="微软雅黑" panose="020B0503020204020204" pitchFamily="34" charset="-122"/>
                        </a:rPr>
                        <m:t> </m:t>
                      </m:r>
                      <m:r>
                        <m:rPr>
                          <m:nor/>
                        </m:rPr>
                        <a:rPr lang="en-US" altLang="zh-CN" b="1" i="1" dirty="0">
                          <a:solidFill>
                            <a:schemeClr val="tx1"/>
                          </a:solidFill>
                          <a:latin typeface="微软雅黑" panose="020B0503020204020204" pitchFamily="34" charset="-122"/>
                          <a:ea typeface="微软雅黑" panose="020B0503020204020204" pitchFamily="34" charset="-122"/>
                        </a:rPr>
                        <m:t>)</m:t>
                      </m:r>
                    </m:oMath>
                  </m:oMathPara>
                </a14:m>
                <a:endParaRPr lang="zh-CN" altLang="en-US" b="1" dirty="0">
                  <a:solidFill>
                    <a:schemeClr val="tx1"/>
                  </a:solidFill>
                </a:endParaRPr>
              </a:p>
            </p:txBody>
          </p:sp>
        </mc:Choice>
        <mc:Fallback xmlns="">
          <p:sp>
            <p:nvSpPr>
              <p:cNvPr id="26" name="文本框 25">
                <a:extLst>
                  <a:ext uri="{FF2B5EF4-FFF2-40B4-BE49-F238E27FC236}">
                    <a16:creationId xmlns:a16="http://schemas.microsoft.com/office/drawing/2014/main" id="{796FC708-33EC-4127-A3D2-B0E09BCD51B0}"/>
                  </a:ext>
                </a:extLst>
              </p:cNvPr>
              <p:cNvSpPr txBox="1">
                <a:spLocks noRot="1" noChangeAspect="1" noMove="1" noResize="1" noEditPoints="1" noAdjustHandles="1" noChangeArrowheads="1" noChangeShapeType="1" noTextEdit="1"/>
              </p:cNvSpPr>
              <p:nvPr/>
            </p:nvSpPr>
            <p:spPr>
              <a:xfrm>
                <a:off x="923737" y="4871639"/>
                <a:ext cx="1594924" cy="276999"/>
              </a:xfrm>
              <a:prstGeom prst="rect">
                <a:avLst/>
              </a:prstGeom>
              <a:blipFill>
                <a:blip r:embed="rId2"/>
                <a:stretch>
                  <a:fillRect l="-3065" t="-4348" r="-13410" b="-34783"/>
                </a:stretch>
              </a:blipFill>
            </p:spPr>
            <p:txBody>
              <a:bodyPr/>
              <a:lstStyle/>
              <a:p>
                <a:r>
                  <a:rPr lang="zh-CN" altLang="en-US">
                    <a:noFill/>
                  </a:rPr>
                  <a:t> </a:t>
                </a:r>
              </a:p>
            </p:txBody>
          </p:sp>
        </mc:Fallback>
      </mc:AlternateContent>
      <p:sp>
        <p:nvSpPr>
          <p:cNvPr id="27" name="泪滴形 26">
            <a:extLst>
              <a:ext uri="{FF2B5EF4-FFF2-40B4-BE49-F238E27FC236}">
                <a16:creationId xmlns:a16="http://schemas.microsoft.com/office/drawing/2014/main" id="{7CD3EDC3-F501-40B5-B0AF-FBF20948EDC1}"/>
              </a:ext>
            </a:extLst>
          </p:cNvPr>
          <p:cNvSpPr/>
          <p:nvPr/>
        </p:nvSpPr>
        <p:spPr>
          <a:xfrm rot="18910772">
            <a:off x="3598604" y="3991710"/>
            <a:ext cx="2094319" cy="2094319"/>
          </a:xfrm>
          <a:prstGeom prst="teardrop">
            <a:avLst/>
          </a:prstGeom>
          <a:solidFill>
            <a:srgbClr val="AFD9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28" name="椭圆 27">
            <a:extLst>
              <a:ext uri="{FF2B5EF4-FFF2-40B4-BE49-F238E27FC236}">
                <a16:creationId xmlns:a16="http://schemas.microsoft.com/office/drawing/2014/main" id="{D9BECCCC-150E-459A-B577-489B4B63CF9C}"/>
              </a:ext>
            </a:extLst>
          </p:cNvPr>
          <p:cNvSpPr/>
          <p:nvPr/>
        </p:nvSpPr>
        <p:spPr>
          <a:xfrm rot="18910772">
            <a:off x="3826507" y="4198428"/>
            <a:ext cx="1632859" cy="16328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9" name="矩形 28">
            <a:extLst>
              <a:ext uri="{FF2B5EF4-FFF2-40B4-BE49-F238E27FC236}">
                <a16:creationId xmlns:a16="http://schemas.microsoft.com/office/drawing/2014/main" id="{52E5BD22-835D-43E7-AF00-E50D4601FDA9}"/>
              </a:ext>
            </a:extLst>
          </p:cNvPr>
          <p:cNvSpPr/>
          <p:nvPr/>
        </p:nvSpPr>
        <p:spPr>
          <a:xfrm>
            <a:off x="750889" y="1124744"/>
            <a:ext cx="2012089" cy="400110"/>
          </a:xfrm>
          <a:prstGeom prst="rect">
            <a:avLst/>
          </a:prstGeom>
        </p:spPr>
        <p:txBody>
          <a:bodyPr wrap="none">
            <a:spAutoFit/>
          </a:bodyPr>
          <a:lstStyle/>
          <a:p>
            <a:pPr marL="285750" indent="-28575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劳动的总产量</a:t>
            </a:r>
          </a:p>
        </p:txBody>
      </p:sp>
      <p:sp>
        <p:nvSpPr>
          <p:cNvPr id="30" name="矩形 29">
            <a:extLst>
              <a:ext uri="{FF2B5EF4-FFF2-40B4-BE49-F238E27FC236}">
                <a16:creationId xmlns:a16="http://schemas.microsoft.com/office/drawing/2014/main" id="{6DC4E398-C9F2-49A8-9B9E-EBFE028660ED}"/>
              </a:ext>
            </a:extLst>
          </p:cNvPr>
          <p:cNvSpPr/>
          <p:nvPr/>
        </p:nvSpPr>
        <p:spPr>
          <a:xfrm>
            <a:off x="3514308" y="1124744"/>
            <a:ext cx="2268570" cy="400110"/>
          </a:xfrm>
          <a:prstGeom prst="rect">
            <a:avLst/>
          </a:prstGeom>
        </p:spPr>
        <p:txBody>
          <a:bodyPr wrap="none">
            <a:spAutoFit/>
          </a:bodyPr>
          <a:lstStyle/>
          <a:p>
            <a:pPr marL="285750" indent="-28575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劳动的平均产量</a:t>
            </a:r>
          </a:p>
        </p:txBody>
      </p:sp>
      <p:sp>
        <p:nvSpPr>
          <p:cNvPr id="31" name="矩形 30">
            <a:extLst>
              <a:ext uri="{FF2B5EF4-FFF2-40B4-BE49-F238E27FC236}">
                <a16:creationId xmlns:a16="http://schemas.microsoft.com/office/drawing/2014/main" id="{AA5DDE13-3E10-4A0A-838F-7BBAFAB65A90}"/>
              </a:ext>
            </a:extLst>
          </p:cNvPr>
          <p:cNvSpPr/>
          <p:nvPr/>
        </p:nvSpPr>
        <p:spPr>
          <a:xfrm>
            <a:off x="6335878" y="1124744"/>
            <a:ext cx="2268570" cy="400110"/>
          </a:xfrm>
          <a:prstGeom prst="rect">
            <a:avLst/>
          </a:prstGeom>
        </p:spPr>
        <p:txBody>
          <a:bodyPr wrap="none">
            <a:spAutoFit/>
          </a:bodyPr>
          <a:lstStyle/>
          <a:p>
            <a:pPr marL="285750" indent="-28575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劳动的边际产量</a:t>
            </a:r>
          </a:p>
        </p:txBody>
      </p:sp>
      <p:sp>
        <p:nvSpPr>
          <p:cNvPr id="32" name="矩形 31">
            <a:extLst>
              <a:ext uri="{FF2B5EF4-FFF2-40B4-BE49-F238E27FC236}">
                <a16:creationId xmlns:a16="http://schemas.microsoft.com/office/drawing/2014/main" id="{B0451DAB-D93D-451B-86A3-3BAB2373D0A1}"/>
              </a:ext>
            </a:extLst>
          </p:cNvPr>
          <p:cNvSpPr/>
          <p:nvPr/>
        </p:nvSpPr>
        <p:spPr>
          <a:xfrm>
            <a:off x="538476" y="1949931"/>
            <a:ext cx="2436914" cy="1077218"/>
          </a:xfrm>
          <a:prstGeom prst="rect">
            <a:avLst/>
          </a:prstGeom>
        </p:spPr>
        <p:txBody>
          <a:bodyPr wrap="square">
            <a:spAutoFit/>
          </a:bodyPr>
          <a:lstStyle/>
          <a:p>
            <a:pPr marL="285750" indent="-28575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劳动的总产量</a:t>
            </a:r>
            <a:r>
              <a:rPr lang="en-US" altLang="zh-CN" sz="1600" dirty="0">
                <a:latin typeface="微软雅黑" panose="020B0503020204020204" pitchFamily="34" charset="-122"/>
                <a:ea typeface="微软雅黑" panose="020B0503020204020204" pitchFamily="34" charset="-122"/>
              </a:rPr>
              <a:t>TP</a:t>
            </a:r>
            <a:r>
              <a:rPr lang="en-US" altLang="zh-CN" sz="1600" baseline="-25000" dirty="0">
                <a:latin typeface="微软雅黑" panose="020B0503020204020204" pitchFamily="34" charset="-122"/>
                <a:ea typeface="微软雅黑" panose="020B0503020204020204" pitchFamily="34" charset="-122"/>
              </a:rPr>
              <a:t>L</a:t>
            </a:r>
            <a:r>
              <a:rPr lang="zh-CN" altLang="en-US" sz="1600" dirty="0">
                <a:latin typeface="微软雅黑" panose="020B0503020204020204" pitchFamily="34" charset="-122"/>
                <a:ea typeface="微软雅黑" panose="020B0503020204020204" pitchFamily="34" charset="-122"/>
              </a:rPr>
              <a:t>是指一定的劳动投入量可以生产出来的最大产量。</a:t>
            </a:r>
          </a:p>
        </p:txBody>
      </p:sp>
      <p:sp>
        <p:nvSpPr>
          <p:cNvPr id="35" name="矩形 34">
            <a:extLst>
              <a:ext uri="{FF2B5EF4-FFF2-40B4-BE49-F238E27FC236}">
                <a16:creationId xmlns:a16="http://schemas.microsoft.com/office/drawing/2014/main" id="{3D6945D7-5E7F-4A36-93E3-72F449B2606F}"/>
              </a:ext>
            </a:extLst>
          </p:cNvPr>
          <p:cNvSpPr/>
          <p:nvPr/>
        </p:nvSpPr>
        <p:spPr>
          <a:xfrm>
            <a:off x="3544893" y="1944371"/>
            <a:ext cx="2054213" cy="830997"/>
          </a:xfrm>
          <a:prstGeom prst="rect">
            <a:avLst/>
          </a:prstGeom>
        </p:spPr>
        <p:txBody>
          <a:bodyPr wrap="square">
            <a:spAutoFit/>
          </a:bodyPr>
          <a:lstStyle/>
          <a:p>
            <a:pPr marL="285750" indent="-28575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劳动的平均产量</a:t>
            </a:r>
            <a:r>
              <a:rPr lang="en-US" altLang="zh-CN" sz="1600" dirty="0">
                <a:latin typeface="微软雅黑" panose="020B0503020204020204" pitchFamily="34" charset="-122"/>
                <a:ea typeface="微软雅黑" panose="020B0503020204020204" pitchFamily="34" charset="-122"/>
              </a:rPr>
              <a:t>AP</a:t>
            </a:r>
            <a:r>
              <a:rPr lang="en-US" altLang="zh-CN" sz="1600" baseline="-25000" dirty="0">
                <a:latin typeface="微软雅黑" panose="020B0503020204020204" pitchFamily="34" charset="-122"/>
                <a:ea typeface="微软雅黑" panose="020B0503020204020204" pitchFamily="34" charset="-122"/>
              </a:rPr>
              <a:t>L</a:t>
            </a:r>
            <a:r>
              <a:rPr lang="zh-CN" altLang="en-US" sz="1600" dirty="0">
                <a:latin typeface="微软雅黑" panose="020B0503020204020204" pitchFamily="34" charset="-122"/>
                <a:ea typeface="微软雅黑" panose="020B0503020204020204" pitchFamily="34" charset="-122"/>
              </a:rPr>
              <a:t>是每单位劳动生产的产量。</a:t>
            </a:r>
          </a:p>
        </p:txBody>
      </p:sp>
      <p:sp>
        <p:nvSpPr>
          <p:cNvPr id="37" name="泪滴形 36">
            <a:extLst>
              <a:ext uri="{FF2B5EF4-FFF2-40B4-BE49-F238E27FC236}">
                <a16:creationId xmlns:a16="http://schemas.microsoft.com/office/drawing/2014/main" id="{1281D8CC-E88F-4558-889D-87EC1B9FF24C}"/>
              </a:ext>
            </a:extLst>
          </p:cNvPr>
          <p:cNvSpPr/>
          <p:nvPr/>
        </p:nvSpPr>
        <p:spPr>
          <a:xfrm rot="18910772">
            <a:off x="6549983" y="3991710"/>
            <a:ext cx="2094319" cy="2094319"/>
          </a:xfrm>
          <a:prstGeom prst="teardrop">
            <a:avLst/>
          </a:prstGeom>
          <a:solidFill>
            <a:srgbClr val="AFD9E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38" name="椭圆 37">
            <a:extLst>
              <a:ext uri="{FF2B5EF4-FFF2-40B4-BE49-F238E27FC236}">
                <a16:creationId xmlns:a16="http://schemas.microsoft.com/office/drawing/2014/main" id="{46528ECC-475C-4D30-8F20-580753DE9D47}"/>
              </a:ext>
            </a:extLst>
          </p:cNvPr>
          <p:cNvSpPr/>
          <p:nvPr/>
        </p:nvSpPr>
        <p:spPr>
          <a:xfrm rot="18910772">
            <a:off x="6777886" y="4198428"/>
            <a:ext cx="1632859" cy="163285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9" name="矩形 38">
            <a:extLst>
              <a:ext uri="{FF2B5EF4-FFF2-40B4-BE49-F238E27FC236}">
                <a16:creationId xmlns:a16="http://schemas.microsoft.com/office/drawing/2014/main" id="{86DF2C23-799A-43AB-95DF-0BF158E13A61}"/>
              </a:ext>
            </a:extLst>
          </p:cNvPr>
          <p:cNvSpPr/>
          <p:nvPr/>
        </p:nvSpPr>
        <p:spPr>
          <a:xfrm>
            <a:off x="6279000" y="1944371"/>
            <a:ext cx="2469916" cy="1077218"/>
          </a:xfrm>
          <a:prstGeom prst="rect">
            <a:avLst/>
          </a:prstGeom>
        </p:spPr>
        <p:txBody>
          <a:bodyPr wrap="square">
            <a:spAutoFit/>
          </a:bodyPr>
          <a:lstStyle/>
          <a:p>
            <a:pPr marL="285750" indent="-285750">
              <a:buFont typeface="Wingdings" panose="05000000000000000000" pitchFamily="2" charset="2"/>
              <a:buChar char="Ø"/>
            </a:pPr>
            <a:r>
              <a:rPr lang="zh-CN" altLang="en-US" sz="1600" dirty="0">
                <a:latin typeface="微软雅黑" panose="020B0503020204020204" pitchFamily="34" charset="-122"/>
                <a:ea typeface="微软雅黑" panose="020B0503020204020204" pitchFamily="34" charset="-122"/>
              </a:rPr>
              <a:t>劳动的边际产量</a:t>
            </a:r>
            <a:r>
              <a:rPr lang="en-US" altLang="zh-CN" sz="1600" dirty="0">
                <a:latin typeface="微软雅黑" panose="020B0503020204020204" pitchFamily="34" charset="-122"/>
                <a:ea typeface="微软雅黑" panose="020B0503020204020204" pitchFamily="34" charset="-122"/>
              </a:rPr>
              <a:t>MP</a:t>
            </a:r>
            <a:r>
              <a:rPr lang="en-US" altLang="zh-CN" sz="1600" baseline="-25000" dirty="0">
                <a:latin typeface="微软雅黑" panose="020B0503020204020204" pitchFamily="34" charset="-122"/>
                <a:ea typeface="微软雅黑" panose="020B0503020204020204" pitchFamily="34" charset="-122"/>
              </a:rPr>
              <a:t>L</a:t>
            </a:r>
            <a:r>
              <a:rPr lang="zh-CN" altLang="en-US" sz="1600" dirty="0">
                <a:latin typeface="微软雅黑" panose="020B0503020204020204" pitchFamily="34" charset="-122"/>
                <a:ea typeface="微软雅黑" panose="020B0503020204020204" pitchFamily="34" charset="-122"/>
              </a:rPr>
              <a:t>是指增加1单位的劳动投入所带来的产出增加量。</a:t>
            </a:r>
          </a:p>
        </p:txBody>
      </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52DE3CB9-9817-428D-A2F7-6D89B13B40EF}"/>
                  </a:ext>
                </a:extLst>
              </p:cNvPr>
              <p:cNvSpPr txBox="1"/>
              <p:nvPr/>
            </p:nvSpPr>
            <p:spPr>
              <a:xfrm>
                <a:off x="4054153" y="4745909"/>
                <a:ext cx="1187697" cy="5167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b="1" i="1" smtClean="0">
                          <a:solidFill>
                            <a:schemeClr val="tx1"/>
                          </a:solidFill>
                          <a:latin typeface="Cambria Math" panose="02040503050406030204" pitchFamily="18" charset="0"/>
                        </a:rPr>
                        <m:t>𝑨</m:t>
                      </m:r>
                      <m:sSub>
                        <m:sSubPr>
                          <m:ctrlPr>
                            <a:rPr lang="zh-CN" altLang="en-US"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𝑷</m:t>
                          </m:r>
                        </m:e>
                        <m:sub>
                          <m:r>
                            <a:rPr lang="zh-CN" altLang="en-US" b="1" i="1" smtClean="0">
                              <a:solidFill>
                                <a:schemeClr val="tx1"/>
                              </a:solidFill>
                              <a:latin typeface="Cambria Math" panose="02040503050406030204" pitchFamily="18" charset="0"/>
                            </a:rPr>
                            <m:t>𝑳</m:t>
                          </m:r>
                        </m:sub>
                      </m:sSub>
                      <m:r>
                        <a:rPr lang="zh-CN" altLang="en-US" b="1" i="1" smtClean="0">
                          <a:solidFill>
                            <a:schemeClr val="tx1"/>
                          </a:solidFill>
                          <a:latin typeface="Cambria Math" panose="02040503050406030204" pitchFamily="18" charset="0"/>
                        </a:rPr>
                        <m:t>=</m:t>
                      </m:r>
                      <m:f>
                        <m:fPr>
                          <m:ctrlPr>
                            <a:rPr lang="zh-CN" altLang="en-US" b="1" i="1" smtClean="0">
                              <a:solidFill>
                                <a:schemeClr val="tx1"/>
                              </a:solidFill>
                              <a:latin typeface="Cambria Math" panose="02040503050406030204" pitchFamily="18" charset="0"/>
                            </a:rPr>
                          </m:ctrlPr>
                        </m:fPr>
                        <m:num>
                          <m:r>
                            <a:rPr lang="zh-CN" altLang="en-US" b="1" i="1" smtClean="0">
                              <a:solidFill>
                                <a:schemeClr val="tx1"/>
                              </a:solidFill>
                              <a:latin typeface="Cambria Math" panose="02040503050406030204" pitchFamily="18" charset="0"/>
                            </a:rPr>
                            <m:t>𝑻</m:t>
                          </m:r>
                          <m:sSub>
                            <m:sSubPr>
                              <m:ctrlPr>
                                <a:rPr lang="zh-CN" altLang="en-US" b="1" i="1" smtClean="0">
                                  <a:solidFill>
                                    <a:schemeClr val="tx1"/>
                                  </a:solidFill>
                                  <a:latin typeface="Cambria Math" panose="02040503050406030204" pitchFamily="18" charset="0"/>
                                </a:rPr>
                              </m:ctrlPr>
                            </m:sSubPr>
                            <m:e>
                              <m:r>
                                <a:rPr lang="zh-CN" altLang="en-US" b="1" i="1" smtClean="0">
                                  <a:solidFill>
                                    <a:schemeClr val="tx1"/>
                                  </a:solidFill>
                                  <a:latin typeface="Cambria Math" panose="02040503050406030204" pitchFamily="18" charset="0"/>
                                </a:rPr>
                                <m:t>𝑷</m:t>
                              </m:r>
                            </m:e>
                            <m:sub>
                              <m:r>
                                <a:rPr lang="zh-CN" altLang="en-US" b="1" i="1" smtClean="0">
                                  <a:solidFill>
                                    <a:schemeClr val="tx1"/>
                                  </a:solidFill>
                                  <a:latin typeface="Cambria Math" panose="02040503050406030204" pitchFamily="18" charset="0"/>
                                </a:rPr>
                                <m:t>𝑳</m:t>
                              </m:r>
                            </m:sub>
                          </m:sSub>
                        </m:num>
                        <m:den>
                          <m:r>
                            <a:rPr lang="zh-CN" altLang="en-US" b="1" i="1" smtClean="0">
                              <a:solidFill>
                                <a:schemeClr val="tx1"/>
                              </a:solidFill>
                              <a:latin typeface="Cambria Math" panose="02040503050406030204" pitchFamily="18" charset="0"/>
                            </a:rPr>
                            <m:t>𝑳</m:t>
                          </m:r>
                        </m:den>
                      </m:f>
                    </m:oMath>
                  </m:oMathPara>
                </a14:m>
                <a:endParaRPr lang="zh-CN" altLang="en-US" b="1" dirty="0">
                  <a:solidFill>
                    <a:schemeClr val="tx1"/>
                  </a:solidFill>
                </a:endParaRPr>
              </a:p>
            </p:txBody>
          </p:sp>
        </mc:Choice>
        <mc:Fallback xmlns="">
          <p:sp>
            <p:nvSpPr>
              <p:cNvPr id="41" name="文本框 40">
                <a:extLst>
                  <a:ext uri="{FF2B5EF4-FFF2-40B4-BE49-F238E27FC236}">
                    <a16:creationId xmlns:a16="http://schemas.microsoft.com/office/drawing/2014/main" id="{52DE3CB9-9817-428D-A2F7-6D89B13B40EF}"/>
                  </a:ext>
                </a:extLst>
              </p:cNvPr>
              <p:cNvSpPr txBox="1">
                <a:spLocks noRot="1" noChangeAspect="1" noMove="1" noResize="1" noEditPoints="1" noAdjustHandles="1" noChangeArrowheads="1" noChangeShapeType="1" noTextEdit="1"/>
              </p:cNvSpPr>
              <p:nvPr/>
            </p:nvSpPr>
            <p:spPr>
              <a:xfrm>
                <a:off x="4054153" y="4745909"/>
                <a:ext cx="1187697" cy="51674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DD8C465B-C855-4F73-ABB4-42EEA0AABF03}"/>
                  </a:ext>
                </a:extLst>
              </p:cNvPr>
              <p:cNvSpPr txBox="1"/>
              <p:nvPr/>
            </p:nvSpPr>
            <p:spPr>
              <a:xfrm>
                <a:off x="6953724" y="4707231"/>
                <a:ext cx="1192634" cy="51777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b="1" i="1" smtClean="0">
                          <a:solidFill>
                            <a:schemeClr val="tx1"/>
                          </a:solidFill>
                          <a:latin typeface="Cambria Math" panose="02040503050406030204" pitchFamily="18" charset="0"/>
                        </a:rPr>
                        <m:t>𝑴𝑷</m:t>
                      </m:r>
                      <m:r>
                        <a:rPr lang="zh-CN" altLang="en-US" b="1" i="1" smtClean="0">
                          <a:solidFill>
                            <a:schemeClr val="tx1"/>
                          </a:solidFill>
                          <a:latin typeface="Cambria Math" panose="02040503050406030204" pitchFamily="18" charset="0"/>
                        </a:rPr>
                        <m:t>=</m:t>
                      </m:r>
                      <m:f>
                        <m:fPr>
                          <m:ctrlPr>
                            <a:rPr lang="zh-CN" altLang="en-US" b="1" i="1" smtClean="0">
                              <a:solidFill>
                                <a:schemeClr val="tx1"/>
                              </a:solidFill>
                              <a:latin typeface="Cambria Math" panose="02040503050406030204" pitchFamily="18" charset="0"/>
                            </a:rPr>
                          </m:ctrlPr>
                        </m:fPr>
                        <m:num>
                          <m:r>
                            <a:rPr lang="zh-CN" altLang="en-US" b="1" i="1" smtClean="0">
                              <a:solidFill>
                                <a:schemeClr val="tx1"/>
                              </a:solidFill>
                              <a:latin typeface="Cambria Math" panose="02040503050406030204" pitchFamily="18" charset="0"/>
                            </a:rPr>
                            <m:t>𝜟</m:t>
                          </m:r>
                          <m:r>
                            <a:rPr lang="zh-CN" altLang="en-US" b="1" i="1" smtClean="0">
                              <a:solidFill>
                                <a:schemeClr val="tx1"/>
                              </a:solidFill>
                              <a:latin typeface="Cambria Math" panose="02040503050406030204" pitchFamily="18" charset="0"/>
                            </a:rPr>
                            <m:t>𝑻𝑷</m:t>
                          </m:r>
                        </m:num>
                        <m:den>
                          <m:r>
                            <a:rPr lang="zh-CN" altLang="en-US" b="1" i="1" smtClean="0">
                              <a:solidFill>
                                <a:schemeClr val="tx1"/>
                              </a:solidFill>
                              <a:latin typeface="Cambria Math" panose="02040503050406030204" pitchFamily="18" charset="0"/>
                            </a:rPr>
                            <m:t>𝜟</m:t>
                          </m:r>
                          <m:r>
                            <a:rPr lang="zh-CN" altLang="en-US" b="1" i="1" smtClean="0">
                              <a:solidFill>
                                <a:schemeClr val="tx1"/>
                              </a:solidFill>
                              <a:latin typeface="Cambria Math" panose="02040503050406030204" pitchFamily="18" charset="0"/>
                            </a:rPr>
                            <m:t>𝑳</m:t>
                          </m:r>
                        </m:den>
                      </m:f>
                    </m:oMath>
                  </m:oMathPara>
                </a14:m>
                <a:endParaRPr lang="zh-CN" altLang="en-US" b="1" dirty="0">
                  <a:solidFill>
                    <a:schemeClr val="tx1"/>
                  </a:solidFill>
                </a:endParaRPr>
              </a:p>
            </p:txBody>
          </p:sp>
        </mc:Choice>
        <mc:Fallback xmlns="">
          <p:sp>
            <p:nvSpPr>
              <p:cNvPr id="42" name="文本框 41">
                <a:extLst>
                  <a:ext uri="{FF2B5EF4-FFF2-40B4-BE49-F238E27FC236}">
                    <a16:creationId xmlns:a16="http://schemas.microsoft.com/office/drawing/2014/main" id="{DD8C465B-C855-4F73-ABB4-42EEA0AABF03}"/>
                  </a:ext>
                </a:extLst>
              </p:cNvPr>
              <p:cNvSpPr txBox="1">
                <a:spLocks noRot="1" noChangeAspect="1" noMove="1" noResize="1" noEditPoints="1" noAdjustHandles="1" noChangeArrowheads="1" noChangeShapeType="1" noTextEdit="1"/>
              </p:cNvSpPr>
              <p:nvPr/>
            </p:nvSpPr>
            <p:spPr>
              <a:xfrm>
                <a:off x="6953724" y="4707231"/>
                <a:ext cx="1192634" cy="517770"/>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484416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circle(in)">
                                      <p:cBhvr>
                                        <p:cTn id="14" dur="2000"/>
                                        <p:tgtEl>
                                          <p:spTgt spid="25"/>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circle(in)">
                                      <p:cBhvr>
                                        <p:cTn id="17" dur="20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3"/>
                                        </p:tgtEl>
                                        <p:attrNameLst>
                                          <p:attrName>style.visibility</p:attrName>
                                        </p:attrNameLst>
                                      </p:cBhvr>
                                      <p:to>
                                        <p:strVal val="visible"/>
                                      </p:to>
                                    </p:set>
                                    <p:animEffect transition="in" filter="wipe(up)">
                                      <p:cBhvr>
                                        <p:cTn id="22" dur="500"/>
                                        <p:tgtEl>
                                          <p:spTgt spid="33"/>
                                        </p:tgtEl>
                                      </p:cBhvr>
                                    </p:animEffect>
                                  </p:childTnLst>
                                </p:cTn>
                              </p:par>
                              <p:par>
                                <p:cTn id="23" presetID="22" presetClass="entr" presetSubtype="1"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wipe(up)">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ipe(up)">
                                      <p:cBhvr>
                                        <p:cTn id="30" dur="500"/>
                                        <p:tgtEl>
                                          <p:spTgt spid="5"/>
                                        </p:tgtEl>
                                      </p:cBhvr>
                                    </p:animEffect>
                                  </p:childTnLst>
                                </p:cTn>
                              </p:par>
                              <p:par>
                                <p:cTn id="31" presetID="22" presetClass="entr" presetSubtype="1" fill="hold" grpId="0"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up)">
                                      <p:cBhvr>
                                        <p:cTn id="33" dur="500"/>
                                        <p:tgtEl>
                                          <p:spTgt spid="8"/>
                                        </p:tgtEl>
                                      </p:cBhvr>
                                    </p:animEffect>
                                  </p:childTnLst>
                                </p:cTn>
                              </p:par>
                              <p:par>
                                <p:cTn id="34" presetID="22" presetClass="entr" presetSubtype="1"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wipe(up)">
                                      <p:cBhvr>
                                        <p:cTn id="36" dur="500"/>
                                        <p:tgtEl>
                                          <p:spTgt spid="9"/>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wipe(up)">
                                      <p:cBhvr>
                                        <p:cTn id="39" dur="500"/>
                                        <p:tgtEl>
                                          <p:spTgt spid="26"/>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grpId="0" nodeType="clickEffect">
                                  <p:stCondLst>
                                    <p:cond delay="0"/>
                                  </p:stCondLst>
                                  <p:childTnLst>
                                    <p:set>
                                      <p:cBhvr>
                                        <p:cTn id="43" dur="1" fill="hold">
                                          <p:stCondLst>
                                            <p:cond delay="0"/>
                                          </p:stCondLst>
                                        </p:cTn>
                                        <p:tgtEl>
                                          <p:spTgt spid="34"/>
                                        </p:tgtEl>
                                        <p:attrNameLst>
                                          <p:attrName>style.visibility</p:attrName>
                                        </p:attrNameLst>
                                      </p:cBhvr>
                                      <p:to>
                                        <p:strVal val="visible"/>
                                      </p:to>
                                    </p:set>
                                    <p:animEffect transition="in" filter="circle(in)">
                                      <p:cBhvr>
                                        <p:cTn id="44" dur="2000"/>
                                        <p:tgtEl>
                                          <p:spTgt spid="34"/>
                                        </p:tgtEl>
                                      </p:cBhvr>
                                    </p:animEffect>
                                  </p:childTnLst>
                                </p:cTn>
                              </p:par>
                              <p:par>
                                <p:cTn id="45" presetID="6" presetClass="entr" presetSubtype="16" fill="hold" grpId="0" nodeType="with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circle(in)">
                                      <p:cBhvr>
                                        <p:cTn id="47" dur="2000"/>
                                        <p:tgtEl>
                                          <p:spTgt spid="30"/>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wipe(up)">
                                      <p:cBhvr>
                                        <p:cTn id="52" dur="500"/>
                                        <p:tgtEl>
                                          <p:spTgt spid="36"/>
                                        </p:tgtEl>
                                      </p:cBhvr>
                                    </p:animEffect>
                                  </p:childTnLst>
                                </p:cTn>
                              </p:par>
                              <p:par>
                                <p:cTn id="53" presetID="22" presetClass="entr" presetSubtype="1" fill="hold" grpId="0" nodeType="withEffect">
                                  <p:stCondLst>
                                    <p:cond delay="0"/>
                                  </p:stCondLst>
                                  <p:childTnLst>
                                    <p:set>
                                      <p:cBhvr>
                                        <p:cTn id="54" dur="1" fill="hold">
                                          <p:stCondLst>
                                            <p:cond delay="0"/>
                                          </p:stCondLst>
                                        </p:cTn>
                                        <p:tgtEl>
                                          <p:spTgt spid="35"/>
                                        </p:tgtEl>
                                        <p:attrNameLst>
                                          <p:attrName>style.visibility</p:attrName>
                                        </p:attrNameLst>
                                      </p:cBhvr>
                                      <p:to>
                                        <p:strVal val="visible"/>
                                      </p:to>
                                    </p:set>
                                    <p:animEffect transition="in" filter="wipe(up)">
                                      <p:cBhvr>
                                        <p:cTn id="55" dur="500"/>
                                        <p:tgtEl>
                                          <p:spTgt spid="3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1" fill="hold" nodeType="click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wipe(up)">
                                      <p:cBhvr>
                                        <p:cTn id="60" dur="500"/>
                                        <p:tgtEl>
                                          <p:spTgt spid="6"/>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wipe(up)">
                                      <p:cBhvr>
                                        <p:cTn id="63" dur="500"/>
                                        <p:tgtEl>
                                          <p:spTgt spid="41"/>
                                        </p:tgtEl>
                                      </p:cBhvr>
                                    </p:animEffect>
                                  </p:childTnLst>
                                </p:cTn>
                              </p:par>
                              <p:par>
                                <p:cTn id="64" presetID="22" presetClass="entr" presetSubtype="1" fill="hold" grpId="0"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wipe(up)">
                                      <p:cBhvr>
                                        <p:cTn id="66" dur="500"/>
                                        <p:tgtEl>
                                          <p:spTgt spid="28"/>
                                        </p:tgtEl>
                                      </p:cBhvr>
                                    </p:animEffect>
                                  </p:childTnLst>
                                </p:cTn>
                              </p:par>
                              <p:par>
                                <p:cTn id="67" presetID="22" presetClass="entr" presetSubtype="1"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wipe(up)">
                                      <p:cBhvr>
                                        <p:cTn id="69" dur="5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6" presetClass="entr" presetSubtype="16" fill="hold" grpId="0" nodeType="clickEffect">
                                  <p:stCondLst>
                                    <p:cond delay="0"/>
                                  </p:stCondLst>
                                  <p:childTnLst>
                                    <p:set>
                                      <p:cBhvr>
                                        <p:cTn id="73" dur="1" fill="hold">
                                          <p:stCondLst>
                                            <p:cond delay="0"/>
                                          </p:stCondLst>
                                        </p:cTn>
                                        <p:tgtEl>
                                          <p:spTgt spid="43"/>
                                        </p:tgtEl>
                                        <p:attrNameLst>
                                          <p:attrName>style.visibility</p:attrName>
                                        </p:attrNameLst>
                                      </p:cBhvr>
                                      <p:to>
                                        <p:strVal val="visible"/>
                                      </p:to>
                                    </p:set>
                                    <p:animEffect transition="in" filter="circle(in)">
                                      <p:cBhvr>
                                        <p:cTn id="74" dur="2000"/>
                                        <p:tgtEl>
                                          <p:spTgt spid="43"/>
                                        </p:tgtEl>
                                      </p:cBhvr>
                                    </p:animEffect>
                                  </p:childTnLst>
                                </p:cTn>
                              </p:par>
                              <p:par>
                                <p:cTn id="75" presetID="6" presetClass="entr" presetSubtype="16" fill="hold" grpId="0" nodeType="with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circle(in)">
                                      <p:cBhvr>
                                        <p:cTn id="77" dur="2000"/>
                                        <p:tgtEl>
                                          <p:spTgt spid="3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nodeType="clickEffect">
                                  <p:stCondLst>
                                    <p:cond delay="0"/>
                                  </p:stCondLst>
                                  <p:childTnLst>
                                    <p:set>
                                      <p:cBhvr>
                                        <p:cTn id="81" dur="1" fill="hold">
                                          <p:stCondLst>
                                            <p:cond delay="0"/>
                                          </p:stCondLst>
                                        </p:cTn>
                                        <p:tgtEl>
                                          <p:spTgt spid="40"/>
                                        </p:tgtEl>
                                        <p:attrNameLst>
                                          <p:attrName>style.visibility</p:attrName>
                                        </p:attrNameLst>
                                      </p:cBhvr>
                                      <p:to>
                                        <p:strVal val="visible"/>
                                      </p:to>
                                    </p:set>
                                    <p:animEffect transition="in" filter="wipe(up)">
                                      <p:cBhvr>
                                        <p:cTn id="82" dur="500"/>
                                        <p:tgtEl>
                                          <p:spTgt spid="40"/>
                                        </p:tgtEl>
                                      </p:cBhvr>
                                    </p:animEffect>
                                  </p:childTnLst>
                                </p:cTn>
                              </p:par>
                              <p:par>
                                <p:cTn id="83" presetID="22" presetClass="entr" presetSubtype="1" fill="hold" grpId="0" nodeType="withEffect">
                                  <p:stCondLst>
                                    <p:cond delay="0"/>
                                  </p:stCondLst>
                                  <p:childTnLst>
                                    <p:set>
                                      <p:cBhvr>
                                        <p:cTn id="84" dur="1" fill="hold">
                                          <p:stCondLst>
                                            <p:cond delay="0"/>
                                          </p:stCondLst>
                                        </p:cTn>
                                        <p:tgtEl>
                                          <p:spTgt spid="39"/>
                                        </p:tgtEl>
                                        <p:attrNameLst>
                                          <p:attrName>style.visibility</p:attrName>
                                        </p:attrNameLst>
                                      </p:cBhvr>
                                      <p:to>
                                        <p:strVal val="visible"/>
                                      </p:to>
                                    </p:set>
                                    <p:animEffect transition="in" filter="wipe(up)">
                                      <p:cBhvr>
                                        <p:cTn id="85" dur="500"/>
                                        <p:tgtEl>
                                          <p:spTgt spid="39"/>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1" fill="hold" nodeType="clickEffect">
                                  <p:stCondLst>
                                    <p:cond delay="0"/>
                                  </p:stCondLst>
                                  <p:childTnLst>
                                    <p:set>
                                      <p:cBhvr>
                                        <p:cTn id="89" dur="1" fill="hold">
                                          <p:stCondLst>
                                            <p:cond delay="0"/>
                                          </p:stCondLst>
                                        </p:cTn>
                                        <p:tgtEl>
                                          <p:spTgt spid="7"/>
                                        </p:tgtEl>
                                        <p:attrNameLst>
                                          <p:attrName>style.visibility</p:attrName>
                                        </p:attrNameLst>
                                      </p:cBhvr>
                                      <p:to>
                                        <p:strVal val="visible"/>
                                      </p:to>
                                    </p:set>
                                    <p:animEffect transition="in" filter="wipe(up)">
                                      <p:cBhvr>
                                        <p:cTn id="90" dur="500"/>
                                        <p:tgtEl>
                                          <p:spTgt spid="7"/>
                                        </p:tgtEl>
                                      </p:cBhvr>
                                    </p:animEffect>
                                  </p:childTnLst>
                                </p:cTn>
                              </p:par>
                              <p:par>
                                <p:cTn id="91" presetID="22" presetClass="entr" presetSubtype="1" fill="hold" grpId="0" nodeType="withEffect">
                                  <p:stCondLst>
                                    <p:cond delay="0"/>
                                  </p:stCondLst>
                                  <p:childTnLst>
                                    <p:set>
                                      <p:cBhvr>
                                        <p:cTn id="92" dur="1" fill="hold">
                                          <p:stCondLst>
                                            <p:cond delay="0"/>
                                          </p:stCondLst>
                                        </p:cTn>
                                        <p:tgtEl>
                                          <p:spTgt spid="37"/>
                                        </p:tgtEl>
                                        <p:attrNameLst>
                                          <p:attrName>style.visibility</p:attrName>
                                        </p:attrNameLst>
                                      </p:cBhvr>
                                      <p:to>
                                        <p:strVal val="visible"/>
                                      </p:to>
                                    </p:set>
                                    <p:animEffect transition="in" filter="wipe(up)">
                                      <p:cBhvr>
                                        <p:cTn id="93" dur="500"/>
                                        <p:tgtEl>
                                          <p:spTgt spid="37"/>
                                        </p:tgtEl>
                                      </p:cBhvr>
                                    </p:animEffect>
                                  </p:childTnLst>
                                </p:cTn>
                              </p:par>
                              <p:par>
                                <p:cTn id="94" presetID="22" presetClass="entr" presetSubtype="1" fill="hold" grpId="0" nodeType="withEffect">
                                  <p:stCondLst>
                                    <p:cond delay="0"/>
                                  </p:stCondLst>
                                  <p:childTnLst>
                                    <p:set>
                                      <p:cBhvr>
                                        <p:cTn id="95" dur="1" fill="hold">
                                          <p:stCondLst>
                                            <p:cond delay="0"/>
                                          </p:stCondLst>
                                        </p:cTn>
                                        <p:tgtEl>
                                          <p:spTgt spid="42"/>
                                        </p:tgtEl>
                                        <p:attrNameLst>
                                          <p:attrName>style.visibility</p:attrName>
                                        </p:attrNameLst>
                                      </p:cBhvr>
                                      <p:to>
                                        <p:strVal val="visible"/>
                                      </p:to>
                                    </p:set>
                                    <p:animEffect transition="in" filter="wipe(up)">
                                      <p:cBhvr>
                                        <p:cTn id="96" dur="500"/>
                                        <p:tgtEl>
                                          <p:spTgt spid="42"/>
                                        </p:tgtEl>
                                      </p:cBhvr>
                                    </p:animEffect>
                                  </p:childTnLst>
                                </p:cTn>
                              </p:par>
                              <p:par>
                                <p:cTn id="97" presetID="22" presetClass="entr" presetSubtype="1" fill="hold" grpId="0" nodeType="withEffect">
                                  <p:stCondLst>
                                    <p:cond delay="0"/>
                                  </p:stCondLst>
                                  <p:childTnLst>
                                    <p:set>
                                      <p:cBhvr>
                                        <p:cTn id="98" dur="1" fill="hold">
                                          <p:stCondLst>
                                            <p:cond delay="0"/>
                                          </p:stCondLst>
                                        </p:cTn>
                                        <p:tgtEl>
                                          <p:spTgt spid="38"/>
                                        </p:tgtEl>
                                        <p:attrNameLst>
                                          <p:attrName>style.visibility</p:attrName>
                                        </p:attrNameLst>
                                      </p:cBhvr>
                                      <p:to>
                                        <p:strVal val="visible"/>
                                      </p:to>
                                    </p:set>
                                    <p:animEffect transition="in" filter="wipe(up)">
                                      <p:cBhvr>
                                        <p:cTn id="9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34" grpId="0" animBg="1"/>
      <p:bldP spid="25" grpId="0" animBg="1"/>
      <p:bldP spid="3" grpId="0" animBg="1"/>
      <p:bldP spid="8" grpId="0" animBg="1"/>
      <p:bldP spid="9" grpId="0" animBg="1"/>
      <p:bldP spid="26" grpId="0"/>
      <p:bldP spid="27" grpId="0" animBg="1"/>
      <p:bldP spid="28" grpId="0" animBg="1"/>
      <p:bldP spid="29" grpId="0"/>
      <p:bldP spid="30" grpId="0"/>
      <p:bldP spid="31" grpId="0"/>
      <p:bldP spid="32" grpId="0"/>
      <p:bldP spid="35" grpId="0"/>
      <p:bldP spid="37" grpId="0" animBg="1"/>
      <p:bldP spid="38" grpId="0" animBg="1"/>
      <p:bldP spid="39" grpId="0"/>
      <p:bldP spid="41" grpId="0"/>
      <p:bldP spid="4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内容占位符 3">
            <a:extLst>
              <a:ext uri="{FF2B5EF4-FFF2-40B4-BE49-F238E27FC236}">
                <a16:creationId xmlns:a16="http://schemas.microsoft.com/office/drawing/2014/main" id="{CC4B6709-5599-4800-A3B0-71746187E295}"/>
              </a:ext>
            </a:extLst>
          </p:cNvPr>
          <p:cNvGraphicFramePr>
            <a:graphicFrameLocks noGrp="1"/>
          </p:cNvGraphicFramePr>
          <p:nvPr>
            <p:ph idx="1"/>
            <p:extLst>
              <p:ext uri="{D42A27DB-BD31-4B8C-83A1-F6EECF244321}">
                <p14:modId xmlns:p14="http://schemas.microsoft.com/office/powerpoint/2010/main" val="3848145353"/>
              </p:ext>
            </p:extLst>
          </p:nvPr>
        </p:nvGraphicFramePr>
        <p:xfrm>
          <a:off x="457200" y="692696"/>
          <a:ext cx="8229600" cy="5580522"/>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1014360012"/>
                    </a:ext>
                  </a:extLst>
                </a:gridCol>
                <a:gridCol w="1645920">
                  <a:extLst>
                    <a:ext uri="{9D8B030D-6E8A-4147-A177-3AD203B41FA5}">
                      <a16:colId xmlns:a16="http://schemas.microsoft.com/office/drawing/2014/main" val="2474926110"/>
                    </a:ext>
                  </a:extLst>
                </a:gridCol>
                <a:gridCol w="1645920">
                  <a:extLst>
                    <a:ext uri="{9D8B030D-6E8A-4147-A177-3AD203B41FA5}">
                      <a16:colId xmlns:a16="http://schemas.microsoft.com/office/drawing/2014/main" val="2125249776"/>
                    </a:ext>
                  </a:extLst>
                </a:gridCol>
                <a:gridCol w="1645920">
                  <a:extLst>
                    <a:ext uri="{9D8B030D-6E8A-4147-A177-3AD203B41FA5}">
                      <a16:colId xmlns:a16="http://schemas.microsoft.com/office/drawing/2014/main" val="3097268379"/>
                    </a:ext>
                  </a:extLst>
                </a:gridCol>
                <a:gridCol w="1645920">
                  <a:extLst>
                    <a:ext uri="{9D8B030D-6E8A-4147-A177-3AD203B41FA5}">
                      <a16:colId xmlns:a16="http://schemas.microsoft.com/office/drawing/2014/main" val="945070242"/>
                    </a:ext>
                  </a:extLst>
                </a:gridCol>
              </a:tblGrid>
              <a:tr h="518458">
                <a:tc>
                  <a:txBody>
                    <a:bodyPr/>
                    <a:lstStyle/>
                    <a:p>
                      <a:r>
                        <a:rPr lang="zh-CN" altLang="en-US" dirty="0">
                          <a:solidFill>
                            <a:srgbClr val="002060"/>
                          </a:solidFill>
                        </a:rPr>
                        <a:t>（</a:t>
                      </a:r>
                      <a:r>
                        <a:rPr lang="en-US" altLang="zh-CN" dirty="0">
                          <a:solidFill>
                            <a:srgbClr val="002060"/>
                          </a:solidFill>
                        </a:rPr>
                        <a:t>1</a:t>
                      </a:r>
                      <a:r>
                        <a:rPr lang="zh-CN" altLang="en-US" dirty="0">
                          <a:solidFill>
                            <a:srgbClr val="002060"/>
                          </a:solidFill>
                        </a:rPr>
                        <a:t>）</a:t>
                      </a:r>
                      <a:endParaRPr lang="en-US" altLang="zh-CN" dirty="0">
                        <a:solidFill>
                          <a:srgbClr val="002060"/>
                        </a:solidFill>
                      </a:endParaRPr>
                    </a:p>
                    <a:p>
                      <a:r>
                        <a:rPr lang="zh-CN" altLang="en-US" dirty="0">
                          <a:solidFill>
                            <a:srgbClr val="002060"/>
                          </a:solidFill>
                        </a:rPr>
                        <a:t>劳动投入量</a:t>
                      </a:r>
                      <a:r>
                        <a:rPr lang="en-US" altLang="zh-CN" dirty="0">
                          <a:solidFill>
                            <a:srgbClr val="002060"/>
                          </a:solidFill>
                        </a:rPr>
                        <a:t>L</a:t>
                      </a:r>
                      <a:r>
                        <a:rPr lang="zh-CN" altLang="en-US" dirty="0">
                          <a:solidFill>
                            <a:srgbClr val="002060"/>
                          </a:solidFill>
                        </a:rPr>
                        <a:t>（人）</a:t>
                      </a:r>
                    </a:p>
                  </a:txBody>
                  <a:tcPr/>
                </a:tc>
                <a:tc>
                  <a:txBody>
                    <a:bodyPr/>
                    <a:lstStyle/>
                    <a:p>
                      <a:r>
                        <a:rPr lang="zh-CN" altLang="en-US" dirty="0">
                          <a:solidFill>
                            <a:srgbClr val="002060"/>
                          </a:solidFill>
                        </a:rPr>
                        <a:t>（</a:t>
                      </a:r>
                      <a:r>
                        <a:rPr lang="en-US" altLang="zh-CN" dirty="0">
                          <a:solidFill>
                            <a:srgbClr val="002060"/>
                          </a:solidFill>
                        </a:rPr>
                        <a:t>2</a:t>
                      </a:r>
                      <a:r>
                        <a:rPr lang="zh-CN" altLang="en-US" dirty="0">
                          <a:solidFill>
                            <a:srgbClr val="002060"/>
                          </a:solidFill>
                        </a:rPr>
                        <a:t>）</a:t>
                      </a:r>
                      <a:endParaRPr lang="en-US" altLang="zh-CN" dirty="0">
                        <a:solidFill>
                          <a:srgbClr val="002060"/>
                        </a:solidFill>
                      </a:endParaRPr>
                    </a:p>
                    <a:p>
                      <a:r>
                        <a:rPr lang="zh-CN" altLang="en-US" dirty="0">
                          <a:solidFill>
                            <a:srgbClr val="002060"/>
                          </a:solidFill>
                        </a:rPr>
                        <a:t>土地投入量</a:t>
                      </a:r>
                      <a:r>
                        <a:rPr lang="en-US" altLang="zh-CN" dirty="0">
                          <a:solidFill>
                            <a:srgbClr val="002060"/>
                          </a:solidFill>
                        </a:rPr>
                        <a:t>N</a:t>
                      </a:r>
                      <a:r>
                        <a:rPr lang="zh-CN" altLang="en-US" dirty="0">
                          <a:solidFill>
                            <a:srgbClr val="002060"/>
                          </a:solidFill>
                        </a:rPr>
                        <a:t>（亩）</a:t>
                      </a:r>
                    </a:p>
                  </a:txBody>
                  <a:tcPr/>
                </a:tc>
                <a:tc>
                  <a:txBody>
                    <a:bodyPr/>
                    <a:lstStyle/>
                    <a:p>
                      <a:r>
                        <a:rPr lang="zh-CN" altLang="en-US" dirty="0">
                          <a:solidFill>
                            <a:srgbClr val="002060"/>
                          </a:solidFill>
                        </a:rPr>
                        <a:t>（</a:t>
                      </a:r>
                      <a:r>
                        <a:rPr lang="en-US" altLang="zh-CN" dirty="0">
                          <a:solidFill>
                            <a:srgbClr val="002060"/>
                          </a:solidFill>
                        </a:rPr>
                        <a:t>3</a:t>
                      </a:r>
                      <a:r>
                        <a:rPr lang="zh-CN" altLang="en-US" dirty="0">
                          <a:solidFill>
                            <a:srgbClr val="002060"/>
                          </a:solidFill>
                        </a:rPr>
                        <a:t>）</a:t>
                      </a:r>
                      <a:endParaRPr lang="en-US" altLang="zh-CN" dirty="0">
                        <a:solidFill>
                          <a:srgbClr val="002060"/>
                        </a:solidFill>
                      </a:endParaRPr>
                    </a:p>
                    <a:p>
                      <a:r>
                        <a:rPr lang="zh-CN" altLang="en-US" dirty="0">
                          <a:solidFill>
                            <a:srgbClr val="002060"/>
                          </a:solidFill>
                        </a:rPr>
                        <a:t>总产量</a:t>
                      </a:r>
                      <a:r>
                        <a:rPr lang="en-US" altLang="zh-CN" dirty="0">
                          <a:solidFill>
                            <a:srgbClr val="002060"/>
                          </a:solidFill>
                        </a:rPr>
                        <a:t>Q</a:t>
                      </a:r>
                      <a:r>
                        <a:rPr lang="zh-CN" altLang="en-US" dirty="0">
                          <a:solidFill>
                            <a:srgbClr val="002060"/>
                          </a:solidFill>
                        </a:rPr>
                        <a:t>（或</a:t>
                      </a:r>
                      <a:r>
                        <a:rPr lang="en-US" altLang="zh-CN" dirty="0">
                          <a:solidFill>
                            <a:srgbClr val="002060"/>
                          </a:solidFill>
                        </a:rPr>
                        <a:t>TP)</a:t>
                      </a:r>
                      <a:r>
                        <a:rPr lang="zh-CN" altLang="en-US" dirty="0">
                          <a:solidFill>
                            <a:srgbClr val="002060"/>
                          </a:solidFill>
                        </a:rPr>
                        <a:t>（千克）</a:t>
                      </a:r>
                    </a:p>
                  </a:txBody>
                  <a:tcPr/>
                </a:tc>
                <a:tc>
                  <a:txBody>
                    <a:bodyPr/>
                    <a:lstStyle/>
                    <a:p>
                      <a:r>
                        <a:rPr lang="zh-CN" altLang="en-US" dirty="0">
                          <a:solidFill>
                            <a:srgbClr val="002060"/>
                          </a:solidFill>
                        </a:rPr>
                        <a:t>（</a:t>
                      </a:r>
                      <a:r>
                        <a:rPr lang="en-US" altLang="zh-CN" dirty="0">
                          <a:solidFill>
                            <a:srgbClr val="002060"/>
                          </a:solidFill>
                        </a:rPr>
                        <a:t>4</a:t>
                      </a:r>
                      <a:r>
                        <a:rPr lang="zh-CN" altLang="en-US" dirty="0">
                          <a:solidFill>
                            <a:srgbClr val="002060"/>
                          </a:solidFill>
                        </a:rPr>
                        <a:t>）</a:t>
                      </a:r>
                      <a:endParaRPr lang="en-US" altLang="zh-CN" dirty="0">
                        <a:solidFill>
                          <a:srgbClr val="002060"/>
                        </a:solidFill>
                      </a:endParaRPr>
                    </a:p>
                    <a:p>
                      <a:r>
                        <a:rPr lang="zh-CN" altLang="en-US" dirty="0">
                          <a:solidFill>
                            <a:srgbClr val="002060"/>
                          </a:solidFill>
                        </a:rPr>
                        <a:t>边际产量</a:t>
                      </a:r>
                      <a:r>
                        <a:rPr lang="en-US" altLang="zh-CN" dirty="0">
                          <a:solidFill>
                            <a:srgbClr val="002060"/>
                          </a:solidFill>
                        </a:rPr>
                        <a:t>MP</a:t>
                      </a:r>
                      <a:r>
                        <a:rPr lang="en-US" altLang="zh-CN" baseline="-25000" dirty="0">
                          <a:solidFill>
                            <a:srgbClr val="002060"/>
                          </a:solidFill>
                        </a:rPr>
                        <a:t>L</a:t>
                      </a:r>
                      <a:r>
                        <a:rPr lang="zh-CN" altLang="en-US" dirty="0">
                          <a:solidFill>
                            <a:srgbClr val="002060"/>
                          </a:solidFill>
                        </a:rPr>
                        <a:t>（千克）</a:t>
                      </a:r>
                    </a:p>
                  </a:txBody>
                  <a:tcPr/>
                </a:tc>
                <a:tc>
                  <a:txBody>
                    <a:bodyPr/>
                    <a:lstStyle/>
                    <a:p>
                      <a:r>
                        <a:rPr lang="zh-CN" altLang="en-US" dirty="0">
                          <a:solidFill>
                            <a:srgbClr val="002060"/>
                          </a:solidFill>
                        </a:rPr>
                        <a:t>（</a:t>
                      </a:r>
                      <a:r>
                        <a:rPr lang="en-US" altLang="zh-CN" dirty="0">
                          <a:solidFill>
                            <a:srgbClr val="002060"/>
                          </a:solidFill>
                        </a:rPr>
                        <a:t>5</a:t>
                      </a:r>
                      <a:r>
                        <a:rPr lang="zh-CN" altLang="en-US" dirty="0">
                          <a:solidFill>
                            <a:srgbClr val="002060"/>
                          </a:solidFill>
                        </a:rPr>
                        <a:t>）</a:t>
                      </a:r>
                      <a:endParaRPr lang="en-US" altLang="zh-CN" dirty="0">
                        <a:solidFill>
                          <a:srgbClr val="002060"/>
                        </a:solidFill>
                      </a:endParaRPr>
                    </a:p>
                    <a:p>
                      <a:r>
                        <a:rPr lang="zh-CN" altLang="en-US" dirty="0">
                          <a:solidFill>
                            <a:srgbClr val="002060"/>
                          </a:solidFill>
                        </a:rPr>
                        <a:t>平均产量</a:t>
                      </a:r>
                      <a:r>
                        <a:rPr lang="en-US" altLang="zh-CN" dirty="0">
                          <a:solidFill>
                            <a:srgbClr val="002060"/>
                          </a:solidFill>
                        </a:rPr>
                        <a:t>AP</a:t>
                      </a:r>
                      <a:r>
                        <a:rPr lang="en-US" altLang="zh-CN" baseline="-25000" dirty="0">
                          <a:solidFill>
                            <a:srgbClr val="002060"/>
                          </a:solidFill>
                        </a:rPr>
                        <a:t>L</a:t>
                      </a:r>
                      <a:r>
                        <a:rPr lang="zh-CN" altLang="en-US" dirty="0">
                          <a:solidFill>
                            <a:srgbClr val="002060"/>
                          </a:solidFill>
                        </a:rPr>
                        <a:t>（千克）</a:t>
                      </a:r>
                    </a:p>
                  </a:txBody>
                  <a:tcPr/>
                </a:tc>
                <a:extLst>
                  <a:ext uri="{0D108BD9-81ED-4DB2-BD59-A6C34878D82A}">
                    <a16:rowId xmlns:a16="http://schemas.microsoft.com/office/drawing/2014/main" val="1562624016"/>
                  </a:ext>
                </a:extLst>
              </a:tr>
              <a:tr h="518458">
                <a:tc>
                  <a:txBody>
                    <a:bodyPr/>
                    <a:lstStyle/>
                    <a:p>
                      <a:r>
                        <a:rPr lang="en-US" altLang="zh-CN" dirty="0">
                          <a:solidFill>
                            <a:srgbClr val="002060"/>
                          </a:solidFill>
                        </a:rPr>
                        <a:t>0</a:t>
                      </a:r>
                      <a:endParaRPr lang="zh-CN" altLang="en-US" dirty="0">
                        <a:solidFill>
                          <a:srgbClr val="002060"/>
                        </a:solidFill>
                      </a:endParaRPr>
                    </a:p>
                  </a:txBody>
                  <a:tcPr/>
                </a:tc>
                <a:tc>
                  <a:txBody>
                    <a:bodyPr/>
                    <a:lstStyle/>
                    <a:p>
                      <a:r>
                        <a:rPr lang="en-US" altLang="zh-CN" dirty="0">
                          <a:solidFill>
                            <a:srgbClr val="002060"/>
                          </a:solidFill>
                        </a:rPr>
                        <a:t>10</a:t>
                      </a:r>
                      <a:endParaRPr lang="zh-CN" altLang="en-US" dirty="0">
                        <a:solidFill>
                          <a:srgbClr val="002060"/>
                        </a:solidFill>
                      </a:endParaRPr>
                    </a:p>
                  </a:txBody>
                  <a:tcPr/>
                </a:tc>
                <a:tc>
                  <a:txBody>
                    <a:bodyPr/>
                    <a:lstStyle/>
                    <a:p>
                      <a:r>
                        <a:rPr lang="en-US" altLang="zh-CN" dirty="0">
                          <a:solidFill>
                            <a:srgbClr val="002060"/>
                          </a:solidFill>
                        </a:rPr>
                        <a:t>0</a:t>
                      </a:r>
                      <a:endParaRPr lang="zh-CN" altLang="en-US" dirty="0">
                        <a:solidFill>
                          <a:srgbClr val="002060"/>
                        </a:solidFill>
                      </a:endParaRPr>
                    </a:p>
                  </a:txBody>
                  <a:tcPr/>
                </a:tc>
                <a:tc>
                  <a:txBody>
                    <a:bodyPr/>
                    <a:lstStyle/>
                    <a:p>
                      <a:r>
                        <a:rPr lang="en-US" altLang="zh-CN" dirty="0">
                          <a:solidFill>
                            <a:srgbClr val="002060"/>
                          </a:solidFill>
                        </a:rPr>
                        <a:t>/</a:t>
                      </a:r>
                      <a:endParaRPr lang="zh-CN" altLang="en-US" dirty="0">
                        <a:solidFill>
                          <a:srgbClr val="002060"/>
                        </a:solidFill>
                      </a:endParaRPr>
                    </a:p>
                  </a:txBody>
                  <a:tcPr/>
                </a:tc>
                <a:tc>
                  <a:txBody>
                    <a:bodyPr/>
                    <a:lstStyle/>
                    <a:p>
                      <a:r>
                        <a:rPr lang="en-US" altLang="zh-CN" dirty="0">
                          <a:solidFill>
                            <a:srgbClr val="002060"/>
                          </a:solidFill>
                        </a:rPr>
                        <a:t>/</a:t>
                      </a:r>
                      <a:endParaRPr lang="zh-CN" altLang="en-US" dirty="0">
                        <a:solidFill>
                          <a:srgbClr val="002060"/>
                        </a:solidFill>
                      </a:endParaRPr>
                    </a:p>
                  </a:txBody>
                  <a:tcPr/>
                </a:tc>
                <a:extLst>
                  <a:ext uri="{0D108BD9-81ED-4DB2-BD59-A6C34878D82A}">
                    <a16:rowId xmlns:a16="http://schemas.microsoft.com/office/drawing/2014/main" val="3601426366"/>
                  </a:ext>
                </a:extLst>
              </a:tr>
              <a:tr h="518458">
                <a:tc>
                  <a:txBody>
                    <a:bodyPr/>
                    <a:lstStyle/>
                    <a:p>
                      <a:r>
                        <a:rPr lang="en-US" altLang="zh-CN" dirty="0">
                          <a:solidFill>
                            <a:srgbClr val="002060"/>
                          </a:solidFill>
                        </a:rPr>
                        <a:t>1</a:t>
                      </a:r>
                      <a:endParaRPr lang="zh-CN" altLang="en-US" dirty="0">
                        <a:solidFill>
                          <a:srgbClr val="002060"/>
                        </a:solidFill>
                      </a:endParaRPr>
                    </a:p>
                  </a:txBody>
                  <a:tcPr/>
                </a:tc>
                <a:tc>
                  <a:txBody>
                    <a:bodyPr/>
                    <a:lstStyle/>
                    <a:p>
                      <a:r>
                        <a:rPr lang="en-US" altLang="zh-CN" dirty="0">
                          <a:solidFill>
                            <a:srgbClr val="002060"/>
                          </a:solidFill>
                        </a:rPr>
                        <a:t>10</a:t>
                      </a:r>
                      <a:endParaRPr lang="zh-CN" altLang="en-US" dirty="0">
                        <a:solidFill>
                          <a:srgbClr val="002060"/>
                        </a:solidFill>
                      </a:endParaRPr>
                    </a:p>
                  </a:txBody>
                  <a:tcPr/>
                </a:tc>
                <a:tc>
                  <a:txBody>
                    <a:bodyPr/>
                    <a:lstStyle/>
                    <a:p>
                      <a:r>
                        <a:rPr lang="en-US" altLang="zh-CN" dirty="0">
                          <a:solidFill>
                            <a:srgbClr val="002060"/>
                          </a:solidFill>
                        </a:rPr>
                        <a:t>1000</a:t>
                      </a:r>
                      <a:endParaRPr lang="zh-CN" altLang="en-US" dirty="0">
                        <a:solidFill>
                          <a:srgbClr val="002060"/>
                        </a:solidFill>
                      </a:endParaRPr>
                    </a:p>
                  </a:txBody>
                  <a:tcPr/>
                </a:tc>
                <a:tc>
                  <a:txBody>
                    <a:bodyPr/>
                    <a:lstStyle/>
                    <a:p>
                      <a:r>
                        <a:rPr lang="en-US" altLang="zh-CN" dirty="0">
                          <a:solidFill>
                            <a:srgbClr val="002060"/>
                          </a:solidFill>
                        </a:rPr>
                        <a:t>1000</a:t>
                      </a:r>
                      <a:endParaRPr lang="zh-CN" altLang="en-US" dirty="0">
                        <a:solidFill>
                          <a:srgbClr val="002060"/>
                        </a:solidFill>
                      </a:endParaRPr>
                    </a:p>
                  </a:txBody>
                  <a:tcPr/>
                </a:tc>
                <a:tc>
                  <a:txBody>
                    <a:bodyPr/>
                    <a:lstStyle/>
                    <a:p>
                      <a:r>
                        <a:rPr lang="en-US" altLang="zh-CN" dirty="0">
                          <a:solidFill>
                            <a:srgbClr val="002060"/>
                          </a:solidFill>
                        </a:rPr>
                        <a:t>1000</a:t>
                      </a:r>
                      <a:endParaRPr lang="zh-CN" altLang="en-US" dirty="0">
                        <a:solidFill>
                          <a:srgbClr val="002060"/>
                        </a:solidFill>
                      </a:endParaRPr>
                    </a:p>
                  </a:txBody>
                  <a:tcPr/>
                </a:tc>
                <a:extLst>
                  <a:ext uri="{0D108BD9-81ED-4DB2-BD59-A6C34878D82A}">
                    <a16:rowId xmlns:a16="http://schemas.microsoft.com/office/drawing/2014/main" val="2074731285"/>
                  </a:ext>
                </a:extLst>
              </a:tr>
              <a:tr h="518458">
                <a:tc>
                  <a:txBody>
                    <a:bodyPr/>
                    <a:lstStyle/>
                    <a:p>
                      <a:r>
                        <a:rPr lang="en-US" altLang="zh-CN" dirty="0">
                          <a:solidFill>
                            <a:srgbClr val="002060"/>
                          </a:solidFill>
                        </a:rPr>
                        <a:t>2</a:t>
                      </a:r>
                      <a:endParaRPr lang="zh-CN" altLang="en-US" dirty="0">
                        <a:solidFill>
                          <a:srgbClr val="002060"/>
                        </a:solidFill>
                      </a:endParaRPr>
                    </a:p>
                  </a:txBody>
                  <a:tcPr/>
                </a:tc>
                <a:tc>
                  <a:txBody>
                    <a:bodyPr/>
                    <a:lstStyle/>
                    <a:p>
                      <a:r>
                        <a:rPr lang="en-US" altLang="zh-CN" dirty="0">
                          <a:solidFill>
                            <a:srgbClr val="002060"/>
                          </a:solidFill>
                        </a:rPr>
                        <a:t>10</a:t>
                      </a:r>
                      <a:endParaRPr lang="zh-CN" altLang="en-US" dirty="0">
                        <a:solidFill>
                          <a:srgbClr val="002060"/>
                        </a:solidFill>
                      </a:endParaRPr>
                    </a:p>
                  </a:txBody>
                  <a:tcPr/>
                </a:tc>
                <a:tc>
                  <a:txBody>
                    <a:bodyPr/>
                    <a:lstStyle/>
                    <a:p>
                      <a:r>
                        <a:rPr lang="en-US" altLang="zh-CN" dirty="0">
                          <a:solidFill>
                            <a:srgbClr val="002060"/>
                          </a:solidFill>
                        </a:rPr>
                        <a:t>2500</a:t>
                      </a:r>
                      <a:endParaRPr lang="zh-CN" altLang="en-US" dirty="0">
                        <a:solidFill>
                          <a:srgbClr val="002060"/>
                        </a:solidFill>
                      </a:endParaRPr>
                    </a:p>
                  </a:txBody>
                  <a:tcPr/>
                </a:tc>
                <a:tc>
                  <a:txBody>
                    <a:bodyPr/>
                    <a:lstStyle/>
                    <a:p>
                      <a:r>
                        <a:rPr lang="en-US" altLang="zh-CN" dirty="0">
                          <a:solidFill>
                            <a:srgbClr val="002060"/>
                          </a:solidFill>
                        </a:rPr>
                        <a:t>1500</a:t>
                      </a:r>
                      <a:endParaRPr lang="zh-CN" altLang="en-US" dirty="0">
                        <a:solidFill>
                          <a:srgbClr val="002060"/>
                        </a:solidFill>
                      </a:endParaRPr>
                    </a:p>
                  </a:txBody>
                  <a:tcPr/>
                </a:tc>
                <a:tc>
                  <a:txBody>
                    <a:bodyPr/>
                    <a:lstStyle/>
                    <a:p>
                      <a:r>
                        <a:rPr lang="en-US" altLang="zh-CN" dirty="0">
                          <a:solidFill>
                            <a:srgbClr val="002060"/>
                          </a:solidFill>
                        </a:rPr>
                        <a:t>1250</a:t>
                      </a:r>
                      <a:endParaRPr lang="zh-CN" altLang="en-US" dirty="0">
                        <a:solidFill>
                          <a:srgbClr val="002060"/>
                        </a:solidFill>
                      </a:endParaRPr>
                    </a:p>
                  </a:txBody>
                  <a:tcPr/>
                </a:tc>
                <a:extLst>
                  <a:ext uri="{0D108BD9-81ED-4DB2-BD59-A6C34878D82A}">
                    <a16:rowId xmlns:a16="http://schemas.microsoft.com/office/drawing/2014/main" val="4256293860"/>
                  </a:ext>
                </a:extLst>
              </a:tr>
              <a:tr h="518458">
                <a:tc>
                  <a:txBody>
                    <a:bodyPr/>
                    <a:lstStyle/>
                    <a:p>
                      <a:r>
                        <a:rPr lang="en-US" altLang="zh-CN" dirty="0">
                          <a:solidFill>
                            <a:srgbClr val="002060"/>
                          </a:solidFill>
                        </a:rPr>
                        <a:t>3</a:t>
                      </a:r>
                      <a:endParaRPr lang="zh-CN" altLang="en-US" dirty="0">
                        <a:solidFill>
                          <a:srgbClr val="002060"/>
                        </a:solidFill>
                      </a:endParaRPr>
                    </a:p>
                  </a:txBody>
                  <a:tcPr/>
                </a:tc>
                <a:tc>
                  <a:txBody>
                    <a:bodyPr/>
                    <a:lstStyle/>
                    <a:p>
                      <a:r>
                        <a:rPr lang="en-US" altLang="zh-CN" dirty="0">
                          <a:solidFill>
                            <a:srgbClr val="002060"/>
                          </a:solidFill>
                        </a:rPr>
                        <a:t>10</a:t>
                      </a:r>
                      <a:endParaRPr lang="zh-CN" altLang="en-US" dirty="0">
                        <a:solidFill>
                          <a:srgbClr val="002060"/>
                        </a:solidFill>
                      </a:endParaRPr>
                    </a:p>
                  </a:txBody>
                  <a:tcPr/>
                </a:tc>
                <a:tc>
                  <a:txBody>
                    <a:bodyPr/>
                    <a:lstStyle/>
                    <a:p>
                      <a:r>
                        <a:rPr lang="en-US" altLang="zh-CN" dirty="0">
                          <a:solidFill>
                            <a:srgbClr val="002060"/>
                          </a:solidFill>
                        </a:rPr>
                        <a:t>3500</a:t>
                      </a:r>
                      <a:endParaRPr lang="zh-CN" altLang="en-US" dirty="0">
                        <a:solidFill>
                          <a:srgbClr val="002060"/>
                        </a:solidFill>
                      </a:endParaRPr>
                    </a:p>
                  </a:txBody>
                  <a:tcPr/>
                </a:tc>
                <a:tc>
                  <a:txBody>
                    <a:bodyPr/>
                    <a:lstStyle/>
                    <a:p>
                      <a:r>
                        <a:rPr lang="en-US" altLang="zh-CN" dirty="0">
                          <a:solidFill>
                            <a:srgbClr val="002060"/>
                          </a:solidFill>
                        </a:rPr>
                        <a:t>1000</a:t>
                      </a:r>
                      <a:endParaRPr lang="zh-CN" altLang="en-US" dirty="0">
                        <a:solidFill>
                          <a:srgbClr val="002060"/>
                        </a:solidFill>
                      </a:endParaRPr>
                    </a:p>
                  </a:txBody>
                  <a:tcPr/>
                </a:tc>
                <a:tc>
                  <a:txBody>
                    <a:bodyPr/>
                    <a:lstStyle/>
                    <a:p>
                      <a:r>
                        <a:rPr lang="en-US" altLang="zh-CN" dirty="0">
                          <a:solidFill>
                            <a:srgbClr val="002060"/>
                          </a:solidFill>
                        </a:rPr>
                        <a:t>1166.7</a:t>
                      </a:r>
                      <a:endParaRPr lang="zh-CN" altLang="en-US" dirty="0">
                        <a:solidFill>
                          <a:srgbClr val="002060"/>
                        </a:solidFill>
                      </a:endParaRPr>
                    </a:p>
                  </a:txBody>
                  <a:tcPr/>
                </a:tc>
                <a:extLst>
                  <a:ext uri="{0D108BD9-81ED-4DB2-BD59-A6C34878D82A}">
                    <a16:rowId xmlns:a16="http://schemas.microsoft.com/office/drawing/2014/main" val="3081806656"/>
                  </a:ext>
                </a:extLst>
              </a:tr>
              <a:tr h="518458">
                <a:tc>
                  <a:txBody>
                    <a:bodyPr/>
                    <a:lstStyle/>
                    <a:p>
                      <a:r>
                        <a:rPr lang="en-US" altLang="zh-CN" dirty="0">
                          <a:solidFill>
                            <a:srgbClr val="002060"/>
                          </a:solidFill>
                        </a:rPr>
                        <a:t>4</a:t>
                      </a:r>
                      <a:endParaRPr lang="zh-CN" altLang="en-US" dirty="0">
                        <a:solidFill>
                          <a:srgbClr val="002060"/>
                        </a:solidFill>
                      </a:endParaRPr>
                    </a:p>
                  </a:txBody>
                  <a:tcPr/>
                </a:tc>
                <a:tc>
                  <a:txBody>
                    <a:bodyPr/>
                    <a:lstStyle/>
                    <a:p>
                      <a:r>
                        <a:rPr lang="en-US" altLang="zh-CN" dirty="0">
                          <a:solidFill>
                            <a:srgbClr val="002060"/>
                          </a:solidFill>
                        </a:rPr>
                        <a:t>10</a:t>
                      </a:r>
                      <a:endParaRPr lang="zh-CN" altLang="en-US" dirty="0">
                        <a:solidFill>
                          <a:srgbClr val="002060"/>
                        </a:solidFill>
                      </a:endParaRPr>
                    </a:p>
                  </a:txBody>
                  <a:tcPr/>
                </a:tc>
                <a:tc>
                  <a:txBody>
                    <a:bodyPr/>
                    <a:lstStyle/>
                    <a:p>
                      <a:r>
                        <a:rPr lang="en-US" altLang="zh-CN" dirty="0">
                          <a:solidFill>
                            <a:srgbClr val="002060"/>
                          </a:solidFill>
                        </a:rPr>
                        <a:t>4300</a:t>
                      </a:r>
                      <a:endParaRPr lang="zh-CN" altLang="en-US" dirty="0">
                        <a:solidFill>
                          <a:srgbClr val="002060"/>
                        </a:solidFill>
                      </a:endParaRPr>
                    </a:p>
                  </a:txBody>
                  <a:tcPr/>
                </a:tc>
                <a:tc>
                  <a:txBody>
                    <a:bodyPr/>
                    <a:lstStyle/>
                    <a:p>
                      <a:r>
                        <a:rPr lang="en-US" altLang="zh-CN" dirty="0">
                          <a:solidFill>
                            <a:srgbClr val="002060"/>
                          </a:solidFill>
                        </a:rPr>
                        <a:t>800</a:t>
                      </a:r>
                      <a:endParaRPr lang="zh-CN" altLang="en-US" dirty="0">
                        <a:solidFill>
                          <a:srgbClr val="002060"/>
                        </a:solidFill>
                      </a:endParaRPr>
                    </a:p>
                  </a:txBody>
                  <a:tcPr/>
                </a:tc>
                <a:tc>
                  <a:txBody>
                    <a:bodyPr/>
                    <a:lstStyle/>
                    <a:p>
                      <a:r>
                        <a:rPr lang="en-US" altLang="zh-CN" dirty="0">
                          <a:solidFill>
                            <a:srgbClr val="002060"/>
                          </a:solidFill>
                        </a:rPr>
                        <a:t>1075</a:t>
                      </a:r>
                      <a:endParaRPr lang="zh-CN" altLang="en-US" dirty="0">
                        <a:solidFill>
                          <a:srgbClr val="002060"/>
                        </a:solidFill>
                      </a:endParaRPr>
                    </a:p>
                  </a:txBody>
                  <a:tcPr/>
                </a:tc>
                <a:extLst>
                  <a:ext uri="{0D108BD9-81ED-4DB2-BD59-A6C34878D82A}">
                    <a16:rowId xmlns:a16="http://schemas.microsoft.com/office/drawing/2014/main" val="3780275300"/>
                  </a:ext>
                </a:extLst>
              </a:tr>
              <a:tr h="518458">
                <a:tc>
                  <a:txBody>
                    <a:bodyPr/>
                    <a:lstStyle/>
                    <a:p>
                      <a:r>
                        <a:rPr lang="en-US" altLang="zh-CN" dirty="0">
                          <a:solidFill>
                            <a:srgbClr val="002060"/>
                          </a:solidFill>
                        </a:rPr>
                        <a:t>5</a:t>
                      </a:r>
                      <a:endParaRPr lang="zh-CN" altLang="en-US" dirty="0">
                        <a:solidFill>
                          <a:srgbClr val="002060"/>
                        </a:solidFill>
                      </a:endParaRPr>
                    </a:p>
                  </a:txBody>
                  <a:tcPr/>
                </a:tc>
                <a:tc>
                  <a:txBody>
                    <a:bodyPr/>
                    <a:lstStyle/>
                    <a:p>
                      <a:r>
                        <a:rPr lang="en-US" altLang="zh-CN" dirty="0">
                          <a:solidFill>
                            <a:srgbClr val="002060"/>
                          </a:solidFill>
                        </a:rPr>
                        <a:t>10</a:t>
                      </a:r>
                      <a:endParaRPr lang="zh-CN" altLang="en-US" dirty="0">
                        <a:solidFill>
                          <a:srgbClr val="00206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solidFill>
                            <a:srgbClr val="002060"/>
                          </a:solidFill>
                        </a:rPr>
                        <a:t>4700</a:t>
                      </a:r>
                      <a:endParaRPr lang="zh-CN" altLang="en-US" dirty="0">
                        <a:solidFill>
                          <a:srgbClr val="002060"/>
                        </a:solidFill>
                      </a:endParaRPr>
                    </a:p>
                  </a:txBody>
                  <a:tcPr/>
                </a:tc>
                <a:tc>
                  <a:txBody>
                    <a:bodyPr/>
                    <a:lstStyle/>
                    <a:p>
                      <a:r>
                        <a:rPr lang="en-US" altLang="zh-CN" dirty="0">
                          <a:solidFill>
                            <a:srgbClr val="002060"/>
                          </a:solidFill>
                        </a:rPr>
                        <a:t>400</a:t>
                      </a:r>
                      <a:endParaRPr lang="zh-CN" altLang="en-US" dirty="0">
                        <a:solidFill>
                          <a:srgbClr val="002060"/>
                        </a:solidFill>
                      </a:endParaRPr>
                    </a:p>
                  </a:txBody>
                  <a:tcPr/>
                </a:tc>
                <a:tc>
                  <a:txBody>
                    <a:bodyPr/>
                    <a:lstStyle/>
                    <a:p>
                      <a:r>
                        <a:rPr lang="en-US" altLang="zh-CN" dirty="0">
                          <a:solidFill>
                            <a:srgbClr val="002060"/>
                          </a:solidFill>
                        </a:rPr>
                        <a:t>940</a:t>
                      </a:r>
                      <a:endParaRPr lang="zh-CN" altLang="en-US" dirty="0">
                        <a:solidFill>
                          <a:srgbClr val="002060"/>
                        </a:solidFill>
                      </a:endParaRPr>
                    </a:p>
                  </a:txBody>
                  <a:tcPr/>
                </a:tc>
                <a:extLst>
                  <a:ext uri="{0D108BD9-81ED-4DB2-BD59-A6C34878D82A}">
                    <a16:rowId xmlns:a16="http://schemas.microsoft.com/office/drawing/2014/main" val="63282623"/>
                  </a:ext>
                </a:extLst>
              </a:tr>
              <a:tr h="518458">
                <a:tc>
                  <a:txBody>
                    <a:bodyPr/>
                    <a:lstStyle/>
                    <a:p>
                      <a:r>
                        <a:rPr lang="en-US" altLang="zh-CN" dirty="0">
                          <a:solidFill>
                            <a:srgbClr val="002060"/>
                          </a:solidFill>
                        </a:rPr>
                        <a:t>6</a:t>
                      </a:r>
                      <a:endParaRPr lang="zh-CN" altLang="en-US" dirty="0">
                        <a:solidFill>
                          <a:srgbClr val="002060"/>
                        </a:solidFill>
                      </a:endParaRPr>
                    </a:p>
                  </a:txBody>
                  <a:tcPr/>
                </a:tc>
                <a:tc>
                  <a:txBody>
                    <a:bodyPr/>
                    <a:lstStyle/>
                    <a:p>
                      <a:r>
                        <a:rPr lang="en-US" altLang="zh-CN" dirty="0">
                          <a:solidFill>
                            <a:srgbClr val="002060"/>
                          </a:solidFill>
                        </a:rPr>
                        <a:t>10</a:t>
                      </a:r>
                      <a:endParaRPr lang="zh-CN" altLang="en-US" dirty="0">
                        <a:solidFill>
                          <a:srgbClr val="002060"/>
                        </a:solidFill>
                      </a:endParaRPr>
                    </a:p>
                  </a:txBody>
                  <a:tcPr/>
                </a:tc>
                <a:tc>
                  <a:txBody>
                    <a:bodyPr/>
                    <a:lstStyle/>
                    <a:p>
                      <a:r>
                        <a:rPr lang="en-US" altLang="zh-CN" dirty="0">
                          <a:solidFill>
                            <a:srgbClr val="002060"/>
                          </a:solidFill>
                        </a:rPr>
                        <a:t>4800</a:t>
                      </a:r>
                      <a:endParaRPr lang="zh-CN" altLang="en-US" dirty="0">
                        <a:solidFill>
                          <a:srgbClr val="002060"/>
                        </a:solidFill>
                      </a:endParaRPr>
                    </a:p>
                  </a:txBody>
                  <a:tcPr/>
                </a:tc>
                <a:tc>
                  <a:txBody>
                    <a:bodyPr/>
                    <a:lstStyle/>
                    <a:p>
                      <a:r>
                        <a:rPr lang="en-US" altLang="zh-CN" dirty="0">
                          <a:solidFill>
                            <a:srgbClr val="002060"/>
                          </a:solidFill>
                        </a:rPr>
                        <a:t>100</a:t>
                      </a:r>
                      <a:endParaRPr lang="zh-CN" altLang="en-US" dirty="0">
                        <a:solidFill>
                          <a:srgbClr val="002060"/>
                        </a:solidFill>
                      </a:endParaRPr>
                    </a:p>
                  </a:txBody>
                  <a:tcPr/>
                </a:tc>
                <a:tc>
                  <a:txBody>
                    <a:bodyPr/>
                    <a:lstStyle/>
                    <a:p>
                      <a:r>
                        <a:rPr lang="en-US" altLang="zh-CN" dirty="0">
                          <a:solidFill>
                            <a:srgbClr val="002060"/>
                          </a:solidFill>
                        </a:rPr>
                        <a:t>800</a:t>
                      </a:r>
                      <a:endParaRPr lang="zh-CN" altLang="en-US" dirty="0">
                        <a:solidFill>
                          <a:srgbClr val="002060"/>
                        </a:solidFill>
                      </a:endParaRPr>
                    </a:p>
                  </a:txBody>
                  <a:tcPr/>
                </a:tc>
                <a:extLst>
                  <a:ext uri="{0D108BD9-81ED-4DB2-BD59-A6C34878D82A}">
                    <a16:rowId xmlns:a16="http://schemas.microsoft.com/office/drawing/2014/main" val="3092931948"/>
                  </a:ext>
                </a:extLst>
              </a:tr>
              <a:tr h="518458">
                <a:tc>
                  <a:txBody>
                    <a:bodyPr/>
                    <a:lstStyle/>
                    <a:p>
                      <a:r>
                        <a:rPr lang="en-US" altLang="zh-CN" dirty="0">
                          <a:solidFill>
                            <a:srgbClr val="002060"/>
                          </a:solidFill>
                        </a:rPr>
                        <a:t>7</a:t>
                      </a:r>
                      <a:endParaRPr lang="zh-CN" altLang="en-US" dirty="0">
                        <a:solidFill>
                          <a:srgbClr val="002060"/>
                        </a:solidFill>
                      </a:endParaRPr>
                    </a:p>
                  </a:txBody>
                  <a:tcPr/>
                </a:tc>
                <a:tc>
                  <a:txBody>
                    <a:bodyPr/>
                    <a:lstStyle/>
                    <a:p>
                      <a:r>
                        <a:rPr lang="en-US" altLang="zh-CN" dirty="0">
                          <a:solidFill>
                            <a:srgbClr val="002060"/>
                          </a:solidFill>
                        </a:rPr>
                        <a:t>10</a:t>
                      </a:r>
                      <a:endParaRPr lang="zh-CN" altLang="en-US" dirty="0">
                        <a:solidFill>
                          <a:srgbClr val="002060"/>
                        </a:solidFill>
                      </a:endParaRPr>
                    </a:p>
                  </a:txBody>
                  <a:tcPr/>
                </a:tc>
                <a:tc>
                  <a:txBody>
                    <a:bodyPr/>
                    <a:lstStyle/>
                    <a:p>
                      <a:r>
                        <a:rPr lang="en-US" altLang="zh-CN" dirty="0">
                          <a:solidFill>
                            <a:srgbClr val="002060"/>
                          </a:solidFill>
                        </a:rPr>
                        <a:t>4800</a:t>
                      </a:r>
                      <a:endParaRPr lang="zh-CN" altLang="en-US" dirty="0">
                        <a:solidFill>
                          <a:srgbClr val="002060"/>
                        </a:solidFill>
                      </a:endParaRPr>
                    </a:p>
                  </a:txBody>
                  <a:tcPr/>
                </a:tc>
                <a:tc>
                  <a:txBody>
                    <a:bodyPr/>
                    <a:lstStyle/>
                    <a:p>
                      <a:r>
                        <a:rPr lang="en-US" altLang="zh-CN" dirty="0">
                          <a:solidFill>
                            <a:srgbClr val="002060"/>
                          </a:solidFill>
                        </a:rPr>
                        <a:t>0</a:t>
                      </a:r>
                      <a:endParaRPr lang="zh-CN" altLang="en-US" dirty="0">
                        <a:solidFill>
                          <a:srgbClr val="002060"/>
                        </a:solidFill>
                      </a:endParaRPr>
                    </a:p>
                  </a:txBody>
                  <a:tcPr/>
                </a:tc>
                <a:tc>
                  <a:txBody>
                    <a:bodyPr/>
                    <a:lstStyle/>
                    <a:p>
                      <a:r>
                        <a:rPr lang="en-US" altLang="zh-CN" dirty="0">
                          <a:solidFill>
                            <a:srgbClr val="002060"/>
                          </a:solidFill>
                        </a:rPr>
                        <a:t>685.7</a:t>
                      </a:r>
                      <a:endParaRPr lang="zh-CN" altLang="en-US" dirty="0">
                        <a:solidFill>
                          <a:srgbClr val="002060"/>
                        </a:solidFill>
                      </a:endParaRPr>
                    </a:p>
                  </a:txBody>
                  <a:tcPr/>
                </a:tc>
                <a:extLst>
                  <a:ext uri="{0D108BD9-81ED-4DB2-BD59-A6C34878D82A}">
                    <a16:rowId xmlns:a16="http://schemas.microsoft.com/office/drawing/2014/main" val="1684112863"/>
                  </a:ext>
                </a:extLst>
              </a:tr>
              <a:tr h="518458">
                <a:tc>
                  <a:txBody>
                    <a:bodyPr/>
                    <a:lstStyle/>
                    <a:p>
                      <a:r>
                        <a:rPr lang="en-US" altLang="zh-CN" dirty="0">
                          <a:solidFill>
                            <a:srgbClr val="002060"/>
                          </a:solidFill>
                        </a:rPr>
                        <a:t>8</a:t>
                      </a:r>
                      <a:endParaRPr lang="zh-CN" altLang="en-US" dirty="0">
                        <a:solidFill>
                          <a:srgbClr val="002060"/>
                        </a:solidFill>
                      </a:endParaRPr>
                    </a:p>
                  </a:txBody>
                  <a:tcPr/>
                </a:tc>
                <a:tc>
                  <a:txBody>
                    <a:bodyPr/>
                    <a:lstStyle/>
                    <a:p>
                      <a:r>
                        <a:rPr lang="en-US" altLang="zh-CN" dirty="0">
                          <a:solidFill>
                            <a:srgbClr val="002060"/>
                          </a:solidFill>
                        </a:rPr>
                        <a:t>10</a:t>
                      </a:r>
                      <a:endParaRPr lang="zh-CN" altLang="en-US" dirty="0">
                        <a:solidFill>
                          <a:srgbClr val="002060"/>
                        </a:solidFill>
                      </a:endParaRPr>
                    </a:p>
                  </a:txBody>
                  <a:tcPr/>
                </a:tc>
                <a:tc>
                  <a:txBody>
                    <a:bodyPr/>
                    <a:lstStyle/>
                    <a:p>
                      <a:r>
                        <a:rPr lang="en-US" altLang="zh-CN" dirty="0">
                          <a:solidFill>
                            <a:srgbClr val="002060"/>
                          </a:solidFill>
                        </a:rPr>
                        <a:t>4700</a:t>
                      </a:r>
                      <a:endParaRPr lang="zh-CN" altLang="en-US" dirty="0">
                        <a:solidFill>
                          <a:srgbClr val="002060"/>
                        </a:solidFill>
                      </a:endParaRPr>
                    </a:p>
                  </a:txBody>
                  <a:tcPr/>
                </a:tc>
                <a:tc>
                  <a:txBody>
                    <a:bodyPr/>
                    <a:lstStyle/>
                    <a:p>
                      <a:r>
                        <a:rPr lang="en-US" altLang="zh-CN" dirty="0">
                          <a:solidFill>
                            <a:srgbClr val="002060"/>
                          </a:solidFill>
                        </a:rPr>
                        <a:t>-100</a:t>
                      </a:r>
                      <a:endParaRPr lang="zh-CN" altLang="en-US" dirty="0">
                        <a:solidFill>
                          <a:srgbClr val="002060"/>
                        </a:solidFill>
                      </a:endParaRPr>
                    </a:p>
                  </a:txBody>
                  <a:tcPr/>
                </a:tc>
                <a:tc>
                  <a:txBody>
                    <a:bodyPr/>
                    <a:lstStyle/>
                    <a:p>
                      <a:r>
                        <a:rPr lang="en-US" altLang="zh-CN" dirty="0">
                          <a:solidFill>
                            <a:srgbClr val="002060"/>
                          </a:solidFill>
                        </a:rPr>
                        <a:t>587.5</a:t>
                      </a:r>
                      <a:endParaRPr lang="zh-CN" altLang="en-US" dirty="0">
                        <a:solidFill>
                          <a:srgbClr val="002060"/>
                        </a:solidFill>
                      </a:endParaRPr>
                    </a:p>
                  </a:txBody>
                  <a:tcPr/>
                </a:tc>
                <a:extLst>
                  <a:ext uri="{0D108BD9-81ED-4DB2-BD59-A6C34878D82A}">
                    <a16:rowId xmlns:a16="http://schemas.microsoft.com/office/drawing/2014/main" val="3693077272"/>
                  </a:ext>
                </a:extLst>
              </a:tr>
            </a:tbl>
          </a:graphicData>
        </a:graphic>
      </p:graphicFrame>
      <p:cxnSp>
        <p:nvCxnSpPr>
          <p:cNvPr id="6" name="直接箭头连接符 5">
            <a:extLst>
              <a:ext uri="{FF2B5EF4-FFF2-40B4-BE49-F238E27FC236}">
                <a16:creationId xmlns:a16="http://schemas.microsoft.com/office/drawing/2014/main" id="{0CBEF9E6-1263-461E-94AD-E602F56D7D5D}"/>
              </a:ext>
            </a:extLst>
          </p:cNvPr>
          <p:cNvCxnSpPr>
            <a:cxnSpLocks/>
          </p:cNvCxnSpPr>
          <p:nvPr/>
        </p:nvCxnSpPr>
        <p:spPr bwMode="auto">
          <a:xfrm>
            <a:off x="6732240" y="2708920"/>
            <a:ext cx="0" cy="2592288"/>
          </a:xfrm>
          <a:prstGeom prst="straightConnector1">
            <a:avLst/>
          </a:prstGeom>
          <a:solidFill>
            <a:schemeClr val="accent1"/>
          </a:solidFill>
          <a:ln w="9525" cap="flat" cmpd="sng" algn="ctr">
            <a:solidFill>
              <a:srgbClr val="C0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551321222"/>
      </p:ext>
    </p:extLst>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圆角 11">
            <a:extLst>
              <a:ext uri="{FF2B5EF4-FFF2-40B4-BE49-F238E27FC236}">
                <a16:creationId xmlns:a16="http://schemas.microsoft.com/office/drawing/2014/main" id="{BFDEA417-E51A-422B-9C1D-A7FE8C6C11F1}"/>
              </a:ext>
            </a:extLst>
          </p:cNvPr>
          <p:cNvSpPr/>
          <p:nvPr/>
        </p:nvSpPr>
        <p:spPr>
          <a:xfrm>
            <a:off x="958483" y="3193453"/>
            <a:ext cx="2448272"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9B8EEB8C-FF6A-4316-A09A-34D44FA0ED2C}"/>
              </a:ext>
            </a:extLst>
          </p:cNvPr>
          <p:cNvSpPr/>
          <p:nvPr/>
        </p:nvSpPr>
        <p:spPr>
          <a:xfrm>
            <a:off x="958483" y="1556792"/>
            <a:ext cx="5853898" cy="1075647"/>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FF6AADA3-EEDD-44D5-BDAE-43F32CA25EC0}"/>
              </a:ext>
            </a:extLst>
          </p:cNvPr>
          <p:cNvSpPr/>
          <p:nvPr/>
        </p:nvSpPr>
        <p:spPr>
          <a:xfrm>
            <a:off x="6732240" y="35332"/>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第三节 短期生产函数</a:t>
            </a:r>
          </a:p>
        </p:txBody>
      </p:sp>
      <p:sp>
        <p:nvSpPr>
          <p:cNvPr id="3" name="矩形 2">
            <a:extLst>
              <a:ext uri="{FF2B5EF4-FFF2-40B4-BE49-F238E27FC236}">
                <a16:creationId xmlns:a16="http://schemas.microsoft.com/office/drawing/2014/main" id="{2994B132-93DF-4FD3-9857-B8F217B4A293}"/>
              </a:ext>
            </a:extLst>
          </p:cNvPr>
          <p:cNvSpPr/>
          <p:nvPr/>
        </p:nvSpPr>
        <p:spPr>
          <a:xfrm>
            <a:off x="580923" y="591071"/>
            <a:ext cx="355903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二、边际报酬递减规律</a:t>
            </a:r>
          </a:p>
        </p:txBody>
      </p:sp>
      <p:sp>
        <p:nvSpPr>
          <p:cNvPr id="4" name="矩形 3">
            <a:extLst>
              <a:ext uri="{FF2B5EF4-FFF2-40B4-BE49-F238E27FC236}">
                <a16:creationId xmlns:a16="http://schemas.microsoft.com/office/drawing/2014/main" id="{55497D8B-2000-4CC3-A0F3-D164CC86583B}"/>
              </a:ext>
            </a:extLst>
          </p:cNvPr>
          <p:cNvSpPr/>
          <p:nvPr/>
        </p:nvSpPr>
        <p:spPr>
          <a:xfrm>
            <a:off x="971600" y="1616776"/>
            <a:ext cx="5832648" cy="1015663"/>
          </a:xfrm>
          <a:prstGeom prst="rect">
            <a:avLst/>
          </a:prstGeom>
        </p:spPr>
        <p:txBody>
          <a:bodyPr wrap="square">
            <a:spAutoFit/>
          </a:bodyPr>
          <a:lstStyle/>
          <a:p>
            <a:pPr marL="342900" indent="-34290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边际报酬递减规律是指，技术给定时，在其他条件保持不变的条件下，一种可变投入在增加到一定程度之后，所带来的边际产量递减。</a:t>
            </a:r>
          </a:p>
        </p:txBody>
      </p:sp>
      <p:sp>
        <p:nvSpPr>
          <p:cNvPr id="5" name="矩形 4">
            <a:extLst>
              <a:ext uri="{FF2B5EF4-FFF2-40B4-BE49-F238E27FC236}">
                <a16:creationId xmlns:a16="http://schemas.microsoft.com/office/drawing/2014/main" id="{0CB3A04F-683C-4ED9-A796-58438A59B595}"/>
              </a:ext>
            </a:extLst>
          </p:cNvPr>
          <p:cNvSpPr/>
          <p:nvPr/>
        </p:nvSpPr>
        <p:spPr>
          <a:xfrm>
            <a:off x="994995" y="3244914"/>
            <a:ext cx="2326278" cy="400110"/>
          </a:xfrm>
          <a:prstGeom prst="rect">
            <a:avLst/>
          </a:prstGeom>
        </p:spPr>
        <p:txBody>
          <a:bodyPr wrap="none">
            <a:spAutoFit/>
          </a:bodyPr>
          <a:lstStyle/>
          <a:p>
            <a:pPr marL="342900" indent="-34290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规律成立的前提</a:t>
            </a:r>
          </a:p>
        </p:txBody>
      </p:sp>
      <p:sp>
        <p:nvSpPr>
          <p:cNvPr id="6" name="矩形 5">
            <a:extLst>
              <a:ext uri="{FF2B5EF4-FFF2-40B4-BE49-F238E27FC236}">
                <a16:creationId xmlns:a16="http://schemas.microsoft.com/office/drawing/2014/main" id="{27FF945A-DDD0-47C1-B359-A44F5774734C}"/>
              </a:ext>
            </a:extLst>
          </p:cNvPr>
          <p:cNvSpPr/>
          <p:nvPr/>
        </p:nvSpPr>
        <p:spPr>
          <a:xfrm>
            <a:off x="1427043" y="3861048"/>
            <a:ext cx="2808312" cy="646331"/>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技术保持不变。</a:t>
            </a: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937925C7-85F0-49A2-8AE4-11EF9ACBD080}"/>
              </a:ext>
            </a:extLst>
          </p:cNvPr>
          <p:cNvSpPr/>
          <p:nvPr/>
        </p:nvSpPr>
        <p:spPr>
          <a:xfrm>
            <a:off x="1427043" y="4397418"/>
            <a:ext cx="3491880" cy="646331"/>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其他要素投入数量保持不变。</a:t>
            </a:r>
            <a:endParaRPr lang="en-US" altLang="zh-CN" dirty="0">
              <a:latin typeface="微软雅黑" panose="020B0503020204020204" pitchFamily="34" charset="-122"/>
              <a:ea typeface="微软雅黑" panose="020B0503020204020204" pitchFamily="34" charset="-122"/>
            </a:endParaRPr>
          </a:p>
          <a:p>
            <a:endParaRPr lang="zh-CN" altLang="en-US"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5C863422-5584-4518-966D-BA610DE13680}"/>
              </a:ext>
            </a:extLst>
          </p:cNvPr>
          <p:cNvSpPr/>
          <p:nvPr/>
        </p:nvSpPr>
        <p:spPr>
          <a:xfrm>
            <a:off x="1427043" y="4942909"/>
            <a:ext cx="3384376" cy="1200329"/>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由于存在固定的不变要素投入，可变要素的边际产量并非一开始就递减，可变要素投入增加到一定程度之后。</a:t>
            </a:r>
          </a:p>
        </p:txBody>
      </p:sp>
      <p:pic>
        <p:nvPicPr>
          <p:cNvPr id="10" name="图片 9">
            <a:extLst>
              <a:ext uri="{FF2B5EF4-FFF2-40B4-BE49-F238E27FC236}">
                <a16:creationId xmlns:a16="http://schemas.microsoft.com/office/drawing/2014/main" id="{3375878B-7B86-481E-8BA0-A2C839F822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8224" y="2773910"/>
            <a:ext cx="2225592" cy="2225592"/>
          </a:xfrm>
          <a:prstGeom prst="rect">
            <a:avLst/>
          </a:prstGeom>
        </p:spPr>
      </p:pic>
    </p:spTree>
    <p:extLst>
      <p:ext uri="{BB962C8B-B14F-4D97-AF65-F5344CB8AC3E}">
        <p14:creationId xmlns:p14="http://schemas.microsoft.com/office/powerpoint/2010/main" val="139941737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animEffect transition="in" filter="fade">
                                      <p:cBhvr>
                                        <p:cTn id="21" dur="500"/>
                                        <p:tgtEl>
                                          <p:spTgt spid="11"/>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p:cTn id="31" dur="500" fill="hold"/>
                                        <p:tgtEl>
                                          <p:spTgt spid="12"/>
                                        </p:tgtEl>
                                        <p:attrNameLst>
                                          <p:attrName>ppt_w</p:attrName>
                                        </p:attrNameLst>
                                      </p:cBhvr>
                                      <p:tavLst>
                                        <p:tav tm="0">
                                          <p:val>
                                            <p:fltVal val="0"/>
                                          </p:val>
                                        </p:tav>
                                        <p:tav tm="100000">
                                          <p:val>
                                            <p:strVal val="#ppt_w"/>
                                          </p:val>
                                        </p:tav>
                                      </p:tavLst>
                                    </p:anim>
                                    <p:anim calcmode="lin" valueType="num">
                                      <p:cBhvr>
                                        <p:cTn id="32" dur="500" fill="hold"/>
                                        <p:tgtEl>
                                          <p:spTgt spid="12"/>
                                        </p:tgtEl>
                                        <p:attrNameLst>
                                          <p:attrName>ppt_h</p:attrName>
                                        </p:attrNameLst>
                                      </p:cBhvr>
                                      <p:tavLst>
                                        <p:tav tm="0">
                                          <p:val>
                                            <p:fltVal val="0"/>
                                          </p:val>
                                        </p:tav>
                                        <p:tav tm="100000">
                                          <p:val>
                                            <p:strVal val="#ppt_h"/>
                                          </p:val>
                                        </p:tav>
                                      </p:tavLst>
                                    </p:anim>
                                    <p:animEffect transition="in" filter="fade">
                                      <p:cBhvr>
                                        <p:cTn id="33" dur="500"/>
                                        <p:tgtEl>
                                          <p:spTgt spid="12"/>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5"/>
                                        </p:tgtEl>
                                        <p:attrNameLst>
                                          <p:attrName>style.visibility</p:attrName>
                                        </p:attrNameLst>
                                      </p:cBhvr>
                                      <p:to>
                                        <p:strVal val="visible"/>
                                      </p:to>
                                    </p:set>
                                    <p:anim calcmode="lin" valueType="num">
                                      <p:cBhvr>
                                        <p:cTn id="36" dur="500" fill="hold"/>
                                        <p:tgtEl>
                                          <p:spTgt spid="5"/>
                                        </p:tgtEl>
                                        <p:attrNameLst>
                                          <p:attrName>ppt_w</p:attrName>
                                        </p:attrNameLst>
                                      </p:cBhvr>
                                      <p:tavLst>
                                        <p:tav tm="0">
                                          <p:val>
                                            <p:fltVal val="0"/>
                                          </p:val>
                                        </p:tav>
                                        <p:tav tm="100000">
                                          <p:val>
                                            <p:strVal val="#ppt_w"/>
                                          </p:val>
                                        </p:tav>
                                      </p:tavLst>
                                    </p:anim>
                                    <p:anim calcmode="lin" valueType="num">
                                      <p:cBhvr>
                                        <p:cTn id="37" dur="500" fill="hold"/>
                                        <p:tgtEl>
                                          <p:spTgt spid="5"/>
                                        </p:tgtEl>
                                        <p:attrNameLst>
                                          <p:attrName>ppt_h</p:attrName>
                                        </p:attrNameLst>
                                      </p:cBhvr>
                                      <p:tavLst>
                                        <p:tav tm="0">
                                          <p:val>
                                            <p:fltVal val="0"/>
                                          </p:val>
                                        </p:tav>
                                        <p:tav tm="100000">
                                          <p:val>
                                            <p:strVal val="#ppt_h"/>
                                          </p:val>
                                        </p:tav>
                                      </p:tavLst>
                                    </p:anim>
                                    <p:animEffect transition="in" filter="fade">
                                      <p:cBhvr>
                                        <p:cTn id="38" dur="500"/>
                                        <p:tgtEl>
                                          <p:spTgt spid="5"/>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p:cTn id="43" dur="500" fill="hold"/>
                                        <p:tgtEl>
                                          <p:spTgt spid="6"/>
                                        </p:tgtEl>
                                        <p:attrNameLst>
                                          <p:attrName>ppt_w</p:attrName>
                                        </p:attrNameLst>
                                      </p:cBhvr>
                                      <p:tavLst>
                                        <p:tav tm="0">
                                          <p:val>
                                            <p:fltVal val="0"/>
                                          </p:val>
                                        </p:tav>
                                        <p:tav tm="100000">
                                          <p:val>
                                            <p:strVal val="#ppt_w"/>
                                          </p:val>
                                        </p:tav>
                                      </p:tavLst>
                                    </p:anim>
                                    <p:anim calcmode="lin" valueType="num">
                                      <p:cBhvr>
                                        <p:cTn id="44" dur="500" fill="hold"/>
                                        <p:tgtEl>
                                          <p:spTgt spid="6"/>
                                        </p:tgtEl>
                                        <p:attrNameLst>
                                          <p:attrName>ppt_h</p:attrName>
                                        </p:attrNameLst>
                                      </p:cBhvr>
                                      <p:tavLst>
                                        <p:tav tm="0">
                                          <p:val>
                                            <p:fltVal val="0"/>
                                          </p:val>
                                        </p:tav>
                                        <p:tav tm="100000">
                                          <p:val>
                                            <p:strVal val="#ppt_h"/>
                                          </p:val>
                                        </p:tav>
                                      </p:tavLst>
                                    </p:anim>
                                    <p:animEffect transition="in" filter="fade">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53" presetClass="entr" presetSubtype="16"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 calcmode="lin" valueType="num">
                                      <p:cBhvr>
                                        <p:cTn id="50" dur="500" fill="hold"/>
                                        <p:tgtEl>
                                          <p:spTgt spid="7"/>
                                        </p:tgtEl>
                                        <p:attrNameLst>
                                          <p:attrName>ppt_w</p:attrName>
                                        </p:attrNameLst>
                                      </p:cBhvr>
                                      <p:tavLst>
                                        <p:tav tm="0">
                                          <p:val>
                                            <p:fltVal val="0"/>
                                          </p:val>
                                        </p:tav>
                                        <p:tav tm="100000">
                                          <p:val>
                                            <p:strVal val="#ppt_w"/>
                                          </p:val>
                                        </p:tav>
                                      </p:tavLst>
                                    </p:anim>
                                    <p:anim calcmode="lin" valueType="num">
                                      <p:cBhvr>
                                        <p:cTn id="51" dur="500" fill="hold"/>
                                        <p:tgtEl>
                                          <p:spTgt spid="7"/>
                                        </p:tgtEl>
                                        <p:attrNameLst>
                                          <p:attrName>ppt_h</p:attrName>
                                        </p:attrNameLst>
                                      </p:cBhvr>
                                      <p:tavLst>
                                        <p:tav tm="0">
                                          <p:val>
                                            <p:fltVal val="0"/>
                                          </p:val>
                                        </p:tav>
                                        <p:tav tm="100000">
                                          <p:val>
                                            <p:strVal val="#ppt_h"/>
                                          </p:val>
                                        </p:tav>
                                      </p:tavLst>
                                    </p:anim>
                                    <p:animEffect transition="in" filter="fade">
                                      <p:cBhvr>
                                        <p:cTn id="52" dur="500"/>
                                        <p:tgtEl>
                                          <p:spTgt spid="7"/>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8"/>
                                        </p:tgtEl>
                                        <p:attrNameLst>
                                          <p:attrName>style.visibility</p:attrName>
                                        </p:attrNameLst>
                                      </p:cBhvr>
                                      <p:to>
                                        <p:strVal val="visible"/>
                                      </p:to>
                                    </p:set>
                                    <p:anim calcmode="lin" valueType="num">
                                      <p:cBhvr>
                                        <p:cTn id="57" dur="500" fill="hold"/>
                                        <p:tgtEl>
                                          <p:spTgt spid="8"/>
                                        </p:tgtEl>
                                        <p:attrNameLst>
                                          <p:attrName>ppt_w</p:attrName>
                                        </p:attrNameLst>
                                      </p:cBhvr>
                                      <p:tavLst>
                                        <p:tav tm="0">
                                          <p:val>
                                            <p:fltVal val="0"/>
                                          </p:val>
                                        </p:tav>
                                        <p:tav tm="100000">
                                          <p:val>
                                            <p:strVal val="#ppt_w"/>
                                          </p:val>
                                        </p:tav>
                                      </p:tavLst>
                                    </p:anim>
                                    <p:anim calcmode="lin" valueType="num">
                                      <p:cBhvr>
                                        <p:cTn id="58" dur="500" fill="hold"/>
                                        <p:tgtEl>
                                          <p:spTgt spid="8"/>
                                        </p:tgtEl>
                                        <p:attrNameLst>
                                          <p:attrName>ppt_h</p:attrName>
                                        </p:attrNameLst>
                                      </p:cBhvr>
                                      <p:tavLst>
                                        <p:tav tm="0">
                                          <p:val>
                                            <p:fltVal val="0"/>
                                          </p:val>
                                        </p:tav>
                                        <p:tav tm="100000">
                                          <p:val>
                                            <p:strVal val="#ppt_h"/>
                                          </p:val>
                                        </p:tav>
                                      </p:tavLst>
                                    </p:anim>
                                    <p:animEffect transition="in" filter="fade">
                                      <p:cBhvr>
                                        <p:cTn id="5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1" grpId="0" animBg="1"/>
      <p:bldP spid="3" grpId="0" animBg="1"/>
      <p:bldP spid="4" grpId="0"/>
      <p:bldP spid="5" grpId="0"/>
      <p:bldP spid="6" grpId="0"/>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FE9EF472-4108-427D-BB5B-1B139EB4079D}"/>
              </a:ext>
            </a:extLst>
          </p:cNvPr>
          <p:cNvSpPr/>
          <p:nvPr/>
        </p:nvSpPr>
        <p:spPr>
          <a:xfrm>
            <a:off x="580922" y="520573"/>
            <a:ext cx="672738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三、总产量、平均产量和边际产量之间的关系</a:t>
            </a:r>
          </a:p>
        </p:txBody>
      </p:sp>
      <p:sp>
        <p:nvSpPr>
          <p:cNvPr id="3" name="矩形 2">
            <a:extLst>
              <a:ext uri="{FF2B5EF4-FFF2-40B4-BE49-F238E27FC236}">
                <a16:creationId xmlns:a16="http://schemas.microsoft.com/office/drawing/2014/main" id="{BF368ADA-26C7-4FCE-86EE-632C7908C281}"/>
              </a:ext>
            </a:extLst>
          </p:cNvPr>
          <p:cNvSpPr/>
          <p:nvPr/>
        </p:nvSpPr>
        <p:spPr>
          <a:xfrm>
            <a:off x="6732240" y="35332"/>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第三节 短期生产函数</a:t>
            </a:r>
          </a:p>
        </p:txBody>
      </p:sp>
      <p:sp>
        <p:nvSpPr>
          <p:cNvPr id="28" name="矩形 27">
            <a:extLst>
              <a:ext uri="{FF2B5EF4-FFF2-40B4-BE49-F238E27FC236}">
                <a16:creationId xmlns:a16="http://schemas.microsoft.com/office/drawing/2014/main" id="{350E0CE3-1060-4954-BC71-B286C933EEBE}"/>
              </a:ext>
            </a:extLst>
          </p:cNvPr>
          <p:cNvSpPr/>
          <p:nvPr/>
        </p:nvSpPr>
        <p:spPr bwMode="auto">
          <a:xfrm>
            <a:off x="4587870" y="1405846"/>
            <a:ext cx="3935973" cy="2672043"/>
          </a:xfrm>
          <a:prstGeom prst="rect">
            <a:avLst/>
          </a:prstGeom>
          <a:noFill/>
          <a:ln w="63500" cap="flat" cmpd="sng" algn="ctr">
            <a:solidFill>
              <a:srgbClr val="85B2D2"/>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400" b="0" i="0" u="none" strike="noStrike" cap="none" normalizeH="0" baseline="0">
              <a:ln>
                <a:noFill/>
              </a:ln>
              <a:effectLst/>
              <a:latin typeface="Arial" panose="020B0604020202020204" pitchFamily="34" charset="0"/>
              <a:ea typeface="宋体" panose="02010600030101010101" pitchFamily="2" charset="-122"/>
            </a:endParaRPr>
          </a:p>
        </p:txBody>
      </p:sp>
      <p:sp>
        <p:nvSpPr>
          <p:cNvPr id="29" name="文本框 28">
            <a:extLst>
              <a:ext uri="{FF2B5EF4-FFF2-40B4-BE49-F238E27FC236}">
                <a16:creationId xmlns:a16="http://schemas.microsoft.com/office/drawing/2014/main" id="{971508EB-41E4-4D9B-A417-DDB768004725}"/>
              </a:ext>
            </a:extLst>
          </p:cNvPr>
          <p:cNvSpPr txBox="1"/>
          <p:nvPr/>
        </p:nvSpPr>
        <p:spPr>
          <a:xfrm>
            <a:off x="4884614" y="1626590"/>
            <a:ext cx="3953630" cy="338554"/>
          </a:xfrm>
          <a:prstGeom prst="rect">
            <a:avLst/>
          </a:prstGeom>
          <a:noFill/>
        </p:spPr>
        <p:txBody>
          <a:bodyPr wrap="square" rtlCol="0">
            <a:spAutoFit/>
          </a:bodyPr>
          <a:lstStyle/>
          <a:p>
            <a:r>
              <a:rPr lang="en-US" altLang="zh-CN" sz="1600" dirty="0"/>
              <a:t>L             Q              MP              AP</a:t>
            </a:r>
          </a:p>
        </p:txBody>
      </p:sp>
      <p:sp>
        <p:nvSpPr>
          <p:cNvPr id="30" name="文本框 29">
            <a:extLst>
              <a:ext uri="{FF2B5EF4-FFF2-40B4-BE49-F238E27FC236}">
                <a16:creationId xmlns:a16="http://schemas.microsoft.com/office/drawing/2014/main" id="{D0990923-C36E-4F49-AC45-2AC0F020D7C4}"/>
              </a:ext>
            </a:extLst>
          </p:cNvPr>
          <p:cNvSpPr txBox="1"/>
          <p:nvPr/>
        </p:nvSpPr>
        <p:spPr>
          <a:xfrm>
            <a:off x="4896358" y="1998849"/>
            <a:ext cx="3463013" cy="307777"/>
          </a:xfrm>
          <a:prstGeom prst="rect">
            <a:avLst/>
          </a:prstGeom>
          <a:noFill/>
        </p:spPr>
        <p:txBody>
          <a:bodyPr wrap="square" rtlCol="0">
            <a:spAutoFit/>
          </a:bodyPr>
          <a:lstStyle/>
          <a:p>
            <a:r>
              <a:rPr lang="en-US" altLang="zh-CN" sz="1400" dirty="0"/>
              <a:t>0                0                 ---                  ---</a:t>
            </a:r>
          </a:p>
        </p:txBody>
      </p:sp>
      <p:sp>
        <p:nvSpPr>
          <p:cNvPr id="31" name="文本框 30">
            <a:extLst>
              <a:ext uri="{FF2B5EF4-FFF2-40B4-BE49-F238E27FC236}">
                <a16:creationId xmlns:a16="http://schemas.microsoft.com/office/drawing/2014/main" id="{CE5AAA6A-1F70-4EF2-AAD9-B4FD4AE4A68A}"/>
              </a:ext>
            </a:extLst>
          </p:cNvPr>
          <p:cNvSpPr txBox="1"/>
          <p:nvPr/>
        </p:nvSpPr>
        <p:spPr>
          <a:xfrm>
            <a:off x="4896358" y="2337655"/>
            <a:ext cx="3650624" cy="307777"/>
          </a:xfrm>
          <a:prstGeom prst="rect">
            <a:avLst/>
          </a:prstGeom>
          <a:noFill/>
        </p:spPr>
        <p:txBody>
          <a:bodyPr wrap="square" rtlCol="0">
            <a:spAutoFit/>
          </a:bodyPr>
          <a:lstStyle/>
          <a:p>
            <a:r>
              <a:rPr lang="en-US" altLang="zh-CN" sz="1400" dirty="0"/>
              <a:t>1               20                20                 20</a:t>
            </a:r>
            <a:endParaRPr lang="zh-CN" altLang="en-US" sz="1400" dirty="0"/>
          </a:p>
        </p:txBody>
      </p:sp>
      <p:sp>
        <p:nvSpPr>
          <p:cNvPr id="32" name="文本框 31">
            <a:extLst>
              <a:ext uri="{FF2B5EF4-FFF2-40B4-BE49-F238E27FC236}">
                <a16:creationId xmlns:a16="http://schemas.microsoft.com/office/drawing/2014/main" id="{7A34EC2E-8CEC-4EC2-8AAC-AE8C27C849BC}"/>
              </a:ext>
            </a:extLst>
          </p:cNvPr>
          <p:cNvSpPr txBox="1"/>
          <p:nvPr/>
        </p:nvSpPr>
        <p:spPr>
          <a:xfrm>
            <a:off x="4896358" y="2679137"/>
            <a:ext cx="3463013" cy="307777"/>
          </a:xfrm>
          <a:prstGeom prst="rect">
            <a:avLst/>
          </a:prstGeom>
          <a:noFill/>
        </p:spPr>
        <p:txBody>
          <a:bodyPr wrap="square" rtlCol="0">
            <a:spAutoFit/>
          </a:bodyPr>
          <a:lstStyle/>
          <a:p>
            <a:r>
              <a:rPr lang="en-US" altLang="zh-CN" sz="1400" dirty="0"/>
              <a:t>2               46                </a:t>
            </a:r>
            <a:r>
              <a:rPr lang="en-US" altLang="zh-CN" sz="1400" b="1" dirty="0"/>
              <a:t>26</a:t>
            </a:r>
            <a:r>
              <a:rPr lang="en-US" altLang="zh-CN" sz="1400" dirty="0"/>
              <a:t>                 23</a:t>
            </a:r>
            <a:endParaRPr lang="zh-CN" altLang="en-US" sz="1400" dirty="0"/>
          </a:p>
        </p:txBody>
      </p:sp>
      <p:sp>
        <p:nvSpPr>
          <p:cNvPr id="33" name="文本框 32">
            <a:extLst>
              <a:ext uri="{FF2B5EF4-FFF2-40B4-BE49-F238E27FC236}">
                <a16:creationId xmlns:a16="http://schemas.microsoft.com/office/drawing/2014/main" id="{9FD7FDEC-A411-4DC3-BBDA-A14D0EAFB1F5}"/>
              </a:ext>
            </a:extLst>
          </p:cNvPr>
          <p:cNvSpPr txBox="1"/>
          <p:nvPr/>
        </p:nvSpPr>
        <p:spPr>
          <a:xfrm>
            <a:off x="4896358" y="2944913"/>
            <a:ext cx="3744416" cy="307777"/>
          </a:xfrm>
          <a:prstGeom prst="rect">
            <a:avLst/>
          </a:prstGeom>
          <a:noFill/>
        </p:spPr>
        <p:txBody>
          <a:bodyPr wrap="square" rtlCol="0">
            <a:spAutoFit/>
          </a:bodyPr>
          <a:lstStyle/>
          <a:p>
            <a:r>
              <a:rPr lang="en-US" altLang="zh-CN" sz="1400" dirty="0"/>
              <a:t>3               70                24               </a:t>
            </a:r>
            <a:r>
              <a:rPr lang="en-US" altLang="zh-CN" sz="1400" b="1" dirty="0"/>
              <a:t>23.33</a:t>
            </a:r>
            <a:endParaRPr lang="zh-CN" altLang="en-US" sz="1400" b="1" dirty="0"/>
          </a:p>
        </p:txBody>
      </p:sp>
      <p:sp>
        <p:nvSpPr>
          <p:cNvPr id="34" name="文本框 33">
            <a:extLst>
              <a:ext uri="{FF2B5EF4-FFF2-40B4-BE49-F238E27FC236}">
                <a16:creationId xmlns:a16="http://schemas.microsoft.com/office/drawing/2014/main" id="{A99C2344-F11B-47DB-9F68-9838C394E2CC}"/>
              </a:ext>
            </a:extLst>
          </p:cNvPr>
          <p:cNvSpPr txBox="1"/>
          <p:nvPr/>
        </p:nvSpPr>
        <p:spPr>
          <a:xfrm>
            <a:off x="4896358" y="3286395"/>
            <a:ext cx="3650624" cy="307777"/>
          </a:xfrm>
          <a:prstGeom prst="rect">
            <a:avLst/>
          </a:prstGeom>
          <a:noFill/>
        </p:spPr>
        <p:txBody>
          <a:bodyPr wrap="square" rtlCol="0">
            <a:spAutoFit/>
          </a:bodyPr>
          <a:lstStyle/>
          <a:p>
            <a:r>
              <a:rPr lang="en-US" altLang="zh-CN" sz="1400" dirty="0"/>
              <a:t>4               92                22                 23</a:t>
            </a:r>
            <a:endParaRPr lang="zh-CN" altLang="en-US" sz="1400" dirty="0"/>
          </a:p>
        </p:txBody>
      </p:sp>
      <p:sp>
        <p:nvSpPr>
          <p:cNvPr id="35" name="文本框 34">
            <a:extLst>
              <a:ext uri="{FF2B5EF4-FFF2-40B4-BE49-F238E27FC236}">
                <a16:creationId xmlns:a16="http://schemas.microsoft.com/office/drawing/2014/main" id="{02F65135-0F51-4F70-A74E-A61CE3536E40}"/>
              </a:ext>
            </a:extLst>
          </p:cNvPr>
          <p:cNvSpPr txBox="1"/>
          <p:nvPr/>
        </p:nvSpPr>
        <p:spPr>
          <a:xfrm>
            <a:off x="4896358" y="3583792"/>
            <a:ext cx="3598231" cy="307777"/>
          </a:xfrm>
          <a:prstGeom prst="rect">
            <a:avLst/>
          </a:prstGeom>
          <a:noFill/>
        </p:spPr>
        <p:txBody>
          <a:bodyPr wrap="square" rtlCol="0">
            <a:spAutoFit/>
          </a:bodyPr>
          <a:lstStyle/>
          <a:p>
            <a:r>
              <a:rPr lang="en-US" altLang="zh-CN" sz="1400" dirty="0"/>
              <a:t>5              110               18                 22</a:t>
            </a:r>
            <a:endParaRPr lang="zh-CN" altLang="en-US" sz="1400" dirty="0"/>
          </a:p>
        </p:txBody>
      </p:sp>
      <p:sp>
        <p:nvSpPr>
          <p:cNvPr id="36" name="矩形 35">
            <a:extLst>
              <a:ext uri="{FF2B5EF4-FFF2-40B4-BE49-F238E27FC236}">
                <a16:creationId xmlns:a16="http://schemas.microsoft.com/office/drawing/2014/main" id="{17F74FDB-6F59-4DB7-BBDF-BFFF0A5A0AE0}"/>
              </a:ext>
            </a:extLst>
          </p:cNvPr>
          <p:cNvSpPr/>
          <p:nvPr/>
        </p:nvSpPr>
        <p:spPr>
          <a:xfrm>
            <a:off x="580922" y="4594311"/>
            <a:ext cx="8254736" cy="369332"/>
          </a:xfrm>
          <a:prstGeom prst="rect">
            <a:avLst/>
          </a:prstGeom>
        </p:spPr>
        <p:txBody>
          <a:bodyPr wrap="square">
            <a:spAutoFit/>
          </a:bodyPr>
          <a:lstStyle/>
          <a:p>
            <a:pPr marL="285750" indent="-285750">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在边际报酬递减规律作用下，劳动的边际产量曲线呈现先增加后递减的趋势。</a:t>
            </a:r>
            <a:endParaRPr lang="en-US" altLang="zh-CN" dirty="0">
              <a:latin typeface="微软雅黑" panose="020B0503020204020204" pitchFamily="34" charset="-122"/>
              <a:ea typeface="微软雅黑" panose="020B0503020204020204" pitchFamily="34" charset="-122"/>
            </a:endParaRPr>
          </a:p>
        </p:txBody>
      </p:sp>
      <p:sp>
        <p:nvSpPr>
          <p:cNvPr id="26" name="矩形 25">
            <a:extLst>
              <a:ext uri="{FF2B5EF4-FFF2-40B4-BE49-F238E27FC236}">
                <a16:creationId xmlns:a16="http://schemas.microsoft.com/office/drawing/2014/main" id="{87FEE12C-C70E-4B1B-8F51-35280A36B28C}"/>
              </a:ext>
            </a:extLst>
          </p:cNvPr>
          <p:cNvSpPr/>
          <p:nvPr/>
        </p:nvSpPr>
        <p:spPr>
          <a:xfrm>
            <a:off x="582265" y="4944427"/>
            <a:ext cx="7912324" cy="369332"/>
          </a:xfrm>
          <a:prstGeom prst="rect">
            <a:avLst/>
          </a:prstGeom>
        </p:spPr>
        <p:txBody>
          <a:bodyPr wrap="square">
            <a:spAutoFit/>
          </a:bodyPr>
          <a:lstStyle/>
          <a:p>
            <a:pPr marL="285750" indent="-285750">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总产量曲线呈现出先增加后递减的趋势。</a:t>
            </a:r>
            <a:endParaRPr lang="en-US" altLang="zh-CN" dirty="0">
              <a:latin typeface="微软雅黑" panose="020B0503020204020204" pitchFamily="34" charset="-122"/>
              <a:ea typeface="微软雅黑" panose="020B0503020204020204" pitchFamily="34" charset="-122"/>
            </a:endParaRPr>
          </a:p>
        </p:txBody>
      </p:sp>
      <p:sp>
        <p:nvSpPr>
          <p:cNvPr id="27" name="矩形 26">
            <a:extLst>
              <a:ext uri="{FF2B5EF4-FFF2-40B4-BE49-F238E27FC236}">
                <a16:creationId xmlns:a16="http://schemas.microsoft.com/office/drawing/2014/main" id="{13D1C13D-6058-45E9-855B-670B25837DE8}"/>
              </a:ext>
            </a:extLst>
          </p:cNvPr>
          <p:cNvSpPr/>
          <p:nvPr/>
        </p:nvSpPr>
        <p:spPr>
          <a:xfrm>
            <a:off x="580922" y="5294947"/>
            <a:ext cx="7980813" cy="369332"/>
          </a:xfrm>
          <a:prstGeom prst="rect">
            <a:avLst/>
          </a:prstGeom>
        </p:spPr>
        <p:txBody>
          <a:bodyPr wrap="square">
            <a:spAutoFit/>
          </a:bodyPr>
          <a:lstStyle/>
          <a:p>
            <a:pPr marL="285750" indent="-285750">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劳动的平均产量曲线是先增加后递减的。</a:t>
            </a:r>
            <a:endParaRPr lang="en-US" altLang="zh-CN" dirty="0">
              <a:latin typeface="微软雅黑" panose="020B0503020204020204" pitchFamily="34" charset="-122"/>
              <a:ea typeface="微软雅黑" panose="020B0503020204020204" pitchFamily="34" charset="-122"/>
            </a:endParaRPr>
          </a:p>
        </p:txBody>
      </p:sp>
      <p:sp>
        <p:nvSpPr>
          <p:cNvPr id="37" name="矩形 36">
            <a:extLst>
              <a:ext uri="{FF2B5EF4-FFF2-40B4-BE49-F238E27FC236}">
                <a16:creationId xmlns:a16="http://schemas.microsoft.com/office/drawing/2014/main" id="{0ACFF3CB-6BA4-45CF-B1A9-790B70B003CE}"/>
              </a:ext>
            </a:extLst>
          </p:cNvPr>
          <p:cNvSpPr/>
          <p:nvPr/>
        </p:nvSpPr>
        <p:spPr>
          <a:xfrm>
            <a:off x="580922" y="5636429"/>
            <a:ext cx="7912323" cy="369332"/>
          </a:xfrm>
          <a:prstGeom prst="rect">
            <a:avLst/>
          </a:prstGeom>
        </p:spPr>
        <p:txBody>
          <a:bodyPr wrap="square">
            <a:spAutoFit/>
          </a:bodyPr>
          <a:lstStyle/>
          <a:p>
            <a:pPr marL="285750" indent="-285750">
              <a:buFont typeface="Wingdings" panose="05000000000000000000" pitchFamily="2" charset="2"/>
              <a:buChar char="l"/>
            </a:pPr>
            <a:r>
              <a:rPr lang="zh-CN" altLang="en-US" dirty="0">
                <a:latin typeface="微软雅黑" panose="020B0503020204020204" pitchFamily="34" charset="-122"/>
                <a:ea typeface="微软雅黑" panose="020B0503020204020204" pitchFamily="34" charset="-122"/>
              </a:rPr>
              <a:t>边际产量曲线与平均产量曲线相交于平均产量曲线的最大值点。</a:t>
            </a:r>
          </a:p>
        </p:txBody>
      </p:sp>
      <p:grpSp>
        <p:nvGrpSpPr>
          <p:cNvPr id="39" name="组合 8">
            <a:extLst>
              <a:ext uri="{FF2B5EF4-FFF2-40B4-BE49-F238E27FC236}">
                <a16:creationId xmlns:a16="http://schemas.microsoft.com/office/drawing/2014/main" id="{30C3FCD3-2218-497D-B66D-5EB82E512740}"/>
              </a:ext>
            </a:extLst>
          </p:cNvPr>
          <p:cNvGrpSpPr>
            <a:grpSpLocks/>
          </p:cNvGrpSpPr>
          <p:nvPr/>
        </p:nvGrpSpPr>
        <p:grpSpPr bwMode="auto">
          <a:xfrm>
            <a:off x="257200" y="1412776"/>
            <a:ext cx="4098776" cy="2914696"/>
            <a:chOff x="2339752" y="1338179"/>
            <a:chExt cx="4746848" cy="3795957"/>
          </a:xfrm>
        </p:grpSpPr>
        <p:grpSp>
          <p:nvGrpSpPr>
            <p:cNvPr id="40" name="组合 3">
              <a:extLst>
                <a:ext uri="{FF2B5EF4-FFF2-40B4-BE49-F238E27FC236}">
                  <a16:creationId xmlns:a16="http://schemas.microsoft.com/office/drawing/2014/main" id="{52857A9B-0306-48A9-A251-B23B315C610F}"/>
                </a:ext>
              </a:extLst>
            </p:cNvPr>
            <p:cNvGrpSpPr>
              <a:grpSpLocks/>
            </p:cNvGrpSpPr>
            <p:nvPr/>
          </p:nvGrpSpPr>
          <p:grpSpPr bwMode="auto">
            <a:xfrm>
              <a:off x="2339752" y="1338179"/>
              <a:ext cx="4746848" cy="3730876"/>
              <a:chOff x="2339752" y="1338179"/>
              <a:chExt cx="4746848" cy="3730876"/>
            </a:xfrm>
          </p:grpSpPr>
          <p:sp>
            <p:nvSpPr>
              <p:cNvPr id="46" name="Rectangle 16">
                <a:extLst>
                  <a:ext uri="{FF2B5EF4-FFF2-40B4-BE49-F238E27FC236}">
                    <a16:creationId xmlns:a16="http://schemas.microsoft.com/office/drawing/2014/main" id="{A5E73E0D-FB81-4D1D-99AC-4B3E805C9079}"/>
                  </a:ext>
                </a:extLst>
              </p:cNvPr>
              <p:cNvSpPr>
                <a:spLocks noChangeArrowheads="1"/>
              </p:cNvSpPr>
              <p:nvPr/>
            </p:nvSpPr>
            <p:spPr bwMode="auto">
              <a:xfrm>
                <a:off x="4572000" y="2514600"/>
                <a:ext cx="457200" cy="53340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en-US" altLang="zh-CN" sz="1800" b="0">
                  <a:latin typeface="Calibri" panose="020F0502020204030204" pitchFamily="34" charset="0"/>
                </a:endParaRPr>
              </a:p>
            </p:txBody>
          </p:sp>
          <p:sp>
            <p:nvSpPr>
              <p:cNvPr id="47" name="Rectangle 15">
                <a:extLst>
                  <a:ext uri="{FF2B5EF4-FFF2-40B4-BE49-F238E27FC236}">
                    <a16:creationId xmlns:a16="http://schemas.microsoft.com/office/drawing/2014/main" id="{0130F15B-8E9C-41AB-A8A8-F89320589DB1}"/>
                  </a:ext>
                </a:extLst>
              </p:cNvPr>
              <p:cNvSpPr>
                <a:spLocks noChangeArrowheads="1"/>
              </p:cNvSpPr>
              <p:nvPr/>
            </p:nvSpPr>
            <p:spPr bwMode="auto">
              <a:xfrm>
                <a:off x="5105400" y="1828800"/>
                <a:ext cx="1981200" cy="129540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en-US" altLang="zh-CN" sz="1800" b="0">
                  <a:latin typeface="Calibri" panose="020F0502020204030204" pitchFamily="34" charset="0"/>
                </a:endParaRPr>
              </a:p>
            </p:txBody>
          </p:sp>
          <p:cxnSp>
            <p:nvCxnSpPr>
              <p:cNvPr id="48" name="直接箭头连接符 47">
                <a:extLst>
                  <a:ext uri="{FF2B5EF4-FFF2-40B4-BE49-F238E27FC236}">
                    <a16:creationId xmlns:a16="http://schemas.microsoft.com/office/drawing/2014/main" id="{3C44CF43-8C9B-45A3-A4D4-1AFAC170A897}"/>
                  </a:ext>
                </a:extLst>
              </p:cNvPr>
              <p:cNvCxnSpPr/>
              <p:nvPr/>
            </p:nvCxnSpPr>
            <p:spPr>
              <a:xfrm>
                <a:off x="2666792" y="4678504"/>
                <a:ext cx="3608558" cy="0"/>
              </a:xfrm>
              <a:prstGeom prst="straightConnector1">
                <a:avLst/>
              </a:prstGeom>
              <a:ln>
                <a:solidFill>
                  <a:srgbClr val="3333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D4DE56B1-1042-41E2-B8CB-8630F4FC95AF}"/>
                  </a:ext>
                </a:extLst>
              </p:cNvPr>
              <p:cNvCxnSpPr/>
              <p:nvPr/>
            </p:nvCxnSpPr>
            <p:spPr>
              <a:xfrm flipV="1">
                <a:off x="2685843" y="1762070"/>
                <a:ext cx="0" cy="2919609"/>
              </a:xfrm>
              <a:prstGeom prst="straightConnector1">
                <a:avLst/>
              </a:prstGeom>
              <a:ln>
                <a:solidFill>
                  <a:srgbClr val="333300"/>
                </a:solidFill>
                <a:tailEnd type="triangle"/>
              </a:ln>
            </p:spPr>
            <p:style>
              <a:lnRef idx="1">
                <a:schemeClr val="accent1"/>
              </a:lnRef>
              <a:fillRef idx="0">
                <a:schemeClr val="accent1"/>
              </a:fillRef>
              <a:effectRef idx="0">
                <a:schemeClr val="accent1"/>
              </a:effectRef>
              <a:fontRef idx="minor">
                <a:schemeClr val="tx1"/>
              </a:fontRef>
            </p:style>
          </p:cxnSp>
          <p:sp>
            <p:nvSpPr>
              <p:cNvPr id="50" name="任意多边形: 形状 49">
                <a:extLst>
                  <a:ext uri="{FF2B5EF4-FFF2-40B4-BE49-F238E27FC236}">
                    <a16:creationId xmlns:a16="http://schemas.microsoft.com/office/drawing/2014/main" id="{CD9DA112-ADDD-4B27-A61C-626787D6EDA4}"/>
                  </a:ext>
                </a:extLst>
              </p:cNvPr>
              <p:cNvSpPr/>
              <p:nvPr/>
            </p:nvSpPr>
            <p:spPr>
              <a:xfrm>
                <a:off x="2692194" y="1338179"/>
                <a:ext cx="3678411" cy="3343500"/>
              </a:xfrm>
              <a:custGeom>
                <a:avLst/>
                <a:gdLst>
                  <a:gd name="connsiteX0" fmla="*/ 0 w 3678204"/>
                  <a:gd name="connsiteY0" fmla="*/ 3343169 h 3343169"/>
                  <a:gd name="connsiteX1" fmla="*/ 1404518 w 3678204"/>
                  <a:gd name="connsiteY1" fmla="*/ 1909390 h 3343169"/>
                  <a:gd name="connsiteX2" fmla="*/ 2157984 w 3678204"/>
                  <a:gd name="connsiteY2" fmla="*/ 424404 h 3343169"/>
                  <a:gd name="connsiteX3" fmla="*/ 2918765 w 3678204"/>
                  <a:gd name="connsiteY3" fmla="*/ 123 h 3343169"/>
                  <a:gd name="connsiteX4" fmla="*/ 3621024 w 3678204"/>
                  <a:gd name="connsiteY4" fmla="*/ 380513 h 3343169"/>
                  <a:gd name="connsiteX5" fmla="*/ 3635654 w 3678204"/>
                  <a:gd name="connsiteY5" fmla="*/ 402459 h 3343169"/>
                  <a:gd name="connsiteX6" fmla="*/ 3621024 w 3678204"/>
                  <a:gd name="connsiteY6" fmla="*/ 380513 h 33431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78204" h="3343169">
                    <a:moveTo>
                      <a:pt x="0" y="3343169"/>
                    </a:moveTo>
                    <a:cubicBezTo>
                      <a:pt x="522427" y="2869510"/>
                      <a:pt x="1044854" y="2395851"/>
                      <a:pt x="1404518" y="1909390"/>
                    </a:cubicBezTo>
                    <a:cubicBezTo>
                      <a:pt x="1764182" y="1422929"/>
                      <a:pt x="1905610" y="742615"/>
                      <a:pt x="2157984" y="424404"/>
                    </a:cubicBezTo>
                    <a:cubicBezTo>
                      <a:pt x="2410358" y="106193"/>
                      <a:pt x="2674925" y="7438"/>
                      <a:pt x="2918765" y="123"/>
                    </a:cubicBezTo>
                    <a:cubicBezTo>
                      <a:pt x="3162605" y="-7192"/>
                      <a:pt x="3501543" y="313457"/>
                      <a:pt x="3621024" y="380513"/>
                    </a:cubicBezTo>
                    <a:cubicBezTo>
                      <a:pt x="3740506" y="447569"/>
                      <a:pt x="3635654" y="402459"/>
                      <a:pt x="3635654" y="402459"/>
                    </a:cubicBezTo>
                    <a:lnTo>
                      <a:pt x="3621024" y="380513"/>
                    </a:lnTo>
                  </a:path>
                </a:pathLst>
              </a:custGeom>
              <a:noFill/>
              <a:ln w="41275">
                <a:solidFill>
                  <a:srgbClr val="E5AB7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p>
            </p:txBody>
          </p:sp>
          <p:sp>
            <p:nvSpPr>
              <p:cNvPr id="51" name="任意多边形: 形状 50">
                <a:extLst>
                  <a:ext uri="{FF2B5EF4-FFF2-40B4-BE49-F238E27FC236}">
                    <a16:creationId xmlns:a16="http://schemas.microsoft.com/office/drawing/2014/main" id="{5409D049-54C6-46FF-B1EF-28D17FFDB680}"/>
                  </a:ext>
                </a:extLst>
              </p:cNvPr>
              <p:cNvSpPr/>
              <p:nvPr/>
            </p:nvSpPr>
            <p:spPr>
              <a:xfrm>
                <a:off x="2685843" y="3921215"/>
                <a:ext cx="3335495" cy="1147840"/>
              </a:xfrm>
              <a:custGeom>
                <a:avLst/>
                <a:gdLst>
                  <a:gd name="connsiteX0" fmla="*/ 0 w 3335731"/>
                  <a:gd name="connsiteY0" fmla="*/ 775144 h 1148219"/>
                  <a:gd name="connsiteX1" fmla="*/ 1455725 w 3335731"/>
                  <a:gd name="connsiteY1" fmla="*/ 28993 h 1148219"/>
                  <a:gd name="connsiteX2" fmla="*/ 2150669 w 3335731"/>
                  <a:gd name="connsiteY2" fmla="*/ 211873 h 1148219"/>
                  <a:gd name="connsiteX3" fmla="*/ 2852928 w 3335731"/>
                  <a:gd name="connsiteY3" fmla="*/ 767828 h 1148219"/>
                  <a:gd name="connsiteX4" fmla="*/ 3335731 w 3335731"/>
                  <a:gd name="connsiteY4" fmla="*/ 1148219 h 11482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5731" h="1148219">
                    <a:moveTo>
                      <a:pt x="0" y="775144"/>
                    </a:moveTo>
                    <a:cubicBezTo>
                      <a:pt x="548640" y="449008"/>
                      <a:pt x="1097280" y="122872"/>
                      <a:pt x="1455725" y="28993"/>
                    </a:cubicBezTo>
                    <a:cubicBezTo>
                      <a:pt x="1814170" y="-64886"/>
                      <a:pt x="1917802" y="88734"/>
                      <a:pt x="2150669" y="211873"/>
                    </a:cubicBezTo>
                    <a:cubicBezTo>
                      <a:pt x="2383536" y="335012"/>
                      <a:pt x="2852928" y="767828"/>
                      <a:pt x="2852928" y="767828"/>
                    </a:cubicBezTo>
                    <a:lnTo>
                      <a:pt x="3335731" y="1148219"/>
                    </a:lnTo>
                  </a:path>
                </a:pathLst>
              </a:custGeom>
              <a:noFill/>
              <a:ln w="28575">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p>
            </p:txBody>
          </p:sp>
          <p:sp>
            <p:nvSpPr>
              <p:cNvPr id="52" name="任意多边形: 形状 51">
                <a:extLst>
                  <a:ext uri="{FF2B5EF4-FFF2-40B4-BE49-F238E27FC236}">
                    <a16:creationId xmlns:a16="http://schemas.microsoft.com/office/drawing/2014/main" id="{7E59B4EB-DC19-449B-BEA5-69F1C32742C4}"/>
                  </a:ext>
                </a:extLst>
              </p:cNvPr>
              <p:cNvSpPr/>
              <p:nvPr/>
            </p:nvSpPr>
            <p:spPr>
              <a:xfrm>
                <a:off x="2700132" y="4137129"/>
                <a:ext cx="3643483" cy="558838"/>
              </a:xfrm>
              <a:custGeom>
                <a:avLst/>
                <a:gdLst>
                  <a:gd name="connsiteX0" fmla="*/ 0 w 3642970"/>
                  <a:gd name="connsiteY0" fmla="*/ 559601 h 559601"/>
                  <a:gd name="connsiteX1" fmla="*/ 2157984 w 3642970"/>
                  <a:gd name="connsiteY1" fmla="*/ 3645 h 559601"/>
                  <a:gd name="connsiteX2" fmla="*/ 3642970 w 3642970"/>
                  <a:gd name="connsiteY2" fmla="*/ 362090 h 559601"/>
                </a:gdLst>
                <a:ahLst/>
                <a:cxnLst>
                  <a:cxn ang="0">
                    <a:pos x="connsiteX0" y="connsiteY0"/>
                  </a:cxn>
                  <a:cxn ang="0">
                    <a:pos x="connsiteX1" y="connsiteY1"/>
                  </a:cxn>
                  <a:cxn ang="0">
                    <a:pos x="connsiteX2" y="connsiteY2"/>
                  </a:cxn>
                </a:cxnLst>
                <a:rect l="l" t="t" r="r" b="b"/>
                <a:pathLst>
                  <a:path w="3642970" h="559601">
                    <a:moveTo>
                      <a:pt x="0" y="559601"/>
                    </a:moveTo>
                    <a:cubicBezTo>
                      <a:pt x="775411" y="298082"/>
                      <a:pt x="1550822" y="36563"/>
                      <a:pt x="2157984" y="3645"/>
                    </a:cubicBezTo>
                    <a:cubicBezTo>
                      <a:pt x="2765146" y="-29274"/>
                      <a:pt x="3204058" y="166408"/>
                      <a:pt x="3642970" y="362090"/>
                    </a:cubicBezTo>
                  </a:path>
                </a:pathLst>
              </a:custGeom>
              <a:noFill/>
              <a:ln w="34925">
                <a:solidFill>
                  <a:srgbClr val="95C705"/>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endParaRPr lang="zh-CN" altLang="en-US" dirty="0"/>
              </a:p>
            </p:txBody>
          </p:sp>
          <p:cxnSp>
            <p:nvCxnSpPr>
              <p:cNvPr id="53" name="直接连接符 52">
                <a:extLst>
                  <a:ext uri="{FF2B5EF4-FFF2-40B4-BE49-F238E27FC236}">
                    <a16:creationId xmlns:a16="http://schemas.microsoft.com/office/drawing/2014/main" id="{CA65EE3C-4A01-47B6-8387-C8544709BD51}"/>
                  </a:ext>
                </a:extLst>
              </p:cNvPr>
              <p:cNvCxnSpPr>
                <a:stCxn id="52" idx="0"/>
              </p:cNvCxnSpPr>
              <p:nvPr/>
            </p:nvCxnSpPr>
            <p:spPr>
              <a:xfrm flipV="1">
                <a:off x="2700132" y="1385807"/>
                <a:ext cx="2398825" cy="3310160"/>
              </a:xfrm>
              <a:prstGeom prst="line">
                <a:avLst/>
              </a:prstGeom>
              <a:ln w="12700">
                <a:solidFill>
                  <a:srgbClr val="6D9DB5"/>
                </a:solidFill>
                <a:prstDash val="lgDash"/>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0B890325-C4FF-4BFE-BA24-FB7C62CDFF1B}"/>
                  </a:ext>
                </a:extLst>
              </p:cNvPr>
              <p:cNvCxnSpPr/>
              <p:nvPr/>
            </p:nvCxnSpPr>
            <p:spPr>
              <a:xfrm>
                <a:off x="5180107" y="1341036"/>
                <a:ext cx="694944" cy="0"/>
              </a:xfrm>
              <a:prstGeom prst="line">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lgDash"/>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6BD7CD31-6F4A-4DE6-9161-D5910FD1CA10}"/>
                  </a:ext>
                </a:extLst>
              </p:cNvPr>
              <p:cNvCxnSpPr>
                <a:cxnSpLocks/>
                <a:endCxn id="50" idx="2"/>
              </p:cNvCxnSpPr>
              <p:nvPr/>
            </p:nvCxnSpPr>
            <p:spPr>
              <a:xfrm flipV="1">
                <a:off x="4851295" y="1762070"/>
                <a:ext cx="0" cy="2916434"/>
              </a:xfrm>
              <a:prstGeom prst="line">
                <a:avLst/>
              </a:prstGeom>
              <a:ln w="15875">
                <a:solidFill>
                  <a:srgbClr val="6D9DB5"/>
                </a:solidFill>
                <a:prstDash val="lgDash"/>
              </a:ln>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AD63D738-AFA4-4D90-ACBB-C1BE6538F6F5}"/>
                  </a:ext>
                </a:extLst>
              </p:cNvPr>
              <p:cNvCxnSpPr>
                <a:cxnSpLocks/>
                <a:endCxn id="51" idx="3"/>
              </p:cNvCxnSpPr>
              <p:nvPr/>
            </p:nvCxnSpPr>
            <p:spPr>
              <a:xfrm>
                <a:off x="5518076" y="1338179"/>
                <a:ext cx="20639" cy="3349850"/>
              </a:xfrm>
              <a:prstGeom prst="line">
                <a:avLst/>
              </a:prstGeom>
              <a:ln w="15875">
                <a:solidFill>
                  <a:srgbClr val="6D9DB5"/>
                </a:solidFill>
                <a:prstDash val="lgDash"/>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C7C648B8-A6FA-4627-938E-48E10A294A17}"/>
                  </a:ext>
                </a:extLst>
              </p:cNvPr>
              <p:cNvCxnSpPr/>
              <p:nvPr/>
            </p:nvCxnSpPr>
            <p:spPr>
              <a:xfrm>
                <a:off x="2700132" y="3238544"/>
                <a:ext cx="4089592" cy="0"/>
              </a:xfrm>
              <a:prstGeom prst="line">
                <a:avLst/>
              </a:prstGeom>
              <a:ln>
                <a:solidFill>
                  <a:srgbClr val="9B9D53"/>
                </a:solidFill>
                <a:prstDash val="lgDash"/>
              </a:ln>
            </p:spPr>
            <p:style>
              <a:lnRef idx="1">
                <a:schemeClr val="accent1"/>
              </a:lnRef>
              <a:fillRef idx="0">
                <a:schemeClr val="accent1"/>
              </a:fillRef>
              <a:effectRef idx="0">
                <a:schemeClr val="accent1"/>
              </a:effectRef>
              <a:fontRef idx="minor">
                <a:schemeClr val="tx1"/>
              </a:fontRef>
            </p:style>
          </p:cxnSp>
          <p:sp>
            <p:nvSpPr>
              <p:cNvPr id="59" name="文本框 37">
                <a:extLst>
                  <a:ext uri="{FF2B5EF4-FFF2-40B4-BE49-F238E27FC236}">
                    <a16:creationId xmlns:a16="http://schemas.microsoft.com/office/drawing/2014/main" id="{AF3FB2E3-E516-488C-92AD-8A213068DCB6}"/>
                  </a:ext>
                </a:extLst>
              </p:cNvPr>
              <p:cNvSpPr txBox="1">
                <a:spLocks noChangeArrowheads="1"/>
              </p:cNvSpPr>
              <p:nvPr/>
            </p:nvSpPr>
            <p:spPr bwMode="auto">
              <a:xfrm>
                <a:off x="2339752" y="1916832"/>
                <a:ext cx="283818"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Times New Roman" panose="02020603050405020304" pitchFamily="18" charset="0"/>
                    <a:cs typeface="Times New Roman" panose="02020603050405020304" pitchFamily="18" charset="0"/>
                  </a:rPr>
                  <a:t>Q</a:t>
                </a:r>
                <a:endParaRPr lang="zh-CN" altLang="en-US" sz="1800" b="0">
                  <a:latin typeface="Times New Roman" panose="02020603050405020304" pitchFamily="18" charset="0"/>
                  <a:cs typeface="Times New Roman" panose="02020603050405020304" pitchFamily="18" charset="0"/>
                </a:endParaRPr>
              </a:p>
            </p:txBody>
          </p:sp>
          <p:sp>
            <p:nvSpPr>
              <p:cNvPr id="60" name="文本框 38">
                <a:extLst>
                  <a:ext uri="{FF2B5EF4-FFF2-40B4-BE49-F238E27FC236}">
                    <a16:creationId xmlns:a16="http://schemas.microsoft.com/office/drawing/2014/main" id="{35917A77-59A3-4D7B-A7CB-9640B7311A86}"/>
                  </a:ext>
                </a:extLst>
              </p:cNvPr>
              <p:cNvSpPr txBox="1">
                <a:spLocks noChangeArrowheads="1"/>
              </p:cNvSpPr>
              <p:nvPr/>
            </p:nvSpPr>
            <p:spPr bwMode="auto">
              <a:xfrm>
                <a:off x="2373048" y="4586828"/>
                <a:ext cx="303346" cy="3714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Times New Roman" panose="02020603050405020304" pitchFamily="18" charset="0"/>
                    <a:cs typeface="Times New Roman" panose="02020603050405020304" pitchFamily="18" charset="0"/>
                  </a:rPr>
                  <a:t>O</a:t>
                </a:r>
                <a:endParaRPr lang="zh-CN" altLang="en-US" sz="1800" b="0">
                  <a:latin typeface="Times New Roman" panose="02020603050405020304" pitchFamily="18" charset="0"/>
                  <a:cs typeface="Times New Roman" panose="02020603050405020304" pitchFamily="18" charset="0"/>
                </a:endParaRPr>
              </a:p>
            </p:txBody>
          </p:sp>
          <p:sp>
            <p:nvSpPr>
              <p:cNvPr id="61" name="文本框 39">
                <a:extLst>
                  <a:ext uri="{FF2B5EF4-FFF2-40B4-BE49-F238E27FC236}">
                    <a16:creationId xmlns:a16="http://schemas.microsoft.com/office/drawing/2014/main" id="{D1044312-482E-4882-A11F-226DEE966AEA}"/>
                  </a:ext>
                </a:extLst>
              </p:cNvPr>
              <p:cNvSpPr txBox="1">
                <a:spLocks noChangeArrowheads="1"/>
              </p:cNvSpPr>
              <p:nvPr/>
            </p:nvSpPr>
            <p:spPr bwMode="auto">
              <a:xfrm>
                <a:off x="4389406" y="1495368"/>
                <a:ext cx="559390" cy="4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dirty="0">
                    <a:latin typeface="Times New Roman" panose="02020603050405020304" pitchFamily="18" charset="0"/>
                    <a:cs typeface="Times New Roman" panose="02020603050405020304" pitchFamily="18" charset="0"/>
                  </a:rPr>
                  <a:t>TP</a:t>
                </a:r>
                <a:endParaRPr lang="zh-CN" altLang="en-US" sz="1800" b="0" dirty="0">
                  <a:latin typeface="Times New Roman" panose="02020603050405020304" pitchFamily="18" charset="0"/>
                  <a:cs typeface="Times New Roman" panose="02020603050405020304" pitchFamily="18" charset="0"/>
                </a:endParaRPr>
              </a:p>
            </p:txBody>
          </p:sp>
          <p:sp>
            <p:nvSpPr>
              <p:cNvPr id="63" name="文本框 41">
                <a:extLst>
                  <a:ext uri="{FF2B5EF4-FFF2-40B4-BE49-F238E27FC236}">
                    <a16:creationId xmlns:a16="http://schemas.microsoft.com/office/drawing/2014/main" id="{5DE9A8B4-8642-4C80-9501-AAA55F099E2D}"/>
                  </a:ext>
                </a:extLst>
              </p:cNvPr>
              <p:cNvSpPr txBox="1">
                <a:spLocks noChangeArrowheads="1"/>
              </p:cNvSpPr>
              <p:nvPr/>
            </p:nvSpPr>
            <p:spPr bwMode="auto">
              <a:xfrm>
                <a:off x="4070511" y="3565330"/>
                <a:ext cx="85610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Times New Roman" panose="02020603050405020304" pitchFamily="18" charset="0"/>
                    <a:cs typeface="Times New Roman" panose="02020603050405020304" pitchFamily="18" charset="0"/>
                  </a:rPr>
                  <a:t>MP</a:t>
                </a:r>
                <a:endParaRPr lang="zh-CN" altLang="en-US" sz="1800" b="0">
                  <a:latin typeface="Times New Roman" panose="02020603050405020304" pitchFamily="18" charset="0"/>
                  <a:cs typeface="Times New Roman" panose="02020603050405020304" pitchFamily="18" charset="0"/>
                </a:endParaRPr>
              </a:p>
            </p:txBody>
          </p:sp>
          <p:sp>
            <p:nvSpPr>
              <p:cNvPr id="64" name="文本框 42">
                <a:extLst>
                  <a:ext uri="{FF2B5EF4-FFF2-40B4-BE49-F238E27FC236}">
                    <a16:creationId xmlns:a16="http://schemas.microsoft.com/office/drawing/2014/main" id="{B1497EE2-B970-4332-B5E2-7F75928BE70C}"/>
                  </a:ext>
                </a:extLst>
              </p:cNvPr>
              <p:cNvSpPr txBox="1">
                <a:spLocks noChangeArrowheads="1"/>
              </p:cNvSpPr>
              <p:nvPr/>
            </p:nvSpPr>
            <p:spPr bwMode="auto">
              <a:xfrm>
                <a:off x="6334381" y="4690536"/>
                <a:ext cx="4306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Times New Roman" panose="02020603050405020304" pitchFamily="18" charset="0"/>
                    <a:cs typeface="Times New Roman" panose="02020603050405020304" pitchFamily="18" charset="0"/>
                  </a:rPr>
                  <a:t>L</a:t>
                </a:r>
                <a:endParaRPr lang="zh-CN" altLang="en-US" sz="1800" b="0">
                  <a:latin typeface="Times New Roman" panose="02020603050405020304" pitchFamily="18" charset="0"/>
                  <a:cs typeface="Times New Roman" panose="02020603050405020304" pitchFamily="18" charset="0"/>
                </a:endParaRPr>
              </a:p>
            </p:txBody>
          </p:sp>
          <p:sp>
            <p:nvSpPr>
              <p:cNvPr id="65" name="文本框 43">
                <a:extLst>
                  <a:ext uri="{FF2B5EF4-FFF2-40B4-BE49-F238E27FC236}">
                    <a16:creationId xmlns:a16="http://schemas.microsoft.com/office/drawing/2014/main" id="{C692D159-99A6-45B6-A279-957B1547E70E}"/>
                  </a:ext>
                </a:extLst>
              </p:cNvPr>
              <p:cNvSpPr txBox="1">
                <a:spLocks noChangeArrowheads="1"/>
              </p:cNvSpPr>
              <p:nvPr/>
            </p:nvSpPr>
            <p:spPr bwMode="auto">
              <a:xfrm>
                <a:off x="6084965" y="4121748"/>
                <a:ext cx="5965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Times New Roman" panose="02020603050405020304" pitchFamily="18" charset="0"/>
                    <a:cs typeface="Times New Roman" panose="02020603050405020304" pitchFamily="18" charset="0"/>
                  </a:rPr>
                  <a:t>AP</a:t>
                </a:r>
                <a:endParaRPr lang="zh-CN" altLang="en-US" sz="1800" b="0">
                  <a:latin typeface="Times New Roman" panose="02020603050405020304" pitchFamily="18" charset="0"/>
                  <a:cs typeface="Times New Roman" panose="02020603050405020304" pitchFamily="18" charset="0"/>
                </a:endParaRPr>
              </a:p>
            </p:txBody>
          </p:sp>
          <p:cxnSp>
            <p:nvCxnSpPr>
              <p:cNvPr id="66" name="直接连接符 65">
                <a:extLst>
                  <a:ext uri="{FF2B5EF4-FFF2-40B4-BE49-F238E27FC236}">
                    <a16:creationId xmlns:a16="http://schemas.microsoft.com/office/drawing/2014/main" id="{DB038315-FC35-47FA-B642-C9A926FB76BA}"/>
                  </a:ext>
                </a:extLst>
              </p:cNvPr>
              <p:cNvCxnSpPr/>
              <p:nvPr/>
            </p:nvCxnSpPr>
            <p:spPr>
              <a:xfrm>
                <a:off x="4618608" y="4120999"/>
                <a:ext cx="481032" cy="0"/>
              </a:xfrm>
              <a:prstGeom prst="line">
                <a:avLst/>
              </a:prstGeom>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prstDash val="lgDash"/>
              </a:ln>
            </p:spPr>
            <p:style>
              <a:lnRef idx="1">
                <a:schemeClr val="accent1"/>
              </a:lnRef>
              <a:fillRef idx="0">
                <a:schemeClr val="accent1"/>
              </a:fillRef>
              <a:effectRef idx="0">
                <a:schemeClr val="accent1"/>
              </a:effectRef>
              <a:fontRef idx="minor">
                <a:schemeClr val="tx1"/>
              </a:fontRef>
            </p:style>
          </p:cxnSp>
        </p:grpSp>
        <p:grpSp>
          <p:nvGrpSpPr>
            <p:cNvPr id="41" name="组合 7">
              <a:extLst>
                <a:ext uri="{FF2B5EF4-FFF2-40B4-BE49-F238E27FC236}">
                  <a16:creationId xmlns:a16="http://schemas.microsoft.com/office/drawing/2014/main" id="{9FA57B2F-57DF-4186-854C-099290B04229}"/>
                </a:ext>
              </a:extLst>
            </p:cNvPr>
            <p:cNvGrpSpPr>
              <a:grpSpLocks/>
            </p:cNvGrpSpPr>
            <p:nvPr/>
          </p:nvGrpSpPr>
          <p:grpSpPr bwMode="auto">
            <a:xfrm>
              <a:off x="4067944" y="2917847"/>
              <a:ext cx="1791099" cy="2216289"/>
              <a:chOff x="4067944" y="2917847"/>
              <a:chExt cx="1791099" cy="2216289"/>
            </a:xfrm>
          </p:grpSpPr>
          <p:cxnSp>
            <p:nvCxnSpPr>
              <p:cNvPr id="42" name="直接连接符 41">
                <a:extLst>
                  <a:ext uri="{FF2B5EF4-FFF2-40B4-BE49-F238E27FC236}">
                    <a16:creationId xmlns:a16="http://schemas.microsoft.com/office/drawing/2014/main" id="{E3A5B695-27E5-4650-AD02-3A01F89B3137}"/>
                  </a:ext>
                </a:extLst>
              </p:cNvPr>
              <p:cNvCxnSpPr/>
              <p:nvPr/>
            </p:nvCxnSpPr>
            <p:spPr>
              <a:xfrm flipV="1">
                <a:off x="4284531" y="2917847"/>
                <a:ext cx="0" cy="1762244"/>
              </a:xfrm>
              <a:prstGeom prst="line">
                <a:avLst/>
              </a:prstGeom>
              <a:ln w="15875">
                <a:solidFill>
                  <a:srgbClr val="6D9DB5"/>
                </a:solidFill>
                <a:prstDash val="dash"/>
              </a:ln>
            </p:spPr>
            <p:style>
              <a:lnRef idx="1">
                <a:schemeClr val="accent1"/>
              </a:lnRef>
              <a:fillRef idx="0">
                <a:schemeClr val="accent1"/>
              </a:fillRef>
              <a:effectRef idx="0">
                <a:schemeClr val="accent1"/>
              </a:effectRef>
              <a:fontRef idx="minor">
                <a:schemeClr val="tx1"/>
              </a:fontRef>
            </p:style>
          </p:cxnSp>
          <p:sp>
            <p:nvSpPr>
              <p:cNvPr id="43" name="文本框 6">
                <a:extLst>
                  <a:ext uri="{FF2B5EF4-FFF2-40B4-BE49-F238E27FC236}">
                    <a16:creationId xmlns:a16="http://schemas.microsoft.com/office/drawing/2014/main" id="{38B09584-AAFF-4C9F-8FDC-F310D79BDB28}"/>
                  </a:ext>
                </a:extLst>
              </p:cNvPr>
              <p:cNvSpPr txBox="1">
                <a:spLocks noChangeArrowheads="1"/>
              </p:cNvSpPr>
              <p:nvPr/>
            </p:nvSpPr>
            <p:spPr bwMode="auto">
              <a:xfrm>
                <a:off x="4067944" y="4653136"/>
                <a:ext cx="460774" cy="4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1800" b="0" dirty="0">
                    <a:latin typeface="Arial" panose="020B0604020202020204" pitchFamily="34" charset="0"/>
                  </a:rPr>
                  <a:t>L</a:t>
                </a:r>
                <a:r>
                  <a:rPr lang="en-US" altLang="zh-CN" sz="1800" b="0" baseline="-25000" dirty="0">
                    <a:latin typeface="Arial" panose="020B0604020202020204" pitchFamily="34" charset="0"/>
                  </a:rPr>
                  <a:t>0</a:t>
                </a:r>
                <a:endParaRPr lang="zh-CN" altLang="en-US" sz="1800" b="0" baseline="-25000" dirty="0">
                  <a:latin typeface="Arial" panose="020B0604020202020204" pitchFamily="34" charset="0"/>
                </a:endParaRPr>
              </a:p>
            </p:txBody>
          </p:sp>
          <p:sp>
            <p:nvSpPr>
              <p:cNvPr id="44" name="文本框 37">
                <a:extLst>
                  <a:ext uri="{FF2B5EF4-FFF2-40B4-BE49-F238E27FC236}">
                    <a16:creationId xmlns:a16="http://schemas.microsoft.com/office/drawing/2014/main" id="{078EFE85-869E-43BE-BBC5-69424958DAB0}"/>
                  </a:ext>
                </a:extLst>
              </p:cNvPr>
              <p:cNvSpPr txBox="1">
                <a:spLocks noChangeArrowheads="1"/>
              </p:cNvSpPr>
              <p:nvPr/>
            </p:nvSpPr>
            <p:spPr bwMode="auto">
              <a:xfrm>
                <a:off x="4678190" y="4643844"/>
                <a:ext cx="460774" cy="4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1800" b="0" dirty="0">
                    <a:latin typeface="Arial" panose="020B0604020202020204" pitchFamily="34" charset="0"/>
                  </a:rPr>
                  <a:t>L</a:t>
                </a:r>
                <a:r>
                  <a:rPr lang="en-US" altLang="zh-CN" sz="1800" b="0" baseline="-25000" dirty="0">
                    <a:latin typeface="Arial" panose="020B0604020202020204" pitchFamily="34" charset="0"/>
                  </a:rPr>
                  <a:t>1</a:t>
                </a:r>
                <a:endParaRPr lang="zh-CN" altLang="en-US" sz="1800" b="0" baseline="-25000" dirty="0">
                  <a:latin typeface="Arial" panose="020B0604020202020204" pitchFamily="34" charset="0"/>
                </a:endParaRPr>
              </a:p>
            </p:txBody>
          </p:sp>
          <p:sp>
            <p:nvSpPr>
              <p:cNvPr id="45" name="文本框 38">
                <a:extLst>
                  <a:ext uri="{FF2B5EF4-FFF2-40B4-BE49-F238E27FC236}">
                    <a16:creationId xmlns:a16="http://schemas.microsoft.com/office/drawing/2014/main" id="{07A19597-25E1-401A-9AEF-83ED4F982BFA}"/>
                  </a:ext>
                </a:extLst>
              </p:cNvPr>
              <p:cNvSpPr txBox="1">
                <a:spLocks noChangeArrowheads="1"/>
              </p:cNvSpPr>
              <p:nvPr/>
            </p:nvSpPr>
            <p:spPr bwMode="auto">
              <a:xfrm>
                <a:off x="5398269" y="4653136"/>
                <a:ext cx="460774" cy="4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r>
                  <a:rPr lang="en-US" altLang="zh-CN" sz="1800" b="0" dirty="0">
                    <a:latin typeface="Arial" panose="020B0604020202020204" pitchFamily="34" charset="0"/>
                  </a:rPr>
                  <a:t>L</a:t>
                </a:r>
                <a:r>
                  <a:rPr lang="en-US" altLang="zh-CN" sz="1800" b="0" baseline="-25000" dirty="0">
                    <a:latin typeface="Arial" panose="020B0604020202020204" pitchFamily="34" charset="0"/>
                  </a:rPr>
                  <a:t>2</a:t>
                </a:r>
                <a:endParaRPr lang="zh-CN" altLang="en-US" sz="1800" b="0" baseline="-25000" dirty="0">
                  <a:latin typeface="Arial" panose="020B0604020202020204" pitchFamily="34" charset="0"/>
                </a:endParaRPr>
              </a:p>
            </p:txBody>
          </p:sp>
        </p:grpSp>
      </p:grpSp>
    </p:spTree>
    <p:extLst>
      <p:ext uri="{BB962C8B-B14F-4D97-AF65-F5344CB8AC3E}">
        <p14:creationId xmlns:p14="http://schemas.microsoft.com/office/powerpoint/2010/main" val="224590318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2"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 calcmode="lin" valueType="num">
                                      <p:cBhvr additive="base">
                                        <p:cTn id="14" dur="500" fill="hold"/>
                                        <p:tgtEl>
                                          <p:spTgt spid="28"/>
                                        </p:tgtEl>
                                        <p:attrNameLst>
                                          <p:attrName>ppt_x</p:attrName>
                                        </p:attrNameLst>
                                      </p:cBhvr>
                                      <p:tavLst>
                                        <p:tav tm="0">
                                          <p:val>
                                            <p:strVal val="1+#ppt_w/2"/>
                                          </p:val>
                                        </p:tav>
                                        <p:tav tm="100000">
                                          <p:val>
                                            <p:strVal val="#ppt_x"/>
                                          </p:val>
                                        </p:tav>
                                      </p:tavLst>
                                    </p:anim>
                                    <p:anim calcmode="lin" valueType="num">
                                      <p:cBhvr additive="base">
                                        <p:cTn id="15" dur="500" fill="hold"/>
                                        <p:tgtEl>
                                          <p:spTgt spid="28"/>
                                        </p:tgtEl>
                                        <p:attrNameLst>
                                          <p:attrName>ppt_y</p:attrName>
                                        </p:attrNameLst>
                                      </p:cBhvr>
                                      <p:tavLst>
                                        <p:tav tm="0">
                                          <p:val>
                                            <p:strVal val="#ppt_y"/>
                                          </p:val>
                                        </p:tav>
                                        <p:tav tm="100000">
                                          <p:val>
                                            <p:strVal val="#ppt_y"/>
                                          </p:val>
                                        </p:tav>
                                      </p:tavLst>
                                    </p:anim>
                                  </p:childTnLst>
                                </p:cTn>
                              </p:par>
                              <p:par>
                                <p:cTn id="16" presetID="2" presetClass="entr" presetSubtype="2" fill="hold" grpId="0" nodeType="withEffect">
                                  <p:stCondLst>
                                    <p:cond delay="0"/>
                                  </p:stCondLst>
                                  <p:childTnLst>
                                    <p:set>
                                      <p:cBhvr>
                                        <p:cTn id="17" dur="1" fill="hold">
                                          <p:stCondLst>
                                            <p:cond delay="0"/>
                                          </p:stCondLst>
                                        </p:cTn>
                                        <p:tgtEl>
                                          <p:spTgt spid="29"/>
                                        </p:tgtEl>
                                        <p:attrNameLst>
                                          <p:attrName>style.visibility</p:attrName>
                                        </p:attrNameLst>
                                      </p:cBhvr>
                                      <p:to>
                                        <p:strVal val="visible"/>
                                      </p:to>
                                    </p:set>
                                    <p:anim calcmode="lin" valueType="num">
                                      <p:cBhvr additive="base">
                                        <p:cTn id="18" dur="500" fill="hold"/>
                                        <p:tgtEl>
                                          <p:spTgt spid="29"/>
                                        </p:tgtEl>
                                        <p:attrNameLst>
                                          <p:attrName>ppt_x</p:attrName>
                                        </p:attrNameLst>
                                      </p:cBhvr>
                                      <p:tavLst>
                                        <p:tav tm="0">
                                          <p:val>
                                            <p:strVal val="1+#ppt_w/2"/>
                                          </p:val>
                                        </p:tav>
                                        <p:tav tm="100000">
                                          <p:val>
                                            <p:strVal val="#ppt_x"/>
                                          </p:val>
                                        </p:tav>
                                      </p:tavLst>
                                    </p:anim>
                                    <p:anim calcmode="lin" valueType="num">
                                      <p:cBhvr additive="base">
                                        <p:cTn id="19" dur="500" fill="hold"/>
                                        <p:tgtEl>
                                          <p:spTgt spid="29"/>
                                        </p:tgtEl>
                                        <p:attrNameLst>
                                          <p:attrName>ppt_y</p:attrName>
                                        </p:attrNameLst>
                                      </p:cBhvr>
                                      <p:tavLst>
                                        <p:tav tm="0">
                                          <p:val>
                                            <p:strVal val="#ppt_y"/>
                                          </p:val>
                                        </p:tav>
                                        <p:tav tm="100000">
                                          <p:val>
                                            <p:strVal val="#ppt_y"/>
                                          </p:val>
                                        </p:tav>
                                      </p:tavLst>
                                    </p:anim>
                                  </p:childTnLst>
                                </p:cTn>
                              </p:par>
                              <p:par>
                                <p:cTn id="20" presetID="2" presetClass="entr" presetSubtype="2" fill="hold" grpId="0" nodeType="withEffect">
                                  <p:stCondLst>
                                    <p:cond delay="0"/>
                                  </p:stCondLst>
                                  <p:childTnLst>
                                    <p:set>
                                      <p:cBhvr>
                                        <p:cTn id="21" dur="1" fill="hold">
                                          <p:stCondLst>
                                            <p:cond delay="0"/>
                                          </p:stCondLst>
                                        </p:cTn>
                                        <p:tgtEl>
                                          <p:spTgt spid="30"/>
                                        </p:tgtEl>
                                        <p:attrNameLst>
                                          <p:attrName>style.visibility</p:attrName>
                                        </p:attrNameLst>
                                      </p:cBhvr>
                                      <p:to>
                                        <p:strVal val="visible"/>
                                      </p:to>
                                    </p:set>
                                    <p:anim calcmode="lin" valueType="num">
                                      <p:cBhvr additive="base">
                                        <p:cTn id="22" dur="500" fill="hold"/>
                                        <p:tgtEl>
                                          <p:spTgt spid="30"/>
                                        </p:tgtEl>
                                        <p:attrNameLst>
                                          <p:attrName>ppt_x</p:attrName>
                                        </p:attrNameLst>
                                      </p:cBhvr>
                                      <p:tavLst>
                                        <p:tav tm="0">
                                          <p:val>
                                            <p:strVal val="1+#ppt_w/2"/>
                                          </p:val>
                                        </p:tav>
                                        <p:tav tm="100000">
                                          <p:val>
                                            <p:strVal val="#ppt_x"/>
                                          </p:val>
                                        </p:tav>
                                      </p:tavLst>
                                    </p:anim>
                                    <p:anim calcmode="lin" valueType="num">
                                      <p:cBhvr additive="base">
                                        <p:cTn id="23" dur="500" fill="hold"/>
                                        <p:tgtEl>
                                          <p:spTgt spid="30"/>
                                        </p:tgtEl>
                                        <p:attrNameLst>
                                          <p:attrName>ppt_y</p:attrName>
                                        </p:attrNameLst>
                                      </p:cBhvr>
                                      <p:tavLst>
                                        <p:tav tm="0">
                                          <p:val>
                                            <p:strVal val="#ppt_y"/>
                                          </p:val>
                                        </p:tav>
                                        <p:tav tm="100000">
                                          <p:val>
                                            <p:strVal val="#ppt_y"/>
                                          </p:val>
                                        </p:tav>
                                      </p:tavLst>
                                    </p:anim>
                                  </p:childTnLst>
                                </p:cTn>
                              </p:par>
                              <p:par>
                                <p:cTn id="24" presetID="2" presetClass="entr" presetSubtype="2" fill="hold" grpId="0" nodeType="withEffect">
                                  <p:stCondLst>
                                    <p:cond delay="0"/>
                                  </p:stCondLst>
                                  <p:childTnLst>
                                    <p:set>
                                      <p:cBhvr>
                                        <p:cTn id="25" dur="1" fill="hold">
                                          <p:stCondLst>
                                            <p:cond delay="0"/>
                                          </p:stCondLst>
                                        </p:cTn>
                                        <p:tgtEl>
                                          <p:spTgt spid="31"/>
                                        </p:tgtEl>
                                        <p:attrNameLst>
                                          <p:attrName>style.visibility</p:attrName>
                                        </p:attrNameLst>
                                      </p:cBhvr>
                                      <p:to>
                                        <p:strVal val="visible"/>
                                      </p:to>
                                    </p:set>
                                    <p:anim calcmode="lin" valueType="num">
                                      <p:cBhvr additive="base">
                                        <p:cTn id="26" dur="500" fill="hold"/>
                                        <p:tgtEl>
                                          <p:spTgt spid="31"/>
                                        </p:tgtEl>
                                        <p:attrNameLst>
                                          <p:attrName>ppt_x</p:attrName>
                                        </p:attrNameLst>
                                      </p:cBhvr>
                                      <p:tavLst>
                                        <p:tav tm="0">
                                          <p:val>
                                            <p:strVal val="1+#ppt_w/2"/>
                                          </p:val>
                                        </p:tav>
                                        <p:tav tm="100000">
                                          <p:val>
                                            <p:strVal val="#ppt_x"/>
                                          </p:val>
                                        </p:tav>
                                      </p:tavLst>
                                    </p:anim>
                                    <p:anim calcmode="lin" valueType="num">
                                      <p:cBhvr additive="base">
                                        <p:cTn id="27" dur="500" fill="hold"/>
                                        <p:tgtEl>
                                          <p:spTgt spid="31"/>
                                        </p:tgtEl>
                                        <p:attrNameLst>
                                          <p:attrName>ppt_y</p:attrName>
                                        </p:attrNameLst>
                                      </p:cBhvr>
                                      <p:tavLst>
                                        <p:tav tm="0">
                                          <p:val>
                                            <p:strVal val="#ppt_y"/>
                                          </p:val>
                                        </p:tav>
                                        <p:tav tm="100000">
                                          <p:val>
                                            <p:strVal val="#ppt_y"/>
                                          </p:val>
                                        </p:tav>
                                      </p:tavLst>
                                    </p:anim>
                                  </p:childTnLst>
                                </p:cTn>
                              </p:par>
                              <p:par>
                                <p:cTn id="28" presetID="2" presetClass="entr" presetSubtype="2" fill="hold" grpId="0" nodeType="withEffect">
                                  <p:stCondLst>
                                    <p:cond delay="0"/>
                                  </p:stCondLst>
                                  <p:childTnLst>
                                    <p:set>
                                      <p:cBhvr>
                                        <p:cTn id="29" dur="1" fill="hold">
                                          <p:stCondLst>
                                            <p:cond delay="0"/>
                                          </p:stCondLst>
                                        </p:cTn>
                                        <p:tgtEl>
                                          <p:spTgt spid="32"/>
                                        </p:tgtEl>
                                        <p:attrNameLst>
                                          <p:attrName>style.visibility</p:attrName>
                                        </p:attrNameLst>
                                      </p:cBhvr>
                                      <p:to>
                                        <p:strVal val="visible"/>
                                      </p:to>
                                    </p:set>
                                    <p:anim calcmode="lin" valueType="num">
                                      <p:cBhvr additive="base">
                                        <p:cTn id="30" dur="500" fill="hold"/>
                                        <p:tgtEl>
                                          <p:spTgt spid="32"/>
                                        </p:tgtEl>
                                        <p:attrNameLst>
                                          <p:attrName>ppt_x</p:attrName>
                                        </p:attrNameLst>
                                      </p:cBhvr>
                                      <p:tavLst>
                                        <p:tav tm="0">
                                          <p:val>
                                            <p:strVal val="1+#ppt_w/2"/>
                                          </p:val>
                                        </p:tav>
                                        <p:tav tm="100000">
                                          <p:val>
                                            <p:strVal val="#ppt_x"/>
                                          </p:val>
                                        </p:tav>
                                      </p:tavLst>
                                    </p:anim>
                                    <p:anim calcmode="lin" valueType="num">
                                      <p:cBhvr additive="base">
                                        <p:cTn id="31" dur="500" fill="hold"/>
                                        <p:tgtEl>
                                          <p:spTgt spid="32"/>
                                        </p:tgtEl>
                                        <p:attrNameLst>
                                          <p:attrName>ppt_y</p:attrName>
                                        </p:attrNameLst>
                                      </p:cBhvr>
                                      <p:tavLst>
                                        <p:tav tm="0">
                                          <p:val>
                                            <p:strVal val="#ppt_y"/>
                                          </p:val>
                                        </p:tav>
                                        <p:tav tm="100000">
                                          <p:val>
                                            <p:strVal val="#ppt_y"/>
                                          </p:val>
                                        </p:tav>
                                      </p:tavLst>
                                    </p:anim>
                                  </p:childTnLst>
                                </p:cTn>
                              </p:par>
                              <p:par>
                                <p:cTn id="32" presetID="2" presetClass="entr" presetSubtype="2"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 calcmode="lin" valueType="num">
                                      <p:cBhvr additive="base">
                                        <p:cTn id="34" dur="500" fill="hold"/>
                                        <p:tgtEl>
                                          <p:spTgt spid="33"/>
                                        </p:tgtEl>
                                        <p:attrNameLst>
                                          <p:attrName>ppt_x</p:attrName>
                                        </p:attrNameLst>
                                      </p:cBhvr>
                                      <p:tavLst>
                                        <p:tav tm="0">
                                          <p:val>
                                            <p:strVal val="1+#ppt_w/2"/>
                                          </p:val>
                                        </p:tav>
                                        <p:tav tm="100000">
                                          <p:val>
                                            <p:strVal val="#ppt_x"/>
                                          </p:val>
                                        </p:tav>
                                      </p:tavLst>
                                    </p:anim>
                                    <p:anim calcmode="lin" valueType="num">
                                      <p:cBhvr additive="base">
                                        <p:cTn id="35" dur="500" fill="hold"/>
                                        <p:tgtEl>
                                          <p:spTgt spid="33"/>
                                        </p:tgtEl>
                                        <p:attrNameLst>
                                          <p:attrName>ppt_y</p:attrName>
                                        </p:attrNameLst>
                                      </p:cBhvr>
                                      <p:tavLst>
                                        <p:tav tm="0">
                                          <p:val>
                                            <p:strVal val="#ppt_y"/>
                                          </p:val>
                                        </p:tav>
                                        <p:tav tm="100000">
                                          <p:val>
                                            <p:strVal val="#ppt_y"/>
                                          </p:val>
                                        </p:tav>
                                      </p:tavLst>
                                    </p:anim>
                                  </p:childTnLst>
                                </p:cTn>
                              </p:par>
                              <p:par>
                                <p:cTn id="36" presetID="2" presetClass="entr" presetSubtype="2" fill="hold" grpId="0" nodeType="withEffect">
                                  <p:stCondLst>
                                    <p:cond delay="0"/>
                                  </p:stCondLst>
                                  <p:childTnLst>
                                    <p:set>
                                      <p:cBhvr>
                                        <p:cTn id="37" dur="1" fill="hold">
                                          <p:stCondLst>
                                            <p:cond delay="0"/>
                                          </p:stCondLst>
                                        </p:cTn>
                                        <p:tgtEl>
                                          <p:spTgt spid="34"/>
                                        </p:tgtEl>
                                        <p:attrNameLst>
                                          <p:attrName>style.visibility</p:attrName>
                                        </p:attrNameLst>
                                      </p:cBhvr>
                                      <p:to>
                                        <p:strVal val="visible"/>
                                      </p:to>
                                    </p:set>
                                    <p:anim calcmode="lin" valueType="num">
                                      <p:cBhvr additive="base">
                                        <p:cTn id="38" dur="500" fill="hold"/>
                                        <p:tgtEl>
                                          <p:spTgt spid="34"/>
                                        </p:tgtEl>
                                        <p:attrNameLst>
                                          <p:attrName>ppt_x</p:attrName>
                                        </p:attrNameLst>
                                      </p:cBhvr>
                                      <p:tavLst>
                                        <p:tav tm="0">
                                          <p:val>
                                            <p:strVal val="1+#ppt_w/2"/>
                                          </p:val>
                                        </p:tav>
                                        <p:tav tm="100000">
                                          <p:val>
                                            <p:strVal val="#ppt_x"/>
                                          </p:val>
                                        </p:tav>
                                      </p:tavLst>
                                    </p:anim>
                                    <p:anim calcmode="lin" valueType="num">
                                      <p:cBhvr additive="base">
                                        <p:cTn id="39" dur="500" fill="hold"/>
                                        <p:tgtEl>
                                          <p:spTgt spid="34"/>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0"/>
                                  </p:stCondLst>
                                  <p:childTnLst>
                                    <p:set>
                                      <p:cBhvr>
                                        <p:cTn id="41" dur="1" fill="hold">
                                          <p:stCondLst>
                                            <p:cond delay="0"/>
                                          </p:stCondLst>
                                        </p:cTn>
                                        <p:tgtEl>
                                          <p:spTgt spid="35"/>
                                        </p:tgtEl>
                                        <p:attrNameLst>
                                          <p:attrName>style.visibility</p:attrName>
                                        </p:attrNameLst>
                                      </p:cBhvr>
                                      <p:to>
                                        <p:strVal val="visible"/>
                                      </p:to>
                                    </p:set>
                                    <p:anim calcmode="lin" valueType="num">
                                      <p:cBhvr additive="base">
                                        <p:cTn id="42" dur="500" fill="hold"/>
                                        <p:tgtEl>
                                          <p:spTgt spid="35"/>
                                        </p:tgtEl>
                                        <p:attrNameLst>
                                          <p:attrName>ppt_x</p:attrName>
                                        </p:attrNameLst>
                                      </p:cBhvr>
                                      <p:tavLst>
                                        <p:tav tm="0">
                                          <p:val>
                                            <p:strVal val="1+#ppt_w/2"/>
                                          </p:val>
                                        </p:tav>
                                        <p:tav tm="100000">
                                          <p:val>
                                            <p:strVal val="#ppt_x"/>
                                          </p:val>
                                        </p:tav>
                                      </p:tavLst>
                                    </p:anim>
                                    <p:anim calcmode="lin" valueType="num">
                                      <p:cBhvr additive="base">
                                        <p:cTn id="43"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wipe(up)">
                                      <p:cBhvr>
                                        <p:cTn id="48" dur="500"/>
                                        <p:tgtEl>
                                          <p:spTgt spid="36"/>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up)">
                                      <p:cBhvr>
                                        <p:cTn id="53" dur="500"/>
                                        <p:tgtEl>
                                          <p:spTgt spid="2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27"/>
                                        </p:tgtEl>
                                        <p:attrNameLst>
                                          <p:attrName>style.visibility</p:attrName>
                                        </p:attrNameLst>
                                      </p:cBhvr>
                                      <p:to>
                                        <p:strVal val="visible"/>
                                      </p:to>
                                    </p:set>
                                    <p:animEffect transition="in" filter="wipe(up)">
                                      <p:cBhvr>
                                        <p:cTn id="58" dur="500"/>
                                        <p:tgtEl>
                                          <p:spTgt spid="2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37"/>
                                        </p:tgtEl>
                                        <p:attrNameLst>
                                          <p:attrName>style.visibility</p:attrName>
                                        </p:attrNameLst>
                                      </p:cBhvr>
                                      <p:to>
                                        <p:strVal val="visible"/>
                                      </p:to>
                                    </p:set>
                                    <p:animEffect transition="in" filter="wipe(up)">
                                      <p:cBhvr>
                                        <p:cTn id="6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8" grpId="0" animBg="1"/>
      <p:bldP spid="29" grpId="0"/>
      <p:bldP spid="30" grpId="0"/>
      <p:bldP spid="31" grpId="0"/>
      <p:bldP spid="32" grpId="0"/>
      <p:bldP spid="33" grpId="0"/>
      <p:bldP spid="34" grpId="0"/>
      <p:bldP spid="35" grpId="0"/>
      <p:bldP spid="36" grpId="0"/>
      <p:bldP spid="26" grpId="0"/>
      <p:bldP spid="27" grpId="0"/>
      <p:bldP spid="3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a:extLst>
              <a:ext uri="{FF2B5EF4-FFF2-40B4-BE49-F238E27FC236}">
                <a16:creationId xmlns:a16="http://schemas.microsoft.com/office/drawing/2014/main" id="{015E5300-5096-49FD-879E-9D5CBF7FAC42}"/>
              </a:ext>
            </a:extLst>
          </p:cNvPr>
          <p:cNvGrpSpPr/>
          <p:nvPr/>
        </p:nvGrpSpPr>
        <p:grpSpPr>
          <a:xfrm>
            <a:off x="722350" y="1311103"/>
            <a:ext cx="5495923" cy="533721"/>
            <a:chOff x="467544" y="1268760"/>
            <a:chExt cx="8192278" cy="1306490"/>
          </a:xfrm>
        </p:grpSpPr>
        <p:sp>
          <p:nvSpPr>
            <p:cNvPr id="23" name="矩形 22">
              <a:extLst>
                <a:ext uri="{FF2B5EF4-FFF2-40B4-BE49-F238E27FC236}">
                  <a16:creationId xmlns:a16="http://schemas.microsoft.com/office/drawing/2014/main" id="{44E57759-B9E5-441C-86CF-347ED027455B}"/>
                </a:ext>
              </a:extLst>
            </p:cNvPr>
            <p:cNvSpPr/>
            <p:nvPr/>
          </p:nvSpPr>
          <p:spPr>
            <a:xfrm>
              <a:off x="467544" y="1268760"/>
              <a:ext cx="8192278" cy="130649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24" name="矩形 23">
              <a:extLst>
                <a:ext uri="{FF2B5EF4-FFF2-40B4-BE49-F238E27FC236}">
                  <a16:creationId xmlns:a16="http://schemas.microsoft.com/office/drawing/2014/main" id="{06B9519F-7BA2-4D39-AE0C-D9726E6C5C43}"/>
                </a:ext>
              </a:extLst>
            </p:cNvPr>
            <p:cNvSpPr/>
            <p:nvPr/>
          </p:nvSpPr>
          <p:spPr>
            <a:xfrm>
              <a:off x="538031" y="1342300"/>
              <a:ext cx="8051305" cy="115941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sp>
        <p:nvSpPr>
          <p:cNvPr id="2" name="矩形 1">
            <a:extLst>
              <a:ext uri="{FF2B5EF4-FFF2-40B4-BE49-F238E27FC236}">
                <a16:creationId xmlns:a16="http://schemas.microsoft.com/office/drawing/2014/main" id="{347443A5-DA80-45CC-BAE6-3341F4492F55}"/>
              </a:ext>
            </a:extLst>
          </p:cNvPr>
          <p:cNvSpPr/>
          <p:nvPr/>
        </p:nvSpPr>
        <p:spPr>
          <a:xfrm>
            <a:off x="6732240" y="35332"/>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第三节 短期生产函数</a:t>
            </a:r>
          </a:p>
        </p:txBody>
      </p:sp>
      <p:sp>
        <p:nvSpPr>
          <p:cNvPr id="20" name="矩形 19">
            <a:extLst>
              <a:ext uri="{FF2B5EF4-FFF2-40B4-BE49-F238E27FC236}">
                <a16:creationId xmlns:a16="http://schemas.microsoft.com/office/drawing/2014/main" id="{478690CD-6BC8-4B7A-AB7D-FAC067A185E6}"/>
              </a:ext>
            </a:extLst>
          </p:cNvPr>
          <p:cNvSpPr/>
          <p:nvPr/>
        </p:nvSpPr>
        <p:spPr>
          <a:xfrm>
            <a:off x="1416959" y="1392030"/>
            <a:ext cx="4801314" cy="400110"/>
          </a:xfrm>
          <a:prstGeom prst="rect">
            <a:avLst/>
          </a:prstGeom>
        </p:spPr>
        <p:txBody>
          <a:bodyPr wrap="none">
            <a:spAutoFit/>
          </a:bodyPr>
          <a:lstStyle/>
          <a:p>
            <a:pPr>
              <a:buClr>
                <a:srgbClr val="C00000"/>
              </a:buClr>
            </a:pPr>
            <a:r>
              <a:rPr lang="zh-CN" altLang="en-US" sz="2000" dirty="0">
                <a:latin typeface="微软雅黑" panose="020B0503020204020204" pitchFamily="34" charset="-122"/>
                <a:ea typeface="微软雅黑" panose="020B0503020204020204" pitchFamily="34" charset="-122"/>
              </a:rPr>
              <a:t>一种生产投入要素变化，产出如何改变？</a:t>
            </a:r>
          </a:p>
        </p:txBody>
      </p:sp>
      <p:sp>
        <p:nvSpPr>
          <p:cNvPr id="21" name="矩形 20">
            <a:extLst>
              <a:ext uri="{FF2B5EF4-FFF2-40B4-BE49-F238E27FC236}">
                <a16:creationId xmlns:a16="http://schemas.microsoft.com/office/drawing/2014/main" id="{0B541AE3-54E8-471E-BA32-1FDAF17E1536}"/>
              </a:ext>
            </a:extLst>
          </p:cNvPr>
          <p:cNvSpPr/>
          <p:nvPr/>
        </p:nvSpPr>
        <p:spPr>
          <a:xfrm>
            <a:off x="467544" y="2123564"/>
            <a:ext cx="4183847" cy="369332"/>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总产量随着投入的增加而增加。</a:t>
            </a:r>
          </a:p>
        </p:txBody>
      </p:sp>
      <p:pic>
        <p:nvPicPr>
          <p:cNvPr id="25" name="图片 24">
            <a:extLst>
              <a:ext uri="{FF2B5EF4-FFF2-40B4-BE49-F238E27FC236}">
                <a16:creationId xmlns:a16="http://schemas.microsoft.com/office/drawing/2014/main" id="{41F2DC1C-4D75-4B3C-B438-7CA8D730C4F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8515" y="1346565"/>
            <a:ext cx="448444" cy="448444"/>
          </a:xfrm>
          <a:prstGeom prst="rect">
            <a:avLst/>
          </a:prstGeom>
          <a:effectLst>
            <a:innerShdw blurRad="114300">
              <a:prstClr val="black"/>
            </a:innerShdw>
          </a:effectLst>
        </p:spPr>
      </p:pic>
      <p:sp>
        <p:nvSpPr>
          <p:cNvPr id="26" name="矩形 25">
            <a:extLst>
              <a:ext uri="{FF2B5EF4-FFF2-40B4-BE49-F238E27FC236}">
                <a16:creationId xmlns:a16="http://schemas.microsoft.com/office/drawing/2014/main" id="{C3B39671-63CC-49EF-AE35-8D53D9474F47}"/>
              </a:ext>
            </a:extLst>
          </p:cNvPr>
          <p:cNvSpPr/>
          <p:nvPr/>
        </p:nvSpPr>
        <p:spPr>
          <a:xfrm>
            <a:off x="456439" y="2590408"/>
            <a:ext cx="8076001" cy="369332"/>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随着投入的增加，总产量先以递增的速度增加，然后又以递减的速度增加。</a:t>
            </a:r>
          </a:p>
        </p:txBody>
      </p:sp>
      <p:sp>
        <p:nvSpPr>
          <p:cNvPr id="27" name="矩形 26">
            <a:extLst>
              <a:ext uri="{FF2B5EF4-FFF2-40B4-BE49-F238E27FC236}">
                <a16:creationId xmlns:a16="http://schemas.microsoft.com/office/drawing/2014/main" id="{C7D37186-0287-457C-9D4E-52B2A6C63892}"/>
              </a:ext>
            </a:extLst>
          </p:cNvPr>
          <p:cNvSpPr/>
          <p:nvPr/>
        </p:nvSpPr>
        <p:spPr>
          <a:xfrm>
            <a:off x="467544" y="3059668"/>
            <a:ext cx="4821564" cy="369332"/>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平均产量先递增，然后不变，最后递减。</a:t>
            </a:r>
          </a:p>
        </p:txBody>
      </p:sp>
      <p:sp>
        <p:nvSpPr>
          <p:cNvPr id="28" name="矩形 27">
            <a:extLst>
              <a:ext uri="{FF2B5EF4-FFF2-40B4-BE49-F238E27FC236}">
                <a16:creationId xmlns:a16="http://schemas.microsoft.com/office/drawing/2014/main" id="{5F347D3E-88C8-48DD-B4DA-F821ADD2E07C}"/>
              </a:ext>
            </a:extLst>
          </p:cNvPr>
          <p:cNvSpPr/>
          <p:nvPr/>
        </p:nvSpPr>
        <p:spPr>
          <a:xfrm>
            <a:off x="482918" y="3697868"/>
            <a:ext cx="5241210" cy="523220"/>
          </a:xfrm>
          <a:prstGeom prst="rect">
            <a:avLst/>
          </a:prstGeom>
        </p:spPr>
        <p:txBody>
          <a:bodyPr wrap="square">
            <a:spAutoFit/>
          </a:bodyPr>
          <a:lstStyle/>
          <a:p>
            <a:pPr marL="285750" indent="-285750">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最初， MP &gt; AP，then AP is RISING。如果你在这堂课得到的边际成绩高于你自己的平均绩点，那么你的gpa就会上升。</a:t>
            </a:r>
            <a:endParaRPr lang="en-US" altLang="zh-CN" sz="1400"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1A4B3B14-A43D-4AB6-9E41-3CAF068CDFC4}"/>
              </a:ext>
            </a:extLst>
          </p:cNvPr>
          <p:cNvSpPr/>
          <p:nvPr/>
        </p:nvSpPr>
        <p:spPr>
          <a:xfrm>
            <a:off x="503129" y="4350129"/>
            <a:ext cx="5220999" cy="738664"/>
          </a:xfrm>
          <a:prstGeom prst="rect">
            <a:avLst/>
          </a:prstGeom>
        </p:spPr>
        <p:txBody>
          <a:bodyPr wrap="square">
            <a:spAutoFit/>
          </a:bodyPr>
          <a:lstStyle/>
          <a:p>
            <a:pPr marL="285750" indent="-285750">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中间，When MP = AP，then AP is at its MAX。如果新雇佣的工人效率和之前雇佣的工人平均效率一样好，那么平均生产力就不会变化。</a:t>
            </a:r>
          </a:p>
        </p:txBody>
      </p:sp>
      <p:sp>
        <p:nvSpPr>
          <p:cNvPr id="10" name="矩形 9">
            <a:extLst>
              <a:ext uri="{FF2B5EF4-FFF2-40B4-BE49-F238E27FC236}">
                <a16:creationId xmlns:a16="http://schemas.microsoft.com/office/drawing/2014/main" id="{3A5317FC-CF3D-409C-BAD6-6C33ECA4F4C3}"/>
              </a:ext>
            </a:extLst>
          </p:cNvPr>
          <p:cNvSpPr/>
          <p:nvPr/>
        </p:nvSpPr>
        <p:spPr>
          <a:xfrm>
            <a:off x="507804" y="5138608"/>
            <a:ext cx="5216324" cy="738664"/>
          </a:xfrm>
          <a:prstGeom prst="rect">
            <a:avLst/>
          </a:prstGeom>
        </p:spPr>
        <p:txBody>
          <a:bodyPr wrap="square">
            <a:spAutoFit/>
          </a:bodyPr>
          <a:lstStyle/>
          <a:p>
            <a:pPr marL="285750" indent="-285750">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最后，MP &lt; AP，then AP is FALLING。如果添加到一个团队的边际体重小于这个团队的平均体重，那么这个团队的平均体重就会下降。</a:t>
            </a:r>
          </a:p>
        </p:txBody>
      </p:sp>
      <p:pic>
        <p:nvPicPr>
          <p:cNvPr id="13" name="图片 12">
            <a:extLst>
              <a:ext uri="{FF2B5EF4-FFF2-40B4-BE49-F238E27FC236}">
                <a16:creationId xmlns:a16="http://schemas.microsoft.com/office/drawing/2014/main" id="{17721523-64E2-460F-8EF8-A72FD3BDF9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70986" y="3467810"/>
            <a:ext cx="2736233" cy="2503302"/>
          </a:xfrm>
          <a:prstGeom prst="rect">
            <a:avLst/>
          </a:prstGeom>
        </p:spPr>
      </p:pic>
      <p:sp>
        <p:nvSpPr>
          <p:cNvPr id="15" name="矩形 14">
            <a:extLst>
              <a:ext uri="{FF2B5EF4-FFF2-40B4-BE49-F238E27FC236}">
                <a16:creationId xmlns:a16="http://schemas.microsoft.com/office/drawing/2014/main" id="{B575D70A-B40A-4EB3-AEB0-9FB9C6428121}"/>
              </a:ext>
            </a:extLst>
          </p:cNvPr>
          <p:cNvSpPr/>
          <p:nvPr/>
        </p:nvSpPr>
        <p:spPr>
          <a:xfrm>
            <a:off x="580922" y="520573"/>
            <a:ext cx="672738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三、总产量、平均产量和边际产量之间的关系</a:t>
            </a:r>
          </a:p>
        </p:txBody>
      </p:sp>
    </p:spTree>
    <p:extLst>
      <p:ext uri="{BB962C8B-B14F-4D97-AF65-F5344CB8AC3E}">
        <p14:creationId xmlns:p14="http://schemas.microsoft.com/office/powerpoint/2010/main" val="255861883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par>
                                <p:cTn id="10" presetID="53" presetClass="entr" presetSubtype="16"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 calcmode="lin" valueType="num">
                                      <p:cBhvr>
                                        <p:cTn id="19" dur="500" fill="hold"/>
                                        <p:tgtEl>
                                          <p:spTgt spid="22"/>
                                        </p:tgtEl>
                                        <p:attrNameLst>
                                          <p:attrName>ppt_w</p:attrName>
                                        </p:attrNameLst>
                                      </p:cBhvr>
                                      <p:tavLst>
                                        <p:tav tm="0">
                                          <p:val>
                                            <p:fltVal val="0"/>
                                          </p:val>
                                        </p:tav>
                                        <p:tav tm="100000">
                                          <p:val>
                                            <p:strVal val="#ppt_w"/>
                                          </p:val>
                                        </p:tav>
                                      </p:tavLst>
                                    </p:anim>
                                    <p:anim calcmode="lin" valueType="num">
                                      <p:cBhvr>
                                        <p:cTn id="20" dur="500" fill="hold"/>
                                        <p:tgtEl>
                                          <p:spTgt spid="22"/>
                                        </p:tgtEl>
                                        <p:attrNameLst>
                                          <p:attrName>ppt_h</p:attrName>
                                        </p:attrNameLst>
                                      </p:cBhvr>
                                      <p:tavLst>
                                        <p:tav tm="0">
                                          <p:val>
                                            <p:fltVal val="0"/>
                                          </p:val>
                                        </p:tav>
                                        <p:tav tm="100000">
                                          <p:val>
                                            <p:strVal val="#ppt_h"/>
                                          </p:val>
                                        </p:tav>
                                      </p:tavLst>
                                    </p:anim>
                                    <p:animEffect transition="in" filter="fade">
                                      <p:cBhvr>
                                        <p:cTn id="21" dur="500"/>
                                        <p:tgtEl>
                                          <p:spTgt spid="22"/>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p:cTn id="24" dur="500" fill="hold"/>
                                        <p:tgtEl>
                                          <p:spTgt spid="20"/>
                                        </p:tgtEl>
                                        <p:attrNameLst>
                                          <p:attrName>ppt_w</p:attrName>
                                        </p:attrNameLst>
                                      </p:cBhvr>
                                      <p:tavLst>
                                        <p:tav tm="0">
                                          <p:val>
                                            <p:fltVal val="0"/>
                                          </p:val>
                                        </p:tav>
                                        <p:tav tm="100000">
                                          <p:val>
                                            <p:strVal val="#ppt_w"/>
                                          </p:val>
                                        </p:tav>
                                      </p:tavLst>
                                    </p:anim>
                                    <p:anim calcmode="lin" valueType="num">
                                      <p:cBhvr>
                                        <p:cTn id="25" dur="500" fill="hold"/>
                                        <p:tgtEl>
                                          <p:spTgt spid="20"/>
                                        </p:tgtEl>
                                        <p:attrNameLst>
                                          <p:attrName>ppt_h</p:attrName>
                                        </p:attrNameLst>
                                      </p:cBhvr>
                                      <p:tavLst>
                                        <p:tav tm="0">
                                          <p:val>
                                            <p:fltVal val="0"/>
                                          </p:val>
                                        </p:tav>
                                        <p:tav tm="100000">
                                          <p:val>
                                            <p:strVal val="#ppt_h"/>
                                          </p:val>
                                        </p:tav>
                                      </p:tavLst>
                                    </p:anim>
                                    <p:animEffect transition="in" filter="fade">
                                      <p:cBhvr>
                                        <p:cTn id="26" dur="500"/>
                                        <p:tgtEl>
                                          <p:spTgt spid="20"/>
                                        </p:tgtEl>
                                      </p:cBhvr>
                                    </p:animEffect>
                                  </p:childTnLst>
                                </p:cTn>
                              </p:par>
                              <p:par>
                                <p:cTn id="27" presetID="53" presetClass="entr" presetSubtype="16"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anim calcmode="lin" valueType="num">
                                      <p:cBhvr>
                                        <p:cTn id="29" dur="500" fill="hold"/>
                                        <p:tgtEl>
                                          <p:spTgt spid="25"/>
                                        </p:tgtEl>
                                        <p:attrNameLst>
                                          <p:attrName>ppt_w</p:attrName>
                                        </p:attrNameLst>
                                      </p:cBhvr>
                                      <p:tavLst>
                                        <p:tav tm="0">
                                          <p:val>
                                            <p:fltVal val="0"/>
                                          </p:val>
                                        </p:tav>
                                        <p:tav tm="100000">
                                          <p:val>
                                            <p:strVal val="#ppt_w"/>
                                          </p:val>
                                        </p:tav>
                                      </p:tavLst>
                                    </p:anim>
                                    <p:anim calcmode="lin" valueType="num">
                                      <p:cBhvr>
                                        <p:cTn id="30" dur="500" fill="hold"/>
                                        <p:tgtEl>
                                          <p:spTgt spid="25"/>
                                        </p:tgtEl>
                                        <p:attrNameLst>
                                          <p:attrName>ppt_h</p:attrName>
                                        </p:attrNameLst>
                                      </p:cBhvr>
                                      <p:tavLst>
                                        <p:tav tm="0">
                                          <p:val>
                                            <p:fltVal val="0"/>
                                          </p:val>
                                        </p:tav>
                                        <p:tav tm="100000">
                                          <p:val>
                                            <p:strVal val="#ppt_h"/>
                                          </p:val>
                                        </p:tav>
                                      </p:tavLst>
                                    </p:anim>
                                    <p:animEffect transition="in" filter="fade">
                                      <p:cBhvr>
                                        <p:cTn id="31" dur="500"/>
                                        <p:tgtEl>
                                          <p:spTgt spid="2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wipe(down)">
                                      <p:cBhvr>
                                        <p:cTn id="36" dur="500"/>
                                        <p:tgtEl>
                                          <p:spTgt spid="21"/>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wipe(down)">
                                      <p:cBhvr>
                                        <p:cTn id="41" dur="500"/>
                                        <p:tgtEl>
                                          <p:spTgt spid="26"/>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down)">
                                      <p:cBhvr>
                                        <p:cTn id="46" dur="500"/>
                                        <p:tgtEl>
                                          <p:spTgt spid="2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28"/>
                                        </p:tgtEl>
                                        <p:attrNameLst>
                                          <p:attrName>style.visibility</p:attrName>
                                        </p:attrNameLst>
                                      </p:cBhvr>
                                      <p:to>
                                        <p:strVal val="visible"/>
                                      </p:to>
                                    </p:set>
                                    <p:animEffect transition="in" filter="wipe(left)">
                                      <p:cBhvr>
                                        <p:cTn id="51" dur="500"/>
                                        <p:tgtEl>
                                          <p:spTgt spid="28"/>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8"/>
                                        </p:tgtEl>
                                        <p:attrNameLst>
                                          <p:attrName>style.visibility</p:attrName>
                                        </p:attrNameLst>
                                      </p:cBhvr>
                                      <p:to>
                                        <p:strVal val="visible"/>
                                      </p:to>
                                    </p:set>
                                    <p:animEffect transition="in" filter="wipe(left)">
                                      <p:cBhvr>
                                        <p:cTn id="56" dur="500"/>
                                        <p:tgtEl>
                                          <p:spTgt spid="8"/>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0"/>
                                        </p:tgtEl>
                                        <p:attrNameLst>
                                          <p:attrName>style.visibility</p:attrName>
                                        </p:attrNameLst>
                                      </p:cBhvr>
                                      <p:to>
                                        <p:strVal val="visible"/>
                                      </p:to>
                                    </p:set>
                                    <p:animEffect transition="in" filter="wipe(left)">
                                      <p:cBhvr>
                                        <p:cTn id="6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6" grpId="0"/>
      <p:bldP spid="27" grpId="0"/>
      <p:bldP spid="28" grpId="0"/>
      <p:bldP spid="8" grpId="0"/>
      <p:bldP spid="10" grpId="0"/>
      <p:bldP spid="1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1A8DA7D3-03F1-40F3-90D0-E88D0C3013A8}"/>
              </a:ext>
            </a:extLst>
          </p:cNvPr>
          <p:cNvSpPr/>
          <p:nvPr/>
        </p:nvSpPr>
        <p:spPr>
          <a:xfrm>
            <a:off x="6732240" y="35332"/>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第三节 短期生产函数</a:t>
            </a:r>
          </a:p>
        </p:txBody>
      </p:sp>
      <p:sp>
        <p:nvSpPr>
          <p:cNvPr id="3" name="矩形 2">
            <a:extLst>
              <a:ext uri="{FF2B5EF4-FFF2-40B4-BE49-F238E27FC236}">
                <a16:creationId xmlns:a16="http://schemas.microsoft.com/office/drawing/2014/main" id="{4E17243E-F480-484F-8DA0-DCBC1BC2DCCB}"/>
              </a:ext>
            </a:extLst>
          </p:cNvPr>
          <p:cNvSpPr/>
          <p:nvPr/>
        </p:nvSpPr>
        <p:spPr>
          <a:xfrm>
            <a:off x="580922" y="520573"/>
            <a:ext cx="312698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四、生产的三个阶段</a:t>
            </a:r>
          </a:p>
        </p:txBody>
      </p:sp>
      <p:grpSp>
        <p:nvGrpSpPr>
          <p:cNvPr id="4" name="组合 19">
            <a:extLst>
              <a:ext uri="{FF2B5EF4-FFF2-40B4-BE49-F238E27FC236}">
                <a16:creationId xmlns:a16="http://schemas.microsoft.com/office/drawing/2014/main" id="{13063773-93B5-425F-B5A1-EA0ACCDDB0FE}"/>
              </a:ext>
            </a:extLst>
          </p:cNvPr>
          <p:cNvGrpSpPr>
            <a:grpSpLocks/>
          </p:cNvGrpSpPr>
          <p:nvPr/>
        </p:nvGrpSpPr>
        <p:grpSpPr bwMode="auto">
          <a:xfrm>
            <a:off x="755576" y="2780928"/>
            <a:ext cx="3650315" cy="3052849"/>
            <a:chOff x="0" y="0"/>
            <a:chExt cx="3714750" cy="3106737"/>
          </a:xfrm>
        </p:grpSpPr>
        <p:cxnSp>
          <p:nvCxnSpPr>
            <p:cNvPr id="5" name="直接箭头连接符 5">
              <a:extLst>
                <a:ext uri="{FF2B5EF4-FFF2-40B4-BE49-F238E27FC236}">
                  <a16:creationId xmlns:a16="http://schemas.microsoft.com/office/drawing/2014/main" id="{6B7F382B-28BF-4E1A-A197-6ADA33D166FD}"/>
                </a:ext>
              </a:extLst>
            </p:cNvPr>
            <p:cNvCxnSpPr>
              <a:cxnSpLocks noChangeShapeType="1"/>
            </p:cNvCxnSpPr>
            <p:nvPr/>
          </p:nvCxnSpPr>
          <p:spPr bwMode="auto">
            <a:xfrm>
              <a:off x="285750" y="2714624"/>
              <a:ext cx="3429000" cy="1588"/>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6" name="直接箭头连接符 7">
              <a:extLst>
                <a:ext uri="{FF2B5EF4-FFF2-40B4-BE49-F238E27FC236}">
                  <a16:creationId xmlns:a16="http://schemas.microsoft.com/office/drawing/2014/main" id="{7CEFB096-72EB-4D36-A74B-2CB6F6AC0874}"/>
                </a:ext>
              </a:extLst>
            </p:cNvPr>
            <p:cNvCxnSpPr>
              <a:cxnSpLocks noChangeShapeType="1"/>
            </p:cNvCxnSpPr>
            <p:nvPr/>
          </p:nvCxnSpPr>
          <p:spPr bwMode="auto">
            <a:xfrm rot="5400000" flipH="1" flipV="1">
              <a:off x="-1070769" y="1356515"/>
              <a:ext cx="2714624" cy="1587"/>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7" name="直接连接符 10">
              <a:extLst>
                <a:ext uri="{FF2B5EF4-FFF2-40B4-BE49-F238E27FC236}">
                  <a16:creationId xmlns:a16="http://schemas.microsoft.com/office/drawing/2014/main" id="{ED44BF2B-AE4D-4496-9550-D8CD7C0A775D}"/>
                </a:ext>
              </a:extLst>
            </p:cNvPr>
            <p:cNvCxnSpPr>
              <a:cxnSpLocks noChangeShapeType="1"/>
            </p:cNvCxnSpPr>
            <p:nvPr/>
          </p:nvCxnSpPr>
          <p:spPr bwMode="auto">
            <a:xfrm rot="5400000">
              <a:off x="642143" y="1358107"/>
              <a:ext cx="2716212" cy="0"/>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cxnSp>
          <p:nvCxnSpPr>
            <p:cNvPr id="8" name="直接连接符 12">
              <a:extLst>
                <a:ext uri="{FF2B5EF4-FFF2-40B4-BE49-F238E27FC236}">
                  <a16:creationId xmlns:a16="http://schemas.microsoft.com/office/drawing/2014/main" id="{AA666A0C-FFB0-4206-A6C4-E6C0CD39F178}"/>
                </a:ext>
              </a:extLst>
            </p:cNvPr>
            <p:cNvCxnSpPr>
              <a:cxnSpLocks noChangeShapeType="1"/>
            </p:cNvCxnSpPr>
            <p:nvPr/>
          </p:nvCxnSpPr>
          <p:spPr bwMode="auto">
            <a:xfrm rot="5400000">
              <a:off x="1607343" y="1321594"/>
              <a:ext cx="2644774" cy="1588"/>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sp>
          <p:nvSpPr>
            <p:cNvPr id="9" name="任意多边形 25">
              <a:extLst>
                <a:ext uri="{FF2B5EF4-FFF2-40B4-BE49-F238E27FC236}">
                  <a16:creationId xmlns:a16="http://schemas.microsoft.com/office/drawing/2014/main" id="{C1828755-0BB1-42CD-AF25-32394DD406A1}"/>
                </a:ext>
              </a:extLst>
            </p:cNvPr>
            <p:cNvSpPr>
              <a:spLocks noChangeArrowheads="1"/>
            </p:cNvSpPr>
            <p:nvPr/>
          </p:nvSpPr>
          <p:spPr bwMode="auto">
            <a:xfrm>
              <a:off x="285750" y="1500188"/>
              <a:ext cx="2928937" cy="1428750"/>
            </a:xfrm>
            <a:custGeom>
              <a:avLst/>
              <a:gdLst>
                <a:gd name="T0" fmla="*/ 0 w 2838450"/>
                <a:gd name="T1" fmla="*/ 1188400 h 1019175"/>
                <a:gd name="T2" fmla="*/ 1041837 w 2838450"/>
                <a:gd name="T3" fmla="*/ 40058 h 1019175"/>
                <a:gd name="T4" fmla="*/ 2928937 w 2838450"/>
                <a:gd name="T5" fmla="*/ 1428750 h 1019175"/>
                <a:gd name="T6" fmla="*/ 0 60000 65536"/>
                <a:gd name="T7" fmla="*/ 0 60000 65536"/>
                <a:gd name="T8" fmla="*/ 0 60000 65536"/>
                <a:gd name="T9" fmla="*/ 0 w 2838450"/>
                <a:gd name="T10" fmla="*/ 0 h 1019175"/>
                <a:gd name="T11" fmla="*/ 2838450 w 2838450"/>
                <a:gd name="T12" fmla="*/ 1019175 h 1019175"/>
              </a:gdLst>
              <a:ahLst/>
              <a:cxnLst>
                <a:cxn ang="T6">
                  <a:pos x="T0" y="T1"/>
                </a:cxn>
                <a:cxn ang="T7">
                  <a:pos x="T2" y="T3"/>
                </a:cxn>
                <a:cxn ang="T8">
                  <a:pos x="T4" y="T5"/>
                </a:cxn>
              </a:cxnLst>
              <a:rect l="T9" t="T10" r="T11" b="T12"/>
              <a:pathLst>
                <a:path w="2838450" h="1019175">
                  <a:moveTo>
                    <a:pt x="0" y="847725"/>
                  </a:moveTo>
                  <a:cubicBezTo>
                    <a:pt x="268287" y="423862"/>
                    <a:pt x="536575" y="0"/>
                    <a:pt x="1009650" y="28575"/>
                  </a:cubicBezTo>
                  <a:cubicBezTo>
                    <a:pt x="1482725" y="57150"/>
                    <a:pt x="2160587" y="538162"/>
                    <a:pt x="2838450" y="1019175"/>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sp>
          <p:nvSpPr>
            <p:cNvPr id="10" name="任意多边形 26">
              <a:extLst>
                <a:ext uri="{FF2B5EF4-FFF2-40B4-BE49-F238E27FC236}">
                  <a16:creationId xmlns:a16="http://schemas.microsoft.com/office/drawing/2014/main" id="{4F357B82-D1CB-48C7-928E-1BD18022F07B}"/>
                </a:ext>
              </a:extLst>
            </p:cNvPr>
            <p:cNvSpPr>
              <a:spLocks noChangeArrowheads="1"/>
            </p:cNvSpPr>
            <p:nvPr/>
          </p:nvSpPr>
          <p:spPr bwMode="auto">
            <a:xfrm>
              <a:off x="290512" y="1852612"/>
              <a:ext cx="3181350" cy="857250"/>
            </a:xfrm>
            <a:custGeom>
              <a:avLst/>
              <a:gdLst>
                <a:gd name="T0" fmla="*/ 0 w 3181350"/>
                <a:gd name="T1" fmla="*/ 857250 h 857250"/>
                <a:gd name="T2" fmla="*/ 1695450 w 3181350"/>
                <a:gd name="T3" fmla="*/ 19050 h 857250"/>
                <a:gd name="T4" fmla="*/ 3181350 w 3181350"/>
                <a:gd name="T5" fmla="*/ 742950 h 857250"/>
                <a:gd name="T6" fmla="*/ 3181350 w 3181350"/>
                <a:gd name="T7" fmla="*/ 742950 h 857250"/>
                <a:gd name="T8" fmla="*/ 0 60000 65536"/>
                <a:gd name="T9" fmla="*/ 0 60000 65536"/>
                <a:gd name="T10" fmla="*/ 0 60000 65536"/>
                <a:gd name="T11" fmla="*/ 0 60000 65536"/>
                <a:gd name="T12" fmla="*/ 0 w 3181350"/>
                <a:gd name="T13" fmla="*/ 0 h 857250"/>
                <a:gd name="T14" fmla="*/ 3181350 w 3181350"/>
                <a:gd name="T15" fmla="*/ 857250 h 857250"/>
              </a:gdLst>
              <a:ahLst/>
              <a:cxnLst>
                <a:cxn ang="T8">
                  <a:pos x="T0" y="T1"/>
                </a:cxn>
                <a:cxn ang="T9">
                  <a:pos x="T2" y="T3"/>
                </a:cxn>
                <a:cxn ang="T10">
                  <a:pos x="T4" y="T5"/>
                </a:cxn>
                <a:cxn ang="T11">
                  <a:pos x="T6" y="T7"/>
                </a:cxn>
              </a:cxnLst>
              <a:rect l="T12" t="T13" r="T14" b="T15"/>
              <a:pathLst>
                <a:path w="3181350" h="857250">
                  <a:moveTo>
                    <a:pt x="0" y="857250"/>
                  </a:moveTo>
                  <a:cubicBezTo>
                    <a:pt x="582612" y="447675"/>
                    <a:pt x="1165225" y="38100"/>
                    <a:pt x="1695450" y="19050"/>
                  </a:cubicBezTo>
                  <a:cubicBezTo>
                    <a:pt x="2225675" y="0"/>
                    <a:pt x="3181350" y="742950"/>
                    <a:pt x="3181350" y="742950"/>
                  </a:cubicBezTo>
                </a:path>
              </a:pathLst>
            </a:custGeom>
            <a:noFill/>
            <a:ln w="38100" cmpd="sng">
              <a:solidFill>
                <a:srgbClr val="A7C804"/>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11" name="Object 10">
              <a:extLst>
                <a:ext uri="{FF2B5EF4-FFF2-40B4-BE49-F238E27FC236}">
                  <a16:creationId xmlns:a16="http://schemas.microsoft.com/office/drawing/2014/main" id="{9FEA60ED-A8C0-415E-A9B0-17072D60939C}"/>
                </a:ext>
              </a:extLst>
            </p:cNvPr>
            <p:cNvGraphicFramePr>
              <a:graphicFrameLocks noChangeAspect="1"/>
            </p:cNvGraphicFramePr>
            <p:nvPr/>
          </p:nvGraphicFramePr>
          <p:xfrm>
            <a:off x="0" y="142875"/>
            <a:ext cx="212725" cy="284162"/>
          </p:xfrm>
          <a:graphic>
            <a:graphicData uri="http://schemas.openxmlformats.org/presentationml/2006/ole">
              <mc:AlternateContent xmlns:mc="http://schemas.openxmlformats.org/markup-compatibility/2006">
                <mc:Choice xmlns:v="urn:schemas-microsoft-com:vml" Requires="v">
                  <p:oleObj spid="_x0000_s117154" r:id="rId5" imgW="153381" imgH="204403" progId="">
                    <p:embed/>
                  </p:oleObj>
                </mc:Choice>
                <mc:Fallback>
                  <p:oleObj r:id="rId5" imgW="153381" imgH="204403" progId="">
                    <p:embed/>
                    <p:pic>
                      <p:nvPicPr>
                        <p:cNvPr id="21514"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42875"/>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11">
              <a:extLst>
                <a:ext uri="{FF2B5EF4-FFF2-40B4-BE49-F238E27FC236}">
                  <a16:creationId xmlns:a16="http://schemas.microsoft.com/office/drawing/2014/main" id="{60E331B7-F684-4CF5-BDCD-EE0D3BEEE1C3}"/>
                </a:ext>
              </a:extLst>
            </p:cNvPr>
            <p:cNvGraphicFramePr>
              <a:graphicFrameLocks noChangeAspect="1"/>
            </p:cNvGraphicFramePr>
            <p:nvPr/>
          </p:nvGraphicFramePr>
          <p:xfrm>
            <a:off x="0" y="2786062"/>
            <a:ext cx="212725" cy="249238"/>
          </p:xfrm>
          <a:graphic>
            <a:graphicData uri="http://schemas.openxmlformats.org/presentationml/2006/ole">
              <mc:AlternateContent xmlns:mc="http://schemas.openxmlformats.org/markup-compatibility/2006">
                <mc:Choice xmlns:v="urn:schemas-microsoft-com:vml" Requires="v">
                  <p:oleObj spid="_x0000_s117155" r:id="rId7" imgW="153248" imgH="178737" progId="">
                    <p:embed/>
                  </p:oleObj>
                </mc:Choice>
                <mc:Fallback>
                  <p:oleObj r:id="rId7" imgW="153248" imgH="178737" progId="">
                    <p:embed/>
                    <p:pic>
                      <p:nvPicPr>
                        <p:cNvPr id="21515"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2786062"/>
                          <a:ext cx="212725"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12">
              <a:extLst>
                <a:ext uri="{FF2B5EF4-FFF2-40B4-BE49-F238E27FC236}">
                  <a16:creationId xmlns:a16="http://schemas.microsoft.com/office/drawing/2014/main" id="{02932954-D9A8-44E1-B258-D568ACA60D5B}"/>
                </a:ext>
              </a:extLst>
            </p:cNvPr>
            <p:cNvGraphicFramePr>
              <a:graphicFrameLocks noChangeAspect="1"/>
            </p:cNvGraphicFramePr>
            <p:nvPr/>
          </p:nvGraphicFramePr>
          <p:xfrm>
            <a:off x="3429000" y="2786062"/>
            <a:ext cx="195262" cy="231775"/>
          </p:xfrm>
          <a:graphic>
            <a:graphicData uri="http://schemas.openxmlformats.org/presentationml/2006/ole">
              <mc:AlternateContent xmlns:mc="http://schemas.openxmlformats.org/markup-compatibility/2006">
                <mc:Choice xmlns:v="urn:schemas-microsoft-com:vml" Requires="v">
                  <p:oleObj spid="_x0000_s117156" r:id="rId9" imgW="140565" imgH="166064" progId="">
                    <p:embed/>
                  </p:oleObj>
                </mc:Choice>
                <mc:Fallback>
                  <p:oleObj r:id="rId9" imgW="140565" imgH="166064" progId="">
                    <p:embed/>
                    <p:pic>
                      <p:nvPicPr>
                        <p:cNvPr id="21516"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9000" y="2786062"/>
                          <a:ext cx="195262"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13">
              <a:extLst>
                <a:ext uri="{FF2B5EF4-FFF2-40B4-BE49-F238E27FC236}">
                  <a16:creationId xmlns:a16="http://schemas.microsoft.com/office/drawing/2014/main" id="{65CD4FE1-2773-46EA-82F4-AC37A4EE5C6B}"/>
                </a:ext>
              </a:extLst>
            </p:cNvPr>
            <p:cNvGraphicFramePr>
              <a:graphicFrameLocks noChangeAspect="1"/>
            </p:cNvGraphicFramePr>
            <p:nvPr/>
          </p:nvGraphicFramePr>
          <p:xfrm>
            <a:off x="1857375" y="2786062"/>
            <a:ext cx="231775" cy="320675"/>
          </p:xfrm>
          <a:graphic>
            <a:graphicData uri="http://schemas.openxmlformats.org/presentationml/2006/ole">
              <mc:AlternateContent xmlns:mc="http://schemas.openxmlformats.org/markup-compatibility/2006">
                <mc:Choice xmlns:v="urn:schemas-microsoft-com:vml" Requires="v">
                  <p:oleObj spid="_x0000_s117157" r:id="rId11" imgW="165848" imgH="229514" progId="">
                    <p:embed/>
                  </p:oleObj>
                </mc:Choice>
                <mc:Fallback>
                  <p:oleObj r:id="rId11" imgW="165848" imgH="229514" progId="">
                    <p:embed/>
                    <p:pic>
                      <p:nvPicPr>
                        <p:cNvPr id="21517"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7375" y="2786062"/>
                          <a:ext cx="2317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4">
              <a:extLst>
                <a:ext uri="{FF2B5EF4-FFF2-40B4-BE49-F238E27FC236}">
                  <a16:creationId xmlns:a16="http://schemas.microsoft.com/office/drawing/2014/main" id="{B2511171-4371-4718-BE77-F6FE8043B07A}"/>
                </a:ext>
              </a:extLst>
            </p:cNvPr>
            <p:cNvGraphicFramePr>
              <a:graphicFrameLocks noChangeAspect="1"/>
            </p:cNvGraphicFramePr>
            <p:nvPr/>
          </p:nvGraphicFramePr>
          <p:xfrm>
            <a:off x="2786062" y="2786062"/>
            <a:ext cx="249238" cy="320675"/>
          </p:xfrm>
          <a:graphic>
            <a:graphicData uri="http://schemas.openxmlformats.org/presentationml/2006/ole">
              <mc:AlternateContent xmlns:mc="http://schemas.openxmlformats.org/markup-compatibility/2006">
                <mc:Choice xmlns:v="urn:schemas-microsoft-com:vml" Requires="v">
                  <p:oleObj spid="_x0000_s117158" r:id="rId13" imgW="178504" imgH="229414" progId="">
                    <p:embed/>
                  </p:oleObj>
                </mc:Choice>
                <mc:Fallback>
                  <p:oleObj r:id="rId13" imgW="178504" imgH="229414" progId="">
                    <p:embed/>
                    <p:pic>
                      <p:nvPicPr>
                        <p:cNvPr id="21518"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86062" y="2786062"/>
                          <a:ext cx="24923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15">
              <a:extLst>
                <a:ext uri="{FF2B5EF4-FFF2-40B4-BE49-F238E27FC236}">
                  <a16:creationId xmlns:a16="http://schemas.microsoft.com/office/drawing/2014/main" id="{41B52870-C9CF-41F3-9E6B-FFD2CCD5E023}"/>
                </a:ext>
              </a:extLst>
            </p:cNvPr>
            <p:cNvGraphicFramePr>
              <a:graphicFrameLocks noChangeAspect="1"/>
            </p:cNvGraphicFramePr>
            <p:nvPr/>
          </p:nvGraphicFramePr>
          <p:xfrm>
            <a:off x="1500187" y="1357312"/>
            <a:ext cx="427038" cy="320675"/>
          </p:xfrm>
          <a:graphic>
            <a:graphicData uri="http://schemas.openxmlformats.org/presentationml/2006/ole">
              <mc:AlternateContent xmlns:mc="http://schemas.openxmlformats.org/markup-compatibility/2006">
                <mc:Choice xmlns:v="urn:schemas-microsoft-com:vml" Requires="v">
                  <p:oleObj spid="_x0000_s117159" r:id="rId15" imgW="305647" imgH="229315" progId="">
                    <p:embed/>
                  </p:oleObj>
                </mc:Choice>
                <mc:Fallback>
                  <p:oleObj r:id="rId15" imgW="305647" imgH="229315" progId="">
                    <p:embed/>
                    <p:pic>
                      <p:nvPicPr>
                        <p:cNvPr id="21519"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00187" y="1357312"/>
                          <a:ext cx="42703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16">
              <a:extLst>
                <a:ext uri="{FF2B5EF4-FFF2-40B4-BE49-F238E27FC236}">
                  <a16:creationId xmlns:a16="http://schemas.microsoft.com/office/drawing/2014/main" id="{B5B41B25-5285-4EDD-AD90-8516F8A20BDB}"/>
                </a:ext>
              </a:extLst>
            </p:cNvPr>
            <p:cNvGraphicFramePr>
              <a:graphicFrameLocks noChangeAspect="1"/>
            </p:cNvGraphicFramePr>
            <p:nvPr/>
          </p:nvGraphicFramePr>
          <p:xfrm>
            <a:off x="2571750" y="1785937"/>
            <a:ext cx="390525" cy="320675"/>
          </p:xfrm>
          <a:graphic>
            <a:graphicData uri="http://schemas.openxmlformats.org/presentationml/2006/ole">
              <mc:AlternateContent xmlns:mc="http://schemas.openxmlformats.org/markup-compatibility/2006">
                <mc:Choice xmlns:v="urn:schemas-microsoft-com:vml" Requires="v">
                  <p:oleObj spid="_x0000_s117160" r:id="rId17" imgW="280813" imgH="229813" progId="">
                    <p:embed/>
                  </p:oleObj>
                </mc:Choice>
                <mc:Fallback>
                  <p:oleObj r:id="rId17" imgW="280813" imgH="229813" progId="">
                    <p:embed/>
                    <p:pic>
                      <p:nvPicPr>
                        <p:cNvPr id="2152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571750" y="1785937"/>
                          <a:ext cx="3905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7">
              <a:extLst>
                <a:ext uri="{FF2B5EF4-FFF2-40B4-BE49-F238E27FC236}">
                  <a16:creationId xmlns:a16="http://schemas.microsoft.com/office/drawing/2014/main" id="{F10C0F89-E9A3-436D-89F3-25D82DF1D700}"/>
                </a:ext>
              </a:extLst>
            </p:cNvPr>
            <p:cNvGraphicFramePr>
              <a:graphicFrameLocks noChangeAspect="1"/>
            </p:cNvGraphicFramePr>
            <p:nvPr/>
          </p:nvGraphicFramePr>
          <p:xfrm>
            <a:off x="1500187" y="71437"/>
            <a:ext cx="142875" cy="231775"/>
          </p:xfrm>
          <a:graphic>
            <a:graphicData uri="http://schemas.openxmlformats.org/presentationml/2006/ole">
              <mc:AlternateContent xmlns:mc="http://schemas.openxmlformats.org/markup-compatibility/2006">
                <mc:Choice xmlns:v="urn:schemas-microsoft-com:vml" Requires="v">
                  <p:oleObj spid="_x0000_s117161" r:id="rId19" imgW="102315" imgH="166064" progId="">
                    <p:embed/>
                  </p:oleObj>
                </mc:Choice>
                <mc:Fallback>
                  <p:oleObj r:id="rId19" imgW="102315" imgH="166064" progId="">
                    <p:embed/>
                    <p:pic>
                      <p:nvPicPr>
                        <p:cNvPr id="21521" name="Object 1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00187" y="71437"/>
                          <a:ext cx="14287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18">
              <a:extLst>
                <a:ext uri="{FF2B5EF4-FFF2-40B4-BE49-F238E27FC236}">
                  <a16:creationId xmlns:a16="http://schemas.microsoft.com/office/drawing/2014/main" id="{E74E591F-9B83-4CFB-9100-7E7EA32F43D3}"/>
                </a:ext>
              </a:extLst>
            </p:cNvPr>
            <p:cNvGraphicFramePr>
              <a:graphicFrameLocks noChangeAspect="1"/>
            </p:cNvGraphicFramePr>
            <p:nvPr/>
          </p:nvGraphicFramePr>
          <p:xfrm>
            <a:off x="2428875" y="71437"/>
            <a:ext cx="212725" cy="231775"/>
          </p:xfrm>
          <a:graphic>
            <a:graphicData uri="http://schemas.openxmlformats.org/presentationml/2006/ole">
              <mc:AlternateContent xmlns:mc="http://schemas.openxmlformats.org/markup-compatibility/2006">
                <mc:Choice xmlns:v="urn:schemas-microsoft-com:vml" Requires="v">
                  <p:oleObj spid="_x0000_s117162" r:id="rId21" imgW="153315" imgH="166064" progId="">
                    <p:embed/>
                  </p:oleObj>
                </mc:Choice>
                <mc:Fallback>
                  <p:oleObj r:id="rId21" imgW="153315" imgH="166064" progId="">
                    <p:embed/>
                    <p:pic>
                      <p:nvPicPr>
                        <p:cNvPr id="21522" name="Object 1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28875" y="71437"/>
                          <a:ext cx="21272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19">
              <a:extLst>
                <a:ext uri="{FF2B5EF4-FFF2-40B4-BE49-F238E27FC236}">
                  <a16:creationId xmlns:a16="http://schemas.microsoft.com/office/drawing/2014/main" id="{7C58C426-78AF-4CE6-BACA-B6788714CAF5}"/>
                </a:ext>
              </a:extLst>
            </p:cNvPr>
            <p:cNvGraphicFramePr>
              <a:graphicFrameLocks noChangeAspect="1"/>
            </p:cNvGraphicFramePr>
            <p:nvPr/>
          </p:nvGraphicFramePr>
          <p:xfrm>
            <a:off x="3214687" y="71437"/>
            <a:ext cx="266700" cy="231775"/>
          </p:xfrm>
          <a:graphic>
            <a:graphicData uri="http://schemas.openxmlformats.org/presentationml/2006/ole">
              <mc:AlternateContent xmlns:mc="http://schemas.openxmlformats.org/markup-compatibility/2006">
                <mc:Choice xmlns:v="urn:schemas-microsoft-com:vml" Requires="v">
                  <p:oleObj spid="_x0000_s117163" r:id="rId23" imgW="191564" imgH="166064" progId="">
                    <p:embed/>
                  </p:oleObj>
                </mc:Choice>
                <mc:Fallback>
                  <p:oleObj r:id="rId23" imgW="191564" imgH="166064" progId="">
                    <p:embed/>
                    <p:pic>
                      <p:nvPicPr>
                        <p:cNvPr id="21523" name="Object 1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214687" y="71437"/>
                          <a:ext cx="2667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2" name="矩形 21">
            <a:extLst>
              <a:ext uri="{FF2B5EF4-FFF2-40B4-BE49-F238E27FC236}">
                <a16:creationId xmlns:a16="http://schemas.microsoft.com/office/drawing/2014/main" id="{DE5EA947-CAE8-4E2A-A232-E31E13B98A83}"/>
              </a:ext>
            </a:extLst>
          </p:cNvPr>
          <p:cNvSpPr/>
          <p:nvPr/>
        </p:nvSpPr>
        <p:spPr>
          <a:xfrm>
            <a:off x="5011805" y="3907392"/>
            <a:ext cx="3406445" cy="923330"/>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厂商不会选，平均产量在上升，投入的要素未发挥最大效用，厂商没有获得最大好处。</a:t>
            </a:r>
          </a:p>
        </p:txBody>
      </p:sp>
      <p:sp>
        <p:nvSpPr>
          <p:cNvPr id="23" name="矩形 22">
            <a:extLst>
              <a:ext uri="{FF2B5EF4-FFF2-40B4-BE49-F238E27FC236}">
                <a16:creationId xmlns:a16="http://schemas.microsoft.com/office/drawing/2014/main" id="{B531A40A-3DDD-4C55-A0D6-7907F0B2BC74}"/>
              </a:ext>
            </a:extLst>
          </p:cNvPr>
          <p:cNvSpPr/>
          <p:nvPr/>
        </p:nvSpPr>
        <p:spPr>
          <a:xfrm>
            <a:off x="874139" y="2014055"/>
            <a:ext cx="6749840" cy="369332"/>
          </a:xfrm>
          <a:prstGeom prst="rect">
            <a:avLst/>
          </a:prstGeom>
        </p:spPr>
        <p:txBody>
          <a:bodyPr wrap="square">
            <a:spAutoFit/>
          </a:bodyPr>
          <a:lstStyle/>
          <a:p>
            <a:r>
              <a:rPr lang="zh-CN" altLang="en-US" b="1" dirty="0">
                <a:solidFill>
                  <a:srgbClr val="85B2D2"/>
                </a:solidFill>
                <a:latin typeface="微软雅黑" panose="020B0503020204020204" pitchFamily="34" charset="-122"/>
                <a:ea typeface="微软雅黑" panose="020B0503020204020204" pitchFamily="34" charset="-122"/>
              </a:rPr>
              <a:t>平均产量递增阶段，从原点到MP和AP交点的阶段。</a:t>
            </a:r>
          </a:p>
        </p:txBody>
      </p:sp>
      <p:grpSp>
        <p:nvGrpSpPr>
          <p:cNvPr id="24" name="组合 23">
            <a:extLst>
              <a:ext uri="{FF2B5EF4-FFF2-40B4-BE49-F238E27FC236}">
                <a16:creationId xmlns:a16="http://schemas.microsoft.com/office/drawing/2014/main" id="{DD2D6082-2988-47FC-8D9C-F1AF0025AA99}"/>
              </a:ext>
            </a:extLst>
          </p:cNvPr>
          <p:cNvGrpSpPr/>
          <p:nvPr/>
        </p:nvGrpSpPr>
        <p:grpSpPr>
          <a:xfrm>
            <a:off x="874139" y="1421534"/>
            <a:ext cx="1343870" cy="404525"/>
            <a:chOff x="458213" y="4075203"/>
            <a:chExt cx="1708719" cy="514350"/>
          </a:xfrm>
        </p:grpSpPr>
        <p:sp>
          <p:nvSpPr>
            <p:cNvPr id="25" name="MH_Text_1">
              <a:extLst>
                <a:ext uri="{FF2B5EF4-FFF2-40B4-BE49-F238E27FC236}">
                  <a16:creationId xmlns:a16="http://schemas.microsoft.com/office/drawing/2014/main" id="{95B582AA-7BCA-475F-B8DA-C8AD80B17D7A}"/>
                </a:ext>
              </a:extLst>
            </p:cNvPr>
            <p:cNvSpPr/>
            <p:nvPr>
              <p:custDataLst>
                <p:tags r:id="rId2"/>
              </p:custDataLst>
            </p:nvPr>
          </p:nvSpPr>
          <p:spPr bwMode="auto">
            <a:xfrm>
              <a:off x="458213" y="4075203"/>
              <a:ext cx="1708719"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r>
                <a:rPr lang="zh-CN" altLang="en-US" sz="2000" dirty="0">
                  <a:solidFill>
                    <a:schemeClr val="tx1"/>
                  </a:solidFill>
                  <a:latin typeface="微软雅黑" panose="020B0503020204020204" pitchFamily="34" charset="-122"/>
                  <a:ea typeface="微软雅黑" panose="020B0503020204020204" pitchFamily="34" charset="-122"/>
                </a:rPr>
                <a:t>  第一阶段</a:t>
              </a:r>
            </a:p>
          </p:txBody>
        </p:sp>
        <p:sp>
          <p:nvSpPr>
            <p:cNvPr id="26" name="MH_Other_2">
              <a:extLst>
                <a:ext uri="{FF2B5EF4-FFF2-40B4-BE49-F238E27FC236}">
                  <a16:creationId xmlns:a16="http://schemas.microsoft.com/office/drawing/2014/main" id="{D422F368-9B71-47C0-95C6-435E72CF47C2}"/>
                </a:ext>
              </a:extLst>
            </p:cNvPr>
            <p:cNvSpPr/>
            <p:nvPr>
              <p:custDataLst>
                <p:tags r:id="rId3"/>
              </p:custDataLst>
            </p:nvPr>
          </p:nvSpPr>
          <p:spPr bwMode="auto">
            <a:xfrm rot="10800000">
              <a:off x="1974844" y="4132353"/>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chemeClr val="tx1"/>
                </a:solidFill>
                <a:effectLst/>
                <a:uLnTx/>
                <a:uFillTx/>
                <a:latin typeface="Calibri" panose="020F0502020204030204"/>
                <a:ea typeface="맑은 고딕" panose="020B0503020000020004" pitchFamily="34" charset="-127"/>
                <a:cs typeface="+mn-cs"/>
              </a:endParaRPr>
            </a:p>
          </p:txBody>
        </p:sp>
      </p:grpSp>
      <p:sp>
        <p:nvSpPr>
          <p:cNvPr id="27" name="矩形: 圆角 26">
            <a:extLst>
              <a:ext uri="{FF2B5EF4-FFF2-40B4-BE49-F238E27FC236}">
                <a16:creationId xmlns:a16="http://schemas.microsoft.com/office/drawing/2014/main" id="{4EAA9D6A-734C-4BCD-A6EC-601660E7403F}"/>
              </a:ext>
            </a:extLst>
          </p:cNvPr>
          <p:cNvSpPr/>
          <p:nvPr/>
        </p:nvSpPr>
        <p:spPr>
          <a:xfrm>
            <a:off x="5467280" y="3295328"/>
            <a:ext cx="1937866" cy="39920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微软雅黑" panose="020B0503020204020204" pitchFamily="34" charset="-122"/>
                <a:ea typeface="微软雅黑" panose="020B0503020204020204" pitchFamily="34" charset="-122"/>
              </a:rPr>
              <a:t>厂商决策选择：</a:t>
            </a:r>
          </a:p>
        </p:txBody>
      </p:sp>
    </p:spTree>
    <p:extLst>
      <p:ext uri="{BB962C8B-B14F-4D97-AF65-F5344CB8AC3E}">
        <p14:creationId xmlns:p14="http://schemas.microsoft.com/office/powerpoint/2010/main" val="309168858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p:cTn id="14" dur="500" fill="hold"/>
                                        <p:tgtEl>
                                          <p:spTgt spid="4"/>
                                        </p:tgtEl>
                                        <p:attrNameLst>
                                          <p:attrName>ppt_w</p:attrName>
                                        </p:attrNameLst>
                                      </p:cBhvr>
                                      <p:tavLst>
                                        <p:tav tm="0">
                                          <p:val>
                                            <p:fltVal val="0"/>
                                          </p:val>
                                        </p:tav>
                                        <p:tav tm="100000">
                                          <p:val>
                                            <p:strVal val="#ppt_w"/>
                                          </p:val>
                                        </p:tav>
                                      </p:tavLst>
                                    </p:anim>
                                    <p:anim calcmode="lin" valueType="num">
                                      <p:cBhvr>
                                        <p:cTn id="15" dur="500" fill="hold"/>
                                        <p:tgtEl>
                                          <p:spTgt spid="4"/>
                                        </p:tgtEl>
                                        <p:attrNameLst>
                                          <p:attrName>ppt_h</p:attrName>
                                        </p:attrNameLst>
                                      </p:cBhvr>
                                      <p:tavLst>
                                        <p:tav tm="0">
                                          <p:val>
                                            <p:fltVal val="0"/>
                                          </p:val>
                                        </p:tav>
                                        <p:tav tm="100000">
                                          <p:val>
                                            <p:strVal val="#ppt_h"/>
                                          </p:val>
                                        </p:tav>
                                      </p:tavLst>
                                    </p:anim>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1000"/>
                                        <p:tgtEl>
                                          <p:spTgt spid="24"/>
                                        </p:tgtEl>
                                      </p:cBhvr>
                                    </p:animEffect>
                                    <p:anim calcmode="lin" valueType="num">
                                      <p:cBhvr>
                                        <p:cTn id="22" dur="1000" fill="hold"/>
                                        <p:tgtEl>
                                          <p:spTgt spid="24"/>
                                        </p:tgtEl>
                                        <p:attrNameLst>
                                          <p:attrName>ppt_x</p:attrName>
                                        </p:attrNameLst>
                                      </p:cBhvr>
                                      <p:tavLst>
                                        <p:tav tm="0">
                                          <p:val>
                                            <p:strVal val="#ppt_x"/>
                                          </p:val>
                                        </p:tav>
                                        <p:tav tm="100000">
                                          <p:val>
                                            <p:strVal val="#ppt_x"/>
                                          </p:val>
                                        </p:tav>
                                      </p:tavLst>
                                    </p:anim>
                                    <p:anim calcmode="lin" valueType="num">
                                      <p:cBhvr>
                                        <p:cTn id="23"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left)">
                                      <p:cBhvr>
                                        <p:cTn id="28" dur="500"/>
                                        <p:tgtEl>
                                          <p:spTgt spid="2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7"/>
                                        </p:tgtEl>
                                        <p:attrNameLst>
                                          <p:attrName>style.visibility</p:attrName>
                                        </p:attrNameLst>
                                      </p:cBhvr>
                                      <p:to>
                                        <p:strVal val="visible"/>
                                      </p:to>
                                    </p:set>
                                    <p:animEffect transition="in" filter="wipe(down)">
                                      <p:cBhvr>
                                        <p:cTn id="33" dur="500"/>
                                        <p:tgtEl>
                                          <p:spTgt spid="27"/>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1000"/>
                                        <p:tgtEl>
                                          <p:spTgt spid="22"/>
                                        </p:tgtEl>
                                      </p:cBhvr>
                                    </p:animEffect>
                                    <p:anim calcmode="lin" valueType="num">
                                      <p:cBhvr>
                                        <p:cTn id="39" dur="1000" fill="hold"/>
                                        <p:tgtEl>
                                          <p:spTgt spid="22"/>
                                        </p:tgtEl>
                                        <p:attrNameLst>
                                          <p:attrName>ppt_x</p:attrName>
                                        </p:attrNameLst>
                                      </p:cBhvr>
                                      <p:tavLst>
                                        <p:tav tm="0">
                                          <p:val>
                                            <p:strVal val="#ppt_x"/>
                                          </p:val>
                                        </p:tav>
                                        <p:tav tm="100000">
                                          <p:val>
                                            <p:strVal val="#ppt_x"/>
                                          </p:val>
                                        </p:tav>
                                      </p:tavLst>
                                    </p:anim>
                                    <p:anim calcmode="lin" valueType="num">
                                      <p:cBhvr>
                                        <p:cTn id="40"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2" grpId="0"/>
      <p:bldP spid="23" grpId="0"/>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0BFFCFF-2CD3-432C-8B5A-21DA7C4E39BB}"/>
              </a:ext>
            </a:extLst>
          </p:cNvPr>
          <p:cNvSpPr/>
          <p:nvPr/>
        </p:nvSpPr>
        <p:spPr>
          <a:xfrm>
            <a:off x="6732240" y="35332"/>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第三节 短期生产函数</a:t>
            </a:r>
          </a:p>
        </p:txBody>
      </p:sp>
      <p:grpSp>
        <p:nvGrpSpPr>
          <p:cNvPr id="3" name="组合 19">
            <a:extLst>
              <a:ext uri="{FF2B5EF4-FFF2-40B4-BE49-F238E27FC236}">
                <a16:creationId xmlns:a16="http://schemas.microsoft.com/office/drawing/2014/main" id="{263BF547-4093-4A20-9C56-87C3F9EBAD21}"/>
              </a:ext>
            </a:extLst>
          </p:cNvPr>
          <p:cNvGrpSpPr>
            <a:grpSpLocks/>
          </p:cNvGrpSpPr>
          <p:nvPr/>
        </p:nvGrpSpPr>
        <p:grpSpPr bwMode="auto">
          <a:xfrm>
            <a:off x="4741532" y="2924187"/>
            <a:ext cx="3650315" cy="3052849"/>
            <a:chOff x="0" y="0"/>
            <a:chExt cx="3714750" cy="3106737"/>
          </a:xfrm>
        </p:grpSpPr>
        <p:cxnSp>
          <p:nvCxnSpPr>
            <p:cNvPr id="4" name="直接箭头连接符 5">
              <a:extLst>
                <a:ext uri="{FF2B5EF4-FFF2-40B4-BE49-F238E27FC236}">
                  <a16:creationId xmlns:a16="http://schemas.microsoft.com/office/drawing/2014/main" id="{460F88F4-5C3F-4669-B75C-744D2F5ADA84}"/>
                </a:ext>
              </a:extLst>
            </p:cNvPr>
            <p:cNvCxnSpPr>
              <a:cxnSpLocks noChangeShapeType="1"/>
            </p:cNvCxnSpPr>
            <p:nvPr/>
          </p:nvCxnSpPr>
          <p:spPr bwMode="auto">
            <a:xfrm>
              <a:off x="285750" y="2714624"/>
              <a:ext cx="3429000" cy="1588"/>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5" name="直接箭头连接符 7">
              <a:extLst>
                <a:ext uri="{FF2B5EF4-FFF2-40B4-BE49-F238E27FC236}">
                  <a16:creationId xmlns:a16="http://schemas.microsoft.com/office/drawing/2014/main" id="{B131D66B-11E8-469C-9EF0-735C6772E220}"/>
                </a:ext>
              </a:extLst>
            </p:cNvPr>
            <p:cNvCxnSpPr>
              <a:cxnSpLocks noChangeShapeType="1"/>
            </p:cNvCxnSpPr>
            <p:nvPr/>
          </p:nvCxnSpPr>
          <p:spPr bwMode="auto">
            <a:xfrm rot="5400000" flipH="1" flipV="1">
              <a:off x="-1070769" y="1356515"/>
              <a:ext cx="2714624" cy="1587"/>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6" name="直接连接符 10">
              <a:extLst>
                <a:ext uri="{FF2B5EF4-FFF2-40B4-BE49-F238E27FC236}">
                  <a16:creationId xmlns:a16="http://schemas.microsoft.com/office/drawing/2014/main" id="{90C505AA-C8F4-4C96-8B3D-5279DD9FA5E6}"/>
                </a:ext>
              </a:extLst>
            </p:cNvPr>
            <p:cNvCxnSpPr>
              <a:cxnSpLocks noChangeShapeType="1"/>
            </p:cNvCxnSpPr>
            <p:nvPr/>
          </p:nvCxnSpPr>
          <p:spPr bwMode="auto">
            <a:xfrm rot="5400000">
              <a:off x="642143" y="1358107"/>
              <a:ext cx="2716212" cy="0"/>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cxnSp>
          <p:nvCxnSpPr>
            <p:cNvPr id="7" name="直接连接符 12">
              <a:extLst>
                <a:ext uri="{FF2B5EF4-FFF2-40B4-BE49-F238E27FC236}">
                  <a16:creationId xmlns:a16="http://schemas.microsoft.com/office/drawing/2014/main" id="{F0E59549-A756-487D-A30B-98DFC870B756}"/>
                </a:ext>
              </a:extLst>
            </p:cNvPr>
            <p:cNvCxnSpPr>
              <a:cxnSpLocks noChangeShapeType="1"/>
            </p:cNvCxnSpPr>
            <p:nvPr/>
          </p:nvCxnSpPr>
          <p:spPr bwMode="auto">
            <a:xfrm rot="5400000">
              <a:off x="1607343" y="1321594"/>
              <a:ext cx="2644774" cy="1588"/>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sp>
          <p:nvSpPr>
            <p:cNvPr id="8" name="任意多边形 25">
              <a:extLst>
                <a:ext uri="{FF2B5EF4-FFF2-40B4-BE49-F238E27FC236}">
                  <a16:creationId xmlns:a16="http://schemas.microsoft.com/office/drawing/2014/main" id="{49E9CBF5-6165-480D-949F-E22F738D97EE}"/>
                </a:ext>
              </a:extLst>
            </p:cNvPr>
            <p:cNvSpPr>
              <a:spLocks noChangeArrowheads="1"/>
            </p:cNvSpPr>
            <p:nvPr/>
          </p:nvSpPr>
          <p:spPr bwMode="auto">
            <a:xfrm>
              <a:off x="285750" y="1500188"/>
              <a:ext cx="2928937" cy="1428750"/>
            </a:xfrm>
            <a:custGeom>
              <a:avLst/>
              <a:gdLst>
                <a:gd name="T0" fmla="*/ 0 w 2838450"/>
                <a:gd name="T1" fmla="*/ 1188400 h 1019175"/>
                <a:gd name="T2" fmla="*/ 1041837 w 2838450"/>
                <a:gd name="T3" fmla="*/ 40058 h 1019175"/>
                <a:gd name="T4" fmla="*/ 2928937 w 2838450"/>
                <a:gd name="T5" fmla="*/ 1428750 h 1019175"/>
                <a:gd name="T6" fmla="*/ 0 60000 65536"/>
                <a:gd name="T7" fmla="*/ 0 60000 65536"/>
                <a:gd name="T8" fmla="*/ 0 60000 65536"/>
                <a:gd name="T9" fmla="*/ 0 w 2838450"/>
                <a:gd name="T10" fmla="*/ 0 h 1019175"/>
                <a:gd name="T11" fmla="*/ 2838450 w 2838450"/>
                <a:gd name="T12" fmla="*/ 1019175 h 1019175"/>
              </a:gdLst>
              <a:ahLst/>
              <a:cxnLst>
                <a:cxn ang="T6">
                  <a:pos x="T0" y="T1"/>
                </a:cxn>
                <a:cxn ang="T7">
                  <a:pos x="T2" y="T3"/>
                </a:cxn>
                <a:cxn ang="T8">
                  <a:pos x="T4" y="T5"/>
                </a:cxn>
              </a:cxnLst>
              <a:rect l="T9" t="T10" r="T11" b="T12"/>
              <a:pathLst>
                <a:path w="2838450" h="1019175">
                  <a:moveTo>
                    <a:pt x="0" y="847725"/>
                  </a:moveTo>
                  <a:cubicBezTo>
                    <a:pt x="268287" y="423862"/>
                    <a:pt x="536575" y="0"/>
                    <a:pt x="1009650" y="28575"/>
                  </a:cubicBezTo>
                  <a:cubicBezTo>
                    <a:pt x="1482725" y="57150"/>
                    <a:pt x="2160587" y="538162"/>
                    <a:pt x="2838450" y="1019175"/>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9" name="任意多边形 26">
              <a:extLst>
                <a:ext uri="{FF2B5EF4-FFF2-40B4-BE49-F238E27FC236}">
                  <a16:creationId xmlns:a16="http://schemas.microsoft.com/office/drawing/2014/main" id="{A5863A5F-FD36-4DD0-B613-790F27950D68}"/>
                </a:ext>
              </a:extLst>
            </p:cNvPr>
            <p:cNvSpPr>
              <a:spLocks noChangeArrowheads="1"/>
            </p:cNvSpPr>
            <p:nvPr/>
          </p:nvSpPr>
          <p:spPr bwMode="auto">
            <a:xfrm>
              <a:off x="290512" y="1852612"/>
              <a:ext cx="3181350" cy="857250"/>
            </a:xfrm>
            <a:custGeom>
              <a:avLst/>
              <a:gdLst>
                <a:gd name="T0" fmla="*/ 0 w 3181350"/>
                <a:gd name="T1" fmla="*/ 857250 h 857250"/>
                <a:gd name="T2" fmla="*/ 1695450 w 3181350"/>
                <a:gd name="T3" fmla="*/ 19050 h 857250"/>
                <a:gd name="T4" fmla="*/ 3181350 w 3181350"/>
                <a:gd name="T5" fmla="*/ 742950 h 857250"/>
                <a:gd name="T6" fmla="*/ 3181350 w 3181350"/>
                <a:gd name="T7" fmla="*/ 742950 h 857250"/>
                <a:gd name="T8" fmla="*/ 0 60000 65536"/>
                <a:gd name="T9" fmla="*/ 0 60000 65536"/>
                <a:gd name="T10" fmla="*/ 0 60000 65536"/>
                <a:gd name="T11" fmla="*/ 0 60000 65536"/>
                <a:gd name="T12" fmla="*/ 0 w 3181350"/>
                <a:gd name="T13" fmla="*/ 0 h 857250"/>
                <a:gd name="T14" fmla="*/ 3181350 w 3181350"/>
                <a:gd name="T15" fmla="*/ 857250 h 857250"/>
              </a:gdLst>
              <a:ahLst/>
              <a:cxnLst>
                <a:cxn ang="T8">
                  <a:pos x="T0" y="T1"/>
                </a:cxn>
                <a:cxn ang="T9">
                  <a:pos x="T2" y="T3"/>
                </a:cxn>
                <a:cxn ang="T10">
                  <a:pos x="T4" y="T5"/>
                </a:cxn>
                <a:cxn ang="T11">
                  <a:pos x="T6" y="T7"/>
                </a:cxn>
              </a:cxnLst>
              <a:rect l="T12" t="T13" r="T14" b="T15"/>
              <a:pathLst>
                <a:path w="3181350" h="857250">
                  <a:moveTo>
                    <a:pt x="0" y="857250"/>
                  </a:moveTo>
                  <a:cubicBezTo>
                    <a:pt x="582612" y="447675"/>
                    <a:pt x="1165225" y="38100"/>
                    <a:pt x="1695450" y="19050"/>
                  </a:cubicBezTo>
                  <a:cubicBezTo>
                    <a:pt x="2225675" y="0"/>
                    <a:pt x="3181350" y="742950"/>
                    <a:pt x="3181350" y="742950"/>
                  </a:cubicBezTo>
                </a:path>
              </a:pathLst>
            </a:custGeom>
            <a:noFill/>
            <a:ln w="38100" cmpd="sng">
              <a:solidFill>
                <a:srgbClr val="8CC705"/>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10" name="Object 10">
              <a:extLst>
                <a:ext uri="{FF2B5EF4-FFF2-40B4-BE49-F238E27FC236}">
                  <a16:creationId xmlns:a16="http://schemas.microsoft.com/office/drawing/2014/main" id="{ADA2077D-A5D9-4115-B056-CB630B6FAA87}"/>
                </a:ext>
              </a:extLst>
            </p:cNvPr>
            <p:cNvGraphicFramePr>
              <a:graphicFrameLocks noChangeAspect="1"/>
            </p:cNvGraphicFramePr>
            <p:nvPr/>
          </p:nvGraphicFramePr>
          <p:xfrm>
            <a:off x="0" y="142875"/>
            <a:ext cx="212725" cy="284162"/>
          </p:xfrm>
          <a:graphic>
            <a:graphicData uri="http://schemas.openxmlformats.org/presentationml/2006/ole">
              <mc:AlternateContent xmlns:mc="http://schemas.openxmlformats.org/markup-compatibility/2006">
                <mc:Choice xmlns:v="urn:schemas-microsoft-com:vml" Requires="v">
                  <p:oleObj spid="_x0000_s118178" r:id="rId5" imgW="153381" imgH="204403" progId="">
                    <p:embed/>
                  </p:oleObj>
                </mc:Choice>
                <mc:Fallback>
                  <p:oleObj r:id="rId5" imgW="153381" imgH="204403" progId="">
                    <p:embed/>
                    <p:pic>
                      <p:nvPicPr>
                        <p:cNvPr id="11" name="Object 10">
                          <a:extLst>
                            <a:ext uri="{FF2B5EF4-FFF2-40B4-BE49-F238E27FC236}">
                              <a16:creationId xmlns:a16="http://schemas.microsoft.com/office/drawing/2014/main" id="{9FEA60ED-A8C0-415E-A9B0-17072D60939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42875"/>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11">
              <a:extLst>
                <a:ext uri="{FF2B5EF4-FFF2-40B4-BE49-F238E27FC236}">
                  <a16:creationId xmlns:a16="http://schemas.microsoft.com/office/drawing/2014/main" id="{48F6064A-2F5C-49E2-AA1C-B6A33B2F30CB}"/>
                </a:ext>
              </a:extLst>
            </p:cNvPr>
            <p:cNvGraphicFramePr>
              <a:graphicFrameLocks noChangeAspect="1"/>
            </p:cNvGraphicFramePr>
            <p:nvPr/>
          </p:nvGraphicFramePr>
          <p:xfrm>
            <a:off x="0" y="2786062"/>
            <a:ext cx="212725" cy="249238"/>
          </p:xfrm>
          <a:graphic>
            <a:graphicData uri="http://schemas.openxmlformats.org/presentationml/2006/ole">
              <mc:AlternateContent xmlns:mc="http://schemas.openxmlformats.org/markup-compatibility/2006">
                <mc:Choice xmlns:v="urn:schemas-microsoft-com:vml" Requires="v">
                  <p:oleObj spid="_x0000_s118179" r:id="rId7" imgW="153248" imgH="178737" progId="">
                    <p:embed/>
                  </p:oleObj>
                </mc:Choice>
                <mc:Fallback>
                  <p:oleObj r:id="rId7" imgW="153248" imgH="178737" progId="">
                    <p:embed/>
                    <p:pic>
                      <p:nvPicPr>
                        <p:cNvPr id="12" name="Object 11">
                          <a:extLst>
                            <a:ext uri="{FF2B5EF4-FFF2-40B4-BE49-F238E27FC236}">
                              <a16:creationId xmlns:a16="http://schemas.microsoft.com/office/drawing/2014/main" id="{60E331B7-F684-4CF5-BDCD-EE0D3BEEE1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2786062"/>
                          <a:ext cx="212725"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12">
              <a:extLst>
                <a:ext uri="{FF2B5EF4-FFF2-40B4-BE49-F238E27FC236}">
                  <a16:creationId xmlns:a16="http://schemas.microsoft.com/office/drawing/2014/main" id="{A39BA846-D2F4-4310-97C8-80F6B0B1E4CB}"/>
                </a:ext>
              </a:extLst>
            </p:cNvPr>
            <p:cNvGraphicFramePr>
              <a:graphicFrameLocks noChangeAspect="1"/>
            </p:cNvGraphicFramePr>
            <p:nvPr/>
          </p:nvGraphicFramePr>
          <p:xfrm>
            <a:off x="3429000" y="2786062"/>
            <a:ext cx="195262" cy="231775"/>
          </p:xfrm>
          <a:graphic>
            <a:graphicData uri="http://schemas.openxmlformats.org/presentationml/2006/ole">
              <mc:AlternateContent xmlns:mc="http://schemas.openxmlformats.org/markup-compatibility/2006">
                <mc:Choice xmlns:v="urn:schemas-microsoft-com:vml" Requires="v">
                  <p:oleObj spid="_x0000_s118180" r:id="rId9" imgW="140565" imgH="166064" progId="">
                    <p:embed/>
                  </p:oleObj>
                </mc:Choice>
                <mc:Fallback>
                  <p:oleObj r:id="rId9" imgW="140565" imgH="166064" progId="">
                    <p:embed/>
                    <p:pic>
                      <p:nvPicPr>
                        <p:cNvPr id="13" name="Object 12">
                          <a:extLst>
                            <a:ext uri="{FF2B5EF4-FFF2-40B4-BE49-F238E27FC236}">
                              <a16:creationId xmlns:a16="http://schemas.microsoft.com/office/drawing/2014/main" id="{02932954-D9A8-44E1-B258-D568ACA60D5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9000" y="2786062"/>
                          <a:ext cx="195262"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13">
              <a:extLst>
                <a:ext uri="{FF2B5EF4-FFF2-40B4-BE49-F238E27FC236}">
                  <a16:creationId xmlns:a16="http://schemas.microsoft.com/office/drawing/2014/main" id="{C0B8DC37-43DE-4CE2-8D18-9F47CC6944D0}"/>
                </a:ext>
              </a:extLst>
            </p:cNvPr>
            <p:cNvGraphicFramePr>
              <a:graphicFrameLocks noChangeAspect="1"/>
            </p:cNvGraphicFramePr>
            <p:nvPr/>
          </p:nvGraphicFramePr>
          <p:xfrm>
            <a:off x="1857375" y="2786062"/>
            <a:ext cx="231775" cy="320675"/>
          </p:xfrm>
          <a:graphic>
            <a:graphicData uri="http://schemas.openxmlformats.org/presentationml/2006/ole">
              <mc:AlternateContent xmlns:mc="http://schemas.openxmlformats.org/markup-compatibility/2006">
                <mc:Choice xmlns:v="urn:schemas-microsoft-com:vml" Requires="v">
                  <p:oleObj spid="_x0000_s118181" r:id="rId11" imgW="165848" imgH="229514" progId="">
                    <p:embed/>
                  </p:oleObj>
                </mc:Choice>
                <mc:Fallback>
                  <p:oleObj r:id="rId11" imgW="165848" imgH="229514" progId="">
                    <p:embed/>
                    <p:pic>
                      <p:nvPicPr>
                        <p:cNvPr id="14" name="Object 13">
                          <a:extLst>
                            <a:ext uri="{FF2B5EF4-FFF2-40B4-BE49-F238E27FC236}">
                              <a16:creationId xmlns:a16="http://schemas.microsoft.com/office/drawing/2014/main" id="{65CD4FE1-2773-46EA-82F4-AC37A4EE5C6B}"/>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7375" y="2786062"/>
                          <a:ext cx="2317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14">
              <a:extLst>
                <a:ext uri="{FF2B5EF4-FFF2-40B4-BE49-F238E27FC236}">
                  <a16:creationId xmlns:a16="http://schemas.microsoft.com/office/drawing/2014/main" id="{46CF70FF-8E28-4026-A3E3-7A71A2CFAC0D}"/>
                </a:ext>
              </a:extLst>
            </p:cNvPr>
            <p:cNvGraphicFramePr>
              <a:graphicFrameLocks noChangeAspect="1"/>
            </p:cNvGraphicFramePr>
            <p:nvPr/>
          </p:nvGraphicFramePr>
          <p:xfrm>
            <a:off x="2786062" y="2786062"/>
            <a:ext cx="249238" cy="320675"/>
          </p:xfrm>
          <a:graphic>
            <a:graphicData uri="http://schemas.openxmlformats.org/presentationml/2006/ole">
              <mc:AlternateContent xmlns:mc="http://schemas.openxmlformats.org/markup-compatibility/2006">
                <mc:Choice xmlns:v="urn:schemas-microsoft-com:vml" Requires="v">
                  <p:oleObj spid="_x0000_s118182" r:id="rId13" imgW="178504" imgH="229414" progId="">
                    <p:embed/>
                  </p:oleObj>
                </mc:Choice>
                <mc:Fallback>
                  <p:oleObj r:id="rId13" imgW="178504" imgH="229414" progId="">
                    <p:embed/>
                    <p:pic>
                      <p:nvPicPr>
                        <p:cNvPr id="15" name="Object 14">
                          <a:extLst>
                            <a:ext uri="{FF2B5EF4-FFF2-40B4-BE49-F238E27FC236}">
                              <a16:creationId xmlns:a16="http://schemas.microsoft.com/office/drawing/2014/main" id="{B2511171-4371-4718-BE77-F6FE8043B07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86062" y="2786062"/>
                          <a:ext cx="24923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5">
              <a:extLst>
                <a:ext uri="{FF2B5EF4-FFF2-40B4-BE49-F238E27FC236}">
                  <a16:creationId xmlns:a16="http://schemas.microsoft.com/office/drawing/2014/main" id="{CA8678DB-196D-4602-ABBC-B3513B87EB5F}"/>
                </a:ext>
              </a:extLst>
            </p:cNvPr>
            <p:cNvGraphicFramePr>
              <a:graphicFrameLocks noChangeAspect="1"/>
            </p:cNvGraphicFramePr>
            <p:nvPr/>
          </p:nvGraphicFramePr>
          <p:xfrm>
            <a:off x="1500187" y="1357312"/>
            <a:ext cx="427038" cy="320675"/>
          </p:xfrm>
          <a:graphic>
            <a:graphicData uri="http://schemas.openxmlformats.org/presentationml/2006/ole">
              <mc:AlternateContent xmlns:mc="http://schemas.openxmlformats.org/markup-compatibility/2006">
                <mc:Choice xmlns:v="urn:schemas-microsoft-com:vml" Requires="v">
                  <p:oleObj spid="_x0000_s118183" r:id="rId15" imgW="305647" imgH="229315" progId="">
                    <p:embed/>
                  </p:oleObj>
                </mc:Choice>
                <mc:Fallback>
                  <p:oleObj r:id="rId15" imgW="305647" imgH="229315" progId="">
                    <p:embed/>
                    <p:pic>
                      <p:nvPicPr>
                        <p:cNvPr id="16" name="Object 15">
                          <a:extLst>
                            <a:ext uri="{FF2B5EF4-FFF2-40B4-BE49-F238E27FC236}">
                              <a16:creationId xmlns:a16="http://schemas.microsoft.com/office/drawing/2014/main" id="{41B52870-C9CF-41F3-9E6B-FFD2CCD5E023}"/>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00187" y="1357312"/>
                          <a:ext cx="42703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16">
              <a:extLst>
                <a:ext uri="{FF2B5EF4-FFF2-40B4-BE49-F238E27FC236}">
                  <a16:creationId xmlns:a16="http://schemas.microsoft.com/office/drawing/2014/main" id="{04C73221-0A96-4FBA-9B59-913F94DF1D9B}"/>
                </a:ext>
              </a:extLst>
            </p:cNvPr>
            <p:cNvGraphicFramePr>
              <a:graphicFrameLocks noChangeAspect="1"/>
            </p:cNvGraphicFramePr>
            <p:nvPr/>
          </p:nvGraphicFramePr>
          <p:xfrm>
            <a:off x="2571750" y="1785937"/>
            <a:ext cx="390525" cy="320675"/>
          </p:xfrm>
          <a:graphic>
            <a:graphicData uri="http://schemas.openxmlformats.org/presentationml/2006/ole">
              <mc:AlternateContent xmlns:mc="http://schemas.openxmlformats.org/markup-compatibility/2006">
                <mc:Choice xmlns:v="urn:schemas-microsoft-com:vml" Requires="v">
                  <p:oleObj spid="_x0000_s118184" r:id="rId17" imgW="280813" imgH="229813" progId="">
                    <p:embed/>
                  </p:oleObj>
                </mc:Choice>
                <mc:Fallback>
                  <p:oleObj r:id="rId17" imgW="280813" imgH="229813" progId="">
                    <p:embed/>
                    <p:pic>
                      <p:nvPicPr>
                        <p:cNvPr id="17" name="Object 16">
                          <a:extLst>
                            <a:ext uri="{FF2B5EF4-FFF2-40B4-BE49-F238E27FC236}">
                              <a16:creationId xmlns:a16="http://schemas.microsoft.com/office/drawing/2014/main" id="{B5B41B25-5285-4EDD-AD90-8516F8A20BD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571750" y="1785937"/>
                          <a:ext cx="3905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17">
              <a:extLst>
                <a:ext uri="{FF2B5EF4-FFF2-40B4-BE49-F238E27FC236}">
                  <a16:creationId xmlns:a16="http://schemas.microsoft.com/office/drawing/2014/main" id="{A943174F-4EAA-4A7F-B532-92C83C8123A9}"/>
                </a:ext>
              </a:extLst>
            </p:cNvPr>
            <p:cNvGraphicFramePr>
              <a:graphicFrameLocks noChangeAspect="1"/>
            </p:cNvGraphicFramePr>
            <p:nvPr/>
          </p:nvGraphicFramePr>
          <p:xfrm>
            <a:off x="1500187" y="71437"/>
            <a:ext cx="142875" cy="231775"/>
          </p:xfrm>
          <a:graphic>
            <a:graphicData uri="http://schemas.openxmlformats.org/presentationml/2006/ole">
              <mc:AlternateContent xmlns:mc="http://schemas.openxmlformats.org/markup-compatibility/2006">
                <mc:Choice xmlns:v="urn:schemas-microsoft-com:vml" Requires="v">
                  <p:oleObj spid="_x0000_s118185" r:id="rId19" imgW="102315" imgH="166064" progId="">
                    <p:embed/>
                  </p:oleObj>
                </mc:Choice>
                <mc:Fallback>
                  <p:oleObj r:id="rId19" imgW="102315" imgH="166064" progId="">
                    <p:embed/>
                    <p:pic>
                      <p:nvPicPr>
                        <p:cNvPr id="18" name="Object 17">
                          <a:extLst>
                            <a:ext uri="{FF2B5EF4-FFF2-40B4-BE49-F238E27FC236}">
                              <a16:creationId xmlns:a16="http://schemas.microsoft.com/office/drawing/2014/main" id="{F10C0F89-E9A3-436D-89F3-25D82DF1D700}"/>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00187" y="71437"/>
                          <a:ext cx="14287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8">
              <a:extLst>
                <a:ext uri="{FF2B5EF4-FFF2-40B4-BE49-F238E27FC236}">
                  <a16:creationId xmlns:a16="http://schemas.microsoft.com/office/drawing/2014/main" id="{23ED57CB-CF4A-4666-A4C7-4F6C9BEFF9EC}"/>
                </a:ext>
              </a:extLst>
            </p:cNvPr>
            <p:cNvGraphicFramePr>
              <a:graphicFrameLocks noChangeAspect="1"/>
            </p:cNvGraphicFramePr>
            <p:nvPr/>
          </p:nvGraphicFramePr>
          <p:xfrm>
            <a:off x="2428875" y="71437"/>
            <a:ext cx="212725" cy="231775"/>
          </p:xfrm>
          <a:graphic>
            <a:graphicData uri="http://schemas.openxmlformats.org/presentationml/2006/ole">
              <mc:AlternateContent xmlns:mc="http://schemas.openxmlformats.org/markup-compatibility/2006">
                <mc:Choice xmlns:v="urn:schemas-microsoft-com:vml" Requires="v">
                  <p:oleObj spid="_x0000_s118186" r:id="rId21" imgW="153315" imgH="166064" progId="">
                    <p:embed/>
                  </p:oleObj>
                </mc:Choice>
                <mc:Fallback>
                  <p:oleObj r:id="rId21" imgW="153315" imgH="166064" progId="">
                    <p:embed/>
                    <p:pic>
                      <p:nvPicPr>
                        <p:cNvPr id="19" name="Object 18">
                          <a:extLst>
                            <a:ext uri="{FF2B5EF4-FFF2-40B4-BE49-F238E27FC236}">
                              <a16:creationId xmlns:a16="http://schemas.microsoft.com/office/drawing/2014/main" id="{E74E591F-9B83-4CFB-9100-7E7EA32F43D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28875" y="71437"/>
                          <a:ext cx="21272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19">
              <a:extLst>
                <a:ext uri="{FF2B5EF4-FFF2-40B4-BE49-F238E27FC236}">
                  <a16:creationId xmlns:a16="http://schemas.microsoft.com/office/drawing/2014/main" id="{C07F294E-8BA3-4575-BA92-2CD2D21455BA}"/>
                </a:ext>
              </a:extLst>
            </p:cNvPr>
            <p:cNvGraphicFramePr>
              <a:graphicFrameLocks noChangeAspect="1"/>
            </p:cNvGraphicFramePr>
            <p:nvPr/>
          </p:nvGraphicFramePr>
          <p:xfrm>
            <a:off x="3214687" y="71437"/>
            <a:ext cx="266700" cy="231775"/>
          </p:xfrm>
          <a:graphic>
            <a:graphicData uri="http://schemas.openxmlformats.org/presentationml/2006/ole">
              <mc:AlternateContent xmlns:mc="http://schemas.openxmlformats.org/markup-compatibility/2006">
                <mc:Choice xmlns:v="urn:schemas-microsoft-com:vml" Requires="v">
                  <p:oleObj spid="_x0000_s118187" r:id="rId23" imgW="191564" imgH="166064" progId="">
                    <p:embed/>
                  </p:oleObj>
                </mc:Choice>
                <mc:Fallback>
                  <p:oleObj r:id="rId23" imgW="191564" imgH="166064" progId="">
                    <p:embed/>
                    <p:pic>
                      <p:nvPicPr>
                        <p:cNvPr id="20" name="Object 19">
                          <a:extLst>
                            <a:ext uri="{FF2B5EF4-FFF2-40B4-BE49-F238E27FC236}">
                              <a16:creationId xmlns:a16="http://schemas.microsoft.com/office/drawing/2014/main" id="{7C58C426-78AF-4CE6-BACA-B6788714CAF5}"/>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214687" y="71437"/>
                          <a:ext cx="2667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0" name="矩形 19">
            <a:extLst>
              <a:ext uri="{FF2B5EF4-FFF2-40B4-BE49-F238E27FC236}">
                <a16:creationId xmlns:a16="http://schemas.microsoft.com/office/drawing/2014/main" id="{815D09F7-F7A5-4BCF-8A69-3B72613E9A1D}"/>
              </a:ext>
            </a:extLst>
          </p:cNvPr>
          <p:cNvSpPr/>
          <p:nvPr/>
        </p:nvSpPr>
        <p:spPr>
          <a:xfrm>
            <a:off x="704791" y="3967266"/>
            <a:ext cx="3211342" cy="923330"/>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厂商会选，虽然平均产量和边际产量都在下降，但总产量在增加，总收益在增加。</a:t>
            </a:r>
          </a:p>
        </p:txBody>
      </p:sp>
      <p:sp>
        <p:nvSpPr>
          <p:cNvPr id="21" name="矩形 20">
            <a:extLst>
              <a:ext uri="{FF2B5EF4-FFF2-40B4-BE49-F238E27FC236}">
                <a16:creationId xmlns:a16="http://schemas.microsoft.com/office/drawing/2014/main" id="{02DC8A4D-C5E0-468B-875B-AA4630C10C36}"/>
              </a:ext>
            </a:extLst>
          </p:cNvPr>
          <p:cNvSpPr/>
          <p:nvPr/>
        </p:nvSpPr>
        <p:spPr>
          <a:xfrm>
            <a:off x="903370" y="2001034"/>
            <a:ext cx="7465605" cy="646331"/>
          </a:xfrm>
          <a:prstGeom prst="rect">
            <a:avLst/>
          </a:prstGeom>
        </p:spPr>
        <p:txBody>
          <a:bodyPr wrap="square">
            <a:spAutoFit/>
          </a:bodyPr>
          <a:lstStyle/>
          <a:p>
            <a:r>
              <a:rPr lang="zh-CN" altLang="en-US" b="1" dirty="0">
                <a:solidFill>
                  <a:srgbClr val="85B2D2"/>
                </a:solidFill>
                <a:latin typeface="微软雅黑" panose="020B0503020204020204" pitchFamily="34" charset="-122"/>
                <a:ea typeface="微软雅黑" panose="020B0503020204020204" pitchFamily="34" charset="-122"/>
              </a:rPr>
              <a:t>     平均产量递减阶段，但边际产量仍然大于</a:t>
            </a:r>
            <a:r>
              <a:rPr lang="en-US" altLang="zh-CN" b="1" dirty="0">
                <a:solidFill>
                  <a:srgbClr val="85B2D2"/>
                </a:solidFill>
                <a:latin typeface="微软雅黑" panose="020B0503020204020204" pitchFamily="34" charset="-122"/>
                <a:ea typeface="微软雅黑" panose="020B0503020204020204" pitchFamily="34" charset="-122"/>
              </a:rPr>
              <a:t>0</a:t>
            </a:r>
            <a:r>
              <a:rPr lang="zh-CN" altLang="en-US" b="1" dirty="0">
                <a:solidFill>
                  <a:srgbClr val="85B2D2"/>
                </a:solidFill>
                <a:latin typeface="微软雅黑" panose="020B0503020204020204" pitchFamily="34" charset="-122"/>
                <a:ea typeface="微软雅黑" panose="020B0503020204020204" pitchFamily="34" charset="-122"/>
              </a:rPr>
              <a:t>，从</a:t>
            </a:r>
            <a:r>
              <a:rPr lang="en-US" altLang="zh-CN" b="1" dirty="0">
                <a:solidFill>
                  <a:srgbClr val="85B2D2"/>
                </a:solidFill>
                <a:latin typeface="微软雅黑" panose="020B0503020204020204" pitchFamily="34" charset="-122"/>
                <a:ea typeface="微软雅黑" panose="020B0503020204020204" pitchFamily="34" charset="-122"/>
              </a:rPr>
              <a:t>MP</a:t>
            </a:r>
            <a:r>
              <a:rPr lang="zh-CN" altLang="en-US" b="1" dirty="0">
                <a:solidFill>
                  <a:srgbClr val="85B2D2"/>
                </a:solidFill>
                <a:latin typeface="微软雅黑" panose="020B0503020204020204" pitchFamily="34" charset="-122"/>
                <a:ea typeface="微软雅黑" panose="020B0503020204020204" pitchFamily="34" charset="-122"/>
              </a:rPr>
              <a:t>和</a:t>
            </a:r>
            <a:r>
              <a:rPr lang="en-US" altLang="zh-CN" b="1" dirty="0">
                <a:solidFill>
                  <a:srgbClr val="85B2D2"/>
                </a:solidFill>
                <a:latin typeface="微软雅黑" panose="020B0503020204020204" pitchFamily="34" charset="-122"/>
                <a:ea typeface="微软雅黑" panose="020B0503020204020204" pitchFamily="34" charset="-122"/>
              </a:rPr>
              <a:t>AP</a:t>
            </a:r>
            <a:r>
              <a:rPr lang="zh-CN" altLang="en-US" b="1" dirty="0">
                <a:solidFill>
                  <a:srgbClr val="85B2D2"/>
                </a:solidFill>
                <a:latin typeface="微软雅黑" panose="020B0503020204020204" pitchFamily="34" charset="-122"/>
                <a:ea typeface="微软雅黑" panose="020B0503020204020204" pitchFamily="34" charset="-122"/>
              </a:rPr>
              <a:t>交点到</a:t>
            </a:r>
            <a:r>
              <a:rPr lang="en-US" altLang="zh-CN" b="1" dirty="0">
                <a:solidFill>
                  <a:srgbClr val="85B2D2"/>
                </a:solidFill>
                <a:latin typeface="微软雅黑" panose="020B0503020204020204" pitchFamily="34" charset="-122"/>
                <a:ea typeface="微软雅黑" panose="020B0503020204020204" pitchFamily="34" charset="-122"/>
              </a:rPr>
              <a:t>MP</a:t>
            </a:r>
            <a:r>
              <a:rPr lang="zh-CN" altLang="en-US" b="1" dirty="0">
                <a:solidFill>
                  <a:srgbClr val="85B2D2"/>
                </a:solidFill>
                <a:latin typeface="微软雅黑" panose="020B0503020204020204" pitchFamily="34" charset="-122"/>
                <a:ea typeface="微软雅黑" panose="020B0503020204020204" pitchFamily="34" charset="-122"/>
              </a:rPr>
              <a:t>和横轴交点之间的阶段。</a:t>
            </a:r>
          </a:p>
        </p:txBody>
      </p:sp>
      <p:grpSp>
        <p:nvGrpSpPr>
          <p:cNvPr id="22" name="组合 21">
            <a:extLst>
              <a:ext uri="{FF2B5EF4-FFF2-40B4-BE49-F238E27FC236}">
                <a16:creationId xmlns:a16="http://schemas.microsoft.com/office/drawing/2014/main" id="{3139A8CD-938A-424E-8BC9-50487D296907}"/>
              </a:ext>
            </a:extLst>
          </p:cNvPr>
          <p:cNvGrpSpPr/>
          <p:nvPr/>
        </p:nvGrpSpPr>
        <p:grpSpPr>
          <a:xfrm>
            <a:off x="730450" y="1272179"/>
            <a:ext cx="1343870" cy="404525"/>
            <a:chOff x="458213" y="4075203"/>
            <a:chExt cx="1708719" cy="514350"/>
          </a:xfrm>
        </p:grpSpPr>
        <p:sp>
          <p:nvSpPr>
            <p:cNvPr id="23" name="MH_Text_1">
              <a:extLst>
                <a:ext uri="{FF2B5EF4-FFF2-40B4-BE49-F238E27FC236}">
                  <a16:creationId xmlns:a16="http://schemas.microsoft.com/office/drawing/2014/main" id="{0F6BE240-6E7F-4CB1-B442-075C4231B5A1}"/>
                </a:ext>
              </a:extLst>
            </p:cNvPr>
            <p:cNvSpPr/>
            <p:nvPr>
              <p:custDataLst>
                <p:tags r:id="rId2"/>
              </p:custDataLst>
            </p:nvPr>
          </p:nvSpPr>
          <p:spPr bwMode="auto">
            <a:xfrm>
              <a:off x="458213" y="4075203"/>
              <a:ext cx="1708719"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r>
                <a:rPr lang="zh-CN" altLang="en-US" sz="2000" dirty="0">
                  <a:solidFill>
                    <a:schemeClr val="tx1"/>
                  </a:solidFill>
                  <a:latin typeface="微软雅黑" panose="020B0503020204020204" pitchFamily="34" charset="-122"/>
                  <a:ea typeface="微软雅黑" panose="020B0503020204020204" pitchFamily="34" charset="-122"/>
                </a:rPr>
                <a:t>  第二阶段</a:t>
              </a:r>
            </a:p>
          </p:txBody>
        </p:sp>
        <p:sp>
          <p:nvSpPr>
            <p:cNvPr id="24" name="MH_Other_2">
              <a:extLst>
                <a:ext uri="{FF2B5EF4-FFF2-40B4-BE49-F238E27FC236}">
                  <a16:creationId xmlns:a16="http://schemas.microsoft.com/office/drawing/2014/main" id="{36619937-691E-4DFF-8BED-78CA1F53DBCE}"/>
                </a:ext>
              </a:extLst>
            </p:cNvPr>
            <p:cNvSpPr/>
            <p:nvPr>
              <p:custDataLst>
                <p:tags r:id="rId3"/>
              </p:custDataLst>
            </p:nvPr>
          </p:nvSpPr>
          <p:spPr bwMode="auto">
            <a:xfrm rot="10800000">
              <a:off x="1974844" y="4132353"/>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chemeClr val="tx1"/>
                </a:solidFill>
                <a:effectLst/>
                <a:uLnTx/>
                <a:uFillTx/>
                <a:latin typeface="Calibri" panose="020F0502020204030204"/>
                <a:ea typeface="맑은 고딕" panose="020B0503020000020004" pitchFamily="34" charset="-127"/>
                <a:cs typeface="+mn-cs"/>
              </a:endParaRPr>
            </a:p>
          </p:txBody>
        </p:sp>
      </p:grpSp>
      <p:sp>
        <p:nvSpPr>
          <p:cNvPr id="25" name="矩形: 圆角 24">
            <a:extLst>
              <a:ext uri="{FF2B5EF4-FFF2-40B4-BE49-F238E27FC236}">
                <a16:creationId xmlns:a16="http://schemas.microsoft.com/office/drawing/2014/main" id="{B784BA6C-7647-4314-9772-2D313728BA01}"/>
              </a:ext>
            </a:extLst>
          </p:cNvPr>
          <p:cNvSpPr/>
          <p:nvPr/>
        </p:nvSpPr>
        <p:spPr>
          <a:xfrm>
            <a:off x="1169901" y="3407794"/>
            <a:ext cx="1937866" cy="39920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微软雅黑" panose="020B0503020204020204" pitchFamily="34" charset="-122"/>
                <a:ea typeface="微软雅黑" panose="020B0503020204020204" pitchFamily="34" charset="-122"/>
              </a:rPr>
              <a:t>厂商决策选择：</a:t>
            </a:r>
          </a:p>
        </p:txBody>
      </p:sp>
      <p:sp>
        <p:nvSpPr>
          <p:cNvPr id="26" name="矩形 25">
            <a:extLst>
              <a:ext uri="{FF2B5EF4-FFF2-40B4-BE49-F238E27FC236}">
                <a16:creationId xmlns:a16="http://schemas.microsoft.com/office/drawing/2014/main" id="{FE86A1E8-F9BF-41CA-8D6B-5CCAA441F783}"/>
              </a:ext>
            </a:extLst>
          </p:cNvPr>
          <p:cNvSpPr/>
          <p:nvPr/>
        </p:nvSpPr>
        <p:spPr>
          <a:xfrm>
            <a:off x="580922" y="520573"/>
            <a:ext cx="312698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四、生产的三个阶段</a:t>
            </a:r>
          </a:p>
        </p:txBody>
      </p:sp>
    </p:spTree>
    <p:extLst>
      <p:ext uri="{BB962C8B-B14F-4D97-AF65-F5344CB8AC3E}">
        <p14:creationId xmlns:p14="http://schemas.microsoft.com/office/powerpoint/2010/main" val="259363213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500" fill="hold"/>
                                        <p:tgtEl>
                                          <p:spTgt spid="3"/>
                                        </p:tgtEl>
                                        <p:attrNameLst>
                                          <p:attrName>ppt_w</p:attrName>
                                        </p:attrNameLst>
                                      </p:cBhvr>
                                      <p:tavLst>
                                        <p:tav tm="0">
                                          <p:val>
                                            <p:fltVal val="0"/>
                                          </p:val>
                                        </p:tav>
                                        <p:tav tm="100000">
                                          <p:val>
                                            <p:strVal val="#ppt_w"/>
                                          </p:val>
                                        </p:tav>
                                      </p:tavLst>
                                    </p:anim>
                                    <p:anim calcmode="lin" valueType="num">
                                      <p:cBhvr>
                                        <p:cTn id="15" dur="500" fill="hold"/>
                                        <p:tgtEl>
                                          <p:spTgt spid="3"/>
                                        </p:tgtEl>
                                        <p:attrNameLst>
                                          <p:attrName>ppt_h</p:attrName>
                                        </p:attrNameLst>
                                      </p:cBhvr>
                                      <p:tavLst>
                                        <p:tav tm="0">
                                          <p:val>
                                            <p:fltVal val="0"/>
                                          </p:val>
                                        </p:tav>
                                        <p:tav tm="100000">
                                          <p:val>
                                            <p:strVal val="#ppt_h"/>
                                          </p:val>
                                        </p:tav>
                                      </p:tavLst>
                                    </p:anim>
                                    <p:animEffect transition="in" filter="fade">
                                      <p:cBhvr>
                                        <p:cTn id="16" dur="5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1000"/>
                                        <p:tgtEl>
                                          <p:spTgt spid="22"/>
                                        </p:tgtEl>
                                      </p:cBhvr>
                                    </p:animEffect>
                                    <p:anim calcmode="lin" valueType="num">
                                      <p:cBhvr>
                                        <p:cTn id="22" dur="1000" fill="hold"/>
                                        <p:tgtEl>
                                          <p:spTgt spid="22"/>
                                        </p:tgtEl>
                                        <p:attrNameLst>
                                          <p:attrName>ppt_x</p:attrName>
                                        </p:attrNameLst>
                                      </p:cBhvr>
                                      <p:tavLst>
                                        <p:tav tm="0">
                                          <p:val>
                                            <p:strVal val="#ppt_x"/>
                                          </p:val>
                                        </p:tav>
                                        <p:tav tm="100000">
                                          <p:val>
                                            <p:strVal val="#ppt_x"/>
                                          </p:val>
                                        </p:tav>
                                      </p:tavLst>
                                    </p:anim>
                                    <p:anim calcmode="lin" valueType="num">
                                      <p:cBhvr>
                                        <p:cTn id="2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wipe(left)">
                                      <p:cBhvr>
                                        <p:cTn id="28" dur="500"/>
                                        <p:tgtEl>
                                          <p:spTgt spid="21"/>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animEffect transition="in" filter="fade">
                                      <p:cBhvr>
                                        <p:cTn id="33" dur="1000"/>
                                        <p:tgtEl>
                                          <p:spTgt spid="25"/>
                                        </p:tgtEl>
                                      </p:cBhvr>
                                    </p:animEffect>
                                    <p:anim calcmode="lin" valueType="num">
                                      <p:cBhvr>
                                        <p:cTn id="34" dur="1000" fill="hold"/>
                                        <p:tgtEl>
                                          <p:spTgt spid="25"/>
                                        </p:tgtEl>
                                        <p:attrNameLst>
                                          <p:attrName>ppt_x</p:attrName>
                                        </p:attrNameLst>
                                      </p:cBhvr>
                                      <p:tavLst>
                                        <p:tav tm="0">
                                          <p:val>
                                            <p:strVal val="#ppt_x"/>
                                          </p:val>
                                        </p:tav>
                                        <p:tav tm="100000">
                                          <p:val>
                                            <p:strVal val="#ppt_x"/>
                                          </p:val>
                                        </p:tav>
                                      </p:tavLst>
                                    </p:anim>
                                    <p:anim calcmode="lin" valueType="num">
                                      <p:cBhvr>
                                        <p:cTn id="35"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1000"/>
                                        <p:tgtEl>
                                          <p:spTgt spid="20"/>
                                        </p:tgtEl>
                                      </p:cBhvr>
                                    </p:animEffect>
                                    <p:anim calcmode="lin" valueType="num">
                                      <p:cBhvr>
                                        <p:cTn id="41" dur="1000" fill="hold"/>
                                        <p:tgtEl>
                                          <p:spTgt spid="20"/>
                                        </p:tgtEl>
                                        <p:attrNameLst>
                                          <p:attrName>ppt_x</p:attrName>
                                        </p:attrNameLst>
                                      </p:cBhvr>
                                      <p:tavLst>
                                        <p:tav tm="0">
                                          <p:val>
                                            <p:strVal val="#ppt_x"/>
                                          </p:val>
                                        </p:tav>
                                        <p:tav tm="100000">
                                          <p:val>
                                            <p:strVal val="#ppt_x"/>
                                          </p:val>
                                        </p:tav>
                                      </p:tavLst>
                                    </p:anim>
                                    <p:anim calcmode="lin" valueType="num">
                                      <p:cBhvr>
                                        <p:cTn id="42"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5" grpId="0"/>
      <p:bldP spid="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22F437C-0A30-4FA4-A188-9B141C9EC35E}"/>
              </a:ext>
            </a:extLst>
          </p:cNvPr>
          <p:cNvSpPr/>
          <p:nvPr/>
        </p:nvSpPr>
        <p:spPr>
          <a:xfrm>
            <a:off x="6732240" y="35332"/>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第三节 短期生产函数</a:t>
            </a:r>
          </a:p>
        </p:txBody>
      </p:sp>
      <p:grpSp>
        <p:nvGrpSpPr>
          <p:cNvPr id="26" name="组合 19">
            <a:extLst>
              <a:ext uri="{FF2B5EF4-FFF2-40B4-BE49-F238E27FC236}">
                <a16:creationId xmlns:a16="http://schemas.microsoft.com/office/drawing/2014/main" id="{564837CB-CC22-496E-9A36-96BC8CB87BBD}"/>
              </a:ext>
            </a:extLst>
          </p:cNvPr>
          <p:cNvGrpSpPr>
            <a:grpSpLocks/>
          </p:cNvGrpSpPr>
          <p:nvPr/>
        </p:nvGrpSpPr>
        <p:grpSpPr bwMode="auto">
          <a:xfrm>
            <a:off x="611560" y="2896431"/>
            <a:ext cx="3650315" cy="3052849"/>
            <a:chOff x="0" y="0"/>
            <a:chExt cx="3714750" cy="3106737"/>
          </a:xfrm>
        </p:grpSpPr>
        <p:cxnSp>
          <p:nvCxnSpPr>
            <p:cNvPr id="27" name="直接箭头连接符 5">
              <a:extLst>
                <a:ext uri="{FF2B5EF4-FFF2-40B4-BE49-F238E27FC236}">
                  <a16:creationId xmlns:a16="http://schemas.microsoft.com/office/drawing/2014/main" id="{A290DE9B-9F22-4C49-B44A-0C1099C81CF4}"/>
                </a:ext>
              </a:extLst>
            </p:cNvPr>
            <p:cNvCxnSpPr>
              <a:cxnSpLocks noChangeShapeType="1"/>
            </p:cNvCxnSpPr>
            <p:nvPr/>
          </p:nvCxnSpPr>
          <p:spPr bwMode="auto">
            <a:xfrm>
              <a:off x="285750" y="2714624"/>
              <a:ext cx="3429000" cy="1588"/>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28" name="直接箭头连接符 7">
              <a:extLst>
                <a:ext uri="{FF2B5EF4-FFF2-40B4-BE49-F238E27FC236}">
                  <a16:creationId xmlns:a16="http://schemas.microsoft.com/office/drawing/2014/main" id="{887B3C39-365B-409C-8E82-4E42EFDE8F66}"/>
                </a:ext>
              </a:extLst>
            </p:cNvPr>
            <p:cNvCxnSpPr>
              <a:cxnSpLocks noChangeShapeType="1"/>
            </p:cNvCxnSpPr>
            <p:nvPr/>
          </p:nvCxnSpPr>
          <p:spPr bwMode="auto">
            <a:xfrm rot="5400000" flipH="1" flipV="1">
              <a:off x="-1070769" y="1356515"/>
              <a:ext cx="2714624" cy="1587"/>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29" name="直接连接符 10">
              <a:extLst>
                <a:ext uri="{FF2B5EF4-FFF2-40B4-BE49-F238E27FC236}">
                  <a16:creationId xmlns:a16="http://schemas.microsoft.com/office/drawing/2014/main" id="{31367FDA-C244-46FA-8E68-7D1088AF9057}"/>
                </a:ext>
              </a:extLst>
            </p:cNvPr>
            <p:cNvCxnSpPr>
              <a:cxnSpLocks noChangeShapeType="1"/>
            </p:cNvCxnSpPr>
            <p:nvPr/>
          </p:nvCxnSpPr>
          <p:spPr bwMode="auto">
            <a:xfrm rot="5400000">
              <a:off x="642143" y="1358107"/>
              <a:ext cx="2716212" cy="0"/>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cxnSp>
          <p:nvCxnSpPr>
            <p:cNvPr id="30" name="直接连接符 12">
              <a:extLst>
                <a:ext uri="{FF2B5EF4-FFF2-40B4-BE49-F238E27FC236}">
                  <a16:creationId xmlns:a16="http://schemas.microsoft.com/office/drawing/2014/main" id="{1454E65F-73A8-427E-8E93-E38B43E7B443}"/>
                </a:ext>
              </a:extLst>
            </p:cNvPr>
            <p:cNvCxnSpPr>
              <a:cxnSpLocks noChangeShapeType="1"/>
            </p:cNvCxnSpPr>
            <p:nvPr/>
          </p:nvCxnSpPr>
          <p:spPr bwMode="auto">
            <a:xfrm rot="5400000">
              <a:off x="1607343" y="1321594"/>
              <a:ext cx="2644774" cy="1588"/>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sp>
          <p:nvSpPr>
            <p:cNvPr id="31" name="任意多边形 25">
              <a:extLst>
                <a:ext uri="{FF2B5EF4-FFF2-40B4-BE49-F238E27FC236}">
                  <a16:creationId xmlns:a16="http://schemas.microsoft.com/office/drawing/2014/main" id="{ABCA9306-471E-4825-B652-BCD743F693E5}"/>
                </a:ext>
              </a:extLst>
            </p:cNvPr>
            <p:cNvSpPr>
              <a:spLocks noChangeArrowheads="1"/>
            </p:cNvSpPr>
            <p:nvPr/>
          </p:nvSpPr>
          <p:spPr bwMode="auto">
            <a:xfrm>
              <a:off x="285750" y="1500188"/>
              <a:ext cx="2928937" cy="1428750"/>
            </a:xfrm>
            <a:custGeom>
              <a:avLst/>
              <a:gdLst>
                <a:gd name="T0" fmla="*/ 0 w 2838450"/>
                <a:gd name="T1" fmla="*/ 1188400 h 1019175"/>
                <a:gd name="T2" fmla="*/ 1041837 w 2838450"/>
                <a:gd name="T3" fmla="*/ 40058 h 1019175"/>
                <a:gd name="T4" fmla="*/ 2928937 w 2838450"/>
                <a:gd name="T5" fmla="*/ 1428750 h 1019175"/>
                <a:gd name="T6" fmla="*/ 0 60000 65536"/>
                <a:gd name="T7" fmla="*/ 0 60000 65536"/>
                <a:gd name="T8" fmla="*/ 0 60000 65536"/>
                <a:gd name="T9" fmla="*/ 0 w 2838450"/>
                <a:gd name="T10" fmla="*/ 0 h 1019175"/>
                <a:gd name="T11" fmla="*/ 2838450 w 2838450"/>
                <a:gd name="T12" fmla="*/ 1019175 h 1019175"/>
              </a:gdLst>
              <a:ahLst/>
              <a:cxnLst>
                <a:cxn ang="T6">
                  <a:pos x="T0" y="T1"/>
                </a:cxn>
                <a:cxn ang="T7">
                  <a:pos x="T2" y="T3"/>
                </a:cxn>
                <a:cxn ang="T8">
                  <a:pos x="T4" y="T5"/>
                </a:cxn>
              </a:cxnLst>
              <a:rect l="T9" t="T10" r="T11" b="T12"/>
              <a:pathLst>
                <a:path w="2838450" h="1019175">
                  <a:moveTo>
                    <a:pt x="0" y="847725"/>
                  </a:moveTo>
                  <a:cubicBezTo>
                    <a:pt x="268287" y="423862"/>
                    <a:pt x="536575" y="0"/>
                    <a:pt x="1009650" y="28575"/>
                  </a:cubicBezTo>
                  <a:cubicBezTo>
                    <a:pt x="1482725" y="57150"/>
                    <a:pt x="2160587" y="538162"/>
                    <a:pt x="2838450" y="1019175"/>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32" name="任意多边形 26">
              <a:extLst>
                <a:ext uri="{FF2B5EF4-FFF2-40B4-BE49-F238E27FC236}">
                  <a16:creationId xmlns:a16="http://schemas.microsoft.com/office/drawing/2014/main" id="{20A75375-F17C-47B8-A1A0-DF618905388B}"/>
                </a:ext>
              </a:extLst>
            </p:cNvPr>
            <p:cNvSpPr>
              <a:spLocks noChangeArrowheads="1"/>
            </p:cNvSpPr>
            <p:nvPr/>
          </p:nvSpPr>
          <p:spPr bwMode="auto">
            <a:xfrm>
              <a:off x="290512" y="1852612"/>
              <a:ext cx="3181350" cy="857250"/>
            </a:xfrm>
            <a:custGeom>
              <a:avLst/>
              <a:gdLst>
                <a:gd name="T0" fmla="*/ 0 w 3181350"/>
                <a:gd name="T1" fmla="*/ 857250 h 857250"/>
                <a:gd name="T2" fmla="*/ 1695450 w 3181350"/>
                <a:gd name="T3" fmla="*/ 19050 h 857250"/>
                <a:gd name="T4" fmla="*/ 3181350 w 3181350"/>
                <a:gd name="T5" fmla="*/ 742950 h 857250"/>
                <a:gd name="T6" fmla="*/ 3181350 w 3181350"/>
                <a:gd name="T7" fmla="*/ 742950 h 857250"/>
                <a:gd name="T8" fmla="*/ 0 60000 65536"/>
                <a:gd name="T9" fmla="*/ 0 60000 65536"/>
                <a:gd name="T10" fmla="*/ 0 60000 65536"/>
                <a:gd name="T11" fmla="*/ 0 60000 65536"/>
                <a:gd name="T12" fmla="*/ 0 w 3181350"/>
                <a:gd name="T13" fmla="*/ 0 h 857250"/>
                <a:gd name="T14" fmla="*/ 3181350 w 3181350"/>
                <a:gd name="T15" fmla="*/ 857250 h 857250"/>
              </a:gdLst>
              <a:ahLst/>
              <a:cxnLst>
                <a:cxn ang="T8">
                  <a:pos x="T0" y="T1"/>
                </a:cxn>
                <a:cxn ang="T9">
                  <a:pos x="T2" y="T3"/>
                </a:cxn>
                <a:cxn ang="T10">
                  <a:pos x="T4" y="T5"/>
                </a:cxn>
                <a:cxn ang="T11">
                  <a:pos x="T6" y="T7"/>
                </a:cxn>
              </a:cxnLst>
              <a:rect l="T12" t="T13" r="T14" b="T15"/>
              <a:pathLst>
                <a:path w="3181350" h="857250">
                  <a:moveTo>
                    <a:pt x="0" y="857250"/>
                  </a:moveTo>
                  <a:cubicBezTo>
                    <a:pt x="582612" y="447675"/>
                    <a:pt x="1165225" y="38100"/>
                    <a:pt x="1695450" y="19050"/>
                  </a:cubicBezTo>
                  <a:cubicBezTo>
                    <a:pt x="2225675" y="0"/>
                    <a:pt x="3181350" y="742950"/>
                    <a:pt x="3181350" y="742950"/>
                  </a:cubicBezTo>
                </a:path>
              </a:pathLst>
            </a:custGeom>
            <a:noFill/>
            <a:ln w="38100" cmpd="sng">
              <a:solidFill>
                <a:srgbClr val="8CC705"/>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33" name="Object 10">
              <a:extLst>
                <a:ext uri="{FF2B5EF4-FFF2-40B4-BE49-F238E27FC236}">
                  <a16:creationId xmlns:a16="http://schemas.microsoft.com/office/drawing/2014/main" id="{C50DEE85-B8AB-40EE-9C07-ED217CFCD235}"/>
                </a:ext>
              </a:extLst>
            </p:cNvPr>
            <p:cNvGraphicFramePr>
              <a:graphicFrameLocks noChangeAspect="1"/>
            </p:cNvGraphicFramePr>
            <p:nvPr/>
          </p:nvGraphicFramePr>
          <p:xfrm>
            <a:off x="0" y="142875"/>
            <a:ext cx="212725" cy="284162"/>
          </p:xfrm>
          <a:graphic>
            <a:graphicData uri="http://schemas.openxmlformats.org/presentationml/2006/ole">
              <mc:AlternateContent xmlns:mc="http://schemas.openxmlformats.org/markup-compatibility/2006">
                <mc:Choice xmlns:v="urn:schemas-microsoft-com:vml" Requires="v">
                  <p:oleObj spid="_x0000_s119202" r:id="rId5" imgW="153381" imgH="204403" progId="">
                    <p:embed/>
                  </p:oleObj>
                </mc:Choice>
                <mc:Fallback>
                  <p:oleObj r:id="rId5" imgW="153381" imgH="204403" progId="">
                    <p:embed/>
                    <p:pic>
                      <p:nvPicPr>
                        <p:cNvPr id="10" name="Object 10">
                          <a:extLst>
                            <a:ext uri="{FF2B5EF4-FFF2-40B4-BE49-F238E27FC236}">
                              <a16:creationId xmlns:a16="http://schemas.microsoft.com/office/drawing/2014/main" id="{ADA2077D-A5D9-4115-B056-CB630B6FAA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42875"/>
                          <a:ext cx="212725"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 name="Object 11">
              <a:extLst>
                <a:ext uri="{FF2B5EF4-FFF2-40B4-BE49-F238E27FC236}">
                  <a16:creationId xmlns:a16="http://schemas.microsoft.com/office/drawing/2014/main" id="{59CEF9A8-4DD4-44D8-960C-3EC71BBD13F3}"/>
                </a:ext>
              </a:extLst>
            </p:cNvPr>
            <p:cNvGraphicFramePr>
              <a:graphicFrameLocks noChangeAspect="1"/>
            </p:cNvGraphicFramePr>
            <p:nvPr/>
          </p:nvGraphicFramePr>
          <p:xfrm>
            <a:off x="0" y="2786062"/>
            <a:ext cx="212725" cy="249238"/>
          </p:xfrm>
          <a:graphic>
            <a:graphicData uri="http://schemas.openxmlformats.org/presentationml/2006/ole">
              <mc:AlternateContent xmlns:mc="http://schemas.openxmlformats.org/markup-compatibility/2006">
                <mc:Choice xmlns:v="urn:schemas-microsoft-com:vml" Requires="v">
                  <p:oleObj spid="_x0000_s119203" r:id="rId7" imgW="153248" imgH="178737" progId="">
                    <p:embed/>
                  </p:oleObj>
                </mc:Choice>
                <mc:Fallback>
                  <p:oleObj r:id="rId7" imgW="153248" imgH="178737" progId="">
                    <p:embed/>
                    <p:pic>
                      <p:nvPicPr>
                        <p:cNvPr id="11" name="Object 11">
                          <a:extLst>
                            <a:ext uri="{FF2B5EF4-FFF2-40B4-BE49-F238E27FC236}">
                              <a16:creationId xmlns:a16="http://schemas.microsoft.com/office/drawing/2014/main" id="{48F6064A-2F5C-49E2-AA1C-B6A33B2F30C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2786062"/>
                          <a:ext cx="212725"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 name="Object 12">
              <a:extLst>
                <a:ext uri="{FF2B5EF4-FFF2-40B4-BE49-F238E27FC236}">
                  <a16:creationId xmlns:a16="http://schemas.microsoft.com/office/drawing/2014/main" id="{235B927E-5E5C-4064-85B0-4DA20B2B625A}"/>
                </a:ext>
              </a:extLst>
            </p:cNvPr>
            <p:cNvGraphicFramePr>
              <a:graphicFrameLocks noChangeAspect="1"/>
            </p:cNvGraphicFramePr>
            <p:nvPr/>
          </p:nvGraphicFramePr>
          <p:xfrm>
            <a:off x="3429000" y="2786062"/>
            <a:ext cx="195262" cy="231775"/>
          </p:xfrm>
          <a:graphic>
            <a:graphicData uri="http://schemas.openxmlformats.org/presentationml/2006/ole">
              <mc:AlternateContent xmlns:mc="http://schemas.openxmlformats.org/markup-compatibility/2006">
                <mc:Choice xmlns:v="urn:schemas-microsoft-com:vml" Requires="v">
                  <p:oleObj spid="_x0000_s119204" r:id="rId9" imgW="140565" imgH="166064" progId="">
                    <p:embed/>
                  </p:oleObj>
                </mc:Choice>
                <mc:Fallback>
                  <p:oleObj r:id="rId9" imgW="140565" imgH="166064" progId="">
                    <p:embed/>
                    <p:pic>
                      <p:nvPicPr>
                        <p:cNvPr id="12" name="Object 12">
                          <a:extLst>
                            <a:ext uri="{FF2B5EF4-FFF2-40B4-BE49-F238E27FC236}">
                              <a16:creationId xmlns:a16="http://schemas.microsoft.com/office/drawing/2014/main" id="{A39BA846-D2F4-4310-97C8-80F6B0B1E4C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9000" y="2786062"/>
                          <a:ext cx="195262"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 name="Object 13">
              <a:extLst>
                <a:ext uri="{FF2B5EF4-FFF2-40B4-BE49-F238E27FC236}">
                  <a16:creationId xmlns:a16="http://schemas.microsoft.com/office/drawing/2014/main" id="{585F153A-F4ED-4151-B1F5-B96094E3A998}"/>
                </a:ext>
              </a:extLst>
            </p:cNvPr>
            <p:cNvGraphicFramePr>
              <a:graphicFrameLocks noChangeAspect="1"/>
            </p:cNvGraphicFramePr>
            <p:nvPr/>
          </p:nvGraphicFramePr>
          <p:xfrm>
            <a:off x="1857375" y="2786062"/>
            <a:ext cx="231775" cy="320675"/>
          </p:xfrm>
          <a:graphic>
            <a:graphicData uri="http://schemas.openxmlformats.org/presentationml/2006/ole">
              <mc:AlternateContent xmlns:mc="http://schemas.openxmlformats.org/markup-compatibility/2006">
                <mc:Choice xmlns:v="urn:schemas-microsoft-com:vml" Requires="v">
                  <p:oleObj spid="_x0000_s119205" r:id="rId11" imgW="165848" imgH="229514" progId="">
                    <p:embed/>
                  </p:oleObj>
                </mc:Choice>
                <mc:Fallback>
                  <p:oleObj r:id="rId11" imgW="165848" imgH="229514" progId="">
                    <p:embed/>
                    <p:pic>
                      <p:nvPicPr>
                        <p:cNvPr id="13" name="Object 13">
                          <a:extLst>
                            <a:ext uri="{FF2B5EF4-FFF2-40B4-BE49-F238E27FC236}">
                              <a16:creationId xmlns:a16="http://schemas.microsoft.com/office/drawing/2014/main" id="{C0B8DC37-43DE-4CE2-8D18-9F47CC6944D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7375" y="2786062"/>
                          <a:ext cx="2317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 name="Object 14">
              <a:extLst>
                <a:ext uri="{FF2B5EF4-FFF2-40B4-BE49-F238E27FC236}">
                  <a16:creationId xmlns:a16="http://schemas.microsoft.com/office/drawing/2014/main" id="{BE26D7D2-8F64-4A3D-95FC-FDEE8543D3D9}"/>
                </a:ext>
              </a:extLst>
            </p:cNvPr>
            <p:cNvGraphicFramePr>
              <a:graphicFrameLocks noChangeAspect="1"/>
            </p:cNvGraphicFramePr>
            <p:nvPr/>
          </p:nvGraphicFramePr>
          <p:xfrm>
            <a:off x="2786062" y="2786062"/>
            <a:ext cx="249238" cy="320675"/>
          </p:xfrm>
          <a:graphic>
            <a:graphicData uri="http://schemas.openxmlformats.org/presentationml/2006/ole">
              <mc:AlternateContent xmlns:mc="http://schemas.openxmlformats.org/markup-compatibility/2006">
                <mc:Choice xmlns:v="urn:schemas-microsoft-com:vml" Requires="v">
                  <p:oleObj spid="_x0000_s119206" r:id="rId13" imgW="178504" imgH="229414" progId="">
                    <p:embed/>
                  </p:oleObj>
                </mc:Choice>
                <mc:Fallback>
                  <p:oleObj r:id="rId13" imgW="178504" imgH="229414" progId="">
                    <p:embed/>
                    <p:pic>
                      <p:nvPicPr>
                        <p:cNvPr id="14" name="Object 14">
                          <a:extLst>
                            <a:ext uri="{FF2B5EF4-FFF2-40B4-BE49-F238E27FC236}">
                              <a16:creationId xmlns:a16="http://schemas.microsoft.com/office/drawing/2014/main" id="{46CF70FF-8E28-4026-A3E3-7A71A2CFAC0D}"/>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86062" y="2786062"/>
                          <a:ext cx="24923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 name="Object 15">
              <a:extLst>
                <a:ext uri="{FF2B5EF4-FFF2-40B4-BE49-F238E27FC236}">
                  <a16:creationId xmlns:a16="http://schemas.microsoft.com/office/drawing/2014/main" id="{5E541559-4225-4A2B-AC33-98C79EF2D24D}"/>
                </a:ext>
              </a:extLst>
            </p:cNvPr>
            <p:cNvGraphicFramePr>
              <a:graphicFrameLocks noChangeAspect="1"/>
            </p:cNvGraphicFramePr>
            <p:nvPr/>
          </p:nvGraphicFramePr>
          <p:xfrm>
            <a:off x="1500187" y="1357312"/>
            <a:ext cx="427038" cy="320675"/>
          </p:xfrm>
          <a:graphic>
            <a:graphicData uri="http://schemas.openxmlformats.org/presentationml/2006/ole">
              <mc:AlternateContent xmlns:mc="http://schemas.openxmlformats.org/markup-compatibility/2006">
                <mc:Choice xmlns:v="urn:schemas-microsoft-com:vml" Requires="v">
                  <p:oleObj spid="_x0000_s119207" r:id="rId15" imgW="305647" imgH="229315" progId="">
                    <p:embed/>
                  </p:oleObj>
                </mc:Choice>
                <mc:Fallback>
                  <p:oleObj r:id="rId15" imgW="305647" imgH="229315" progId="">
                    <p:embed/>
                    <p:pic>
                      <p:nvPicPr>
                        <p:cNvPr id="15" name="Object 15">
                          <a:extLst>
                            <a:ext uri="{FF2B5EF4-FFF2-40B4-BE49-F238E27FC236}">
                              <a16:creationId xmlns:a16="http://schemas.microsoft.com/office/drawing/2014/main" id="{CA8678DB-196D-4602-ABBC-B3513B87EB5F}"/>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00187" y="1357312"/>
                          <a:ext cx="42703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 name="Object 16">
              <a:extLst>
                <a:ext uri="{FF2B5EF4-FFF2-40B4-BE49-F238E27FC236}">
                  <a16:creationId xmlns:a16="http://schemas.microsoft.com/office/drawing/2014/main" id="{927C7931-1097-432C-ABF9-5221BBB22ADE}"/>
                </a:ext>
              </a:extLst>
            </p:cNvPr>
            <p:cNvGraphicFramePr>
              <a:graphicFrameLocks noChangeAspect="1"/>
            </p:cNvGraphicFramePr>
            <p:nvPr/>
          </p:nvGraphicFramePr>
          <p:xfrm>
            <a:off x="2571750" y="1785937"/>
            <a:ext cx="390525" cy="320675"/>
          </p:xfrm>
          <a:graphic>
            <a:graphicData uri="http://schemas.openxmlformats.org/presentationml/2006/ole">
              <mc:AlternateContent xmlns:mc="http://schemas.openxmlformats.org/markup-compatibility/2006">
                <mc:Choice xmlns:v="urn:schemas-microsoft-com:vml" Requires="v">
                  <p:oleObj spid="_x0000_s119208" r:id="rId17" imgW="280813" imgH="229813" progId="">
                    <p:embed/>
                  </p:oleObj>
                </mc:Choice>
                <mc:Fallback>
                  <p:oleObj r:id="rId17" imgW="280813" imgH="229813" progId="">
                    <p:embed/>
                    <p:pic>
                      <p:nvPicPr>
                        <p:cNvPr id="16" name="Object 16">
                          <a:extLst>
                            <a:ext uri="{FF2B5EF4-FFF2-40B4-BE49-F238E27FC236}">
                              <a16:creationId xmlns:a16="http://schemas.microsoft.com/office/drawing/2014/main" id="{04C73221-0A96-4FBA-9B59-913F94DF1D9B}"/>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571750" y="1785937"/>
                          <a:ext cx="3905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 name="Object 17">
              <a:extLst>
                <a:ext uri="{FF2B5EF4-FFF2-40B4-BE49-F238E27FC236}">
                  <a16:creationId xmlns:a16="http://schemas.microsoft.com/office/drawing/2014/main" id="{40A79420-12AA-43EF-9FCB-F860DD5AEEE7}"/>
                </a:ext>
              </a:extLst>
            </p:cNvPr>
            <p:cNvGraphicFramePr>
              <a:graphicFrameLocks noChangeAspect="1"/>
            </p:cNvGraphicFramePr>
            <p:nvPr/>
          </p:nvGraphicFramePr>
          <p:xfrm>
            <a:off x="1500187" y="71437"/>
            <a:ext cx="142875" cy="231775"/>
          </p:xfrm>
          <a:graphic>
            <a:graphicData uri="http://schemas.openxmlformats.org/presentationml/2006/ole">
              <mc:AlternateContent xmlns:mc="http://schemas.openxmlformats.org/markup-compatibility/2006">
                <mc:Choice xmlns:v="urn:schemas-microsoft-com:vml" Requires="v">
                  <p:oleObj spid="_x0000_s119209" r:id="rId19" imgW="102315" imgH="166064" progId="">
                    <p:embed/>
                  </p:oleObj>
                </mc:Choice>
                <mc:Fallback>
                  <p:oleObj r:id="rId19" imgW="102315" imgH="166064" progId="">
                    <p:embed/>
                    <p:pic>
                      <p:nvPicPr>
                        <p:cNvPr id="17" name="Object 17">
                          <a:extLst>
                            <a:ext uri="{FF2B5EF4-FFF2-40B4-BE49-F238E27FC236}">
                              <a16:creationId xmlns:a16="http://schemas.microsoft.com/office/drawing/2014/main" id="{A943174F-4EAA-4A7F-B532-92C83C8123A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500187" y="71437"/>
                          <a:ext cx="14287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 name="Object 18">
              <a:extLst>
                <a:ext uri="{FF2B5EF4-FFF2-40B4-BE49-F238E27FC236}">
                  <a16:creationId xmlns:a16="http://schemas.microsoft.com/office/drawing/2014/main" id="{2876E8FC-330B-4FEB-B674-67B2523BACA2}"/>
                </a:ext>
              </a:extLst>
            </p:cNvPr>
            <p:cNvGraphicFramePr>
              <a:graphicFrameLocks noChangeAspect="1"/>
            </p:cNvGraphicFramePr>
            <p:nvPr/>
          </p:nvGraphicFramePr>
          <p:xfrm>
            <a:off x="2428875" y="71437"/>
            <a:ext cx="212725" cy="231775"/>
          </p:xfrm>
          <a:graphic>
            <a:graphicData uri="http://schemas.openxmlformats.org/presentationml/2006/ole">
              <mc:AlternateContent xmlns:mc="http://schemas.openxmlformats.org/markup-compatibility/2006">
                <mc:Choice xmlns:v="urn:schemas-microsoft-com:vml" Requires="v">
                  <p:oleObj spid="_x0000_s119210" r:id="rId21" imgW="153315" imgH="166064" progId="">
                    <p:embed/>
                  </p:oleObj>
                </mc:Choice>
                <mc:Fallback>
                  <p:oleObj r:id="rId21" imgW="153315" imgH="166064" progId="">
                    <p:embed/>
                    <p:pic>
                      <p:nvPicPr>
                        <p:cNvPr id="18" name="Object 18">
                          <a:extLst>
                            <a:ext uri="{FF2B5EF4-FFF2-40B4-BE49-F238E27FC236}">
                              <a16:creationId xmlns:a16="http://schemas.microsoft.com/office/drawing/2014/main" id="{23ED57CB-CF4A-4666-A4C7-4F6C9BEFF9EC}"/>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28875" y="71437"/>
                          <a:ext cx="21272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 name="Object 19">
              <a:extLst>
                <a:ext uri="{FF2B5EF4-FFF2-40B4-BE49-F238E27FC236}">
                  <a16:creationId xmlns:a16="http://schemas.microsoft.com/office/drawing/2014/main" id="{76A93204-C6A5-444E-A020-B52FC7CF83C3}"/>
                </a:ext>
              </a:extLst>
            </p:cNvPr>
            <p:cNvGraphicFramePr>
              <a:graphicFrameLocks noChangeAspect="1"/>
            </p:cNvGraphicFramePr>
            <p:nvPr/>
          </p:nvGraphicFramePr>
          <p:xfrm>
            <a:off x="3214687" y="71437"/>
            <a:ext cx="266700" cy="231775"/>
          </p:xfrm>
          <a:graphic>
            <a:graphicData uri="http://schemas.openxmlformats.org/presentationml/2006/ole">
              <mc:AlternateContent xmlns:mc="http://schemas.openxmlformats.org/markup-compatibility/2006">
                <mc:Choice xmlns:v="urn:schemas-microsoft-com:vml" Requires="v">
                  <p:oleObj spid="_x0000_s119211" r:id="rId23" imgW="191564" imgH="166064" progId="">
                    <p:embed/>
                  </p:oleObj>
                </mc:Choice>
                <mc:Fallback>
                  <p:oleObj r:id="rId23" imgW="191564" imgH="166064" progId="">
                    <p:embed/>
                    <p:pic>
                      <p:nvPicPr>
                        <p:cNvPr id="19" name="Object 19">
                          <a:extLst>
                            <a:ext uri="{FF2B5EF4-FFF2-40B4-BE49-F238E27FC236}">
                              <a16:creationId xmlns:a16="http://schemas.microsoft.com/office/drawing/2014/main" id="{C07F294E-8BA3-4575-BA92-2CD2D21455BA}"/>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214687" y="71437"/>
                          <a:ext cx="2667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3" name="矩形 42">
            <a:extLst>
              <a:ext uri="{FF2B5EF4-FFF2-40B4-BE49-F238E27FC236}">
                <a16:creationId xmlns:a16="http://schemas.microsoft.com/office/drawing/2014/main" id="{DBE90B92-6E68-4DBB-9C88-6B615A51459F}"/>
              </a:ext>
            </a:extLst>
          </p:cNvPr>
          <p:cNvSpPr/>
          <p:nvPr/>
        </p:nvSpPr>
        <p:spPr>
          <a:xfrm>
            <a:off x="4922126" y="3935113"/>
            <a:ext cx="3239347" cy="646331"/>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厂商不会选，因为边际产量为负，生产不会带来更多的收益。</a:t>
            </a:r>
          </a:p>
        </p:txBody>
      </p:sp>
      <p:sp>
        <p:nvSpPr>
          <p:cNvPr id="44" name="矩形 43">
            <a:extLst>
              <a:ext uri="{FF2B5EF4-FFF2-40B4-BE49-F238E27FC236}">
                <a16:creationId xmlns:a16="http://schemas.microsoft.com/office/drawing/2014/main" id="{AD8AE378-95BB-41B5-BF74-B53BE462C532}"/>
              </a:ext>
            </a:extLst>
          </p:cNvPr>
          <p:cNvSpPr/>
          <p:nvPr/>
        </p:nvSpPr>
        <p:spPr>
          <a:xfrm>
            <a:off x="1321015" y="2060848"/>
            <a:ext cx="4901806" cy="369332"/>
          </a:xfrm>
          <a:prstGeom prst="rect">
            <a:avLst/>
          </a:prstGeom>
        </p:spPr>
        <p:txBody>
          <a:bodyPr wrap="square">
            <a:spAutoFit/>
          </a:bodyPr>
          <a:lstStyle/>
          <a:p>
            <a:r>
              <a:rPr lang="zh-CN" altLang="en-US" b="1" dirty="0">
                <a:solidFill>
                  <a:srgbClr val="85B2D2"/>
                </a:solidFill>
                <a:latin typeface="微软雅黑" panose="020B0503020204020204" pitchFamily="34" charset="-122"/>
                <a:ea typeface="微软雅黑" panose="020B0503020204020204" pitchFamily="34" charset="-122"/>
              </a:rPr>
              <a:t>边际产量为负，从</a:t>
            </a:r>
            <a:r>
              <a:rPr lang="en-US" altLang="zh-CN" b="1" dirty="0">
                <a:solidFill>
                  <a:srgbClr val="85B2D2"/>
                </a:solidFill>
                <a:latin typeface="微软雅黑" panose="020B0503020204020204" pitchFamily="34" charset="-122"/>
                <a:ea typeface="微软雅黑" panose="020B0503020204020204" pitchFamily="34" charset="-122"/>
              </a:rPr>
              <a:t>MP</a:t>
            </a:r>
            <a:r>
              <a:rPr lang="zh-CN" altLang="en-US" b="1" dirty="0">
                <a:solidFill>
                  <a:srgbClr val="85B2D2"/>
                </a:solidFill>
                <a:latin typeface="微软雅黑" panose="020B0503020204020204" pitchFamily="34" charset="-122"/>
                <a:ea typeface="微软雅黑" panose="020B0503020204020204" pitchFamily="34" charset="-122"/>
              </a:rPr>
              <a:t>与横轴交点往后的阶段。</a:t>
            </a:r>
          </a:p>
        </p:txBody>
      </p:sp>
      <p:grpSp>
        <p:nvGrpSpPr>
          <p:cNvPr id="45" name="组合 44">
            <a:extLst>
              <a:ext uri="{FF2B5EF4-FFF2-40B4-BE49-F238E27FC236}">
                <a16:creationId xmlns:a16="http://schemas.microsoft.com/office/drawing/2014/main" id="{2AC06E3B-AC0D-45F5-BFDB-C55AD0CAE043}"/>
              </a:ext>
            </a:extLst>
          </p:cNvPr>
          <p:cNvGrpSpPr/>
          <p:nvPr/>
        </p:nvGrpSpPr>
        <p:grpSpPr>
          <a:xfrm>
            <a:off x="730450" y="1456271"/>
            <a:ext cx="1343870" cy="404525"/>
            <a:chOff x="458213" y="4075203"/>
            <a:chExt cx="1708719" cy="514350"/>
          </a:xfrm>
        </p:grpSpPr>
        <p:sp>
          <p:nvSpPr>
            <p:cNvPr id="46" name="MH_Text_1">
              <a:extLst>
                <a:ext uri="{FF2B5EF4-FFF2-40B4-BE49-F238E27FC236}">
                  <a16:creationId xmlns:a16="http://schemas.microsoft.com/office/drawing/2014/main" id="{4858140E-5FDD-4573-862F-A9668A0E748D}"/>
                </a:ext>
              </a:extLst>
            </p:cNvPr>
            <p:cNvSpPr/>
            <p:nvPr>
              <p:custDataLst>
                <p:tags r:id="rId2"/>
              </p:custDataLst>
            </p:nvPr>
          </p:nvSpPr>
          <p:spPr bwMode="auto">
            <a:xfrm>
              <a:off x="458213" y="4075203"/>
              <a:ext cx="1708719" cy="514350"/>
            </a:xfrm>
            <a:prstGeom prst="rect">
              <a:avLst/>
            </a:prstGeom>
            <a:solidFill>
              <a:srgbClr val="FFFFFF"/>
            </a:solidFill>
            <a:ln w="19050">
              <a:solidFill>
                <a:srgbClr val="F3C97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r>
                <a:rPr lang="zh-CN" altLang="en-US" sz="2000" dirty="0">
                  <a:solidFill>
                    <a:schemeClr val="tx1"/>
                  </a:solidFill>
                  <a:latin typeface="微软雅黑" panose="020B0503020204020204" pitchFamily="34" charset="-122"/>
                  <a:ea typeface="微软雅黑" panose="020B0503020204020204" pitchFamily="34" charset="-122"/>
                </a:rPr>
                <a:t>  第三阶段</a:t>
              </a:r>
            </a:p>
          </p:txBody>
        </p:sp>
        <p:sp>
          <p:nvSpPr>
            <p:cNvPr id="47" name="MH_Other_2">
              <a:extLst>
                <a:ext uri="{FF2B5EF4-FFF2-40B4-BE49-F238E27FC236}">
                  <a16:creationId xmlns:a16="http://schemas.microsoft.com/office/drawing/2014/main" id="{DF7BB088-A33E-489D-B853-19D963B36809}"/>
                </a:ext>
              </a:extLst>
            </p:cNvPr>
            <p:cNvSpPr/>
            <p:nvPr>
              <p:custDataLst>
                <p:tags r:id="rId3"/>
              </p:custDataLst>
            </p:nvPr>
          </p:nvSpPr>
          <p:spPr bwMode="auto">
            <a:xfrm rot="10800000">
              <a:off x="1974844" y="4132353"/>
              <a:ext cx="127000" cy="127000"/>
            </a:xfrm>
            <a:prstGeom prst="rtTriangle">
              <a:avLst/>
            </a:prstGeom>
            <a:solidFill>
              <a:srgbClr val="F3C97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srgbClr val="4472C4">
                    <a:lumMod val="75000"/>
                  </a:srgbClr>
                </a:solidFill>
                <a:effectLst/>
                <a:uLnTx/>
                <a:uFillTx/>
                <a:latin typeface="Calibri" panose="020F0502020204030204"/>
                <a:ea typeface="맑은 고딕" panose="020B0503020000020004" pitchFamily="34" charset="-127"/>
                <a:cs typeface="+mn-cs"/>
              </a:endParaRPr>
            </a:p>
          </p:txBody>
        </p:sp>
      </p:grpSp>
      <p:sp>
        <p:nvSpPr>
          <p:cNvPr id="48" name="矩形: 圆角 47">
            <a:extLst>
              <a:ext uri="{FF2B5EF4-FFF2-40B4-BE49-F238E27FC236}">
                <a16:creationId xmlns:a16="http://schemas.microsoft.com/office/drawing/2014/main" id="{7AA62CB5-4D8F-44E3-8B58-DB1368AB3DB9}"/>
              </a:ext>
            </a:extLst>
          </p:cNvPr>
          <p:cNvSpPr/>
          <p:nvPr/>
        </p:nvSpPr>
        <p:spPr>
          <a:xfrm>
            <a:off x="5329281" y="3406002"/>
            <a:ext cx="1937866" cy="399208"/>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000" dirty="0">
                <a:solidFill>
                  <a:schemeClr val="tx1"/>
                </a:solidFill>
                <a:latin typeface="微软雅黑" panose="020B0503020204020204" pitchFamily="34" charset="-122"/>
                <a:ea typeface="微软雅黑" panose="020B0503020204020204" pitchFamily="34" charset="-122"/>
              </a:rPr>
              <a:t>厂商决策选择：</a:t>
            </a:r>
          </a:p>
        </p:txBody>
      </p:sp>
      <p:sp>
        <p:nvSpPr>
          <p:cNvPr id="49" name="矩形 48">
            <a:extLst>
              <a:ext uri="{FF2B5EF4-FFF2-40B4-BE49-F238E27FC236}">
                <a16:creationId xmlns:a16="http://schemas.microsoft.com/office/drawing/2014/main" id="{11519C7F-AD1D-4901-A988-8373ADB16AC4}"/>
              </a:ext>
            </a:extLst>
          </p:cNvPr>
          <p:cNvSpPr/>
          <p:nvPr/>
        </p:nvSpPr>
        <p:spPr>
          <a:xfrm>
            <a:off x="580922" y="520573"/>
            <a:ext cx="312698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四、生产的三个阶段</a:t>
            </a:r>
          </a:p>
        </p:txBody>
      </p:sp>
      <p:sp>
        <p:nvSpPr>
          <p:cNvPr id="3" name="标注: 线形 2">
            <a:extLst>
              <a:ext uri="{FF2B5EF4-FFF2-40B4-BE49-F238E27FC236}">
                <a16:creationId xmlns:a16="http://schemas.microsoft.com/office/drawing/2014/main" id="{4B1392B2-B4F9-4D23-BF51-9F60FB592771}"/>
              </a:ext>
            </a:extLst>
          </p:cNvPr>
          <p:cNvSpPr/>
          <p:nvPr/>
        </p:nvSpPr>
        <p:spPr bwMode="auto">
          <a:xfrm>
            <a:off x="4823462" y="4858443"/>
            <a:ext cx="4308793" cy="1225493"/>
          </a:xfrm>
          <a:prstGeom prst="borderCallout1">
            <a:avLst>
              <a:gd name="adj1" fmla="val 18750"/>
              <a:gd name="adj2" fmla="val -8333"/>
              <a:gd name="adj3" fmla="val -2109"/>
              <a:gd name="adj4" fmla="val -16529"/>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最后要说明的：生产要素的合理投入区只是给出了可变要素投入的范围，不能说明该要素的最优投入量。因为要素投入数量的选择还取决于产品价格和要素价格。</a:t>
            </a:r>
          </a:p>
        </p:txBody>
      </p:sp>
    </p:spTree>
    <p:extLst>
      <p:ext uri="{BB962C8B-B14F-4D97-AF65-F5344CB8AC3E}">
        <p14:creationId xmlns:p14="http://schemas.microsoft.com/office/powerpoint/2010/main" val="119137079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 calcmode="lin" valueType="num">
                                      <p:cBhvr>
                                        <p:cTn id="7" dur="500" fill="hold"/>
                                        <p:tgtEl>
                                          <p:spTgt spid="49"/>
                                        </p:tgtEl>
                                        <p:attrNameLst>
                                          <p:attrName>ppt_w</p:attrName>
                                        </p:attrNameLst>
                                      </p:cBhvr>
                                      <p:tavLst>
                                        <p:tav tm="0">
                                          <p:val>
                                            <p:fltVal val="0"/>
                                          </p:val>
                                        </p:tav>
                                        <p:tav tm="100000">
                                          <p:val>
                                            <p:strVal val="#ppt_w"/>
                                          </p:val>
                                        </p:tav>
                                      </p:tavLst>
                                    </p:anim>
                                    <p:anim calcmode="lin" valueType="num">
                                      <p:cBhvr>
                                        <p:cTn id="8" dur="500" fill="hold"/>
                                        <p:tgtEl>
                                          <p:spTgt spid="49"/>
                                        </p:tgtEl>
                                        <p:attrNameLst>
                                          <p:attrName>ppt_h</p:attrName>
                                        </p:attrNameLst>
                                      </p:cBhvr>
                                      <p:tavLst>
                                        <p:tav tm="0">
                                          <p:val>
                                            <p:fltVal val="0"/>
                                          </p:val>
                                        </p:tav>
                                        <p:tav tm="100000">
                                          <p:val>
                                            <p:strVal val="#ppt_h"/>
                                          </p:val>
                                        </p:tav>
                                      </p:tavLst>
                                    </p:anim>
                                    <p:animEffect transition="in" filter="fade">
                                      <p:cBhvr>
                                        <p:cTn id="9" dur="500"/>
                                        <p:tgtEl>
                                          <p:spTgt spid="49"/>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26"/>
                                        </p:tgtEl>
                                        <p:attrNameLst>
                                          <p:attrName>style.visibility</p:attrName>
                                        </p:attrNameLst>
                                      </p:cBhvr>
                                      <p:to>
                                        <p:strVal val="visible"/>
                                      </p:to>
                                    </p:set>
                                    <p:anim calcmode="lin" valueType="num">
                                      <p:cBhvr>
                                        <p:cTn id="14" dur="500" fill="hold"/>
                                        <p:tgtEl>
                                          <p:spTgt spid="26"/>
                                        </p:tgtEl>
                                        <p:attrNameLst>
                                          <p:attrName>ppt_w</p:attrName>
                                        </p:attrNameLst>
                                      </p:cBhvr>
                                      <p:tavLst>
                                        <p:tav tm="0">
                                          <p:val>
                                            <p:fltVal val="0"/>
                                          </p:val>
                                        </p:tav>
                                        <p:tav tm="100000">
                                          <p:val>
                                            <p:strVal val="#ppt_w"/>
                                          </p:val>
                                        </p:tav>
                                      </p:tavLst>
                                    </p:anim>
                                    <p:anim calcmode="lin" valueType="num">
                                      <p:cBhvr>
                                        <p:cTn id="15" dur="500" fill="hold"/>
                                        <p:tgtEl>
                                          <p:spTgt spid="26"/>
                                        </p:tgtEl>
                                        <p:attrNameLst>
                                          <p:attrName>ppt_h</p:attrName>
                                        </p:attrNameLst>
                                      </p:cBhvr>
                                      <p:tavLst>
                                        <p:tav tm="0">
                                          <p:val>
                                            <p:fltVal val="0"/>
                                          </p:val>
                                        </p:tav>
                                        <p:tav tm="100000">
                                          <p:val>
                                            <p:strVal val="#ppt_h"/>
                                          </p:val>
                                        </p:tav>
                                      </p:tavLst>
                                    </p:anim>
                                    <p:animEffect transition="in" filter="fade">
                                      <p:cBhvr>
                                        <p:cTn id="16" dur="500"/>
                                        <p:tgtEl>
                                          <p:spTgt spid="26"/>
                                        </p:tgtEl>
                                      </p:cBhvr>
                                    </p:animEffect>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5"/>
                                        </p:tgtEl>
                                        <p:attrNameLst>
                                          <p:attrName>style.visibility</p:attrName>
                                        </p:attrNameLst>
                                      </p:cBhvr>
                                      <p:to>
                                        <p:strVal val="visible"/>
                                      </p:to>
                                    </p:set>
                                    <p:animEffect transition="in" filter="fade">
                                      <p:cBhvr>
                                        <p:cTn id="21" dur="1000"/>
                                        <p:tgtEl>
                                          <p:spTgt spid="45"/>
                                        </p:tgtEl>
                                      </p:cBhvr>
                                    </p:animEffect>
                                    <p:anim calcmode="lin" valueType="num">
                                      <p:cBhvr>
                                        <p:cTn id="22" dur="1000" fill="hold"/>
                                        <p:tgtEl>
                                          <p:spTgt spid="45"/>
                                        </p:tgtEl>
                                        <p:attrNameLst>
                                          <p:attrName>ppt_x</p:attrName>
                                        </p:attrNameLst>
                                      </p:cBhvr>
                                      <p:tavLst>
                                        <p:tav tm="0">
                                          <p:val>
                                            <p:strVal val="#ppt_x"/>
                                          </p:val>
                                        </p:tav>
                                        <p:tav tm="100000">
                                          <p:val>
                                            <p:strVal val="#ppt_x"/>
                                          </p:val>
                                        </p:tav>
                                      </p:tavLst>
                                    </p:anim>
                                    <p:anim calcmode="lin" valueType="num">
                                      <p:cBhvr>
                                        <p:cTn id="23" dur="1000" fill="hold"/>
                                        <p:tgtEl>
                                          <p:spTgt spid="4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44"/>
                                        </p:tgtEl>
                                        <p:attrNameLst>
                                          <p:attrName>style.visibility</p:attrName>
                                        </p:attrNameLst>
                                      </p:cBhvr>
                                      <p:to>
                                        <p:strVal val="visible"/>
                                      </p:to>
                                    </p:set>
                                    <p:animEffect transition="in" filter="wipe(left)">
                                      <p:cBhvr>
                                        <p:cTn id="28" dur="500"/>
                                        <p:tgtEl>
                                          <p:spTgt spid="44"/>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48"/>
                                        </p:tgtEl>
                                        <p:attrNameLst>
                                          <p:attrName>style.visibility</p:attrName>
                                        </p:attrNameLst>
                                      </p:cBhvr>
                                      <p:to>
                                        <p:strVal val="visible"/>
                                      </p:to>
                                    </p:set>
                                    <p:animEffect transition="in" filter="fade">
                                      <p:cBhvr>
                                        <p:cTn id="33" dur="1000"/>
                                        <p:tgtEl>
                                          <p:spTgt spid="48"/>
                                        </p:tgtEl>
                                      </p:cBhvr>
                                    </p:animEffect>
                                    <p:anim calcmode="lin" valueType="num">
                                      <p:cBhvr>
                                        <p:cTn id="34" dur="1000" fill="hold"/>
                                        <p:tgtEl>
                                          <p:spTgt spid="48"/>
                                        </p:tgtEl>
                                        <p:attrNameLst>
                                          <p:attrName>ppt_x</p:attrName>
                                        </p:attrNameLst>
                                      </p:cBhvr>
                                      <p:tavLst>
                                        <p:tav tm="0">
                                          <p:val>
                                            <p:strVal val="#ppt_x"/>
                                          </p:val>
                                        </p:tav>
                                        <p:tav tm="100000">
                                          <p:val>
                                            <p:strVal val="#ppt_x"/>
                                          </p:val>
                                        </p:tav>
                                      </p:tavLst>
                                    </p:anim>
                                    <p:anim calcmode="lin" valueType="num">
                                      <p:cBhvr>
                                        <p:cTn id="35" dur="1000" fill="hold"/>
                                        <p:tgtEl>
                                          <p:spTgt spid="4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fade">
                                      <p:cBhvr>
                                        <p:cTn id="40" dur="1000"/>
                                        <p:tgtEl>
                                          <p:spTgt spid="43"/>
                                        </p:tgtEl>
                                      </p:cBhvr>
                                    </p:animEffect>
                                    <p:anim calcmode="lin" valueType="num">
                                      <p:cBhvr>
                                        <p:cTn id="41" dur="1000" fill="hold"/>
                                        <p:tgtEl>
                                          <p:spTgt spid="43"/>
                                        </p:tgtEl>
                                        <p:attrNameLst>
                                          <p:attrName>ppt_x</p:attrName>
                                        </p:attrNameLst>
                                      </p:cBhvr>
                                      <p:tavLst>
                                        <p:tav tm="0">
                                          <p:val>
                                            <p:strVal val="#ppt_x"/>
                                          </p:val>
                                        </p:tav>
                                        <p:tav tm="100000">
                                          <p:val>
                                            <p:strVal val="#ppt_x"/>
                                          </p:val>
                                        </p:tav>
                                      </p:tavLst>
                                    </p:anim>
                                    <p:anim calcmode="lin" valueType="num">
                                      <p:cBhvr>
                                        <p:cTn id="42"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8" grpId="0"/>
      <p:bldP spid="4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C1A1CB6-6F67-4A29-97E1-C084E72DB251}"/>
              </a:ext>
            </a:extLst>
          </p:cNvPr>
          <p:cNvSpPr/>
          <p:nvPr/>
        </p:nvSpPr>
        <p:spPr>
          <a:xfrm>
            <a:off x="2655070" y="2030421"/>
            <a:ext cx="1741403" cy="1751811"/>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C5BF1486-A46E-4CC3-9BB4-8BCD4722BC1D}"/>
              </a:ext>
            </a:extLst>
          </p:cNvPr>
          <p:cNvSpPr/>
          <p:nvPr/>
        </p:nvSpPr>
        <p:spPr>
          <a:xfrm>
            <a:off x="4686751" y="2030421"/>
            <a:ext cx="1728951" cy="1751811"/>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454629F1-807D-4FE4-94C6-90602021F17E}"/>
              </a:ext>
            </a:extLst>
          </p:cNvPr>
          <p:cNvSpPr/>
          <p:nvPr/>
        </p:nvSpPr>
        <p:spPr>
          <a:xfrm>
            <a:off x="1666039" y="4127743"/>
            <a:ext cx="1728951" cy="1751811"/>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9169ADDF-356F-47D4-8107-1AE756304634}"/>
              </a:ext>
            </a:extLst>
          </p:cNvPr>
          <p:cNvSpPr txBox="1"/>
          <p:nvPr/>
        </p:nvSpPr>
        <p:spPr>
          <a:xfrm>
            <a:off x="1966734" y="942250"/>
            <a:ext cx="5210531" cy="646331"/>
          </a:xfrm>
          <a:prstGeom prst="rect">
            <a:avLst/>
          </a:prstGeom>
          <a:noFill/>
        </p:spPr>
        <p:txBody>
          <a:bodyPr wrap="square" rtlCol="0">
            <a:spAutoFit/>
          </a:bodyPr>
          <a:lstStyle/>
          <a:p>
            <a:pPr algn="ctr"/>
            <a:r>
              <a:rPr lang="zh-CN" altLang="en-US" sz="3600" b="1" dirty="0">
                <a:solidFill>
                  <a:srgbClr val="262626"/>
                </a:solidFill>
                <a:latin typeface="微软雅黑" panose="020B0503020204020204" pitchFamily="34" charset="-122"/>
                <a:ea typeface="微软雅黑" panose="020B0503020204020204" pitchFamily="34" charset="-122"/>
              </a:rPr>
              <a:t>第四节	长期生产函数</a:t>
            </a:r>
          </a:p>
        </p:txBody>
      </p:sp>
      <p:sp>
        <p:nvSpPr>
          <p:cNvPr id="6" name="文本框 5">
            <a:extLst>
              <a:ext uri="{FF2B5EF4-FFF2-40B4-BE49-F238E27FC236}">
                <a16:creationId xmlns:a16="http://schemas.microsoft.com/office/drawing/2014/main" id="{5F0D8D25-557A-4BE8-A0E4-27DA6FDA04A4}"/>
              </a:ext>
            </a:extLst>
          </p:cNvPr>
          <p:cNvSpPr txBox="1"/>
          <p:nvPr/>
        </p:nvSpPr>
        <p:spPr>
          <a:xfrm>
            <a:off x="2837570" y="2252999"/>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01</a:t>
            </a:r>
          </a:p>
        </p:txBody>
      </p:sp>
      <p:sp>
        <p:nvSpPr>
          <p:cNvPr id="7" name="文本框 6">
            <a:extLst>
              <a:ext uri="{FF2B5EF4-FFF2-40B4-BE49-F238E27FC236}">
                <a16:creationId xmlns:a16="http://schemas.microsoft.com/office/drawing/2014/main" id="{C4FB2C07-21BF-4A7C-ABD9-4FD30A23551C}"/>
              </a:ext>
            </a:extLst>
          </p:cNvPr>
          <p:cNvSpPr txBox="1"/>
          <p:nvPr/>
        </p:nvSpPr>
        <p:spPr>
          <a:xfrm>
            <a:off x="2484510" y="2898159"/>
            <a:ext cx="2119630" cy="646331"/>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等产量曲线</a:t>
            </a:r>
            <a:endParaRPr lang="en-US" altLang="zh-CN" b="1" dirty="0">
              <a:latin typeface="微软雅黑" panose="020B0503020204020204" pitchFamily="34" charset="-122"/>
              <a:ea typeface="微软雅黑" panose="020B0503020204020204" pitchFamily="34" charset="-122"/>
            </a:endParaRPr>
          </a:p>
          <a:p>
            <a:pPr algn="ctr" fontAlgn="auto">
              <a:lnSpc>
                <a:spcPct val="100000"/>
              </a:lnSpc>
            </a:pPr>
            <a:r>
              <a:rPr lang="zh-CN" altLang="en-US" b="1" dirty="0">
                <a:latin typeface="微软雅黑" panose="020B0503020204020204" pitchFamily="34" charset="-122"/>
                <a:ea typeface="微软雅黑" panose="020B0503020204020204" pitchFamily="34" charset="-122"/>
              </a:rPr>
              <a:t>及其性质</a:t>
            </a:r>
            <a:endParaRPr lang="zh-CN" altLang="en-US" b="1" dirty="0">
              <a:solidFill>
                <a:srgbClr val="262626"/>
              </a:solidFill>
              <a:latin typeface="微软雅黑" panose="020B0503020204020204" pitchFamily="34" charset="-122"/>
              <a:ea typeface="微软雅黑" panose="020B0503020204020204" pitchFamily="34" charset="-122"/>
              <a:sym typeface="+mn-ea"/>
            </a:endParaRPr>
          </a:p>
        </p:txBody>
      </p:sp>
      <p:sp>
        <p:nvSpPr>
          <p:cNvPr id="8" name="文本框 7">
            <a:extLst>
              <a:ext uri="{FF2B5EF4-FFF2-40B4-BE49-F238E27FC236}">
                <a16:creationId xmlns:a16="http://schemas.microsoft.com/office/drawing/2014/main" id="{AE261F38-CBB9-4BD6-91C4-31028AD7B9C1}"/>
              </a:ext>
            </a:extLst>
          </p:cNvPr>
          <p:cNvSpPr txBox="1"/>
          <p:nvPr/>
        </p:nvSpPr>
        <p:spPr>
          <a:xfrm>
            <a:off x="4848258" y="2252999"/>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02</a:t>
            </a:r>
          </a:p>
        </p:txBody>
      </p:sp>
      <p:sp>
        <p:nvSpPr>
          <p:cNvPr id="9" name="文本框 8">
            <a:extLst>
              <a:ext uri="{FF2B5EF4-FFF2-40B4-BE49-F238E27FC236}">
                <a16:creationId xmlns:a16="http://schemas.microsoft.com/office/drawing/2014/main" id="{9925C777-1086-4456-AA76-341D61D59CDA}"/>
              </a:ext>
            </a:extLst>
          </p:cNvPr>
          <p:cNvSpPr txBox="1"/>
          <p:nvPr/>
        </p:nvSpPr>
        <p:spPr>
          <a:xfrm>
            <a:off x="4495198" y="2898159"/>
            <a:ext cx="2119630" cy="646331"/>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边际技术</a:t>
            </a:r>
            <a:endParaRPr lang="en-US" altLang="zh-CN" b="1" dirty="0">
              <a:latin typeface="微软雅黑" panose="020B0503020204020204" pitchFamily="34" charset="-122"/>
              <a:ea typeface="微软雅黑" panose="020B0503020204020204" pitchFamily="34" charset="-122"/>
            </a:endParaRPr>
          </a:p>
          <a:p>
            <a:pPr algn="ctr" fontAlgn="auto">
              <a:lnSpc>
                <a:spcPct val="100000"/>
              </a:lnSpc>
            </a:pPr>
            <a:r>
              <a:rPr lang="zh-CN" altLang="en-US" b="1" dirty="0">
                <a:latin typeface="微软雅黑" panose="020B0503020204020204" pitchFamily="34" charset="-122"/>
                <a:ea typeface="微软雅黑" panose="020B0503020204020204" pitchFamily="34" charset="-122"/>
              </a:rPr>
              <a:t>替代率</a:t>
            </a:r>
          </a:p>
        </p:txBody>
      </p:sp>
      <p:sp>
        <p:nvSpPr>
          <p:cNvPr id="10" name="文本框 9">
            <a:extLst>
              <a:ext uri="{FF2B5EF4-FFF2-40B4-BE49-F238E27FC236}">
                <a16:creationId xmlns:a16="http://schemas.microsoft.com/office/drawing/2014/main" id="{760853F3-C20F-4708-A13C-A1F541934E98}"/>
              </a:ext>
            </a:extLst>
          </p:cNvPr>
          <p:cNvSpPr txBox="1"/>
          <p:nvPr/>
        </p:nvSpPr>
        <p:spPr>
          <a:xfrm>
            <a:off x="1820946" y="4531488"/>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03</a:t>
            </a:r>
          </a:p>
        </p:txBody>
      </p:sp>
      <p:sp>
        <p:nvSpPr>
          <p:cNvPr id="11" name="文本框 10">
            <a:extLst>
              <a:ext uri="{FF2B5EF4-FFF2-40B4-BE49-F238E27FC236}">
                <a16:creationId xmlns:a16="http://schemas.microsoft.com/office/drawing/2014/main" id="{1EE95BF8-F7DF-4E29-BDB9-C5407ED16188}"/>
              </a:ext>
            </a:extLst>
          </p:cNvPr>
          <p:cNvSpPr txBox="1"/>
          <p:nvPr/>
        </p:nvSpPr>
        <p:spPr>
          <a:xfrm>
            <a:off x="1476514" y="5176648"/>
            <a:ext cx="2119630" cy="369332"/>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等成本线</a:t>
            </a:r>
          </a:p>
        </p:txBody>
      </p:sp>
      <p:sp>
        <p:nvSpPr>
          <p:cNvPr id="12" name="矩形 11">
            <a:extLst>
              <a:ext uri="{FF2B5EF4-FFF2-40B4-BE49-F238E27FC236}">
                <a16:creationId xmlns:a16="http://schemas.microsoft.com/office/drawing/2014/main" id="{C2EF70BD-C9FE-476B-B134-8A77B33FDD03}"/>
              </a:ext>
            </a:extLst>
          </p:cNvPr>
          <p:cNvSpPr/>
          <p:nvPr/>
        </p:nvSpPr>
        <p:spPr>
          <a:xfrm>
            <a:off x="3666535" y="4125461"/>
            <a:ext cx="1728951" cy="1751811"/>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B638D211-3318-41E4-BE15-4AFC019ED858}"/>
              </a:ext>
            </a:extLst>
          </p:cNvPr>
          <p:cNvSpPr txBox="1"/>
          <p:nvPr/>
        </p:nvSpPr>
        <p:spPr>
          <a:xfrm>
            <a:off x="3822204" y="4361480"/>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04</a:t>
            </a:r>
          </a:p>
        </p:txBody>
      </p:sp>
      <p:sp>
        <p:nvSpPr>
          <p:cNvPr id="14" name="文本框 13">
            <a:extLst>
              <a:ext uri="{FF2B5EF4-FFF2-40B4-BE49-F238E27FC236}">
                <a16:creationId xmlns:a16="http://schemas.microsoft.com/office/drawing/2014/main" id="{EAE4DD18-2A82-473C-A0F9-EBC9755B67EF}"/>
              </a:ext>
            </a:extLst>
          </p:cNvPr>
          <p:cNvSpPr txBox="1"/>
          <p:nvPr/>
        </p:nvSpPr>
        <p:spPr>
          <a:xfrm>
            <a:off x="3999155" y="5003664"/>
            <a:ext cx="1134075" cy="646331"/>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生产要素最优组合</a:t>
            </a:r>
          </a:p>
        </p:txBody>
      </p:sp>
      <p:sp>
        <p:nvSpPr>
          <p:cNvPr id="15" name="矩形 14">
            <a:extLst>
              <a:ext uri="{FF2B5EF4-FFF2-40B4-BE49-F238E27FC236}">
                <a16:creationId xmlns:a16="http://schemas.microsoft.com/office/drawing/2014/main" id="{5DD0B692-B6AA-4524-B4D5-BDB4886DCC9F}"/>
              </a:ext>
            </a:extLst>
          </p:cNvPr>
          <p:cNvSpPr/>
          <p:nvPr/>
        </p:nvSpPr>
        <p:spPr>
          <a:xfrm>
            <a:off x="5663563" y="4125461"/>
            <a:ext cx="1728951" cy="1751811"/>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F8F8CDF0-7147-4842-BE7C-D328C571C796}"/>
              </a:ext>
            </a:extLst>
          </p:cNvPr>
          <p:cNvSpPr txBox="1"/>
          <p:nvPr/>
        </p:nvSpPr>
        <p:spPr>
          <a:xfrm>
            <a:off x="5781376" y="4361480"/>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05</a:t>
            </a:r>
          </a:p>
        </p:txBody>
      </p:sp>
      <p:sp>
        <p:nvSpPr>
          <p:cNvPr id="17" name="文本框 16">
            <a:extLst>
              <a:ext uri="{FF2B5EF4-FFF2-40B4-BE49-F238E27FC236}">
                <a16:creationId xmlns:a16="http://schemas.microsoft.com/office/drawing/2014/main" id="{E6B0EFE6-6E43-4C22-B89B-6AA500587615}"/>
              </a:ext>
            </a:extLst>
          </p:cNvPr>
          <p:cNvSpPr txBox="1"/>
          <p:nvPr/>
        </p:nvSpPr>
        <p:spPr>
          <a:xfrm>
            <a:off x="5958327" y="5006640"/>
            <a:ext cx="1134075" cy="646331"/>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生产扩展曲线</a:t>
            </a:r>
          </a:p>
        </p:txBody>
      </p:sp>
      <p:sp>
        <p:nvSpPr>
          <p:cNvPr id="18" name="线形标注 1 17"/>
          <p:cNvSpPr/>
          <p:nvPr/>
        </p:nvSpPr>
        <p:spPr bwMode="auto">
          <a:xfrm>
            <a:off x="5595289" y="55246"/>
            <a:ext cx="3269246" cy="936104"/>
          </a:xfrm>
          <a:prstGeom prst="borderCallout1">
            <a:avLst>
              <a:gd name="adj1" fmla="val 49831"/>
              <a:gd name="adj2" fmla="val -196"/>
              <a:gd name="adj3" fmla="val 102732"/>
              <a:gd name="adj4" fmla="val -2714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长期意味着所有生产要素投入数量都可变，也意味着生产要素之间可以形成替代。</a:t>
            </a:r>
          </a:p>
        </p:txBody>
      </p:sp>
    </p:spTree>
    <p:extLst>
      <p:ext uri="{BB962C8B-B14F-4D97-AF65-F5344CB8AC3E}">
        <p14:creationId xmlns:p14="http://schemas.microsoft.com/office/powerpoint/2010/main" val="114538555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1"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par>
                                <p:cTn id="17" presetID="53" presetClass="entr" presetSubtype="16" fill="hold" grpId="1"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1"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
                                          </p:val>
                                        </p:tav>
                                        <p:tav tm="100000">
                                          <p:val>
                                            <p:strVal val="#ppt_w"/>
                                          </p:val>
                                        </p:tav>
                                      </p:tavLst>
                                    </p:anim>
                                    <p:anim calcmode="lin" valueType="num">
                                      <p:cBhvr>
                                        <p:cTn id="32" dur="500" fill="hold"/>
                                        <p:tgtEl>
                                          <p:spTgt spid="3"/>
                                        </p:tgtEl>
                                        <p:attrNameLst>
                                          <p:attrName>ppt_h</p:attrName>
                                        </p:attrNameLst>
                                      </p:cBhvr>
                                      <p:tavLst>
                                        <p:tav tm="0">
                                          <p:val>
                                            <p:fltVal val="0"/>
                                          </p:val>
                                        </p:tav>
                                        <p:tav tm="100000">
                                          <p:val>
                                            <p:strVal val="#ppt_h"/>
                                          </p:val>
                                        </p:tav>
                                      </p:tavLst>
                                    </p:anim>
                                    <p:animEffect transition="in" filter="fade">
                                      <p:cBhvr>
                                        <p:cTn id="33" dur="500"/>
                                        <p:tgtEl>
                                          <p:spTgt spid="3"/>
                                        </p:tgtEl>
                                      </p:cBhvr>
                                    </p:animEffect>
                                  </p:childTnLst>
                                </p:cTn>
                              </p:par>
                              <p:par>
                                <p:cTn id="34" presetID="53" presetClass="entr" presetSubtype="16" fill="hold" grpId="1"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1"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p:cTn id="48" dur="500" fill="hold"/>
                                        <p:tgtEl>
                                          <p:spTgt spid="4"/>
                                        </p:tgtEl>
                                        <p:attrNameLst>
                                          <p:attrName>ppt_w</p:attrName>
                                        </p:attrNameLst>
                                      </p:cBhvr>
                                      <p:tavLst>
                                        <p:tav tm="0">
                                          <p:val>
                                            <p:fltVal val="0"/>
                                          </p:val>
                                        </p:tav>
                                        <p:tav tm="100000">
                                          <p:val>
                                            <p:strVal val="#ppt_w"/>
                                          </p:val>
                                        </p:tav>
                                      </p:tavLst>
                                    </p:anim>
                                    <p:anim calcmode="lin" valueType="num">
                                      <p:cBhvr>
                                        <p:cTn id="49" dur="500" fill="hold"/>
                                        <p:tgtEl>
                                          <p:spTgt spid="4"/>
                                        </p:tgtEl>
                                        <p:attrNameLst>
                                          <p:attrName>ppt_h</p:attrName>
                                        </p:attrNameLst>
                                      </p:cBhvr>
                                      <p:tavLst>
                                        <p:tav tm="0">
                                          <p:val>
                                            <p:fltVal val="0"/>
                                          </p:val>
                                        </p:tav>
                                        <p:tav tm="100000">
                                          <p:val>
                                            <p:strVal val="#ppt_h"/>
                                          </p:val>
                                        </p:tav>
                                      </p:tavLst>
                                    </p:anim>
                                    <p:animEffect transition="in" filter="fade">
                                      <p:cBhvr>
                                        <p:cTn id="50" dur="500"/>
                                        <p:tgtEl>
                                          <p:spTgt spid="4"/>
                                        </p:tgtEl>
                                      </p:cBhvr>
                                    </p:animEffect>
                                  </p:childTnLst>
                                </p:cTn>
                              </p:par>
                              <p:par>
                                <p:cTn id="51" presetID="53" presetClass="entr" presetSubtype="16" fill="hold" grpId="1" nodeType="with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500" fill="hold"/>
                                        <p:tgtEl>
                                          <p:spTgt spid="10"/>
                                        </p:tgtEl>
                                        <p:attrNameLst>
                                          <p:attrName>ppt_w</p:attrName>
                                        </p:attrNameLst>
                                      </p:cBhvr>
                                      <p:tavLst>
                                        <p:tav tm="0">
                                          <p:val>
                                            <p:fltVal val="0"/>
                                          </p:val>
                                        </p:tav>
                                        <p:tav tm="100000">
                                          <p:val>
                                            <p:strVal val="#ppt_w"/>
                                          </p:val>
                                        </p:tav>
                                      </p:tavLst>
                                    </p:anim>
                                    <p:anim calcmode="lin" valueType="num">
                                      <p:cBhvr>
                                        <p:cTn id="54" dur="500" fill="hold"/>
                                        <p:tgtEl>
                                          <p:spTgt spid="10"/>
                                        </p:tgtEl>
                                        <p:attrNameLst>
                                          <p:attrName>ppt_h</p:attrName>
                                        </p:attrNameLst>
                                      </p:cBhvr>
                                      <p:tavLst>
                                        <p:tav tm="0">
                                          <p:val>
                                            <p:fltVal val="0"/>
                                          </p:val>
                                        </p:tav>
                                        <p:tav tm="100000">
                                          <p:val>
                                            <p:strVal val="#ppt_h"/>
                                          </p:val>
                                        </p:tav>
                                      </p:tavLst>
                                    </p:anim>
                                    <p:animEffect transition="in" filter="fade">
                                      <p:cBhvr>
                                        <p:cTn id="55" dur="500"/>
                                        <p:tgtEl>
                                          <p:spTgt spid="10"/>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 calcmode="lin" valueType="num">
                                      <p:cBhvr>
                                        <p:cTn id="58" dur="500" fill="hold"/>
                                        <p:tgtEl>
                                          <p:spTgt spid="11"/>
                                        </p:tgtEl>
                                        <p:attrNameLst>
                                          <p:attrName>ppt_w</p:attrName>
                                        </p:attrNameLst>
                                      </p:cBhvr>
                                      <p:tavLst>
                                        <p:tav tm="0">
                                          <p:val>
                                            <p:fltVal val="0"/>
                                          </p:val>
                                        </p:tav>
                                        <p:tav tm="100000">
                                          <p:val>
                                            <p:strVal val="#ppt_w"/>
                                          </p:val>
                                        </p:tav>
                                      </p:tavLst>
                                    </p:anim>
                                    <p:anim calcmode="lin" valueType="num">
                                      <p:cBhvr>
                                        <p:cTn id="59" dur="500" fill="hold"/>
                                        <p:tgtEl>
                                          <p:spTgt spid="11"/>
                                        </p:tgtEl>
                                        <p:attrNameLst>
                                          <p:attrName>ppt_h</p:attrName>
                                        </p:attrNameLst>
                                      </p:cBhvr>
                                      <p:tavLst>
                                        <p:tav tm="0">
                                          <p:val>
                                            <p:fltVal val="0"/>
                                          </p:val>
                                        </p:tav>
                                        <p:tav tm="100000">
                                          <p:val>
                                            <p:strVal val="#ppt_h"/>
                                          </p:val>
                                        </p:tav>
                                      </p:tavLst>
                                    </p:anim>
                                    <p:animEffect transition="in" filter="fade">
                                      <p:cBhvr>
                                        <p:cTn id="60" dur="500"/>
                                        <p:tgtEl>
                                          <p:spTgt spid="11"/>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1" nodeType="clickEffect">
                                  <p:stCondLst>
                                    <p:cond delay="0"/>
                                  </p:stCondLst>
                                  <p:childTnLst>
                                    <p:set>
                                      <p:cBhvr>
                                        <p:cTn id="64" dur="1" fill="hold">
                                          <p:stCondLst>
                                            <p:cond delay="0"/>
                                          </p:stCondLst>
                                        </p:cTn>
                                        <p:tgtEl>
                                          <p:spTgt spid="12"/>
                                        </p:tgtEl>
                                        <p:attrNameLst>
                                          <p:attrName>style.visibility</p:attrName>
                                        </p:attrNameLst>
                                      </p:cBhvr>
                                      <p:to>
                                        <p:strVal val="visible"/>
                                      </p:to>
                                    </p:set>
                                    <p:anim calcmode="lin" valueType="num">
                                      <p:cBhvr>
                                        <p:cTn id="65" dur="500" fill="hold"/>
                                        <p:tgtEl>
                                          <p:spTgt spid="12"/>
                                        </p:tgtEl>
                                        <p:attrNameLst>
                                          <p:attrName>ppt_w</p:attrName>
                                        </p:attrNameLst>
                                      </p:cBhvr>
                                      <p:tavLst>
                                        <p:tav tm="0">
                                          <p:val>
                                            <p:fltVal val="0"/>
                                          </p:val>
                                        </p:tav>
                                        <p:tav tm="100000">
                                          <p:val>
                                            <p:strVal val="#ppt_w"/>
                                          </p:val>
                                        </p:tav>
                                      </p:tavLst>
                                    </p:anim>
                                    <p:anim calcmode="lin" valueType="num">
                                      <p:cBhvr>
                                        <p:cTn id="66" dur="500" fill="hold"/>
                                        <p:tgtEl>
                                          <p:spTgt spid="12"/>
                                        </p:tgtEl>
                                        <p:attrNameLst>
                                          <p:attrName>ppt_h</p:attrName>
                                        </p:attrNameLst>
                                      </p:cBhvr>
                                      <p:tavLst>
                                        <p:tav tm="0">
                                          <p:val>
                                            <p:fltVal val="0"/>
                                          </p:val>
                                        </p:tav>
                                        <p:tav tm="100000">
                                          <p:val>
                                            <p:strVal val="#ppt_h"/>
                                          </p:val>
                                        </p:tav>
                                      </p:tavLst>
                                    </p:anim>
                                    <p:animEffect transition="in" filter="fade">
                                      <p:cBhvr>
                                        <p:cTn id="67" dur="500"/>
                                        <p:tgtEl>
                                          <p:spTgt spid="12"/>
                                        </p:tgtEl>
                                      </p:cBhvr>
                                    </p:animEffect>
                                  </p:childTnLst>
                                </p:cTn>
                              </p:par>
                              <p:par>
                                <p:cTn id="68" presetID="53" presetClass="entr" presetSubtype="16" fill="hold" grpId="1" nodeType="withEffect">
                                  <p:stCondLst>
                                    <p:cond delay="0"/>
                                  </p:stCondLst>
                                  <p:childTnLst>
                                    <p:set>
                                      <p:cBhvr>
                                        <p:cTn id="69" dur="1" fill="hold">
                                          <p:stCondLst>
                                            <p:cond delay="0"/>
                                          </p:stCondLst>
                                        </p:cTn>
                                        <p:tgtEl>
                                          <p:spTgt spid="13"/>
                                        </p:tgtEl>
                                        <p:attrNameLst>
                                          <p:attrName>style.visibility</p:attrName>
                                        </p:attrNameLst>
                                      </p:cBhvr>
                                      <p:to>
                                        <p:strVal val="visible"/>
                                      </p:to>
                                    </p:set>
                                    <p:anim calcmode="lin" valueType="num">
                                      <p:cBhvr>
                                        <p:cTn id="70" dur="500" fill="hold"/>
                                        <p:tgtEl>
                                          <p:spTgt spid="13"/>
                                        </p:tgtEl>
                                        <p:attrNameLst>
                                          <p:attrName>ppt_w</p:attrName>
                                        </p:attrNameLst>
                                      </p:cBhvr>
                                      <p:tavLst>
                                        <p:tav tm="0">
                                          <p:val>
                                            <p:fltVal val="0"/>
                                          </p:val>
                                        </p:tav>
                                        <p:tav tm="100000">
                                          <p:val>
                                            <p:strVal val="#ppt_w"/>
                                          </p:val>
                                        </p:tav>
                                      </p:tavLst>
                                    </p:anim>
                                    <p:anim calcmode="lin" valueType="num">
                                      <p:cBhvr>
                                        <p:cTn id="71" dur="500" fill="hold"/>
                                        <p:tgtEl>
                                          <p:spTgt spid="13"/>
                                        </p:tgtEl>
                                        <p:attrNameLst>
                                          <p:attrName>ppt_h</p:attrName>
                                        </p:attrNameLst>
                                      </p:cBhvr>
                                      <p:tavLst>
                                        <p:tav tm="0">
                                          <p:val>
                                            <p:fltVal val="0"/>
                                          </p:val>
                                        </p:tav>
                                        <p:tav tm="100000">
                                          <p:val>
                                            <p:strVal val="#ppt_h"/>
                                          </p:val>
                                        </p:tav>
                                      </p:tavLst>
                                    </p:anim>
                                    <p:animEffect transition="in" filter="fade">
                                      <p:cBhvr>
                                        <p:cTn id="72" dur="500"/>
                                        <p:tgtEl>
                                          <p:spTgt spid="13"/>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anim calcmode="lin" valueType="num">
                                      <p:cBhvr>
                                        <p:cTn id="75" dur="500" fill="hold"/>
                                        <p:tgtEl>
                                          <p:spTgt spid="14"/>
                                        </p:tgtEl>
                                        <p:attrNameLst>
                                          <p:attrName>ppt_w</p:attrName>
                                        </p:attrNameLst>
                                      </p:cBhvr>
                                      <p:tavLst>
                                        <p:tav tm="0">
                                          <p:val>
                                            <p:fltVal val="0"/>
                                          </p:val>
                                        </p:tav>
                                        <p:tav tm="100000">
                                          <p:val>
                                            <p:strVal val="#ppt_w"/>
                                          </p:val>
                                        </p:tav>
                                      </p:tavLst>
                                    </p:anim>
                                    <p:anim calcmode="lin" valueType="num">
                                      <p:cBhvr>
                                        <p:cTn id="76" dur="500" fill="hold"/>
                                        <p:tgtEl>
                                          <p:spTgt spid="14"/>
                                        </p:tgtEl>
                                        <p:attrNameLst>
                                          <p:attrName>ppt_h</p:attrName>
                                        </p:attrNameLst>
                                      </p:cBhvr>
                                      <p:tavLst>
                                        <p:tav tm="0">
                                          <p:val>
                                            <p:fltVal val="0"/>
                                          </p:val>
                                        </p:tav>
                                        <p:tav tm="100000">
                                          <p:val>
                                            <p:strVal val="#ppt_h"/>
                                          </p:val>
                                        </p:tav>
                                      </p:tavLst>
                                    </p:anim>
                                    <p:animEffect transition="in" filter="fade">
                                      <p:cBhvr>
                                        <p:cTn id="77" dur="500"/>
                                        <p:tgtEl>
                                          <p:spTgt spid="14"/>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16" fill="hold" grpId="1" nodeType="clickEffect">
                                  <p:stCondLst>
                                    <p:cond delay="0"/>
                                  </p:stCondLst>
                                  <p:childTnLst>
                                    <p:set>
                                      <p:cBhvr>
                                        <p:cTn id="81" dur="1" fill="hold">
                                          <p:stCondLst>
                                            <p:cond delay="0"/>
                                          </p:stCondLst>
                                        </p:cTn>
                                        <p:tgtEl>
                                          <p:spTgt spid="15"/>
                                        </p:tgtEl>
                                        <p:attrNameLst>
                                          <p:attrName>style.visibility</p:attrName>
                                        </p:attrNameLst>
                                      </p:cBhvr>
                                      <p:to>
                                        <p:strVal val="visible"/>
                                      </p:to>
                                    </p:set>
                                    <p:anim calcmode="lin" valueType="num">
                                      <p:cBhvr>
                                        <p:cTn id="82" dur="500" fill="hold"/>
                                        <p:tgtEl>
                                          <p:spTgt spid="15"/>
                                        </p:tgtEl>
                                        <p:attrNameLst>
                                          <p:attrName>ppt_w</p:attrName>
                                        </p:attrNameLst>
                                      </p:cBhvr>
                                      <p:tavLst>
                                        <p:tav tm="0">
                                          <p:val>
                                            <p:fltVal val="0"/>
                                          </p:val>
                                        </p:tav>
                                        <p:tav tm="100000">
                                          <p:val>
                                            <p:strVal val="#ppt_w"/>
                                          </p:val>
                                        </p:tav>
                                      </p:tavLst>
                                    </p:anim>
                                    <p:anim calcmode="lin" valueType="num">
                                      <p:cBhvr>
                                        <p:cTn id="83" dur="500" fill="hold"/>
                                        <p:tgtEl>
                                          <p:spTgt spid="15"/>
                                        </p:tgtEl>
                                        <p:attrNameLst>
                                          <p:attrName>ppt_h</p:attrName>
                                        </p:attrNameLst>
                                      </p:cBhvr>
                                      <p:tavLst>
                                        <p:tav tm="0">
                                          <p:val>
                                            <p:fltVal val="0"/>
                                          </p:val>
                                        </p:tav>
                                        <p:tav tm="100000">
                                          <p:val>
                                            <p:strVal val="#ppt_h"/>
                                          </p:val>
                                        </p:tav>
                                      </p:tavLst>
                                    </p:anim>
                                    <p:animEffect transition="in" filter="fade">
                                      <p:cBhvr>
                                        <p:cTn id="84" dur="500"/>
                                        <p:tgtEl>
                                          <p:spTgt spid="15"/>
                                        </p:tgtEl>
                                      </p:cBhvr>
                                    </p:animEffect>
                                  </p:childTnLst>
                                </p:cTn>
                              </p:par>
                              <p:par>
                                <p:cTn id="85" presetID="53" presetClass="entr" presetSubtype="16" fill="hold" grpId="1" nodeType="withEffect">
                                  <p:stCondLst>
                                    <p:cond delay="0"/>
                                  </p:stCondLst>
                                  <p:childTnLst>
                                    <p:set>
                                      <p:cBhvr>
                                        <p:cTn id="86" dur="1" fill="hold">
                                          <p:stCondLst>
                                            <p:cond delay="0"/>
                                          </p:stCondLst>
                                        </p:cTn>
                                        <p:tgtEl>
                                          <p:spTgt spid="16"/>
                                        </p:tgtEl>
                                        <p:attrNameLst>
                                          <p:attrName>style.visibility</p:attrName>
                                        </p:attrNameLst>
                                      </p:cBhvr>
                                      <p:to>
                                        <p:strVal val="visible"/>
                                      </p:to>
                                    </p:set>
                                    <p:anim calcmode="lin" valueType="num">
                                      <p:cBhvr>
                                        <p:cTn id="87" dur="500" fill="hold"/>
                                        <p:tgtEl>
                                          <p:spTgt spid="16"/>
                                        </p:tgtEl>
                                        <p:attrNameLst>
                                          <p:attrName>ppt_w</p:attrName>
                                        </p:attrNameLst>
                                      </p:cBhvr>
                                      <p:tavLst>
                                        <p:tav tm="0">
                                          <p:val>
                                            <p:fltVal val="0"/>
                                          </p:val>
                                        </p:tav>
                                        <p:tav tm="100000">
                                          <p:val>
                                            <p:strVal val="#ppt_w"/>
                                          </p:val>
                                        </p:tav>
                                      </p:tavLst>
                                    </p:anim>
                                    <p:anim calcmode="lin" valueType="num">
                                      <p:cBhvr>
                                        <p:cTn id="88" dur="500" fill="hold"/>
                                        <p:tgtEl>
                                          <p:spTgt spid="16"/>
                                        </p:tgtEl>
                                        <p:attrNameLst>
                                          <p:attrName>ppt_h</p:attrName>
                                        </p:attrNameLst>
                                      </p:cBhvr>
                                      <p:tavLst>
                                        <p:tav tm="0">
                                          <p:val>
                                            <p:fltVal val="0"/>
                                          </p:val>
                                        </p:tav>
                                        <p:tav tm="100000">
                                          <p:val>
                                            <p:strVal val="#ppt_h"/>
                                          </p:val>
                                        </p:tav>
                                      </p:tavLst>
                                    </p:anim>
                                    <p:animEffect transition="in" filter="fade">
                                      <p:cBhvr>
                                        <p:cTn id="89" dur="500"/>
                                        <p:tgtEl>
                                          <p:spTgt spid="16"/>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17"/>
                                        </p:tgtEl>
                                        <p:attrNameLst>
                                          <p:attrName>style.visibility</p:attrName>
                                        </p:attrNameLst>
                                      </p:cBhvr>
                                      <p:to>
                                        <p:strVal val="visible"/>
                                      </p:to>
                                    </p:set>
                                    <p:anim calcmode="lin" valueType="num">
                                      <p:cBhvr>
                                        <p:cTn id="92" dur="500" fill="hold"/>
                                        <p:tgtEl>
                                          <p:spTgt spid="17"/>
                                        </p:tgtEl>
                                        <p:attrNameLst>
                                          <p:attrName>ppt_w</p:attrName>
                                        </p:attrNameLst>
                                      </p:cBhvr>
                                      <p:tavLst>
                                        <p:tav tm="0">
                                          <p:val>
                                            <p:fltVal val="0"/>
                                          </p:val>
                                        </p:tav>
                                        <p:tav tm="100000">
                                          <p:val>
                                            <p:strVal val="#ppt_w"/>
                                          </p:val>
                                        </p:tav>
                                      </p:tavLst>
                                    </p:anim>
                                    <p:anim calcmode="lin" valueType="num">
                                      <p:cBhvr>
                                        <p:cTn id="93" dur="500" fill="hold"/>
                                        <p:tgtEl>
                                          <p:spTgt spid="17"/>
                                        </p:tgtEl>
                                        <p:attrNameLst>
                                          <p:attrName>ppt_h</p:attrName>
                                        </p:attrNameLst>
                                      </p:cBhvr>
                                      <p:tavLst>
                                        <p:tav tm="0">
                                          <p:val>
                                            <p:fltVal val="0"/>
                                          </p:val>
                                        </p:tav>
                                        <p:tav tm="100000">
                                          <p:val>
                                            <p:strVal val="#ppt_h"/>
                                          </p:val>
                                        </p:tav>
                                      </p:tavLst>
                                    </p:anim>
                                    <p:animEffect transition="in" filter="fade">
                                      <p:cBhvr>
                                        <p:cTn id="9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p:bldP spid="6" grpId="0"/>
      <p:bldP spid="6" grpId="1"/>
      <p:bldP spid="7" grpId="0"/>
      <p:bldP spid="8" grpId="0"/>
      <p:bldP spid="8" grpId="1"/>
      <p:bldP spid="9" grpId="0"/>
      <p:bldP spid="10" grpId="0"/>
      <p:bldP spid="10" grpId="1"/>
      <p:bldP spid="11" grpId="0"/>
      <p:bldP spid="12" grpId="0" animBg="1"/>
      <p:bldP spid="12" grpId="1" animBg="1"/>
      <p:bldP spid="13" grpId="0"/>
      <p:bldP spid="13" grpId="1"/>
      <p:bldP spid="14" grpId="0"/>
      <p:bldP spid="15" grpId="0" animBg="1"/>
      <p:bldP spid="15" grpId="1" animBg="1"/>
      <p:bldP spid="16" grpId="0"/>
      <p:bldP spid="16" grpId="1"/>
      <p:bldP spid="1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圆角 32">
            <a:extLst>
              <a:ext uri="{FF2B5EF4-FFF2-40B4-BE49-F238E27FC236}">
                <a16:creationId xmlns:a16="http://schemas.microsoft.com/office/drawing/2014/main" id="{9EDFC574-592E-4C1E-B081-F3F0FCB376B8}"/>
              </a:ext>
            </a:extLst>
          </p:cNvPr>
          <p:cNvSpPr/>
          <p:nvPr/>
        </p:nvSpPr>
        <p:spPr>
          <a:xfrm>
            <a:off x="681924" y="1404924"/>
            <a:ext cx="1873852"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09643B01-C01F-4280-9B91-205BA2213700}"/>
              </a:ext>
            </a:extLst>
          </p:cNvPr>
          <p:cNvSpPr/>
          <p:nvPr/>
        </p:nvSpPr>
        <p:spPr>
          <a:xfrm>
            <a:off x="6732240" y="35332"/>
            <a:ext cx="233108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第四节 长期生产函数</a:t>
            </a:r>
          </a:p>
        </p:txBody>
      </p:sp>
      <p:sp>
        <p:nvSpPr>
          <p:cNvPr id="3" name="矩形 2">
            <a:extLst>
              <a:ext uri="{FF2B5EF4-FFF2-40B4-BE49-F238E27FC236}">
                <a16:creationId xmlns:a16="http://schemas.microsoft.com/office/drawing/2014/main" id="{EC623FE1-DBA7-4FDD-A48F-36209C5DE8E0}"/>
              </a:ext>
            </a:extLst>
          </p:cNvPr>
          <p:cNvSpPr/>
          <p:nvPr/>
        </p:nvSpPr>
        <p:spPr>
          <a:xfrm>
            <a:off x="580922" y="520573"/>
            <a:ext cx="384706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一、等产量曲线及其性质</a:t>
            </a:r>
          </a:p>
        </p:txBody>
      </p:sp>
      <p:sp>
        <p:nvSpPr>
          <p:cNvPr id="4" name="矩形 3">
            <a:extLst>
              <a:ext uri="{FF2B5EF4-FFF2-40B4-BE49-F238E27FC236}">
                <a16:creationId xmlns:a16="http://schemas.microsoft.com/office/drawing/2014/main" id="{8E80170E-EF67-4C73-BFCE-A3F9C825421C}"/>
              </a:ext>
            </a:extLst>
          </p:cNvPr>
          <p:cNvSpPr/>
          <p:nvPr/>
        </p:nvSpPr>
        <p:spPr>
          <a:xfrm>
            <a:off x="686343" y="1435408"/>
            <a:ext cx="1755609" cy="400110"/>
          </a:xfrm>
          <a:prstGeom prst="rect">
            <a:avLst/>
          </a:prstGeom>
          <a:noFill/>
        </p:spPr>
        <p:txBody>
          <a:bodyPr wrap="none">
            <a:spAutoFit/>
          </a:bodyPr>
          <a:lstStyle/>
          <a:p>
            <a:pPr marL="285750" indent="-28575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等产量曲线</a:t>
            </a:r>
          </a:p>
        </p:txBody>
      </p:sp>
      <p:sp>
        <p:nvSpPr>
          <p:cNvPr id="5" name="椭圆 12">
            <a:extLst>
              <a:ext uri="{FF2B5EF4-FFF2-40B4-BE49-F238E27FC236}">
                <a16:creationId xmlns:a16="http://schemas.microsoft.com/office/drawing/2014/main" id="{37CF03E3-1D64-41DE-9DC1-B95AC8A0F549}"/>
              </a:ext>
            </a:extLst>
          </p:cNvPr>
          <p:cNvSpPr>
            <a:spLocks noChangeArrowheads="1"/>
          </p:cNvSpPr>
          <p:nvPr/>
        </p:nvSpPr>
        <p:spPr bwMode="auto">
          <a:xfrm>
            <a:off x="5824785" y="4041676"/>
            <a:ext cx="53975" cy="53975"/>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6" name="椭圆 13">
            <a:extLst>
              <a:ext uri="{FF2B5EF4-FFF2-40B4-BE49-F238E27FC236}">
                <a16:creationId xmlns:a16="http://schemas.microsoft.com/office/drawing/2014/main" id="{C76D98C0-109F-4518-ACE7-0853F4589BDF}"/>
              </a:ext>
            </a:extLst>
          </p:cNvPr>
          <p:cNvSpPr>
            <a:spLocks noChangeArrowheads="1"/>
          </p:cNvSpPr>
          <p:nvPr/>
        </p:nvSpPr>
        <p:spPr bwMode="auto">
          <a:xfrm>
            <a:off x="5993060" y="4398863"/>
            <a:ext cx="53975" cy="53975"/>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7" name="椭圆 14">
            <a:extLst>
              <a:ext uri="{FF2B5EF4-FFF2-40B4-BE49-F238E27FC236}">
                <a16:creationId xmlns:a16="http://schemas.microsoft.com/office/drawing/2014/main" id="{3375FAEA-76C0-4F0B-9EC7-57827677C96A}"/>
              </a:ext>
            </a:extLst>
          </p:cNvPr>
          <p:cNvSpPr>
            <a:spLocks noChangeArrowheads="1"/>
          </p:cNvSpPr>
          <p:nvPr/>
        </p:nvSpPr>
        <p:spPr bwMode="auto">
          <a:xfrm>
            <a:off x="6278810" y="4708426"/>
            <a:ext cx="53975" cy="53975"/>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8" name="椭圆 15">
            <a:extLst>
              <a:ext uri="{FF2B5EF4-FFF2-40B4-BE49-F238E27FC236}">
                <a16:creationId xmlns:a16="http://schemas.microsoft.com/office/drawing/2014/main" id="{BB07CD4E-1CE9-4878-B49A-77293A4406C5}"/>
              </a:ext>
            </a:extLst>
          </p:cNvPr>
          <p:cNvSpPr>
            <a:spLocks noChangeArrowheads="1"/>
          </p:cNvSpPr>
          <p:nvPr/>
        </p:nvSpPr>
        <p:spPr bwMode="auto">
          <a:xfrm>
            <a:off x="6635998" y="4952901"/>
            <a:ext cx="53975" cy="53975"/>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nvGrpSpPr>
          <p:cNvPr id="11" name="组合 29">
            <a:extLst>
              <a:ext uri="{FF2B5EF4-FFF2-40B4-BE49-F238E27FC236}">
                <a16:creationId xmlns:a16="http://schemas.microsoft.com/office/drawing/2014/main" id="{2D9EA8FB-3EED-4DD4-9A16-CAF2C2D7E526}"/>
              </a:ext>
            </a:extLst>
          </p:cNvPr>
          <p:cNvGrpSpPr>
            <a:grpSpLocks/>
          </p:cNvGrpSpPr>
          <p:nvPr/>
        </p:nvGrpSpPr>
        <p:grpSpPr bwMode="auto">
          <a:xfrm>
            <a:off x="5361233" y="1412776"/>
            <a:ext cx="4572002" cy="4286250"/>
            <a:chOff x="357185" y="0"/>
            <a:chExt cx="4572005" cy="4285983"/>
          </a:xfrm>
        </p:grpSpPr>
        <p:sp>
          <p:nvSpPr>
            <p:cNvPr id="12" name="弧形 8">
              <a:extLst>
                <a:ext uri="{FF2B5EF4-FFF2-40B4-BE49-F238E27FC236}">
                  <a16:creationId xmlns:a16="http://schemas.microsoft.com/office/drawing/2014/main" id="{46E12804-AE45-49CE-9A84-01A8ED0C607A}"/>
                </a:ext>
              </a:extLst>
            </p:cNvPr>
            <p:cNvSpPr>
              <a:spLocks noChangeArrowheads="1"/>
            </p:cNvSpPr>
            <p:nvPr/>
          </p:nvSpPr>
          <p:spPr bwMode="auto">
            <a:xfrm rot="10800000">
              <a:off x="785812" y="571464"/>
              <a:ext cx="3459165" cy="3214487"/>
            </a:xfrm>
            <a:custGeom>
              <a:avLst/>
              <a:gdLst>
                <a:gd name="T0" fmla="*/ 1729584 w 3459165"/>
                <a:gd name="T1" fmla="*/ 0 h 3214487"/>
                <a:gd name="T2" fmla="*/ 1729583 w 3459165"/>
                <a:gd name="T3" fmla="*/ 1607244 h 3214487"/>
                <a:gd name="T4" fmla="*/ 3459165 w 3459165"/>
                <a:gd name="T5" fmla="*/ 1607244 h 3214487"/>
                <a:gd name="T6" fmla="*/ 11796480 60000 65536"/>
                <a:gd name="T7" fmla="*/ 11796480 60000 65536"/>
                <a:gd name="T8" fmla="*/ 5898240 60000 65536"/>
                <a:gd name="T9" fmla="*/ 1729584 w 3459165"/>
                <a:gd name="T10" fmla="*/ 0 h 3214487"/>
                <a:gd name="T11" fmla="*/ 3459165 w 3459165"/>
                <a:gd name="T12" fmla="*/ 1607244 h 3214487"/>
              </a:gdLst>
              <a:ahLst/>
              <a:cxnLst>
                <a:cxn ang="T6">
                  <a:pos x="T0" y="T1"/>
                </a:cxn>
                <a:cxn ang="T7">
                  <a:pos x="T2" y="T3"/>
                </a:cxn>
                <a:cxn ang="T8">
                  <a:pos x="T4" y="T5"/>
                </a:cxn>
              </a:cxnLst>
              <a:rect l="T9" t="T10" r="T11" b="T12"/>
              <a:pathLst>
                <a:path w="3459165" h="3214487" stroke="0">
                  <a:moveTo>
                    <a:pt x="1729584" y="0"/>
                  </a:moveTo>
                  <a:lnTo>
                    <a:pt x="1729584" y="0"/>
                  </a:lnTo>
                  <a:cubicBezTo>
                    <a:pt x="2684805" y="1"/>
                    <a:pt x="3459165" y="719588"/>
                    <a:pt x="3459165" y="1607244"/>
                  </a:cubicBezTo>
                  <a:cubicBezTo>
                    <a:pt x="3459165" y="1607245"/>
                    <a:pt x="3459164" y="1607246"/>
                    <a:pt x="3459164" y="1607247"/>
                  </a:cubicBezTo>
                  <a:lnTo>
                    <a:pt x="1729583" y="1607244"/>
                  </a:lnTo>
                  <a:close/>
                </a:path>
                <a:path w="3459165" h="3214487" fill="none">
                  <a:moveTo>
                    <a:pt x="1729584" y="0"/>
                  </a:moveTo>
                  <a:lnTo>
                    <a:pt x="1729584" y="0"/>
                  </a:lnTo>
                  <a:cubicBezTo>
                    <a:pt x="2684805" y="1"/>
                    <a:pt x="3459165" y="719588"/>
                    <a:pt x="3459165" y="1607244"/>
                  </a:cubicBezTo>
                  <a:cubicBezTo>
                    <a:pt x="3459165" y="1607245"/>
                    <a:pt x="3459164" y="1607246"/>
                    <a:pt x="3459164" y="1607247"/>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13" name="直接箭头连接符 5">
              <a:extLst>
                <a:ext uri="{FF2B5EF4-FFF2-40B4-BE49-F238E27FC236}">
                  <a16:creationId xmlns:a16="http://schemas.microsoft.com/office/drawing/2014/main" id="{2C3AB23E-FBA8-4113-872E-AC6C9A897DAE}"/>
                </a:ext>
              </a:extLst>
            </p:cNvPr>
            <p:cNvCxnSpPr>
              <a:cxnSpLocks noChangeShapeType="1"/>
            </p:cNvCxnSpPr>
            <p:nvPr/>
          </p:nvCxnSpPr>
          <p:spPr bwMode="auto">
            <a:xfrm>
              <a:off x="357187" y="4285983"/>
              <a:ext cx="3195640" cy="0"/>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14" name="直接箭头连接符 7">
              <a:extLst>
                <a:ext uri="{FF2B5EF4-FFF2-40B4-BE49-F238E27FC236}">
                  <a16:creationId xmlns:a16="http://schemas.microsoft.com/office/drawing/2014/main" id="{A861BF14-1A2C-4CA1-88C9-040243589CD4}"/>
                </a:ext>
              </a:extLst>
            </p:cNvPr>
            <p:cNvCxnSpPr>
              <a:cxnSpLocks noChangeShapeType="1"/>
            </p:cNvCxnSpPr>
            <p:nvPr/>
          </p:nvCxnSpPr>
          <p:spPr bwMode="auto">
            <a:xfrm flipH="1" flipV="1">
              <a:off x="357185" y="1500198"/>
              <a:ext cx="3" cy="2785781"/>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sp>
          <p:nvSpPr>
            <p:cNvPr id="15" name="弧形 9">
              <a:extLst>
                <a:ext uri="{FF2B5EF4-FFF2-40B4-BE49-F238E27FC236}">
                  <a16:creationId xmlns:a16="http://schemas.microsoft.com/office/drawing/2014/main" id="{08B49663-D42F-4EAD-932D-C5271F859969}"/>
                </a:ext>
              </a:extLst>
            </p:cNvPr>
            <p:cNvSpPr>
              <a:spLocks noChangeArrowheads="1"/>
            </p:cNvSpPr>
            <p:nvPr/>
          </p:nvSpPr>
          <p:spPr bwMode="auto">
            <a:xfrm rot="10800000">
              <a:off x="1470026" y="0"/>
              <a:ext cx="3459164" cy="3214487"/>
            </a:xfrm>
            <a:custGeom>
              <a:avLst/>
              <a:gdLst>
                <a:gd name="T0" fmla="*/ 1729584 w 3459164"/>
                <a:gd name="T1" fmla="*/ 0 h 3214487"/>
                <a:gd name="T2" fmla="*/ 1729582 w 3459164"/>
                <a:gd name="T3" fmla="*/ 1607244 h 3214487"/>
                <a:gd name="T4" fmla="*/ 3459164 w 3459164"/>
                <a:gd name="T5" fmla="*/ 1607244 h 3214487"/>
                <a:gd name="T6" fmla="*/ 11796480 60000 65536"/>
                <a:gd name="T7" fmla="*/ 11796480 60000 65536"/>
                <a:gd name="T8" fmla="*/ 5898240 60000 65536"/>
                <a:gd name="T9" fmla="*/ 1729584 w 3459164"/>
                <a:gd name="T10" fmla="*/ 0 h 3214487"/>
                <a:gd name="T11" fmla="*/ 3459164 w 3459164"/>
                <a:gd name="T12" fmla="*/ 1607244 h 3214487"/>
              </a:gdLst>
              <a:ahLst/>
              <a:cxnLst>
                <a:cxn ang="T6">
                  <a:pos x="T0" y="T1"/>
                </a:cxn>
                <a:cxn ang="T7">
                  <a:pos x="T2" y="T3"/>
                </a:cxn>
                <a:cxn ang="T8">
                  <a:pos x="T4" y="T5"/>
                </a:cxn>
              </a:cxnLst>
              <a:rect l="T9" t="T10" r="T11" b="T12"/>
              <a:pathLst>
                <a:path w="3459164" h="3214487" stroke="0">
                  <a:moveTo>
                    <a:pt x="1729584" y="0"/>
                  </a:moveTo>
                  <a:lnTo>
                    <a:pt x="1729584" y="0"/>
                  </a:lnTo>
                  <a:cubicBezTo>
                    <a:pt x="2684804" y="1"/>
                    <a:pt x="3459164" y="719588"/>
                    <a:pt x="3459164" y="1607244"/>
                  </a:cubicBezTo>
                  <a:cubicBezTo>
                    <a:pt x="3459164" y="1607245"/>
                    <a:pt x="3459163" y="1607246"/>
                    <a:pt x="3459163" y="1607247"/>
                  </a:cubicBezTo>
                  <a:lnTo>
                    <a:pt x="1729582" y="1607244"/>
                  </a:lnTo>
                  <a:close/>
                </a:path>
                <a:path w="3459164" h="3214487" fill="none">
                  <a:moveTo>
                    <a:pt x="1729584" y="0"/>
                  </a:moveTo>
                  <a:lnTo>
                    <a:pt x="1729584" y="0"/>
                  </a:lnTo>
                  <a:cubicBezTo>
                    <a:pt x="2684804" y="1"/>
                    <a:pt x="3459164" y="719588"/>
                    <a:pt x="3459164" y="1607244"/>
                  </a:cubicBezTo>
                  <a:cubicBezTo>
                    <a:pt x="3459164" y="1607245"/>
                    <a:pt x="3459163" y="1607246"/>
                    <a:pt x="3459163" y="1607247"/>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6" name="弧形 11">
              <a:extLst>
                <a:ext uri="{FF2B5EF4-FFF2-40B4-BE49-F238E27FC236}">
                  <a16:creationId xmlns:a16="http://schemas.microsoft.com/office/drawing/2014/main" id="{09D70A22-7A3C-40A9-AADA-56F82C3D09CB}"/>
                </a:ext>
              </a:extLst>
            </p:cNvPr>
            <p:cNvSpPr>
              <a:spLocks noChangeArrowheads="1"/>
            </p:cNvSpPr>
            <p:nvPr/>
          </p:nvSpPr>
          <p:spPr bwMode="auto">
            <a:xfrm rot="10800000">
              <a:off x="1071563" y="285732"/>
              <a:ext cx="3459165" cy="3214487"/>
            </a:xfrm>
            <a:custGeom>
              <a:avLst/>
              <a:gdLst>
                <a:gd name="T0" fmla="*/ 1729584 w 3459165"/>
                <a:gd name="T1" fmla="*/ 0 h 3214487"/>
                <a:gd name="T2" fmla="*/ 1729583 w 3459165"/>
                <a:gd name="T3" fmla="*/ 1607244 h 3214487"/>
                <a:gd name="T4" fmla="*/ 3459165 w 3459165"/>
                <a:gd name="T5" fmla="*/ 1607244 h 3214487"/>
                <a:gd name="T6" fmla="*/ 11796480 60000 65536"/>
                <a:gd name="T7" fmla="*/ 11796480 60000 65536"/>
                <a:gd name="T8" fmla="*/ 5898240 60000 65536"/>
                <a:gd name="T9" fmla="*/ 1729584 w 3459165"/>
                <a:gd name="T10" fmla="*/ 0 h 3214487"/>
                <a:gd name="T11" fmla="*/ 3459165 w 3459165"/>
                <a:gd name="T12" fmla="*/ 1607244 h 3214487"/>
              </a:gdLst>
              <a:ahLst/>
              <a:cxnLst>
                <a:cxn ang="T6">
                  <a:pos x="T0" y="T1"/>
                </a:cxn>
                <a:cxn ang="T7">
                  <a:pos x="T2" y="T3"/>
                </a:cxn>
                <a:cxn ang="T8">
                  <a:pos x="T4" y="T5"/>
                </a:cxn>
              </a:cxnLst>
              <a:rect l="T9" t="T10" r="T11" b="T12"/>
              <a:pathLst>
                <a:path w="3459165" h="3214487" stroke="0">
                  <a:moveTo>
                    <a:pt x="1729584" y="0"/>
                  </a:moveTo>
                  <a:lnTo>
                    <a:pt x="1729584" y="0"/>
                  </a:lnTo>
                  <a:cubicBezTo>
                    <a:pt x="2684805" y="1"/>
                    <a:pt x="3459165" y="719588"/>
                    <a:pt x="3459165" y="1607244"/>
                  </a:cubicBezTo>
                  <a:cubicBezTo>
                    <a:pt x="3459165" y="1607245"/>
                    <a:pt x="3459164" y="1607246"/>
                    <a:pt x="3459164" y="1607247"/>
                  </a:cubicBezTo>
                  <a:lnTo>
                    <a:pt x="1729583" y="1607244"/>
                  </a:lnTo>
                  <a:close/>
                </a:path>
                <a:path w="3459165" h="3214487" fill="none">
                  <a:moveTo>
                    <a:pt x="1729584" y="0"/>
                  </a:moveTo>
                  <a:lnTo>
                    <a:pt x="1729584" y="0"/>
                  </a:lnTo>
                  <a:cubicBezTo>
                    <a:pt x="2684805" y="1"/>
                    <a:pt x="3459165" y="719588"/>
                    <a:pt x="3459165" y="1607244"/>
                  </a:cubicBezTo>
                  <a:cubicBezTo>
                    <a:pt x="3459165" y="1607245"/>
                    <a:pt x="3459164" y="1607246"/>
                    <a:pt x="3459164" y="1607247"/>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sp>
        <p:nvSpPr>
          <p:cNvPr id="26" name="矩形 25">
            <a:extLst>
              <a:ext uri="{FF2B5EF4-FFF2-40B4-BE49-F238E27FC236}">
                <a16:creationId xmlns:a16="http://schemas.microsoft.com/office/drawing/2014/main" id="{3FD98A0B-47BD-44B6-8376-25D39A31CD44}"/>
              </a:ext>
            </a:extLst>
          </p:cNvPr>
          <p:cNvSpPr/>
          <p:nvPr/>
        </p:nvSpPr>
        <p:spPr>
          <a:xfrm>
            <a:off x="611216" y="2322572"/>
            <a:ext cx="3781623" cy="1200329"/>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等产量曲线是指技术水平不变的条件下，由生产相同产量所需的生产要素的不同数量组合所描绘的一条曲线。</a:t>
            </a:r>
          </a:p>
        </p:txBody>
      </p:sp>
      <p:sp>
        <p:nvSpPr>
          <p:cNvPr id="27" name="矩形 26">
            <a:extLst>
              <a:ext uri="{FF2B5EF4-FFF2-40B4-BE49-F238E27FC236}">
                <a16:creationId xmlns:a16="http://schemas.microsoft.com/office/drawing/2014/main" id="{5EF845DD-4FA0-4F81-865D-B33C14E91B53}"/>
              </a:ext>
            </a:extLst>
          </p:cNvPr>
          <p:cNvSpPr/>
          <p:nvPr/>
        </p:nvSpPr>
        <p:spPr>
          <a:xfrm>
            <a:off x="605820" y="3510802"/>
            <a:ext cx="3672264" cy="923330"/>
          </a:xfrm>
          <a:prstGeom prst="rect">
            <a:avLst/>
          </a:prstGeom>
        </p:spPr>
        <p:txBody>
          <a:bodyPr wrap="square">
            <a:spAutoFit/>
          </a:bodyPr>
          <a:lstStyle/>
          <a:p>
            <a:pPr marL="285750" indent="-285750">
              <a:buFont typeface="Wingdings" panose="05000000000000000000" pitchFamily="2" charset="2"/>
              <a:buChar char="Ø"/>
            </a:pPr>
            <a:endParaRPr lang="zh-CN" altLang="en-US"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在等产量线中，两个生产要素都可以变动。</a:t>
            </a:r>
          </a:p>
        </p:txBody>
      </p:sp>
      <p:sp>
        <p:nvSpPr>
          <p:cNvPr id="28" name="矩形 27">
            <a:extLst>
              <a:ext uri="{FF2B5EF4-FFF2-40B4-BE49-F238E27FC236}">
                <a16:creationId xmlns:a16="http://schemas.microsoft.com/office/drawing/2014/main" id="{CF75180F-21CE-4A27-B945-16F2A91582AC}"/>
              </a:ext>
            </a:extLst>
          </p:cNvPr>
          <p:cNvSpPr/>
          <p:nvPr/>
        </p:nvSpPr>
        <p:spPr>
          <a:xfrm>
            <a:off x="612431" y="4497010"/>
            <a:ext cx="3713703" cy="1200329"/>
          </a:xfrm>
          <a:prstGeom prst="rect">
            <a:avLst/>
          </a:prstGeom>
        </p:spPr>
        <p:txBody>
          <a:bodyPr wrap="square">
            <a:spAutoFit/>
          </a:bodyPr>
          <a:lstStyle/>
          <a:p>
            <a:pPr marL="285750" indent="-285750">
              <a:buFont typeface="Wingdings" panose="05000000000000000000" pitchFamily="2" charset="2"/>
              <a:buChar char="Ø"/>
            </a:pPr>
            <a:endParaRPr lang="zh-CN" altLang="en-US" dirty="0">
              <a:latin typeface="微软雅黑" panose="020B0503020204020204" pitchFamily="34" charset="-122"/>
              <a:ea typeface="微软雅黑" panose="020B0503020204020204" pitchFamily="34" charset="-122"/>
            </a:endParaRPr>
          </a:p>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需要说明的是，等产量线也可以描述短期生产，比如，存在第三个生产要素固定不变时。</a:t>
            </a:r>
          </a:p>
        </p:txBody>
      </p:sp>
      <p:sp>
        <p:nvSpPr>
          <p:cNvPr id="29" name="矩形 28">
            <a:extLst>
              <a:ext uri="{FF2B5EF4-FFF2-40B4-BE49-F238E27FC236}">
                <a16:creationId xmlns:a16="http://schemas.microsoft.com/office/drawing/2014/main" id="{75A61F3C-01A2-4974-9504-D14846DA47F9}"/>
              </a:ext>
            </a:extLst>
          </p:cNvPr>
          <p:cNvSpPr/>
          <p:nvPr/>
        </p:nvSpPr>
        <p:spPr>
          <a:xfrm>
            <a:off x="5789860" y="2225347"/>
            <a:ext cx="2909366" cy="646331"/>
          </a:xfrm>
          <a:prstGeom prst="rect">
            <a:avLst/>
          </a:prstGeom>
        </p:spPr>
        <p:txBody>
          <a:bodyPr wrap="square">
            <a:spAutoFit/>
          </a:bodyPr>
          <a:lstStyle/>
          <a:p>
            <a:r>
              <a:rPr lang="zh-CN" altLang="en-US" dirty="0">
                <a:latin typeface="微软雅黑" panose="020B0503020204020204" pitchFamily="34" charset="-122"/>
                <a:ea typeface="微软雅黑" panose="020B0503020204020204" pitchFamily="34" charset="-122"/>
              </a:rPr>
              <a:t>从A到B到C到D，L增加，K减少，但是产量保持相等</a:t>
            </a:r>
          </a:p>
        </p:txBody>
      </p: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9803E9C6-D07D-4D32-B63C-B6D1BBE9C2F0}"/>
                  </a:ext>
                </a:extLst>
              </p:cNvPr>
              <p:cNvSpPr/>
              <p:nvPr/>
            </p:nvSpPr>
            <p:spPr>
              <a:xfrm>
                <a:off x="5044431" y="5627927"/>
                <a:ext cx="40992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𝑂</m:t>
                      </m:r>
                    </m:oMath>
                  </m:oMathPara>
                </a14:m>
                <a:endParaRPr lang="zh-CN" altLang="en-US" dirty="0">
                  <a:solidFill>
                    <a:schemeClr val="tx1"/>
                  </a:solidFill>
                </a:endParaRPr>
              </a:p>
            </p:txBody>
          </p:sp>
        </mc:Choice>
        <mc:Fallback xmlns="">
          <p:sp>
            <p:nvSpPr>
              <p:cNvPr id="30" name="矩形 29">
                <a:extLst>
                  <a:ext uri="{FF2B5EF4-FFF2-40B4-BE49-F238E27FC236}">
                    <a16:creationId xmlns:a16="http://schemas.microsoft.com/office/drawing/2014/main" id="{9803E9C6-D07D-4D32-B63C-B6D1BBE9C2F0}"/>
                  </a:ext>
                </a:extLst>
              </p:cNvPr>
              <p:cNvSpPr>
                <a:spLocks noRot="1" noChangeAspect="1" noMove="1" noResize="1" noEditPoints="1" noAdjustHandles="1" noChangeArrowheads="1" noChangeShapeType="1" noTextEdit="1"/>
              </p:cNvSpPr>
              <p:nvPr/>
            </p:nvSpPr>
            <p:spPr>
              <a:xfrm>
                <a:off x="5044431" y="5627927"/>
                <a:ext cx="409920" cy="36933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3E212A2E-9516-4A86-970A-FDA70DBB5127}"/>
                  </a:ext>
                </a:extLst>
              </p:cNvPr>
              <p:cNvSpPr/>
              <p:nvPr/>
            </p:nvSpPr>
            <p:spPr>
              <a:xfrm>
                <a:off x="5017375" y="2835453"/>
                <a:ext cx="41767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𝐾</m:t>
                      </m:r>
                    </m:oMath>
                  </m:oMathPara>
                </a14:m>
                <a:endParaRPr lang="zh-CN" altLang="en-US" dirty="0">
                  <a:solidFill>
                    <a:schemeClr val="tx1"/>
                  </a:solidFill>
                </a:endParaRPr>
              </a:p>
            </p:txBody>
          </p:sp>
        </mc:Choice>
        <mc:Fallback xmlns="">
          <p:sp>
            <p:nvSpPr>
              <p:cNvPr id="31" name="矩形 30">
                <a:extLst>
                  <a:ext uri="{FF2B5EF4-FFF2-40B4-BE49-F238E27FC236}">
                    <a16:creationId xmlns:a16="http://schemas.microsoft.com/office/drawing/2014/main" id="{3E212A2E-9516-4A86-970A-FDA70DBB5127}"/>
                  </a:ext>
                </a:extLst>
              </p:cNvPr>
              <p:cNvSpPr>
                <a:spLocks noRot="1" noChangeAspect="1" noMove="1" noResize="1" noEditPoints="1" noAdjustHandles="1" noChangeArrowheads="1" noChangeShapeType="1" noTextEdit="1"/>
              </p:cNvSpPr>
              <p:nvPr/>
            </p:nvSpPr>
            <p:spPr>
              <a:xfrm>
                <a:off x="5017375" y="2835453"/>
                <a:ext cx="417678"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D93DB1CB-F73D-4884-9A5B-F0D053A11839}"/>
                  </a:ext>
                </a:extLst>
              </p:cNvPr>
              <p:cNvSpPr/>
              <p:nvPr/>
            </p:nvSpPr>
            <p:spPr>
              <a:xfrm>
                <a:off x="8352106" y="5659244"/>
                <a:ext cx="376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𝐿</m:t>
                      </m:r>
                    </m:oMath>
                  </m:oMathPara>
                </a14:m>
                <a:endParaRPr lang="zh-CN" altLang="en-US" dirty="0">
                  <a:solidFill>
                    <a:schemeClr val="tx1"/>
                  </a:solidFill>
                </a:endParaRPr>
              </a:p>
            </p:txBody>
          </p:sp>
        </mc:Choice>
        <mc:Fallback xmlns="">
          <p:sp>
            <p:nvSpPr>
              <p:cNvPr id="32" name="矩形 31">
                <a:extLst>
                  <a:ext uri="{FF2B5EF4-FFF2-40B4-BE49-F238E27FC236}">
                    <a16:creationId xmlns:a16="http://schemas.microsoft.com/office/drawing/2014/main" id="{D93DB1CB-F73D-4884-9A5B-F0D053A11839}"/>
                  </a:ext>
                </a:extLst>
              </p:cNvPr>
              <p:cNvSpPr>
                <a:spLocks noRot="1" noChangeAspect="1" noMove="1" noResize="1" noEditPoints="1" noAdjustHandles="1" noChangeArrowheads="1" noChangeShapeType="1" noTextEdit="1"/>
              </p:cNvSpPr>
              <p:nvPr/>
            </p:nvSpPr>
            <p:spPr>
              <a:xfrm>
                <a:off x="8352106" y="5659244"/>
                <a:ext cx="376962"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ADD9AAA3-B672-4B3F-A7FA-BD0EC6B71067}"/>
                  </a:ext>
                </a:extLst>
              </p:cNvPr>
              <p:cNvSpPr/>
              <p:nvPr/>
            </p:nvSpPr>
            <p:spPr>
              <a:xfrm>
                <a:off x="5501222" y="3910912"/>
                <a:ext cx="39690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𝐴</m:t>
                      </m:r>
                    </m:oMath>
                  </m:oMathPara>
                </a14:m>
                <a:endParaRPr lang="zh-CN" altLang="en-US" dirty="0">
                  <a:solidFill>
                    <a:schemeClr val="tx1"/>
                  </a:solidFill>
                </a:endParaRPr>
              </a:p>
            </p:txBody>
          </p:sp>
        </mc:Choice>
        <mc:Fallback xmlns="">
          <p:sp>
            <p:nvSpPr>
              <p:cNvPr id="36" name="矩形 35">
                <a:extLst>
                  <a:ext uri="{FF2B5EF4-FFF2-40B4-BE49-F238E27FC236}">
                    <a16:creationId xmlns:a16="http://schemas.microsoft.com/office/drawing/2014/main" id="{ADD9AAA3-B672-4B3F-A7FA-BD0EC6B71067}"/>
                  </a:ext>
                </a:extLst>
              </p:cNvPr>
              <p:cNvSpPr>
                <a:spLocks noRot="1" noChangeAspect="1" noMove="1" noResize="1" noEditPoints="1" noAdjustHandles="1" noChangeArrowheads="1" noChangeShapeType="1" noTextEdit="1"/>
              </p:cNvSpPr>
              <p:nvPr/>
            </p:nvSpPr>
            <p:spPr>
              <a:xfrm>
                <a:off x="5501222" y="3910912"/>
                <a:ext cx="396904"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050790EA-AAF1-4BE2-8CB9-6C28E426F4D5}"/>
                  </a:ext>
                </a:extLst>
              </p:cNvPr>
              <p:cNvSpPr/>
              <p:nvPr/>
            </p:nvSpPr>
            <p:spPr>
              <a:xfrm>
                <a:off x="5646987" y="4338374"/>
                <a:ext cx="40729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𝐵</m:t>
                      </m:r>
                    </m:oMath>
                  </m:oMathPara>
                </a14:m>
                <a:endParaRPr lang="zh-CN" altLang="en-US" dirty="0">
                  <a:solidFill>
                    <a:schemeClr val="tx1"/>
                  </a:solidFill>
                </a:endParaRPr>
              </a:p>
            </p:txBody>
          </p:sp>
        </mc:Choice>
        <mc:Fallback xmlns="">
          <p:sp>
            <p:nvSpPr>
              <p:cNvPr id="37" name="矩形 36">
                <a:extLst>
                  <a:ext uri="{FF2B5EF4-FFF2-40B4-BE49-F238E27FC236}">
                    <a16:creationId xmlns:a16="http://schemas.microsoft.com/office/drawing/2014/main" id="{050790EA-AAF1-4BE2-8CB9-6C28E426F4D5}"/>
                  </a:ext>
                </a:extLst>
              </p:cNvPr>
              <p:cNvSpPr>
                <a:spLocks noRot="1" noChangeAspect="1" noMove="1" noResize="1" noEditPoints="1" noAdjustHandles="1" noChangeArrowheads="1" noChangeShapeType="1" noTextEdit="1"/>
              </p:cNvSpPr>
              <p:nvPr/>
            </p:nvSpPr>
            <p:spPr>
              <a:xfrm>
                <a:off x="5646987" y="4338374"/>
                <a:ext cx="407291"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F8C56369-FDA7-4501-9FE6-9D8738F59AD7}"/>
                  </a:ext>
                </a:extLst>
              </p:cNvPr>
              <p:cNvSpPr/>
              <p:nvPr/>
            </p:nvSpPr>
            <p:spPr>
              <a:xfrm>
                <a:off x="5993060" y="4720371"/>
                <a:ext cx="40729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𝐶</m:t>
                      </m:r>
                    </m:oMath>
                  </m:oMathPara>
                </a14:m>
                <a:endParaRPr lang="zh-CN" altLang="en-US" dirty="0">
                  <a:solidFill>
                    <a:schemeClr val="tx1"/>
                  </a:solidFill>
                </a:endParaRPr>
              </a:p>
            </p:txBody>
          </p:sp>
        </mc:Choice>
        <mc:Fallback xmlns="">
          <p:sp>
            <p:nvSpPr>
              <p:cNvPr id="38" name="矩形 37">
                <a:extLst>
                  <a:ext uri="{FF2B5EF4-FFF2-40B4-BE49-F238E27FC236}">
                    <a16:creationId xmlns:a16="http://schemas.microsoft.com/office/drawing/2014/main" id="{F8C56369-FDA7-4501-9FE6-9D8738F59AD7}"/>
                  </a:ext>
                </a:extLst>
              </p:cNvPr>
              <p:cNvSpPr>
                <a:spLocks noRot="1" noChangeAspect="1" noMove="1" noResize="1" noEditPoints="1" noAdjustHandles="1" noChangeArrowheads="1" noChangeShapeType="1" noTextEdit="1"/>
              </p:cNvSpPr>
              <p:nvPr/>
            </p:nvSpPr>
            <p:spPr>
              <a:xfrm>
                <a:off x="5993060" y="4720371"/>
                <a:ext cx="407291"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0DB82498-0516-470C-A224-E681141D88BD}"/>
                  </a:ext>
                </a:extLst>
              </p:cNvPr>
              <p:cNvSpPr/>
              <p:nvPr/>
            </p:nvSpPr>
            <p:spPr>
              <a:xfrm>
                <a:off x="6428088" y="4952901"/>
                <a:ext cx="41581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𝐷</m:t>
                      </m:r>
                    </m:oMath>
                  </m:oMathPara>
                </a14:m>
                <a:endParaRPr lang="zh-CN" altLang="en-US" dirty="0">
                  <a:solidFill>
                    <a:schemeClr val="tx1"/>
                  </a:solidFill>
                </a:endParaRPr>
              </a:p>
            </p:txBody>
          </p:sp>
        </mc:Choice>
        <mc:Fallback xmlns="">
          <p:sp>
            <p:nvSpPr>
              <p:cNvPr id="39" name="矩形 38">
                <a:extLst>
                  <a:ext uri="{FF2B5EF4-FFF2-40B4-BE49-F238E27FC236}">
                    <a16:creationId xmlns:a16="http://schemas.microsoft.com/office/drawing/2014/main" id="{0DB82498-0516-470C-A224-E681141D88BD}"/>
                  </a:ext>
                </a:extLst>
              </p:cNvPr>
              <p:cNvSpPr>
                <a:spLocks noRot="1" noChangeAspect="1" noMove="1" noResize="1" noEditPoints="1" noAdjustHandles="1" noChangeArrowheads="1" noChangeShapeType="1" noTextEdit="1"/>
              </p:cNvSpPr>
              <p:nvPr/>
            </p:nvSpPr>
            <p:spPr>
              <a:xfrm>
                <a:off x="6428088" y="4952901"/>
                <a:ext cx="415819"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EF4DB4B1-7547-4F99-8901-713D68D1A4FE}"/>
                  </a:ext>
                </a:extLst>
              </p:cNvPr>
              <p:cNvSpPr/>
              <p:nvPr/>
            </p:nvSpPr>
            <p:spPr>
              <a:xfrm>
                <a:off x="7462118" y="5054079"/>
                <a:ext cx="5023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0</m:t>
                          </m:r>
                        </m:sub>
                      </m:sSub>
                    </m:oMath>
                  </m:oMathPara>
                </a14:m>
                <a:endParaRPr lang="zh-CN" altLang="en-US" dirty="0">
                  <a:solidFill>
                    <a:schemeClr val="tx1"/>
                  </a:solidFill>
                </a:endParaRPr>
              </a:p>
            </p:txBody>
          </p:sp>
        </mc:Choice>
        <mc:Fallback xmlns="">
          <p:sp>
            <p:nvSpPr>
              <p:cNvPr id="40" name="矩形 39">
                <a:extLst>
                  <a:ext uri="{FF2B5EF4-FFF2-40B4-BE49-F238E27FC236}">
                    <a16:creationId xmlns:a16="http://schemas.microsoft.com/office/drawing/2014/main" id="{EF4DB4B1-7547-4F99-8901-713D68D1A4FE}"/>
                  </a:ext>
                </a:extLst>
              </p:cNvPr>
              <p:cNvSpPr>
                <a:spLocks noRot="1" noChangeAspect="1" noMove="1" noResize="1" noEditPoints="1" noAdjustHandles="1" noChangeArrowheads="1" noChangeShapeType="1" noTextEdit="1"/>
              </p:cNvSpPr>
              <p:nvPr/>
            </p:nvSpPr>
            <p:spPr>
              <a:xfrm>
                <a:off x="7462118" y="5054079"/>
                <a:ext cx="502381" cy="369332"/>
              </a:xfrm>
              <a:prstGeom prst="rect">
                <a:avLst/>
              </a:prstGeom>
              <a:blipFill>
                <a:blip r:embed="rId9"/>
                <a:stretch>
                  <a:fillRect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1" name="矩形 40">
                <a:extLst>
                  <a:ext uri="{FF2B5EF4-FFF2-40B4-BE49-F238E27FC236}">
                    <a16:creationId xmlns:a16="http://schemas.microsoft.com/office/drawing/2014/main" id="{CCB1A6EC-1D79-4340-A83C-4B801BA6A8B1}"/>
                  </a:ext>
                </a:extLst>
              </p:cNvPr>
              <p:cNvSpPr/>
              <p:nvPr/>
            </p:nvSpPr>
            <p:spPr>
              <a:xfrm>
                <a:off x="7740392" y="4723480"/>
                <a:ext cx="5023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41" name="矩形 40">
                <a:extLst>
                  <a:ext uri="{FF2B5EF4-FFF2-40B4-BE49-F238E27FC236}">
                    <a16:creationId xmlns:a16="http://schemas.microsoft.com/office/drawing/2014/main" id="{CCB1A6EC-1D79-4340-A83C-4B801BA6A8B1}"/>
                  </a:ext>
                </a:extLst>
              </p:cNvPr>
              <p:cNvSpPr>
                <a:spLocks noRot="1" noChangeAspect="1" noMove="1" noResize="1" noEditPoints="1" noAdjustHandles="1" noChangeArrowheads="1" noChangeShapeType="1" noTextEdit="1"/>
              </p:cNvSpPr>
              <p:nvPr/>
            </p:nvSpPr>
            <p:spPr>
              <a:xfrm>
                <a:off x="7740392" y="4723480"/>
                <a:ext cx="502381" cy="369332"/>
              </a:xfrm>
              <a:prstGeom prst="rect">
                <a:avLst/>
              </a:prstGeom>
              <a:blipFill>
                <a:blip r:embed="rId10"/>
                <a:stretch>
                  <a:fillRect b="-1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1EF9DC5E-5BE8-45D9-A026-02E970DFB8F9}"/>
                  </a:ext>
                </a:extLst>
              </p:cNvPr>
              <p:cNvSpPr/>
              <p:nvPr/>
            </p:nvSpPr>
            <p:spPr>
              <a:xfrm>
                <a:off x="8135249" y="4370355"/>
                <a:ext cx="5023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42" name="矩形 41">
                <a:extLst>
                  <a:ext uri="{FF2B5EF4-FFF2-40B4-BE49-F238E27FC236}">
                    <a16:creationId xmlns:a16="http://schemas.microsoft.com/office/drawing/2014/main" id="{1EF9DC5E-5BE8-45D9-A026-02E970DFB8F9}"/>
                  </a:ext>
                </a:extLst>
              </p:cNvPr>
              <p:cNvSpPr>
                <a:spLocks noRot="1" noChangeAspect="1" noMove="1" noResize="1" noEditPoints="1" noAdjustHandles="1" noChangeArrowheads="1" noChangeShapeType="1" noTextEdit="1"/>
              </p:cNvSpPr>
              <p:nvPr/>
            </p:nvSpPr>
            <p:spPr>
              <a:xfrm>
                <a:off x="8135249" y="4370355"/>
                <a:ext cx="502381" cy="369332"/>
              </a:xfrm>
              <a:prstGeom prst="rect">
                <a:avLst/>
              </a:prstGeom>
              <a:blipFill>
                <a:blip r:embed="rId11"/>
                <a:stretch>
                  <a:fillRect b="-9836"/>
                </a:stretch>
              </a:blipFill>
            </p:spPr>
            <p:txBody>
              <a:bodyPr/>
              <a:lstStyle/>
              <a:p>
                <a:r>
                  <a:rPr lang="zh-CN" altLang="en-US">
                    <a:noFill/>
                  </a:rPr>
                  <a:t> </a:t>
                </a:r>
              </a:p>
            </p:txBody>
          </p:sp>
        </mc:Fallback>
      </mc:AlternateContent>
      <p:sp>
        <p:nvSpPr>
          <p:cNvPr id="9" name="线形标注 1 8"/>
          <p:cNvSpPr/>
          <p:nvPr/>
        </p:nvSpPr>
        <p:spPr bwMode="auto">
          <a:xfrm>
            <a:off x="3654150" y="1131529"/>
            <a:ext cx="2338909" cy="612648"/>
          </a:xfrm>
          <a:prstGeom prst="borderCallout1">
            <a:avLst>
              <a:gd name="adj1" fmla="val 45887"/>
              <a:gd name="adj2" fmla="val -1868"/>
              <a:gd name="adj3" fmla="val 81292"/>
              <a:gd name="adj4" fmla="val -4202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联想到消费者行为决策部分的什么曲线？</a:t>
            </a:r>
          </a:p>
        </p:txBody>
      </p:sp>
      <p:sp>
        <p:nvSpPr>
          <p:cNvPr id="10" name="线形标注 1 9"/>
          <p:cNvSpPr/>
          <p:nvPr/>
        </p:nvSpPr>
        <p:spPr bwMode="auto">
          <a:xfrm>
            <a:off x="4716016" y="6068359"/>
            <a:ext cx="4347311" cy="672656"/>
          </a:xfrm>
          <a:prstGeom prst="borderCallout1">
            <a:avLst>
              <a:gd name="adj1" fmla="val 81"/>
              <a:gd name="adj2" fmla="val 59639"/>
              <a:gd name="adj3" fmla="val -48327"/>
              <a:gd name="adj4" fmla="val 5286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这些点不同之处是生产要素的配比不同，可以用</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政经</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里一个术语近似说明。</a:t>
            </a:r>
          </a:p>
        </p:txBody>
      </p:sp>
      <p:sp>
        <p:nvSpPr>
          <p:cNvPr id="17" name="线形标注 1 16"/>
          <p:cNvSpPr/>
          <p:nvPr/>
        </p:nvSpPr>
        <p:spPr bwMode="auto">
          <a:xfrm>
            <a:off x="1331640" y="6098870"/>
            <a:ext cx="1681336" cy="612648"/>
          </a:xfrm>
          <a:prstGeom prst="borderCallout1">
            <a:avLst>
              <a:gd name="adj1" fmla="val -2960"/>
              <a:gd name="adj2" fmla="val 55303"/>
              <a:gd name="adj3" fmla="val -84244"/>
              <a:gd name="adj4" fmla="val 5257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因为平面只能呈现两种要素</a:t>
            </a:r>
          </a:p>
        </p:txBody>
      </p:sp>
    </p:spTree>
    <p:extLst>
      <p:ext uri="{BB962C8B-B14F-4D97-AF65-F5344CB8AC3E}">
        <p14:creationId xmlns:p14="http://schemas.microsoft.com/office/powerpoint/2010/main" val="426032438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circle(in)">
                                      <p:cBhvr>
                                        <p:cTn id="14" dur="2000"/>
                                        <p:tgtEl>
                                          <p:spTgt spid="29"/>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barn(inVertical)">
                                      <p:cBhvr>
                                        <p:cTn id="19" dur="500"/>
                                        <p:tgtEl>
                                          <p:spTgt spid="33"/>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barn(inVertical)">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500"/>
                                        <p:tgtEl>
                                          <p:spTgt spid="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00"/>
                                        <p:tgtEl>
                                          <p:spTgt spid="3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500"/>
                                        <p:tgtEl>
                                          <p:spTgt spid="3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500"/>
                                        <p:tgtEl>
                                          <p:spTgt spid="3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6"/>
                                        </p:tgtEl>
                                        <p:attrNameLst>
                                          <p:attrName>style.visibility</p:attrName>
                                        </p:attrNameLst>
                                      </p:cBhvr>
                                      <p:to>
                                        <p:strVal val="visible"/>
                                      </p:to>
                                    </p:set>
                                    <p:animEffect transition="in" filter="fade">
                                      <p:cBhvr>
                                        <p:cTn id="48" dur="500"/>
                                        <p:tgtEl>
                                          <p:spTgt spid="3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animEffect transition="in" filter="fade">
                                      <p:cBhvr>
                                        <p:cTn id="51" dur="500"/>
                                        <p:tgtEl>
                                          <p:spTgt spid="3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8"/>
                                        </p:tgtEl>
                                        <p:attrNameLst>
                                          <p:attrName>style.visibility</p:attrName>
                                        </p:attrNameLst>
                                      </p:cBhvr>
                                      <p:to>
                                        <p:strVal val="visible"/>
                                      </p:to>
                                    </p:set>
                                    <p:animEffect transition="in" filter="fade">
                                      <p:cBhvr>
                                        <p:cTn id="54" dur="500"/>
                                        <p:tgtEl>
                                          <p:spTgt spid="3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fade">
                                      <p:cBhvr>
                                        <p:cTn id="57" dur="500"/>
                                        <p:tgtEl>
                                          <p:spTgt spid="3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fade">
                                      <p:cBhvr>
                                        <p:cTn id="60" dur="500"/>
                                        <p:tgtEl>
                                          <p:spTgt spid="40"/>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1"/>
                                        </p:tgtEl>
                                        <p:attrNameLst>
                                          <p:attrName>style.visibility</p:attrName>
                                        </p:attrNameLst>
                                      </p:cBhvr>
                                      <p:to>
                                        <p:strVal val="visible"/>
                                      </p:to>
                                    </p:set>
                                    <p:animEffect transition="in" filter="fade">
                                      <p:cBhvr>
                                        <p:cTn id="63" dur="500"/>
                                        <p:tgtEl>
                                          <p:spTgt spid="41"/>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2"/>
                                        </p:tgtEl>
                                        <p:attrNameLst>
                                          <p:attrName>style.visibility</p:attrName>
                                        </p:attrNameLst>
                                      </p:cBhvr>
                                      <p:to>
                                        <p:strVal val="visible"/>
                                      </p:to>
                                    </p:set>
                                    <p:animEffect transition="in" filter="fade">
                                      <p:cBhvr>
                                        <p:cTn id="66" dur="500"/>
                                        <p:tgtEl>
                                          <p:spTgt spid="42"/>
                                        </p:tgtEl>
                                      </p:cBhvr>
                                    </p:animEffect>
                                  </p:childTnLst>
                                </p:cTn>
                              </p:par>
                              <p:par>
                                <p:cTn id="67" presetID="10" presetClass="entr" presetSubtype="0" fill="hold" nodeType="withEffect">
                                  <p:stCondLst>
                                    <p:cond delay="0"/>
                                  </p:stCondLst>
                                  <p:childTnLst>
                                    <p:set>
                                      <p:cBhvr>
                                        <p:cTn id="68" dur="1" fill="hold">
                                          <p:stCondLst>
                                            <p:cond delay="0"/>
                                          </p:stCondLst>
                                        </p:cTn>
                                        <p:tgtEl>
                                          <p:spTgt spid="11"/>
                                        </p:tgtEl>
                                        <p:attrNameLst>
                                          <p:attrName>style.visibility</p:attrName>
                                        </p:attrNameLst>
                                      </p:cBhvr>
                                      <p:to>
                                        <p:strVal val="visible"/>
                                      </p:to>
                                    </p:set>
                                    <p:animEffect transition="in" filter="fade">
                                      <p:cBhvr>
                                        <p:cTn id="69" dur="500"/>
                                        <p:tgtEl>
                                          <p:spTgt spid="11"/>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wipe(left)">
                                      <p:cBhvr>
                                        <p:cTn id="74" dur="500"/>
                                        <p:tgtEl>
                                          <p:spTgt spid="2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wipe(left)">
                                      <p:cBhvr>
                                        <p:cTn id="79" dur="5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grpId="0" nodeType="click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wipe(left)">
                                      <p:cBhvr>
                                        <p:cTn id="8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 grpId="0" animBg="1"/>
      <p:bldP spid="4" grpId="0"/>
      <p:bldP spid="5" grpId="0" animBg="1"/>
      <p:bldP spid="6" grpId="0" animBg="1"/>
      <p:bldP spid="7" grpId="0" animBg="1"/>
      <p:bldP spid="8" grpId="0" animBg="1"/>
      <p:bldP spid="26" grpId="0"/>
      <p:bldP spid="27" grpId="0"/>
      <p:bldP spid="28" grpId="0"/>
      <p:bldP spid="29" grpId="0"/>
      <p:bldP spid="30" grpId="0"/>
      <p:bldP spid="31" grpId="0"/>
      <p:bldP spid="32" grpId="0"/>
      <p:bldP spid="36" grpId="0"/>
      <p:bldP spid="37" grpId="0"/>
      <p:bldP spid="38" grpId="0"/>
      <p:bldP spid="39" grpId="0"/>
      <p:bldP spid="40" grpId="0"/>
      <p:bldP spid="41" grpId="0"/>
      <p:bldP spid="4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圆角 24">
            <a:extLst>
              <a:ext uri="{FF2B5EF4-FFF2-40B4-BE49-F238E27FC236}">
                <a16:creationId xmlns:a16="http://schemas.microsoft.com/office/drawing/2014/main" id="{4B5B8745-9BC7-4671-9FF7-7733F24A9BD6}"/>
              </a:ext>
            </a:extLst>
          </p:cNvPr>
          <p:cNvSpPr/>
          <p:nvPr/>
        </p:nvSpPr>
        <p:spPr>
          <a:xfrm>
            <a:off x="1095345" y="1256965"/>
            <a:ext cx="2525049"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Group 36">
            <a:extLst>
              <a:ext uri="{FF2B5EF4-FFF2-40B4-BE49-F238E27FC236}">
                <a16:creationId xmlns:a16="http://schemas.microsoft.com/office/drawing/2014/main" id="{1CDE137B-A17F-4D64-9A05-581EC03C77D5}"/>
              </a:ext>
            </a:extLst>
          </p:cNvPr>
          <p:cNvGrpSpPr/>
          <p:nvPr/>
        </p:nvGrpSpPr>
        <p:grpSpPr>
          <a:xfrm flipH="1">
            <a:off x="1308274" y="2783341"/>
            <a:ext cx="1723593" cy="3490747"/>
            <a:chOff x="7346437" y="3001349"/>
            <a:chExt cx="3325083" cy="3856651"/>
          </a:xfrm>
          <a:solidFill>
            <a:srgbClr val="C3C9D7"/>
          </a:solidFill>
        </p:grpSpPr>
        <p:sp>
          <p:nvSpPr>
            <p:cNvPr id="10" name="Freeform 5">
              <a:extLst>
                <a:ext uri="{FF2B5EF4-FFF2-40B4-BE49-F238E27FC236}">
                  <a16:creationId xmlns:a16="http://schemas.microsoft.com/office/drawing/2014/main" id="{F0575AE9-AE80-41AB-A354-5DF823CEAE56}"/>
                </a:ext>
              </a:extLst>
            </p:cNvPr>
            <p:cNvSpPr/>
            <p:nvPr/>
          </p:nvSpPr>
          <p:spPr>
            <a:xfrm rot="16200000">
              <a:off x="7080653" y="3267133"/>
              <a:ext cx="3856651" cy="3325083"/>
            </a:xfrm>
            <a:custGeom>
              <a:avLst/>
              <a:gdLst>
                <a:gd name="connsiteX0" fmla="*/ 4242316 w 4242316"/>
                <a:gd name="connsiteY0" fmla="*/ 562708 h 3657591"/>
                <a:gd name="connsiteX1" fmla="*/ 4117817 w 4242316"/>
                <a:gd name="connsiteY1" fmla="*/ 562708 h 3657591"/>
                <a:gd name="connsiteX2" fmla="*/ 4117817 w 4242316"/>
                <a:gd name="connsiteY2" fmla="*/ 3094883 h 3657591"/>
                <a:gd name="connsiteX3" fmla="*/ 3555109 w 4242316"/>
                <a:gd name="connsiteY3" fmla="*/ 3657591 h 3657591"/>
                <a:gd name="connsiteX4" fmla="*/ 0 w 4242316"/>
                <a:gd name="connsiteY4" fmla="*/ 3657591 h 3657591"/>
                <a:gd name="connsiteX5" fmla="*/ 0 w 4242316"/>
                <a:gd name="connsiteY5" fmla="*/ 3094883 h 3657591"/>
                <a:gd name="connsiteX6" fmla="*/ 3555109 w 4242316"/>
                <a:gd name="connsiteY6" fmla="*/ 3094883 h 3657591"/>
                <a:gd name="connsiteX7" fmla="*/ 3555109 w 4242316"/>
                <a:gd name="connsiteY7" fmla="*/ 562708 h 3657591"/>
                <a:gd name="connsiteX8" fmla="*/ 3430609 w 4242316"/>
                <a:gd name="connsiteY8" fmla="*/ 562708 h 3657591"/>
                <a:gd name="connsiteX9" fmla="*/ 3836463 w 4242316"/>
                <a:gd name="connsiteY9" fmla="*/ 0 h 3657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42316" h="3657591">
                  <a:moveTo>
                    <a:pt x="4242316" y="562708"/>
                  </a:moveTo>
                  <a:lnTo>
                    <a:pt x="4117817" y="562708"/>
                  </a:lnTo>
                  <a:lnTo>
                    <a:pt x="4117817" y="3094883"/>
                  </a:lnTo>
                  <a:lnTo>
                    <a:pt x="3555109" y="3657591"/>
                  </a:lnTo>
                  <a:lnTo>
                    <a:pt x="0" y="3657591"/>
                  </a:lnTo>
                  <a:lnTo>
                    <a:pt x="0" y="3094883"/>
                  </a:lnTo>
                  <a:lnTo>
                    <a:pt x="3555109" y="3094883"/>
                  </a:lnTo>
                  <a:lnTo>
                    <a:pt x="3555109" y="562708"/>
                  </a:lnTo>
                  <a:lnTo>
                    <a:pt x="3430609" y="562708"/>
                  </a:lnTo>
                  <a:lnTo>
                    <a:pt x="383646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dirty="0">
                <a:solidFill>
                  <a:schemeClr val="tx1"/>
                </a:solidFill>
                <a:latin typeface="印品黑体" panose="00000500000000000000" pitchFamily="2" charset="-122"/>
                <a:ea typeface="印品黑体" panose="00000500000000000000" pitchFamily="2" charset="-122"/>
                <a:cs typeface="+mn-ea"/>
                <a:sym typeface="Arial" panose="020B0604020202020204" pitchFamily="34" charset="0"/>
              </a:endParaRPr>
            </a:p>
          </p:txBody>
        </p:sp>
        <p:sp>
          <p:nvSpPr>
            <p:cNvPr id="11" name="Freeform 15">
              <a:extLst>
                <a:ext uri="{FF2B5EF4-FFF2-40B4-BE49-F238E27FC236}">
                  <a16:creationId xmlns:a16="http://schemas.microsoft.com/office/drawing/2014/main" id="{FEEF2728-3F17-4BFA-823B-B1BC4110859B}"/>
                </a:ext>
              </a:extLst>
            </p:cNvPr>
            <p:cNvSpPr>
              <a:spLocks noEditPoints="1"/>
            </p:cNvSpPr>
            <p:nvPr/>
          </p:nvSpPr>
          <p:spPr bwMode="auto">
            <a:xfrm>
              <a:off x="8114765" y="3219376"/>
              <a:ext cx="566871" cy="301858"/>
            </a:xfrm>
            <a:custGeom>
              <a:avLst/>
              <a:gdLst>
                <a:gd name="T0" fmla="*/ 4 w 94"/>
                <a:gd name="T1" fmla="*/ 19 h 81"/>
                <a:gd name="T2" fmla="*/ 46 w 94"/>
                <a:gd name="T3" fmla="*/ 19 h 81"/>
                <a:gd name="T4" fmla="*/ 50 w 94"/>
                <a:gd name="T5" fmla="*/ 16 h 81"/>
                <a:gd name="T6" fmla="*/ 73 w 94"/>
                <a:gd name="T7" fmla="*/ 0 h 81"/>
                <a:gd name="T8" fmla="*/ 73 w 94"/>
                <a:gd name="T9" fmla="*/ 33 h 81"/>
                <a:gd name="T10" fmla="*/ 73 w 94"/>
                <a:gd name="T11" fmla="*/ 66 h 81"/>
                <a:gd name="T12" fmla="*/ 50 w 94"/>
                <a:gd name="T13" fmla="*/ 49 h 81"/>
                <a:gd name="T14" fmla="*/ 46 w 94"/>
                <a:gd name="T15" fmla="*/ 47 h 81"/>
                <a:gd name="T16" fmla="*/ 33 w 94"/>
                <a:gd name="T17" fmla="*/ 47 h 81"/>
                <a:gd name="T18" fmla="*/ 40 w 94"/>
                <a:gd name="T19" fmla="*/ 70 h 81"/>
                <a:gd name="T20" fmla="*/ 45 w 94"/>
                <a:gd name="T21" fmla="*/ 70 h 81"/>
                <a:gd name="T22" fmla="*/ 45 w 94"/>
                <a:gd name="T23" fmla="*/ 81 h 81"/>
                <a:gd name="T24" fmla="*/ 43 w 94"/>
                <a:gd name="T25" fmla="*/ 81 h 81"/>
                <a:gd name="T26" fmla="*/ 21 w 94"/>
                <a:gd name="T27" fmla="*/ 81 h 81"/>
                <a:gd name="T28" fmla="*/ 11 w 94"/>
                <a:gd name="T29" fmla="*/ 47 h 81"/>
                <a:gd name="T30" fmla="*/ 4 w 94"/>
                <a:gd name="T31" fmla="*/ 47 h 81"/>
                <a:gd name="T32" fmla="*/ 4 w 94"/>
                <a:gd name="T33" fmla="*/ 19 h 81"/>
                <a:gd name="T34" fmla="*/ 87 w 94"/>
                <a:gd name="T35" fmla="*/ 23 h 81"/>
                <a:gd name="T36" fmla="*/ 94 w 94"/>
                <a:gd name="T37" fmla="*/ 33 h 81"/>
                <a:gd name="T38" fmla="*/ 87 w 94"/>
                <a:gd name="T39" fmla="*/ 43 h 81"/>
                <a:gd name="T40" fmla="*/ 87 w 94"/>
                <a:gd name="T41" fmla="*/ 66 h 81"/>
                <a:gd name="T42" fmla="*/ 78 w 94"/>
                <a:gd name="T43" fmla="*/ 66 h 81"/>
                <a:gd name="T44" fmla="*/ 78 w 94"/>
                <a:gd name="T45" fmla="*/ 0 h 81"/>
                <a:gd name="T46" fmla="*/ 87 w 94"/>
                <a:gd name="T47" fmla="*/ 0 h 81"/>
                <a:gd name="T48" fmla="*/ 87 w 94"/>
                <a:gd name="T49" fmla="*/ 23 h 81"/>
                <a:gd name="T50" fmla="*/ 46 w 94"/>
                <a:gd name="T51" fmla="*/ 49 h 81"/>
                <a:gd name="T52" fmla="*/ 37 w 94"/>
                <a:gd name="T53" fmla="*/ 49 h 81"/>
                <a:gd name="T54" fmla="*/ 40 w 94"/>
                <a:gd name="T55" fmla="*/ 61 h 81"/>
                <a:gd name="T56" fmla="*/ 43 w 94"/>
                <a:gd name="T57" fmla="*/ 61 h 81"/>
                <a:gd name="T58" fmla="*/ 43 w 94"/>
                <a:gd name="T59" fmla="*/ 57 h 81"/>
                <a:gd name="T60" fmla="*/ 46 w 94"/>
                <a:gd name="T61" fmla="*/ 4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4" h="81">
                  <a:moveTo>
                    <a:pt x="4" y="19"/>
                  </a:moveTo>
                  <a:cubicBezTo>
                    <a:pt x="46" y="19"/>
                    <a:pt x="46" y="19"/>
                    <a:pt x="46" y="19"/>
                  </a:cubicBezTo>
                  <a:cubicBezTo>
                    <a:pt x="50" y="16"/>
                    <a:pt x="50" y="16"/>
                    <a:pt x="50" y="16"/>
                  </a:cubicBezTo>
                  <a:cubicBezTo>
                    <a:pt x="73" y="0"/>
                    <a:pt x="73" y="0"/>
                    <a:pt x="73" y="0"/>
                  </a:cubicBezTo>
                  <a:cubicBezTo>
                    <a:pt x="73" y="33"/>
                    <a:pt x="73" y="33"/>
                    <a:pt x="73" y="33"/>
                  </a:cubicBezTo>
                  <a:cubicBezTo>
                    <a:pt x="73" y="66"/>
                    <a:pt x="73" y="66"/>
                    <a:pt x="73" y="66"/>
                  </a:cubicBezTo>
                  <a:cubicBezTo>
                    <a:pt x="50" y="49"/>
                    <a:pt x="50" y="49"/>
                    <a:pt x="50" y="49"/>
                  </a:cubicBezTo>
                  <a:cubicBezTo>
                    <a:pt x="46" y="47"/>
                    <a:pt x="46" y="47"/>
                    <a:pt x="46" y="47"/>
                  </a:cubicBezTo>
                  <a:cubicBezTo>
                    <a:pt x="33" y="47"/>
                    <a:pt x="33" y="47"/>
                    <a:pt x="33" y="47"/>
                  </a:cubicBezTo>
                  <a:cubicBezTo>
                    <a:pt x="40" y="70"/>
                    <a:pt x="40" y="70"/>
                    <a:pt x="40" y="70"/>
                  </a:cubicBezTo>
                  <a:cubicBezTo>
                    <a:pt x="45" y="70"/>
                    <a:pt x="45" y="70"/>
                    <a:pt x="45" y="70"/>
                  </a:cubicBezTo>
                  <a:cubicBezTo>
                    <a:pt x="45" y="81"/>
                    <a:pt x="45" y="81"/>
                    <a:pt x="45" y="81"/>
                  </a:cubicBezTo>
                  <a:cubicBezTo>
                    <a:pt x="43" y="81"/>
                    <a:pt x="43" y="81"/>
                    <a:pt x="43" y="81"/>
                  </a:cubicBezTo>
                  <a:cubicBezTo>
                    <a:pt x="21" y="81"/>
                    <a:pt x="21" y="81"/>
                    <a:pt x="21" y="81"/>
                  </a:cubicBezTo>
                  <a:cubicBezTo>
                    <a:pt x="11" y="47"/>
                    <a:pt x="11" y="47"/>
                    <a:pt x="11" y="47"/>
                  </a:cubicBezTo>
                  <a:cubicBezTo>
                    <a:pt x="4" y="47"/>
                    <a:pt x="4" y="47"/>
                    <a:pt x="4" y="47"/>
                  </a:cubicBezTo>
                  <a:cubicBezTo>
                    <a:pt x="0" y="37"/>
                    <a:pt x="0" y="28"/>
                    <a:pt x="4" y="19"/>
                  </a:cubicBezTo>
                  <a:close/>
                  <a:moveTo>
                    <a:pt x="87" y="23"/>
                  </a:moveTo>
                  <a:cubicBezTo>
                    <a:pt x="91" y="24"/>
                    <a:pt x="94" y="28"/>
                    <a:pt x="94" y="33"/>
                  </a:cubicBezTo>
                  <a:cubicBezTo>
                    <a:pt x="94" y="38"/>
                    <a:pt x="91" y="42"/>
                    <a:pt x="87" y="43"/>
                  </a:cubicBezTo>
                  <a:cubicBezTo>
                    <a:pt x="87" y="66"/>
                    <a:pt x="87" y="66"/>
                    <a:pt x="87" y="66"/>
                  </a:cubicBezTo>
                  <a:cubicBezTo>
                    <a:pt x="78" y="66"/>
                    <a:pt x="78" y="66"/>
                    <a:pt x="78" y="66"/>
                  </a:cubicBezTo>
                  <a:cubicBezTo>
                    <a:pt x="78" y="0"/>
                    <a:pt x="78" y="0"/>
                    <a:pt x="78" y="0"/>
                  </a:cubicBezTo>
                  <a:cubicBezTo>
                    <a:pt x="87" y="0"/>
                    <a:pt x="87" y="0"/>
                    <a:pt x="87" y="0"/>
                  </a:cubicBezTo>
                  <a:cubicBezTo>
                    <a:pt x="87" y="23"/>
                    <a:pt x="87" y="23"/>
                    <a:pt x="87" y="23"/>
                  </a:cubicBezTo>
                  <a:close/>
                  <a:moveTo>
                    <a:pt x="46" y="49"/>
                  </a:moveTo>
                  <a:cubicBezTo>
                    <a:pt x="37" y="49"/>
                    <a:pt x="37" y="49"/>
                    <a:pt x="37" y="49"/>
                  </a:cubicBezTo>
                  <a:cubicBezTo>
                    <a:pt x="40" y="61"/>
                    <a:pt x="40" y="61"/>
                    <a:pt x="40" y="61"/>
                  </a:cubicBezTo>
                  <a:cubicBezTo>
                    <a:pt x="43" y="61"/>
                    <a:pt x="43" y="61"/>
                    <a:pt x="43" y="61"/>
                  </a:cubicBezTo>
                  <a:cubicBezTo>
                    <a:pt x="43" y="57"/>
                    <a:pt x="43" y="57"/>
                    <a:pt x="43" y="57"/>
                  </a:cubicBezTo>
                  <a:lnTo>
                    <a:pt x="46" y="49"/>
                  </a:lnTo>
                  <a:close/>
                </a:path>
              </a:pathLst>
            </a:custGeom>
            <a:solidFill>
              <a:schemeClr val="bg1"/>
            </a:solidFill>
            <a:ln>
              <a:noFill/>
            </a:ln>
          </p:spPr>
          <p:txBody>
            <a:bodyPr vert="horz" wrap="square" lIns="83743" tIns="41872" rIns="83743" bIns="41872"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dirty="0">
                <a:latin typeface="印品黑体" panose="00000500000000000000" pitchFamily="2" charset="-122"/>
                <a:ea typeface="印品黑体" panose="00000500000000000000" pitchFamily="2" charset="-122"/>
                <a:cs typeface="+mn-ea"/>
                <a:sym typeface="Arial" panose="020B0604020202020204" pitchFamily="34" charset="0"/>
              </a:endParaRPr>
            </a:p>
          </p:txBody>
        </p:sp>
      </p:grpSp>
      <p:grpSp>
        <p:nvGrpSpPr>
          <p:cNvPr id="12" name="Group 37">
            <a:extLst>
              <a:ext uri="{FF2B5EF4-FFF2-40B4-BE49-F238E27FC236}">
                <a16:creationId xmlns:a16="http://schemas.microsoft.com/office/drawing/2014/main" id="{C6A5E1FD-BF24-48CA-9BB0-A45383ABAFF3}"/>
              </a:ext>
            </a:extLst>
          </p:cNvPr>
          <p:cNvGrpSpPr/>
          <p:nvPr/>
        </p:nvGrpSpPr>
        <p:grpSpPr>
          <a:xfrm flipH="1">
            <a:off x="1946294" y="3604100"/>
            <a:ext cx="1515940" cy="2671751"/>
            <a:chOff x="4109999" y="3972952"/>
            <a:chExt cx="2621703" cy="2900101"/>
          </a:xfrm>
          <a:solidFill>
            <a:srgbClr val="C3C9D7"/>
          </a:solidFill>
        </p:grpSpPr>
        <p:sp>
          <p:nvSpPr>
            <p:cNvPr id="13" name="Freeform 4">
              <a:extLst>
                <a:ext uri="{FF2B5EF4-FFF2-40B4-BE49-F238E27FC236}">
                  <a16:creationId xmlns:a16="http://schemas.microsoft.com/office/drawing/2014/main" id="{AA6BCF74-C483-477E-A5E2-FB70EBDD81DD}"/>
                </a:ext>
              </a:extLst>
            </p:cNvPr>
            <p:cNvSpPr/>
            <p:nvPr/>
          </p:nvSpPr>
          <p:spPr>
            <a:xfrm rot="16200000">
              <a:off x="3970800" y="4112151"/>
              <a:ext cx="2900101" cy="2621703"/>
            </a:xfrm>
            <a:custGeom>
              <a:avLst/>
              <a:gdLst>
                <a:gd name="connsiteX0" fmla="*/ 2496508 w 3190111"/>
                <a:gd name="connsiteY0" fmla="*/ 2321164 h 2883873"/>
                <a:gd name="connsiteX1" fmla="*/ 2496508 w 3190111"/>
                <a:gd name="connsiteY1" fmla="*/ 2883872 h 2883873"/>
                <a:gd name="connsiteX2" fmla="*/ 0 w 3190111"/>
                <a:gd name="connsiteY2" fmla="*/ 2883872 h 2883873"/>
                <a:gd name="connsiteX3" fmla="*/ 0 w 3190111"/>
                <a:gd name="connsiteY3" fmla="*/ 2321164 h 2883873"/>
                <a:gd name="connsiteX4" fmla="*/ 3190111 w 3190111"/>
                <a:gd name="connsiteY4" fmla="*/ 562708 h 2883873"/>
                <a:gd name="connsiteX5" fmla="*/ 3062414 w 3190111"/>
                <a:gd name="connsiteY5" fmla="*/ 562708 h 2883873"/>
                <a:gd name="connsiteX6" fmla="*/ 3062414 w 3190111"/>
                <a:gd name="connsiteY6" fmla="*/ 2321165 h 2883873"/>
                <a:gd name="connsiteX7" fmla="*/ 3065612 w 3190111"/>
                <a:gd name="connsiteY7" fmla="*/ 2321165 h 2883873"/>
                <a:gd name="connsiteX8" fmla="*/ 2499706 w 3190111"/>
                <a:gd name="connsiteY8" fmla="*/ 2883873 h 2883873"/>
                <a:gd name="connsiteX9" fmla="*/ 2499706 w 3190111"/>
                <a:gd name="connsiteY9" fmla="*/ 2321165 h 2883873"/>
                <a:gd name="connsiteX10" fmla="*/ 2499706 w 3190111"/>
                <a:gd name="connsiteY10" fmla="*/ 562708 h 2883873"/>
                <a:gd name="connsiteX11" fmla="*/ 2378404 w 3190111"/>
                <a:gd name="connsiteY11" fmla="*/ 562708 h 2883873"/>
                <a:gd name="connsiteX12" fmla="*/ 2784258 w 3190111"/>
                <a:gd name="connsiteY12" fmla="*/ 0 h 2883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0111" h="2883873">
                  <a:moveTo>
                    <a:pt x="2496508" y="2321164"/>
                  </a:moveTo>
                  <a:lnTo>
                    <a:pt x="2496508" y="2883872"/>
                  </a:lnTo>
                  <a:lnTo>
                    <a:pt x="0" y="2883872"/>
                  </a:lnTo>
                  <a:lnTo>
                    <a:pt x="0" y="2321164"/>
                  </a:lnTo>
                  <a:close/>
                  <a:moveTo>
                    <a:pt x="3190111" y="562708"/>
                  </a:moveTo>
                  <a:lnTo>
                    <a:pt x="3062414" y="562708"/>
                  </a:lnTo>
                  <a:lnTo>
                    <a:pt x="3062414" y="2321165"/>
                  </a:lnTo>
                  <a:lnTo>
                    <a:pt x="3065612" y="2321165"/>
                  </a:lnTo>
                  <a:lnTo>
                    <a:pt x="2499706" y="2883873"/>
                  </a:lnTo>
                  <a:lnTo>
                    <a:pt x="2499706" y="2321165"/>
                  </a:lnTo>
                  <a:lnTo>
                    <a:pt x="2499706" y="562708"/>
                  </a:lnTo>
                  <a:lnTo>
                    <a:pt x="2378404" y="562708"/>
                  </a:lnTo>
                  <a:lnTo>
                    <a:pt x="2784258"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dirty="0">
                <a:solidFill>
                  <a:schemeClr val="tx1"/>
                </a:solidFill>
                <a:latin typeface="印品黑体" panose="00000500000000000000" pitchFamily="2" charset="-122"/>
                <a:ea typeface="印品黑体" panose="00000500000000000000" pitchFamily="2" charset="-122"/>
                <a:cs typeface="+mn-ea"/>
                <a:sym typeface="Arial" panose="020B0604020202020204" pitchFamily="34" charset="0"/>
              </a:endParaRPr>
            </a:p>
          </p:txBody>
        </p:sp>
        <p:sp>
          <p:nvSpPr>
            <p:cNvPr id="14" name="Freeform 16">
              <a:extLst>
                <a:ext uri="{FF2B5EF4-FFF2-40B4-BE49-F238E27FC236}">
                  <a16:creationId xmlns:a16="http://schemas.microsoft.com/office/drawing/2014/main" id="{4E0AFBAC-A2C8-4CDD-A46C-280676A63516}"/>
                </a:ext>
              </a:extLst>
            </p:cNvPr>
            <p:cNvSpPr>
              <a:spLocks noEditPoints="1"/>
            </p:cNvSpPr>
            <p:nvPr/>
          </p:nvSpPr>
          <p:spPr bwMode="auto">
            <a:xfrm>
              <a:off x="4661464" y="4175706"/>
              <a:ext cx="518058" cy="338289"/>
            </a:xfrm>
            <a:custGeom>
              <a:avLst/>
              <a:gdLst>
                <a:gd name="T0" fmla="*/ 36 w 101"/>
                <a:gd name="T1" fmla="*/ 77 h 90"/>
                <a:gd name="T2" fmla="*/ 39 w 101"/>
                <a:gd name="T3" fmla="*/ 80 h 90"/>
                <a:gd name="T4" fmla="*/ 42 w 101"/>
                <a:gd name="T5" fmla="*/ 80 h 90"/>
                <a:gd name="T6" fmla="*/ 44 w 101"/>
                <a:gd name="T7" fmla="*/ 79 h 90"/>
                <a:gd name="T8" fmla="*/ 46 w 101"/>
                <a:gd name="T9" fmla="*/ 75 h 90"/>
                <a:gd name="T10" fmla="*/ 46 w 101"/>
                <a:gd name="T11" fmla="*/ 75 h 90"/>
                <a:gd name="T12" fmla="*/ 46 w 101"/>
                <a:gd name="T13" fmla="*/ 47 h 90"/>
                <a:gd name="T14" fmla="*/ 30 w 101"/>
                <a:gd name="T15" fmla="*/ 52 h 90"/>
                <a:gd name="T16" fmla="*/ 0 w 101"/>
                <a:gd name="T17" fmla="*/ 52 h 90"/>
                <a:gd name="T18" fmla="*/ 44 w 101"/>
                <a:gd name="T19" fmla="*/ 6 h 90"/>
                <a:gd name="T20" fmla="*/ 46 w 101"/>
                <a:gd name="T21" fmla="*/ 0 h 90"/>
                <a:gd name="T22" fmla="*/ 55 w 101"/>
                <a:gd name="T23" fmla="*/ 0 h 90"/>
                <a:gd name="T24" fmla="*/ 57 w 101"/>
                <a:gd name="T25" fmla="*/ 6 h 90"/>
                <a:gd name="T26" fmla="*/ 101 w 101"/>
                <a:gd name="T27" fmla="*/ 52 h 90"/>
                <a:gd name="T28" fmla="*/ 72 w 101"/>
                <a:gd name="T29" fmla="*/ 52 h 90"/>
                <a:gd name="T30" fmla="*/ 56 w 101"/>
                <a:gd name="T31" fmla="*/ 47 h 90"/>
                <a:gd name="T32" fmla="*/ 56 w 101"/>
                <a:gd name="T33" fmla="*/ 75 h 90"/>
                <a:gd name="T34" fmla="*/ 56 w 101"/>
                <a:gd name="T35" fmla="*/ 75 h 90"/>
                <a:gd name="T36" fmla="*/ 50 w 101"/>
                <a:gd name="T37" fmla="*/ 88 h 90"/>
                <a:gd name="T38" fmla="*/ 43 w 101"/>
                <a:gd name="T39" fmla="*/ 90 h 90"/>
                <a:gd name="T40" fmla="*/ 36 w 101"/>
                <a:gd name="T41" fmla="*/ 89 h 90"/>
                <a:gd name="T42" fmla="*/ 26 w 101"/>
                <a:gd name="T43" fmla="*/ 79 h 90"/>
                <a:gd name="T44" fmla="*/ 36 w 101"/>
                <a:gd name="T45" fmla="*/ 77 h 90"/>
                <a:gd name="T46" fmla="*/ 72 w 101"/>
                <a:gd name="T47" fmla="*/ 43 h 90"/>
                <a:gd name="T48" fmla="*/ 80 w 101"/>
                <a:gd name="T49" fmla="*/ 41 h 90"/>
                <a:gd name="T50" fmla="*/ 57 w 101"/>
                <a:gd name="T51" fmla="*/ 13 h 90"/>
                <a:gd name="T52" fmla="*/ 72 w 101"/>
                <a:gd name="T53" fmla="*/ 43 h 90"/>
                <a:gd name="T54" fmla="*/ 10 w 101"/>
                <a:gd name="T55" fmla="*/ 40 h 90"/>
                <a:gd name="T56" fmla="*/ 20 w 101"/>
                <a:gd name="T57" fmla="*/ 39 h 90"/>
                <a:gd name="T58" fmla="*/ 33 w 101"/>
                <a:gd name="T59" fmla="*/ 16 h 90"/>
                <a:gd name="T60" fmla="*/ 10 w 101"/>
                <a:gd name="T61" fmla="*/ 4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1" h="90">
                  <a:moveTo>
                    <a:pt x="36" y="77"/>
                  </a:moveTo>
                  <a:cubicBezTo>
                    <a:pt x="36" y="78"/>
                    <a:pt x="37" y="79"/>
                    <a:pt x="39" y="80"/>
                  </a:cubicBezTo>
                  <a:cubicBezTo>
                    <a:pt x="40" y="80"/>
                    <a:pt x="41" y="80"/>
                    <a:pt x="42" y="80"/>
                  </a:cubicBezTo>
                  <a:cubicBezTo>
                    <a:pt x="43" y="80"/>
                    <a:pt x="43" y="79"/>
                    <a:pt x="44" y="79"/>
                  </a:cubicBezTo>
                  <a:cubicBezTo>
                    <a:pt x="45" y="78"/>
                    <a:pt x="46" y="77"/>
                    <a:pt x="46" y="75"/>
                  </a:cubicBezTo>
                  <a:cubicBezTo>
                    <a:pt x="46" y="75"/>
                    <a:pt x="46" y="75"/>
                    <a:pt x="46" y="75"/>
                  </a:cubicBezTo>
                  <a:cubicBezTo>
                    <a:pt x="46" y="47"/>
                    <a:pt x="46" y="47"/>
                    <a:pt x="46" y="47"/>
                  </a:cubicBezTo>
                  <a:cubicBezTo>
                    <a:pt x="39" y="47"/>
                    <a:pt x="34" y="49"/>
                    <a:pt x="30" y="52"/>
                  </a:cubicBezTo>
                  <a:cubicBezTo>
                    <a:pt x="19" y="47"/>
                    <a:pt x="9" y="47"/>
                    <a:pt x="0" y="52"/>
                  </a:cubicBezTo>
                  <a:cubicBezTo>
                    <a:pt x="2" y="26"/>
                    <a:pt x="16" y="9"/>
                    <a:pt x="44" y="6"/>
                  </a:cubicBezTo>
                  <a:cubicBezTo>
                    <a:pt x="46" y="0"/>
                    <a:pt x="46" y="0"/>
                    <a:pt x="46" y="0"/>
                  </a:cubicBezTo>
                  <a:cubicBezTo>
                    <a:pt x="55" y="0"/>
                    <a:pt x="55" y="0"/>
                    <a:pt x="55" y="0"/>
                  </a:cubicBezTo>
                  <a:cubicBezTo>
                    <a:pt x="57" y="6"/>
                    <a:pt x="57" y="6"/>
                    <a:pt x="57" y="6"/>
                  </a:cubicBezTo>
                  <a:cubicBezTo>
                    <a:pt x="85" y="9"/>
                    <a:pt x="99" y="26"/>
                    <a:pt x="101" y="52"/>
                  </a:cubicBezTo>
                  <a:cubicBezTo>
                    <a:pt x="92" y="47"/>
                    <a:pt x="83" y="47"/>
                    <a:pt x="72" y="52"/>
                  </a:cubicBezTo>
                  <a:cubicBezTo>
                    <a:pt x="67" y="49"/>
                    <a:pt x="63" y="47"/>
                    <a:pt x="56" y="47"/>
                  </a:cubicBezTo>
                  <a:cubicBezTo>
                    <a:pt x="56" y="75"/>
                    <a:pt x="56" y="75"/>
                    <a:pt x="56" y="75"/>
                  </a:cubicBezTo>
                  <a:cubicBezTo>
                    <a:pt x="56" y="75"/>
                    <a:pt x="56" y="75"/>
                    <a:pt x="56" y="75"/>
                  </a:cubicBezTo>
                  <a:cubicBezTo>
                    <a:pt x="56" y="81"/>
                    <a:pt x="54" y="85"/>
                    <a:pt x="50" y="88"/>
                  </a:cubicBezTo>
                  <a:cubicBezTo>
                    <a:pt x="48" y="89"/>
                    <a:pt x="45" y="90"/>
                    <a:pt x="43" y="90"/>
                  </a:cubicBezTo>
                  <a:cubicBezTo>
                    <a:pt x="40" y="90"/>
                    <a:pt x="38" y="90"/>
                    <a:pt x="36" y="89"/>
                  </a:cubicBezTo>
                  <a:cubicBezTo>
                    <a:pt x="31" y="88"/>
                    <a:pt x="27" y="84"/>
                    <a:pt x="26" y="79"/>
                  </a:cubicBezTo>
                  <a:cubicBezTo>
                    <a:pt x="36" y="77"/>
                    <a:pt x="36" y="77"/>
                    <a:pt x="36" y="77"/>
                  </a:cubicBezTo>
                  <a:close/>
                  <a:moveTo>
                    <a:pt x="72" y="43"/>
                  </a:moveTo>
                  <a:cubicBezTo>
                    <a:pt x="75" y="42"/>
                    <a:pt x="77" y="41"/>
                    <a:pt x="80" y="41"/>
                  </a:cubicBezTo>
                  <a:cubicBezTo>
                    <a:pt x="78" y="23"/>
                    <a:pt x="69" y="16"/>
                    <a:pt x="57" y="13"/>
                  </a:cubicBezTo>
                  <a:cubicBezTo>
                    <a:pt x="67" y="20"/>
                    <a:pt x="73" y="29"/>
                    <a:pt x="72" y="43"/>
                  </a:cubicBezTo>
                  <a:close/>
                  <a:moveTo>
                    <a:pt x="10" y="40"/>
                  </a:moveTo>
                  <a:cubicBezTo>
                    <a:pt x="14" y="40"/>
                    <a:pt x="17" y="40"/>
                    <a:pt x="20" y="39"/>
                  </a:cubicBezTo>
                  <a:cubicBezTo>
                    <a:pt x="25" y="31"/>
                    <a:pt x="29" y="23"/>
                    <a:pt x="33" y="16"/>
                  </a:cubicBezTo>
                  <a:cubicBezTo>
                    <a:pt x="20" y="19"/>
                    <a:pt x="13" y="27"/>
                    <a:pt x="10" y="40"/>
                  </a:cubicBezTo>
                  <a:close/>
                </a:path>
              </a:pathLst>
            </a:custGeom>
            <a:solidFill>
              <a:schemeClr val="bg1"/>
            </a:solidFill>
            <a:ln>
              <a:noFill/>
            </a:ln>
          </p:spPr>
          <p:txBody>
            <a:bodyPr vert="horz" wrap="square" lIns="83743" tIns="41872" rIns="83743" bIns="41872"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dirty="0">
                <a:latin typeface="印品黑体" panose="00000500000000000000" pitchFamily="2" charset="-122"/>
                <a:ea typeface="印品黑体" panose="00000500000000000000" pitchFamily="2" charset="-122"/>
                <a:cs typeface="+mn-ea"/>
                <a:sym typeface="Arial" panose="020B0604020202020204" pitchFamily="34" charset="0"/>
              </a:endParaRPr>
            </a:p>
          </p:txBody>
        </p:sp>
      </p:grpSp>
      <p:grpSp>
        <p:nvGrpSpPr>
          <p:cNvPr id="15" name="Group 35">
            <a:extLst>
              <a:ext uri="{FF2B5EF4-FFF2-40B4-BE49-F238E27FC236}">
                <a16:creationId xmlns:a16="http://schemas.microsoft.com/office/drawing/2014/main" id="{828E1528-E0FC-477E-BCB2-95CA3AD8A2E3}"/>
              </a:ext>
            </a:extLst>
          </p:cNvPr>
          <p:cNvGrpSpPr/>
          <p:nvPr/>
        </p:nvGrpSpPr>
        <p:grpSpPr>
          <a:xfrm flipH="1">
            <a:off x="720882" y="2042419"/>
            <a:ext cx="1885288" cy="4231668"/>
            <a:chOff x="7346438" y="2049265"/>
            <a:chExt cx="4028463" cy="4808735"/>
          </a:xfrm>
          <a:solidFill>
            <a:srgbClr val="C3C9D7"/>
          </a:solidFill>
        </p:grpSpPr>
        <p:sp>
          <p:nvSpPr>
            <p:cNvPr id="16" name="Freeform 6">
              <a:extLst>
                <a:ext uri="{FF2B5EF4-FFF2-40B4-BE49-F238E27FC236}">
                  <a16:creationId xmlns:a16="http://schemas.microsoft.com/office/drawing/2014/main" id="{1AF9E34C-E5C4-430D-AE3C-AF1F3EBD2DE8}"/>
                </a:ext>
              </a:extLst>
            </p:cNvPr>
            <p:cNvSpPr/>
            <p:nvPr/>
          </p:nvSpPr>
          <p:spPr>
            <a:xfrm rot="16200000">
              <a:off x="6956302" y="2439401"/>
              <a:ext cx="4808735" cy="4028463"/>
            </a:xfrm>
            <a:custGeom>
              <a:avLst/>
              <a:gdLst>
                <a:gd name="connsiteX0" fmla="*/ 5289608 w 5289608"/>
                <a:gd name="connsiteY0" fmla="*/ 562708 h 4431309"/>
                <a:gd name="connsiteX1" fmla="*/ 5165108 w 5289608"/>
                <a:gd name="connsiteY1" fmla="*/ 562708 h 4431309"/>
                <a:gd name="connsiteX2" fmla="*/ 5165108 w 5289608"/>
                <a:gd name="connsiteY2" fmla="*/ 3868601 h 4431309"/>
                <a:gd name="connsiteX3" fmla="*/ 4602401 w 5289608"/>
                <a:gd name="connsiteY3" fmla="*/ 4431309 h 4431309"/>
                <a:gd name="connsiteX4" fmla="*/ 0 w 5289608"/>
                <a:gd name="connsiteY4" fmla="*/ 4431309 h 4431309"/>
                <a:gd name="connsiteX5" fmla="*/ 0 w 5289608"/>
                <a:gd name="connsiteY5" fmla="*/ 3868601 h 4431309"/>
                <a:gd name="connsiteX6" fmla="*/ 4602401 w 5289608"/>
                <a:gd name="connsiteY6" fmla="*/ 3868601 h 4431309"/>
                <a:gd name="connsiteX7" fmla="*/ 4602401 w 5289608"/>
                <a:gd name="connsiteY7" fmla="*/ 562708 h 4431309"/>
                <a:gd name="connsiteX8" fmla="*/ 4477901 w 5289608"/>
                <a:gd name="connsiteY8" fmla="*/ 562708 h 4431309"/>
                <a:gd name="connsiteX9" fmla="*/ 4883755 w 5289608"/>
                <a:gd name="connsiteY9" fmla="*/ 0 h 4431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89608" h="4431309">
                  <a:moveTo>
                    <a:pt x="5289608" y="562708"/>
                  </a:moveTo>
                  <a:lnTo>
                    <a:pt x="5165108" y="562708"/>
                  </a:lnTo>
                  <a:lnTo>
                    <a:pt x="5165108" y="3868601"/>
                  </a:lnTo>
                  <a:lnTo>
                    <a:pt x="4602401" y="4431309"/>
                  </a:lnTo>
                  <a:lnTo>
                    <a:pt x="0" y="4431309"/>
                  </a:lnTo>
                  <a:lnTo>
                    <a:pt x="0" y="3868601"/>
                  </a:lnTo>
                  <a:lnTo>
                    <a:pt x="4602401" y="3868601"/>
                  </a:lnTo>
                  <a:lnTo>
                    <a:pt x="4602401" y="562708"/>
                  </a:lnTo>
                  <a:lnTo>
                    <a:pt x="4477901" y="562708"/>
                  </a:lnTo>
                  <a:lnTo>
                    <a:pt x="4883755"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dirty="0">
                <a:solidFill>
                  <a:schemeClr val="tx1"/>
                </a:solidFill>
                <a:latin typeface="印品黑体" panose="00000500000000000000" pitchFamily="2" charset="-122"/>
                <a:ea typeface="印品黑体" panose="00000500000000000000" pitchFamily="2" charset="-122"/>
                <a:cs typeface="+mn-ea"/>
                <a:sym typeface="Arial" panose="020B0604020202020204" pitchFamily="34" charset="0"/>
              </a:endParaRPr>
            </a:p>
          </p:txBody>
        </p:sp>
        <p:sp>
          <p:nvSpPr>
            <p:cNvPr id="17" name="Freeform 17">
              <a:extLst>
                <a:ext uri="{FF2B5EF4-FFF2-40B4-BE49-F238E27FC236}">
                  <a16:creationId xmlns:a16="http://schemas.microsoft.com/office/drawing/2014/main" id="{4335DBCE-CD57-42A0-B0D4-AAA062EAE22A}"/>
                </a:ext>
              </a:extLst>
            </p:cNvPr>
            <p:cNvSpPr>
              <a:spLocks noEditPoints="1"/>
            </p:cNvSpPr>
            <p:nvPr/>
          </p:nvSpPr>
          <p:spPr bwMode="auto">
            <a:xfrm>
              <a:off x="8069587" y="2231727"/>
              <a:ext cx="686871" cy="372985"/>
            </a:xfrm>
            <a:custGeom>
              <a:avLst/>
              <a:gdLst>
                <a:gd name="T0" fmla="*/ 49 w 99"/>
                <a:gd name="T1" fmla="*/ 0 h 100"/>
                <a:gd name="T2" fmla="*/ 99 w 99"/>
                <a:gd name="T3" fmla="*/ 50 h 100"/>
                <a:gd name="T4" fmla="*/ 49 w 99"/>
                <a:gd name="T5" fmla="*/ 100 h 100"/>
                <a:gd name="T6" fmla="*/ 0 w 99"/>
                <a:gd name="T7" fmla="*/ 50 h 100"/>
                <a:gd name="T8" fmla="*/ 49 w 99"/>
                <a:gd name="T9" fmla="*/ 0 h 100"/>
                <a:gd name="T10" fmla="*/ 45 w 99"/>
                <a:gd name="T11" fmla="*/ 15 h 100"/>
                <a:gd name="T12" fmla="*/ 45 w 99"/>
                <a:gd name="T13" fmla="*/ 44 h 100"/>
                <a:gd name="T14" fmla="*/ 54 w 99"/>
                <a:gd name="T15" fmla="*/ 44 h 100"/>
                <a:gd name="T16" fmla="*/ 54 w 99"/>
                <a:gd name="T17" fmla="*/ 15 h 100"/>
                <a:gd name="T18" fmla="*/ 45 w 99"/>
                <a:gd name="T19" fmla="*/ 15 h 100"/>
                <a:gd name="T20" fmla="*/ 67 w 99"/>
                <a:gd name="T21" fmla="*/ 24 h 100"/>
                <a:gd name="T22" fmla="*/ 61 w 99"/>
                <a:gd name="T23" fmla="*/ 32 h 100"/>
                <a:gd name="T24" fmla="*/ 64 w 99"/>
                <a:gd name="T25" fmla="*/ 35 h 100"/>
                <a:gd name="T26" fmla="*/ 70 w 99"/>
                <a:gd name="T27" fmla="*/ 50 h 100"/>
                <a:gd name="T28" fmla="*/ 64 w 99"/>
                <a:gd name="T29" fmla="*/ 65 h 100"/>
                <a:gd name="T30" fmla="*/ 49 w 99"/>
                <a:gd name="T31" fmla="*/ 71 h 100"/>
                <a:gd name="T32" fmla="*/ 35 w 99"/>
                <a:gd name="T33" fmla="*/ 65 h 100"/>
                <a:gd name="T34" fmla="*/ 28 w 99"/>
                <a:gd name="T35" fmla="*/ 50 h 100"/>
                <a:gd name="T36" fmla="*/ 35 w 99"/>
                <a:gd name="T37" fmla="*/ 35 h 100"/>
                <a:gd name="T38" fmla="*/ 37 w 99"/>
                <a:gd name="T39" fmla="*/ 32 h 100"/>
                <a:gd name="T40" fmla="*/ 31 w 99"/>
                <a:gd name="T41" fmla="*/ 24 h 100"/>
                <a:gd name="T42" fmla="*/ 27 w 99"/>
                <a:gd name="T43" fmla="*/ 28 h 100"/>
                <a:gd name="T44" fmla="*/ 18 w 99"/>
                <a:gd name="T45" fmla="*/ 50 h 100"/>
                <a:gd name="T46" fmla="*/ 27 w 99"/>
                <a:gd name="T47" fmla="*/ 72 h 100"/>
                <a:gd name="T48" fmla="*/ 49 w 99"/>
                <a:gd name="T49" fmla="*/ 81 h 100"/>
                <a:gd name="T50" fmla="*/ 72 w 99"/>
                <a:gd name="T51" fmla="*/ 72 h 100"/>
                <a:gd name="T52" fmla="*/ 81 w 99"/>
                <a:gd name="T53" fmla="*/ 50 h 100"/>
                <a:gd name="T54" fmla="*/ 72 w 99"/>
                <a:gd name="T55" fmla="*/ 28 h 100"/>
                <a:gd name="T56" fmla="*/ 67 w 99"/>
                <a:gd name="T57" fmla="*/ 2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9" h="100">
                  <a:moveTo>
                    <a:pt x="49" y="0"/>
                  </a:moveTo>
                  <a:cubicBezTo>
                    <a:pt x="77" y="0"/>
                    <a:pt x="99" y="22"/>
                    <a:pt x="99" y="50"/>
                  </a:cubicBezTo>
                  <a:cubicBezTo>
                    <a:pt x="99" y="77"/>
                    <a:pt x="77" y="100"/>
                    <a:pt x="49" y="100"/>
                  </a:cubicBezTo>
                  <a:cubicBezTo>
                    <a:pt x="22" y="100"/>
                    <a:pt x="0" y="77"/>
                    <a:pt x="0" y="50"/>
                  </a:cubicBezTo>
                  <a:cubicBezTo>
                    <a:pt x="0" y="22"/>
                    <a:pt x="22" y="0"/>
                    <a:pt x="49" y="0"/>
                  </a:cubicBezTo>
                  <a:close/>
                  <a:moveTo>
                    <a:pt x="45" y="15"/>
                  </a:moveTo>
                  <a:cubicBezTo>
                    <a:pt x="45" y="44"/>
                    <a:pt x="45" y="44"/>
                    <a:pt x="45" y="44"/>
                  </a:cubicBezTo>
                  <a:cubicBezTo>
                    <a:pt x="54" y="44"/>
                    <a:pt x="54" y="44"/>
                    <a:pt x="54" y="44"/>
                  </a:cubicBezTo>
                  <a:cubicBezTo>
                    <a:pt x="54" y="15"/>
                    <a:pt x="54" y="15"/>
                    <a:pt x="54" y="15"/>
                  </a:cubicBezTo>
                  <a:cubicBezTo>
                    <a:pt x="45" y="15"/>
                    <a:pt x="45" y="15"/>
                    <a:pt x="45" y="15"/>
                  </a:cubicBezTo>
                  <a:close/>
                  <a:moveTo>
                    <a:pt x="67" y="24"/>
                  </a:moveTo>
                  <a:cubicBezTo>
                    <a:pt x="61" y="32"/>
                    <a:pt x="61" y="32"/>
                    <a:pt x="61" y="32"/>
                  </a:cubicBezTo>
                  <a:cubicBezTo>
                    <a:pt x="62" y="33"/>
                    <a:pt x="63" y="34"/>
                    <a:pt x="64" y="35"/>
                  </a:cubicBezTo>
                  <a:cubicBezTo>
                    <a:pt x="68" y="39"/>
                    <a:pt x="70" y="44"/>
                    <a:pt x="70" y="50"/>
                  </a:cubicBezTo>
                  <a:cubicBezTo>
                    <a:pt x="70" y="55"/>
                    <a:pt x="68" y="61"/>
                    <a:pt x="64" y="65"/>
                  </a:cubicBezTo>
                  <a:cubicBezTo>
                    <a:pt x="60" y="68"/>
                    <a:pt x="55" y="71"/>
                    <a:pt x="49" y="71"/>
                  </a:cubicBezTo>
                  <a:cubicBezTo>
                    <a:pt x="44" y="71"/>
                    <a:pt x="38" y="68"/>
                    <a:pt x="35" y="65"/>
                  </a:cubicBezTo>
                  <a:cubicBezTo>
                    <a:pt x="31" y="61"/>
                    <a:pt x="28" y="55"/>
                    <a:pt x="28" y="50"/>
                  </a:cubicBezTo>
                  <a:cubicBezTo>
                    <a:pt x="28" y="44"/>
                    <a:pt x="31" y="39"/>
                    <a:pt x="35" y="35"/>
                  </a:cubicBezTo>
                  <a:cubicBezTo>
                    <a:pt x="35" y="34"/>
                    <a:pt x="36" y="33"/>
                    <a:pt x="37" y="32"/>
                  </a:cubicBezTo>
                  <a:cubicBezTo>
                    <a:pt x="31" y="24"/>
                    <a:pt x="31" y="24"/>
                    <a:pt x="31" y="24"/>
                  </a:cubicBezTo>
                  <a:cubicBezTo>
                    <a:pt x="30" y="25"/>
                    <a:pt x="29" y="26"/>
                    <a:pt x="27" y="28"/>
                  </a:cubicBezTo>
                  <a:cubicBezTo>
                    <a:pt x="22" y="33"/>
                    <a:pt x="18" y="41"/>
                    <a:pt x="18" y="50"/>
                  </a:cubicBezTo>
                  <a:cubicBezTo>
                    <a:pt x="18" y="58"/>
                    <a:pt x="22" y="66"/>
                    <a:pt x="27" y="72"/>
                  </a:cubicBezTo>
                  <a:cubicBezTo>
                    <a:pt x="33" y="77"/>
                    <a:pt x="41" y="81"/>
                    <a:pt x="49" y="81"/>
                  </a:cubicBezTo>
                  <a:cubicBezTo>
                    <a:pt x="58" y="81"/>
                    <a:pt x="66" y="77"/>
                    <a:pt x="72" y="72"/>
                  </a:cubicBezTo>
                  <a:cubicBezTo>
                    <a:pt x="77" y="66"/>
                    <a:pt x="81" y="58"/>
                    <a:pt x="81" y="50"/>
                  </a:cubicBezTo>
                  <a:cubicBezTo>
                    <a:pt x="81" y="41"/>
                    <a:pt x="77" y="33"/>
                    <a:pt x="72" y="28"/>
                  </a:cubicBezTo>
                  <a:cubicBezTo>
                    <a:pt x="70" y="26"/>
                    <a:pt x="69" y="25"/>
                    <a:pt x="67" y="24"/>
                  </a:cubicBezTo>
                  <a:close/>
                </a:path>
              </a:pathLst>
            </a:custGeom>
            <a:solidFill>
              <a:schemeClr val="bg1"/>
            </a:solidFill>
            <a:ln>
              <a:noFill/>
            </a:ln>
          </p:spPr>
          <p:txBody>
            <a:bodyPr vert="horz" wrap="square" lIns="83743" tIns="41872" rIns="83743" bIns="41872"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dirty="0">
                <a:latin typeface="印品黑体" panose="00000500000000000000" pitchFamily="2" charset="-122"/>
                <a:ea typeface="印品黑体" panose="00000500000000000000" pitchFamily="2" charset="-122"/>
                <a:cs typeface="+mn-ea"/>
                <a:sym typeface="Arial" panose="020B0604020202020204" pitchFamily="34" charset="0"/>
              </a:endParaRPr>
            </a:p>
          </p:txBody>
        </p:sp>
      </p:grpSp>
      <p:grpSp>
        <p:nvGrpSpPr>
          <p:cNvPr id="18" name="Group 38">
            <a:extLst>
              <a:ext uri="{FF2B5EF4-FFF2-40B4-BE49-F238E27FC236}">
                <a16:creationId xmlns:a16="http://schemas.microsoft.com/office/drawing/2014/main" id="{960758CC-FCC0-4E1D-BEFD-123358B2295A}"/>
              </a:ext>
            </a:extLst>
          </p:cNvPr>
          <p:cNvGrpSpPr/>
          <p:nvPr/>
        </p:nvGrpSpPr>
        <p:grpSpPr>
          <a:xfrm flipH="1">
            <a:off x="2547840" y="4452740"/>
            <a:ext cx="1122047" cy="1821348"/>
            <a:chOff x="7346434" y="4909620"/>
            <a:chExt cx="1918320" cy="1948378"/>
          </a:xfrm>
          <a:solidFill>
            <a:srgbClr val="C3C9D7"/>
          </a:solidFill>
        </p:grpSpPr>
        <p:sp>
          <p:nvSpPr>
            <p:cNvPr id="19" name="Freeform 3">
              <a:extLst>
                <a:ext uri="{FF2B5EF4-FFF2-40B4-BE49-F238E27FC236}">
                  <a16:creationId xmlns:a16="http://schemas.microsoft.com/office/drawing/2014/main" id="{43D4AA72-90CB-499F-88E3-CD985F1285B0}"/>
                </a:ext>
              </a:extLst>
            </p:cNvPr>
            <p:cNvSpPr/>
            <p:nvPr/>
          </p:nvSpPr>
          <p:spPr>
            <a:xfrm rot="16200000">
              <a:off x="7331405" y="4924649"/>
              <a:ext cx="1948378" cy="1918320"/>
            </a:xfrm>
            <a:custGeom>
              <a:avLst/>
              <a:gdLst>
                <a:gd name="connsiteX0" fmla="*/ 2143216 w 2143216"/>
                <a:gd name="connsiteY0" fmla="*/ 562708 h 2110152"/>
                <a:gd name="connsiteX1" fmla="*/ 2018715 w 2143216"/>
                <a:gd name="connsiteY1" fmla="*/ 562708 h 2110152"/>
                <a:gd name="connsiteX2" fmla="*/ 2018715 w 2143216"/>
                <a:gd name="connsiteY2" fmla="*/ 1547444 h 2110152"/>
                <a:gd name="connsiteX3" fmla="*/ 1456007 w 2143216"/>
                <a:gd name="connsiteY3" fmla="*/ 2110152 h 2110152"/>
                <a:gd name="connsiteX4" fmla="*/ 1456007 w 2143216"/>
                <a:gd name="connsiteY4" fmla="*/ 2110151 h 2110152"/>
                <a:gd name="connsiteX5" fmla="*/ 0 w 2143216"/>
                <a:gd name="connsiteY5" fmla="*/ 2110151 h 2110152"/>
                <a:gd name="connsiteX6" fmla="*/ 0 w 2143216"/>
                <a:gd name="connsiteY6" fmla="*/ 1547443 h 2110152"/>
                <a:gd name="connsiteX7" fmla="*/ 1456007 w 2143216"/>
                <a:gd name="connsiteY7" fmla="*/ 1547443 h 2110152"/>
                <a:gd name="connsiteX8" fmla="*/ 1456007 w 2143216"/>
                <a:gd name="connsiteY8" fmla="*/ 562708 h 2110152"/>
                <a:gd name="connsiteX9" fmla="*/ 1331509 w 2143216"/>
                <a:gd name="connsiteY9" fmla="*/ 562708 h 2110152"/>
                <a:gd name="connsiteX10" fmla="*/ 1737363 w 2143216"/>
                <a:gd name="connsiteY10" fmla="*/ 0 h 211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43216" h="2110152">
                  <a:moveTo>
                    <a:pt x="2143216" y="562708"/>
                  </a:moveTo>
                  <a:lnTo>
                    <a:pt x="2018715" y="562708"/>
                  </a:lnTo>
                  <a:lnTo>
                    <a:pt x="2018715" y="1547444"/>
                  </a:lnTo>
                  <a:lnTo>
                    <a:pt x="1456007" y="2110152"/>
                  </a:lnTo>
                  <a:lnTo>
                    <a:pt x="1456007" y="2110151"/>
                  </a:lnTo>
                  <a:lnTo>
                    <a:pt x="0" y="2110151"/>
                  </a:lnTo>
                  <a:lnTo>
                    <a:pt x="0" y="1547443"/>
                  </a:lnTo>
                  <a:lnTo>
                    <a:pt x="1456007" y="1547443"/>
                  </a:lnTo>
                  <a:lnTo>
                    <a:pt x="1456007" y="562708"/>
                  </a:lnTo>
                  <a:lnTo>
                    <a:pt x="1331509" y="562708"/>
                  </a:lnTo>
                  <a:lnTo>
                    <a:pt x="1737363"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dirty="0">
                <a:solidFill>
                  <a:schemeClr val="tx1"/>
                </a:solidFill>
                <a:latin typeface="印品黑体" panose="00000500000000000000" pitchFamily="2" charset="-122"/>
                <a:ea typeface="印品黑体" panose="00000500000000000000" pitchFamily="2" charset="-122"/>
                <a:cs typeface="+mn-ea"/>
                <a:sym typeface="Arial" panose="020B0604020202020204" pitchFamily="34" charset="0"/>
              </a:endParaRPr>
            </a:p>
          </p:txBody>
        </p:sp>
        <p:sp>
          <p:nvSpPr>
            <p:cNvPr id="20" name="Freeform 18">
              <a:extLst>
                <a:ext uri="{FF2B5EF4-FFF2-40B4-BE49-F238E27FC236}">
                  <a16:creationId xmlns:a16="http://schemas.microsoft.com/office/drawing/2014/main" id="{E877046E-D9C4-4534-B48C-61C3138124FF}"/>
                </a:ext>
              </a:extLst>
            </p:cNvPr>
            <p:cNvSpPr>
              <a:spLocks noEditPoints="1"/>
            </p:cNvSpPr>
            <p:nvPr/>
          </p:nvSpPr>
          <p:spPr bwMode="auto">
            <a:xfrm>
              <a:off x="7827274" y="5137367"/>
              <a:ext cx="493919" cy="331001"/>
            </a:xfrm>
            <a:custGeom>
              <a:avLst/>
              <a:gdLst>
                <a:gd name="T0" fmla="*/ 94 w 107"/>
                <a:gd name="T1" fmla="*/ 30 h 108"/>
                <a:gd name="T2" fmla="*/ 77 w 107"/>
                <a:gd name="T3" fmla="*/ 95 h 108"/>
                <a:gd name="T4" fmla="*/ 13 w 107"/>
                <a:gd name="T5" fmla="*/ 77 h 108"/>
                <a:gd name="T6" fmla="*/ 30 w 107"/>
                <a:gd name="T7" fmla="*/ 13 h 108"/>
                <a:gd name="T8" fmla="*/ 94 w 107"/>
                <a:gd name="T9" fmla="*/ 30 h 108"/>
                <a:gd name="T10" fmla="*/ 68 w 107"/>
                <a:gd name="T11" fmla="*/ 46 h 108"/>
                <a:gd name="T12" fmla="*/ 68 w 107"/>
                <a:gd name="T13" fmla="*/ 46 h 108"/>
                <a:gd name="T14" fmla="*/ 58 w 107"/>
                <a:gd name="T15" fmla="*/ 38 h 108"/>
                <a:gd name="T16" fmla="*/ 45 w 107"/>
                <a:gd name="T17" fmla="*/ 40 h 108"/>
                <a:gd name="T18" fmla="*/ 45 w 107"/>
                <a:gd name="T19" fmla="*/ 40 h 108"/>
                <a:gd name="T20" fmla="*/ 38 w 107"/>
                <a:gd name="T21" fmla="*/ 50 h 108"/>
                <a:gd name="T22" fmla="*/ 39 w 107"/>
                <a:gd name="T23" fmla="*/ 62 h 108"/>
                <a:gd name="T24" fmla="*/ 39 w 107"/>
                <a:gd name="T25" fmla="*/ 62 h 108"/>
                <a:gd name="T26" fmla="*/ 49 w 107"/>
                <a:gd name="T27" fmla="*/ 69 h 108"/>
                <a:gd name="T28" fmla="*/ 62 w 107"/>
                <a:gd name="T29" fmla="*/ 68 h 108"/>
                <a:gd name="T30" fmla="*/ 62 w 107"/>
                <a:gd name="T31" fmla="*/ 68 h 108"/>
                <a:gd name="T32" fmla="*/ 69 w 107"/>
                <a:gd name="T33" fmla="*/ 58 h 108"/>
                <a:gd name="T34" fmla="*/ 68 w 107"/>
                <a:gd name="T35" fmla="*/ 46 h 108"/>
                <a:gd name="T36" fmla="*/ 63 w 107"/>
                <a:gd name="T37" fmla="*/ 56 h 108"/>
                <a:gd name="T38" fmla="*/ 62 w 107"/>
                <a:gd name="T39" fmla="*/ 49 h 108"/>
                <a:gd name="T40" fmla="*/ 62 w 107"/>
                <a:gd name="T41" fmla="*/ 49 h 108"/>
                <a:gd name="T42" fmla="*/ 56 w 107"/>
                <a:gd name="T43" fmla="*/ 44 h 108"/>
                <a:gd name="T44" fmla="*/ 48 w 107"/>
                <a:gd name="T45" fmla="*/ 45 h 108"/>
                <a:gd name="T46" fmla="*/ 48 w 107"/>
                <a:gd name="T47" fmla="*/ 45 h 108"/>
                <a:gd name="T48" fmla="*/ 44 w 107"/>
                <a:gd name="T49" fmla="*/ 51 h 108"/>
                <a:gd name="T50" fmla="*/ 45 w 107"/>
                <a:gd name="T51" fmla="*/ 59 h 108"/>
                <a:gd name="T52" fmla="*/ 45 w 107"/>
                <a:gd name="T53" fmla="*/ 59 h 108"/>
                <a:gd name="T54" fmla="*/ 51 w 107"/>
                <a:gd name="T55" fmla="*/ 64 h 108"/>
                <a:gd name="T56" fmla="*/ 59 w 107"/>
                <a:gd name="T57" fmla="*/ 63 h 108"/>
                <a:gd name="T58" fmla="*/ 59 w 107"/>
                <a:gd name="T59" fmla="*/ 63 h 108"/>
                <a:gd name="T60" fmla="*/ 63 w 107"/>
                <a:gd name="T61" fmla="*/ 56 h 108"/>
                <a:gd name="T62" fmla="*/ 29 w 107"/>
                <a:gd name="T63" fmla="*/ 24 h 108"/>
                <a:gd name="T64" fmla="*/ 17 w 107"/>
                <a:gd name="T65" fmla="*/ 65 h 108"/>
                <a:gd name="T66" fmla="*/ 25 w 107"/>
                <a:gd name="T67" fmla="*/ 63 h 108"/>
                <a:gd name="T68" fmla="*/ 29 w 107"/>
                <a:gd name="T69" fmla="*/ 24 h 108"/>
                <a:gd name="T70" fmla="*/ 69 w 107"/>
                <a:gd name="T71" fmla="*/ 37 h 108"/>
                <a:gd name="T72" fmla="*/ 73 w 107"/>
                <a:gd name="T73" fmla="*/ 42 h 108"/>
                <a:gd name="T74" fmla="*/ 74 w 107"/>
                <a:gd name="T75" fmla="*/ 45 h 108"/>
                <a:gd name="T76" fmla="*/ 91 w 107"/>
                <a:gd name="T77" fmla="*/ 38 h 108"/>
                <a:gd name="T78" fmla="*/ 89 w 107"/>
                <a:gd name="T79" fmla="*/ 33 h 108"/>
                <a:gd name="T80" fmla="*/ 82 w 107"/>
                <a:gd name="T81" fmla="*/ 25 h 108"/>
                <a:gd name="T82" fmla="*/ 69 w 107"/>
                <a:gd name="T83" fmla="*/ 37 h 108"/>
                <a:gd name="T84" fmla="*/ 92 w 107"/>
                <a:gd name="T85" fmla="*/ 43 h 108"/>
                <a:gd name="T86" fmla="*/ 75 w 107"/>
                <a:gd name="T87" fmla="*/ 47 h 108"/>
                <a:gd name="T88" fmla="*/ 76 w 107"/>
                <a:gd name="T89" fmla="*/ 53 h 108"/>
                <a:gd name="T90" fmla="*/ 93 w 107"/>
                <a:gd name="T91" fmla="*/ 54 h 108"/>
                <a:gd name="T92" fmla="*/ 92 w 107"/>
                <a:gd name="T93" fmla="*/ 43 h 108"/>
                <a:gd name="T94" fmla="*/ 70 w 107"/>
                <a:gd name="T95" fmla="*/ 44 h 108"/>
                <a:gd name="T96" fmla="*/ 44 w 107"/>
                <a:gd name="T97" fmla="*/ 37 h 108"/>
                <a:gd name="T98" fmla="*/ 37 w 107"/>
                <a:gd name="T99" fmla="*/ 63 h 108"/>
                <a:gd name="T100" fmla="*/ 63 w 107"/>
                <a:gd name="T101" fmla="*/ 70 h 108"/>
                <a:gd name="T102" fmla="*/ 70 w 107"/>
                <a:gd name="T103" fmla="*/ 4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7" h="108">
                  <a:moveTo>
                    <a:pt x="94" y="30"/>
                  </a:moveTo>
                  <a:cubicBezTo>
                    <a:pt x="107" y="53"/>
                    <a:pt x="100" y="82"/>
                    <a:pt x="77" y="95"/>
                  </a:cubicBezTo>
                  <a:cubicBezTo>
                    <a:pt x="54" y="108"/>
                    <a:pt x="26" y="100"/>
                    <a:pt x="13" y="77"/>
                  </a:cubicBezTo>
                  <a:cubicBezTo>
                    <a:pt x="0" y="55"/>
                    <a:pt x="7" y="26"/>
                    <a:pt x="30" y="13"/>
                  </a:cubicBezTo>
                  <a:cubicBezTo>
                    <a:pt x="52" y="0"/>
                    <a:pt x="81" y="8"/>
                    <a:pt x="94" y="30"/>
                  </a:cubicBezTo>
                  <a:close/>
                  <a:moveTo>
                    <a:pt x="68" y="46"/>
                  </a:moveTo>
                  <a:cubicBezTo>
                    <a:pt x="68" y="46"/>
                    <a:pt x="68" y="46"/>
                    <a:pt x="68" y="46"/>
                  </a:cubicBezTo>
                  <a:cubicBezTo>
                    <a:pt x="65" y="42"/>
                    <a:pt x="62" y="39"/>
                    <a:pt x="58" y="38"/>
                  </a:cubicBezTo>
                  <a:cubicBezTo>
                    <a:pt x="54" y="37"/>
                    <a:pt x="49" y="37"/>
                    <a:pt x="45" y="40"/>
                  </a:cubicBezTo>
                  <a:cubicBezTo>
                    <a:pt x="45" y="40"/>
                    <a:pt x="45" y="40"/>
                    <a:pt x="45" y="40"/>
                  </a:cubicBezTo>
                  <a:cubicBezTo>
                    <a:pt x="41" y="42"/>
                    <a:pt x="39" y="46"/>
                    <a:pt x="38" y="50"/>
                  </a:cubicBezTo>
                  <a:cubicBezTo>
                    <a:pt x="37" y="54"/>
                    <a:pt x="37" y="58"/>
                    <a:pt x="39" y="62"/>
                  </a:cubicBezTo>
                  <a:cubicBezTo>
                    <a:pt x="39" y="62"/>
                    <a:pt x="39" y="62"/>
                    <a:pt x="39" y="62"/>
                  </a:cubicBezTo>
                  <a:cubicBezTo>
                    <a:pt x="42" y="66"/>
                    <a:pt x="45" y="68"/>
                    <a:pt x="49" y="69"/>
                  </a:cubicBezTo>
                  <a:cubicBezTo>
                    <a:pt x="53" y="71"/>
                    <a:pt x="58" y="70"/>
                    <a:pt x="62" y="68"/>
                  </a:cubicBezTo>
                  <a:cubicBezTo>
                    <a:pt x="62" y="68"/>
                    <a:pt x="62" y="68"/>
                    <a:pt x="62" y="68"/>
                  </a:cubicBezTo>
                  <a:cubicBezTo>
                    <a:pt x="65" y="66"/>
                    <a:pt x="68" y="62"/>
                    <a:pt x="69" y="58"/>
                  </a:cubicBezTo>
                  <a:cubicBezTo>
                    <a:pt x="70" y="54"/>
                    <a:pt x="70" y="50"/>
                    <a:pt x="68" y="46"/>
                  </a:cubicBezTo>
                  <a:close/>
                  <a:moveTo>
                    <a:pt x="63" y="56"/>
                  </a:moveTo>
                  <a:cubicBezTo>
                    <a:pt x="64" y="54"/>
                    <a:pt x="64" y="51"/>
                    <a:pt x="62" y="49"/>
                  </a:cubicBezTo>
                  <a:cubicBezTo>
                    <a:pt x="62" y="49"/>
                    <a:pt x="62" y="49"/>
                    <a:pt x="62" y="49"/>
                  </a:cubicBezTo>
                  <a:cubicBezTo>
                    <a:pt x="61" y="46"/>
                    <a:pt x="59" y="45"/>
                    <a:pt x="56" y="44"/>
                  </a:cubicBezTo>
                  <a:cubicBezTo>
                    <a:pt x="54" y="43"/>
                    <a:pt x="51" y="44"/>
                    <a:pt x="48" y="45"/>
                  </a:cubicBezTo>
                  <a:cubicBezTo>
                    <a:pt x="48" y="45"/>
                    <a:pt x="48" y="45"/>
                    <a:pt x="48" y="45"/>
                  </a:cubicBezTo>
                  <a:cubicBezTo>
                    <a:pt x="46" y="46"/>
                    <a:pt x="44" y="49"/>
                    <a:pt x="44" y="51"/>
                  </a:cubicBezTo>
                  <a:cubicBezTo>
                    <a:pt x="43" y="54"/>
                    <a:pt x="43" y="56"/>
                    <a:pt x="45" y="59"/>
                  </a:cubicBezTo>
                  <a:cubicBezTo>
                    <a:pt x="45" y="59"/>
                    <a:pt x="45" y="59"/>
                    <a:pt x="45" y="59"/>
                  </a:cubicBezTo>
                  <a:cubicBezTo>
                    <a:pt x="46" y="61"/>
                    <a:pt x="48" y="63"/>
                    <a:pt x="51" y="64"/>
                  </a:cubicBezTo>
                  <a:cubicBezTo>
                    <a:pt x="53" y="64"/>
                    <a:pt x="56" y="64"/>
                    <a:pt x="59" y="63"/>
                  </a:cubicBezTo>
                  <a:cubicBezTo>
                    <a:pt x="59" y="63"/>
                    <a:pt x="59" y="63"/>
                    <a:pt x="59" y="63"/>
                  </a:cubicBezTo>
                  <a:cubicBezTo>
                    <a:pt x="61" y="61"/>
                    <a:pt x="63" y="59"/>
                    <a:pt x="63" y="56"/>
                  </a:cubicBezTo>
                  <a:close/>
                  <a:moveTo>
                    <a:pt x="29" y="24"/>
                  </a:moveTo>
                  <a:cubicBezTo>
                    <a:pt x="16" y="36"/>
                    <a:pt x="14" y="50"/>
                    <a:pt x="17" y="65"/>
                  </a:cubicBezTo>
                  <a:cubicBezTo>
                    <a:pt x="20" y="64"/>
                    <a:pt x="23" y="64"/>
                    <a:pt x="25" y="63"/>
                  </a:cubicBezTo>
                  <a:cubicBezTo>
                    <a:pt x="21" y="49"/>
                    <a:pt x="22" y="36"/>
                    <a:pt x="29" y="24"/>
                  </a:cubicBezTo>
                  <a:close/>
                  <a:moveTo>
                    <a:pt x="69" y="37"/>
                  </a:moveTo>
                  <a:cubicBezTo>
                    <a:pt x="70" y="38"/>
                    <a:pt x="72" y="40"/>
                    <a:pt x="73" y="42"/>
                  </a:cubicBezTo>
                  <a:cubicBezTo>
                    <a:pt x="74" y="43"/>
                    <a:pt x="74" y="44"/>
                    <a:pt x="74" y="45"/>
                  </a:cubicBezTo>
                  <a:cubicBezTo>
                    <a:pt x="91" y="38"/>
                    <a:pt x="91" y="38"/>
                    <a:pt x="91" y="38"/>
                  </a:cubicBezTo>
                  <a:cubicBezTo>
                    <a:pt x="90" y="36"/>
                    <a:pt x="89" y="35"/>
                    <a:pt x="89" y="33"/>
                  </a:cubicBezTo>
                  <a:cubicBezTo>
                    <a:pt x="87" y="30"/>
                    <a:pt x="85" y="28"/>
                    <a:pt x="82" y="25"/>
                  </a:cubicBezTo>
                  <a:cubicBezTo>
                    <a:pt x="69" y="37"/>
                    <a:pt x="69" y="37"/>
                    <a:pt x="69" y="37"/>
                  </a:cubicBezTo>
                  <a:close/>
                  <a:moveTo>
                    <a:pt x="92" y="43"/>
                  </a:moveTo>
                  <a:cubicBezTo>
                    <a:pt x="75" y="47"/>
                    <a:pt x="75" y="47"/>
                    <a:pt x="75" y="47"/>
                  </a:cubicBezTo>
                  <a:cubicBezTo>
                    <a:pt x="76" y="49"/>
                    <a:pt x="76" y="51"/>
                    <a:pt x="76" y="53"/>
                  </a:cubicBezTo>
                  <a:cubicBezTo>
                    <a:pt x="93" y="54"/>
                    <a:pt x="93" y="54"/>
                    <a:pt x="93" y="54"/>
                  </a:cubicBezTo>
                  <a:cubicBezTo>
                    <a:pt x="94" y="50"/>
                    <a:pt x="93" y="46"/>
                    <a:pt x="92" y="43"/>
                  </a:cubicBezTo>
                  <a:close/>
                  <a:moveTo>
                    <a:pt x="70" y="44"/>
                  </a:moveTo>
                  <a:cubicBezTo>
                    <a:pt x="65" y="35"/>
                    <a:pt x="53" y="32"/>
                    <a:pt x="44" y="37"/>
                  </a:cubicBezTo>
                  <a:cubicBezTo>
                    <a:pt x="35" y="42"/>
                    <a:pt x="32" y="54"/>
                    <a:pt x="37" y="63"/>
                  </a:cubicBezTo>
                  <a:cubicBezTo>
                    <a:pt x="42" y="72"/>
                    <a:pt x="54" y="76"/>
                    <a:pt x="63" y="70"/>
                  </a:cubicBezTo>
                  <a:cubicBezTo>
                    <a:pt x="72" y="65"/>
                    <a:pt x="75" y="53"/>
                    <a:pt x="70" y="44"/>
                  </a:cubicBezTo>
                  <a:close/>
                </a:path>
              </a:pathLst>
            </a:custGeom>
            <a:solidFill>
              <a:schemeClr val="bg1"/>
            </a:solidFill>
            <a:ln>
              <a:noFill/>
            </a:ln>
          </p:spPr>
          <p:txBody>
            <a:bodyPr vert="horz" wrap="square" lIns="83743" tIns="41872" rIns="83743" bIns="41872"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900" dirty="0">
                <a:latin typeface="印品黑体" panose="00000500000000000000" pitchFamily="2" charset="-122"/>
                <a:ea typeface="印品黑体" panose="00000500000000000000" pitchFamily="2" charset="-122"/>
                <a:cs typeface="+mn-ea"/>
                <a:sym typeface="Arial" panose="020B0604020202020204" pitchFamily="34" charset="0"/>
              </a:endParaRPr>
            </a:p>
          </p:txBody>
        </p:sp>
      </p:grpSp>
      <p:sp>
        <p:nvSpPr>
          <p:cNvPr id="22" name="Freeform 3">
            <a:extLst>
              <a:ext uri="{FF2B5EF4-FFF2-40B4-BE49-F238E27FC236}">
                <a16:creationId xmlns:a16="http://schemas.microsoft.com/office/drawing/2014/main" id="{D627190D-D2F5-4520-B848-1C2388604FFE}"/>
              </a:ext>
            </a:extLst>
          </p:cNvPr>
          <p:cNvSpPr/>
          <p:nvPr/>
        </p:nvSpPr>
        <p:spPr>
          <a:xfrm rot="5400000" flipH="1">
            <a:off x="3214097" y="5230904"/>
            <a:ext cx="1061517" cy="1024847"/>
          </a:xfrm>
          <a:custGeom>
            <a:avLst/>
            <a:gdLst>
              <a:gd name="connsiteX0" fmla="*/ 2143216 w 2143216"/>
              <a:gd name="connsiteY0" fmla="*/ 562708 h 2110152"/>
              <a:gd name="connsiteX1" fmla="*/ 2018715 w 2143216"/>
              <a:gd name="connsiteY1" fmla="*/ 562708 h 2110152"/>
              <a:gd name="connsiteX2" fmla="*/ 2018715 w 2143216"/>
              <a:gd name="connsiteY2" fmla="*/ 1547444 h 2110152"/>
              <a:gd name="connsiteX3" fmla="*/ 1456007 w 2143216"/>
              <a:gd name="connsiteY3" fmla="*/ 2110152 h 2110152"/>
              <a:gd name="connsiteX4" fmla="*/ 1456007 w 2143216"/>
              <a:gd name="connsiteY4" fmla="*/ 2110151 h 2110152"/>
              <a:gd name="connsiteX5" fmla="*/ 0 w 2143216"/>
              <a:gd name="connsiteY5" fmla="*/ 2110151 h 2110152"/>
              <a:gd name="connsiteX6" fmla="*/ 0 w 2143216"/>
              <a:gd name="connsiteY6" fmla="*/ 1547443 h 2110152"/>
              <a:gd name="connsiteX7" fmla="*/ 1456007 w 2143216"/>
              <a:gd name="connsiteY7" fmla="*/ 1547443 h 2110152"/>
              <a:gd name="connsiteX8" fmla="*/ 1456007 w 2143216"/>
              <a:gd name="connsiteY8" fmla="*/ 562708 h 2110152"/>
              <a:gd name="connsiteX9" fmla="*/ 1331509 w 2143216"/>
              <a:gd name="connsiteY9" fmla="*/ 562708 h 2110152"/>
              <a:gd name="connsiteX10" fmla="*/ 1737363 w 2143216"/>
              <a:gd name="connsiteY10" fmla="*/ 0 h 211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43216" h="2110152">
                <a:moveTo>
                  <a:pt x="2143216" y="562708"/>
                </a:moveTo>
                <a:lnTo>
                  <a:pt x="2018715" y="562708"/>
                </a:lnTo>
                <a:lnTo>
                  <a:pt x="2018715" y="1547444"/>
                </a:lnTo>
                <a:lnTo>
                  <a:pt x="1456007" y="2110152"/>
                </a:lnTo>
                <a:lnTo>
                  <a:pt x="1456007" y="2110151"/>
                </a:lnTo>
                <a:lnTo>
                  <a:pt x="0" y="2110151"/>
                </a:lnTo>
                <a:lnTo>
                  <a:pt x="0" y="1547443"/>
                </a:lnTo>
                <a:lnTo>
                  <a:pt x="1456007" y="1547443"/>
                </a:lnTo>
                <a:lnTo>
                  <a:pt x="1456007" y="562708"/>
                </a:lnTo>
                <a:lnTo>
                  <a:pt x="1331509" y="562708"/>
                </a:lnTo>
                <a:lnTo>
                  <a:pt x="1737363" y="0"/>
                </a:lnTo>
                <a:close/>
              </a:path>
            </a:pathLst>
          </a:cu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900" dirty="0">
              <a:solidFill>
                <a:schemeClr val="tx1"/>
              </a:solidFill>
              <a:latin typeface="印品黑体" panose="00000500000000000000" pitchFamily="2" charset="-122"/>
              <a:ea typeface="印品黑体" panose="00000500000000000000" pitchFamily="2" charset="-122"/>
              <a:cs typeface="+mn-ea"/>
              <a:sym typeface="Arial" panose="020B0604020202020204" pitchFamily="34" charset="0"/>
            </a:endParaRPr>
          </a:p>
        </p:txBody>
      </p:sp>
      <p:sp>
        <p:nvSpPr>
          <p:cNvPr id="2" name="矩形 1">
            <a:extLst>
              <a:ext uri="{FF2B5EF4-FFF2-40B4-BE49-F238E27FC236}">
                <a16:creationId xmlns:a16="http://schemas.microsoft.com/office/drawing/2014/main" id="{BB20BD9F-6193-4DFD-AD7D-7963351B8502}"/>
              </a:ext>
            </a:extLst>
          </p:cNvPr>
          <p:cNvSpPr/>
          <p:nvPr/>
        </p:nvSpPr>
        <p:spPr>
          <a:xfrm>
            <a:off x="6732240" y="35332"/>
            <a:ext cx="233108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第四节 长期生产函数</a:t>
            </a:r>
          </a:p>
        </p:txBody>
      </p:sp>
      <p:sp>
        <p:nvSpPr>
          <p:cNvPr id="3" name="矩形 2">
            <a:extLst>
              <a:ext uri="{FF2B5EF4-FFF2-40B4-BE49-F238E27FC236}">
                <a16:creationId xmlns:a16="http://schemas.microsoft.com/office/drawing/2014/main" id="{3DA5E264-FB09-4E6F-AEB1-888856090403}"/>
              </a:ext>
            </a:extLst>
          </p:cNvPr>
          <p:cNvSpPr/>
          <p:nvPr/>
        </p:nvSpPr>
        <p:spPr>
          <a:xfrm>
            <a:off x="1077227" y="1284256"/>
            <a:ext cx="2525050" cy="400110"/>
          </a:xfrm>
          <a:prstGeom prst="rect">
            <a:avLst/>
          </a:prstGeom>
          <a:noFill/>
        </p:spPr>
        <p:txBody>
          <a:bodyPr wrap="none">
            <a:spAutoFit/>
          </a:bodyPr>
          <a:lstStyle/>
          <a:p>
            <a:pPr marL="285750" indent="-28575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等产量曲线的特征</a:t>
            </a:r>
          </a:p>
        </p:txBody>
      </p:sp>
      <p:sp>
        <p:nvSpPr>
          <p:cNvPr id="4" name="矩形 3">
            <a:extLst>
              <a:ext uri="{FF2B5EF4-FFF2-40B4-BE49-F238E27FC236}">
                <a16:creationId xmlns:a16="http://schemas.microsoft.com/office/drawing/2014/main" id="{5CBFEE8F-51CE-49A1-87B3-1A65D6B82067}"/>
              </a:ext>
            </a:extLst>
          </p:cNvPr>
          <p:cNvSpPr/>
          <p:nvPr/>
        </p:nvSpPr>
        <p:spPr>
          <a:xfrm>
            <a:off x="2843808" y="2132856"/>
            <a:ext cx="5760640" cy="369332"/>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等产量曲线有无数条，每一条都代表着一个产量</a:t>
            </a:r>
          </a:p>
        </p:txBody>
      </p:sp>
      <p:sp>
        <p:nvSpPr>
          <p:cNvPr id="5" name="矩形 4">
            <a:extLst>
              <a:ext uri="{FF2B5EF4-FFF2-40B4-BE49-F238E27FC236}">
                <a16:creationId xmlns:a16="http://schemas.microsoft.com/office/drawing/2014/main" id="{8220194E-807E-41AE-9A0C-DC6CEF25B26E}"/>
              </a:ext>
            </a:extLst>
          </p:cNvPr>
          <p:cNvSpPr/>
          <p:nvPr/>
        </p:nvSpPr>
        <p:spPr>
          <a:xfrm>
            <a:off x="3997426" y="2892686"/>
            <a:ext cx="4166525" cy="369332"/>
          </a:xfrm>
          <a:prstGeom prst="rect">
            <a:avLst/>
          </a:prstGeom>
        </p:spPr>
        <p:txBody>
          <a:bodyPr wrap="non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较高位的等产量曲线代表较高的产量</a:t>
            </a:r>
          </a:p>
        </p:txBody>
      </p:sp>
      <p:sp>
        <p:nvSpPr>
          <p:cNvPr id="6" name="矩形 5">
            <a:extLst>
              <a:ext uri="{FF2B5EF4-FFF2-40B4-BE49-F238E27FC236}">
                <a16:creationId xmlns:a16="http://schemas.microsoft.com/office/drawing/2014/main" id="{A5C218B6-6C4D-4A35-AC77-363530BCEC17}"/>
              </a:ext>
            </a:extLst>
          </p:cNvPr>
          <p:cNvSpPr/>
          <p:nvPr/>
        </p:nvSpPr>
        <p:spPr>
          <a:xfrm>
            <a:off x="4922640" y="3731710"/>
            <a:ext cx="3243196" cy="369332"/>
          </a:xfrm>
          <a:prstGeom prst="rect">
            <a:avLst/>
          </a:prstGeom>
        </p:spPr>
        <p:txBody>
          <a:bodyPr wrap="non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任意两条等产量曲线不相交</a:t>
            </a:r>
          </a:p>
        </p:txBody>
      </p:sp>
      <p:sp>
        <p:nvSpPr>
          <p:cNvPr id="7" name="矩形 6">
            <a:extLst>
              <a:ext uri="{FF2B5EF4-FFF2-40B4-BE49-F238E27FC236}">
                <a16:creationId xmlns:a16="http://schemas.microsoft.com/office/drawing/2014/main" id="{65248EF3-D041-4CF3-836E-5EB086988EF5}"/>
              </a:ext>
            </a:extLst>
          </p:cNvPr>
          <p:cNvSpPr/>
          <p:nvPr/>
        </p:nvSpPr>
        <p:spPr>
          <a:xfrm>
            <a:off x="5177161" y="4555050"/>
            <a:ext cx="3012363" cy="369332"/>
          </a:xfrm>
          <a:prstGeom prst="rect">
            <a:avLst/>
          </a:prstGeom>
        </p:spPr>
        <p:txBody>
          <a:bodyPr wrap="non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等产量曲线向右下方倾斜</a:t>
            </a:r>
          </a:p>
        </p:txBody>
      </p:sp>
      <p:sp>
        <p:nvSpPr>
          <p:cNvPr id="8" name="矩形 7">
            <a:extLst>
              <a:ext uri="{FF2B5EF4-FFF2-40B4-BE49-F238E27FC236}">
                <a16:creationId xmlns:a16="http://schemas.microsoft.com/office/drawing/2014/main" id="{C3BD617B-0612-48B2-82B3-E512E32ACAAC}"/>
              </a:ext>
            </a:extLst>
          </p:cNvPr>
          <p:cNvSpPr/>
          <p:nvPr/>
        </p:nvSpPr>
        <p:spPr>
          <a:xfrm>
            <a:off x="5613253" y="5219974"/>
            <a:ext cx="2550698" cy="369332"/>
          </a:xfrm>
          <a:prstGeom prst="rect">
            <a:avLst/>
          </a:prstGeom>
        </p:spPr>
        <p:txBody>
          <a:bodyPr wrap="non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等产量曲线凸向原点</a:t>
            </a:r>
          </a:p>
        </p:txBody>
      </p:sp>
      <p:sp>
        <p:nvSpPr>
          <p:cNvPr id="30" name="Freeform 3786">
            <a:extLst>
              <a:ext uri="{FF2B5EF4-FFF2-40B4-BE49-F238E27FC236}">
                <a16:creationId xmlns:a16="http://schemas.microsoft.com/office/drawing/2014/main" id="{5A8A90FC-CFDB-46AB-902A-C77361F4F144}"/>
              </a:ext>
            </a:extLst>
          </p:cNvPr>
          <p:cNvSpPr>
            <a:spLocks/>
          </p:cNvSpPr>
          <p:nvPr/>
        </p:nvSpPr>
        <p:spPr bwMode="auto">
          <a:xfrm>
            <a:off x="3736246" y="5418386"/>
            <a:ext cx="174447" cy="111587"/>
          </a:xfrm>
          <a:custGeom>
            <a:avLst/>
            <a:gdLst>
              <a:gd name="T0" fmla="*/ 63 w 128"/>
              <a:gd name="T1" fmla="*/ 0 h 55"/>
              <a:gd name="T2" fmla="*/ 0 w 128"/>
              <a:gd name="T3" fmla="*/ 9 h 55"/>
              <a:gd name="T4" fmla="*/ 0 w 128"/>
              <a:gd name="T5" fmla="*/ 55 h 55"/>
              <a:gd name="T6" fmla="*/ 64 w 128"/>
              <a:gd name="T7" fmla="*/ 47 h 55"/>
              <a:gd name="T8" fmla="*/ 64 w 128"/>
              <a:gd name="T9" fmla="*/ 47 h 55"/>
              <a:gd name="T10" fmla="*/ 117 w 128"/>
              <a:gd name="T11" fmla="*/ 53 h 55"/>
              <a:gd name="T12" fmla="*/ 128 w 128"/>
              <a:gd name="T13" fmla="*/ 55 h 55"/>
              <a:gd name="T14" fmla="*/ 128 w 128"/>
              <a:gd name="T15" fmla="*/ 55 h 55"/>
              <a:gd name="T16" fmla="*/ 128 w 128"/>
              <a:gd name="T17" fmla="*/ 9 h 55"/>
              <a:gd name="T18" fmla="*/ 128 w 128"/>
              <a:gd name="T19" fmla="*/ 9 h 55"/>
              <a:gd name="T20" fmla="*/ 121 w 128"/>
              <a:gd name="T21" fmla="*/ 7 h 55"/>
              <a:gd name="T22" fmla="*/ 63 w 128"/>
              <a:gd name="T23"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8" h="55">
                <a:moveTo>
                  <a:pt x="63" y="0"/>
                </a:moveTo>
                <a:cubicBezTo>
                  <a:pt x="22" y="0"/>
                  <a:pt x="0" y="9"/>
                  <a:pt x="0" y="9"/>
                </a:cubicBezTo>
                <a:cubicBezTo>
                  <a:pt x="0" y="55"/>
                  <a:pt x="0" y="55"/>
                  <a:pt x="0" y="55"/>
                </a:cubicBezTo>
                <a:cubicBezTo>
                  <a:pt x="0" y="55"/>
                  <a:pt x="31" y="47"/>
                  <a:pt x="64" y="47"/>
                </a:cubicBezTo>
                <a:cubicBezTo>
                  <a:pt x="64" y="47"/>
                  <a:pt x="64" y="47"/>
                  <a:pt x="64" y="47"/>
                </a:cubicBezTo>
                <a:cubicBezTo>
                  <a:pt x="85" y="47"/>
                  <a:pt x="105" y="50"/>
                  <a:pt x="117" y="53"/>
                </a:cubicBezTo>
                <a:cubicBezTo>
                  <a:pt x="124" y="54"/>
                  <a:pt x="128" y="55"/>
                  <a:pt x="128" y="55"/>
                </a:cubicBezTo>
                <a:cubicBezTo>
                  <a:pt x="128" y="55"/>
                  <a:pt x="128" y="55"/>
                  <a:pt x="128" y="55"/>
                </a:cubicBezTo>
                <a:cubicBezTo>
                  <a:pt x="128" y="9"/>
                  <a:pt x="128" y="9"/>
                  <a:pt x="128" y="9"/>
                </a:cubicBezTo>
                <a:cubicBezTo>
                  <a:pt x="128" y="9"/>
                  <a:pt x="128" y="9"/>
                  <a:pt x="128" y="9"/>
                </a:cubicBezTo>
                <a:cubicBezTo>
                  <a:pt x="128" y="9"/>
                  <a:pt x="125" y="8"/>
                  <a:pt x="121" y="7"/>
                </a:cubicBezTo>
                <a:cubicBezTo>
                  <a:pt x="111" y="4"/>
                  <a:pt x="91" y="0"/>
                  <a:pt x="63" y="0"/>
                </a:cubicBezTo>
                <a:close/>
              </a:path>
            </a:pathLst>
          </a:custGeom>
          <a:solidFill>
            <a:schemeClr val="bg1"/>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dirty="0">
              <a:latin typeface="印品黑体" panose="00000500000000000000" pitchFamily="2" charset="-122"/>
              <a:ea typeface="印品黑体" panose="00000500000000000000" pitchFamily="2" charset="-122"/>
              <a:cs typeface="+mn-ea"/>
              <a:sym typeface="Arial" panose="020B0604020202020204" pitchFamily="34" charset="0"/>
            </a:endParaRPr>
          </a:p>
        </p:txBody>
      </p:sp>
      <p:sp>
        <p:nvSpPr>
          <p:cNvPr id="31" name="Freeform 3787">
            <a:extLst>
              <a:ext uri="{FF2B5EF4-FFF2-40B4-BE49-F238E27FC236}">
                <a16:creationId xmlns:a16="http://schemas.microsoft.com/office/drawing/2014/main" id="{BBC9107B-4C15-4131-8D8F-A50FDDC8E84A}"/>
              </a:ext>
            </a:extLst>
          </p:cNvPr>
          <p:cNvSpPr>
            <a:spLocks/>
          </p:cNvSpPr>
          <p:nvPr/>
        </p:nvSpPr>
        <p:spPr bwMode="auto">
          <a:xfrm>
            <a:off x="3676946" y="5301208"/>
            <a:ext cx="293049" cy="206864"/>
          </a:xfrm>
          <a:custGeom>
            <a:avLst/>
            <a:gdLst>
              <a:gd name="T0" fmla="*/ 193 w 215"/>
              <a:gd name="T1" fmla="*/ 84 h 102"/>
              <a:gd name="T2" fmla="*/ 192 w 215"/>
              <a:gd name="T3" fmla="*/ 81 h 102"/>
              <a:gd name="T4" fmla="*/ 192 w 215"/>
              <a:gd name="T5" fmla="*/ 78 h 102"/>
              <a:gd name="T6" fmla="*/ 193 w 215"/>
              <a:gd name="T7" fmla="*/ 75 h 102"/>
              <a:gd name="T8" fmla="*/ 191 w 215"/>
              <a:gd name="T9" fmla="*/ 72 h 102"/>
              <a:gd name="T10" fmla="*/ 191 w 215"/>
              <a:gd name="T11" fmla="*/ 58 h 102"/>
              <a:gd name="T12" fmla="*/ 215 w 215"/>
              <a:gd name="T13" fmla="*/ 48 h 102"/>
              <a:gd name="T14" fmla="*/ 191 w 215"/>
              <a:gd name="T15" fmla="*/ 37 h 102"/>
              <a:gd name="T16" fmla="*/ 190 w 215"/>
              <a:gd name="T17" fmla="*/ 36 h 102"/>
              <a:gd name="T18" fmla="*/ 189 w 215"/>
              <a:gd name="T19" fmla="*/ 36 h 102"/>
              <a:gd name="T20" fmla="*/ 108 w 215"/>
              <a:gd name="T21" fmla="*/ 0 h 102"/>
              <a:gd name="T22" fmla="*/ 0 w 215"/>
              <a:gd name="T23" fmla="*/ 48 h 102"/>
              <a:gd name="T24" fmla="*/ 37 w 215"/>
              <a:gd name="T25" fmla="*/ 64 h 102"/>
              <a:gd name="T26" fmla="*/ 37 w 215"/>
              <a:gd name="T27" fmla="*/ 58 h 102"/>
              <a:gd name="T28" fmla="*/ 107 w 215"/>
              <a:gd name="T29" fmla="*/ 48 h 102"/>
              <a:gd name="T30" fmla="*/ 171 w 215"/>
              <a:gd name="T31" fmla="*/ 56 h 102"/>
              <a:gd name="T32" fmla="*/ 179 w 215"/>
              <a:gd name="T33" fmla="*/ 58 h 102"/>
              <a:gd name="T34" fmla="*/ 179 w 215"/>
              <a:gd name="T35" fmla="*/ 58 h 102"/>
              <a:gd name="T36" fmla="*/ 179 w 215"/>
              <a:gd name="T37" fmla="*/ 64 h 102"/>
              <a:gd name="T38" fmla="*/ 189 w 215"/>
              <a:gd name="T39" fmla="*/ 59 h 102"/>
              <a:gd name="T40" fmla="*/ 189 w 215"/>
              <a:gd name="T41" fmla="*/ 72 h 102"/>
              <a:gd name="T42" fmla="*/ 187 w 215"/>
              <a:gd name="T43" fmla="*/ 75 h 102"/>
              <a:gd name="T44" fmla="*/ 188 w 215"/>
              <a:gd name="T45" fmla="*/ 78 h 102"/>
              <a:gd name="T46" fmla="*/ 188 w 215"/>
              <a:gd name="T47" fmla="*/ 81 h 102"/>
              <a:gd name="T48" fmla="*/ 187 w 215"/>
              <a:gd name="T49" fmla="*/ 84 h 102"/>
              <a:gd name="T50" fmla="*/ 184 w 215"/>
              <a:gd name="T51" fmla="*/ 97 h 102"/>
              <a:gd name="T52" fmla="*/ 190 w 215"/>
              <a:gd name="T53" fmla="*/ 102 h 102"/>
              <a:gd name="T54" fmla="*/ 190 w 215"/>
              <a:gd name="T55" fmla="*/ 102 h 102"/>
              <a:gd name="T56" fmla="*/ 190 w 215"/>
              <a:gd name="T57" fmla="*/ 102 h 102"/>
              <a:gd name="T58" fmla="*/ 196 w 215"/>
              <a:gd name="T59" fmla="*/ 97 h 102"/>
              <a:gd name="T60" fmla="*/ 193 w 215"/>
              <a:gd name="T61" fmla="*/ 84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15" h="102">
                <a:moveTo>
                  <a:pt x="193" y="84"/>
                </a:moveTo>
                <a:cubicBezTo>
                  <a:pt x="193" y="83"/>
                  <a:pt x="193" y="82"/>
                  <a:pt x="192" y="81"/>
                </a:cubicBezTo>
                <a:cubicBezTo>
                  <a:pt x="192" y="78"/>
                  <a:pt x="192" y="78"/>
                  <a:pt x="192" y="78"/>
                </a:cubicBezTo>
                <a:cubicBezTo>
                  <a:pt x="193" y="78"/>
                  <a:pt x="193" y="76"/>
                  <a:pt x="193" y="75"/>
                </a:cubicBezTo>
                <a:cubicBezTo>
                  <a:pt x="193" y="74"/>
                  <a:pt x="192" y="72"/>
                  <a:pt x="191" y="72"/>
                </a:cubicBezTo>
                <a:cubicBezTo>
                  <a:pt x="191" y="58"/>
                  <a:pt x="191" y="58"/>
                  <a:pt x="191" y="58"/>
                </a:cubicBezTo>
                <a:cubicBezTo>
                  <a:pt x="215" y="48"/>
                  <a:pt x="215" y="48"/>
                  <a:pt x="215" y="48"/>
                </a:cubicBezTo>
                <a:cubicBezTo>
                  <a:pt x="191" y="37"/>
                  <a:pt x="191" y="37"/>
                  <a:pt x="191" y="37"/>
                </a:cubicBezTo>
                <a:cubicBezTo>
                  <a:pt x="191" y="36"/>
                  <a:pt x="190" y="36"/>
                  <a:pt x="190" y="36"/>
                </a:cubicBezTo>
                <a:cubicBezTo>
                  <a:pt x="190" y="36"/>
                  <a:pt x="190" y="36"/>
                  <a:pt x="189" y="36"/>
                </a:cubicBezTo>
                <a:cubicBezTo>
                  <a:pt x="108" y="0"/>
                  <a:pt x="108" y="0"/>
                  <a:pt x="108" y="0"/>
                </a:cubicBezTo>
                <a:cubicBezTo>
                  <a:pt x="0" y="48"/>
                  <a:pt x="0" y="48"/>
                  <a:pt x="0" y="48"/>
                </a:cubicBezTo>
                <a:cubicBezTo>
                  <a:pt x="37" y="64"/>
                  <a:pt x="37" y="64"/>
                  <a:pt x="37" y="64"/>
                </a:cubicBezTo>
                <a:cubicBezTo>
                  <a:pt x="37" y="58"/>
                  <a:pt x="37" y="58"/>
                  <a:pt x="37" y="58"/>
                </a:cubicBezTo>
                <a:cubicBezTo>
                  <a:pt x="37" y="58"/>
                  <a:pt x="62" y="48"/>
                  <a:pt x="107" y="48"/>
                </a:cubicBezTo>
                <a:cubicBezTo>
                  <a:pt x="138" y="48"/>
                  <a:pt x="160" y="53"/>
                  <a:pt x="171" y="56"/>
                </a:cubicBezTo>
                <a:cubicBezTo>
                  <a:pt x="176" y="57"/>
                  <a:pt x="179" y="58"/>
                  <a:pt x="179" y="58"/>
                </a:cubicBezTo>
                <a:cubicBezTo>
                  <a:pt x="179" y="58"/>
                  <a:pt x="179" y="58"/>
                  <a:pt x="179" y="58"/>
                </a:cubicBezTo>
                <a:cubicBezTo>
                  <a:pt x="179" y="64"/>
                  <a:pt x="179" y="64"/>
                  <a:pt x="179" y="64"/>
                </a:cubicBezTo>
                <a:cubicBezTo>
                  <a:pt x="189" y="59"/>
                  <a:pt x="189" y="59"/>
                  <a:pt x="189" y="59"/>
                </a:cubicBezTo>
                <a:cubicBezTo>
                  <a:pt x="189" y="72"/>
                  <a:pt x="189" y="72"/>
                  <a:pt x="189" y="72"/>
                </a:cubicBezTo>
                <a:cubicBezTo>
                  <a:pt x="188" y="72"/>
                  <a:pt x="187" y="74"/>
                  <a:pt x="187" y="75"/>
                </a:cubicBezTo>
                <a:cubicBezTo>
                  <a:pt x="187" y="76"/>
                  <a:pt x="187" y="78"/>
                  <a:pt x="188" y="78"/>
                </a:cubicBezTo>
                <a:cubicBezTo>
                  <a:pt x="188" y="81"/>
                  <a:pt x="188" y="81"/>
                  <a:pt x="188" y="81"/>
                </a:cubicBezTo>
                <a:cubicBezTo>
                  <a:pt x="187" y="82"/>
                  <a:pt x="187" y="83"/>
                  <a:pt x="187" y="84"/>
                </a:cubicBezTo>
                <a:cubicBezTo>
                  <a:pt x="186" y="93"/>
                  <a:pt x="185" y="96"/>
                  <a:pt x="184" y="97"/>
                </a:cubicBezTo>
                <a:cubicBezTo>
                  <a:pt x="184" y="99"/>
                  <a:pt x="186" y="102"/>
                  <a:pt x="190" y="102"/>
                </a:cubicBezTo>
                <a:cubicBezTo>
                  <a:pt x="190" y="102"/>
                  <a:pt x="190" y="102"/>
                  <a:pt x="190" y="102"/>
                </a:cubicBezTo>
                <a:cubicBezTo>
                  <a:pt x="190" y="102"/>
                  <a:pt x="190" y="102"/>
                  <a:pt x="190" y="102"/>
                </a:cubicBezTo>
                <a:cubicBezTo>
                  <a:pt x="194" y="102"/>
                  <a:pt x="196" y="99"/>
                  <a:pt x="196" y="97"/>
                </a:cubicBezTo>
                <a:cubicBezTo>
                  <a:pt x="194" y="96"/>
                  <a:pt x="194" y="93"/>
                  <a:pt x="193" y="84"/>
                </a:cubicBezTo>
                <a:close/>
              </a:path>
            </a:pathLst>
          </a:custGeom>
          <a:solidFill>
            <a:schemeClr val="bg1"/>
          </a:solidFill>
          <a:ln>
            <a:noFill/>
          </a:ln>
        </p:spPr>
        <p:txBody>
          <a:bodyPr vert="horz" wrap="square" lIns="96430" tIns="48216" rIns="96430" bIns="48216" numCol="1" anchor="t" anchorCtr="0" compatLnSpc="1">
            <a:prstTxWarp prst="textNoShape">
              <a:avLst/>
            </a:prstTxWarp>
          </a:bodyPr>
          <a:lstStyle/>
          <a:p>
            <a:pPr algn="just">
              <a:lnSpc>
                <a:spcPct val="120000"/>
              </a:lnSpc>
            </a:pPr>
            <a:endParaRPr lang="en-GB" sz="949" dirty="0">
              <a:latin typeface="印品黑体" panose="00000500000000000000" pitchFamily="2" charset="-122"/>
              <a:ea typeface="印品黑体" panose="00000500000000000000" pitchFamily="2" charset="-122"/>
              <a:cs typeface="+mn-ea"/>
              <a:sym typeface="Arial" panose="020B0604020202020204" pitchFamily="34" charset="0"/>
            </a:endParaRPr>
          </a:p>
        </p:txBody>
      </p:sp>
      <p:sp>
        <p:nvSpPr>
          <p:cNvPr id="24" name="矩形 23">
            <a:extLst>
              <a:ext uri="{FF2B5EF4-FFF2-40B4-BE49-F238E27FC236}">
                <a16:creationId xmlns:a16="http://schemas.microsoft.com/office/drawing/2014/main" id="{2BC90A71-048C-4474-8B07-7B7E4707A0CA}"/>
              </a:ext>
            </a:extLst>
          </p:cNvPr>
          <p:cNvSpPr/>
          <p:nvPr/>
        </p:nvSpPr>
        <p:spPr>
          <a:xfrm>
            <a:off x="580922" y="520573"/>
            <a:ext cx="535923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一、等产量曲线及其性质（</a:t>
            </a:r>
            <a:r>
              <a:rPr lang="en-US" altLang="zh-CN" sz="2400" b="1" spc="150" dirty="0">
                <a:solidFill>
                  <a:schemeClr val="bg1"/>
                </a:solidFill>
                <a:latin typeface="微软雅黑" panose="020B0503020204020204" pitchFamily="34" charset="-122"/>
                <a:ea typeface="微软雅黑" panose="020B0503020204020204" pitchFamily="34" charset="-122"/>
              </a:rPr>
              <a:t>or</a:t>
            </a:r>
            <a:r>
              <a:rPr lang="zh-CN" altLang="en-US" sz="2400" b="1" spc="150" dirty="0">
                <a:solidFill>
                  <a:schemeClr val="bg1"/>
                </a:solidFill>
                <a:latin typeface="微软雅黑" panose="020B0503020204020204" pitchFamily="34" charset="-122"/>
                <a:ea typeface="微软雅黑" panose="020B0503020204020204" pitchFamily="34" charset="-122"/>
              </a:rPr>
              <a:t>特征）</a:t>
            </a:r>
          </a:p>
        </p:txBody>
      </p:sp>
    </p:spTree>
    <p:extLst>
      <p:ext uri="{BB962C8B-B14F-4D97-AF65-F5344CB8AC3E}">
        <p14:creationId xmlns:p14="http://schemas.microsoft.com/office/powerpoint/2010/main" val="265009951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additive="base">
                                        <p:cTn id="14" dur="500" fill="hold"/>
                                        <p:tgtEl>
                                          <p:spTgt spid="25"/>
                                        </p:tgtEl>
                                        <p:attrNameLst>
                                          <p:attrName>ppt_x</p:attrName>
                                        </p:attrNameLst>
                                      </p:cBhvr>
                                      <p:tavLst>
                                        <p:tav tm="0">
                                          <p:val>
                                            <p:strVal val="#ppt_x"/>
                                          </p:val>
                                        </p:tav>
                                        <p:tav tm="100000">
                                          <p:val>
                                            <p:strVal val="#ppt_x"/>
                                          </p:val>
                                        </p:tav>
                                      </p:tavLst>
                                    </p:anim>
                                    <p:anim calcmode="lin" valueType="num">
                                      <p:cBhvr additive="base">
                                        <p:cTn id="15" dur="500" fill="hold"/>
                                        <p:tgtEl>
                                          <p:spTgt spid="25"/>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additive="base">
                                        <p:cTn id="18" dur="500" fill="hold"/>
                                        <p:tgtEl>
                                          <p:spTgt spid="3"/>
                                        </p:tgtEl>
                                        <p:attrNameLst>
                                          <p:attrName>ppt_x</p:attrName>
                                        </p:attrNameLst>
                                      </p:cBhvr>
                                      <p:tavLst>
                                        <p:tav tm="0">
                                          <p:val>
                                            <p:strVal val="#ppt_x"/>
                                          </p:val>
                                        </p:tav>
                                        <p:tav tm="100000">
                                          <p:val>
                                            <p:strVal val="#ppt_x"/>
                                          </p:val>
                                        </p:tav>
                                      </p:tavLst>
                                    </p:anim>
                                    <p:anim calcmode="lin" valueType="num">
                                      <p:cBhvr additive="base">
                                        <p:cTn id="19"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wipe(down)">
                                      <p:cBhvr>
                                        <p:cTn id="24" dur="500"/>
                                        <p:tgtEl>
                                          <p:spTgt spid="15"/>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down)">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00"/>
                                        <p:tgtEl>
                                          <p:spTgt spid="5"/>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wipe(down)">
                                      <p:cBhvr>
                                        <p:cTn id="40" dur="500"/>
                                        <p:tgtEl>
                                          <p:spTgt spid="12"/>
                                        </p:tgtEl>
                                      </p:cBhvr>
                                    </p:animEffect>
                                  </p:childTnLst>
                                </p:cTn>
                              </p:par>
                              <p:par>
                                <p:cTn id="41" presetID="22" presetClass="entr" presetSubtype="4"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down)">
                                      <p:cBhvr>
                                        <p:cTn id="43" dur="500"/>
                                        <p:tgtEl>
                                          <p:spTgt spid="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wipe(down)">
                                      <p:cBhvr>
                                        <p:cTn id="48" dur="500"/>
                                        <p:tgtEl>
                                          <p:spTgt spid="18"/>
                                        </p:tgtEl>
                                      </p:cBhvr>
                                    </p:animEffect>
                                  </p:childTnLst>
                                </p:cTn>
                              </p:par>
                              <p:par>
                                <p:cTn id="49" presetID="22" presetClass="entr" presetSubtype="4" fill="hold" grpId="0" nodeType="with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wipe(down)">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wipe(down)">
                                      <p:cBhvr>
                                        <p:cTn id="56" dur="500"/>
                                        <p:tgtEl>
                                          <p:spTgt spid="22"/>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8"/>
                                        </p:tgtEl>
                                        <p:attrNameLst>
                                          <p:attrName>style.visibility</p:attrName>
                                        </p:attrNameLst>
                                      </p:cBhvr>
                                      <p:to>
                                        <p:strVal val="visible"/>
                                      </p:to>
                                    </p:set>
                                    <p:animEffect transition="in" filter="wipe(down)">
                                      <p:cBhvr>
                                        <p:cTn id="5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2" grpId="0" animBg="1"/>
      <p:bldP spid="3" grpId="0"/>
      <p:bldP spid="4" grpId="0"/>
      <p:bldP spid="5" grpId="0"/>
      <p:bldP spid="6" grpId="0"/>
      <p:bldP spid="7" grpId="0"/>
      <p:bldP spid="8" grpId="0"/>
      <p:bldP spid="2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A991C5FE-DA1B-4DC3-A5E1-8A50596C4309}"/>
              </a:ext>
            </a:extLst>
          </p:cNvPr>
          <p:cNvSpPr/>
          <p:nvPr/>
        </p:nvSpPr>
        <p:spPr>
          <a:xfrm>
            <a:off x="580922" y="520573"/>
            <a:ext cx="319899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二、边际技术替代率</a:t>
            </a:r>
          </a:p>
        </p:txBody>
      </p:sp>
      <p:sp>
        <p:nvSpPr>
          <p:cNvPr id="4" name="矩形 3">
            <a:extLst>
              <a:ext uri="{FF2B5EF4-FFF2-40B4-BE49-F238E27FC236}">
                <a16:creationId xmlns:a16="http://schemas.microsoft.com/office/drawing/2014/main" id="{383C2B68-3FDC-419E-A9ED-74475A2ED10C}"/>
              </a:ext>
            </a:extLst>
          </p:cNvPr>
          <p:cNvSpPr/>
          <p:nvPr/>
        </p:nvSpPr>
        <p:spPr>
          <a:xfrm>
            <a:off x="6732240" y="35332"/>
            <a:ext cx="233108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第四节 长期生产函数</a:t>
            </a:r>
          </a:p>
        </p:txBody>
      </p:sp>
      <p:grpSp>
        <p:nvGrpSpPr>
          <p:cNvPr id="6" name="组合 5">
            <a:extLst>
              <a:ext uri="{FF2B5EF4-FFF2-40B4-BE49-F238E27FC236}">
                <a16:creationId xmlns:a16="http://schemas.microsoft.com/office/drawing/2014/main" id="{C96FA464-9AB4-4BF7-838A-9086378C5116}"/>
              </a:ext>
            </a:extLst>
          </p:cNvPr>
          <p:cNvGrpSpPr/>
          <p:nvPr/>
        </p:nvGrpSpPr>
        <p:grpSpPr>
          <a:xfrm>
            <a:off x="683568" y="1462428"/>
            <a:ext cx="3384000" cy="2542633"/>
            <a:chOff x="1496291" y="2161309"/>
            <a:chExt cx="3384000" cy="3990109"/>
          </a:xfrm>
        </p:grpSpPr>
        <p:sp>
          <p:nvSpPr>
            <p:cNvPr id="9" name="圆角矩形 5">
              <a:extLst>
                <a:ext uri="{FF2B5EF4-FFF2-40B4-BE49-F238E27FC236}">
                  <a16:creationId xmlns:a16="http://schemas.microsoft.com/office/drawing/2014/main" id="{670C8DED-EBFD-4FA2-9CD4-FF3F7C0564AF}"/>
                </a:ext>
              </a:extLst>
            </p:cNvPr>
            <p:cNvSpPr/>
            <p:nvPr/>
          </p:nvSpPr>
          <p:spPr>
            <a:xfrm>
              <a:off x="1496291" y="2161309"/>
              <a:ext cx="3384000" cy="3990109"/>
            </a:xfrm>
            <a:prstGeom prst="roundRect">
              <a:avLst>
                <a:gd name="adj" fmla="val 0"/>
              </a:avLst>
            </a:prstGeom>
            <a:solidFill>
              <a:schemeClr val="bg1">
                <a:lumMod val="9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cxnSp>
          <p:nvCxnSpPr>
            <p:cNvPr id="10" name="直接连接符 9">
              <a:extLst>
                <a:ext uri="{FF2B5EF4-FFF2-40B4-BE49-F238E27FC236}">
                  <a16:creationId xmlns:a16="http://schemas.microsoft.com/office/drawing/2014/main" id="{32DDE7F6-4589-4225-983E-F7A7864999CB}"/>
                </a:ext>
              </a:extLst>
            </p:cNvPr>
            <p:cNvCxnSpPr/>
            <p:nvPr/>
          </p:nvCxnSpPr>
          <p:spPr>
            <a:xfrm>
              <a:off x="2537128" y="2189793"/>
              <a:ext cx="1302327" cy="0"/>
            </a:xfrm>
            <a:prstGeom prst="line">
              <a:avLst/>
            </a:prstGeom>
            <a:ln w="76200">
              <a:gradFill flip="none" rotWithShape="1">
                <a:gsLst>
                  <a:gs pos="0">
                    <a:srgbClr val="85B2D2"/>
                  </a:gs>
                  <a:gs pos="100000">
                    <a:srgbClr val="AFD9E6"/>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3" name="矩形 2">
            <a:extLst>
              <a:ext uri="{FF2B5EF4-FFF2-40B4-BE49-F238E27FC236}">
                <a16:creationId xmlns:a16="http://schemas.microsoft.com/office/drawing/2014/main" id="{056C0ED1-22DB-40D2-B140-4ABB384CB752}"/>
              </a:ext>
            </a:extLst>
          </p:cNvPr>
          <p:cNvSpPr/>
          <p:nvPr/>
        </p:nvSpPr>
        <p:spPr>
          <a:xfrm>
            <a:off x="1169146" y="1728279"/>
            <a:ext cx="2268570" cy="400110"/>
          </a:xfrm>
          <a:prstGeom prst="rect">
            <a:avLst/>
          </a:prstGeom>
        </p:spPr>
        <p:txBody>
          <a:bodyPr wrap="none">
            <a:spAutoFit/>
          </a:bodyPr>
          <a:lstStyle/>
          <a:p>
            <a:pPr marL="285750" indent="-28575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边际技术替代率</a:t>
            </a:r>
          </a:p>
        </p:txBody>
      </p:sp>
      <p:sp>
        <p:nvSpPr>
          <p:cNvPr id="23" name="矩形 22">
            <a:extLst>
              <a:ext uri="{FF2B5EF4-FFF2-40B4-BE49-F238E27FC236}">
                <a16:creationId xmlns:a16="http://schemas.microsoft.com/office/drawing/2014/main" id="{F65CCE05-15D8-4DBD-AE02-A82F18F7A054}"/>
              </a:ext>
            </a:extLst>
          </p:cNvPr>
          <p:cNvSpPr/>
          <p:nvPr/>
        </p:nvSpPr>
        <p:spPr>
          <a:xfrm>
            <a:off x="861106" y="2313979"/>
            <a:ext cx="2984111" cy="1477328"/>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边际技术替代率表示，在产出水平保持不变的条件下，增加1单位一种要素的投入量可以代替的另外一种生产要素的投入量。</a:t>
            </a:r>
          </a:p>
        </p:txBody>
      </p:sp>
      <p:sp>
        <p:nvSpPr>
          <p:cNvPr id="25" name="圆角矩形 5">
            <a:extLst>
              <a:ext uri="{FF2B5EF4-FFF2-40B4-BE49-F238E27FC236}">
                <a16:creationId xmlns:a16="http://schemas.microsoft.com/office/drawing/2014/main" id="{A2402FA2-454E-4C7C-BA5E-512CDFBD0946}"/>
              </a:ext>
            </a:extLst>
          </p:cNvPr>
          <p:cNvSpPr/>
          <p:nvPr/>
        </p:nvSpPr>
        <p:spPr>
          <a:xfrm>
            <a:off x="4754505" y="1462429"/>
            <a:ext cx="3577839" cy="2038579"/>
          </a:xfrm>
          <a:prstGeom prst="roundRect">
            <a:avLst>
              <a:gd name="adj" fmla="val 0"/>
            </a:avLst>
          </a:prstGeom>
          <a:solidFill>
            <a:schemeClr val="bg1">
              <a:lumMod val="95000"/>
            </a:schemeClr>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endParaRPr>
          </a:p>
        </p:txBody>
      </p:sp>
      <p:sp>
        <p:nvSpPr>
          <p:cNvPr id="27" name="矩形 26">
            <a:extLst>
              <a:ext uri="{FF2B5EF4-FFF2-40B4-BE49-F238E27FC236}">
                <a16:creationId xmlns:a16="http://schemas.microsoft.com/office/drawing/2014/main" id="{44CCB3B9-2D81-45B3-801A-B496B45F909A}"/>
              </a:ext>
            </a:extLst>
          </p:cNvPr>
          <p:cNvSpPr/>
          <p:nvPr/>
        </p:nvSpPr>
        <p:spPr>
          <a:xfrm>
            <a:off x="4799154" y="1747004"/>
            <a:ext cx="3533191" cy="400110"/>
          </a:xfrm>
          <a:prstGeom prst="rect">
            <a:avLst/>
          </a:prstGeom>
        </p:spPr>
        <p:txBody>
          <a:bodyPr wrap="square">
            <a:spAutoFit/>
          </a:bodyPr>
          <a:lstStyle/>
          <a:p>
            <a:pPr marL="285750" indent="-285750">
              <a:buFont typeface="Wingdings" panose="05000000000000000000" pitchFamily="2" charset="2"/>
              <a:buChar char="u"/>
            </a:pPr>
            <a:r>
              <a:rPr lang="zh-CN" altLang="en-US" sz="2000" b="1" dirty="0">
                <a:latin typeface="微软雅黑" panose="020B0503020204020204" pitchFamily="34" charset="-122"/>
                <a:ea typeface="微软雅黑" panose="020B0503020204020204" pitchFamily="34" charset="-122"/>
              </a:rPr>
              <a:t>边际技术替代率与边际产量</a:t>
            </a:r>
          </a:p>
        </p:txBody>
      </p:sp>
      <p:sp>
        <p:nvSpPr>
          <p:cNvPr id="28" name="矩形 27">
            <a:extLst>
              <a:ext uri="{FF2B5EF4-FFF2-40B4-BE49-F238E27FC236}">
                <a16:creationId xmlns:a16="http://schemas.microsoft.com/office/drawing/2014/main" id="{69AD1A5F-342B-4FE2-8478-9AAD98D88A6B}"/>
              </a:ext>
            </a:extLst>
          </p:cNvPr>
          <p:cNvSpPr/>
          <p:nvPr/>
        </p:nvSpPr>
        <p:spPr>
          <a:xfrm>
            <a:off x="4940402" y="2300294"/>
            <a:ext cx="3231998" cy="923330"/>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一种要素的边际产量决定了它对另外一种生产要素的替代能力的大小。</a:t>
            </a:r>
          </a:p>
        </p:txBody>
      </p:sp>
      <p:cxnSp>
        <p:nvCxnSpPr>
          <p:cNvPr id="29" name="直接连接符 28">
            <a:extLst>
              <a:ext uri="{FF2B5EF4-FFF2-40B4-BE49-F238E27FC236}">
                <a16:creationId xmlns:a16="http://schemas.microsoft.com/office/drawing/2014/main" id="{7F4FF64F-3344-40AE-AF99-A30D4EBB8372}"/>
              </a:ext>
            </a:extLst>
          </p:cNvPr>
          <p:cNvCxnSpPr/>
          <p:nvPr/>
        </p:nvCxnSpPr>
        <p:spPr>
          <a:xfrm>
            <a:off x="5796136" y="1462429"/>
            <a:ext cx="1302327" cy="0"/>
          </a:xfrm>
          <a:prstGeom prst="line">
            <a:avLst/>
          </a:prstGeom>
          <a:ln w="76200">
            <a:gradFill flip="none" rotWithShape="1">
              <a:gsLst>
                <a:gs pos="0">
                  <a:srgbClr val="85B2D2"/>
                </a:gs>
                <a:gs pos="100000">
                  <a:srgbClr val="AFD9E6"/>
                </a:gs>
              </a:gsLst>
              <a:lin ang="0" scaled="1"/>
              <a:tileRect/>
            </a:gra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B5634F74-6A52-4269-8FCD-4FECC0CA91D2}"/>
                  </a:ext>
                </a:extLst>
              </p:cNvPr>
              <p:cNvSpPr txBox="1"/>
              <p:nvPr/>
            </p:nvSpPr>
            <p:spPr>
              <a:xfrm>
                <a:off x="861106" y="4452815"/>
                <a:ext cx="2918806" cy="75834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solidFill>
                            <a:schemeClr val="tx1"/>
                          </a:solidFill>
                          <a:latin typeface="Cambria Math" panose="02040503050406030204" pitchFamily="18" charset="0"/>
                        </a:rPr>
                        <m:t>𝑀𝑅𝑇</m:t>
                      </m:r>
                      <m:sSub>
                        <m:sSubPr>
                          <m:ctrlPr>
                            <a:rPr lang="zh-CN" altLang="en-US" sz="2000" i="1" smtClean="0">
                              <a:solidFill>
                                <a:schemeClr val="tx1"/>
                              </a:solidFill>
                              <a:latin typeface="Cambria Math" panose="02040503050406030204" pitchFamily="18" charset="0"/>
                            </a:rPr>
                          </m:ctrlPr>
                        </m:sSubPr>
                        <m:e>
                          <m:r>
                            <a:rPr lang="zh-CN" altLang="en-US" sz="2000" i="1" smtClean="0">
                              <a:solidFill>
                                <a:schemeClr val="tx1"/>
                              </a:solidFill>
                              <a:latin typeface="Cambria Math" panose="02040503050406030204" pitchFamily="18" charset="0"/>
                            </a:rPr>
                            <m:t>𝑆</m:t>
                          </m:r>
                        </m:e>
                        <m:sub>
                          <m:r>
                            <a:rPr lang="zh-CN" altLang="en-US" sz="2000" i="1" smtClean="0">
                              <a:solidFill>
                                <a:schemeClr val="tx1"/>
                              </a:solidFill>
                              <a:latin typeface="Cambria Math" panose="02040503050406030204" pitchFamily="18" charset="0"/>
                            </a:rPr>
                            <m:t>𝐿</m:t>
                          </m:r>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𝐾</m:t>
                          </m:r>
                        </m:sub>
                      </m:sSub>
                      <m:r>
                        <a:rPr lang="zh-CN" altLang="en-US" sz="200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m:t>
                      </m:r>
                      <m:sSub>
                        <m:sSubPr>
                          <m:ctrlPr>
                            <a:rPr lang="zh-CN" altLang="en-US" sz="2000" i="1" smtClean="0">
                              <a:solidFill>
                                <a:schemeClr val="tx1"/>
                              </a:solidFill>
                              <a:latin typeface="Cambria Math" panose="02040503050406030204" pitchFamily="18" charset="0"/>
                            </a:rPr>
                          </m:ctrlPr>
                        </m:sSubPr>
                        <m:e>
                          <m:d>
                            <m:dPr>
                              <m:begChr m:val=""/>
                              <m:endChr m:val="|"/>
                              <m:ctrlPr>
                                <a:rPr lang="zh-CN" altLang="en-US" sz="2000" i="1" smtClean="0">
                                  <a:solidFill>
                                    <a:schemeClr val="tx1"/>
                                  </a:solidFill>
                                  <a:latin typeface="Cambria Math" panose="02040503050406030204" pitchFamily="18" charset="0"/>
                                </a:rPr>
                              </m:ctrlPr>
                            </m:dPr>
                            <m:e>
                              <m:f>
                                <m:fPr>
                                  <m:ctrlPr>
                                    <a:rPr lang="zh-CN" altLang="en-US" sz="2000" i="1" smtClean="0">
                                      <a:solidFill>
                                        <a:schemeClr val="tx1"/>
                                      </a:solidFill>
                                      <a:latin typeface="Cambria Math" panose="02040503050406030204" pitchFamily="18" charset="0"/>
                                    </a:rPr>
                                  </m:ctrlPr>
                                </m:fPr>
                                <m:num>
                                  <m:r>
                                    <m:rPr>
                                      <m:sty m:val="p"/>
                                    </m:rPr>
                                    <a:rPr lang="zh-CN" altLang="en-US" sz="2000" i="1" smtClean="0">
                                      <a:solidFill>
                                        <a:schemeClr val="tx1"/>
                                      </a:solidFill>
                                      <a:latin typeface="Cambria Math" panose="02040503050406030204" pitchFamily="18" charset="0"/>
                                    </a:rPr>
                                    <m:t>Δ</m:t>
                                  </m:r>
                                  <m:r>
                                    <a:rPr lang="en-US" altLang="zh-CN" sz="2000" b="0" i="1" smtClean="0">
                                      <a:solidFill>
                                        <a:schemeClr val="tx1"/>
                                      </a:solidFill>
                                      <a:latin typeface="Cambria Math" panose="02040503050406030204" pitchFamily="18" charset="0"/>
                                    </a:rPr>
                                    <m:t>𝐾</m:t>
                                  </m:r>
                                </m:num>
                                <m:den>
                                  <m:r>
                                    <m:rPr>
                                      <m:sty m:val="p"/>
                                    </m:rPr>
                                    <a:rPr lang="zh-CN" altLang="en-US" sz="2000" i="1" smtClean="0">
                                      <a:solidFill>
                                        <a:schemeClr val="tx1"/>
                                      </a:solidFill>
                                      <a:latin typeface="Cambria Math" panose="02040503050406030204" pitchFamily="18" charset="0"/>
                                    </a:rPr>
                                    <m:t>Δ</m:t>
                                  </m:r>
                                  <m:r>
                                    <a:rPr lang="zh-CN" altLang="en-US" sz="2000" i="1" smtClean="0">
                                      <a:solidFill>
                                        <a:schemeClr val="tx1"/>
                                      </a:solidFill>
                                      <a:latin typeface="Cambria Math" panose="02040503050406030204" pitchFamily="18" charset="0"/>
                                    </a:rPr>
                                    <m:t>𝐿</m:t>
                                  </m:r>
                                </m:den>
                              </m:f>
                            </m:e>
                          </m:d>
                        </m:e>
                        <m:sub>
                          <m:r>
                            <a:rPr lang="zh-CN" altLang="en-US" sz="2000" i="1" smtClean="0">
                              <a:solidFill>
                                <a:schemeClr val="tx1"/>
                              </a:solidFill>
                              <a:latin typeface="Cambria Math" panose="02040503050406030204" pitchFamily="18" charset="0"/>
                            </a:rPr>
                            <m:t>𝑄</m:t>
                          </m:r>
                          <m:r>
                            <m:rPr>
                              <m:nor/>
                            </m:rPr>
                            <a:rPr lang="zh-CN" altLang="en-US" dirty="0">
                              <a:solidFill>
                                <a:schemeClr val="tx1"/>
                              </a:solidFill>
                              <a:latin typeface="微软雅黑" panose="020B0503020204020204" pitchFamily="34" charset="-122"/>
                              <a:ea typeface="微软雅黑" panose="020B0503020204020204" pitchFamily="34" charset="-122"/>
                            </a:rPr>
                            <m:t>不变</m:t>
                          </m:r>
                        </m:sub>
                      </m:sSub>
                    </m:oMath>
                  </m:oMathPara>
                </a14:m>
                <a:endParaRPr lang="zh-CN" altLang="en-US" sz="2000" dirty="0">
                  <a:solidFill>
                    <a:schemeClr val="tx1"/>
                  </a:solidFill>
                </a:endParaRPr>
              </a:p>
            </p:txBody>
          </p:sp>
        </mc:Choice>
        <mc:Fallback xmlns="">
          <p:sp>
            <p:nvSpPr>
              <p:cNvPr id="31" name="文本框 30">
                <a:extLst>
                  <a:ext uri="{FF2B5EF4-FFF2-40B4-BE49-F238E27FC236}">
                    <a16:creationId xmlns:a16="http://schemas.microsoft.com/office/drawing/2014/main" id="{B5634F74-6A52-4269-8FCD-4FECC0CA91D2}"/>
                  </a:ext>
                </a:extLst>
              </p:cNvPr>
              <p:cNvSpPr txBox="1">
                <a:spLocks noRot="1" noChangeAspect="1" noMove="1" noResize="1" noEditPoints="1" noAdjustHandles="1" noChangeArrowheads="1" noChangeShapeType="1" noTextEdit="1"/>
              </p:cNvSpPr>
              <p:nvPr/>
            </p:nvSpPr>
            <p:spPr>
              <a:xfrm>
                <a:off x="861106" y="4452815"/>
                <a:ext cx="2918806" cy="758349"/>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7CCE2A51-D73A-4041-8B04-1E5CB1FD6172}"/>
                  </a:ext>
                </a:extLst>
              </p:cNvPr>
              <p:cNvSpPr txBox="1"/>
              <p:nvPr/>
            </p:nvSpPr>
            <p:spPr>
              <a:xfrm>
                <a:off x="5076434" y="3674028"/>
                <a:ext cx="2663918" cy="5657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𝑀𝑅𝑇</m:t>
                      </m:r>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𝑆</m:t>
                          </m:r>
                        </m:e>
                        <m:sub>
                          <m:r>
                            <a:rPr lang="zh-CN" altLang="en-US" i="1" smtClean="0">
                              <a:solidFill>
                                <a:schemeClr val="tx1"/>
                              </a:solidFill>
                              <a:latin typeface="Cambria Math" panose="02040503050406030204" pitchFamily="18" charset="0"/>
                            </a:rPr>
                            <m:t>𝐿</m:t>
                          </m:r>
                          <m:r>
                            <a:rPr lang="en-US" altLang="zh-CN" b="0" i="1" smtClean="0">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𝐾</m:t>
                          </m:r>
                        </m:sub>
                      </m:sSub>
                      <m:r>
                        <a:rPr lang="zh-CN" altLang="en-US" i="1" smtClean="0">
                          <a:solidFill>
                            <a:schemeClr val="tx1"/>
                          </a:solidFill>
                          <a:latin typeface="Cambria Math" panose="02040503050406030204" pitchFamily="18" charset="0"/>
                        </a:rPr>
                        <m:t>=−</m:t>
                      </m:r>
                      <m:f>
                        <m:fPr>
                          <m:ctrlPr>
                            <a:rPr lang="zh-CN" altLang="en-US" i="1" smtClean="0">
                              <a:solidFill>
                                <a:schemeClr val="tx1"/>
                              </a:solidFill>
                              <a:latin typeface="Cambria Math" panose="02040503050406030204" pitchFamily="18" charset="0"/>
                            </a:rPr>
                          </m:ctrlPr>
                        </m:fPr>
                        <m:num>
                          <m:r>
                            <m:rPr>
                              <m:sty m:val="p"/>
                            </m:rPr>
                            <a:rPr lang="zh-CN" altLang="en-US" i="1" smtClean="0">
                              <a:solidFill>
                                <a:schemeClr val="tx1"/>
                              </a:solidFill>
                              <a:latin typeface="Cambria Math" panose="02040503050406030204" pitchFamily="18" charset="0"/>
                            </a:rPr>
                            <m:t>Δ</m:t>
                          </m:r>
                          <m:r>
                            <a:rPr lang="en-US" altLang="zh-CN" b="0" i="1" smtClean="0">
                              <a:solidFill>
                                <a:schemeClr val="tx1"/>
                              </a:solidFill>
                              <a:latin typeface="Cambria Math" panose="02040503050406030204" pitchFamily="18" charset="0"/>
                            </a:rPr>
                            <m:t>𝐾</m:t>
                          </m:r>
                        </m:num>
                        <m:den>
                          <m:r>
                            <m:rPr>
                              <m:sty m:val="p"/>
                            </m:rPr>
                            <a:rPr lang="zh-CN" altLang="en-US" i="1" smtClean="0">
                              <a:solidFill>
                                <a:schemeClr val="tx1"/>
                              </a:solidFill>
                              <a:latin typeface="Cambria Math" panose="02040503050406030204" pitchFamily="18" charset="0"/>
                            </a:rPr>
                            <m:t>Δ</m:t>
                          </m:r>
                          <m:r>
                            <a:rPr lang="zh-CN" altLang="en-US" i="1" smtClean="0">
                              <a:solidFill>
                                <a:schemeClr val="tx1"/>
                              </a:solidFill>
                              <a:latin typeface="Cambria Math" panose="02040503050406030204" pitchFamily="18" charset="0"/>
                            </a:rPr>
                            <m:t>𝐿</m:t>
                          </m:r>
                        </m:den>
                      </m:f>
                      <m:r>
                        <a:rPr lang="zh-CN" altLang="en-US" i="1" smtClean="0">
                          <a:solidFill>
                            <a:schemeClr val="tx1"/>
                          </a:solidFill>
                          <a:latin typeface="Cambria Math" panose="02040503050406030204" pitchFamily="18" charset="0"/>
                        </a:rPr>
                        <m:t>=</m:t>
                      </m:r>
                      <m:f>
                        <m:fPr>
                          <m:ctrlPr>
                            <a:rPr lang="zh-CN" altLang="en-US" i="1" smtClean="0">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𝑀</m:t>
                          </m:r>
                          <m:sSub>
                            <m:sSubPr>
                              <m:ctrlPr>
                                <a:rPr lang="zh-CN" altLang="en-US" i="1" smtClean="0">
                                  <a:solidFill>
                                    <a:schemeClr val="tx1"/>
                                  </a:solidFill>
                                  <a:latin typeface="Cambria Math" panose="02040503050406030204" pitchFamily="18" charset="0"/>
                                </a:rPr>
                              </m:ctrlPr>
                            </m:sSubPr>
                            <m:e>
                              <m:r>
                                <a:rPr lang="zh-CN" altLang="en-US" i="1" smtClean="0">
                                  <a:solidFill>
                                    <a:schemeClr val="tx1"/>
                                  </a:solidFill>
                                  <a:latin typeface="Cambria Math" panose="02040503050406030204" pitchFamily="18" charset="0"/>
                                </a:rPr>
                                <m:t>𝑃</m:t>
                              </m:r>
                            </m:e>
                            <m:sub>
                              <m:r>
                                <a:rPr lang="zh-CN" altLang="en-US" i="1" smtClean="0">
                                  <a:solidFill>
                                    <a:schemeClr val="tx1"/>
                                  </a:solidFill>
                                  <a:latin typeface="Cambria Math" panose="02040503050406030204" pitchFamily="18" charset="0"/>
                                </a:rPr>
                                <m:t>𝐿</m:t>
                              </m:r>
                            </m:sub>
                          </m:sSub>
                        </m:num>
                        <m:den>
                          <m:r>
                            <a:rPr lang="en-US" altLang="zh-CN" b="0" i="1" smtClean="0">
                              <a:solidFill>
                                <a:schemeClr val="tx1"/>
                              </a:solidFill>
                              <a:latin typeface="Cambria Math" panose="02040503050406030204" pitchFamily="18" charset="0"/>
                            </a:rPr>
                            <m:t>𝑀</m:t>
                          </m:r>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𝑃</m:t>
                              </m:r>
                            </m:e>
                            <m:sub>
                              <m:r>
                                <a:rPr lang="en-US" altLang="zh-CN" b="0" i="1" smtClean="0">
                                  <a:solidFill>
                                    <a:schemeClr val="tx1"/>
                                  </a:solidFill>
                                  <a:latin typeface="Cambria Math" panose="02040503050406030204" pitchFamily="18" charset="0"/>
                                </a:rPr>
                                <m:t>𝐾</m:t>
                              </m:r>
                            </m:sub>
                          </m:sSub>
                        </m:den>
                      </m:f>
                    </m:oMath>
                  </m:oMathPara>
                </a14:m>
                <a:endParaRPr lang="zh-CN" altLang="en-US" dirty="0">
                  <a:solidFill>
                    <a:schemeClr val="tx1"/>
                  </a:solidFill>
                </a:endParaRPr>
              </a:p>
            </p:txBody>
          </p:sp>
        </mc:Choice>
        <mc:Fallback xmlns="">
          <p:sp>
            <p:nvSpPr>
              <p:cNvPr id="35" name="文本框 34">
                <a:extLst>
                  <a:ext uri="{FF2B5EF4-FFF2-40B4-BE49-F238E27FC236}">
                    <a16:creationId xmlns:a16="http://schemas.microsoft.com/office/drawing/2014/main" id="{7CCE2A51-D73A-4041-8B04-1E5CB1FD6172}"/>
                  </a:ext>
                </a:extLst>
              </p:cNvPr>
              <p:cNvSpPr txBox="1">
                <a:spLocks noRot="1" noChangeAspect="1" noMove="1" noResize="1" noEditPoints="1" noAdjustHandles="1" noChangeArrowheads="1" noChangeShapeType="1" noTextEdit="1"/>
              </p:cNvSpPr>
              <p:nvPr/>
            </p:nvSpPr>
            <p:spPr>
              <a:xfrm>
                <a:off x="5076434" y="3674028"/>
                <a:ext cx="2663918" cy="565732"/>
              </a:xfrm>
              <a:prstGeom prst="rect">
                <a:avLst/>
              </a:prstGeom>
              <a:blipFill>
                <a:blip r:embed="rId3"/>
                <a:stretch>
                  <a:fillRect/>
                </a:stretch>
              </a:blipFill>
            </p:spPr>
            <p:txBody>
              <a:bodyPr/>
              <a:lstStyle/>
              <a:p>
                <a:r>
                  <a:rPr lang="zh-CN" altLang="en-US">
                    <a:noFill/>
                  </a:rPr>
                  <a:t> </a:t>
                </a:r>
              </a:p>
            </p:txBody>
          </p:sp>
        </mc:Fallback>
      </mc:AlternateContent>
      <p:cxnSp>
        <p:nvCxnSpPr>
          <p:cNvPr id="36" name="直接箭头连接符 35">
            <a:extLst>
              <a:ext uri="{FF2B5EF4-FFF2-40B4-BE49-F238E27FC236}">
                <a16:creationId xmlns:a16="http://schemas.microsoft.com/office/drawing/2014/main" id="{8F4971A6-62BD-4C7F-8719-2ED9D6EA4930}"/>
              </a:ext>
            </a:extLst>
          </p:cNvPr>
          <p:cNvCxnSpPr/>
          <p:nvPr/>
        </p:nvCxnSpPr>
        <p:spPr bwMode="auto">
          <a:xfrm flipV="1">
            <a:off x="5724128" y="4005061"/>
            <a:ext cx="504056" cy="759206"/>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矩形 36">
            <a:extLst>
              <a:ext uri="{FF2B5EF4-FFF2-40B4-BE49-F238E27FC236}">
                <a16:creationId xmlns:a16="http://schemas.microsoft.com/office/drawing/2014/main" id="{754F88BB-57BE-4385-98CA-827C87B7B009}"/>
              </a:ext>
            </a:extLst>
          </p:cNvPr>
          <p:cNvSpPr/>
          <p:nvPr/>
        </p:nvSpPr>
        <p:spPr>
          <a:xfrm>
            <a:off x="4452334" y="4732162"/>
            <a:ext cx="2281394" cy="369332"/>
          </a:xfrm>
          <a:prstGeom prst="rect">
            <a:avLst/>
          </a:prstGeom>
          <a:noFill/>
        </p:spPr>
        <p:txBody>
          <a:bodyPr wrap="none">
            <a:spAutoFit/>
          </a:bodyPr>
          <a:lstStyle/>
          <a:p>
            <a:r>
              <a:rPr lang="zh-CN" altLang="en-US" b="1" dirty="0">
                <a:solidFill>
                  <a:srgbClr val="85B2D2"/>
                </a:solidFill>
                <a:latin typeface="微软雅黑" panose="020B0503020204020204" pitchFamily="34" charset="-122"/>
                <a:ea typeface="微软雅黑" panose="020B0503020204020204" pitchFamily="34" charset="-122"/>
              </a:rPr>
              <a:t>定义方程</a:t>
            </a:r>
            <a:r>
              <a:rPr lang="en-US" altLang="zh-CN" b="1" dirty="0">
                <a:solidFill>
                  <a:srgbClr val="85B2D2"/>
                </a:solidFill>
                <a:latin typeface="微软雅黑" panose="020B0503020204020204" pitchFamily="34" charset="-122"/>
                <a:ea typeface="微软雅黑" panose="020B0503020204020204" pitchFamily="34" charset="-122"/>
              </a:rPr>
              <a:t>—</a:t>
            </a:r>
            <a:r>
              <a:rPr lang="zh-CN" altLang="en-US" b="1" dirty="0">
                <a:solidFill>
                  <a:srgbClr val="85B2D2"/>
                </a:solidFill>
                <a:latin typeface="微软雅黑" panose="020B0503020204020204" pitchFamily="34" charset="-122"/>
                <a:ea typeface="微软雅黑" panose="020B0503020204020204" pitchFamily="34" charset="-122"/>
              </a:rPr>
              <a:t>是什么？</a:t>
            </a:r>
          </a:p>
        </p:txBody>
      </p:sp>
      <p:sp>
        <p:nvSpPr>
          <p:cNvPr id="38" name="矩形 37">
            <a:extLst>
              <a:ext uri="{FF2B5EF4-FFF2-40B4-BE49-F238E27FC236}">
                <a16:creationId xmlns:a16="http://schemas.microsoft.com/office/drawing/2014/main" id="{E1D9674A-4FEF-46BF-854E-3A4248731ADA}"/>
              </a:ext>
            </a:extLst>
          </p:cNvPr>
          <p:cNvSpPr/>
          <p:nvPr/>
        </p:nvSpPr>
        <p:spPr>
          <a:xfrm>
            <a:off x="6228184" y="5409230"/>
            <a:ext cx="2723823" cy="369332"/>
          </a:xfrm>
          <a:prstGeom prst="rect">
            <a:avLst/>
          </a:prstGeom>
          <a:noFill/>
        </p:spPr>
        <p:txBody>
          <a:bodyPr wrap="none">
            <a:spAutoFit/>
          </a:bodyPr>
          <a:lstStyle/>
          <a:p>
            <a:r>
              <a:rPr lang="zh-CN" altLang="en-US" b="1" dirty="0">
                <a:solidFill>
                  <a:srgbClr val="85B2D2"/>
                </a:solidFill>
                <a:latin typeface="微软雅黑" panose="020B0503020204020204" pitchFamily="34" charset="-122"/>
                <a:ea typeface="微软雅黑" panose="020B0503020204020204" pitchFamily="34" charset="-122"/>
              </a:rPr>
              <a:t>行为方程—决定于什么？</a:t>
            </a:r>
          </a:p>
        </p:txBody>
      </p:sp>
      <p:cxnSp>
        <p:nvCxnSpPr>
          <p:cNvPr id="39" name="直接箭头连接符 38">
            <a:extLst>
              <a:ext uri="{FF2B5EF4-FFF2-40B4-BE49-F238E27FC236}">
                <a16:creationId xmlns:a16="http://schemas.microsoft.com/office/drawing/2014/main" id="{989C6960-FF8F-4509-BBFE-A9B0B2E8AE04}"/>
              </a:ext>
            </a:extLst>
          </p:cNvPr>
          <p:cNvCxnSpPr>
            <a:stCxn id="38" idx="0"/>
          </p:cNvCxnSpPr>
          <p:nvPr/>
        </p:nvCxnSpPr>
        <p:spPr bwMode="auto">
          <a:xfrm flipH="1" flipV="1">
            <a:off x="7098463" y="4005061"/>
            <a:ext cx="491633" cy="1404169"/>
          </a:xfrm>
          <a:prstGeom prst="straightConnector1">
            <a:avLst/>
          </a:prstGeom>
          <a:solidFill>
            <a:schemeClr val="accent1"/>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210402110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fade">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up)">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5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00"/>
                                        <p:tgtEl>
                                          <p:spTgt spid="27"/>
                                        </p:tgtEl>
                                      </p:cBhvr>
                                    </p:animEffect>
                                  </p:childTnLst>
                                </p:cTn>
                              </p:par>
                              <p:par>
                                <p:cTn id="36" presetID="10" presetClass="entr" presetSubtype="0" fill="hold"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wipe(left)">
                                      <p:cBhvr>
                                        <p:cTn id="43" dur="5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animEffect transition="in" filter="wipe(down)">
                                      <p:cBhvr>
                                        <p:cTn id="48" dur="500"/>
                                        <p:tgtEl>
                                          <p:spTgt spid="37"/>
                                        </p:tgtEl>
                                      </p:cBhvr>
                                    </p:animEffect>
                                  </p:childTnLst>
                                </p:cTn>
                              </p:par>
                              <p:par>
                                <p:cTn id="49" presetID="22" presetClass="entr" presetSubtype="4" fill="hold"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wipe(down)">
                                      <p:cBhvr>
                                        <p:cTn id="51" dur="500"/>
                                        <p:tgtEl>
                                          <p:spTgt spid="3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38"/>
                                        </p:tgtEl>
                                        <p:attrNameLst>
                                          <p:attrName>style.visibility</p:attrName>
                                        </p:attrNameLst>
                                      </p:cBhvr>
                                      <p:to>
                                        <p:strVal val="visible"/>
                                      </p:to>
                                    </p:set>
                                    <p:animEffect transition="in" filter="wipe(down)">
                                      <p:cBhvr>
                                        <p:cTn id="56" dur="500"/>
                                        <p:tgtEl>
                                          <p:spTgt spid="38"/>
                                        </p:tgtEl>
                                      </p:cBhvr>
                                    </p:animEffect>
                                  </p:childTnLst>
                                </p:cTn>
                              </p:par>
                              <p:par>
                                <p:cTn id="57" presetID="22" presetClass="entr" presetSubtype="4" fill="hold" nodeType="with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wipe(down)">
                                      <p:cBhvr>
                                        <p:cTn id="59" dur="500"/>
                                        <p:tgtEl>
                                          <p:spTgt spid="39"/>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1"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wipe(up)">
                                      <p:cBhvr>
                                        <p:cTn id="6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23" grpId="0"/>
      <p:bldP spid="25" grpId="0" animBg="1"/>
      <p:bldP spid="27" grpId="0"/>
      <p:bldP spid="28" grpId="0"/>
      <p:bldP spid="31" grpId="0"/>
      <p:bldP spid="35" grpId="0"/>
      <p:bldP spid="37" grpId="0"/>
      <p:bldP spid="3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矩形: 圆角 52">
            <a:extLst>
              <a:ext uri="{FF2B5EF4-FFF2-40B4-BE49-F238E27FC236}">
                <a16:creationId xmlns:a16="http://schemas.microsoft.com/office/drawing/2014/main" id="{46759881-2506-4492-ADA6-D264557A29B2}"/>
              </a:ext>
            </a:extLst>
          </p:cNvPr>
          <p:cNvSpPr/>
          <p:nvPr/>
        </p:nvSpPr>
        <p:spPr>
          <a:xfrm>
            <a:off x="882555" y="1299331"/>
            <a:ext cx="3856842"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圆角矩形 2">
            <a:extLst>
              <a:ext uri="{FF2B5EF4-FFF2-40B4-BE49-F238E27FC236}">
                <a16:creationId xmlns:a16="http://schemas.microsoft.com/office/drawing/2014/main" id="{E53D702A-DF95-4D59-8F5E-CDC3916DAB08}"/>
              </a:ext>
            </a:extLst>
          </p:cNvPr>
          <p:cNvSpPr/>
          <p:nvPr/>
        </p:nvSpPr>
        <p:spPr bwMode="auto">
          <a:xfrm>
            <a:off x="2098332" y="2309497"/>
            <a:ext cx="3110893" cy="1500187"/>
          </a:xfrm>
          <a:prstGeom prst="roundRect">
            <a:avLst/>
          </a:prstGeom>
          <a:solidFill>
            <a:srgbClr val="AFD9E6"/>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effectLst/>
              <a:latin typeface="Arial" panose="020B0604020202020204" pitchFamily="34" charset="0"/>
              <a:ea typeface="宋体" panose="02010600030101010101" pitchFamily="2" charset="-122"/>
            </a:endParaRPr>
          </a:p>
        </p:txBody>
      </p:sp>
      <p:sp>
        <p:nvSpPr>
          <p:cNvPr id="2" name="矩形 1">
            <a:extLst>
              <a:ext uri="{FF2B5EF4-FFF2-40B4-BE49-F238E27FC236}">
                <a16:creationId xmlns:a16="http://schemas.microsoft.com/office/drawing/2014/main" id="{8D2A0FF5-5DDC-4C6D-91D9-AFDB6A18C089}"/>
              </a:ext>
            </a:extLst>
          </p:cNvPr>
          <p:cNvSpPr/>
          <p:nvPr/>
        </p:nvSpPr>
        <p:spPr>
          <a:xfrm>
            <a:off x="6732240" y="35332"/>
            <a:ext cx="233108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第四节 长期生产函数</a:t>
            </a:r>
          </a:p>
        </p:txBody>
      </p:sp>
      <p:sp>
        <p:nvSpPr>
          <p:cNvPr id="25" name="矩形 24">
            <a:extLst>
              <a:ext uri="{FF2B5EF4-FFF2-40B4-BE49-F238E27FC236}">
                <a16:creationId xmlns:a16="http://schemas.microsoft.com/office/drawing/2014/main" id="{1CD0C715-B53B-481A-BC37-4EF32791762F}"/>
              </a:ext>
            </a:extLst>
          </p:cNvPr>
          <p:cNvSpPr/>
          <p:nvPr/>
        </p:nvSpPr>
        <p:spPr>
          <a:xfrm>
            <a:off x="882555" y="1330576"/>
            <a:ext cx="3906316"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spc="150" dirty="0">
                <a:latin typeface="微软雅黑" panose="020B0503020204020204" pitchFamily="34" charset="-122"/>
                <a:ea typeface="微软雅黑" panose="020B0503020204020204" pitchFamily="34" charset="-122"/>
              </a:rPr>
              <a:t>边际技术替代率与边际产量</a:t>
            </a:r>
          </a:p>
        </p:txBody>
      </p:sp>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A70D52EA-6823-4333-B5C8-4F6B0A91536D}"/>
                  </a:ext>
                </a:extLst>
              </p:cNvPr>
              <p:cNvSpPr/>
              <p:nvPr/>
            </p:nvSpPr>
            <p:spPr>
              <a:xfrm>
                <a:off x="1787657" y="2353198"/>
                <a:ext cx="3620823" cy="85190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000" i="1" smtClean="0">
                          <a:solidFill>
                            <a:schemeClr val="tx1"/>
                          </a:solidFill>
                          <a:latin typeface="Cambria Math" panose="02040503050406030204" pitchFamily="18" charset="0"/>
                        </a:rPr>
                        <m:t>𝑀𝑅𝑇</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𝑆</m:t>
                          </m:r>
                        </m:e>
                        <m:sub>
                          <m:r>
                            <a:rPr lang="zh-CN" altLang="en-US" sz="2000" i="1">
                              <a:solidFill>
                                <a:schemeClr val="tx1"/>
                              </a:solidFill>
                              <a:latin typeface="Cambria Math" panose="02040503050406030204" pitchFamily="18" charset="0"/>
                            </a:rPr>
                            <m:t>𝐿</m:t>
                          </m:r>
                          <m:r>
                            <a:rPr lang="en-US" altLang="zh-CN" sz="2000" i="1">
                              <a:solidFill>
                                <a:schemeClr val="tx1"/>
                              </a:solidFill>
                              <a:latin typeface="Cambria Math" panose="02040503050406030204" pitchFamily="18" charset="0"/>
                            </a:rPr>
                            <m:t>,</m:t>
                          </m:r>
                          <m:r>
                            <a:rPr lang="en-US" altLang="zh-CN" sz="2000" i="1">
                              <a:solidFill>
                                <a:schemeClr val="tx1"/>
                              </a:solidFill>
                              <a:latin typeface="Cambria Math" panose="02040503050406030204" pitchFamily="18" charset="0"/>
                            </a:rPr>
                            <m:t>𝐾</m:t>
                          </m:r>
                        </m:sub>
                      </m:sSub>
                      <m:r>
                        <a:rPr lang="zh-CN" altLang="en-US" sz="2000" i="1">
                          <a:solidFill>
                            <a:schemeClr val="tx1"/>
                          </a:solidFill>
                          <a:latin typeface="Cambria Math" panose="02040503050406030204" pitchFamily="18" charset="0"/>
                        </a:rPr>
                        <m:t>=</m:t>
                      </m:r>
                      <m:r>
                        <a:rPr lang="en-US" altLang="zh-CN" sz="2000" i="1">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d>
                            <m:dPr>
                              <m:begChr m:val=""/>
                              <m:endChr m:val="|"/>
                              <m:ctrlPr>
                                <a:rPr lang="zh-CN" altLang="en-US" sz="2000" i="1">
                                  <a:solidFill>
                                    <a:schemeClr val="tx1"/>
                                  </a:solidFill>
                                  <a:latin typeface="Cambria Math" panose="02040503050406030204" pitchFamily="18" charset="0"/>
                                </a:rPr>
                              </m:ctrlPr>
                            </m:dPr>
                            <m:e>
                              <m:f>
                                <m:fPr>
                                  <m:ctrlPr>
                                    <a:rPr lang="zh-CN" altLang="en-US" sz="2000" i="1">
                                      <a:solidFill>
                                        <a:schemeClr val="tx1"/>
                                      </a:solidFill>
                                      <a:latin typeface="Cambria Math" panose="02040503050406030204" pitchFamily="18" charset="0"/>
                                    </a:rPr>
                                  </m:ctrlPr>
                                </m:fPr>
                                <m:num>
                                  <m:r>
                                    <m:rPr>
                                      <m:sty m:val="p"/>
                                    </m:rPr>
                                    <a:rPr lang="zh-CN" altLang="en-US" sz="2000" i="1">
                                      <a:solidFill>
                                        <a:schemeClr val="tx1"/>
                                      </a:solidFill>
                                      <a:latin typeface="Cambria Math" panose="02040503050406030204" pitchFamily="18" charset="0"/>
                                    </a:rPr>
                                    <m:t>Δ</m:t>
                                  </m:r>
                                  <m:r>
                                    <a:rPr lang="en-US" altLang="zh-CN" sz="2000" i="1">
                                      <a:solidFill>
                                        <a:schemeClr val="tx1"/>
                                      </a:solidFill>
                                      <a:latin typeface="Cambria Math" panose="02040503050406030204" pitchFamily="18" charset="0"/>
                                    </a:rPr>
                                    <m:t>𝐾</m:t>
                                  </m:r>
                                </m:num>
                                <m:den>
                                  <m:r>
                                    <m:rPr>
                                      <m:sty m:val="p"/>
                                    </m:rPr>
                                    <a:rPr lang="zh-CN" altLang="en-US" sz="2000" i="1">
                                      <a:solidFill>
                                        <a:schemeClr val="tx1"/>
                                      </a:solidFill>
                                      <a:latin typeface="Cambria Math" panose="02040503050406030204" pitchFamily="18" charset="0"/>
                                    </a:rPr>
                                    <m:t>Δ</m:t>
                                  </m:r>
                                  <m:r>
                                    <a:rPr lang="zh-CN" altLang="en-US" sz="2000" i="1">
                                      <a:solidFill>
                                        <a:schemeClr val="tx1"/>
                                      </a:solidFill>
                                      <a:latin typeface="Cambria Math" panose="02040503050406030204" pitchFamily="18" charset="0"/>
                                    </a:rPr>
                                    <m:t>𝐿</m:t>
                                  </m:r>
                                </m:den>
                              </m:f>
                            </m:e>
                          </m:d>
                        </m:e>
                        <m:sub>
                          <m:r>
                            <a:rPr lang="zh-CN" altLang="en-US" sz="2000" i="1">
                              <a:solidFill>
                                <a:schemeClr val="tx1"/>
                              </a:solidFill>
                              <a:latin typeface="Cambria Math" panose="02040503050406030204" pitchFamily="18" charset="0"/>
                            </a:rPr>
                            <m:t>𝑄</m:t>
                          </m:r>
                          <m:r>
                            <m:rPr>
                              <m:nor/>
                            </m:rPr>
                            <a:rPr lang="zh-CN" altLang="en-US" sz="2000" dirty="0">
                              <a:solidFill>
                                <a:schemeClr val="tx1"/>
                              </a:solidFill>
                              <a:latin typeface="微软雅黑" panose="020B0503020204020204" pitchFamily="34" charset="-122"/>
                              <a:ea typeface="微软雅黑" panose="020B0503020204020204" pitchFamily="34" charset="-122"/>
                            </a:rPr>
                            <m:t>不变 </m:t>
                          </m:r>
                        </m:sub>
                      </m:sSub>
                    </m:oMath>
                  </m:oMathPara>
                </a14:m>
                <a:endParaRPr lang="zh-CN" altLang="en-US" sz="2000" dirty="0">
                  <a:solidFill>
                    <a:schemeClr val="tx1"/>
                  </a:solidFill>
                </a:endParaRPr>
              </a:p>
            </p:txBody>
          </p:sp>
        </mc:Choice>
        <mc:Fallback xmlns="">
          <p:sp>
            <p:nvSpPr>
              <p:cNvPr id="35" name="矩形 34">
                <a:extLst>
                  <a:ext uri="{FF2B5EF4-FFF2-40B4-BE49-F238E27FC236}">
                    <a16:creationId xmlns:a16="http://schemas.microsoft.com/office/drawing/2014/main" id="{A70D52EA-6823-4333-B5C8-4F6B0A91536D}"/>
                  </a:ext>
                </a:extLst>
              </p:cNvPr>
              <p:cNvSpPr>
                <a:spLocks noRot="1" noChangeAspect="1" noMove="1" noResize="1" noEditPoints="1" noAdjustHandles="1" noChangeArrowheads="1" noChangeShapeType="1" noTextEdit="1"/>
              </p:cNvSpPr>
              <p:nvPr/>
            </p:nvSpPr>
            <p:spPr>
              <a:xfrm>
                <a:off x="1787657" y="2353198"/>
                <a:ext cx="3620823" cy="851900"/>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BB59BE95-FF4D-4174-B20A-A595FB8706BD}"/>
                  </a:ext>
                </a:extLst>
              </p:cNvPr>
              <p:cNvSpPr txBox="1"/>
              <p:nvPr/>
            </p:nvSpPr>
            <p:spPr>
              <a:xfrm>
                <a:off x="1996077" y="3271427"/>
                <a:ext cx="3339974" cy="3077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solidFill>
                            <a:schemeClr val="tx1"/>
                          </a:solidFill>
                          <a:latin typeface="Cambria Math" panose="02040503050406030204" pitchFamily="18" charset="0"/>
                        </a:rPr>
                        <m:t>𝑀</m:t>
                      </m:r>
                      <m:sSub>
                        <m:sSubPr>
                          <m:ctrlPr>
                            <a:rPr lang="zh-CN" altLang="en-US" sz="2000" i="1" smtClean="0">
                              <a:solidFill>
                                <a:schemeClr val="tx1"/>
                              </a:solidFill>
                              <a:latin typeface="Cambria Math" panose="02040503050406030204" pitchFamily="18" charset="0"/>
                            </a:rPr>
                          </m:ctrlPr>
                        </m:sSubPr>
                        <m:e>
                          <m:r>
                            <a:rPr lang="zh-CN" altLang="en-US" sz="2000" i="1" smtClean="0">
                              <a:solidFill>
                                <a:schemeClr val="tx1"/>
                              </a:solidFill>
                              <a:latin typeface="Cambria Math" panose="02040503050406030204" pitchFamily="18" charset="0"/>
                            </a:rPr>
                            <m:t>𝑃</m:t>
                          </m:r>
                        </m:e>
                        <m:sub>
                          <m:r>
                            <a:rPr lang="zh-CN" altLang="en-US" sz="2000" i="1" smtClean="0">
                              <a:solidFill>
                                <a:schemeClr val="tx1"/>
                              </a:solidFill>
                              <a:latin typeface="Cambria Math" panose="02040503050406030204" pitchFamily="18" charset="0"/>
                            </a:rPr>
                            <m:t>𝐿</m:t>
                          </m:r>
                        </m:sub>
                      </m:sSub>
                      <m:r>
                        <a:rPr lang="zh-CN" altLang="en-US" sz="2000" i="1" smtClean="0">
                          <a:solidFill>
                            <a:schemeClr val="tx1"/>
                          </a:solidFill>
                          <a:latin typeface="Cambria Math" panose="02040503050406030204" pitchFamily="18" charset="0"/>
                        </a:rPr>
                        <m:t>⋅</m:t>
                      </m:r>
                      <m:r>
                        <m:rPr>
                          <m:sty m:val="p"/>
                        </m:rPr>
                        <a:rPr lang="zh-CN" altLang="en-US" sz="2000" i="1" smtClean="0">
                          <a:solidFill>
                            <a:schemeClr val="tx1"/>
                          </a:solidFill>
                          <a:latin typeface="Cambria Math" panose="02040503050406030204" pitchFamily="18" charset="0"/>
                        </a:rPr>
                        <m:t>Δ</m:t>
                      </m:r>
                      <m:r>
                        <a:rPr lang="zh-CN" altLang="en-US" sz="2000" i="1" smtClean="0">
                          <a:solidFill>
                            <a:schemeClr val="tx1"/>
                          </a:solidFill>
                          <a:latin typeface="Cambria Math" panose="02040503050406030204" pitchFamily="18" charset="0"/>
                        </a:rPr>
                        <m:t>𝐿</m:t>
                      </m:r>
                      <m:r>
                        <a:rPr lang="zh-CN" altLang="en-US" sz="2000" i="1" smtClean="0">
                          <a:solidFill>
                            <a:schemeClr val="tx1"/>
                          </a:solidFill>
                          <a:latin typeface="Cambria Math" panose="02040503050406030204" pitchFamily="18" charset="0"/>
                        </a:rPr>
                        <m:t>+</m:t>
                      </m:r>
                      <m:r>
                        <a:rPr lang="zh-CN" altLang="en-US" sz="2000" i="1" smtClean="0">
                          <a:solidFill>
                            <a:schemeClr val="tx1"/>
                          </a:solidFill>
                          <a:latin typeface="Cambria Math" panose="02040503050406030204" pitchFamily="18" charset="0"/>
                        </a:rPr>
                        <m:t>𝑀</m:t>
                      </m:r>
                      <m:sSub>
                        <m:sSubPr>
                          <m:ctrlPr>
                            <a:rPr lang="zh-CN" altLang="en-US" sz="2000" i="1" smtClean="0">
                              <a:solidFill>
                                <a:schemeClr val="tx1"/>
                              </a:solidFill>
                              <a:latin typeface="Cambria Math" panose="02040503050406030204" pitchFamily="18" charset="0"/>
                            </a:rPr>
                          </m:ctrlPr>
                        </m:sSubPr>
                        <m:e>
                          <m:r>
                            <a:rPr lang="zh-CN" altLang="en-US" sz="2000" i="1" smtClean="0">
                              <a:solidFill>
                                <a:schemeClr val="tx1"/>
                              </a:solidFill>
                              <a:latin typeface="Cambria Math" panose="02040503050406030204" pitchFamily="18" charset="0"/>
                            </a:rPr>
                            <m:t>𝑃</m:t>
                          </m:r>
                        </m:e>
                        <m:sub>
                          <m:r>
                            <a:rPr lang="en-US" altLang="zh-CN" sz="2000" b="0" i="1" smtClean="0">
                              <a:solidFill>
                                <a:schemeClr val="tx1"/>
                              </a:solidFill>
                              <a:latin typeface="Cambria Math" panose="02040503050406030204" pitchFamily="18" charset="0"/>
                            </a:rPr>
                            <m:t>𝐾</m:t>
                          </m:r>
                        </m:sub>
                      </m:sSub>
                      <m:r>
                        <a:rPr lang="zh-CN" altLang="en-US" sz="2000" i="1" smtClean="0">
                          <a:solidFill>
                            <a:schemeClr val="tx1"/>
                          </a:solidFill>
                          <a:latin typeface="Cambria Math" panose="02040503050406030204" pitchFamily="18" charset="0"/>
                        </a:rPr>
                        <m:t>⋅</m:t>
                      </m:r>
                      <m:r>
                        <m:rPr>
                          <m:sty m:val="p"/>
                        </m:rPr>
                        <a:rPr lang="zh-CN" altLang="en-US" sz="2000" i="1" smtClean="0">
                          <a:solidFill>
                            <a:schemeClr val="tx1"/>
                          </a:solidFill>
                          <a:latin typeface="Cambria Math" panose="02040503050406030204" pitchFamily="18" charset="0"/>
                        </a:rPr>
                        <m:t>Δ</m:t>
                      </m:r>
                      <m:r>
                        <a:rPr lang="en-US" altLang="zh-CN" sz="2000" b="0" i="1" smtClean="0">
                          <a:solidFill>
                            <a:schemeClr val="tx1"/>
                          </a:solidFill>
                          <a:latin typeface="Cambria Math" panose="02040503050406030204" pitchFamily="18" charset="0"/>
                        </a:rPr>
                        <m:t>𝐾</m:t>
                      </m:r>
                      <m:r>
                        <a:rPr lang="zh-CN" altLang="en-US" sz="2000" i="1" smtClean="0">
                          <a:solidFill>
                            <a:schemeClr val="tx1"/>
                          </a:solidFill>
                          <a:latin typeface="Cambria Math" panose="02040503050406030204" pitchFamily="18" charset="0"/>
                        </a:rPr>
                        <m:t>=0</m:t>
                      </m:r>
                    </m:oMath>
                  </m:oMathPara>
                </a14:m>
                <a:endParaRPr lang="zh-CN" altLang="en-US" sz="2000" dirty="0">
                  <a:solidFill>
                    <a:schemeClr val="tx1"/>
                  </a:solidFill>
                </a:endParaRPr>
              </a:p>
            </p:txBody>
          </p:sp>
        </mc:Choice>
        <mc:Fallback xmlns="">
          <p:sp>
            <p:nvSpPr>
              <p:cNvPr id="36" name="文本框 35">
                <a:extLst>
                  <a:ext uri="{FF2B5EF4-FFF2-40B4-BE49-F238E27FC236}">
                    <a16:creationId xmlns:a16="http://schemas.microsoft.com/office/drawing/2014/main" id="{BB59BE95-FF4D-4174-B20A-A595FB8706BD}"/>
                  </a:ext>
                </a:extLst>
              </p:cNvPr>
              <p:cNvSpPr txBox="1">
                <a:spLocks noRot="1" noChangeAspect="1" noMove="1" noResize="1" noEditPoints="1" noAdjustHandles="1" noChangeArrowheads="1" noChangeShapeType="1" noTextEdit="1"/>
              </p:cNvSpPr>
              <p:nvPr/>
            </p:nvSpPr>
            <p:spPr>
              <a:xfrm>
                <a:off x="1996077" y="3271427"/>
                <a:ext cx="3339974" cy="307777"/>
              </a:xfrm>
              <a:prstGeom prst="rect">
                <a:avLst/>
              </a:prstGeom>
              <a:blipFill>
                <a:blip r:embed="rId4"/>
                <a:stretch>
                  <a:fillRect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19398CCF-A81C-4768-9C11-42138379A10F}"/>
                  </a:ext>
                </a:extLst>
              </p:cNvPr>
              <p:cNvSpPr/>
              <p:nvPr/>
            </p:nvSpPr>
            <p:spPr>
              <a:xfrm>
                <a:off x="5405021" y="4993804"/>
                <a:ext cx="3134735" cy="72083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000" i="1" smtClean="0">
                          <a:solidFill>
                            <a:schemeClr val="tx1"/>
                          </a:solidFill>
                          <a:latin typeface="Cambria Math" panose="02040503050406030204" pitchFamily="18" charset="0"/>
                        </a:rPr>
                        <m:t>𝑀𝑅𝑇</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𝑆</m:t>
                          </m:r>
                        </m:e>
                        <m:sub>
                          <m:r>
                            <a:rPr lang="zh-CN" altLang="en-US" sz="2000" i="1">
                              <a:solidFill>
                                <a:schemeClr val="tx1"/>
                              </a:solidFill>
                              <a:latin typeface="Cambria Math" panose="02040503050406030204" pitchFamily="18" charset="0"/>
                            </a:rPr>
                            <m:t>𝐿</m:t>
                          </m:r>
                          <m:r>
                            <a:rPr lang="en-US" altLang="zh-CN" sz="2000" i="1">
                              <a:solidFill>
                                <a:schemeClr val="tx1"/>
                              </a:solidFill>
                              <a:latin typeface="Cambria Math" panose="02040503050406030204" pitchFamily="18" charset="0"/>
                            </a:rPr>
                            <m:t>,</m:t>
                          </m:r>
                          <m:r>
                            <a:rPr lang="en-US" altLang="zh-CN" sz="2000" i="1">
                              <a:solidFill>
                                <a:schemeClr val="tx1"/>
                              </a:solidFill>
                              <a:latin typeface="Cambria Math" panose="02040503050406030204" pitchFamily="18" charset="0"/>
                            </a:rPr>
                            <m:t>𝐾</m:t>
                          </m:r>
                        </m:sub>
                      </m:sSub>
                      <m:r>
                        <a:rPr lang="zh-CN" altLang="en-US" sz="2000" i="1">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m:t>
                      </m:r>
                      <m:f>
                        <m:fPr>
                          <m:ctrlPr>
                            <a:rPr lang="zh-CN" altLang="en-US" sz="2000" i="1">
                              <a:solidFill>
                                <a:schemeClr val="tx1"/>
                              </a:solidFill>
                              <a:latin typeface="Cambria Math" panose="02040503050406030204" pitchFamily="18" charset="0"/>
                            </a:rPr>
                          </m:ctrlPr>
                        </m:fPr>
                        <m:num>
                          <m:r>
                            <m:rPr>
                              <m:sty m:val="p"/>
                            </m:rPr>
                            <a:rPr lang="zh-CN" altLang="en-US" sz="2000" i="1">
                              <a:solidFill>
                                <a:schemeClr val="tx1"/>
                              </a:solidFill>
                              <a:latin typeface="Cambria Math" panose="02040503050406030204" pitchFamily="18" charset="0"/>
                            </a:rPr>
                            <m:t>Δ</m:t>
                          </m:r>
                          <m:r>
                            <a:rPr lang="en-US" altLang="zh-CN" sz="2000" i="1">
                              <a:solidFill>
                                <a:schemeClr val="tx1"/>
                              </a:solidFill>
                              <a:latin typeface="Cambria Math" panose="02040503050406030204" pitchFamily="18" charset="0"/>
                            </a:rPr>
                            <m:t>𝐾</m:t>
                          </m:r>
                        </m:num>
                        <m:den>
                          <m:r>
                            <m:rPr>
                              <m:sty m:val="p"/>
                            </m:rPr>
                            <a:rPr lang="zh-CN" altLang="en-US" sz="2000" i="1">
                              <a:solidFill>
                                <a:schemeClr val="tx1"/>
                              </a:solidFill>
                              <a:latin typeface="Cambria Math" panose="02040503050406030204" pitchFamily="18" charset="0"/>
                            </a:rPr>
                            <m:t>Δ</m:t>
                          </m:r>
                          <m:r>
                            <a:rPr lang="zh-CN" altLang="en-US" sz="2000" i="1">
                              <a:solidFill>
                                <a:schemeClr val="tx1"/>
                              </a:solidFill>
                              <a:latin typeface="Cambria Math" panose="02040503050406030204" pitchFamily="18" charset="0"/>
                            </a:rPr>
                            <m:t>𝐿</m:t>
                          </m:r>
                        </m:den>
                      </m:f>
                      <m:r>
                        <a:rPr lang="zh-CN" altLang="en-US" sz="2000" i="1">
                          <a:solidFill>
                            <a:schemeClr val="tx1"/>
                          </a:solidFill>
                          <a:latin typeface="Cambria Math" panose="02040503050406030204" pitchFamily="18" charset="0"/>
                        </a:rPr>
                        <m:t>=</m:t>
                      </m:r>
                      <m:f>
                        <m:fPr>
                          <m:ctrlPr>
                            <a:rPr lang="pt-BR" altLang="zh-CN" sz="2000" i="1">
                              <a:solidFill>
                                <a:schemeClr val="tx1"/>
                              </a:solidFill>
                              <a:latin typeface="Cambria Math" panose="02040503050406030204" pitchFamily="18" charset="0"/>
                            </a:rPr>
                          </m:ctrlPr>
                        </m:fPr>
                        <m:num>
                          <m:r>
                            <a:rPr lang="zh-CN" altLang="en-US" sz="2000" i="1">
                              <a:solidFill>
                                <a:schemeClr val="tx1"/>
                              </a:solidFill>
                              <a:latin typeface="Cambria Math" panose="02040503050406030204" pitchFamily="18" charset="0"/>
                            </a:rPr>
                            <m:t>𝑀</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𝑃</m:t>
                              </m:r>
                            </m:e>
                            <m:sub>
                              <m:r>
                                <a:rPr lang="zh-CN" altLang="en-US" sz="2000" i="1">
                                  <a:solidFill>
                                    <a:schemeClr val="tx1"/>
                                  </a:solidFill>
                                  <a:latin typeface="Cambria Math" panose="02040503050406030204" pitchFamily="18" charset="0"/>
                                </a:rPr>
                                <m:t>𝐿</m:t>
                              </m:r>
                            </m:sub>
                          </m:sSub>
                        </m:num>
                        <m:den>
                          <m:r>
                            <a:rPr lang="zh-CN" altLang="en-US" sz="2000" i="1">
                              <a:solidFill>
                                <a:schemeClr val="tx1"/>
                              </a:solidFill>
                              <a:latin typeface="Cambria Math" panose="02040503050406030204" pitchFamily="18" charset="0"/>
                            </a:rPr>
                            <m:t>𝑀</m:t>
                          </m:r>
                          <m:sSub>
                            <m:sSubPr>
                              <m:ctrlPr>
                                <a:rPr lang="zh-CN" altLang="en-US" sz="2000" i="1">
                                  <a:solidFill>
                                    <a:schemeClr val="tx1"/>
                                  </a:solidFill>
                                  <a:latin typeface="Cambria Math" panose="02040503050406030204" pitchFamily="18" charset="0"/>
                                </a:rPr>
                              </m:ctrlPr>
                            </m:sSubPr>
                            <m:e>
                              <m:r>
                                <a:rPr lang="zh-CN" altLang="en-US" sz="2000" i="1">
                                  <a:solidFill>
                                    <a:schemeClr val="tx1"/>
                                  </a:solidFill>
                                  <a:latin typeface="Cambria Math" panose="02040503050406030204" pitchFamily="18" charset="0"/>
                                </a:rPr>
                                <m:t>𝑃</m:t>
                              </m:r>
                            </m:e>
                            <m:sub>
                              <m:r>
                                <a:rPr lang="en-US" altLang="zh-CN" sz="2000" i="1">
                                  <a:solidFill>
                                    <a:schemeClr val="tx1"/>
                                  </a:solidFill>
                                  <a:latin typeface="Cambria Math" panose="02040503050406030204" pitchFamily="18" charset="0"/>
                                </a:rPr>
                                <m:t>𝐾</m:t>
                              </m:r>
                            </m:sub>
                          </m:sSub>
                        </m:den>
                      </m:f>
                    </m:oMath>
                  </m:oMathPara>
                </a14:m>
                <a:endParaRPr lang="zh-CN" altLang="en-US" sz="2000" dirty="0">
                  <a:solidFill>
                    <a:schemeClr val="tx1"/>
                  </a:solidFill>
                </a:endParaRPr>
              </a:p>
            </p:txBody>
          </p:sp>
        </mc:Choice>
        <mc:Fallback xmlns="">
          <p:sp>
            <p:nvSpPr>
              <p:cNvPr id="38" name="矩形 37">
                <a:extLst>
                  <a:ext uri="{FF2B5EF4-FFF2-40B4-BE49-F238E27FC236}">
                    <a16:creationId xmlns:a16="http://schemas.microsoft.com/office/drawing/2014/main" id="{19398CCF-A81C-4768-9C11-42138379A10F}"/>
                  </a:ext>
                </a:extLst>
              </p:cNvPr>
              <p:cNvSpPr>
                <a:spLocks noRot="1" noChangeAspect="1" noMove="1" noResize="1" noEditPoints="1" noAdjustHandles="1" noChangeArrowheads="1" noChangeShapeType="1" noTextEdit="1"/>
              </p:cNvSpPr>
              <p:nvPr/>
            </p:nvSpPr>
            <p:spPr>
              <a:xfrm>
                <a:off x="5405021" y="4993804"/>
                <a:ext cx="3134735" cy="720838"/>
              </a:xfrm>
              <a:prstGeom prst="rect">
                <a:avLst/>
              </a:prstGeom>
              <a:blipFill>
                <a:blip r:embed="rId5"/>
                <a:stretch>
                  <a:fillRect/>
                </a:stretch>
              </a:blipFill>
            </p:spPr>
            <p:txBody>
              <a:bodyPr/>
              <a:lstStyle/>
              <a:p>
                <a:r>
                  <a:rPr lang="zh-CN" altLang="en-US">
                    <a:noFill/>
                  </a:rPr>
                  <a:t> </a:t>
                </a:r>
              </a:p>
            </p:txBody>
          </p:sp>
        </mc:Fallback>
      </mc:AlternateContent>
      <p:sp>
        <p:nvSpPr>
          <p:cNvPr id="39" name="下箭头 3">
            <a:extLst>
              <a:ext uri="{FF2B5EF4-FFF2-40B4-BE49-F238E27FC236}">
                <a16:creationId xmlns:a16="http://schemas.microsoft.com/office/drawing/2014/main" id="{AC975B3B-E260-4863-B2A9-6FFE1B9F41B4}"/>
              </a:ext>
            </a:extLst>
          </p:cNvPr>
          <p:cNvSpPr/>
          <p:nvPr/>
        </p:nvSpPr>
        <p:spPr bwMode="auto">
          <a:xfrm rot="18992232">
            <a:off x="5040953" y="3824644"/>
            <a:ext cx="287009" cy="1289830"/>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effectLst/>
              <a:latin typeface="Arial" panose="020B0604020202020204" pitchFamily="34" charset="0"/>
              <a:ea typeface="宋体" panose="02010600030101010101" pitchFamily="2" charset="-122"/>
            </a:endParaRPr>
          </a:p>
        </p:txBody>
      </p:sp>
      <p:sp>
        <p:nvSpPr>
          <p:cNvPr id="51" name="弧形 8">
            <a:extLst>
              <a:ext uri="{FF2B5EF4-FFF2-40B4-BE49-F238E27FC236}">
                <a16:creationId xmlns:a16="http://schemas.microsoft.com/office/drawing/2014/main" id="{FA473A8C-B182-43CC-BE4D-3A9EF04B6104}"/>
              </a:ext>
            </a:extLst>
          </p:cNvPr>
          <p:cNvSpPr>
            <a:spLocks noChangeArrowheads="1"/>
          </p:cNvSpPr>
          <p:nvPr/>
        </p:nvSpPr>
        <p:spPr bwMode="auto">
          <a:xfrm rot="9859153">
            <a:off x="1202007" y="741789"/>
            <a:ext cx="4775200" cy="4208462"/>
          </a:xfrm>
          <a:custGeom>
            <a:avLst/>
            <a:gdLst>
              <a:gd name="T0" fmla="*/ 2874462 w 4775200"/>
              <a:gd name="T1" fmla="*/ 44212 h 4208462"/>
              <a:gd name="T2" fmla="*/ 2387600 w 4775200"/>
              <a:gd name="T3" fmla="*/ 2104231 h 4208462"/>
              <a:gd name="T4" fmla="*/ 4775200 w 4775200"/>
              <a:gd name="T5" fmla="*/ 2104231 h 4208462"/>
              <a:gd name="T6" fmla="*/ 11796480 60000 65536"/>
              <a:gd name="T7" fmla="*/ 11796480 60000 65536"/>
              <a:gd name="T8" fmla="*/ 5898240 60000 65536"/>
              <a:gd name="T9" fmla="*/ 2874462 w 4775200"/>
              <a:gd name="T10" fmla="*/ 44212 h 4208462"/>
              <a:gd name="T11" fmla="*/ 4775200 w 4775200"/>
              <a:gd name="T12" fmla="*/ 2104231 h 4208462"/>
            </a:gdLst>
            <a:ahLst/>
            <a:cxnLst>
              <a:cxn ang="T6">
                <a:pos x="T0" y="T1"/>
              </a:cxn>
              <a:cxn ang="T7">
                <a:pos x="T2" y="T3"/>
              </a:cxn>
              <a:cxn ang="T8">
                <a:pos x="T4" y="T5"/>
              </a:cxn>
            </a:cxnLst>
            <a:rect l="T9" t="T10" r="T11" b="T12"/>
            <a:pathLst>
              <a:path w="4775200" h="4208462" stroke="0">
                <a:moveTo>
                  <a:pt x="2874462" y="44212"/>
                </a:moveTo>
                <a:lnTo>
                  <a:pt x="2874462" y="44211"/>
                </a:lnTo>
                <a:cubicBezTo>
                  <a:pt x="3981685" y="247463"/>
                  <a:pt x="4775200" y="1107474"/>
                  <a:pt x="4775200" y="2104231"/>
                </a:cubicBezTo>
                <a:cubicBezTo>
                  <a:pt x="4775200" y="2104232"/>
                  <a:pt x="4775199" y="2104234"/>
                  <a:pt x="4775199" y="2104236"/>
                </a:cubicBezTo>
                <a:lnTo>
                  <a:pt x="2387600" y="2104231"/>
                </a:lnTo>
                <a:close/>
              </a:path>
              <a:path w="4775200" h="4208462" fill="none">
                <a:moveTo>
                  <a:pt x="2874462" y="44212"/>
                </a:moveTo>
                <a:lnTo>
                  <a:pt x="2874462" y="44211"/>
                </a:lnTo>
                <a:cubicBezTo>
                  <a:pt x="3981685" y="247463"/>
                  <a:pt x="4775200" y="1107474"/>
                  <a:pt x="4775200" y="2104231"/>
                </a:cubicBezTo>
                <a:cubicBezTo>
                  <a:pt x="4775200" y="2104232"/>
                  <a:pt x="4775199" y="2104234"/>
                  <a:pt x="4775199" y="2104236"/>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nvGrpSpPr>
          <p:cNvPr id="52" name="组合 24">
            <a:extLst>
              <a:ext uri="{FF2B5EF4-FFF2-40B4-BE49-F238E27FC236}">
                <a16:creationId xmlns:a16="http://schemas.microsoft.com/office/drawing/2014/main" id="{D48347F1-1816-48E2-978A-AEBA3B0E67C3}"/>
              </a:ext>
            </a:extLst>
          </p:cNvPr>
          <p:cNvGrpSpPr>
            <a:grpSpLocks/>
          </p:cNvGrpSpPr>
          <p:nvPr/>
        </p:nvGrpSpPr>
        <p:grpSpPr bwMode="auto">
          <a:xfrm>
            <a:off x="163782" y="3235751"/>
            <a:ext cx="3786188" cy="3017838"/>
            <a:chOff x="0" y="0"/>
            <a:chExt cx="3786188" cy="3017838"/>
          </a:xfrm>
        </p:grpSpPr>
        <p:cxnSp>
          <p:nvCxnSpPr>
            <p:cNvPr id="56" name="直接箭头连接符 4">
              <a:extLst>
                <a:ext uri="{FF2B5EF4-FFF2-40B4-BE49-F238E27FC236}">
                  <a16:creationId xmlns:a16="http://schemas.microsoft.com/office/drawing/2014/main" id="{3F94EE76-3556-48C4-9BEF-30EEA77807E5}"/>
                </a:ext>
              </a:extLst>
            </p:cNvPr>
            <p:cNvCxnSpPr>
              <a:cxnSpLocks noChangeShapeType="1"/>
            </p:cNvCxnSpPr>
            <p:nvPr/>
          </p:nvCxnSpPr>
          <p:spPr bwMode="auto">
            <a:xfrm>
              <a:off x="285750" y="2643188"/>
              <a:ext cx="3500438" cy="1587"/>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58" name="直接箭头连接符 6">
              <a:extLst>
                <a:ext uri="{FF2B5EF4-FFF2-40B4-BE49-F238E27FC236}">
                  <a16:creationId xmlns:a16="http://schemas.microsoft.com/office/drawing/2014/main" id="{4DD9FC74-E855-4873-A203-166EF98DDE8E}"/>
                </a:ext>
              </a:extLst>
            </p:cNvPr>
            <p:cNvCxnSpPr>
              <a:cxnSpLocks noChangeShapeType="1"/>
            </p:cNvCxnSpPr>
            <p:nvPr/>
          </p:nvCxnSpPr>
          <p:spPr bwMode="auto">
            <a:xfrm rot="5400000" flipH="1" flipV="1">
              <a:off x="-1035050" y="1320800"/>
              <a:ext cx="2643188" cy="1588"/>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69" name="Object 7">
              <a:extLst>
                <a:ext uri="{FF2B5EF4-FFF2-40B4-BE49-F238E27FC236}">
                  <a16:creationId xmlns:a16="http://schemas.microsoft.com/office/drawing/2014/main" id="{E11D9B8C-0AF2-4297-887D-4E5091D43FE6}"/>
                </a:ext>
              </a:extLst>
            </p:cNvPr>
            <p:cNvGraphicFramePr>
              <a:graphicFrameLocks noChangeAspect="1"/>
            </p:cNvGraphicFramePr>
            <p:nvPr/>
          </p:nvGraphicFramePr>
          <p:xfrm>
            <a:off x="0" y="2714625"/>
            <a:ext cx="212725" cy="249238"/>
          </p:xfrm>
          <a:graphic>
            <a:graphicData uri="http://schemas.openxmlformats.org/presentationml/2006/ole">
              <mc:AlternateContent xmlns:mc="http://schemas.openxmlformats.org/markup-compatibility/2006">
                <mc:Choice xmlns:v="urn:schemas-microsoft-com:vml" Requires="v">
                  <p:oleObj spid="_x0000_s120460" r:id="rId6" imgW="153248" imgH="178737" progId="">
                    <p:embed/>
                  </p:oleObj>
                </mc:Choice>
                <mc:Fallback>
                  <p:oleObj r:id="rId6" imgW="153248" imgH="178737" progId="">
                    <p:embed/>
                    <p:pic>
                      <p:nvPicPr>
                        <p:cNvPr id="30727"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2714625"/>
                          <a:ext cx="212725"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0" name="Object 8">
              <a:extLst>
                <a:ext uri="{FF2B5EF4-FFF2-40B4-BE49-F238E27FC236}">
                  <a16:creationId xmlns:a16="http://schemas.microsoft.com/office/drawing/2014/main" id="{1768778F-9B0F-4BD4-AA5F-EE06BA53E31F}"/>
                </a:ext>
              </a:extLst>
            </p:cNvPr>
            <p:cNvGraphicFramePr>
              <a:graphicFrameLocks noChangeAspect="1"/>
            </p:cNvGraphicFramePr>
            <p:nvPr/>
          </p:nvGraphicFramePr>
          <p:xfrm>
            <a:off x="0" y="0"/>
            <a:ext cx="231775" cy="231775"/>
          </p:xfrm>
          <a:graphic>
            <a:graphicData uri="http://schemas.openxmlformats.org/presentationml/2006/ole">
              <mc:AlternateContent xmlns:mc="http://schemas.openxmlformats.org/markup-compatibility/2006">
                <mc:Choice xmlns:v="urn:schemas-microsoft-com:vml" Requires="v">
                  <p:oleObj spid="_x0000_s120461" r:id="rId8" imgW="166064" imgH="166064" progId="">
                    <p:embed/>
                  </p:oleObj>
                </mc:Choice>
                <mc:Fallback>
                  <p:oleObj r:id="rId8" imgW="166064" imgH="166064" progId="">
                    <p:embed/>
                    <p:pic>
                      <p:nvPicPr>
                        <p:cNvPr id="30728"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0"/>
                          <a:ext cx="23177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1" name="Object 9">
              <a:extLst>
                <a:ext uri="{FF2B5EF4-FFF2-40B4-BE49-F238E27FC236}">
                  <a16:creationId xmlns:a16="http://schemas.microsoft.com/office/drawing/2014/main" id="{9255B5A7-394B-4C1A-B460-0BFF7534C569}"/>
                </a:ext>
              </a:extLst>
            </p:cNvPr>
            <p:cNvGraphicFramePr>
              <a:graphicFrameLocks noChangeAspect="1"/>
            </p:cNvGraphicFramePr>
            <p:nvPr/>
          </p:nvGraphicFramePr>
          <p:xfrm>
            <a:off x="3571875" y="2786063"/>
            <a:ext cx="195263" cy="231775"/>
          </p:xfrm>
          <a:graphic>
            <a:graphicData uri="http://schemas.openxmlformats.org/presentationml/2006/ole">
              <mc:AlternateContent xmlns:mc="http://schemas.openxmlformats.org/markup-compatibility/2006">
                <mc:Choice xmlns:v="urn:schemas-microsoft-com:vml" Requires="v">
                  <p:oleObj spid="_x0000_s120462" r:id="rId10" imgW="140565" imgH="166064" progId="">
                    <p:embed/>
                  </p:oleObj>
                </mc:Choice>
                <mc:Fallback>
                  <p:oleObj r:id="rId10" imgW="140565" imgH="166064" progId="">
                    <p:embed/>
                    <p:pic>
                      <p:nvPicPr>
                        <p:cNvPr id="30729"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71875" y="2786063"/>
                          <a:ext cx="195263"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2" name="组合 25">
            <a:extLst>
              <a:ext uri="{FF2B5EF4-FFF2-40B4-BE49-F238E27FC236}">
                <a16:creationId xmlns:a16="http://schemas.microsoft.com/office/drawing/2014/main" id="{C7EABC6C-1018-423C-A3F8-9D98161859CC}"/>
              </a:ext>
            </a:extLst>
          </p:cNvPr>
          <p:cNvGrpSpPr>
            <a:grpSpLocks/>
          </p:cNvGrpSpPr>
          <p:nvPr/>
        </p:nvGrpSpPr>
        <p:grpSpPr bwMode="auto">
          <a:xfrm>
            <a:off x="449532" y="4164439"/>
            <a:ext cx="2498725" cy="1716087"/>
            <a:chOff x="0" y="0"/>
            <a:chExt cx="2498725" cy="1716087"/>
          </a:xfrm>
        </p:grpSpPr>
        <p:cxnSp>
          <p:nvCxnSpPr>
            <p:cNvPr id="73" name="直接连接符 10">
              <a:extLst>
                <a:ext uri="{FF2B5EF4-FFF2-40B4-BE49-F238E27FC236}">
                  <a16:creationId xmlns:a16="http://schemas.microsoft.com/office/drawing/2014/main" id="{3C826E38-E9EF-4023-B4D6-FCF9C446DC00}"/>
                </a:ext>
              </a:extLst>
            </p:cNvPr>
            <p:cNvCxnSpPr>
              <a:cxnSpLocks noChangeShapeType="1"/>
            </p:cNvCxnSpPr>
            <p:nvPr/>
          </p:nvCxnSpPr>
          <p:spPr bwMode="auto">
            <a:xfrm>
              <a:off x="0" y="214312"/>
              <a:ext cx="1357313" cy="1588"/>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cxnSp>
          <p:nvCxnSpPr>
            <p:cNvPr id="74" name="直接连接符 12">
              <a:extLst>
                <a:ext uri="{FF2B5EF4-FFF2-40B4-BE49-F238E27FC236}">
                  <a16:creationId xmlns:a16="http://schemas.microsoft.com/office/drawing/2014/main" id="{3C34A491-A0F0-444C-A0E7-8680A19AF9F9}"/>
                </a:ext>
              </a:extLst>
            </p:cNvPr>
            <p:cNvCxnSpPr>
              <a:cxnSpLocks noChangeShapeType="1"/>
            </p:cNvCxnSpPr>
            <p:nvPr/>
          </p:nvCxnSpPr>
          <p:spPr bwMode="auto">
            <a:xfrm rot="5400000">
              <a:off x="608009" y="965196"/>
              <a:ext cx="1500187" cy="1587"/>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cxnSp>
          <p:nvCxnSpPr>
            <p:cNvPr id="75" name="直接连接符 14">
              <a:extLst>
                <a:ext uri="{FF2B5EF4-FFF2-40B4-BE49-F238E27FC236}">
                  <a16:creationId xmlns:a16="http://schemas.microsoft.com/office/drawing/2014/main" id="{9B9F7B36-FD81-4500-913F-99B174666442}"/>
                </a:ext>
              </a:extLst>
            </p:cNvPr>
            <p:cNvCxnSpPr>
              <a:cxnSpLocks noChangeShapeType="1"/>
            </p:cNvCxnSpPr>
            <p:nvPr/>
          </p:nvCxnSpPr>
          <p:spPr bwMode="auto">
            <a:xfrm>
              <a:off x="0" y="714375"/>
              <a:ext cx="2214563" cy="1587"/>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cxnSp>
          <p:nvCxnSpPr>
            <p:cNvPr id="76" name="直接连接符 16">
              <a:extLst>
                <a:ext uri="{FF2B5EF4-FFF2-40B4-BE49-F238E27FC236}">
                  <a16:creationId xmlns:a16="http://schemas.microsoft.com/office/drawing/2014/main" id="{B8C374EF-AB2E-4BC1-A6E4-44742BF7224E}"/>
                </a:ext>
              </a:extLst>
            </p:cNvPr>
            <p:cNvCxnSpPr>
              <a:cxnSpLocks noChangeShapeType="1"/>
            </p:cNvCxnSpPr>
            <p:nvPr/>
          </p:nvCxnSpPr>
          <p:spPr bwMode="auto">
            <a:xfrm rot="5400000">
              <a:off x="1715290" y="1215227"/>
              <a:ext cx="1000125" cy="1587"/>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graphicFrame>
          <p:nvGraphicFramePr>
            <p:cNvPr id="77" name="Object 15">
              <a:extLst>
                <a:ext uri="{FF2B5EF4-FFF2-40B4-BE49-F238E27FC236}">
                  <a16:creationId xmlns:a16="http://schemas.microsoft.com/office/drawing/2014/main" id="{62E47D2C-FBC5-44DB-86A3-0A5DCEB94048}"/>
                </a:ext>
              </a:extLst>
            </p:cNvPr>
            <p:cNvGraphicFramePr>
              <a:graphicFrameLocks noChangeAspect="1"/>
            </p:cNvGraphicFramePr>
            <p:nvPr/>
          </p:nvGraphicFramePr>
          <p:xfrm>
            <a:off x="1428750" y="0"/>
            <a:ext cx="212725" cy="231775"/>
          </p:xfrm>
          <a:graphic>
            <a:graphicData uri="http://schemas.openxmlformats.org/presentationml/2006/ole">
              <mc:AlternateContent xmlns:mc="http://schemas.openxmlformats.org/markup-compatibility/2006">
                <mc:Choice xmlns:v="urn:schemas-microsoft-com:vml" Requires="v">
                  <p:oleObj spid="_x0000_s120463" r:id="rId12" imgW="153315" imgH="166064" progId="">
                    <p:embed/>
                  </p:oleObj>
                </mc:Choice>
                <mc:Fallback>
                  <p:oleObj r:id="rId12" imgW="153315" imgH="166064" progId="">
                    <p:embed/>
                    <p:pic>
                      <p:nvPicPr>
                        <p:cNvPr id="30735"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28750" y="0"/>
                          <a:ext cx="21272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8" name="Object 16">
              <a:extLst>
                <a:ext uri="{FF2B5EF4-FFF2-40B4-BE49-F238E27FC236}">
                  <a16:creationId xmlns:a16="http://schemas.microsoft.com/office/drawing/2014/main" id="{185AFD73-645C-4D74-AFAA-44A24897A8B8}"/>
                </a:ext>
              </a:extLst>
            </p:cNvPr>
            <p:cNvGraphicFramePr>
              <a:graphicFrameLocks noChangeAspect="1"/>
            </p:cNvGraphicFramePr>
            <p:nvPr/>
          </p:nvGraphicFramePr>
          <p:xfrm>
            <a:off x="2286000" y="500062"/>
            <a:ext cx="212725" cy="231775"/>
          </p:xfrm>
          <a:graphic>
            <a:graphicData uri="http://schemas.openxmlformats.org/presentationml/2006/ole">
              <mc:AlternateContent xmlns:mc="http://schemas.openxmlformats.org/markup-compatibility/2006">
                <mc:Choice xmlns:v="urn:schemas-microsoft-com:vml" Requires="v">
                  <p:oleObj spid="_x0000_s120464" r:id="rId14" imgW="153315" imgH="166064" progId="">
                    <p:embed/>
                  </p:oleObj>
                </mc:Choice>
                <mc:Fallback>
                  <p:oleObj r:id="rId14" imgW="153315" imgH="166064" progId="">
                    <p:embed/>
                    <p:pic>
                      <p:nvPicPr>
                        <p:cNvPr id="30736"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86000" y="500062"/>
                          <a:ext cx="21272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9" name="组合 27">
            <a:extLst>
              <a:ext uri="{FF2B5EF4-FFF2-40B4-BE49-F238E27FC236}">
                <a16:creationId xmlns:a16="http://schemas.microsoft.com/office/drawing/2014/main" id="{E499FE61-7A2F-430A-AFEB-18F77B6D8416}"/>
              </a:ext>
            </a:extLst>
          </p:cNvPr>
          <p:cNvGrpSpPr>
            <a:grpSpLocks/>
          </p:cNvGrpSpPr>
          <p:nvPr/>
        </p:nvGrpSpPr>
        <p:grpSpPr bwMode="auto">
          <a:xfrm>
            <a:off x="1306782" y="4397801"/>
            <a:ext cx="1357313" cy="855663"/>
            <a:chOff x="0" y="0"/>
            <a:chExt cx="1357313" cy="855663"/>
          </a:xfrm>
        </p:grpSpPr>
        <p:sp>
          <p:nvSpPr>
            <p:cNvPr id="80" name="左大括号 17">
              <a:extLst>
                <a:ext uri="{FF2B5EF4-FFF2-40B4-BE49-F238E27FC236}">
                  <a16:creationId xmlns:a16="http://schemas.microsoft.com/office/drawing/2014/main" id="{18A57396-B7AE-480F-9482-D17368646AE5}"/>
                </a:ext>
              </a:extLst>
            </p:cNvPr>
            <p:cNvSpPr>
              <a:spLocks/>
            </p:cNvSpPr>
            <p:nvPr/>
          </p:nvSpPr>
          <p:spPr bwMode="auto">
            <a:xfrm>
              <a:off x="357188" y="0"/>
              <a:ext cx="142875" cy="481013"/>
            </a:xfrm>
            <a:prstGeom prst="leftBrace">
              <a:avLst>
                <a:gd name="adj1" fmla="val 8339"/>
                <a:gd name="adj2" fmla="val 50000"/>
              </a:avLst>
            </a:prstGeom>
            <a:noFill/>
            <a:ln w="9525" cmpd="sng">
              <a:solidFill>
                <a:srgbClr val="A6A6A6"/>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81" name="Object 19">
              <a:extLst>
                <a:ext uri="{FF2B5EF4-FFF2-40B4-BE49-F238E27FC236}">
                  <a16:creationId xmlns:a16="http://schemas.microsoft.com/office/drawing/2014/main" id="{0A8CAB1F-5A8E-464E-A4B7-43EFEF79FADB}"/>
                </a:ext>
              </a:extLst>
            </p:cNvPr>
            <p:cNvGraphicFramePr>
              <a:graphicFrameLocks noChangeAspect="1"/>
            </p:cNvGraphicFramePr>
            <p:nvPr/>
          </p:nvGraphicFramePr>
          <p:xfrm>
            <a:off x="285750" y="552450"/>
            <a:ext cx="212725" cy="249238"/>
          </p:xfrm>
          <a:graphic>
            <a:graphicData uri="http://schemas.openxmlformats.org/presentationml/2006/ole">
              <mc:AlternateContent xmlns:mc="http://schemas.openxmlformats.org/markup-compatibility/2006">
                <mc:Choice xmlns:v="urn:schemas-microsoft-com:vml" Requires="v">
                  <p:oleObj spid="_x0000_s120465" r:id="rId16" imgW="153248" imgH="178737" progId="">
                    <p:embed/>
                  </p:oleObj>
                </mc:Choice>
                <mc:Fallback>
                  <p:oleObj r:id="rId16" imgW="153248" imgH="178737" progId="">
                    <p:embed/>
                    <p:pic>
                      <p:nvPicPr>
                        <p:cNvPr id="30739"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5750" y="552450"/>
                          <a:ext cx="212725"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2" name="组合 26">
              <a:extLst>
                <a:ext uri="{FF2B5EF4-FFF2-40B4-BE49-F238E27FC236}">
                  <a16:creationId xmlns:a16="http://schemas.microsoft.com/office/drawing/2014/main" id="{44BB103C-21B2-4D22-B352-1E5BDEFA8894}"/>
                </a:ext>
              </a:extLst>
            </p:cNvPr>
            <p:cNvGrpSpPr>
              <a:grpSpLocks/>
            </p:cNvGrpSpPr>
            <p:nvPr/>
          </p:nvGrpSpPr>
          <p:grpSpPr bwMode="auto">
            <a:xfrm>
              <a:off x="0" y="123825"/>
              <a:ext cx="1357313" cy="500063"/>
              <a:chOff x="0" y="0"/>
              <a:chExt cx="1357313" cy="500063"/>
            </a:xfrm>
          </p:grpSpPr>
          <p:sp>
            <p:nvSpPr>
              <p:cNvPr id="84" name="左大括号 18">
                <a:extLst>
                  <a:ext uri="{FF2B5EF4-FFF2-40B4-BE49-F238E27FC236}">
                    <a16:creationId xmlns:a16="http://schemas.microsoft.com/office/drawing/2014/main" id="{AC4FDE91-A45E-4C1B-8092-0B501B8CB780}"/>
                  </a:ext>
                </a:extLst>
              </p:cNvPr>
              <p:cNvSpPr>
                <a:spLocks/>
              </p:cNvSpPr>
              <p:nvPr/>
            </p:nvSpPr>
            <p:spPr bwMode="auto">
              <a:xfrm rot="16200000">
                <a:off x="857246" y="0"/>
                <a:ext cx="142875" cy="857250"/>
              </a:xfrm>
              <a:prstGeom prst="leftBrace">
                <a:avLst>
                  <a:gd name="adj1" fmla="val 8333"/>
                  <a:gd name="adj2" fmla="val 45556"/>
                </a:avLst>
              </a:prstGeom>
              <a:noFill/>
              <a:ln w="9525" cmpd="sng">
                <a:solidFill>
                  <a:srgbClr val="A6A6A6"/>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85" name="Object 22">
                <a:extLst>
                  <a:ext uri="{FF2B5EF4-FFF2-40B4-BE49-F238E27FC236}">
                    <a16:creationId xmlns:a16="http://schemas.microsoft.com/office/drawing/2014/main" id="{0CD180B4-8E1B-4013-82C7-F32E0C58AFD2}"/>
                  </a:ext>
                </a:extLst>
              </p:cNvPr>
              <p:cNvGraphicFramePr>
                <a:graphicFrameLocks noChangeAspect="1"/>
              </p:cNvGraphicFramePr>
              <p:nvPr/>
            </p:nvGraphicFramePr>
            <p:xfrm>
              <a:off x="0" y="0"/>
              <a:ext cx="355600" cy="231775"/>
            </p:xfrm>
            <a:graphic>
              <a:graphicData uri="http://schemas.openxmlformats.org/presentationml/2006/ole">
                <mc:AlternateContent xmlns:mc="http://schemas.openxmlformats.org/markup-compatibility/2006">
                  <mc:Choice xmlns:v="urn:schemas-microsoft-com:vml" Requires="v">
                    <p:oleObj spid="_x0000_s120466" r:id="rId18" imgW="254980" imgH="165848" progId="">
                      <p:embed/>
                    </p:oleObj>
                  </mc:Choice>
                  <mc:Fallback>
                    <p:oleObj r:id="rId18" imgW="254980" imgH="165848" progId="">
                      <p:embed/>
                      <p:pic>
                        <p:nvPicPr>
                          <p:cNvPr id="30742"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0"/>
                            <a:ext cx="355600"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83" name="Object 23">
              <a:extLst>
                <a:ext uri="{FF2B5EF4-FFF2-40B4-BE49-F238E27FC236}">
                  <a16:creationId xmlns:a16="http://schemas.microsoft.com/office/drawing/2014/main" id="{8D3FB713-91E6-42CF-A2FC-263544860CB2}"/>
                </a:ext>
              </a:extLst>
            </p:cNvPr>
            <p:cNvGraphicFramePr>
              <a:graphicFrameLocks noChangeAspect="1"/>
            </p:cNvGraphicFramePr>
            <p:nvPr/>
          </p:nvGraphicFramePr>
          <p:xfrm>
            <a:off x="785813" y="623888"/>
            <a:ext cx="320675" cy="231775"/>
          </p:xfrm>
          <a:graphic>
            <a:graphicData uri="http://schemas.openxmlformats.org/presentationml/2006/ole">
              <mc:AlternateContent xmlns:mc="http://schemas.openxmlformats.org/markup-compatibility/2006">
                <mc:Choice xmlns:v="urn:schemas-microsoft-com:vml" Requires="v">
                  <p:oleObj spid="_x0000_s120467" r:id="rId20" imgW="229514" imgH="165848" progId="">
                    <p:embed/>
                  </p:oleObj>
                </mc:Choice>
                <mc:Fallback>
                  <p:oleObj r:id="rId20" imgW="229514" imgH="165848" progId="">
                    <p:embed/>
                    <p:pic>
                      <p:nvPicPr>
                        <p:cNvPr id="30743" name="Object 23"/>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85813" y="623888"/>
                          <a:ext cx="32067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86" name="Object 24">
            <a:extLst>
              <a:ext uri="{FF2B5EF4-FFF2-40B4-BE49-F238E27FC236}">
                <a16:creationId xmlns:a16="http://schemas.microsoft.com/office/drawing/2014/main" id="{D06713EB-B276-46D4-9E51-A0A74E440EA5}"/>
              </a:ext>
            </a:extLst>
          </p:cNvPr>
          <p:cNvGraphicFramePr>
            <a:graphicFrameLocks noChangeAspect="1"/>
          </p:cNvGraphicFramePr>
          <p:nvPr>
            <p:extLst>
              <p:ext uri="{D42A27DB-BD31-4B8C-83A1-F6EECF244321}">
                <p14:modId xmlns:p14="http://schemas.microsoft.com/office/powerpoint/2010/main" val="1185913715"/>
              </p:ext>
            </p:extLst>
          </p:nvPr>
        </p:nvGraphicFramePr>
        <p:xfrm>
          <a:off x="3449907" y="5021689"/>
          <a:ext cx="266700" cy="320675"/>
        </p:xfrm>
        <a:graphic>
          <a:graphicData uri="http://schemas.openxmlformats.org/presentationml/2006/ole">
            <mc:AlternateContent xmlns:mc="http://schemas.openxmlformats.org/markup-compatibility/2006">
              <mc:Choice xmlns:v="urn:schemas-microsoft-com:vml" Requires="v">
                <p:oleObj spid="_x0000_s120468" r:id="rId22" imgW="191481" imgH="229714" progId="">
                  <p:embed/>
                </p:oleObj>
              </mc:Choice>
              <mc:Fallback>
                <p:oleObj r:id="rId22" imgW="191481" imgH="229714" progId="">
                  <p:embed/>
                  <p:pic>
                    <p:nvPicPr>
                      <p:cNvPr id="30744" name="Object 24"/>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449907" y="5021689"/>
                        <a:ext cx="266700" cy="320675"/>
                      </a:xfrm>
                      <a:prstGeom prst="rect">
                        <a:avLst/>
                      </a:prstGeom>
                      <a:noFill/>
                      <a:ln>
                        <a:noFill/>
                      </a:ln>
                      <a:effectLst/>
                    </p:spPr>
                  </p:pic>
                </p:oleObj>
              </mc:Fallback>
            </mc:AlternateContent>
          </a:graphicData>
        </a:graphic>
      </p:graphicFrame>
      <p:sp>
        <p:nvSpPr>
          <p:cNvPr id="112" name="弧形 8">
            <a:extLst>
              <a:ext uri="{FF2B5EF4-FFF2-40B4-BE49-F238E27FC236}">
                <a16:creationId xmlns:a16="http://schemas.microsoft.com/office/drawing/2014/main" id="{2336A493-379F-46D0-8827-C2CE33075322}"/>
              </a:ext>
            </a:extLst>
          </p:cNvPr>
          <p:cNvSpPr>
            <a:spLocks noChangeArrowheads="1"/>
          </p:cNvSpPr>
          <p:nvPr/>
        </p:nvSpPr>
        <p:spPr bwMode="auto">
          <a:xfrm rot="5400000">
            <a:off x="6418753" y="1378376"/>
            <a:ext cx="1857375" cy="1857375"/>
          </a:xfrm>
          <a:custGeom>
            <a:avLst/>
            <a:gdLst>
              <a:gd name="T0" fmla="*/ 928689 w 1857375"/>
              <a:gd name="T1" fmla="*/ 0 h 1857375"/>
              <a:gd name="T2" fmla="*/ 928688 w 1857375"/>
              <a:gd name="T3" fmla="*/ 928688 h 1857375"/>
              <a:gd name="T4" fmla="*/ 147624 w 1857375"/>
              <a:gd name="T5" fmla="*/ 1431083 h 1857375"/>
              <a:gd name="T6" fmla="*/ 11796480 60000 65536"/>
              <a:gd name="T7" fmla="*/ 11796480 60000 65536"/>
              <a:gd name="T8" fmla="*/ 17694720 60000 65536"/>
              <a:gd name="T9" fmla="*/ 147624 w 1857375"/>
              <a:gd name="T10" fmla="*/ 0 h 1857375"/>
              <a:gd name="T11" fmla="*/ 1857375 w 1857375"/>
              <a:gd name="T12" fmla="*/ 1857375 h 1857375"/>
            </a:gdLst>
            <a:ahLst/>
            <a:cxnLst>
              <a:cxn ang="T6">
                <a:pos x="T0" y="T1"/>
              </a:cxn>
              <a:cxn ang="T7">
                <a:pos x="T2" y="T3"/>
              </a:cxn>
              <a:cxn ang="T8">
                <a:pos x="T4" y="T5"/>
              </a:cxn>
            </a:cxnLst>
            <a:rect l="T9" t="T10" r="T11" b="T12"/>
            <a:pathLst>
              <a:path w="1857375" h="1857375" stroke="0">
                <a:moveTo>
                  <a:pt x="928689" y="0"/>
                </a:moveTo>
                <a:lnTo>
                  <a:pt x="928689" y="0"/>
                </a:lnTo>
                <a:cubicBezTo>
                  <a:pt x="1441588" y="0"/>
                  <a:pt x="1857376" y="415788"/>
                  <a:pt x="1857376" y="928688"/>
                </a:cubicBezTo>
                <a:cubicBezTo>
                  <a:pt x="1857376" y="1441588"/>
                  <a:pt x="1441588" y="1857376"/>
                  <a:pt x="928688" y="1857376"/>
                </a:cubicBezTo>
                <a:cubicBezTo>
                  <a:pt x="612772" y="1857375"/>
                  <a:pt x="318524" y="1696779"/>
                  <a:pt x="147623" y="1431081"/>
                </a:cubicBezTo>
                <a:lnTo>
                  <a:pt x="928688" y="928688"/>
                </a:lnTo>
                <a:close/>
              </a:path>
              <a:path w="1857375" h="1857375" fill="none">
                <a:moveTo>
                  <a:pt x="928689" y="0"/>
                </a:moveTo>
                <a:lnTo>
                  <a:pt x="928689" y="0"/>
                </a:lnTo>
                <a:cubicBezTo>
                  <a:pt x="1441588" y="0"/>
                  <a:pt x="1857376" y="415788"/>
                  <a:pt x="1857376" y="928688"/>
                </a:cubicBezTo>
                <a:cubicBezTo>
                  <a:pt x="1857376" y="1441588"/>
                  <a:pt x="1441588" y="1857376"/>
                  <a:pt x="928688" y="1857376"/>
                </a:cubicBezTo>
                <a:cubicBezTo>
                  <a:pt x="612772" y="1857375"/>
                  <a:pt x="318524" y="1696779"/>
                  <a:pt x="147623" y="1431081"/>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nvGrpSpPr>
          <p:cNvPr id="113" name="组合 20">
            <a:extLst>
              <a:ext uri="{FF2B5EF4-FFF2-40B4-BE49-F238E27FC236}">
                <a16:creationId xmlns:a16="http://schemas.microsoft.com/office/drawing/2014/main" id="{AC79619E-D95D-4AC7-99C2-FC3782B46C35}"/>
              </a:ext>
            </a:extLst>
          </p:cNvPr>
          <p:cNvGrpSpPr>
            <a:grpSpLocks/>
          </p:cNvGrpSpPr>
          <p:nvPr/>
        </p:nvGrpSpPr>
        <p:grpSpPr bwMode="auto">
          <a:xfrm>
            <a:off x="5561503" y="1164063"/>
            <a:ext cx="3214687" cy="2944813"/>
            <a:chOff x="0" y="0"/>
            <a:chExt cx="3214687" cy="2944813"/>
          </a:xfrm>
        </p:grpSpPr>
        <p:cxnSp>
          <p:nvCxnSpPr>
            <p:cNvPr id="114" name="直接箭头连接符 5">
              <a:extLst>
                <a:ext uri="{FF2B5EF4-FFF2-40B4-BE49-F238E27FC236}">
                  <a16:creationId xmlns:a16="http://schemas.microsoft.com/office/drawing/2014/main" id="{B86D027B-8DBC-4D65-8D4B-E5D4E86C5478}"/>
                </a:ext>
              </a:extLst>
            </p:cNvPr>
            <p:cNvCxnSpPr>
              <a:cxnSpLocks noChangeShapeType="1"/>
            </p:cNvCxnSpPr>
            <p:nvPr/>
          </p:nvCxnSpPr>
          <p:spPr bwMode="auto">
            <a:xfrm>
              <a:off x="285750" y="2643188"/>
              <a:ext cx="2928937" cy="1587"/>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115" name="直接箭头连接符 7">
              <a:extLst>
                <a:ext uri="{FF2B5EF4-FFF2-40B4-BE49-F238E27FC236}">
                  <a16:creationId xmlns:a16="http://schemas.microsoft.com/office/drawing/2014/main" id="{65A3AEF6-AE76-4E45-86D5-3052CE271997}"/>
                </a:ext>
              </a:extLst>
            </p:cNvPr>
            <p:cNvCxnSpPr>
              <a:cxnSpLocks noChangeShapeType="1"/>
            </p:cNvCxnSpPr>
            <p:nvPr/>
          </p:nvCxnSpPr>
          <p:spPr bwMode="auto">
            <a:xfrm rot="5400000" flipH="1" flipV="1">
              <a:off x="-1035050" y="1320796"/>
              <a:ext cx="2643188" cy="1587"/>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116" name="Object 7">
              <a:extLst>
                <a:ext uri="{FF2B5EF4-FFF2-40B4-BE49-F238E27FC236}">
                  <a16:creationId xmlns:a16="http://schemas.microsoft.com/office/drawing/2014/main" id="{680E8FAA-6BA8-4146-9DCE-45D79F12028B}"/>
                </a:ext>
              </a:extLst>
            </p:cNvPr>
            <p:cNvGraphicFramePr>
              <a:graphicFrameLocks noChangeAspect="1"/>
            </p:cNvGraphicFramePr>
            <p:nvPr/>
          </p:nvGraphicFramePr>
          <p:xfrm>
            <a:off x="0" y="142875"/>
            <a:ext cx="230187" cy="230188"/>
          </p:xfrm>
          <a:graphic>
            <a:graphicData uri="http://schemas.openxmlformats.org/presentationml/2006/ole">
              <mc:AlternateContent xmlns:mc="http://schemas.openxmlformats.org/markup-compatibility/2006">
                <mc:Choice xmlns:v="urn:schemas-microsoft-com:vml" Requires="v">
                  <p:oleObj spid="_x0000_s120469" r:id="rId24" imgW="166064" imgH="166064" progId="">
                    <p:embed/>
                  </p:oleObj>
                </mc:Choice>
                <mc:Fallback>
                  <p:oleObj r:id="rId24" imgW="166064" imgH="166064" progId="">
                    <p:embed/>
                    <p:pic>
                      <p:nvPicPr>
                        <p:cNvPr id="38" name="Object 7"/>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0" y="142875"/>
                          <a:ext cx="230187"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7" name="Object 8">
              <a:extLst>
                <a:ext uri="{FF2B5EF4-FFF2-40B4-BE49-F238E27FC236}">
                  <a16:creationId xmlns:a16="http://schemas.microsoft.com/office/drawing/2014/main" id="{A81B7795-E3EB-43B1-8EBC-1D3386C090B0}"/>
                </a:ext>
              </a:extLst>
            </p:cNvPr>
            <p:cNvGraphicFramePr>
              <a:graphicFrameLocks noChangeAspect="1"/>
            </p:cNvGraphicFramePr>
            <p:nvPr/>
          </p:nvGraphicFramePr>
          <p:xfrm>
            <a:off x="0" y="2643188"/>
            <a:ext cx="212725" cy="247650"/>
          </p:xfrm>
          <a:graphic>
            <a:graphicData uri="http://schemas.openxmlformats.org/presentationml/2006/ole">
              <mc:AlternateContent xmlns:mc="http://schemas.openxmlformats.org/markup-compatibility/2006">
                <mc:Choice xmlns:v="urn:schemas-microsoft-com:vml" Requires="v">
                  <p:oleObj spid="_x0000_s120470" r:id="rId26" imgW="153248" imgH="178737" progId="">
                    <p:embed/>
                  </p:oleObj>
                </mc:Choice>
                <mc:Fallback>
                  <p:oleObj r:id="rId26" imgW="153248" imgH="178737" progId="">
                    <p:embed/>
                    <p:pic>
                      <p:nvPicPr>
                        <p:cNvPr id="39" name="Object 8"/>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0" y="2643188"/>
                          <a:ext cx="212725"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8" name="Object 9">
              <a:extLst>
                <a:ext uri="{FF2B5EF4-FFF2-40B4-BE49-F238E27FC236}">
                  <a16:creationId xmlns:a16="http://schemas.microsoft.com/office/drawing/2014/main" id="{427CF075-940E-4AE5-A021-4219DC147CC6}"/>
                </a:ext>
              </a:extLst>
            </p:cNvPr>
            <p:cNvGraphicFramePr>
              <a:graphicFrameLocks noChangeAspect="1"/>
            </p:cNvGraphicFramePr>
            <p:nvPr/>
          </p:nvGraphicFramePr>
          <p:xfrm>
            <a:off x="2857500" y="2714625"/>
            <a:ext cx="195262" cy="230188"/>
          </p:xfrm>
          <a:graphic>
            <a:graphicData uri="http://schemas.openxmlformats.org/presentationml/2006/ole">
              <mc:AlternateContent xmlns:mc="http://schemas.openxmlformats.org/markup-compatibility/2006">
                <mc:Choice xmlns:v="urn:schemas-microsoft-com:vml" Requires="v">
                  <p:oleObj spid="_x0000_s120471" r:id="rId28" imgW="140565" imgH="166064" progId="">
                    <p:embed/>
                  </p:oleObj>
                </mc:Choice>
                <mc:Fallback>
                  <p:oleObj r:id="rId28" imgW="140565" imgH="166064" progId="">
                    <p:embed/>
                    <p:pic>
                      <p:nvPicPr>
                        <p:cNvPr id="40" name="Object 9"/>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857500" y="2714625"/>
                          <a:ext cx="195262"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19" name="Object 10">
            <a:extLst>
              <a:ext uri="{FF2B5EF4-FFF2-40B4-BE49-F238E27FC236}">
                <a16:creationId xmlns:a16="http://schemas.microsoft.com/office/drawing/2014/main" id="{A89C5D82-75FD-4CED-B3E1-30E7560A9CC1}"/>
              </a:ext>
            </a:extLst>
          </p:cNvPr>
          <p:cNvGraphicFramePr>
            <a:graphicFrameLocks noChangeAspect="1"/>
          </p:cNvGraphicFramePr>
          <p:nvPr>
            <p:extLst>
              <p:ext uri="{D42A27DB-BD31-4B8C-83A1-F6EECF244321}">
                <p14:modId xmlns:p14="http://schemas.microsoft.com/office/powerpoint/2010/main" val="3437404711"/>
              </p:ext>
            </p:extLst>
          </p:nvPr>
        </p:nvGraphicFramePr>
        <p:xfrm>
          <a:off x="8133253" y="2807126"/>
          <a:ext cx="746125" cy="320675"/>
        </p:xfrm>
        <a:graphic>
          <a:graphicData uri="http://schemas.openxmlformats.org/presentationml/2006/ole">
            <mc:AlternateContent xmlns:mc="http://schemas.openxmlformats.org/markup-compatibility/2006">
              <mc:Choice xmlns:v="urn:schemas-microsoft-com:vml" Requires="v">
                <p:oleObj spid="_x0000_s120472" r:id="rId30" imgW="534180" imgH="229116" progId="">
                  <p:embed/>
                </p:oleObj>
              </mc:Choice>
              <mc:Fallback>
                <p:oleObj r:id="rId30" imgW="534180" imgH="229116" progId="">
                  <p:embed/>
                  <p:pic>
                    <p:nvPicPr>
                      <p:cNvPr id="41" name="Object 10"/>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133253" y="2807126"/>
                        <a:ext cx="7461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0" name="Object 11">
            <a:extLst>
              <a:ext uri="{FF2B5EF4-FFF2-40B4-BE49-F238E27FC236}">
                <a16:creationId xmlns:a16="http://schemas.microsoft.com/office/drawing/2014/main" id="{D9936CB8-671B-4F5D-9816-1A5DDFBC82CC}"/>
              </a:ext>
            </a:extLst>
          </p:cNvPr>
          <p:cNvGraphicFramePr>
            <a:graphicFrameLocks noChangeAspect="1"/>
          </p:cNvGraphicFramePr>
          <p:nvPr>
            <p:extLst>
              <p:ext uri="{D42A27DB-BD31-4B8C-83A1-F6EECF244321}">
                <p14:modId xmlns:p14="http://schemas.microsoft.com/office/powerpoint/2010/main" val="776575406"/>
              </p:ext>
            </p:extLst>
          </p:nvPr>
        </p:nvGraphicFramePr>
        <p:xfrm>
          <a:off x="6704503" y="1664126"/>
          <a:ext cx="782637" cy="320675"/>
        </p:xfrm>
        <a:graphic>
          <a:graphicData uri="http://schemas.openxmlformats.org/presentationml/2006/ole">
            <mc:AlternateContent xmlns:mc="http://schemas.openxmlformats.org/markup-compatibility/2006">
              <mc:Choice xmlns:v="urn:schemas-microsoft-com:vml" Requires="v">
                <p:oleObj spid="_x0000_s120473" r:id="rId32" imgW="559846" imgH="229215" progId="">
                  <p:embed/>
                </p:oleObj>
              </mc:Choice>
              <mc:Fallback>
                <p:oleObj r:id="rId32" imgW="559846" imgH="229215" progId="">
                  <p:embed/>
                  <p:pic>
                    <p:nvPicPr>
                      <p:cNvPr id="42" name="Object 11"/>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704503" y="1664126"/>
                        <a:ext cx="7826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121" name="组合 24">
            <a:extLst>
              <a:ext uri="{FF2B5EF4-FFF2-40B4-BE49-F238E27FC236}">
                <a16:creationId xmlns:a16="http://schemas.microsoft.com/office/drawing/2014/main" id="{FDB90A81-1AD2-4CA5-9412-31E556B09BF4}"/>
              </a:ext>
            </a:extLst>
          </p:cNvPr>
          <p:cNvGrpSpPr>
            <a:grpSpLocks/>
          </p:cNvGrpSpPr>
          <p:nvPr/>
        </p:nvGrpSpPr>
        <p:grpSpPr bwMode="auto">
          <a:xfrm>
            <a:off x="6133003" y="1521251"/>
            <a:ext cx="1139825" cy="1573212"/>
            <a:chOff x="0" y="0"/>
            <a:chExt cx="1139825" cy="1573212"/>
          </a:xfrm>
        </p:grpSpPr>
        <p:cxnSp>
          <p:nvCxnSpPr>
            <p:cNvPr id="122" name="直接连接符 10">
              <a:extLst>
                <a:ext uri="{FF2B5EF4-FFF2-40B4-BE49-F238E27FC236}">
                  <a16:creationId xmlns:a16="http://schemas.microsoft.com/office/drawing/2014/main" id="{DD170F56-2E6D-4670-8053-655B7C96DD7F}"/>
                </a:ext>
              </a:extLst>
            </p:cNvPr>
            <p:cNvCxnSpPr>
              <a:cxnSpLocks noChangeShapeType="1"/>
            </p:cNvCxnSpPr>
            <p:nvPr/>
          </p:nvCxnSpPr>
          <p:spPr bwMode="auto">
            <a:xfrm rot="5400000">
              <a:off x="-514350" y="785812"/>
              <a:ext cx="1573212" cy="1588"/>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graphicFrame>
          <p:nvGraphicFramePr>
            <p:cNvPr id="123" name="Object 14">
              <a:extLst>
                <a:ext uri="{FF2B5EF4-FFF2-40B4-BE49-F238E27FC236}">
                  <a16:creationId xmlns:a16="http://schemas.microsoft.com/office/drawing/2014/main" id="{5DA08255-A45F-4C83-BC65-CB2E7F8AB644}"/>
                </a:ext>
              </a:extLst>
            </p:cNvPr>
            <p:cNvGraphicFramePr>
              <a:graphicFrameLocks noChangeAspect="1"/>
            </p:cNvGraphicFramePr>
            <p:nvPr/>
          </p:nvGraphicFramePr>
          <p:xfrm>
            <a:off x="0" y="642937"/>
            <a:ext cx="212725" cy="230188"/>
          </p:xfrm>
          <a:graphic>
            <a:graphicData uri="http://schemas.openxmlformats.org/presentationml/2006/ole">
              <mc:AlternateContent xmlns:mc="http://schemas.openxmlformats.org/markup-compatibility/2006">
                <mc:Choice xmlns:v="urn:schemas-microsoft-com:vml" Requires="v">
                  <p:oleObj spid="_x0000_s120474" r:id="rId34" imgW="153315" imgH="166064" progId="">
                    <p:embed/>
                  </p:oleObj>
                </mc:Choice>
                <mc:Fallback>
                  <p:oleObj r:id="rId34" imgW="153315" imgH="166064" progId="">
                    <p:embed/>
                    <p:pic>
                      <p:nvPicPr>
                        <p:cNvPr id="45" name="Object 14"/>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0" y="642937"/>
                          <a:ext cx="212725" cy="230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4" name="Object 15">
              <a:extLst>
                <a:ext uri="{FF2B5EF4-FFF2-40B4-BE49-F238E27FC236}">
                  <a16:creationId xmlns:a16="http://schemas.microsoft.com/office/drawing/2014/main" id="{A92AA3D6-FA21-455F-B2F4-DAB8FDDA7A18}"/>
                </a:ext>
              </a:extLst>
            </p:cNvPr>
            <p:cNvGraphicFramePr>
              <a:graphicFrameLocks noChangeAspect="1"/>
            </p:cNvGraphicFramePr>
            <p:nvPr/>
          </p:nvGraphicFramePr>
          <p:xfrm>
            <a:off x="357187" y="642937"/>
            <a:ext cx="782638" cy="320675"/>
          </p:xfrm>
          <a:graphic>
            <a:graphicData uri="http://schemas.openxmlformats.org/presentationml/2006/ole">
              <mc:AlternateContent xmlns:mc="http://schemas.openxmlformats.org/markup-compatibility/2006">
                <mc:Choice xmlns:v="urn:schemas-microsoft-com:vml" Requires="v">
                  <p:oleObj spid="_x0000_s120475" r:id="rId36" imgW="559846" imgH="229215" progId="">
                    <p:embed/>
                  </p:oleObj>
                </mc:Choice>
                <mc:Fallback>
                  <p:oleObj r:id="rId36" imgW="559846" imgH="229215" progId="">
                    <p:embed/>
                    <p:pic>
                      <p:nvPicPr>
                        <p:cNvPr id="46" name="Object 15"/>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57187" y="642937"/>
                          <a:ext cx="78263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5" name="椭圆 22">
              <a:extLst>
                <a:ext uri="{FF2B5EF4-FFF2-40B4-BE49-F238E27FC236}">
                  <a16:creationId xmlns:a16="http://schemas.microsoft.com/office/drawing/2014/main" id="{4E9D605A-B583-4755-BDAC-E01D66C0F3F5}"/>
                </a:ext>
              </a:extLst>
            </p:cNvPr>
            <p:cNvSpPr>
              <a:spLocks noChangeArrowheads="1"/>
            </p:cNvSpPr>
            <p:nvPr/>
          </p:nvSpPr>
          <p:spPr bwMode="auto">
            <a:xfrm>
              <a:off x="214312" y="785812"/>
              <a:ext cx="90488" cy="90488"/>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grpSp>
        <p:nvGrpSpPr>
          <p:cNvPr id="126" name="组合 21">
            <a:extLst>
              <a:ext uri="{FF2B5EF4-FFF2-40B4-BE49-F238E27FC236}">
                <a16:creationId xmlns:a16="http://schemas.microsoft.com/office/drawing/2014/main" id="{4FA1EC01-5328-44B9-9FBD-60A4B545F776}"/>
              </a:ext>
            </a:extLst>
          </p:cNvPr>
          <p:cNvGrpSpPr>
            <a:grpSpLocks/>
          </p:cNvGrpSpPr>
          <p:nvPr/>
        </p:nvGrpSpPr>
        <p:grpSpPr bwMode="auto">
          <a:xfrm>
            <a:off x="6775940" y="2950001"/>
            <a:ext cx="1643063" cy="749300"/>
            <a:chOff x="0" y="0"/>
            <a:chExt cx="1643063" cy="749300"/>
          </a:xfrm>
        </p:grpSpPr>
        <p:cxnSp>
          <p:nvCxnSpPr>
            <p:cNvPr id="127" name="直接连接符 12">
              <a:extLst>
                <a:ext uri="{FF2B5EF4-FFF2-40B4-BE49-F238E27FC236}">
                  <a16:creationId xmlns:a16="http://schemas.microsoft.com/office/drawing/2014/main" id="{D27A113D-E596-42E4-AC65-84494B89A9D2}"/>
                </a:ext>
              </a:extLst>
            </p:cNvPr>
            <p:cNvCxnSpPr>
              <a:cxnSpLocks noChangeShapeType="1"/>
            </p:cNvCxnSpPr>
            <p:nvPr/>
          </p:nvCxnSpPr>
          <p:spPr bwMode="auto">
            <a:xfrm>
              <a:off x="0" y="311150"/>
              <a:ext cx="1643063" cy="1587"/>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graphicFrame>
          <p:nvGraphicFramePr>
            <p:cNvPr id="128" name="Object 20">
              <a:extLst>
                <a:ext uri="{FF2B5EF4-FFF2-40B4-BE49-F238E27FC236}">
                  <a16:creationId xmlns:a16="http://schemas.microsoft.com/office/drawing/2014/main" id="{1D6FADBF-6EEC-4A74-811B-C8954FF3E020}"/>
                </a:ext>
              </a:extLst>
            </p:cNvPr>
            <p:cNvGraphicFramePr>
              <a:graphicFrameLocks noChangeAspect="1"/>
            </p:cNvGraphicFramePr>
            <p:nvPr/>
          </p:nvGraphicFramePr>
          <p:xfrm>
            <a:off x="428625" y="0"/>
            <a:ext cx="212725" cy="230187"/>
          </p:xfrm>
          <a:graphic>
            <a:graphicData uri="http://schemas.openxmlformats.org/presentationml/2006/ole">
              <mc:AlternateContent xmlns:mc="http://schemas.openxmlformats.org/markup-compatibility/2006">
                <mc:Choice xmlns:v="urn:schemas-microsoft-com:vml" Requires="v">
                  <p:oleObj spid="_x0000_s120476" r:id="rId38" imgW="153315" imgH="166064" progId="">
                    <p:embed/>
                  </p:oleObj>
                </mc:Choice>
                <mc:Fallback>
                  <p:oleObj r:id="rId38" imgW="153315" imgH="166064" progId="">
                    <p:embed/>
                    <p:pic>
                      <p:nvPicPr>
                        <p:cNvPr id="50" name="Object 20"/>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428625" y="0"/>
                          <a:ext cx="212725" cy="230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 name="椭圆 23">
              <a:extLst>
                <a:ext uri="{FF2B5EF4-FFF2-40B4-BE49-F238E27FC236}">
                  <a16:creationId xmlns:a16="http://schemas.microsoft.com/office/drawing/2014/main" id="{72AE973E-D11C-4289-8BA2-3CA844FED0EA}"/>
                </a:ext>
              </a:extLst>
            </p:cNvPr>
            <p:cNvSpPr>
              <a:spLocks noChangeArrowheads="1"/>
            </p:cNvSpPr>
            <p:nvPr/>
          </p:nvSpPr>
          <p:spPr bwMode="auto">
            <a:xfrm>
              <a:off x="500063" y="254000"/>
              <a:ext cx="90487" cy="88900"/>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130" name="Object 22">
              <a:extLst>
                <a:ext uri="{FF2B5EF4-FFF2-40B4-BE49-F238E27FC236}">
                  <a16:creationId xmlns:a16="http://schemas.microsoft.com/office/drawing/2014/main" id="{61A2098A-9FA6-433B-B334-0E2752DD266C}"/>
                </a:ext>
              </a:extLst>
            </p:cNvPr>
            <p:cNvGraphicFramePr>
              <a:graphicFrameLocks noChangeAspect="1"/>
            </p:cNvGraphicFramePr>
            <p:nvPr/>
          </p:nvGraphicFramePr>
          <p:xfrm>
            <a:off x="222250" y="428625"/>
            <a:ext cx="765175" cy="320675"/>
          </p:xfrm>
          <a:graphic>
            <a:graphicData uri="http://schemas.openxmlformats.org/presentationml/2006/ole">
              <mc:AlternateContent xmlns:mc="http://schemas.openxmlformats.org/markup-compatibility/2006">
                <mc:Choice xmlns:v="urn:schemas-microsoft-com:vml" Requires="v">
                  <p:oleObj spid="_x0000_s120477" r:id="rId40" imgW="546891" imgH="229116" progId="">
                    <p:embed/>
                  </p:oleObj>
                </mc:Choice>
                <mc:Fallback>
                  <p:oleObj r:id="rId40" imgW="546891" imgH="229116" progId="">
                    <p:embed/>
                    <p:pic>
                      <p:nvPicPr>
                        <p:cNvPr id="52" name="Object 22"/>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222250" y="428625"/>
                          <a:ext cx="7651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0" name="矩形 49">
            <a:extLst>
              <a:ext uri="{FF2B5EF4-FFF2-40B4-BE49-F238E27FC236}">
                <a16:creationId xmlns:a16="http://schemas.microsoft.com/office/drawing/2014/main" id="{64A73347-F17C-43F2-98B4-355EF9810CA9}"/>
              </a:ext>
            </a:extLst>
          </p:cNvPr>
          <p:cNvSpPr/>
          <p:nvPr/>
        </p:nvSpPr>
        <p:spPr>
          <a:xfrm>
            <a:off x="580922" y="520573"/>
            <a:ext cx="319899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二、边际技术替代率</a:t>
            </a:r>
          </a:p>
        </p:txBody>
      </p:sp>
      <p:sp>
        <p:nvSpPr>
          <p:cNvPr id="3" name="线形标注 1 2"/>
          <p:cNvSpPr/>
          <p:nvPr/>
        </p:nvSpPr>
        <p:spPr bwMode="auto">
          <a:xfrm>
            <a:off x="6228184" y="5950376"/>
            <a:ext cx="2449581" cy="612648"/>
          </a:xfrm>
          <a:prstGeom prst="borderCallout1">
            <a:avLst>
              <a:gd name="adj1" fmla="val -4316"/>
              <a:gd name="adj2" fmla="val 50375"/>
              <a:gd name="adj3" fmla="val -40825"/>
              <a:gd name="adj4" fmla="val 6816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劳动的生产能力越强，越容易替代资本。</a:t>
            </a:r>
          </a:p>
        </p:txBody>
      </p:sp>
    </p:spTree>
    <p:extLst>
      <p:ext uri="{BB962C8B-B14F-4D97-AF65-F5344CB8AC3E}">
        <p14:creationId xmlns:p14="http://schemas.microsoft.com/office/powerpoint/2010/main" val="248003457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 calcmode="lin" valueType="num">
                                      <p:cBhvr>
                                        <p:cTn id="7" dur="500" fill="hold"/>
                                        <p:tgtEl>
                                          <p:spTgt spid="50"/>
                                        </p:tgtEl>
                                        <p:attrNameLst>
                                          <p:attrName>ppt_w</p:attrName>
                                        </p:attrNameLst>
                                      </p:cBhvr>
                                      <p:tavLst>
                                        <p:tav tm="0">
                                          <p:val>
                                            <p:fltVal val="0"/>
                                          </p:val>
                                        </p:tav>
                                        <p:tav tm="100000">
                                          <p:val>
                                            <p:strVal val="#ppt_w"/>
                                          </p:val>
                                        </p:tav>
                                      </p:tavLst>
                                    </p:anim>
                                    <p:anim calcmode="lin" valueType="num">
                                      <p:cBhvr>
                                        <p:cTn id="8" dur="500" fill="hold"/>
                                        <p:tgtEl>
                                          <p:spTgt spid="50"/>
                                        </p:tgtEl>
                                        <p:attrNameLst>
                                          <p:attrName>ppt_h</p:attrName>
                                        </p:attrNameLst>
                                      </p:cBhvr>
                                      <p:tavLst>
                                        <p:tav tm="0">
                                          <p:val>
                                            <p:fltVal val="0"/>
                                          </p:val>
                                        </p:tav>
                                        <p:tav tm="100000">
                                          <p:val>
                                            <p:strVal val="#ppt_h"/>
                                          </p:val>
                                        </p:tav>
                                      </p:tavLst>
                                    </p:anim>
                                    <p:animEffect transition="in" filter="fade">
                                      <p:cBhvr>
                                        <p:cTn id="9" dur="500"/>
                                        <p:tgtEl>
                                          <p:spTgt spid="5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3"/>
                                        </p:tgtEl>
                                        <p:attrNameLst>
                                          <p:attrName>style.visibility</p:attrName>
                                        </p:attrNameLst>
                                      </p:cBhvr>
                                      <p:to>
                                        <p:strVal val="visible"/>
                                      </p:to>
                                    </p:set>
                                    <p:anim calcmode="lin" valueType="num">
                                      <p:cBhvr>
                                        <p:cTn id="14" dur="500" fill="hold"/>
                                        <p:tgtEl>
                                          <p:spTgt spid="53"/>
                                        </p:tgtEl>
                                        <p:attrNameLst>
                                          <p:attrName>ppt_w</p:attrName>
                                        </p:attrNameLst>
                                      </p:cBhvr>
                                      <p:tavLst>
                                        <p:tav tm="0">
                                          <p:val>
                                            <p:fltVal val="0"/>
                                          </p:val>
                                        </p:tav>
                                        <p:tav tm="100000">
                                          <p:val>
                                            <p:strVal val="#ppt_w"/>
                                          </p:val>
                                        </p:tav>
                                      </p:tavLst>
                                    </p:anim>
                                    <p:anim calcmode="lin" valueType="num">
                                      <p:cBhvr>
                                        <p:cTn id="15" dur="500" fill="hold"/>
                                        <p:tgtEl>
                                          <p:spTgt spid="53"/>
                                        </p:tgtEl>
                                        <p:attrNameLst>
                                          <p:attrName>ppt_h</p:attrName>
                                        </p:attrNameLst>
                                      </p:cBhvr>
                                      <p:tavLst>
                                        <p:tav tm="0">
                                          <p:val>
                                            <p:fltVal val="0"/>
                                          </p:val>
                                        </p:tav>
                                        <p:tav tm="100000">
                                          <p:val>
                                            <p:strVal val="#ppt_h"/>
                                          </p:val>
                                        </p:tav>
                                      </p:tavLst>
                                    </p:anim>
                                    <p:animEffect transition="in" filter="fade">
                                      <p:cBhvr>
                                        <p:cTn id="16" dur="500"/>
                                        <p:tgtEl>
                                          <p:spTgt spid="53"/>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anim calcmode="lin" valueType="num">
                                      <p:cBhvr>
                                        <p:cTn id="19" dur="500" fill="hold"/>
                                        <p:tgtEl>
                                          <p:spTgt spid="25"/>
                                        </p:tgtEl>
                                        <p:attrNameLst>
                                          <p:attrName>ppt_w</p:attrName>
                                        </p:attrNameLst>
                                      </p:cBhvr>
                                      <p:tavLst>
                                        <p:tav tm="0">
                                          <p:val>
                                            <p:fltVal val="0"/>
                                          </p:val>
                                        </p:tav>
                                        <p:tav tm="100000">
                                          <p:val>
                                            <p:strVal val="#ppt_w"/>
                                          </p:val>
                                        </p:tav>
                                      </p:tavLst>
                                    </p:anim>
                                    <p:anim calcmode="lin" valueType="num">
                                      <p:cBhvr>
                                        <p:cTn id="20" dur="500" fill="hold"/>
                                        <p:tgtEl>
                                          <p:spTgt spid="25"/>
                                        </p:tgtEl>
                                        <p:attrNameLst>
                                          <p:attrName>ppt_h</p:attrName>
                                        </p:attrNameLst>
                                      </p:cBhvr>
                                      <p:tavLst>
                                        <p:tav tm="0">
                                          <p:val>
                                            <p:fltVal val="0"/>
                                          </p:val>
                                        </p:tav>
                                        <p:tav tm="100000">
                                          <p:val>
                                            <p:strVal val="#ppt_h"/>
                                          </p:val>
                                        </p:tav>
                                      </p:tavLst>
                                    </p:anim>
                                    <p:animEffect transition="in" filter="fade">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21" presetClass="entr" presetSubtype="4" fill="hold" nodeType="click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wheel(4)">
                                      <p:cBhvr>
                                        <p:cTn id="26" dur="1000"/>
                                        <p:tgtEl>
                                          <p:spTgt spid="52"/>
                                        </p:tgtEl>
                                      </p:cBhvr>
                                    </p:animEffect>
                                  </p:childTnLst>
                                </p:cTn>
                              </p:par>
                              <p:par>
                                <p:cTn id="27" presetID="21" presetClass="entr" presetSubtype="4" fill="hold" grpId="0" nodeType="withEffect">
                                  <p:stCondLst>
                                    <p:cond delay="0"/>
                                  </p:stCondLst>
                                  <p:childTnLst>
                                    <p:set>
                                      <p:cBhvr>
                                        <p:cTn id="28" dur="1" fill="hold">
                                          <p:stCondLst>
                                            <p:cond delay="0"/>
                                          </p:stCondLst>
                                        </p:cTn>
                                        <p:tgtEl>
                                          <p:spTgt spid="51"/>
                                        </p:tgtEl>
                                        <p:attrNameLst>
                                          <p:attrName>style.visibility</p:attrName>
                                        </p:attrNameLst>
                                      </p:cBhvr>
                                      <p:to>
                                        <p:strVal val="visible"/>
                                      </p:to>
                                    </p:set>
                                    <p:animEffect transition="in" filter="wheel(4)">
                                      <p:cBhvr>
                                        <p:cTn id="29" dur="1000"/>
                                        <p:tgtEl>
                                          <p:spTgt spid="51"/>
                                        </p:tgtEl>
                                      </p:cBhvr>
                                    </p:animEffect>
                                  </p:childTnLst>
                                </p:cTn>
                              </p:par>
                              <p:par>
                                <p:cTn id="30" presetID="21" presetClass="entr" presetSubtype="4" fill="hold" nodeType="withEffect">
                                  <p:stCondLst>
                                    <p:cond delay="0"/>
                                  </p:stCondLst>
                                  <p:childTnLst>
                                    <p:set>
                                      <p:cBhvr>
                                        <p:cTn id="31" dur="1" fill="hold">
                                          <p:stCondLst>
                                            <p:cond delay="0"/>
                                          </p:stCondLst>
                                        </p:cTn>
                                        <p:tgtEl>
                                          <p:spTgt spid="86"/>
                                        </p:tgtEl>
                                        <p:attrNameLst>
                                          <p:attrName>style.visibility</p:attrName>
                                        </p:attrNameLst>
                                      </p:cBhvr>
                                      <p:to>
                                        <p:strVal val="visible"/>
                                      </p:to>
                                    </p:set>
                                    <p:animEffect transition="in" filter="wheel(4)">
                                      <p:cBhvr>
                                        <p:cTn id="32" dur="1000"/>
                                        <p:tgtEl>
                                          <p:spTgt spid="86"/>
                                        </p:tgtEl>
                                      </p:cBhvr>
                                    </p:animEffect>
                                  </p:childTnLst>
                                </p:cTn>
                              </p:par>
                            </p:childTnLst>
                          </p:cTn>
                        </p:par>
                      </p:childTnLst>
                    </p:cTn>
                  </p:par>
                  <p:par>
                    <p:cTn id="33" fill="hold">
                      <p:stCondLst>
                        <p:cond delay="indefinite"/>
                      </p:stCondLst>
                      <p:childTnLst>
                        <p:par>
                          <p:cTn id="34" fill="hold">
                            <p:stCondLst>
                              <p:cond delay="0"/>
                            </p:stCondLst>
                            <p:childTnLst>
                              <p:par>
                                <p:cTn id="35" presetID="21" presetClass="entr" presetSubtype="4" fill="hold" nodeType="clickEffect">
                                  <p:stCondLst>
                                    <p:cond delay="0"/>
                                  </p:stCondLst>
                                  <p:childTnLst>
                                    <p:set>
                                      <p:cBhvr>
                                        <p:cTn id="36" dur="1" fill="hold">
                                          <p:stCondLst>
                                            <p:cond delay="0"/>
                                          </p:stCondLst>
                                        </p:cTn>
                                        <p:tgtEl>
                                          <p:spTgt spid="72"/>
                                        </p:tgtEl>
                                        <p:attrNameLst>
                                          <p:attrName>style.visibility</p:attrName>
                                        </p:attrNameLst>
                                      </p:cBhvr>
                                      <p:to>
                                        <p:strVal val="visible"/>
                                      </p:to>
                                    </p:set>
                                    <p:animEffect transition="in" filter="wheel(4)">
                                      <p:cBhvr>
                                        <p:cTn id="37" dur="1000"/>
                                        <p:tgtEl>
                                          <p:spTgt spid="72"/>
                                        </p:tgtEl>
                                      </p:cBhvr>
                                    </p:animEffect>
                                  </p:childTnLst>
                                </p:cTn>
                              </p:par>
                            </p:childTnLst>
                          </p:cTn>
                        </p:par>
                      </p:childTnLst>
                    </p:cTn>
                  </p:par>
                  <p:par>
                    <p:cTn id="38" fill="hold">
                      <p:stCondLst>
                        <p:cond delay="indefinite"/>
                      </p:stCondLst>
                      <p:childTnLst>
                        <p:par>
                          <p:cTn id="39" fill="hold">
                            <p:stCondLst>
                              <p:cond delay="0"/>
                            </p:stCondLst>
                            <p:childTnLst>
                              <p:par>
                                <p:cTn id="40" presetID="21" presetClass="entr" presetSubtype="4" fill="hold" nodeType="clickEffect">
                                  <p:stCondLst>
                                    <p:cond delay="0"/>
                                  </p:stCondLst>
                                  <p:childTnLst>
                                    <p:set>
                                      <p:cBhvr>
                                        <p:cTn id="41" dur="1" fill="hold">
                                          <p:stCondLst>
                                            <p:cond delay="0"/>
                                          </p:stCondLst>
                                        </p:cTn>
                                        <p:tgtEl>
                                          <p:spTgt spid="79"/>
                                        </p:tgtEl>
                                        <p:attrNameLst>
                                          <p:attrName>style.visibility</p:attrName>
                                        </p:attrNameLst>
                                      </p:cBhvr>
                                      <p:to>
                                        <p:strVal val="visible"/>
                                      </p:to>
                                    </p:set>
                                    <p:animEffect transition="in" filter="wheel(4)">
                                      <p:cBhvr>
                                        <p:cTn id="42" dur="1000"/>
                                        <p:tgtEl>
                                          <p:spTgt spid="7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35"/>
                                        </p:tgtEl>
                                        <p:attrNameLst>
                                          <p:attrName>style.visibility</p:attrName>
                                        </p:attrNameLst>
                                      </p:cBhvr>
                                      <p:to>
                                        <p:strVal val="visible"/>
                                      </p:to>
                                    </p:set>
                                    <p:animEffect transition="in" filter="wipe(down)">
                                      <p:cBhvr>
                                        <p:cTn id="47" dur="500"/>
                                        <p:tgtEl>
                                          <p:spTgt spid="35"/>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36"/>
                                        </p:tgtEl>
                                        <p:attrNameLst>
                                          <p:attrName>style.visibility</p:attrName>
                                        </p:attrNameLst>
                                      </p:cBhvr>
                                      <p:to>
                                        <p:strVal val="visible"/>
                                      </p:to>
                                    </p:set>
                                    <p:animEffect transition="in" filter="barn(inVertical)">
                                      <p:cBhvr>
                                        <p:cTn id="52" dur="500"/>
                                        <p:tgtEl>
                                          <p:spTgt spid="36"/>
                                        </p:tgtEl>
                                      </p:cBhvr>
                                    </p:animEffect>
                                  </p:childTnLst>
                                </p:cTn>
                              </p:par>
                            </p:childTnLst>
                          </p:cTn>
                        </p:par>
                      </p:childTnLst>
                    </p:cTn>
                  </p:par>
                  <p:par>
                    <p:cTn id="53" fill="hold">
                      <p:stCondLst>
                        <p:cond delay="indefinite"/>
                      </p:stCondLst>
                      <p:childTnLst>
                        <p:par>
                          <p:cTn id="54" fill="hold">
                            <p:stCondLst>
                              <p:cond delay="0"/>
                            </p:stCondLst>
                            <p:childTnLst>
                              <p:par>
                                <p:cTn id="55" presetID="6" presetClass="entr" presetSubtype="16" fill="hold" grpId="0" nodeType="clickEffect">
                                  <p:stCondLst>
                                    <p:cond delay="0"/>
                                  </p:stCondLst>
                                  <p:childTnLst>
                                    <p:set>
                                      <p:cBhvr>
                                        <p:cTn id="56" dur="1" fill="hold">
                                          <p:stCondLst>
                                            <p:cond delay="0"/>
                                          </p:stCondLst>
                                        </p:cTn>
                                        <p:tgtEl>
                                          <p:spTgt spid="59"/>
                                        </p:tgtEl>
                                        <p:attrNameLst>
                                          <p:attrName>style.visibility</p:attrName>
                                        </p:attrNameLst>
                                      </p:cBhvr>
                                      <p:to>
                                        <p:strVal val="visible"/>
                                      </p:to>
                                    </p:set>
                                    <p:animEffect transition="in" filter="circle(in)">
                                      <p:cBhvr>
                                        <p:cTn id="57" dur="2000"/>
                                        <p:tgtEl>
                                          <p:spTgt spid="59"/>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wipe(up)">
                                      <p:cBhvr>
                                        <p:cTn id="62" dur="500"/>
                                        <p:tgtEl>
                                          <p:spTgt spid="39"/>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38"/>
                                        </p:tgtEl>
                                        <p:attrNameLst>
                                          <p:attrName>style.visibility</p:attrName>
                                        </p:attrNameLst>
                                      </p:cBhvr>
                                      <p:to>
                                        <p:strVal val="visible"/>
                                      </p:to>
                                    </p:set>
                                    <p:animEffect transition="in" filter="wipe(left)">
                                      <p:cBhvr>
                                        <p:cTn id="67" dur="500"/>
                                        <p:tgtEl>
                                          <p:spTgt spid="38"/>
                                        </p:tgtEl>
                                      </p:cBhvr>
                                    </p:animEffect>
                                  </p:childTnLst>
                                </p:cTn>
                              </p:par>
                            </p:childTnLst>
                          </p:cTn>
                        </p:par>
                      </p:childTnLst>
                    </p:cTn>
                  </p:par>
                  <p:par>
                    <p:cTn id="68" fill="hold">
                      <p:stCondLst>
                        <p:cond delay="indefinite"/>
                      </p:stCondLst>
                      <p:childTnLst>
                        <p:par>
                          <p:cTn id="69" fill="hold">
                            <p:stCondLst>
                              <p:cond delay="0"/>
                            </p:stCondLst>
                            <p:childTnLst>
                              <p:par>
                                <p:cTn id="70" presetID="2" presetClass="entr" presetSubtype="2" fill="hold" nodeType="clickEffect">
                                  <p:stCondLst>
                                    <p:cond delay="0"/>
                                  </p:stCondLst>
                                  <p:childTnLst>
                                    <p:set>
                                      <p:cBhvr>
                                        <p:cTn id="71" dur="1" fill="hold">
                                          <p:stCondLst>
                                            <p:cond delay="0"/>
                                          </p:stCondLst>
                                        </p:cTn>
                                        <p:tgtEl>
                                          <p:spTgt spid="113"/>
                                        </p:tgtEl>
                                        <p:attrNameLst>
                                          <p:attrName>style.visibility</p:attrName>
                                        </p:attrNameLst>
                                      </p:cBhvr>
                                      <p:to>
                                        <p:strVal val="visible"/>
                                      </p:to>
                                    </p:set>
                                    <p:anim calcmode="lin" valueType="num">
                                      <p:cBhvr additive="base">
                                        <p:cTn id="72" dur="500" fill="hold"/>
                                        <p:tgtEl>
                                          <p:spTgt spid="113"/>
                                        </p:tgtEl>
                                        <p:attrNameLst>
                                          <p:attrName>ppt_x</p:attrName>
                                        </p:attrNameLst>
                                      </p:cBhvr>
                                      <p:tavLst>
                                        <p:tav tm="0">
                                          <p:val>
                                            <p:strVal val="1+#ppt_w/2"/>
                                          </p:val>
                                        </p:tav>
                                        <p:tav tm="100000">
                                          <p:val>
                                            <p:strVal val="#ppt_x"/>
                                          </p:val>
                                        </p:tav>
                                      </p:tavLst>
                                    </p:anim>
                                    <p:anim calcmode="lin" valueType="num">
                                      <p:cBhvr additive="base">
                                        <p:cTn id="73" dur="500" fill="hold"/>
                                        <p:tgtEl>
                                          <p:spTgt spid="113"/>
                                        </p:tgtEl>
                                        <p:attrNameLst>
                                          <p:attrName>ppt_y</p:attrName>
                                        </p:attrNameLst>
                                      </p:cBhvr>
                                      <p:tavLst>
                                        <p:tav tm="0">
                                          <p:val>
                                            <p:strVal val="#ppt_y"/>
                                          </p:val>
                                        </p:tav>
                                        <p:tav tm="100000">
                                          <p:val>
                                            <p:strVal val="#ppt_y"/>
                                          </p:val>
                                        </p:tav>
                                      </p:tavLst>
                                    </p:anim>
                                  </p:childTnLst>
                                </p:cTn>
                              </p:par>
                              <p:par>
                                <p:cTn id="74" presetID="1" presetClass="entr" presetSubtype="0" fill="hold" grpId="0" nodeType="withEffect">
                                  <p:stCondLst>
                                    <p:cond delay="0"/>
                                  </p:stCondLst>
                                  <p:childTnLst>
                                    <p:set>
                                      <p:cBhvr>
                                        <p:cTn id="75" dur="1" fill="hold">
                                          <p:stCondLst>
                                            <p:cond delay="0"/>
                                          </p:stCondLst>
                                        </p:cTn>
                                        <p:tgtEl>
                                          <p:spTgt spid="112"/>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121"/>
                                        </p:tgtEl>
                                        <p:attrNameLst>
                                          <p:attrName>style.visibility</p:attrName>
                                        </p:attrNameLst>
                                      </p:cBhvr>
                                      <p:to>
                                        <p:strVal val="visible"/>
                                      </p:to>
                                    </p:set>
                                    <p:animEffect transition="in" filter="wipe(left)">
                                      <p:cBhvr>
                                        <p:cTn id="80" dur="500"/>
                                        <p:tgtEl>
                                          <p:spTgt spid="121"/>
                                        </p:tgtEl>
                                      </p:cBhvr>
                                    </p:animEffect>
                                  </p:childTnLst>
                                </p:cTn>
                              </p:par>
                              <p:par>
                                <p:cTn id="81" presetID="22" presetClass="entr" presetSubtype="4" fill="hold" nodeType="withEffect">
                                  <p:stCondLst>
                                    <p:cond delay="0"/>
                                  </p:stCondLst>
                                  <p:childTnLst>
                                    <p:set>
                                      <p:cBhvr>
                                        <p:cTn id="82" dur="1" fill="hold">
                                          <p:stCondLst>
                                            <p:cond delay="0"/>
                                          </p:stCondLst>
                                        </p:cTn>
                                        <p:tgtEl>
                                          <p:spTgt spid="126"/>
                                        </p:tgtEl>
                                        <p:attrNameLst>
                                          <p:attrName>style.visibility</p:attrName>
                                        </p:attrNameLst>
                                      </p:cBhvr>
                                      <p:to>
                                        <p:strVal val="visible"/>
                                      </p:to>
                                    </p:set>
                                    <p:animEffect transition="in" filter="wipe(down)">
                                      <p:cBhvr>
                                        <p:cTn id="83" dur="500"/>
                                        <p:tgtEl>
                                          <p:spTgt spid="126"/>
                                        </p:tgtEl>
                                      </p:cBhvr>
                                    </p:animEffect>
                                  </p:childTnLst>
                                </p:cTn>
                              </p:par>
                            </p:childTnLst>
                          </p:cTn>
                        </p:par>
                      </p:childTnLst>
                    </p:cTn>
                  </p:par>
                  <p:par>
                    <p:cTn id="84" fill="hold">
                      <p:stCondLst>
                        <p:cond delay="indefinite"/>
                      </p:stCondLst>
                      <p:childTnLst>
                        <p:par>
                          <p:cTn id="85" fill="hold">
                            <p:stCondLst>
                              <p:cond delay="0"/>
                            </p:stCondLst>
                            <p:childTnLst>
                              <p:par>
                                <p:cTn id="86" presetID="21" presetClass="entr" presetSubtype="4" fill="hold" nodeType="clickEffect">
                                  <p:stCondLst>
                                    <p:cond delay="0"/>
                                  </p:stCondLst>
                                  <p:childTnLst>
                                    <p:set>
                                      <p:cBhvr>
                                        <p:cTn id="87" dur="1" fill="hold">
                                          <p:stCondLst>
                                            <p:cond delay="0"/>
                                          </p:stCondLst>
                                        </p:cTn>
                                        <p:tgtEl>
                                          <p:spTgt spid="120"/>
                                        </p:tgtEl>
                                        <p:attrNameLst>
                                          <p:attrName>style.visibility</p:attrName>
                                        </p:attrNameLst>
                                      </p:cBhvr>
                                      <p:to>
                                        <p:strVal val="visible"/>
                                      </p:to>
                                    </p:set>
                                    <p:animEffect transition="in" filter="wheel(4)">
                                      <p:cBhvr>
                                        <p:cTn id="88" dur="500"/>
                                        <p:tgtEl>
                                          <p:spTgt spid="120"/>
                                        </p:tgtEl>
                                      </p:cBhvr>
                                    </p:animEffect>
                                  </p:childTnLst>
                                </p:cTn>
                              </p:par>
                              <p:par>
                                <p:cTn id="89" presetID="21" presetClass="entr" presetSubtype="4" fill="hold" nodeType="withEffect">
                                  <p:stCondLst>
                                    <p:cond delay="0"/>
                                  </p:stCondLst>
                                  <p:childTnLst>
                                    <p:set>
                                      <p:cBhvr>
                                        <p:cTn id="90" dur="1" fill="hold">
                                          <p:stCondLst>
                                            <p:cond delay="0"/>
                                          </p:stCondLst>
                                        </p:cTn>
                                        <p:tgtEl>
                                          <p:spTgt spid="119"/>
                                        </p:tgtEl>
                                        <p:attrNameLst>
                                          <p:attrName>style.visibility</p:attrName>
                                        </p:attrNameLst>
                                      </p:cBhvr>
                                      <p:to>
                                        <p:strVal val="visible"/>
                                      </p:to>
                                    </p:set>
                                    <p:animEffect transition="in" filter="wheel(4)">
                                      <p:cBhvr>
                                        <p:cTn id="91"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59" grpId="0" animBg="1"/>
      <p:bldP spid="25" grpId="0"/>
      <p:bldP spid="35" grpId="0"/>
      <p:bldP spid="36" grpId="0"/>
      <p:bldP spid="38" grpId="0"/>
      <p:bldP spid="39" grpId="0" animBg="1"/>
      <p:bldP spid="51" grpId="0" animBg="1" autoUpdateAnimBg="0"/>
      <p:bldP spid="112" grpId="0" animBg="1" autoUpdateAnimBg="0"/>
      <p:bldP spid="5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62C71B2-A8D3-425A-9168-03B0A6861436}"/>
              </a:ext>
            </a:extLst>
          </p:cNvPr>
          <p:cNvSpPr/>
          <p:nvPr/>
        </p:nvSpPr>
        <p:spPr>
          <a:xfrm>
            <a:off x="827584" y="1314711"/>
            <a:ext cx="3744416"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9A09BC4B-E6F7-41F8-9FF2-9BC83F8ED2E7}"/>
              </a:ext>
            </a:extLst>
          </p:cNvPr>
          <p:cNvSpPr/>
          <p:nvPr/>
        </p:nvSpPr>
        <p:spPr>
          <a:xfrm>
            <a:off x="6732240" y="35332"/>
            <a:ext cx="233108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第四节 长期生产函数</a:t>
            </a:r>
          </a:p>
        </p:txBody>
      </p:sp>
      <p:sp>
        <p:nvSpPr>
          <p:cNvPr id="3" name="矩形 2">
            <a:extLst>
              <a:ext uri="{FF2B5EF4-FFF2-40B4-BE49-F238E27FC236}">
                <a16:creationId xmlns:a16="http://schemas.microsoft.com/office/drawing/2014/main" id="{4E1C1893-AB90-4458-A5F7-957881641DB7}"/>
              </a:ext>
            </a:extLst>
          </p:cNvPr>
          <p:cNvSpPr/>
          <p:nvPr/>
        </p:nvSpPr>
        <p:spPr>
          <a:xfrm>
            <a:off x="909885" y="1340442"/>
            <a:ext cx="3672408"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spc="150" dirty="0">
                <a:latin typeface="微软雅黑" panose="020B0503020204020204" pitchFamily="34" charset="-122"/>
                <a:ea typeface="微软雅黑" panose="020B0503020204020204" pitchFamily="34" charset="-122"/>
              </a:rPr>
              <a:t>边际技术替代率递减规律</a:t>
            </a:r>
          </a:p>
        </p:txBody>
      </p:sp>
      <p:sp>
        <p:nvSpPr>
          <p:cNvPr id="5" name="矩形 4">
            <a:extLst>
              <a:ext uri="{FF2B5EF4-FFF2-40B4-BE49-F238E27FC236}">
                <a16:creationId xmlns:a16="http://schemas.microsoft.com/office/drawing/2014/main" id="{C23E2245-EE98-4BC4-A4A7-09404D918DFB}"/>
              </a:ext>
            </a:extLst>
          </p:cNvPr>
          <p:cNvSpPr/>
          <p:nvPr/>
        </p:nvSpPr>
        <p:spPr>
          <a:xfrm>
            <a:off x="528847" y="1916832"/>
            <a:ext cx="8086305" cy="1289905"/>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边际技术替代率递减规律是指在保持产量不变的条件下，随着一种生产要素数量的增加，每增加1单位该要素所能够替代的另外一种生产要素的数量递减，即一种要素对另外一种要素的边际技术替代率随着该要素的增加而递减。</a:t>
            </a:r>
          </a:p>
        </p:txBody>
      </p:sp>
      <p:sp>
        <p:nvSpPr>
          <p:cNvPr id="6" name="矩形 5">
            <a:extLst>
              <a:ext uri="{FF2B5EF4-FFF2-40B4-BE49-F238E27FC236}">
                <a16:creationId xmlns:a16="http://schemas.microsoft.com/office/drawing/2014/main" id="{E35BEB88-DE27-48A7-B1FE-DA48EBA77B8D}"/>
              </a:ext>
            </a:extLst>
          </p:cNvPr>
          <p:cNvSpPr/>
          <p:nvPr/>
        </p:nvSpPr>
        <p:spPr>
          <a:xfrm>
            <a:off x="528847" y="3499206"/>
            <a:ext cx="3243196" cy="369332"/>
          </a:xfrm>
          <a:prstGeom prst="rect">
            <a:avLst/>
          </a:prstGeom>
        </p:spPr>
        <p:txBody>
          <a:bodyPr wrap="non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原因：边际报酬递减规律。</a:t>
            </a:r>
          </a:p>
        </p:txBody>
      </p:sp>
      <p:sp>
        <p:nvSpPr>
          <p:cNvPr id="7" name="矩形 6">
            <a:extLst>
              <a:ext uri="{FF2B5EF4-FFF2-40B4-BE49-F238E27FC236}">
                <a16:creationId xmlns:a16="http://schemas.microsoft.com/office/drawing/2014/main" id="{4A68174B-5343-4B41-BEA3-D992B3A1D9E5}"/>
              </a:ext>
            </a:extLst>
          </p:cNvPr>
          <p:cNvSpPr/>
          <p:nvPr/>
        </p:nvSpPr>
        <p:spPr>
          <a:xfrm>
            <a:off x="1345055" y="4244873"/>
            <a:ext cx="6552728" cy="400110"/>
          </a:xfrm>
          <a:prstGeom prst="rect">
            <a:avLst/>
          </a:prstGeom>
        </p:spPr>
        <p:txBody>
          <a:bodyPr wrap="square">
            <a:spAutoFit/>
          </a:bodyPr>
          <a:lstStyle/>
          <a:p>
            <a:r>
              <a:rPr lang="en-US" altLang="zh-CN" sz="2000" dirty="0"/>
              <a:t>L↑ and K↓ </a:t>
            </a:r>
            <a:r>
              <a:rPr lang="en-US" altLang="zh-CN" sz="2000" dirty="0">
                <a:sym typeface="Wingdings" panose="05000000000000000000" pitchFamily="2" charset="2"/>
              </a:rPr>
              <a:t>  MP</a:t>
            </a:r>
            <a:r>
              <a:rPr lang="en-US" altLang="zh-CN" sz="2000" baseline="-25000" dirty="0">
                <a:sym typeface="Wingdings" panose="05000000000000000000" pitchFamily="2" charset="2"/>
              </a:rPr>
              <a:t>L</a:t>
            </a:r>
            <a:r>
              <a:rPr lang="en-US" altLang="zh-CN" sz="2000" dirty="0">
                <a:sym typeface="Wingdings" panose="05000000000000000000" pitchFamily="2" charset="2"/>
              </a:rPr>
              <a:t> ↓and MP</a:t>
            </a:r>
            <a:r>
              <a:rPr lang="en-US" altLang="zh-CN" sz="2000" baseline="-25000" dirty="0">
                <a:sym typeface="Wingdings" panose="05000000000000000000" pitchFamily="2" charset="2"/>
              </a:rPr>
              <a:t>K</a:t>
            </a:r>
            <a:r>
              <a:rPr lang="en-US" altLang="zh-CN" sz="2000" dirty="0">
                <a:sym typeface="Wingdings" panose="05000000000000000000" pitchFamily="2" charset="2"/>
              </a:rPr>
              <a:t>↑  MRTS</a:t>
            </a:r>
            <a:r>
              <a:rPr lang="en-US" altLang="zh-CN" sz="2000" baseline="-25000" dirty="0">
                <a:sym typeface="Wingdings" panose="05000000000000000000" pitchFamily="2" charset="2"/>
              </a:rPr>
              <a:t>L,K</a:t>
            </a:r>
            <a:r>
              <a:rPr lang="en-US" altLang="zh-CN" sz="2000" dirty="0">
                <a:sym typeface="Wingdings" panose="05000000000000000000" pitchFamily="2" charset="2"/>
              </a:rPr>
              <a:t>↓</a:t>
            </a:r>
            <a:r>
              <a:rPr lang="zh-CN" altLang="en-US" dirty="0">
                <a:sym typeface="Wingdings" panose="05000000000000000000" pitchFamily="2" charset="2"/>
              </a:rPr>
              <a:t>（绝对值）</a:t>
            </a:r>
            <a:endParaRPr lang="zh-CN" altLang="en-US" dirty="0"/>
          </a:p>
        </p:txBody>
      </p:sp>
      <p:sp>
        <p:nvSpPr>
          <p:cNvPr id="8" name="右箭头 1">
            <a:extLst>
              <a:ext uri="{FF2B5EF4-FFF2-40B4-BE49-F238E27FC236}">
                <a16:creationId xmlns:a16="http://schemas.microsoft.com/office/drawing/2014/main" id="{D24D6FC7-F06E-4685-98CA-603FCE3D15D1}"/>
              </a:ext>
            </a:extLst>
          </p:cNvPr>
          <p:cNvSpPr/>
          <p:nvPr/>
        </p:nvSpPr>
        <p:spPr bwMode="auto">
          <a:xfrm rot="16200000">
            <a:off x="5333084" y="4988567"/>
            <a:ext cx="576064" cy="138030"/>
          </a:xfrm>
          <a:prstGeom prst="righ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effectLst/>
              <a:latin typeface="Arial" panose="020B0604020202020204" pitchFamily="34"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637121A9-7628-44A0-B728-DC5C49164592}"/>
                  </a:ext>
                </a:extLst>
              </p:cNvPr>
              <p:cNvSpPr/>
              <p:nvPr/>
            </p:nvSpPr>
            <p:spPr>
              <a:xfrm>
                <a:off x="4904029" y="5411239"/>
                <a:ext cx="2693814" cy="6580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i="1" smtClean="0">
                          <a:solidFill>
                            <a:schemeClr val="tx1"/>
                          </a:solidFill>
                          <a:latin typeface="Cambria Math" panose="02040503050406030204" pitchFamily="18" charset="0"/>
                        </a:rPr>
                        <m:t>𝑀𝑅𝑇</m:t>
                      </m:r>
                      <m:sSub>
                        <m:sSubPr>
                          <m:ctrlPr>
                            <a:rPr lang="zh-CN" altLang="en-US"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𝑆</m:t>
                          </m:r>
                        </m:e>
                        <m:sub>
                          <m:r>
                            <a:rPr lang="zh-CN" altLang="en-US" i="1">
                              <a:solidFill>
                                <a:schemeClr val="tx1"/>
                              </a:solidFill>
                              <a:latin typeface="Cambria Math" panose="02040503050406030204" pitchFamily="18" charset="0"/>
                            </a:rPr>
                            <m:t>𝐿</m:t>
                          </m:r>
                          <m:r>
                            <a:rPr lang="en-US" altLang="zh-CN" i="1">
                              <a:solidFill>
                                <a:schemeClr val="tx1"/>
                              </a:solidFill>
                              <a:latin typeface="Cambria Math" panose="02040503050406030204" pitchFamily="18" charset="0"/>
                            </a:rPr>
                            <m:t>,</m:t>
                          </m:r>
                          <m:r>
                            <a:rPr lang="en-US" altLang="zh-CN" i="1">
                              <a:solidFill>
                                <a:schemeClr val="tx1"/>
                              </a:solidFill>
                              <a:latin typeface="Cambria Math" panose="02040503050406030204" pitchFamily="18" charset="0"/>
                            </a:rPr>
                            <m:t>𝐾</m:t>
                          </m:r>
                        </m:sub>
                      </m:sSub>
                      <m:r>
                        <a:rPr lang="zh-CN" altLang="en-US" i="1">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r>
                            <m:rPr>
                              <m:sty m:val="p"/>
                            </m:rPr>
                            <a:rPr lang="zh-CN" altLang="en-US" i="1">
                              <a:solidFill>
                                <a:schemeClr val="tx1"/>
                              </a:solidFill>
                              <a:latin typeface="Cambria Math" panose="02040503050406030204" pitchFamily="18" charset="0"/>
                            </a:rPr>
                            <m:t>Δ</m:t>
                          </m:r>
                          <m:r>
                            <a:rPr lang="en-US" altLang="zh-CN" i="1">
                              <a:solidFill>
                                <a:schemeClr val="tx1"/>
                              </a:solidFill>
                              <a:latin typeface="Cambria Math" panose="02040503050406030204" pitchFamily="18" charset="0"/>
                            </a:rPr>
                            <m:t>𝐾</m:t>
                          </m:r>
                        </m:num>
                        <m:den>
                          <m:r>
                            <m:rPr>
                              <m:sty m:val="p"/>
                            </m:rPr>
                            <a:rPr lang="zh-CN" altLang="en-US" i="1">
                              <a:solidFill>
                                <a:schemeClr val="tx1"/>
                              </a:solidFill>
                              <a:latin typeface="Cambria Math" panose="02040503050406030204" pitchFamily="18" charset="0"/>
                            </a:rPr>
                            <m:t>Δ</m:t>
                          </m:r>
                          <m:r>
                            <a:rPr lang="zh-CN" altLang="en-US" i="1">
                              <a:solidFill>
                                <a:schemeClr val="tx1"/>
                              </a:solidFill>
                              <a:latin typeface="Cambria Math" panose="02040503050406030204" pitchFamily="18" charset="0"/>
                            </a:rPr>
                            <m:t>𝐿</m:t>
                          </m:r>
                        </m:den>
                      </m:f>
                      <m:r>
                        <a:rPr lang="zh-CN" altLang="en-US" i="1">
                          <a:solidFill>
                            <a:schemeClr val="tx1"/>
                          </a:solidFill>
                          <a:latin typeface="Cambria Math" panose="02040503050406030204" pitchFamily="18" charset="0"/>
                        </a:rPr>
                        <m:t>=</m:t>
                      </m:r>
                      <m:f>
                        <m:fPr>
                          <m:ctrlPr>
                            <a:rPr lang="zh-CN" altLang="en-US" i="1">
                              <a:solidFill>
                                <a:schemeClr val="tx1"/>
                              </a:solidFill>
                              <a:latin typeface="Cambria Math" panose="02040503050406030204" pitchFamily="18" charset="0"/>
                            </a:rPr>
                          </m:ctrlPr>
                        </m:fPr>
                        <m:num>
                          <m:r>
                            <a:rPr lang="en-US" altLang="zh-CN" i="1">
                              <a:solidFill>
                                <a:schemeClr val="tx1"/>
                              </a:solidFill>
                              <a:latin typeface="Cambria Math" panose="02040503050406030204" pitchFamily="18" charset="0"/>
                            </a:rPr>
                            <m:t>𝑀</m:t>
                          </m:r>
                          <m:sSub>
                            <m:sSubPr>
                              <m:ctrlPr>
                                <a:rPr lang="zh-CN" altLang="en-US" i="1">
                                  <a:solidFill>
                                    <a:schemeClr val="tx1"/>
                                  </a:solidFill>
                                  <a:latin typeface="Cambria Math" panose="02040503050406030204" pitchFamily="18" charset="0"/>
                                </a:rPr>
                              </m:ctrlPr>
                            </m:sSubPr>
                            <m:e>
                              <m:r>
                                <a:rPr lang="zh-CN" altLang="en-US" i="1">
                                  <a:solidFill>
                                    <a:schemeClr val="tx1"/>
                                  </a:solidFill>
                                  <a:latin typeface="Cambria Math" panose="02040503050406030204" pitchFamily="18" charset="0"/>
                                </a:rPr>
                                <m:t>𝑃</m:t>
                              </m:r>
                            </m:e>
                            <m:sub>
                              <m:r>
                                <a:rPr lang="zh-CN" altLang="en-US" i="1">
                                  <a:solidFill>
                                    <a:schemeClr val="tx1"/>
                                  </a:solidFill>
                                  <a:latin typeface="Cambria Math" panose="02040503050406030204" pitchFamily="18" charset="0"/>
                                </a:rPr>
                                <m:t>𝐿</m:t>
                              </m:r>
                            </m:sub>
                          </m:sSub>
                        </m:num>
                        <m:den>
                          <m:r>
                            <a:rPr lang="en-US" altLang="zh-CN" i="1">
                              <a:solidFill>
                                <a:schemeClr val="tx1"/>
                              </a:solidFill>
                              <a:latin typeface="Cambria Math" panose="02040503050406030204" pitchFamily="18" charset="0"/>
                            </a:rPr>
                            <m:t>𝑀</m:t>
                          </m:r>
                          <m:sSub>
                            <m:sSubPr>
                              <m:ctrlPr>
                                <a:rPr lang="zh-CN" altLang="en-US"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𝑃</m:t>
                              </m:r>
                            </m:e>
                            <m:sub>
                              <m:r>
                                <a:rPr lang="en-US" altLang="zh-CN" i="1">
                                  <a:solidFill>
                                    <a:schemeClr val="tx1"/>
                                  </a:solidFill>
                                  <a:latin typeface="Cambria Math" panose="02040503050406030204" pitchFamily="18" charset="0"/>
                                </a:rPr>
                                <m:t>𝐾</m:t>
                              </m:r>
                            </m:sub>
                          </m:sSub>
                        </m:den>
                      </m:f>
                    </m:oMath>
                  </m:oMathPara>
                </a14:m>
                <a:endParaRPr lang="zh-CN" altLang="en-US" dirty="0">
                  <a:solidFill>
                    <a:schemeClr val="tx1"/>
                  </a:solidFill>
                </a:endParaRPr>
              </a:p>
            </p:txBody>
          </p:sp>
        </mc:Choice>
        <mc:Fallback xmlns="">
          <p:sp>
            <p:nvSpPr>
              <p:cNvPr id="9" name="矩形 8">
                <a:extLst>
                  <a:ext uri="{FF2B5EF4-FFF2-40B4-BE49-F238E27FC236}">
                    <a16:creationId xmlns:a16="http://schemas.microsoft.com/office/drawing/2014/main" id="{637121A9-7628-44A0-B728-DC5C49164592}"/>
                  </a:ext>
                </a:extLst>
              </p:cNvPr>
              <p:cNvSpPr>
                <a:spLocks noRot="1" noChangeAspect="1" noMove="1" noResize="1" noEditPoints="1" noAdjustHandles="1" noChangeArrowheads="1" noChangeShapeType="1" noTextEdit="1"/>
              </p:cNvSpPr>
              <p:nvPr/>
            </p:nvSpPr>
            <p:spPr>
              <a:xfrm>
                <a:off x="4904029" y="5411239"/>
                <a:ext cx="2693814" cy="658065"/>
              </a:xfrm>
              <a:prstGeom prst="rect">
                <a:avLst/>
              </a:prstGeom>
              <a:blipFill>
                <a:blip r:embed="rId2"/>
                <a:stretch>
                  <a:fillRect/>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1364686F-1D14-453B-B18C-2AFB9B8197FB}"/>
              </a:ext>
            </a:extLst>
          </p:cNvPr>
          <p:cNvSpPr/>
          <p:nvPr/>
        </p:nvSpPr>
        <p:spPr>
          <a:xfrm>
            <a:off x="580922" y="520573"/>
            <a:ext cx="319899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二、边际技术替代率</a:t>
            </a:r>
          </a:p>
        </p:txBody>
      </p:sp>
      <p:sp>
        <p:nvSpPr>
          <p:cNvPr id="4" name="线形标注 1 3"/>
          <p:cNvSpPr/>
          <p:nvPr/>
        </p:nvSpPr>
        <p:spPr bwMode="auto">
          <a:xfrm>
            <a:off x="6516216" y="3284983"/>
            <a:ext cx="2232248" cy="688009"/>
          </a:xfrm>
          <a:prstGeom prst="borderCallout1">
            <a:avLst>
              <a:gd name="adj1" fmla="val 18750"/>
              <a:gd name="adj2" fmla="val -8333"/>
              <a:gd name="adj3" fmla="val -10007"/>
              <a:gd name="adj4" fmla="val -26789"/>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呼应前面等产量曲线凸向原点的特征。</a:t>
            </a:r>
          </a:p>
        </p:txBody>
      </p:sp>
    </p:spTree>
    <p:extLst>
      <p:ext uri="{BB962C8B-B14F-4D97-AF65-F5344CB8AC3E}">
        <p14:creationId xmlns:p14="http://schemas.microsoft.com/office/powerpoint/2010/main" val="13273408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fltVal val="0"/>
                                          </p:val>
                                        </p:tav>
                                        <p:tav tm="100000">
                                          <p:val>
                                            <p:strVal val="#ppt_h"/>
                                          </p:val>
                                        </p:tav>
                                      </p:tavLst>
                                    </p:anim>
                                    <p:animEffect transition="in" filter="fade">
                                      <p:cBhvr>
                                        <p:cTn id="9" dur="500"/>
                                        <p:tgtEl>
                                          <p:spTgt spid="1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500" fill="hold"/>
                                        <p:tgtEl>
                                          <p:spTgt spid="11"/>
                                        </p:tgtEl>
                                        <p:attrNameLst>
                                          <p:attrName>ppt_w</p:attrName>
                                        </p:attrNameLst>
                                      </p:cBhvr>
                                      <p:tavLst>
                                        <p:tav tm="0">
                                          <p:val>
                                            <p:fltVal val="0"/>
                                          </p:val>
                                        </p:tav>
                                        <p:tav tm="100000">
                                          <p:val>
                                            <p:strVal val="#ppt_w"/>
                                          </p:val>
                                        </p:tav>
                                      </p:tavLst>
                                    </p:anim>
                                    <p:anim calcmode="lin" valueType="num">
                                      <p:cBhvr>
                                        <p:cTn id="15" dur="500" fill="hold"/>
                                        <p:tgtEl>
                                          <p:spTgt spid="11"/>
                                        </p:tgtEl>
                                        <p:attrNameLst>
                                          <p:attrName>ppt_h</p:attrName>
                                        </p:attrNameLst>
                                      </p:cBhvr>
                                      <p:tavLst>
                                        <p:tav tm="0">
                                          <p:val>
                                            <p:fltVal val="0"/>
                                          </p:val>
                                        </p:tav>
                                        <p:tav tm="100000">
                                          <p:val>
                                            <p:strVal val="#ppt_h"/>
                                          </p:val>
                                        </p:tav>
                                      </p:tavLst>
                                    </p:anim>
                                    <p:animEffect transition="in" filter="fade">
                                      <p:cBhvr>
                                        <p:cTn id="16" dur="500"/>
                                        <p:tgtEl>
                                          <p:spTgt spid="11"/>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16" presetClass="entr" presetSubtype="21" fill="hold" grpId="0" nodeType="click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barn(inVertical)">
                                      <p:cBhvr>
                                        <p:cTn id="40" dur="500"/>
                                        <p:tgtEl>
                                          <p:spTgt spid="7"/>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1000"/>
                                        <p:tgtEl>
                                          <p:spTgt spid="9"/>
                                        </p:tgtEl>
                                      </p:cBhvr>
                                    </p:animEffect>
                                    <p:anim calcmode="lin" valueType="num">
                                      <p:cBhvr>
                                        <p:cTn id="51" dur="1000" fill="hold"/>
                                        <p:tgtEl>
                                          <p:spTgt spid="9"/>
                                        </p:tgtEl>
                                        <p:attrNameLst>
                                          <p:attrName>ppt_x</p:attrName>
                                        </p:attrNameLst>
                                      </p:cBhvr>
                                      <p:tavLst>
                                        <p:tav tm="0">
                                          <p:val>
                                            <p:strVal val="#ppt_x"/>
                                          </p:val>
                                        </p:tav>
                                        <p:tav tm="100000">
                                          <p:val>
                                            <p:strVal val="#ppt_x"/>
                                          </p:val>
                                        </p:tav>
                                      </p:tavLst>
                                    </p:anim>
                                    <p:anim calcmode="lin" valueType="num">
                                      <p:cBhvr>
                                        <p:cTn id="5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p:bldP spid="5" grpId="0"/>
      <p:bldP spid="6" grpId="0"/>
      <p:bldP spid="7" grpId="0"/>
      <p:bldP spid="8" grpId="0" animBg="1"/>
      <p:bldP spid="9" grpId="0"/>
      <p:bldP spid="1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圆角 40">
            <a:extLst>
              <a:ext uri="{FF2B5EF4-FFF2-40B4-BE49-F238E27FC236}">
                <a16:creationId xmlns:a16="http://schemas.microsoft.com/office/drawing/2014/main" id="{39CE9847-DFBC-4B33-B4D4-7351D97344F3}"/>
              </a:ext>
            </a:extLst>
          </p:cNvPr>
          <p:cNvSpPr/>
          <p:nvPr/>
        </p:nvSpPr>
        <p:spPr>
          <a:xfrm>
            <a:off x="873832" y="1291381"/>
            <a:ext cx="3442587"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8182F34F-8E8A-4B0A-ABC9-E0F9FEC913A2}"/>
              </a:ext>
            </a:extLst>
          </p:cNvPr>
          <p:cNvSpPr/>
          <p:nvPr/>
        </p:nvSpPr>
        <p:spPr>
          <a:xfrm>
            <a:off x="878673" y="1314718"/>
            <a:ext cx="3456384"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spc="150" dirty="0">
                <a:latin typeface="微软雅黑" panose="020B0503020204020204" pitchFamily="34" charset="-122"/>
                <a:ea typeface="微软雅黑" panose="020B0503020204020204" pitchFamily="34" charset="-122"/>
              </a:rPr>
              <a:t>特殊形式的等产量曲线</a:t>
            </a:r>
          </a:p>
        </p:txBody>
      </p:sp>
      <p:grpSp>
        <p:nvGrpSpPr>
          <p:cNvPr id="3" name="组合 34">
            <a:extLst>
              <a:ext uri="{FF2B5EF4-FFF2-40B4-BE49-F238E27FC236}">
                <a16:creationId xmlns:a16="http://schemas.microsoft.com/office/drawing/2014/main" id="{0ED8E077-39F7-4D23-96CC-B90748B4E783}"/>
              </a:ext>
            </a:extLst>
          </p:cNvPr>
          <p:cNvGrpSpPr>
            <a:grpSpLocks/>
          </p:cNvGrpSpPr>
          <p:nvPr/>
        </p:nvGrpSpPr>
        <p:grpSpPr bwMode="auto">
          <a:xfrm>
            <a:off x="1428142" y="3077939"/>
            <a:ext cx="2357442" cy="2727325"/>
            <a:chOff x="285746" y="0"/>
            <a:chExt cx="2357442" cy="2726785"/>
          </a:xfrm>
        </p:grpSpPr>
        <p:grpSp>
          <p:nvGrpSpPr>
            <p:cNvPr id="4" name="组合 11">
              <a:extLst>
                <a:ext uri="{FF2B5EF4-FFF2-40B4-BE49-F238E27FC236}">
                  <a16:creationId xmlns:a16="http://schemas.microsoft.com/office/drawing/2014/main" id="{BE20921F-D805-45E8-A4B7-852358484FF3}"/>
                </a:ext>
              </a:extLst>
            </p:cNvPr>
            <p:cNvGrpSpPr>
              <a:grpSpLocks/>
            </p:cNvGrpSpPr>
            <p:nvPr/>
          </p:nvGrpSpPr>
          <p:grpSpPr bwMode="auto">
            <a:xfrm>
              <a:off x="285750" y="0"/>
              <a:ext cx="2357438" cy="2144288"/>
              <a:chOff x="285752" y="0"/>
              <a:chExt cx="2357454" cy="2143745"/>
            </a:xfrm>
          </p:grpSpPr>
          <p:cxnSp>
            <p:nvCxnSpPr>
              <p:cNvPr id="10" name="直接箭头连接符 5">
                <a:extLst>
                  <a:ext uri="{FF2B5EF4-FFF2-40B4-BE49-F238E27FC236}">
                    <a16:creationId xmlns:a16="http://schemas.microsoft.com/office/drawing/2014/main" id="{EF3C3AB0-43F8-4C8D-B6BA-EF4E445C54FD}"/>
                  </a:ext>
                </a:extLst>
              </p:cNvPr>
              <p:cNvCxnSpPr>
                <a:cxnSpLocks noChangeShapeType="1"/>
              </p:cNvCxnSpPr>
              <p:nvPr/>
            </p:nvCxnSpPr>
            <p:spPr bwMode="auto">
              <a:xfrm>
                <a:off x="285752" y="2142159"/>
                <a:ext cx="2357454" cy="1586"/>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11" name="直接箭头连接符 7">
                <a:extLst>
                  <a:ext uri="{FF2B5EF4-FFF2-40B4-BE49-F238E27FC236}">
                    <a16:creationId xmlns:a16="http://schemas.microsoft.com/office/drawing/2014/main" id="{6D4C2133-08E3-4098-BFF0-CB568940C925}"/>
                  </a:ext>
                </a:extLst>
              </p:cNvPr>
              <p:cNvCxnSpPr>
                <a:cxnSpLocks noChangeShapeType="1"/>
              </p:cNvCxnSpPr>
              <p:nvPr/>
            </p:nvCxnSpPr>
            <p:spPr bwMode="auto">
              <a:xfrm rot="5400000" flipH="1" flipV="1">
                <a:off x="-784534" y="1070286"/>
                <a:ext cx="2142159" cy="1588"/>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pSp>
        <p:cxnSp>
          <p:nvCxnSpPr>
            <p:cNvPr id="5" name="直接连接符 19">
              <a:extLst>
                <a:ext uri="{FF2B5EF4-FFF2-40B4-BE49-F238E27FC236}">
                  <a16:creationId xmlns:a16="http://schemas.microsoft.com/office/drawing/2014/main" id="{D425ACA0-F035-4765-83CD-63F8DF0BBAE2}"/>
                </a:ext>
              </a:extLst>
            </p:cNvPr>
            <p:cNvCxnSpPr>
              <a:cxnSpLocks noChangeShapeType="1"/>
            </p:cNvCxnSpPr>
            <p:nvPr/>
          </p:nvCxnSpPr>
          <p:spPr bwMode="auto">
            <a:xfrm rot="16200000" flipH="1">
              <a:off x="178731" y="821244"/>
              <a:ext cx="1428467" cy="1214438"/>
            </a:xfrm>
            <a:prstGeom prst="line">
              <a:avLst/>
            </a:prstGeom>
            <a:noFill/>
            <a:ln w="38100" cmpd="sng">
              <a:solidFill>
                <a:srgbClr val="FFC00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6" name="直接连接符 21">
              <a:extLst>
                <a:ext uri="{FF2B5EF4-FFF2-40B4-BE49-F238E27FC236}">
                  <a16:creationId xmlns:a16="http://schemas.microsoft.com/office/drawing/2014/main" id="{DB809138-293C-405E-A50D-10B023117BD3}"/>
                </a:ext>
              </a:extLst>
            </p:cNvPr>
            <p:cNvCxnSpPr>
              <a:cxnSpLocks noChangeShapeType="1"/>
            </p:cNvCxnSpPr>
            <p:nvPr/>
          </p:nvCxnSpPr>
          <p:spPr bwMode="auto">
            <a:xfrm rot="16200000" flipH="1">
              <a:off x="143055" y="428381"/>
              <a:ext cx="1857007" cy="1571625"/>
            </a:xfrm>
            <a:prstGeom prst="line">
              <a:avLst/>
            </a:prstGeom>
            <a:noFill/>
            <a:ln w="38100" cmpd="sng">
              <a:solidFill>
                <a:srgbClr val="FFC00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sp>
          <p:nvSpPr>
            <p:cNvPr id="9" name="TextBox 40">
              <a:extLst>
                <a:ext uri="{FF2B5EF4-FFF2-40B4-BE49-F238E27FC236}">
                  <a16:creationId xmlns:a16="http://schemas.microsoft.com/office/drawing/2014/main" id="{E2FFB349-FAAE-46B4-B6EB-007FF2B2F695}"/>
                </a:ext>
              </a:extLst>
            </p:cNvPr>
            <p:cNvSpPr txBox="1">
              <a:spLocks noChangeArrowheads="1"/>
            </p:cNvSpPr>
            <p:nvPr/>
          </p:nvSpPr>
          <p:spPr bwMode="auto">
            <a:xfrm>
              <a:off x="1000109" y="2357453"/>
              <a:ext cx="46679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dirty="0"/>
                <a:t>(a)</a:t>
              </a:r>
              <a:endParaRPr lang="zh-CN" altLang="en-US" dirty="0"/>
            </a:p>
          </p:txBody>
        </p:sp>
      </p:grpSp>
      <p:sp>
        <p:nvSpPr>
          <p:cNvPr id="15" name="矩形 14">
            <a:extLst>
              <a:ext uri="{FF2B5EF4-FFF2-40B4-BE49-F238E27FC236}">
                <a16:creationId xmlns:a16="http://schemas.microsoft.com/office/drawing/2014/main" id="{2FE1D78C-8DDA-47FC-A150-330628E566C0}"/>
              </a:ext>
            </a:extLst>
          </p:cNvPr>
          <p:cNvSpPr/>
          <p:nvPr/>
        </p:nvSpPr>
        <p:spPr>
          <a:xfrm>
            <a:off x="611560" y="2330874"/>
            <a:ext cx="3704860" cy="369332"/>
          </a:xfrm>
          <a:prstGeom prst="rect">
            <a:avLst/>
          </a:prstGeom>
        </p:spPr>
        <p:txBody>
          <a:bodyPr wrap="non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直线等产量曲线：要素完全替代</a:t>
            </a:r>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BE574CCB-3215-468F-A593-B505AD0A31C9}"/>
                  </a:ext>
                </a:extLst>
              </p:cNvPr>
              <p:cNvSpPr/>
              <p:nvPr/>
            </p:nvSpPr>
            <p:spPr>
              <a:xfrm>
                <a:off x="1151729" y="5188752"/>
                <a:ext cx="40992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𝑂</m:t>
                      </m:r>
                    </m:oMath>
                  </m:oMathPara>
                </a14:m>
                <a:endParaRPr lang="zh-CN" altLang="en-US" dirty="0">
                  <a:solidFill>
                    <a:schemeClr val="tx1"/>
                  </a:solidFill>
                </a:endParaRPr>
              </a:p>
            </p:txBody>
          </p:sp>
        </mc:Choice>
        <mc:Fallback xmlns="">
          <p:sp>
            <p:nvSpPr>
              <p:cNvPr id="16" name="矩形 15">
                <a:extLst>
                  <a:ext uri="{FF2B5EF4-FFF2-40B4-BE49-F238E27FC236}">
                    <a16:creationId xmlns:a16="http://schemas.microsoft.com/office/drawing/2014/main" id="{BE574CCB-3215-468F-A593-B505AD0A31C9}"/>
                  </a:ext>
                </a:extLst>
              </p:cNvPr>
              <p:cNvSpPr>
                <a:spLocks noRot="1" noChangeAspect="1" noMove="1" noResize="1" noEditPoints="1" noAdjustHandles="1" noChangeArrowheads="1" noChangeShapeType="1" noTextEdit="1"/>
              </p:cNvSpPr>
              <p:nvPr/>
            </p:nvSpPr>
            <p:spPr>
              <a:xfrm>
                <a:off x="1151729" y="5188752"/>
                <a:ext cx="409920" cy="36933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矩形 16">
                <a:extLst>
                  <a:ext uri="{FF2B5EF4-FFF2-40B4-BE49-F238E27FC236}">
                    <a16:creationId xmlns:a16="http://schemas.microsoft.com/office/drawing/2014/main" id="{239FE2E2-BF01-4507-93EA-435CEC053CB0}"/>
                  </a:ext>
                </a:extLst>
              </p:cNvPr>
              <p:cNvSpPr/>
              <p:nvPr/>
            </p:nvSpPr>
            <p:spPr>
              <a:xfrm>
                <a:off x="1128580" y="2925588"/>
                <a:ext cx="41767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𝐾</m:t>
                      </m:r>
                    </m:oMath>
                  </m:oMathPara>
                </a14:m>
                <a:endParaRPr lang="zh-CN" altLang="en-US" dirty="0">
                  <a:solidFill>
                    <a:schemeClr val="tx1"/>
                  </a:solidFill>
                </a:endParaRPr>
              </a:p>
            </p:txBody>
          </p:sp>
        </mc:Choice>
        <mc:Fallback xmlns="">
          <p:sp>
            <p:nvSpPr>
              <p:cNvPr id="17" name="矩形 16">
                <a:extLst>
                  <a:ext uri="{FF2B5EF4-FFF2-40B4-BE49-F238E27FC236}">
                    <a16:creationId xmlns:a16="http://schemas.microsoft.com/office/drawing/2014/main" id="{239FE2E2-BF01-4507-93EA-435CEC053CB0}"/>
                  </a:ext>
                </a:extLst>
              </p:cNvPr>
              <p:cNvSpPr>
                <a:spLocks noRot="1" noChangeAspect="1" noMove="1" noResize="1" noEditPoints="1" noAdjustHandles="1" noChangeArrowheads="1" noChangeShapeType="1" noTextEdit="1"/>
              </p:cNvSpPr>
              <p:nvPr/>
            </p:nvSpPr>
            <p:spPr>
              <a:xfrm>
                <a:off x="1128580" y="2925588"/>
                <a:ext cx="417678"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E346E699-78BF-4B92-894B-D321E514FE8B}"/>
                  </a:ext>
                </a:extLst>
              </p:cNvPr>
              <p:cNvSpPr/>
              <p:nvPr/>
            </p:nvSpPr>
            <p:spPr>
              <a:xfrm>
                <a:off x="3540204" y="5221060"/>
                <a:ext cx="376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𝐿</m:t>
                      </m:r>
                    </m:oMath>
                  </m:oMathPara>
                </a14:m>
                <a:endParaRPr lang="zh-CN" altLang="en-US" dirty="0">
                  <a:solidFill>
                    <a:schemeClr val="tx1"/>
                  </a:solidFill>
                </a:endParaRPr>
              </a:p>
            </p:txBody>
          </p:sp>
        </mc:Choice>
        <mc:Fallback xmlns="">
          <p:sp>
            <p:nvSpPr>
              <p:cNvPr id="18" name="矩形 17">
                <a:extLst>
                  <a:ext uri="{FF2B5EF4-FFF2-40B4-BE49-F238E27FC236}">
                    <a16:creationId xmlns:a16="http://schemas.microsoft.com/office/drawing/2014/main" id="{E346E699-78BF-4B92-894B-D321E514FE8B}"/>
                  </a:ext>
                </a:extLst>
              </p:cNvPr>
              <p:cNvSpPr>
                <a:spLocks noRot="1" noChangeAspect="1" noMove="1" noResize="1" noEditPoints="1" noAdjustHandles="1" noChangeArrowheads="1" noChangeShapeType="1" noTextEdit="1"/>
              </p:cNvSpPr>
              <p:nvPr/>
            </p:nvSpPr>
            <p:spPr>
              <a:xfrm>
                <a:off x="3540204" y="5221060"/>
                <a:ext cx="376962"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155D4DE5-582A-4BB5-9E23-A98416E652EB}"/>
                  </a:ext>
                </a:extLst>
              </p:cNvPr>
              <p:cNvSpPr/>
              <p:nvPr/>
            </p:nvSpPr>
            <p:spPr>
              <a:xfrm>
                <a:off x="2281916" y="4661233"/>
                <a:ext cx="5023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19" name="矩形 18">
                <a:extLst>
                  <a:ext uri="{FF2B5EF4-FFF2-40B4-BE49-F238E27FC236}">
                    <a16:creationId xmlns:a16="http://schemas.microsoft.com/office/drawing/2014/main" id="{155D4DE5-582A-4BB5-9E23-A98416E652EB}"/>
                  </a:ext>
                </a:extLst>
              </p:cNvPr>
              <p:cNvSpPr>
                <a:spLocks noRot="1" noChangeAspect="1" noMove="1" noResize="1" noEditPoints="1" noAdjustHandles="1" noChangeArrowheads="1" noChangeShapeType="1" noTextEdit="1"/>
              </p:cNvSpPr>
              <p:nvPr/>
            </p:nvSpPr>
            <p:spPr>
              <a:xfrm>
                <a:off x="2281916" y="4661233"/>
                <a:ext cx="502381" cy="369332"/>
              </a:xfrm>
              <a:prstGeom prst="rect">
                <a:avLst/>
              </a:prstGeom>
              <a:blipFill>
                <a:blip r:embed="rId5"/>
                <a:stretch>
                  <a:fillRect b="-1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E95D8FEC-8C03-43A6-82D3-024288FC46F5}"/>
                  </a:ext>
                </a:extLst>
              </p:cNvPr>
              <p:cNvSpPr/>
              <p:nvPr/>
            </p:nvSpPr>
            <p:spPr>
              <a:xfrm>
                <a:off x="2416120" y="4324209"/>
                <a:ext cx="5023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20" name="矩形 19">
                <a:extLst>
                  <a:ext uri="{FF2B5EF4-FFF2-40B4-BE49-F238E27FC236}">
                    <a16:creationId xmlns:a16="http://schemas.microsoft.com/office/drawing/2014/main" id="{E95D8FEC-8C03-43A6-82D3-024288FC46F5}"/>
                  </a:ext>
                </a:extLst>
              </p:cNvPr>
              <p:cNvSpPr>
                <a:spLocks noRot="1" noChangeAspect="1" noMove="1" noResize="1" noEditPoints="1" noAdjustHandles="1" noChangeArrowheads="1" noChangeShapeType="1" noTextEdit="1"/>
              </p:cNvSpPr>
              <p:nvPr/>
            </p:nvSpPr>
            <p:spPr>
              <a:xfrm>
                <a:off x="2416120" y="4324209"/>
                <a:ext cx="502381" cy="369332"/>
              </a:xfrm>
              <a:prstGeom prst="rect">
                <a:avLst/>
              </a:prstGeom>
              <a:blipFill>
                <a:blip r:embed="rId6"/>
                <a:stretch>
                  <a:fillRect b="-11475"/>
                </a:stretch>
              </a:blipFill>
            </p:spPr>
            <p:txBody>
              <a:bodyPr/>
              <a:lstStyle/>
              <a:p>
                <a:r>
                  <a:rPr lang="zh-CN" altLang="en-US">
                    <a:noFill/>
                  </a:rPr>
                  <a:t> </a:t>
                </a:r>
              </a:p>
            </p:txBody>
          </p:sp>
        </mc:Fallback>
      </mc:AlternateContent>
      <p:sp>
        <p:nvSpPr>
          <p:cNvPr id="21" name="矩形 20">
            <a:extLst>
              <a:ext uri="{FF2B5EF4-FFF2-40B4-BE49-F238E27FC236}">
                <a16:creationId xmlns:a16="http://schemas.microsoft.com/office/drawing/2014/main" id="{C1B00AB9-B3B8-484A-B591-02F8BC604ED3}"/>
              </a:ext>
            </a:extLst>
          </p:cNvPr>
          <p:cNvSpPr/>
          <p:nvPr/>
        </p:nvSpPr>
        <p:spPr>
          <a:xfrm>
            <a:off x="5364088" y="2172186"/>
            <a:ext cx="2808312" cy="646331"/>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直角折线等产量曲线：固定比例的生产函数。</a:t>
            </a:r>
          </a:p>
        </p:txBody>
      </p:sp>
      <p:grpSp>
        <p:nvGrpSpPr>
          <p:cNvPr id="22" name="组合 39">
            <a:extLst>
              <a:ext uri="{FF2B5EF4-FFF2-40B4-BE49-F238E27FC236}">
                <a16:creationId xmlns:a16="http://schemas.microsoft.com/office/drawing/2014/main" id="{15395950-FD21-4E21-B68F-4EF5EDB6AC73}"/>
              </a:ext>
            </a:extLst>
          </p:cNvPr>
          <p:cNvGrpSpPr>
            <a:grpSpLocks/>
          </p:cNvGrpSpPr>
          <p:nvPr/>
        </p:nvGrpSpPr>
        <p:grpSpPr bwMode="auto">
          <a:xfrm>
            <a:off x="6129535" y="3363685"/>
            <a:ext cx="1500187" cy="1358904"/>
            <a:chOff x="0" y="-4"/>
            <a:chExt cx="1500187" cy="1358904"/>
          </a:xfrm>
        </p:grpSpPr>
        <p:cxnSp>
          <p:nvCxnSpPr>
            <p:cNvPr id="23" name="直接连接符 27">
              <a:extLst>
                <a:ext uri="{FF2B5EF4-FFF2-40B4-BE49-F238E27FC236}">
                  <a16:creationId xmlns:a16="http://schemas.microsoft.com/office/drawing/2014/main" id="{12C0F601-B7C6-4824-8873-DE77FC63E033}"/>
                </a:ext>
              </a:extLst>
            </p:cNvPr>
            <p:cNvCxnSpPr>
              <a:cxnSpLocks noChangeShapeType="1"/>
            </p:cNvCxnSpPr>
            <p:nvPr/>
          </p:nvCxnSpPr>
          <p:spPr bwMode="auto">
            <a:xfrm>
              <a:off x="0" y="1357313"/>
              <a:ext cx="1500187" cy="1587"/>
            </a:xfrm>
            <a:prstGeom prst="line">
              <a:avLst/>
            </a:prstGeom>
            <a:noFill/>
            <a:ln w="38100" cmpd="sng">
              <a:solidFill>
                <a:srgbClr val="00B0F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25" name="直接连接符 25">
              <a:extLst>
                <a:ext uri="{FF2B5EF4-FFF2-40B4-BE49-F238E27FC236}">
                  <a16:creationId xmlns:a16="http://schemas.microsoft.com/office/drawing/2014/main" id="{0553C1AE-939B-43C6-9FC2-26A4402CACBB}"/>
                </a:ext>
              </a:extLst>
            </p:cNvPr>
            <p:cNvCxnSpPr>
              <a:cxnSpLocks noChangeShapeType="1"/>
            </p:cNvCxnSpPr>
            <p:nvPr/>
          </p:nvCxnSpPr>
          <p:spPr bwMode="auto">
            <a:xfrm rot="5400000">
              <a:off x="-678656" y="678652"/>
              <a:ext cx="1358900" cy="1587"/>
            </a:xfrm>
            <a:prstGeom prst="line">
              <a:avLst/>
            </a:prstGeom>
            <a:noFill/>
            <a:ln w="38100" cmpd="sng">
              <a:solidFill>
                <a:srgbClr val="00B0F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grpSp>
      <p:grpSp>
        <p:nvGrpSpPr>
          <p:cNvPr id="27" name="组合 36">
            <a:extLst>
              <a:ext uri="{FF2B5EF4-FFF2-40B4-BE49-F238E27FC236}">
                <a16:creationId xmlns:a16="http://schemas.microsoft.com/office/drawing/2014/main" id="{03277AEF-18A0-4EFD-818F-EB91D8AFCE45}"/>
              </a:ext>
            </a:extLst>
          </p:cNvPr>
          <p:cNvGrpSpPr>
            <a:grpSpLocks/>
          </p:cNvGrpSpPr>
          <p:nvPr/>
        </p:nvGrpSpPr>
        <p:grpSpPr bwMode="auto">
          <a:xfrm>
            <a:off x="6629597" y="3365277"/>
            <a:ext cx="928688" cy="928687"/>
            <a:chOff x="0" y="0"/>
            <a:chExt cx="928688" cy="928687"/>
          </a:xfrm>
        </p:grpSpPr>
        <p:cxnSp>
          <p:nvCxnSpPr>
            <p:cNvPr id="28" name="直接连接符 31">
              <a:extLst>
                <a:ext uri="{FF2B5EF4-FFF2-40B4-BE49-F238E27FC236}">
                  <a16:creationId xmlns:a16="http://schemas.microsoft.com/office/drawing/2014/main" id="{274F8401-98A5-4D85-A36E-F9187DAFBDDE}"/>
                </a:ext>
              </a:extLst>
            </p:cNvPr>
            <p:cNvCxnSpPr>
              <a:cxnSpLocks noChangeShapeType="1"/>
            </p:cNvCxnSpPr>
            <p:nvPr/>
          </p:nvCxnSpPr>
          <p:spPr bwMode="auto">
            <a:xfrm rot="5400000">
              <a:off x="-463550" y="463550"/>
              <a:ext cx="928687" cy="1588"/>
            </a:xfrm>
            <a:prstGeom prst="line">
              <a:avLst/>
            </a:prstGeom>
            <a:noFill/>
            <a:ln w="38100" cmpd="sng">
              <a:solidFill>
                <a:srgbClr val="00B0F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29" name="直接连接符 33">
              <a:extLst>
                <a:ext uri="{FF2B5EF4-FFF2-40B4-BE49-F238E27FC236}">
                  <a16:creationId xmlns:a16="http://schemas.microsoft.com/office/drawing/2014/main" id="{A3C617D0-88E2-468D-99FA-B0D60D609BE4}"/>
                </a:ext>
              </a:extLst>
            </p:cNvPr>
            <p:cNvCxnSpPr>
              <a:cxnSpLocks noChangeShapeType="1"/>
            </p:cNvCxnSpPr>
            <p:nvPr/>
          </p:nvCxnSpPr>
          <p:spPr bwMode="auto">
            <a:xfrm>
              <a:off x="0" y="927100"/>
              <a:ext cx="928688" cy="1587"/>
            </a:xfrm>
            <a:prstGeom prst="line">
              <a:avLst/>
            </a:prstGeom>
            <a:noFill/>
            <a:ln w="38100" cmpd="sng">
              <a:solidFill>
                <a:srgbClr val="00B0F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grpSp>
      <p:cxnSp>
        <p:nvCxnSpPr>
          <p:cNvPr id="32" name="直接连接符 23">
            <a:extLst>
              <a:ext uri="{FF2B5EF4-FFF2-40B4-BE49-F238E27FC236}">
                <a16:creationId xmlns:a16="http://schemas.microsoft.com/office/drawing/2014/main" id="{855458A0-2E1E-41A6-BBB9-27BFD5068D87}"/>
              </a:ext>
            </a:extLst>
          </p:cNvPr>
          <p:cNvCxnSpPr>
            <a:cxnSpLocks noChangeShapeType="1"/>
          </p:cNvCxnSpPr>
          <p:nvPr/>
        </p:nvCxnSpPr>
        <p:spPr bwMode="auto">
          <a:xfrm flipV="1">
            <a:off x="5629472" y="3720877"/>
            <a:ext cx="1643063" cy="1428750"/>
          </a:xfrm>
          <a:prstGeom prst="line">
            <a:avLst/>
          </a:prstGeom>
          <a:noFill/>
          <a:ln w="9525" cmpd="sng">
            <a:solidFill>
              <a:srgbClr val="000000"/>
            </a:solidFill>
            <a:prstDash val="lgDash"/>
            <a:round/>
            <a:headEnd/>
            <a:tailEnd/>
          </a:ln>
          <a:extLst>
            <a:ext uri="{909E8E84-426E-40DD-AFC4-6F175D3DCCD1}">
              <a14:hiddenFill xmlns:a14="http://schemas.microsoft.com/office/drawing/2010/main">
                <a:noFill/>
              </a14:hiddenFill>
            </a:ext>
          </a:extLst>
        </p:spPr>
      </p:cxnSp>
      <p:grpSp>
        <p:nvGrpSpPr>
          <p:cNvPr id="35" name="组合 38">
            <a:extLst>
              <a:ext uri="{FF2B5EF4-FFF2-40B4-BE49-F238E27FC236}">
                <a16:creationId xmlns:a16="http://schemas.microsoft.com/office/drawing/2014/main" id="{BAD484F3-63C6-4F0E-B1FE-77218860377B}"/>
              </a:ext>
            </a:extLst>
          </p:cNvPr>
          <p:cNvGrpSpPr>
            <a:grpSpLocks/>
          </p:cNvGrpSpPr>
          <p:nvPr/>
        </p:nvGrpSpPr>
        <p:grpSpPr bwMode="auto">
          <a:xfrm>
            <a:off x="5629472" y="3006502"/>
            <a:ext cx="2357438" cy="2798762"/>
            <a:chOff x="285750" y="0"/>
            <a:chExt cx="2357438" cy="2798762"/>
          </a:xfrm>
        </p:grpSpPr>
        <p:grpSp>
          <p:nvGrpSpPr>
            <p:cNvPr id="36" name="组合 12">
              <a:extLst>
                <a:ext uri="{FF2B5EF4-FFF2-40B4-BE49-F238E27FC236}">
                  <a16:creationId xmlns:a16="http://schemas.microsoft.com/office/drawing/2014/main" id="{E1DD4A98-1DF7-4BBC-BD79-918C37E9A43B}"/>
                </a:ext>
              </a:extLst>
            </p:cNvPr>
            <p:cNvGrpSpPr>
              <a:grpSpLocks/>
            </p:cNvGrpSpPr>
            <p:nvPr/>
          </p:nvGrpSpPr>
          <p:grpSpPr bwMode="auto">
            <a:xfrm>
              <a:off x="285750" y="0"/>
              <a:ext cx="2357438" cy="2144713"/>
              <a:chOff x="285752" y="0"/>
              <a:chExt cx="2357454" cy="2144170"/>
            </a:xfrm>
          </p:grpSpPr>
          <p:cxnSp>
            <p:nvCxnSpPr>
              <p:cNvPr id="38" name="直接箭头连接符 13">
                <a:extLst>
                  <a:ext uri="{FF2B5EF4-FFF2-40B4-BE49-F238E27FC236}">
                    <a16:creationId xmlns:a16="http://schemas.microsoft.com/office/drawing/2014/main" id="{94F88291-EE8C-406E-A5DE-D7EE9D23462B}"/>
                  </a:ext>
                </a:extLst>
              </p:cNvPr>
              <p:cNvCxnSpPr>
                <a:cxnSpLocks noChangeShapeType="1"/>
              </p:cNvCxnSpPr>
              <p:nvPr/>
            </p:nvCxnSpPr>
            <p:spPr bwMode="auto">
              <a:xfrm>
                <a:off x="285752" y="2142583"/>
                <a:ext cx="2357454" cy="1587"/>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39" name="直接箭头连接符 14">
                <a:extLst>
                  <a:ext uri="{FF2B5EF4-FFF2-40B4-BE49-F238E27FC236}">
                    <a16:creationId xmlns:a16="http://schemas.microsoft.com/office/drawing/2014/main" id="{BA3DAA09-4632-45D9-9879-77E0E46AED6C}"/>
                  </a:ext>
                </a:extLst>
              </p:cNvPr>
              <p:cNvCxnSpPr>
                <a:cxnSpLocks noChangeShapeType="1"/>
              </p:cNvCxnSpPr>
              <p:nvPr/>
            </p:nvCxnSpPr>
            <p:spPr bwMode="auto">
              <a:xfrm rot="5400000" flipH="1" flipV="1">
                <a:off x="-784746" y="1070498"/>
                <a:ext cx="2142583" cy="1588"/>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pSp>
        <p:sp>
          <p:nvSpPr>
            <p:cNvPr id="37" name="TextBox 41">
              <a:extLst>
                <a:ext uri="{FF2B5EF4-FFF2-40B4-BE49-F238E27FC236}">
                  <a16:creationId xmlns:a16="http://schemas.microsoft.com/office/drawing/2014/main" id="{190480E8-3F74-443F-8E2B-860C655A2542}"/>
                </a:ext>
              </a:extLst>
            </p:cNvPr>
            <p:cNvSpPr txBox="1">
              <a:spLocks noChangeArrowheads="1"/>
            </p:cNvSpPr>
            <p:nvPr/>
          </p:nvSpPr>
          <p:spPr bwMode="auto">
            <a:xfrm>
              <a:off x="1357313" y="2428875"/>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a:t>(b)</a:t>
              </a:r>
              <a:endParaRPr lang="zh-CN" altLang="en-US"/>
            </a:p>
          </p:txBody>
        </p:sp>
      </p:grpSp>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BF9A541B-751E-4D84-954C-9608494A4190}"/>
                  </a:ext>
                </a:extLst>
              </p:cNvPr>
              <p:cNvSpPr/>
              <p:nvPr/>
            </p:nvSpPr>
            <p:spPr>
              <a:xfrm>
                <a:off x="5354219" y="5149627"/>
                <a:ext cx="40992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𝑂</m:t>
                      </m:r>
                    </m:oMath>
                  </m:oMathPara>
                </a14:m>
                <a:endParaRPr lang="zh-CN" altLang="en-US" dirty="0">
                  <a:solidFill>
                    <a:schemeClr val="tx1"/>
                  </a:solidFill>
                </a:endParaRPr>
              </a:p>
            </p:txBody>
          </p:sp>
        </mc:Choice>
        <mc:Fallback xmlns="">
          <p:sp>
            <p:nvSpPr>
              <p:cNvPr id="43" name="矩形 42">
                <a:extLst>
                  <a:ext uri="{FF2B5EF4-FFF2-40B4-BE49-F238E27FC236}">
                    <a16:creationId xmlns:a16="http://schemas.microsoft.com/office/drawing/2014/main" id="{BF9A541B-751E-4D84-954C-9608494A4190}"/>
                  </a:ext>
                </a:extLst>
              </p:cNvPr>
              <p:cNvSpPr>
                <a:spLocks noRot="1" noChangeAspect="1" noMove="1" noResize="1" noEditPoints="1" noAdjustHandles="1" noChangeArrowheads="1" noChangeShapeType="1" noTextEdit="1"/>
              </p:cNvSpPr>
              <p:nvPr/>
            </p:nvSpPr>
            <p:spPr>
              <a:xfrm>
                <a:off x="5354219" y="5149627"/>
                <a:ext cx="409920"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4401D78F-184F-4B31-B5A6-221170FA3ADE}"/>
                  </a:ext>
                </a:extLst>
              </p:cNvPr>
              <p:cNvSpPr/>
              <p:nvPr/>
            </p:nvSpPr>
            <p:spPr>
              <a:xfrm>
                <a:off x="5331070" y="2886463"/>
                <a:ext cx="41767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𝐾</m:t>
                      </m:r>
                    </m:oMath>
                  </m:oMathPara>
                </a14:m>
                <a:endParaRPr lang="zh-CN" altLang="en-US" dirty="0">
                  <a:solidFill>
                    <a:schemeClr val="tx1"/>
                  </a:solidFill>
                </a:endParaRPr>
              </a:p>
            </p:txBody>
          </p:sp>
        </mc:Choice>
        <mc:Fallback xmlns="">
          <p:sp>
            <p:nvSpPr>
              <p:cNvPr id="44" name="矩形 43">
                <a:extLst>
                  <a:ext uri="{FF2B5EF4-FFF2-40B4-BE49-F238E27FC236}">
                    <a16:creationId xmlns:a16="http://schemas.microsoft.com/office/drawing/2014/main" id="{4401D78F-184F-4B31-B5A6-221170FA3ADE}"/>
                  </a:ext>
                </a:extLst>
              </p:cNvPr>
              <p:cNvSpPr>
                <a:spLocks noRot="1" noChangeAspect="1" noMove="1" noResize="1" noEditPoints="1" noAdjustHandles="1" noChangeArrowheads="1" noChangeShapeType="1" noTextEdit="1"/>
              </p:cNvSpPr>
              <p:nvPr/>
            </p:nvSpPr>
            <p:spPr>
              <a:xfrm>
                <a:off x="5331070" y="2886463"/>
                <a:ext cx="417678"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A38FBD7D-B10A-4EC2-A075-56D1E9B9ACA2}"/>
                  </a:ext>
                </a:extLst>
              </p:cNvPr>
              <p:cNvSpPr/>
              <p:nvPr/>
            </p:nvSpPr>
            <p:spPr>
              <a:xfrm>
                <a:off x="7742694" y="5181935"/>
                <a:ext cx="37696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𝐿</m:t>
                      </m:r>
                    </m:oMath>
                  </m:oMathPara>
                </a14:m>
                <a:endParaRPr lang="zh-CN" altLang="en-US" dirty="0">
                  <a:solidFill>
                    <a:schemeClr val="tx1"/>
                  </a:solidFill>
                </a:endParaRPr>
              </a:p>
            </p:txBody>
          </p:sp>
        </mc:Choice>
        <mc:Fallback xmlns="">
          <p:sp>
            <p:nvSpPr>
              <p:cNvPr id="45" name="矩形 44">
                <a:extLst>
                  <a:ext uri="{FF2B5EF4-FFF2-40B4-BE49-F238E27FC236}">
                    <a16:creationId xmlns:a16="http://schemas.microsoft.com/office/drawing/2014/main" id="{A38FBD7D-B10A-4EC2-A075-56D1E9B9ACA2}"/>
                  </a:ext>
                </a:extLst>
              </p:cNvPr>
              <p:cNvSpPr>
                <a:spLocks noRot="1" noChangeAspect="1" noMove="1" noResize="1" noEditPoints="1" noAdjustHandles="1" noChangeArrowheads="1" noChangeShapeType="1" noTextEdit="1"/>
              </p:cNvSpPr>
              <p:nvPr/>
            </p:nvSpPr>
            <p:spPr>
              <a:xfrm>
                <a:off x="7742694" y="5181935"/>
                <a:ext cx="376962"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7ED6E14F-6F53-4D55-AD8C-8A71214C99F5}"/>
                  </a:ext>
                </a:extLst>
              </p:cNvPr>
              <p:cNvSpPr/>
              <p:nvPr/>
            </p:nvSpPr>
            <p:spPr>
              <a:xfrm>
                <a:off x="7528715" y="4528249"/>
                <a:ext cx="5023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46" name="矩形 45">
                <a:extLst>
                  <a:ext uri="{FF2B5EF4-FFF2-40B4-BE49-F238E27FC236}">
                    <a16:creationId xmlns:a16="http://schemas.microsoft.com/office/drawing/2014/main" id="{7ED6E14F-6F53-4D55-AD8C-8A71214C99F5}"/>
                  </a:ext>
                </a:extLst>
              </p:cNvPr>
              <p:cNvSpPr>
                <a:spLocks noRot="1" noChangeAspect="1" noMove="1" noResize="1" noEditPoints="1" noAdjustHandles="1" noChangeArrowheads="1" noChangeShapeType="1" noTextEdit="1"/>
              </p:cNvSpPr>
              <p:nvPr/>
            </p:nvSpPr>
            <p:spPr>
              <a:xfrm>
                <a:off x="7528715" y="4528249"/>
                <a:ext cx="502381" cy="369332"/>
              </a:xfrm>
              <a:prstGeom prst="rect">
                <a:avLst/>
              </a:prstGeom>
              <a:blipFill>
                <a:blip r:embed="rId10"/>
                <a:stretch>
                  <a:fillRect b="-1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5B0931DD-3E70-4E72-B5F6-4F19ABE19075}"/>
                  </a:ext>
                </a:extLst>
              </p:cNvPr>
              <p:cNvSpPr/>
              <p:nvPr/>
            </p:nvSpPr>
            <p:spPr>
              <a:xfrm>
                <a:off x="7484529" y="4069658"/>
                <a:ext cx="50238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47" name="矩形 46">
                <a:extLst>
                  <a:ext uri="{FF2B5EF4-FFF2-40B4-BE49-F238E27FC236}">
                    <a16:creationId xmlns:a16="http://schemas.microsoft.com/office/drawing/2014/main" id="{5B0931DD-3E70-4E72-B5F6-4F19ABE19075}"/>
                  </a:ext>
                </a:extLst>
              </p:cNvPr>
              <p:cNvSpPr>
                <a:spLocks noRot="1" noChangeAspect="1" noMove="1" noResize="1" noEditPoints="1" noAdjustHandles="1" noChangeArrowheads="1" noChangeShapeType="1" noTextEdit="1"/>
              </p:cNvSpPr>
              <p:nvPr/>
            </p:nvSpPr>
            <p:spPr>
              <a:xfrm>
                <a:off x="7484529" y="4069658"/>
                <a:ext cx="502381" cy="369332"/>
              </a:xfrm>
              <a:prstGeom prst="rect">
                <a:avLst/>
              </a:prstGeom>
              <a:blipFill>
                <a:blip r:embed="rId11"/>
                <a:stretch>
                  <a:fillRect b="-1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CD65A80E-291B-441D-822A-4C6BAF200450}"/>
                  </a:ext>
                </a:extLst>
              </p:cNvPr>
              <p:cNvSpPr/>
              <p:nvPr/>
            </p:nvSpPr>
            <p:spPr>
              <a:xfrm>
                <a:off x="6458551" y="4280952"/>
                <a:ext cx="407291"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𝐵</m:t>
                      </m:r>
                    </m:oMath>
                  </m:oMathPara>
                </a14:m>
                <a:endParaRPr lang="zh-CN" altLang="en-US" dirty="0">
                  <a:solidFill>
                    <a:schemeClr val="tx1"/>
                  </a:solidFill>
                </a:endParaRPr>
              </a:p>
            </p:txBody>
          </p:sp>
        </mc:Choice>
        <mc:Fallback xmlns="">
          <p:sp>
            <p:nvSpPr>
              <p:cNvPr id="48" name="矩形 47">
                <a:extLst>
                  <a:ext uri="{FF2B5EF4-FFF2-40B4-BE49-F238E27FC236}">
                    <a16:creationId xmlns:a16="http://schemas.microsoft.com/office/drawing/2014/main" id="{CD65A80E-291B-441D-822A-4C6BAF200450}"/>
                  </a:ext>
                </a:extLst>
              </p:cNvPr>
              <p:cNvSpPr>
                <a:spLocks noRot="1" noChangeAspect="1" noMove="1" noResize="1" noEditPoints="1" noAdjustHandles="1" noChangeArrowheads="1" noChangeShapeType="1" noTextEdit="1"/>
              </p:cNvSpPr>
              <p:nvPr/>
            </p:nvSpPr>
            <p:spPr>
              <a:xfrm>
                <a:off x="6458551" y="4280952"/>
                <a:ext cx="407291"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75F84E72-BC71-4995-B18C-B8A2F5945F85}"/>
                  </a:ext>
                </a:extLst>
              </p:cNvPr>
              <p:cNvSpPr/>
              <p:nvPr/>
            </p:nvSpPr>
            <p:spPr>
              <a:xfrm>
                <a:off x="5906313" y="4716471"/>
                <a:ext cx="39677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𝐴</m:t>
                      </m:r>
                    </m:oMath>
                  </m:oMathPara>
                </a14:m>
                <a:endParaRPr lang="zh-CN" altLang="en-US" dirty="0">
                  <a:solidFill>
                    <a:schemeClr val="tx1"/>
                  </a:solidFill>
                </a:endParaRPr>
              </a:p>
            </p:txBody>
          </p:sp>
        </mc:Choice>
        <mc:Fallback xmlns="">
          <p:sp>
            <p:nvSpPr>
              <p:cNvPr id="49" name="矩形 48">
                <a:extLst>
                  <a:ext uri="{FF2B5EF4-FFF2-40B4-BE49-F238E27FC236}">
                    <a16:creationId xmlns:a16="http://schemas.microsoft.com/office/drawing/2014/main" id="{75F84E72-BC71-4995-B18C-B8A2F5945F85}"/>
                  </a:ext>
                </a:extLst>
              </p:cNvPr>
              <p:cNvSpPr>
                <a:spLocks noRot="1" noChangeAspect="1" noMove="1" noResize="1" noEditPoints="1" noAdjustHandles="1" noChangeArrowheads="1" noChangeShapeType="1" noTextEdit="1"/>
              </p:cNvSpPr>
              <p:nvPr/>
            </p:nvSpPr>
            <p:spPr>
              <a:xfrm>
                <a:off x="5906313" y="4716471"/>
                <a:ext cx="396775" cy="369332"/>
              </a:xfrm>
              <a:prstGeom prst="rect">
                <a:avLst/>
              </a:prstGeom>
              <a:blipFill>
                <a:blip r:embed="rId13"/>
                <a:stretch>
                  <a:fillRect/>
                </a:stretch>
              </a:blipFill>
            </p:spPr>
            <p:txBody>
              <a:bodyPr/>
              <a:lstStyle/>
              <a:p>
                <a:r>
                  <a:rPr lang="zh-CN" altLang="en-US">
                    <a:noFill/>
                  </a:rPr>
                  <a:t> </a:t>
                </a:r>
              </a:p>
            </p:txBody>
          </p:sp>
        </mc:Fallback>
      </mc:AlternateContent>
      <p:sp>
        <p:nvSpPr>
          <p:cNvPr id="50" name="矩形 49">
            <a:extLst>
              <a:ext uri="{FF2B5EF4-FFF2-40B4-BE49-F238E27FC236}">
                <a16:creationId xmlns:a16="http://schemas.microsoft.com/office/drawing/2014/main" id="{33566AD2-611E-4201-89D6-12C3684EF8B4}"/>
              </a:ext>
            </a:extLst>
          </p:cNvPr>
          <p:cNvSpPr/>
          <p:nvPr/>
        </p:nvSpPr>
        <p:spPr>
          <a:xfrm>
            <a:off x="6732240" y="35332"/>
            <a:ext cx="233108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第四节 长期生产函数</a:t>
            </a:r>
          </a:p>
        </p:txBody>
      </p:sp>
      <p:sp>
        <p:nvSpPr>
          <p:cNvPr id="40" name="矩形 39">
            <a:extLst>
              <a:ext uri="{FF2B5EF4-FFF2-40B4-BE49-F238E27FC236}">
                <a16:creationId xmlns:a16="http://schemas.microsoft.com/office/drawing/2014/main" id="{F80AD885-21A9-483A-A35B-AA2954429772}"/>
              </a:ext>
            </a:extLst>
          </p:cNvPr>
          <p:cNvSpPr/>
          <p:nvPr/>
        </p:nvSpPr>
        <p:spPr>
          <a:xfrm>
            <a:off x="580922" y="520573"/>
            <a:ext cx="319899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二、边际技术替代率</a:t>
            </a:r>
          </a:p>
        </p:txBody>
      </p:sp>
    </p:spTree>
    <p:extLst>
      <p:ext uri="{BB962C8B-B14F-4D97-AF65-F5344CB8AC3E}">
        <p14:creationId xmlns:p14="http://schemas.microsoft.com/office/powerpoint/2010/main" val="331481939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Effect transition="in" filter="fade">
                                      <p:cBhvr>
                                        <p:cTn id="9" dur="500"/>
                                        <p:tgtEl>
                                          <p:spTgt spid="4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1"/>
                                        </p:tgtEl>
                                        <p:attrNameLst>
                                          <p:attrName>style.visibility</p:attrName>
                                        </p:attrNameLst>
                                      </p:cBhvr>
                                      <p:to>
                                        <p:strVal val="visible"/>
                                      </p:to>
                                    </p:set>
                                    <p:anim calcmode="lin" valueType="num">
                                      <p:cBhvr>
                                        <p:cTn id="14" dur="500" fill="hold"/>
                                        <p:tgtEl>
                                          <p:spTgt spid="41"/>
                                        </p:tgtEl>
                                        <p:attrNameLst>
                                          <p:attrName>ppt_w</p:attrName>
                                        </p:attrNameLst>
                                      </p:cBhvr>
                                      <p:tavLst>
                                        <p:tav tm="0">
                                          <p:val>
                                            <p:fltVal val="0"/>
                                          </p:val>
                                        </p:tav>
                                        <p:tav tm="100000">
                                          <p:val>
                                            <p:strVal val="#ppt_w"/>
                                          </p:val>
                                        </p:tav>
                                      </p:tavLst>
                                    </p:anim>
                                    <p:anim calcmode="lin" valueType="num">
                                      <p:cBhvr>
                                        <p:cTn id="15" dur="500" fill="hold"/>
                                        <p:tgtEl>
                                          <p:spTgt spid="41"/>
                                        </p:tgtEl>
                                        <p:attrNameLst>
                                          <p:attrName>ppt_h</p:attrName>
                                        </p:attrNameLst>
                                      </p:cBhvr>
                                      <p:tavLst>
                                        <p:tav tm="0">
                                          <p:val>
                                            <p:fltVal val="0"/>
                                          </p:val>
                                        </p:tav>
                                        <p:tav tm="100000">
                                          <p:val>
                                            <p:strVal val="#ppt_h"/>
                                          </p:val>
                                        </p:tav>
                                      </p:tavLst>
                                    </p:anim>
                                    <p:animEffect transition="in" filter="fade">
                                      <p:cBhvr>
                                        <p:cTn id="16" dur="500"/>
                                        <p:tgtEl>
                                          <p:spTgt spid="41"/>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anim calcmode="lin" valueType="num">
                                      <p:cBhvr>
                                        <p:cTn id="26" dur="500" fill="hold"/>
                                        <p:tgtEl>
                                          <p:spTgt spid="15"/>
                                        </p:tgtEl>
                                        <p:attrNameLst>
                                          <p:attrName>ppt_w</p:attrName>
                                        </p:attrNameLst>
                                      </p:cBhvr>
                                      <p:tavLst>
                                        <p:tav tm="0">
                                          <p:val>
                                            <p:fltVal val="0"/>
                                          </p:val>
                                        </p:tav>
                                        <p:tav tm="100000">
                                          <p:val>
                                            <p:strVal val="#ppt_w"/>
                                          </p:val>
                                        </p:tav>
                                      </p:tavLst>
                                    </p:anim>
                                    <p:anim calcmode="lin" valueType="num">
                                      <p:cBhvr>
                                        <p:cTn id="27" dur="500" fill="hold"/>
                                        <p:tgtEl>
                                          <p:spTgt spid="15"/>
                                        </p:tgtEl>
                                        <p:attrNameLst>
                                          <p:attrName>ppt_h</p:attrName>
                                        </p:attrNameLst>
                                      </p:cBhvr>
                                      <p:tavLst>
                                        <p:tav tm="0">
                                          <p:val>
                                            <p:fltVal val="0"/>
                                          </p:val>
                                        </p:tav>
                                        <p:tav tm="100000">
                                          <p:val>
                                            <p:strVal val="#ppt_h"/>
                                          </p:val>
                                        </p:tav>
                                      </p:tavLst>
                                    </p:anim>
                                    <p:animEffect transition="in" filter="fade">
                                      <p:cBhvr>
                                        <p:cTn id="28" dur="500"/>
                                        <p:tgtEl>
                                          <p:spTgt spid="15"/>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fade">
                                      <p:cBhvr>
                                        <p:cTn id="33" dur="1000"/>
                                        <p:tgtEl>
                                          <p:spTgt spid="3"/>
                                        </p:tgtEl>
                                      </p:cBhvr>
                                    </p:animEffect>
                                    <p:anim calcmode="lin" valueType="num">
                                      <p:cBhvr>
                                        <p:cTn id="34" dur="1000" fill="hold"/>
                                        <p:tgtEl>
                                          <p:spTgt spid="3"/>
                                        </p:tgtEl>
                                        <p:attrNameLst>
                                          <p:attrName>ppt_x</p:attrName>
                                        </p:attrNameLst>
                                      </p:cBhvr>
                                      <p:tavLst>
                                        <p:tav tm="0">
                                          <p:val>
                                            <p:strVal val="#ppt_x"/>
                                          </p:val>
                                        </p:tav>
                                        <p:tav tm="100000">
                                          <p:val>
                                            <p:strVal val="#ppt_x"/>
                                          </p:val>
                                        </p:tav>
                                      </p:tavLst>
                                    </p:anim>
                                    <p:anim calcmode="lin" valueType="num">
                                      <p:cBhvr>
                                        <p:cTn id="35" dur="1000" fill="hold"/>
                                        <p:tgtEl>
                                          <p:spTgt spid="3"/>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1000"/>
                                        <p:tgtEl>
                                          <p:spTgt spid="16"/>
                                        </p:tgtEl>
                                      </p:cBhvr>
                                    </p:animEffect>
                                    <p:anim calcmode="lin" valueType="num">
                                      <p:cBhvr>
                                        <p:cTn id="39" dur="1000" fill="hold"/>
                                        <p:tgtEl>
                                          <p:spTgt spid="16"/>
                                        </p:tgtEl>
                                        <p:attrNameLst>
                                          <p:attrName>ppt_x</p:attrName>
                                        </p:attrNameLst>
                                      </p:cBhvr>
                                      <p:tavLst>
                                        <p:tav tm="0">
                                          <p:val>
                                            <p:strVal val="#ppt_x"/>
                                          </p:val>
                                        </p:tav>
                                        <p:tav tm="100000">
                                          <p:val>
                                            <p:strVal val="#ppt_x"/>
                                          </p:val>
                                        </p:tav>
                                      </p:tavLst>
                                    </p:anim>
                                    <p:anim calcmode="lin" valueType="num">
                                      <p:cBhvr>
                                        <p:cTn id="40" dur="1000" fill="hold"/>
                                        <p:tgtEl>
                                          <p:spTgt spid="16"/>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1000"/>
                                        <p:tgtEl>
                                          <p:spTgt spid="17"/>
                                        </p:tgtEl>
                                      </p:cBhvr>
                                    </p:animEffect>
                                    <p:anim calcmode="lin" valueType="num">
                                      <p:cBhvr>
                                        <p:cTn id="44" dur="1000" fill="hold"/>
                                        <p:tgtEl>
                                          <p:spTgt spid="17"/>
                                        </p:tgtEl>
                                        <p:attrNameLst>
                                          <p:attrName>ppt_x</p:attrName>
                                        </p:attrNameLst>
                                      </p:cBhvr>
                                      <p:tavLst>
                                        <p:tav tm="0">
                                          <p:val>
                                            <p:strVal val="#ppt_x"/>
                                          </p:val>
                                        </p:tav>
                                        <p:tav tm="100000">
                                          <p:val>
                                            <p:strVal val="#ppt_x"/>
                                          </p:val>
                                        </p:tav>
                                      </p:tavLst>
                                    </p:anim>
                                    <p:anim calcmode="lin" valueType="num">
                                      <p:cBhvr>
                                        <p:cTn id="45" dur="1000" fill="hold"/>
                                        <p:tgtEl>
                                          <p:spTgt spid="17"/>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1000"/>
                                        <p:tgtEl>
                                          <p:spTgt spid="18"/>
                                        </p:tgtEl>
                                      </p:cBhvr>
                                    </p:animEffect>
                                    <p:anim calcmode="lin" valueType="num">
                                      <p:cBhvr>
                                        <p:cTn id="49" dur="1000" fill="hold"/>
                                        <p:tgtEl>
                                          <p:spTgt spid="18"/>
                                        </p:tgtEl>
                                        <p:attrNameLst>
                                          <p:attrName>ppt_x</p:attrName>
                                        </p:attrNameLst>
                                      </p:cBhvr>
                                      <p:tavLst>
                                        <p:tav tm="0">
                                          <p:val>
                                            <p:strVal val="#ppt_x"/>
                                          </p:val>
                                        </p:tav>
                                        <p:tav tm="100000">
                                          <p:val>
                                            <p:strVal val="#ppt_x"/>
                                          </p:val>
                                        </p:tav>
                                      </p:tavLst>
                                    </p:anim>
                                    <p:anim calcmode="lin" valueType="num">
                                      <p:cBhvr>
                                        <p:cTn id="50" dur="1000" fill="hold"/>
                                        <p:tgtEl>
                                          <p:spTgt spid="18"/>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1000"/>
                                        <p:tgtEl>
                                          <p:spTgt spid="19"/>
                                        </p:tgtEl>
                                      </p:cBhvr>
                                    </p:animEffect>
                                    <p:anim calcmode="lin" valueType="num">
                                      <p:cBhvr>
                                        <p:cTn id="54" dur="1000" fill="hold"/>
                                        <p:tgtEl>
                                          <p:spTgt spid="19"/>
                                        </p:tgtEl>
                                        <p:attrNameLst>
                                          <p:attrName>ppt_x</p:attrName>
                                        </p:attrNameLst>
                                      </p:cBhvr>
                                      <p:tavLst>
                                        <p:tav tm="0">
                                          <p:val>
                                            <p:strVal val="#ppt_x"/>
                                          </p:val>
                                        </p:tav>
                                        <p:tav tm="100000">
                                          <p:val>
                                            <p:strVal val="#ppt_x"/>
                                          </p:val>
                                        </p:tav>
                                      </p:tavLst>
                                    </p:anim>
                                    <p:anim calcmode="lin" valueType="num">
                                      <p:cBhvr>
                                        <p:cTn id="55" dur="1000" fill="hold"/>
                                        <p:tgtEl>
                                          <p:spTgt spid="19"/>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Effect transition="in" filter="fade">
                                      <p:cBhvr>
                                        <p:cTn id="58" dur="1000"/>
                                        <p:tgtEl>
                                          <p:spTgt spid="20"/>
                                        </p:tgtEl>
                                      </p:cBhvr>
                                    </p:animEffect>
                                    <p:anim calcmode="lin" valueType="num">
                                      <p:cBhvr>
                                        <p:cTn id="59" dur="1000" fill="hold"/>
                                        <p:tgtEl>
                                          <p:spTgt spid="20"/>
                                        </p:tgtEl>
                                        <p:attrNameLst>
                                          <p:attrName>ppt_x</p:attrName>
                                        </p:attrNameLst>
                                      </p:cBhvr>
                                      <p:tavLst>
                                        <p:tav tm="0">
                                          <p:val>
                                            <p:strVal val="#ppt_x"/>
                                          </p:val>
                                        </p:tav>
                                        <p:tav tm="100000">
                                          <p:val>
                                            <p:strVal val="#ppt_x"/>
                                          </p:val>
                                        </p:tav>
                                      </p:tavLst>
                                    </p:anim>
                                    <p:anim calcmode="lin" valueType="num">
                                      <p:cBhvr>
                                        <p:cTn id="60"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anim calcmode="lin" valueType="num">
                                      <p:cBhvr>
                                        <p:cTn id="65" dur="500" fill="hold"/>
                                        <p:tgtEl>
                                          <p:spTgt spid="21"/>
                                        </p:tgtEl>
                                        <p:attrNameLst>
                                          <p:attrName>ppt_w</p:attrName>
                                        </p:attrNameLst>
                                      </p:cBhvr>
                                      <p:tavLst>
                                        <p:tav tm="0">
                                          <p:val>
                                            <p:fltVal val="0"/>
                                          </p:val>
                                        </p:tav>
                                        <p:tav tm="100000">
                                          <p:val>
                                            <p:strVal val="#ppt_w"/>
                                          </p:val>
                                        </p:tav>
                                      </p:tavLst>
                                    </p:anim>
                                    <p:anim calcmode="lin" valueType="num">
                                      <p:cBhvr>
                                        <p:cTn id="66" dur="500" fill="hold"/>
                                        <p:tgtEl>
                                          <p:spTgt spid="21"/>
                                        </p:tgtEl>
                                        <p:attrNameLst>
                                          <p:attrName>ppt_h</p:attrName>
                                        </p:attrNameLst>
                                      </p:cBhvr>
                                      <p:tavLst>
                                        <p:tav tm="0">
                                          <p:val>
                                            <p:fltVal val="0"/>
                                          </p:val>
                                        </p:tav>
                                        <p:tav tm="100000">
                                          <p:val>
                                            <p:strVal val="#ppt_h"/>
                                          </p:val>
                                        </p:tav>
                                      </p:tavLst>
                                    </p:anim>
                                    <p:animEffect transition="in" filter="fade">
                                      <p:cBhvr>
                                        <p:cTn id="67" dur="500"/>
                                        <p:tgtEl>
                                          <p:spTgt spid="21"/>
                                        </p:tgtEl>
                                      </p:cBhvr>
                                    </p:animEffect>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1000"/>
                                        <p:tgtEl>
                                          <p:spTgt spid="22"/>
                                        </p:tgtEl>
                                      </p:cBhvr>
                                    </p:animEffect>
                                    <p:anim calcmode="lin" valueType="num">
                                      <p:cBhvr>
                                        <p:cTn id="73" dur="1000" fill="hold"/>
                                        <p:tgtEl>
                                          <p:spTgt spid="22"/>
                                        </p:tgtEl>
                                        <p:attrNameLst>
                                          <p:attrName>ppt_x</p:attrName>
                                        </p:attrNameLst>
                                      </p:cBhvr>
                                      <p:tavLst>
                                        <p:tav tm="0">
                                          <p:val>
                                            <p:strVal val="#ppt_x"/>
                                          </p:val>
                                        </p:tav>
                                        <p:tav tm="100000">
                                          <p:val>
                                            <p:strVal val="#ppt_x"/>
                                          </p:val>
                                        </p:tav>
                                      </p:tavLst>
                                    </p:anim>
                                    <p:anim calcmode="lin" valueType="num">
                                      <p:cBhvr>
                                        <p:cTn id="74" dur="1000" fill="hold"/>
                                        <p:tgtEl>
                                          <p:spTgt spid="22"/>
                                        </p:tgtEl>
                                        <p:attrNameLst>
                                          <p:attrName>ppt_y</p:attrName>
                                        </p:attrNameLst>
                                      </p:cBhvr>
                                      <p:tavLst>
                                        <p:tav tm="0">
                                          <p:val>
                                            <p:strVal val="#ppt_y+.1"/>
                                          </p:val>
                                        </p:tav>
                                        <p:tav tm="100000">
                                          <p:val>
                                            <p:strVal val="#ppt_y"/>
                                          </p:val>
                                        </p:tav>
                                      </p:tavLst>
                                    </p:anim>
                                  </p:childTnLst>
                                </p:cTn>
                              </p:par>
                              <p:par>
                                <p:cTn id="75" presetID="42" presetClass="entr" presetSubtype="0" fill="hold" nodeType="withEffect">
                                  <p:stCondLst>
                                    <p:cond delay="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1000"/>
                                        <p:tgtEl>
                                          <p:spTgt spid="27"/>
                                        </p:tgtEl>
                                      </p:cBhvr>
                                    </p:animEffect>
                                    <p:anim calcmode="lin" valueType="num">
                                      <p:cBhvr>
                                        <p:cTn id="78" dur="1000" fill="hold"/>
                                        <p:tgtEl>
                                          <p:spTgt spid="27"/>
                                        </p:tgtEl>
                                        <p:attrNameLst>
                                          <p:attrName>ppt_x</p:attrName>
                                        </p:attrNameLst>
                                      </p:cBhvr>
                                      <p:tavLst>
                                        <p:tav tm="0">
                                          <p:val>
                                            <p:strVal val="#ppt_x"/>
                                          </p:val>
                                        </p:tav>
                                        <p:tav tm="100000">
                                          <p:val>
                                            <p:strVal val="#ppt_x"/>
                                          </p:val>
                                        </p:tav>
                                      </p:tavLst>
                                    </p:anim>
                                    <p:anim calcmode="lin" valueType="num">
                                      <p:cBhvr>
                                        <p:cTn id="79" dur="1000" fill="hold"/>
                                        <p:tgtEl>
                                          <p:spTgt spid="27"/>
                                        </p:tgtEl>
                                        <p:attrNameLst>
                                          <p:attrName>ppt_y</p:attrName>
                                        </p:attrNameLst>
                                      </p:cBhvr>
                                      <p:tavLst>
                                        <p:tav tm="0">
                                          <p:val>
                                            <p:strVal val="#ppt_y+.1"/>
                                          </p:val>
                                        </p:tav>
                                        <p:tav tm="100000">
                                          <p:val>
                                            <p:strVal val="#ppt_y"/>
                                          </p:val>
                                        </p:tav>
                                      </p:tavLst>
                                    </p:anim>
                                  </p:childTnLst>
                                </p:cTn>
                              </p:par>
                              <p:par>
                                <p:cTn id="80" presetID="42" presetClass="entr" presetSubtype="0" fill="hold" nodeType="withEffect">
                                  <p:stCondLst>
                                    <p:cond delay="0"/>
                                  </p:stCondLst>
                                  <p:childTnLst>
                                    <p:set>
                                      <p:cBhvr>
                                        <p:cTn id="81" dur="1" fill="hold">
                                          <p:stCondLst>
                                            <p:cond delay="0"/>
                                          </p:stCondLst>
                                        </p:cTn>
                                        <p:tgtEl>
                                          <p:spTgt spid="32"/>
                                        </p:tgtEl>
                                        <p:attrNameLst>
                                          <p:attrName>style.visibility</p:attrName>
                                        </p:attrNameLst>
                                      </p:cBhvr>
                                      <p:to>
                                        <p:strVal val="visible"/>
                                      </p:to>
                                    </p:set>
                                    <p:animEffect transition="in" filter="fade">
                                      <p:cBhvr>
                                        <p:cTn id="82" dur="1000"/>
                                        <p:tgtEl>
                                          <p:spTgt spid="32"/>
                                        </p:tgtEl>
                                      </p:cBhvr>
                                    </p:animEffect>
                                    <p:anim calcmode="lin" valueType="num">
                                      <p:cBhvr>
                                        <p:cTn id="83" dur="1000" fill="hold"/>
                                        <p:tgtEl>
                                          <p:spTgt spid="32"/>
                                        </p:tgtEl>
                                        <p:attrNameLst>
                                          <p:attrName>ppt_x</p:attrName>
                                        </p:attrNameLst>
                                      </p:cBhvr>
                                      <p:tavLst>
                                        <p:tav tm="0">
                                          <p:val>
                                            <p:strVal val="#ppt_x"/>
                                          </p:val>
                                        </p:tav>
                                        <p:tav tm="100000">
                                          <p:val>
                                            <p:strVal val="#ppt_x"/>
                                          </p:val>
                                        </p:tav>
                                      </p:tavLst>
                                    </p:anim>
                                    <p:anim calcmode="lin" valueType="num">
                                      <p:cBhvr>
                                        <p:cTn id="84" dur="1000" fill="hold"/>
                                        <p:tgtEl>
                                          <p:spTgt spid="32"/>
                                        </p:tgtEl>
                                        <p:attrNameLst>
                                          <p:attrName>ppt_y</p:attrName>
                                        </p:attrNameLst>
                                      </p:cBhvr>
                                      <p:tavLst>
                                        <p:tav tm="0">
                                          <p:val>
                                            <p:strVal val="#ppt_y+.1"/>
                                          </p:val>
                                        </p:tav>
                                        <p:tav tm="100000">
                                          <p:val>
                                            <p:strVal val="#ppt_y"/>
                                          </p:val>
                                        </p:tav>
                                      </p:tavLst>
                                    </p:anim>
                                  </p:childTnLst>
                                </p:cTn>
                              </p:par>
                              <p:par>
                                <p:cTn id="85" presetID="42" presetClass="entr" presetSubtype="0" fill="hold" nodeType="with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1000"/>
                                        <p:tgtEl>
                                          <p:spTgt spid="35"/>
                                        </p:tgtEl>
                                      </p:cBhvr>
                                    </p:animEffect>
                                    <p:anim calcmode="lin" valueType="num">
                                      <p:cBhvr>
                                        <p:cTn id="88" dur="1000" fill="hold"/>
                                        <p:tgtEl>
                                          <p:spTgt spid="35"/>
                                        </p:tgtEl>
                                        <p:attrNameLst>
                                          <p:attrName>ppt_x</p:attrName>
                                        </p:attrNameLst>
                                      </p:cBhvr>
                                      <p:tavLst>
                                        <p:tav tm="0">
                                          <p:val>
                                            <p:strVal val="#ppt_x"/>
                                          </p:val>
                                        </p:tav>
                                        <p:tav tm="100000">
                                          <p:val>
                                            <p:strVal val="#ppt_x"/>
                                          </p:val>
                                        </p:tav>
                                      </p:tavLst>
                                    </p:anim>
                                    <p:anim calcmode="lin" valueType="num">
                                      <p:cBhvr>
                                        <p:cTn id="89" dur="1000" fill="hold"/>
                                        <p:tgtEl>
                                          <p:spTgt spid="35"/>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43"/>
                                        </p:tgtEl>
                                        <p:attrNameLst>
                                          <p:attrName>style.visibility</p:attrName>
                                        </p:attrNameLst>
                                      </p:cBhvr>
                                      <p:to>
                                        <p:strVal val="visible"/>
                                      </p:to>
                                    </p:set>
                                    <p:animEffect transition="in" filter="fade">
                                      <p:cBhvr>
                                        <p:cTn id="92" dur="1000"/>
                                        <p:tgtEl>
                                          <p:spTgt spid="43"/>
                                        </p:tgtEl>
                                      </p:cBhvr>
                                    </p:animEffect>
                                    <p:anim calcmode="lin" valueType="num">
                                      <p:cBhvr>
                                        <p:cTn id="93" dur="1000" fill="hold"/>
                                        <p:tgtEl>
                                          <p:spTgt spid="43"/>
                                        </p:tgtEl>
                                        <p:attrNameLst>
                                          <p:attrName>ppt_x</p:attrName>
                                        </p:attrNameLst>
                                      </p:cBhvr>
                                      <p:tavLst>
                                        <p:tav tm="0">
                                          <p:val>
                                            <p:strVal val="#ppt_x"/>
                                          </p:val>
                                        </p:tav>
                                        <p:tav tm="100000">
                                          <p:val>
                                            <p:strVal val="#ppt_x"/>
                                          </p:val>
                                        </p:tav>
                                      </p:tavLst>
                                    </p:anim>
                                    <p:anim calcmode="lin" valueType="num">
                                      <p:cBhvr>
                                        <p:cTn id="94" dur="1000" fill="hold"/>
                                        <p:tgtEl>
                                          <p:spTgt spid="43"/>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44"/>
                                        </p:tgtEl>
                                        <p:attrNameLst>
                                          <p:attrName>style.visibility</p:attrName>
                                        </p:attrNameLst>
                                      </p:cBhvr>
                                      <p:to>
                                        <p:strVal val="visible"/>
                                      </p:to>
                                    </p:set>
                                    <p:animEffect transition="in" filter="fade">
                                      <p:cBhvr>
                                        <p:cTn id="97" dur="1000"/>
                                        <p:tgtEl>
                                          <p:spTgt spid="44"/>
                                        </p:tgtEl>
                                      </p:cBhvr>
                                    </p:animEffect>
                                    <p:anim calcmode="lin" valueType="num">
                                      <p:cBhvr>
                                        <p:cTn id="98" dur="1000" fill="hold"/>
                                        <p:tgtEl>
                                          <p:spTgt spid="44"/>
                                        </p:tgtEl>
                                        <p:attrNameLst>
                                          <p:attrName>ppt_x</p:attrName>
                                        </p:attrNameLst>
                                      </p:cBhvr>
                                      <p:tavLst>
                                        <p:tav tm="0">
                                          <p:val>
                                            <p:strVal val="#ppt_x"/>
                                          </p:val>
                                        </p:tav>
                                        <p:tav tm="100000">
                                          <p:val>
                                            <p:strVal val="#ppt_x"/>
                                          </p:val>
                                        </p:tav>
                                      </p:tavLst>
                                    </p:anim>
                                    <p:anim calcmode="lin" valueType="num">
                                      <p:cBhvr>
                                        <p:cTn id="99" dur="1000" fill="hold"/>
                                        <p:tgtEl>
                                          <p:spTgt spid="44"/>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45"/>
                                        </p:tgtEl>
                                        <p:attrNameLst>
                                          <p:attrName>style.visibility</p:attrName>
                                        </p:attrNameLst>
                                      </p:cBhvr>
                                      <p:to>
                                        <p:strVal val="visible"/>
                                      </p:to>
                                    </p:set>
                                    <p:animEffect transition="in" filter="fade">
                                      <p:cBhvr>
                                        <p:cTn id="102" dur="1000"/>
                                        <p:tgtEl>
                                          <p:spTgt spid="45"/>
                                        </p:tgtEl>
                                      </p:cBhvr>
                                    </p:animEffect>
                                    <p:anim calcmode="lin" valueType="num">
                                      <p:cBhvr>
                                        <p:cTn id="103" dur="1000" fill="hold"/>
                                        <p:tgtEl>
                                          <p:spTgt spid="45"/>
                                        </p:tgtEl>
                                        <p:attrNameLst>
                                          <p:attrName>ppt_x</p:attrName>
                                        </p:attrNameLst>
                                      </p:cBhvr>
                                      <p:tavLst>
                                        <p:tav tm="0">
                                          <p:val>
                                            <p:strVal val="#ppt_x"/>
                                          </p:val>
                                        </p:tav>
                                        <p:tav tm="100000">
                                          <p:val>
                                            <p:strVal val="#ppt_x"/>
                                          </p:val>
                                        </p:tav>
                                      </p:tavLst>
                                    </p:anim>
                                    <p:anim calcmode="lin" valueType="num">
                                      <p:cBhvr>
                                        <p:cTn id="104" dur="1000" fill="hold"/>
                                        <p:tgtEl>
                                          <p:spTgt spid="45"/>
                                        </p:tgtEl>
                                        <p:attrNameLst>
                                          <p:attrName>ppt_y</p:attrName>
                                        </p:attrNameLst>
                                      </p:cBhvr>
                                      <p:tavLst>
                                        <p:tav tm="0">
                                          <p:val>
                                            <p:strVal val="#ppt_y+.1"/>
                                          </p:val>
                                        </p:tav>
                                        <p:tav tm="100000">
                                          <p:val>
                                            <p:strVal val="#ppt_y"/>
                                          </p:val>
                                        </p:tav>
                                      </p:tavLst>
                                    </p:anim>
                                  </p:childTnLst>
                                </p:cTn>
                              </p:par>
                              <p:par>
                                <p:cTn id="105" presetID="42" presetClass="entr" presetSubtype="0" fill="hold" grpId="0" nodeType="withEffect">
                                  <p:stCondLst>
                                    <p:cond delay="0"/>
                                  </p:stCondLst>
                                  <p:childTnLst>
                                    <p:set>
                                      <p:cBhvr>
                                        <p:cTn id="106" dur="1" fill="hold">
                                          <p:stCondLst>
                                            <p:cond delay="0"/>
                                          </p:stCondLst>
                                        </p:cTn>
                                        <p:tgtEl>
                                          <p:spTgt spid="46"/>
                                        </p:tgtEl>
                                        <p:attrNameLst>
                                          <p:attrName>style.visibility</p:attrName>
                                        </p:attrNameLst>
                                      </p:cBhvr>
                                      <p:to>
                                        <p:strVal val="visible"/>
                                      </p:to>
                                    </p:set>
                                    <p:animEffect transition="in" filter="fade">
                                      <p:cBhvr>
                                        <p:cTn id="107" dur="1000"/>
                                        <p:tgtEl>
                                          <p:spTgt spid="46"/>
                                        </p:tgtEl>
                                      </p:cBhvr>
                                    </p:animEffect>
                                    <p:anim calcmode="lin" valueType="num">
                                      <p:cBhvr>
                                        <p:cTn id="108" dur="1000" fill="hold"/>
                                        <p:tgtEl>
                                          <p:spTgt spid="46"/>
                                        </p:tgtEl>
                                        <p:attrNameLst>
                                          <p:attrName>ppt_x</p:attrName>
                                        </p:attrNameLst>
                                      </p:cBhvr>
                                      <p:tavLst>
                                        <p:tav tm="0">
                                          <p:val>
                                            <p:strVal val="#ppt_x"/>
                                          </p:val>
                                        </p:tav>
                                        <p:tav tm="100000">
                                          <p:val>
                                            <p:strVal val="#ppt_x"/>
                                          </p:val>
                                        </p:tav>
                                      </p:tavLst>
                                    </p:anim>
                                    <p:anim calcmode="lin" valueType="num">
                                      <p:cBhvr>
                                        <p:cTn id="109" dur="1000" fill="hold"/>
                                        <p:tgtEl>
                                          <p:spTgt spid="46"/>
                                        </p:tgtEl>
                                        <p:attrNameLst>
                                          <p:attrName>ppt_y</p:attrName>
                                        </p:attrNameLst>
                                      </p:cBhvr>
                                      <p:tavLst>
                                        <p:tav tm="0">
                                          <p:val>
                                            <p:strVal val="#ppt_y+.1"/>
                                          </p:val>
                                        </p:tav>
                                        <p:tav tm="100000">
                                          <p:val>
                                            <p:strVal val="#ppt_y"/>
                                          </p:val>
                                        </p:tav>
                                      </p:tavLst>
                                    </p:anim>
                                  </p:childTnLst>
                                </p:cTn>
                              </p:par>
                              <p:par>
                                <p:cTn id="110" presetID="42" presetClass="entr" presetSubtype="0" fill="hold" grpId="0" nodeType="withEffect">
                                  <p:stCondLst>
                                    <p:cond delay="0"/>
                                  </p:stCondLst>
                                  <p:childTnLst>
                                    <p:set>
                                      <p:cBhvr>
                                        <p:cTn id="111" dur="1" fill="hold">
                                          <p:stCondLst>
                                            <p:cond delay="0"/>
                                          </p:stCondLst>
                                        </p:cTn>
                                        <p:tgtEl>
                                          <p:spTgt spid="47"/>
                                        </p:tgtEl>
                                        <p:attrNameLst>
                                          <p:attrName>style.visibility</p:attrName>
                                        </p:attrNameLst>
                                      </p:cBhvr>
                                      <p:to>
                                        <p:strVal val="visible"/>
                                      </p:to>
                                    </p:set>
                                    <p:animEffect transition="in" filter="fade">
                                      <p:cBhvr>
                                        <p:cTn id="112" dur="1000"/>
                                        <p:tgtEl>
                                          <p:spTgt spid="47"/>
                                        </p:tgtEl>
                                      </p:cBhvr>
                                    </p:animEffect>
                                    <p:anim calcmode="lin" valueType="num">
                                      <p:cBhvr>
                                        <p:cTn id="113" dur="1000" fill="hold"/>
                                        <p:tgtEl>
                                          <p:spTgt spid="47"/>
                                        </p:tgtEl>
                                        <p:attrNameLst>
                                          <p:attrName>ppt_x</p:attrName>
                                        </p:attrNameLst>
                                      </p:cBhvr>
                                      <p:tavLst>
                                        <p:tav tm="0">
                                          <p:val>
                                            <p:strVal val="#ppt_x"/>
                                          </p:val>
                                        </p:tav>
                                        <p:tav tm="100000">
                                          <p:val>
                                            <p:strVal val="#ppt_x"/>
                                          </p:val>
                                        </p:tav>
                                      </p:tavLst>
                                    </p:anim>
                                    <p:anim calcmode="lin" valueType="num">
                                      <p:cBhvr>
                                        <p:cTn id="114" dur="1000" fill="hold"/>
                                        <p:tgtEl>
                                          <p:spTgt spid="47"/>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48"/>
                                        </p:tgtEl>
                                        <p:attrNameLst>
                                          <p:attrName>style.visibility</p:attrName>
                                        </p:attrNameLst>
                                      </p:cBhvr>
                                      <p:to>
                                        <p:strVal val="visible"/>
                                      </p:to>
                                    </p:set>
                                    <p:animEffect transition="in" filter="fade">
                                      <p:cBhvr>
                                        <p:cTn id="117" dur="1000"/>
                                        <p:tgtEl>
                                          <p:spTgt spid="48"/>
                                        </p:tgtEl>
                                      </p:cBhvr>
                                    </p:animEffect>
                                    <p:anim calcmode="lin" valueType="num">
                                      <p:cBhvr>
                                        <p:cTn id="118" dur="1000" fill="hold"/>
                                        <p:tgtEl>
                                          <p:spTgt spid="48"/>
                                        </p:tgtEl>
                                        <p:attrNameLst>
                                          <p:attrName>ppt_x</p:attrName>
                                        </p:attrNameLst>
                                      </p:cBhvr>
                                      <p:tavLst>
                                        <p:tav tm="0">
                                          <p:val>
                                            <p:strVal val="#ppt_x"/>
                                          </p:val>
                                        </p:tav>
                                        <p:tav tm="100000">
                                          <p:val>
                                            <p:strVal val="#ppt_x"/>
                                          </p:val>
                                        </p:tav>
                                      </p:tavLst>
                                    </p:anim>
                                    <p:anim calcmode="lin" valueType="num">
                                      <p:cBhvr>
                                        <p:cTn id="119" dur="1000" fill="hold"/>
                                        <p:tgtEl>
                                          <p:spTgt spid="48"/>
                                        </p:tgtEl>
                                        <p:attrNameLst>
                                          <p:attrName>ppt_y</p:attrName>
                                        </p:attrNameLst>
                                      </p:cBhvr>
                                      <p:tavLst>
                                        <p:tav tm="0">
                                          <p:val>
                                            <p:strVal val="#ppt_y+.1"/>
                                          </p:val>
                                        </p:tav>
                                        <p:tav tm="100000">
                                          <p:val>
                                            <p:strVal val="#ppt_y"/>
                                          </p:val>
                                        </p:tav>
                                      </p:tavLst>
                                    </p:anim>
                                  </p:childTnLst>
                                </p:cTn>
                              </p:par>
                              <p:par>
                                <p:cTn id="120" presetID="42" presetClass="entr" presetSubtype="0" fill="hold" grpId="0" nodeType="withEffect">
                                  <p:stCondLst>
                                    <p:cond delay="0"/>
                                  </p:stCondLst>
                                  <p:childTnLst>
                                    <p:set>
                                      <p:cBhvr>
                                        <p:cTn id="121" dur="1" fill="hold">
                                          <p:stCondLst>
                                            <p:cond delay="0"/>
                                          </p:stCondLst>
                                        </p:cTn>
                                        <p:tgtEl>
                                          <p:spTgt spid="49"/>
                                        </p:tgtEl>
                                        <p:attrNameLst>
                                          <p:attrName>style.visibility</p:attrName>
                                        </p:attrNameLst>
                                      </p:cBhvr>
                                      <p:to>
                                        <p:strVal val="visible"/>
                                      </p:to>
                                    </p:set>
                                    <p:animEffect transition="in" filter="fade">
                                      <p:cBhvr>
                                        <p:cTn id="122" dur="1000"/>
                                        <p:tgtEl>
                                          <p:spTgt spid="49"/>
                                        </p:tgtEl>
                                      </p:cBhvr>
                                    </p:animEffect>
                                    <p:anim calcmode="lin" valueType="num">
                                      <p:cBhvr>
                                        <p:cTn id="123" dur="1000" fill="hold"/>
                                        <p:tgtEl>
                                          <p:spTgt spid="49"/>
                                        </p:tgtEl>
                                        <p:attrNameLst>
                                          <p:attrName>ppt_x</p:attrName>
                                        </p:attrNameLst>
                                      </p:cBhvr>
                                      <p:tavLst>
                                        <p:tav tm="0">
                                          <p:val>
                                            <p:strVal val="#ppt_x"/>
                                          </p:val>
                                        </p:tav>
                                        <p:tav tm="100000">
                                          <p:val>
                                            <p:strVal val="#ppt_x"/>
                                          </p:val>
                                        </p:tav>
                                      </p:tavLst>
                                    </p:anim>
                                    <p:anim calcmode="lin" valueType="num">
                                      <p:cBhvr>
                                        <p:cTn id="124" dur="1000" fill="hold"/>
                                        <p:tgtEl>
                                          <p:spTgt spid="4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2" grpId="0"/>
      <p:bldP spid="15" grpId="0"/>
      <p:bldP spid="16" grpId="0"/>
      <p:bldP spid="17" grpId="0"/>
      <p:bldP spid="18" grpId="0"/>
      <p:bldP spid="19" grpId="0"/>
      <p:bldP spid="20" grpId="0"/>
      <p:bldP spid="21" grpId="0"/>
      <p:bldP spid="43" grpId="0"/>
      <p:bldP spid="44" grpId="0"/>
      <p:bldP spid="45" grpId="0"/>
      <p:bldP spid="46" grpId="0"/>
      <p:bldP spid="47" grpId="0"/>
      <p:bldP spid="48" grpId="0"/>
      <p:bldP spid="49" grpId="0"/>
      <p:bldP spid="4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5E46622-9F48-4730-AB62-6807FFF8364B}"/>
              </a:ext>
            </a:extLst>
          </p:cNvPr>
          <p:cNvSpPr/>
          <p:nvPr/>
        </p:nvSpPr>
        <p:spPr>
          <a:xfrm>
            <a:off x="580922" y="520573"/>
            <a:ext cx="226288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三、等成本线</a:t>
            </a:r>
          </a:p>
        </p:txBody>
      </p:sp>
      <p:grpSp>
        <p:nvGrpSpPr>
          <p:cNvPr id="3" name="组合 34">
            <a:extLst>
              <a:ext uri="{FF2B5EF4-FFF2-40B4-BE49-F238E27FC236}">
                <a16:creationId xmlns:a16="http://schemas.microsoft.com/office/drawing/2014/main" id="{2622EA52-A466-41D6-99CF-18196472B2BC}"/>
              </a:ext>
            </a:extLst>
          </p:cNvPr>
          <p:cNvGrpSpPr>
            <a:grpSpLocks/>
          </p:cNvGrpSpPr>
          <p:nvPr/>
        </p:nvGrpSpPr>
        <p:grpSpPr bwMode="auto">
          <a:xfrm>
            <a:off x="5509849" y="3400762"/>
            <a:ext cx="2876146" cy="2441786"/>
            <a:chOff x="428621" y="0"/>
            <a:chExt cx="2357441" cy="2144713"/>
          </a:xfrm>
        </p:grpSpPr>
        <p:grpSp>
          <p:nvGrpSpPr>
            <p:cNvPr id="4" name="组合 5">
              <a:extLst>
                <a:ext uri="{FF2B5EF4-FFF2-40B4-BE49-F238E27FC236}">
                  <a16:creationId xmlns:a16="http://schemas.microsoft.com/office/drawing/2014/main" id="{8D5EAB8F-4A70-4599-AEB0-50E19EAF204E}"/>
                </a:ext>
              </a:extLst>
            </p:cNvPr>
            <p:cNvGrpSpPr>
              <a:grpSpLocks/>
            </p:cNvGrpSpPr>
            <p:nvPr/>
          </p:nvGrpSpPr>
          <p:grpSpPr bwMode="auto">
            <a:xfrm>
              <a:off x="428621" y="0"/>
              <a:ext cx="2357441" cy="2144713"/>
              <a:chOff x="285748" y="0"/>
              <a:chExt cx="2357458" cy="2144170"/>
            </a:xfrm>
          </p:grpSpPr>
          <p:cxnSp>
            <p:nvCxnSpPr>
              <p:cNvPr id="10" name="直接箭头连接符 6">
                <a:extLst>
                  <a:ext uri="{FF2B5EF4-FFF2-40B4-BE49-F238E27FC236}">
                    <a16:creationId xmlns:a16="http://schemas.microsoft.com/office/drawing/2014/main" id="{2F1DAC0D-6704-40A5-AF95-1EADB967285A}"/>
                  </a:ext>
                </a:extLst>
              </p:cNvPr>
              <p:cNvCxnSpPr>
                <a:cxnSpLocks noChangeShapeType="1"/>
              </p:cNvCxnSpPr>
              <p:nvPr/>
            </p:nvCxnSpPr>
            <p:spPr bwMode="auto">
              <a:xfrm>
                <a:off x="285752" y="2142583"/>
                <a:ext cx="2357454" cy="1587"/>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11" name="直接箭头连接符 7">
                <a:extLst>
                  <a:ext uri="{FF2B5EF4-FFF2-40B4-BE49-F238E27FC236}">
                    <a16:creationId xmlns:a16="http://schemas.microsoft.com/office/drawing/2014/main" id="{48D30C58-8416-4286-B494-046F46065B8F}"/>
                  </a:ext>
                </a:extLst>
              </p:cNvPr>
              <p:cNvCxnSpPr>
                <a:cxnSpLocks noChangeShapeType="1"/>
              </p:cNvCxnSpPr>
              <p:nvPr/>
            </p:nvCxnSpPr>
            <p:spPr bwMode="auto">
              <a:xfrm rot="5400000" flipH="1" flipV="1">
                <a:off x="-784750" y="1070498"/>
                <a:ext cx="2142583" cy="1587"/>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pSp>
        <p:cxnSp>
          <p:nvCxnSpPr>
            <p:cNvPr id="5" name="直接连接符 12">
              <a:extLst>
                <a:ext uri="{FF2B5EF4-FFF2-40B4-BE49-F238E27FC236}">
                  <a16:creationId xmlns:a16="http://schemas.microsoft.com/office/drawing/2014/main" id="{AB0B72AA-6715-4742-9496-883CA0A06E22}"/>
                </a:ext>
              </a:extLst>
            </p:cNvPr>
            <p:cNvCxnSpPr>
              <a:cxnSpLocks noChangeShapeType="1"/>
            </p:cNvCxnSpPr>
            <p:nvPr/>
          </p:nvCxnSpPr>
          <p:spPr bwMode="auto">
            <a:xfrm>
              <a:off x="428625" y="428625"/>
              <a:ext cx="1785937" cy="1714500"/>
            </a:xfrm>
            <a:prstGeom prst="line">
              <a:avLst/>
            </a:prstGeom>
            <a:noFill/>
            <a:ln w="38100" cmpd="sng">
              <a:solidFill>
                <a:srgbClr val="CC3939"/>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grpSp>
      <p:sp>
        <p:nvSpPr>
          <p:cNvPr id="16" name="Freeform 5">
            <a:extLst>
              <a:ext uri="{FF2B5EF4-FFF2-40B4-BE49-F238E27FC236}">
                <a16:creationId xmlns:a16="http://schemas.microsoft.com/office/drawing/2014/main" id="{AC35188D-B2B7-4C2D-92A2-E7CE1475BD1C}"/>
              </a:ext>
            </a:extLst>
          </p:cNvPr>
          <p:cNvSpPr>
            <a:spLocks noEditPoints="1"/>
          </p:cNvSpPr>
          <p:nvPr/>
        </p:nvSpPr>
        <p:spPr bwMode="auto">
          <a:xfrm>
            <a:off x="3687334" y="1071648"/>
            <a:ext cx="298450" cy="5021648"/>
          </a:xfrm>
          <a:custGeom>
            <a:avLst/>
            <a:gdLst>
              <a:gd name="T0" fmla="*/ 79 w 103"/>
              <a:gd name="T1" fmla="*/ 610 h 1294"/>
              <a:gd name="T2" fmla="*/ 61 w 103"/>
              <a:gd name="T3" fmla="*/ 492 h 1294"/>
              <a:gd name="T4" fmla="*/ 103 w 103"/>
              <a:gd name="T5" fmla="*/ 415 h 1294"/>
              <a:gd name="T6" fmla="*/ 61 w 103"/>
              <a:gd name="T7" fmla="*/ 339 h 1294"/>
              <a:gd name="T8" fmla="*/ 79 w 103"/>
              <a:gd name="T9" fmla="*/ 220 h 1294"/>
              <a:gd name="T10" fmla="*/ 79 w 103"/>
              <a:gd name="T11" fmla="*/ 134 h 1294"/>
              <a:gd name="T12" fmla="*/ 61 w 103"/>
              <a:gd name="T13" fmla="*/ 82 h 1294"/>
              <a:gd name="T14" fmla="*/ 81 w 103"/>
              <a:gd name="T15" fmla="*/ 27 h 1294"/>
              <a:gd name="T16" fmla="*/ 22 w 103"/>
              <a:gd name="T17" fmla="*/ 33 h 1294"/>
              <a:gd name="T18" fmla="*/ 43 w 103"/>
              <a:gd name="T19" fmla="*/ 80 h 1294"/>
              <a:gd name="T20" fmla="*/ 25 w 103"/>
              <a:gd name="T21" fmla="*/ 134 h 1294"/>
              <a:gd name="T22" fmla="*/ 25 w 103"/>
              <a:gd name="T23" fmla="*/ 220 h 1294"/>
              <a:gd name="T24" fmla="*/ 43 w 103"/>
              <a:gd name="T25" fmla="*/ 338 h 1294"/>
              <a:gd name="T26" fmla="*/ 0 w 103"/>
              <a:gd name="T27" fmla="*/ 415 h 1294"/>
              <a:gd name="T28" fmla="*/ 43 w 103"/>
              <a:gd name="T29" fmla="*/ 492 h 1294"/>
              <a:gd name="T30" fmla="*/ 25 w 103"/>
              <a:gd name="T31" fmla="*/ 610 h 1294"/>
              <a:gd name="T32" fmla="*/ 25 w 103"/>
              <a:gd name="T33" fmla="*/ 696 h 1294"/>
              <a:gd name="T34" fmla="*/ 43 w 103"/>
              <a:gd name="T35" fmla="*/ 814 h 1294"/>
              <a:gd name="T36" fmla="*/ 0 w 103"/>
              <a:gd name="T37" fmla="*/ 891 h 1294"/>
              <a:gd name="T38" fmla="*/ 43 w 103"/>
              <a:gd name="T39" fmla="*/ 968 h 1294"/>
              <a:gd name="T40" fmla="*/ 25 w 103"/>
              <a:gd name="T41" fmla="*/ 1086 h 1294"/>
              <a:gd name="T42" fmla="*/ 25 w 103"/>
              <a:gd name="T43" fmla="*/ 1172 h 1294"/>
              <a:gd name="T44" fmla="*/ 43 w 103"/>
              <a:gd name="T45" fmla="*/ 1212 h 1294"/>
              <a:gd name="T46" fmla="*/ 23 w 103"/>
              <a:gd name="T47" fmla="*/ 1267 h 1294"/>
              <a:gd name="T48" fmla="*/ 82 w 103"/>
              <a:gd name="T49" fmla="*/ 1261 h 1294"/>
              <a:gd name="T50" fmla="*/ 61 w 103"/>
              <a:gd name="T51" fmla="*/ 1214 h 1294"/>
              <a:gd name="T52" fmla="*/ 79 w 103"/>
              <a:gd name="T53" fmla="*/ 1172 h 1294"/>
              <a:gd name="T54" fmla="*/ 79 w 103"/>
              <a:gd name="T55" fmla="*/ 1086 h 1294"/>
              <a:gd name="T56" fmla="*/ 61 w 103"/>
              <a:gd name="T57" fmla="*/ 968 h 1294"/>
              <a:gd name="T58" fmla="*/ 103 w 103"/>
              <a:gd name="T59" fmla="*/ 891 h 1294"/>
              <a:gd name="T60" fmla="*/ 61 w 103"/>
              <a:gd name="T61" fmla="*/ 815 h 1294"/>
              <a:gd name="T62" fmla="*/ 79 w 103"/>
              <a:gd name="T63" fmla="*/ 696 h 1294"/>
              <a:gd name="T64" fmla="*/ 65 w 103"/>
              <a:gd name="T65" fmla="*/ 1261 h 1294"/>
              <a:gd name="T66" fmla="*/ 39 w 103"/>
              <a:gd name="T67" fmla="*/ 1261 h 1294"/>
              <a:gd name="T68" fmla="*/ 52 w 103"/>
              <a:gd name="T69" fmla="*/ 1248 h 1294"/>
              <a:gd name="T70" fmla="*/ 65 w 103"/>
              <a:gd name="T71" fmla="*/ 1261 h 1294"/>
              <a:gd name="T72" fmla="*/ 52 w 103"/>
              <a:gd name="T73" fmla="*/ 46 h 1294"/>
              <a:gd name="T74" fmla="*/ 39 w 103"/>
              <a:gd name="T75" fmla="*/ 33 h 1294"/>
              <a:gd name="T76" fmla="*/ 65 w 103"/>
              <a:gd name="T77" fmla="*/ 33 h 12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3" h="1294">
                <a:moveTo>
                  <a:pt x="103" y="653"/>
                </a:moveTo>
                <a:cubicBezTo>
                  <a:pt x="103" y="635"/>
                  <a:pt x="94" y="619"/>
                  <a:pt x="79" y="610"/>
                </a:cubicBezTo>
                <a:cubicBezTo>
                  <a:pt x="68" y="603"/>
                  <a:pt x="61" y="590"/>
                  <a:pt x="61" y="576"/>
                </a:cubicBezTo>
                <a:cubicBezTo>
                  <a:pt x="61" y="492"/>
                  <a:pt x="61" y="492"/>
                  <a:pt x="61" y="492"/>
                </a:cubicBezTo>
                <a:cubicBezTo>
                  <a:pt x="61" y="478"/>
                  <a:pt x="68" y="465"/>
                  <a:pt x="79" y="458"/>
                </a:cubicBezTo>
                <a:cubicBezTo>
                  <a:pt x="93" y="449"/>
                  <a:pt x="103" y="433"/>
                  <a:pt x="103" y="415"/>
                </a:cubicBezTo>
                <a:cubicBezTo>
                  <a:pt x="103" y="397"/>
                  <a:pt x="93" y="381"/>
                  <a:pt x="79" y="372"/>
                </a:cubicBezTo>
                <a:cubicBezTo>
                  <a:pt x="68" y="365"/>
                  <a:pt x="61" y="352"/>
                  <a:pt x="61" y="339"/>
                </a:cubicBezTo>
                <a:cubicBezTo>
                  <a:pt x="61" y="254"/>
                  <a:pt x="61" y="254"/>
                  <a:pt x="61" y="254"/>
                </a:cubicBezTo>
                <a:cubicBezTo>
                  <a:pt x="61" y="240"/>
                  <a:pt x="68" y="227"/>
                  <a:pt x="79" y="220"/>
                </a:cubicBezTo>
                <a:cubicBezTo>
                  <a:pt x="94" y="211"/>
                  <a:pt x="103" y="195"/>
                  <a:pt x="103" y="177"/>
                </a:cubicBezTo>
                <a:cubicBezTo>
                  <a:pt x="103" y="159"/>
                  <a:pt x="94" y="143"/>
                  <a:pt x="79" y="134"/>
                </a:cubicBezTo>
                <a:cubicBezTo>
                  <a:pt x="68" y="127"/>
                  <a:pt x="61" y="114"/>
                  <a:pt x="61" y="100"/>
                </a:cubicBezTo>
                <a:cubicBezTo>
                  <a:pt x="61" y="82"/>
                  <a:pt x="61" y="82"/>
                  <a:pt x="61" y="82"/>
                </a:cubicBezTo>
                <a:cubicBezTo>
                  <a:pt x="61" y="71"/>
                  <a:pt x="65" y="62"/>
                  <a:pt x="73" y="54"/>
                </a:cubicBezTo>
                <a:cubicBezTo>
                  <a:pt x="80" y="48"/>
                  <a:pt x="83" y="38"/>
                  <a:pt x="81" y="27"/>
                </a:cubicBezTo>
                <a:cubicBezTo>
                  <a:pt x="79" y="15"/>
                  <a:pt x="70" y="6"/>
                  <a:pt x="58" y="4"/>
                </a:cubicBezTo>
                <a:cubicBezTo>
                  <a:pt x="39" y="0"/>
                  <a:pt x="22" y="15"/>
                  <a:pt x="22" y="33"/>
                </a:cubicBezTo>
                <a:cubicBezTo>
                  <a:pt x="22" y="42"/>
                  <a:pt x="26" y="49"/>
                  <a:pt x="32" y="55"/>
                </a:cubicBezTo>
                <a:cubicBezTo>
                  <a:pt x="39" y="62"/>
                  <a:pt x="43" y="70"/>
                  <a:pt x="43" y="80"/>
                </a:cubicBezTo>
                <a:cubicBezTo>
                  <a:pt x="43" y="100"/>
                  <a:pt x="43" y="100"/>
                  <a:pt x="43" y="100"/>
                </a:cubicBezTo>
                <a:cubicBezTo>
                  <a:pt x="43" y="114"/>
                  <a:pt x="36" y="127"/>
                  <a:pt x="25" y="134"/>
                </a:cubicBezTo>
                <a:cubicBezTo>
                  <a:pt x="10" y="143"/>
                  <a:pt x="1" y="159"/>
                  <a:pt x="1" y="177"/>
                </a:cubicBezTo>
                <a:cubicBezTo>
                  <a:pt x="1" y="195"/>
                  <a:pt x="10" y="211"/>
                  <a:pt x="25" y="220"/>
                </a:cubicBezTo>
                <a:cubicBezTo>
                  <a:pt x="36" y="227"/>
                  <a:pt x="43" y="240"/>
                  <a:pt x="43" y="254"/>
                </a:cubicBezTo>
                <a:cubicBezTo>
                  <a:pt x="43" y="338"/>
                  <a:pt x="43" y="338"/>
                  <a:pt x="43" y="338"/>
                </a:cubicBezTo>
                <a:cubicBezTo>
                  <a:pt x="43" y="352"/>
                  <a:pt x="36" y="365"/>
                  <a:pt x="24" y="372"/>
                </a:cubicBezTo>
                <a:cubicBezTo>
                  <a:pt x="10" y="381"/>
                  <a:pt x="0" y="397"/>
                  <a:pt x="0" y="415"/>
                </a:cubicBezTo>
                <a:cubicBezTo>
                  <a:pt x="0" y="433"/>
                  <a:pt x="10" y="449"/>
                  <a:pt x="24" y="458"/>
                </a:cubicBezTo>
                <a:cubicBezTo>
                  <a:pt x="36" y="466"/>
                  <a:pt x="43" y="478"/>
                  <a:pt x="43" y="492"/>
                </a:cubicBezTo>
                <a:cubicBezTo>
                  <a:pt x="43" y="576"/>
                  <a:pt x="43" y="576"/>
                  <a:pt x="43" y="576"/>
                </a:cubicBezTo>
                <a:cubicBezTo>
                  <a:pt x="43" y="590"/>
                  <a:pt x="36" y="603"/>
                  <a:pt x="25" y="610"/>
                </a:cubicBezTo>
                <a:cubicBezTo>
                  <a:pt x="10" y="619"/>
                  <a:pt x="1" y="635"/>
                  <a:pt x="1" y="653"/>
                </a:cubicBezTo>
                <a:cubicBezTo>
                  <a:pt x="1" y="671"/>
                  <a:pt x="10" y="687"/>
                  <a:pt x="25" y="696"/>
                </a:cubicBezTo>
                <a:cubicBezTo>
                  <a:pt x="36" y="704"/>
                  <a:pt x="43" y="716"/>
                  <a:pt x="43" y="730"/>
                </a:cubicBezTo>
                <a:cubicBezTo>
                  <a:pt x="43" y="814"/>
                  <a:pt x="43" y="814"/>
                  <a:pt x="43" y="814"/>
                </a:cubicBezTo>
                <a:cubicBezTo>
                  <a:pt x="43" y="828"/>
                  <a:pt x="36" y="841"/>
                  <a:pt x="24" y="848"/>
                </a:cubicBezTo>
                <a:cubicBezTo>
                  <a:pt x="10" y="857"/>
                  <a:pt x="0" y="873"/>
                  <a:pt x="0" y="891"/>
                </a:cubicBezTo>
                <a:cubicBezTo>
                  <a:pt x="0" y="909"/>
                  <a:pt x="10" y="925"/>
                  <a:pt x="24" y="934"/>
                </a:cubicBezTo>
                <a:cubicBezTo>
                  <a:pt x="36" y="942"/>
                  <a:pt x="43" y="954"/>
                  <a:pt x="43" y="968"/>
                </a:cubicBezTo>
                <a:cubicBezTo>
                  <a:pt x="43" y="1053"/>
                  <a:pt x="43" y="1053"/>
                  <a:pt x="43" y="1053"/>
                </a:cubicBezTo>
                <a:cubicBezTo>
                  <a:pt x="43" y="1066"/>
                  <a:pt x="36" y="1079"/>
                  <a:pt x="25" y="1086"/>
                </a:cubicBezTo>
                <a:cubicBezTo>
                  <a:pt x="10" y="1095"/>
                  <a:pt x="1" y="1111"/>
                  <a:pt x="1" y="1129"/>
                </a:cubicBezTo>
                <a:cubicBezTo>
                  <a:pt x="1" y="1147"/>
                  <a:pt x="10" y="1163"/>
                  <a:pt x="25" y="1172"/>
                </a:cubicBezTo>
                <a:cubicBezTo>
                  <a:pt x="36" y="1180"/>
                  <a:pt x="43" y="1192"/>
                  <a:pt x="43" y="1206"/>
                </a:cubicBezTo>
                <a:cubicBezTo>
                  <a:pt x="43" y="1212"/>
                  <a:pt x="43" y="1212"/>
                  <a:pt x="43" y="1212"/>
                </a:cubicBezTo>
                <a:cubicBezTo>
                  <a:pt x="43" y="1223"/>
                  <a:pt x="38" y="1233"/>
                  <a:pt x="31" y="1240"/>
                </a:cubicBezTo>
                <a:cubicBezTo>
                  <a:pt x="24" y="1246"/>
                  <a:pt x="21" y="1256"/>
                  <a:pt x="23" y="1267"/>
                </a:cubicBezTo>
                <a:cubicBezTo>
                  <a:pt x="25" y="1279"/>
                  <a:pt x="34" y="1288"/>
                  <a:pt x="46" y="1291"/>
                </a:cubicBezTo>
                <a:cubicBezTo>
                  <a:pt x="65" y="1294"/>
                  <a:pt x="82" y="1280"/>
                  <a:pt x="82" y="1261"/>
                </a:cubicBezTo>
                <a:cubicBezTo>
                  <a:pt x="82" y="1253"/>
                  <a:pt x="78" y="1245"/>
                  <a:pt x="72" y="1239"/>
                </a:cubicBezTo>
                <a:cubicBezTo>
                  <a:pt x="65" y="1233"/>
                  <a:pt x="61" y="1224"/>
                  <a:pt x="61" y="1214"/>
                </a:cubicBezTo>
                <a:cubicBezTo>
                  <a:pt x="61" y="1206"/>
                  <a:pt x="61" y="1206"/>
                  <a:pt x="61" y="1206"/>
                </a:cubicBezTo>
                <a:cubicBezTo>
                  <a:pt x="61" y="1192"/>
                  <a:pt x="68" y="1180"/>
                  <a:pt x="79" y="1172"/>
                </a:cubicBezTo>
                <a:cubicBezTo>
                  <a:pt x="94" y="1163"/>
                  <a:pt x="103" y="1147"/>
                  <a:pt x="103" y="1129"/>
                </a:cubicBezTo>
                <a:cubicBezTo>
                  <a:pt x="103" y="1111"/>
                  <a:pt x="94" y="1095"/>
                  <a:pt x="79" y="1086"/>
                </a:cubicBezTo>
                <a:cubicBezTo>
                  <a:pt x="68" y="1079"/>
                  <a:pt x="61" y="1066"/>
                  <a:pt x="61" y="1052"/>
                </a:cubicBezTo>
                <a:cubicBezTo>
                  <a:pt x="61" y="968"/>
                  <a:pt x="61" y="968"/>
                  <a:pt x="61" y="968"/>
                </a:cubicBezTo>
                <a:cubicBezTo>
                  <a:pt x="61" y="954"/>
                  <a:pt x="68" y="941"/>
                  <a:pt x="79" y="934"/>
                </a:cubicBezTo>
                <a:cubicBezTo>
                  <a:pt x="93" y="925"/>
                  <a:pt x="103" y="909"/>
                  <a:pt x="103" y="891"/>
                </a:cubicBezTo>
                <a:cubicBezTo>
                  <a:pt x="103" y="873"/>
                  <a:pt x="93" y="857"/>
                  <a:pt x="79" y="848"/>
                </a:cubicBezTo>
                <a:cubicBezTo>
                  <a:pt x="68" y="841"/>
                  <a:pt x="61" y="828"/>
                  <a:pt x="61" y="815"/>
                </a:cubicBezTo>
                <a:cubicBezTo>
                  <a:pt x="61" y="730"/>
                  <a:pt x="61" y="730"/>
                  <a:pt x="61" y="730"/>
                </a:cubicBezTo>
                <a:cubicBezTo>
                  <a:pt x="61" y="716"/>
                  <a:pt x="68" y="704"/>
                  <a:pt x="79" y="696"/>
                </a:cubicBezTo>
                <a:cubicBezTo>
                  <a:pt x="94" y="687"/>
                  <a:pt x="103" y="671"/>
                  <a:pt x="103" y="653"/>
                </a:cubicBezTo>
                <a:close/>
                <a:moveTo>
                  <a:pt x="65" y="1261"/>
                </a:moveTo>
                <a:cubicBezTo>
                  <a:pt x="65" y="1268"/>
                  <a:pt x="59" y="1274"/>
                  <a:pt x="52" y="1274"/>
                </a:cubicBezTo>
                <a:cubicBezTo>
                  <a:pt x="45" y="1274"/>
                  <a:pt x="39" y="1268"/>
                  <a:pt x="39" y="1261"/>
                </a:cubicBezTo>
                <a:cubicBezTo>
                  <a:pt x="39" y="1254"/>
                  <a:pt x="44" y="1249"/>
                  <a:pt x="51" y="1248"/>
                </a:cubicBezTo>
                <a:cubicBezTo>
                  <a:pt x="51" y="1248"/>
                  <a:pt x="52" y="1248"/>
                  <a:pt x="52" y="1248"/>
                </a:cubicBezTo>
                <a:cubicBezTo>
                  <a:pt x="52" y="1248"/>
                  <a:pt x="53" y="1248"/>
                  <a:pt x="53" y="1248"/>
                </a:cubicBezTo>
                <a:cubicBezTo>
                  <a:pt x="60" y="1249"/>
                  <a:pt x="65" y="1254"/>
                  <a:pt x="65" y="1261"/>
                </a:cubicBezTo>
                <a:close/>
                <a:moveTo>
                  <a:pt x="53" y="46"/>
                </a:moveTo>
                <a:cubicBezTo>
                  <a:pt x="53" y="46"/>
                  <a:pt x="52" y="46"/>
                  <a:pt x="52" y="46"/>
                </a:cubicBezTo>
                <a:cubicBezTo>
                  <a:pt x="52" y="46"/>
                  <a:pt x="51" y="46"/>
                  <a:pt x="51" y="46"/>
                </a:cubicBezTo>
                <a:cubicBezTo>
                  <a:pt x="44" y="45"/>
                  <a:pt x="39" y="40"/>
                  <a:pt x="39" y="33"/>
                </a:cubicBezTo>
                <a:cubicBezTo>
                  <a:pt x="39" y="26"/>
                  <a:pt x="45" y="20"/>
                  <a:pt x="52" y="20"/>
                </a:cubicBezTo>
                <a:cubicBezTo>
                  <a:pt x="59" y="20"/>
                  <a:pt x="65" y="26"/>
                  <a:pt x="65" y="33"/>
                </a:cubicBezTo>
                <a:cubicBezTo>
                  <a:pt x="65" y="40"/>
                  <a:pt x="60" y="45"/>
                  <a:pt x="53" y="46"/>
                </a:cubicBezTo>
                <a:close/>
              </a:path>
            </a:pathLst>
          </a:custGeom>
          <a:solidFill>
            <a:srgbClr val="85B2D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19" name="Oval 15">
            <a:extLst>
              <a:ext uri="{FF2B5EF4-FFF2-40B4-BE49-F238E27FC236}">
                <a16:creationId xmlns:a16="http://schemas.microsoft.com/office/drawing/2014/main" id="{10F540E2-4F6D-4FF8-9C14-2C7114A47A4C}"/>
              </a:ext>
            </a:extLst>
          </p:cNvPr>
          <p:cNvSpPr>
            <a:spLocks noChangeArrowheads="1"/>
          </p:cNvSpPr>
          <p:nvPr/>
        </p:nvSpPr>
        <p:spPr bwMode="auto">
          <a:xfrm>
            <a:off x="3752756" y="1656341"/>
            <a:ext cx="165100" cy="226699"/>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0" name="Oval 16">
            <a:extLst>
              <a:ext uri="{FF2B5EF4-FFF2-40B4-BE49-F238E27FC236}">
                <a16:creationId xmlns:a16="http://schemas.microsoft.com/office/drawing/2014/main" id="{B58244F0-6B58-4190-AA9B-60E435628A9C}"/>
              </a:ext>
            </a:extLst>
          </p:cNvPr>
          <p:cNvSpPr>
            <a:spLocks noChangeArrowheads="1"/>
          </p:cNvSpPr>
          <p:nvPr/>
        </p:nvSpPr>
        <p:spPr bwMode="auto">
          <a:xfrm>
            <a:off x="3746491" y="2581552"/>
            <a:ext cx="165100" cy="222421"/>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1" name="Freeform 17">
            <a:extLst>
              <a:ext uri="{FF2B5EF4-FFF2-40B4-BE49-F238E27FC236}">
                <a16:creationId xmlns:a16="http://schemas.microsoft.com/office/drawing/2014/main" id="{41AE5EA8-DD59-4559-892A-5F6823B17615}"/>
              </a:ext>
            </a:extLst>
          </p:cNvPr>
          <p:cNvSpPr>
            <a:spLocks/>
          </p:cNvSpPr>
          <p:nvPr/>
        </p:nvSpPr>
        <p:spPr bwMode="auto">
          <a:xfrm>
            <a:off x="3969274" y="1445521"/>
            <a:ext cx="2906982" cy="673100"/>
          </a:xfrm>
          <a:custGeom>
            <a:avLst/>
            <a:gdLst>
              <a:gd name="T0" fmla="*/ 66 w 273"/>
              <a:gd name="T1" fmla="*/ 0 h 232"/>
              <a:gd name="T2" fmla="*/ 32 w 273"/>
              <a:gd name="T3" fmla="*/ 17 h 232"/>
              <a:gd name="T4" fmla="*/ 0 w 273"/>
              <a:gd name="T5" fmla="*/ 61 h 232"/>
              <a:gd name="T6" fmla="*/ 0 w 273"/>
              <a:gd name="T7" fmla="*/ 61 h 232"/>
              <a:gd name="T8" fmla="*/ 0 w 273"/>
              <a:gd name="T9" fmla="*/ 171 h 232"/>
              <a:gd name="T10" fmla="*/ 32 w 273"/>
              <a:gd name="T11" fmla="*/ 215 h 232"/>
              <a:gd name="T12" fmla="*/ 66 w 273"/>
              <a:gd name="T13" fmla="*/ 232 h 232"/>
              <a:gd name="T14" fmla="*/ 273 w 273"/>
              <a:gd name="T15" fmla="*/ 232 h 232"/>
              <a:gd name="T16" fmla="*/ 273 w 273"/>
              <a:gd name="T17" fmla="*/ 0 h 232"/>
              <a:gd name="T18" fmla="*/ 66 w 273"/>
              <a:gd name="T19"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3" h="232">
                <a:moveTo>
                  <a:pt x="66" y="0"/>
                </a:moveTo>
                <a:cubicBezTo>
                  <a:pt x="52" y="0"/>
                  <a:pt x="40" y="7"/>
                  <a:pt x="32" y="17"/>
                </a:cubicBezTo>
                <a:cubicBezTo>
                  <a:pt x="0" y="61"/>
                  <a:pt x="0" y="61"/>
                  <a:pt x="0" y="61"/>
                </a:cubicBezTo>
                <a:cubicBezTo>
                  <a:pt x="0" y="61"/>
                  <a:pt x="0" y="61"/>
                  <a:pt x="0" y="61"/>
                </a:cubicBezTo>
                <a:cubicBezTo>
                  <a:pt x="27" y="93"/>
                  <a:pt x="27" y="139"/>
                  <a:pt x="0" y="171"/>
                </a:cubicBezTo>
                <a:cubicBezTo>
                  <a:pt x="32" y="215"/>
                  <a:pt x="32" y="215"/>
                  <a:pt x="32" y="215"/>
                </a:cubicBezTo>
                <a:cubicBezTo>
                  <a:pt x="40" y="226"/>
                  <a:pt x="52" y="232"/>
                  <a:pt x="66" y="232"/>
                </a:cubicBezTo>
                <a:cubicBezTo>
                  <a:pt x="273" y="232"/>
                  <a:pt x="273" y="232"/>
                  <a:pt x="273" y="232"/>
                </a:cubicBezTo>
                <a:cubicBezTo>
                  <a:pt x="273" y="0"/>
                  <a:pt x="273" y="0"/>
                  <a:pt x="273" y="0"/>
                </a:cubicBezTo>
                <a:lnTo>
                  <a:pt x="66" y="0"/>
                </a:lnTo>
                <a:close/>
              </a:path>
            </a:pathLst>
          </a:cu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23" name="Oval 20">
            <a:extLst>
              <a:ext uri="{FF2B5EF4-FFF2-40B4-BE49-F238E27FC236}">
                <a16:creationId xmlns:a16="http://schemas.microsoft.com/office/drawing/2014/main" id="{A1A18A9C-42D3-430C-B759-3BE4BE5DA941}"/>
              </a:ext>
            </a:extLst>
          </p:cNvPr>
          <p:cNvSpPr>
            <a:spLocks noChangeArrowheads="1"/>
          </p:cNvSpPr>
          <p:nvPr/>
        </p:nvSpPr>
        <p:spPr bwMode="auto">
          <a:xfrm>
            <a:off x="3757131" y="3492379"/>
            <a:ext cx="165100" cy="22456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4" name="Oval 25">
            <a:extLst>
              <a:ext uri="{FF2B5EF4-FFF2-40B4-BE49-F238E27FC236}">
                <a16:creationId xmlns:a16="http://schemas.microsoft.com/office/drawing/2014/main" id="{A793A5C5-DFD5-4CFC-99A1-C8FC56546995}"/>
              </a:ext>
            </a:extLst>
          </p:cNvPr>
          <p:cNvSpPr>
            <a:spLocks noChangeArrowheads="1"/>
          </p:cNvSpPr>
          <p:nvPr/>
        </p:nvSpPr>
        <p:spPr bwMode="auto">
          <a:xfrm>
            <a:off x="3745867" y="4421991"/>
            <a:ext cx="167622" cy="226998"/>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5" name="Oval 26">
            <a:extLst>
              <a:ext uri="{FF2B5EF4-FFF2-40B4-BE49-F238E27FC236}">
                <a16:creationId xmlns:a16="http://schemas.microsoft.com/office/drawing/2014/main" id="{3D9BD160-346F-435F-9CC4-10EF46D88030}"/>
              </a:ext>
            </a:extLst>
          </p:cNvPr>
          <p:cNvSpPr>
            <a:spLocks noChangeArrowheads="1"/>
          </p:cNvSpPr>
          <p:nvPr/>
        </p:nvSpPr>
        <p:spPr bwMode="auto">
          <a:xfrm>
            <a:off x="3755660" y="5359757"/>
            <a:ext cx="167622" cy="224836"/>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28">
            <a:extLst>
              <a:ext uri="{FF2B5EF4-FFF2-40B4-BE49-F238E27FC236}">
                <a16:creationId xmlns:a16="http://schemas.microsoft.com/office/drawing/2014/main" id="{F8C1F2F7-750D-422F-A845-B09453CD7BC1}"/>
              </a:ext>
            </a:extLst>
          </p:cNvPr>
          <p:cNvSpPr>
            <a:spLocks/>
          </p:cNvSpPr>
          <p:nvPr/>
        </p:nvSpPr>
        <p:spPr bwMode="auto">
          <a:xfrm>
            <a:off x="678303" y="1448414"/>
            <a:ext cx="3019091" cy="673100"/>
          </a:xfrm>
          <a:custGeom>
            <a:avLst/>
            <a:gdLst>
              <a:gd name="T0" fmla="*/ 206 w 273"/>
              <a:gd name="T1" fmla="*/ 0 h 232"/>
              <a:gd name="T2" fmla="*/ 240 w 273"/>
              <a:gd name="T3" fmla="*/ 17 h 232"/>
              <a:gd name="T4" fmla="*/ 273 w 273"/>
              <a:gd name="T5" fmla="*/ 61 h 232"/>
              <a:gd name="T6" fmla="*/ 273 w 273"/>
              <a:gd name="T7" fmla="*/ 61 h 232"/>
              <a:gd name="T8" fmla="*/ 273 w 273"/>
              <a:gd name="T9" fmla="*/ 171 h 232"/>
              <a:gd name="T10" fmla="*/ 240 w 273"/>
              <a:gd name="T11" fmla="*/ 215 h 232"/>
              <a:gd name="T12" fmla="*/ 206 w 273"/>
              <a:gd name="T13" fmla="*/ 232 h 232"/>
              <a:gd name="T14" fmla="*/ 0 w 273"/>
              <a:gd name="T15" fmla="*/ 232 h 232"/>
              <a:gd name="T16" fmla="*/ 0 w 273"/>
              <a:gd name="T17" fmla="*/ 0 h 232"/>
              <a:gd name="T18" fmla="*/ 206 w 273"/>
              <a:gd name="T19"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3" h="232">
                <a:moveTo>
                  <a:pt x="206" y="0"/>
                </a:moveTo>
                <a:cubicBezTo>
                  <a:pt x="220" y="0"/>
                  <a:pt x="232" y="6"/>
                  <a:pt x="240" y="17"/>
                </a:cubicBezTo>
                <a:cubicBezTo>
                  <a:pt x="273" y="61"/>
                  <a:pt x="273" y="61"/>
                  <a:pt x="273" y="61"/>
                </a:cubicBezTo>
                <a:cubicBezTo>
                  <a:pt x="273" y="61"/>
                  <a:pt x="273" y="61"/>
                  <a:pt x="273" y="61"/>
                </a:cubicBezTo>
                <a:cubicBezTo>
                  <a:pt x="246" y="93"/>
                  <a:pt x="246" y="139"/>
                  <a:pt x="273" y="171"/>
                </a:cubicBezTo>
                <a:cubicBezTo>
                  <a:pt x="240" y="215"/>
                  <a:pt x="240" y="215"/>
                  <a:pt x="240" y="215"/>
                </a:cubicBezTo>
                <a:cubicBezTo>
                  <a:pt x="232" y="226"/>
                  <a:pt x="220" y="232"/>
                  <a:pt x="206" y="232"/>
                </a:cubicBezTo>
                <a:cubicBezTo>
                  <a:pt x="0" y="232"/>
                  <a:pt x="0" y="232"/>
                  <a:pt x="0" y="232"/>
                </a:cubicBezTo>
                <a:cubicBezTo>
                  <a:pt x="0" y="0"/>
                  <a:pt x="0" y="0"/>
                  <a:pt x="0" y="0"/>
                </a:cubicBezTo>
                <a:lnTo>
                  <a:pt x="206" y="0"/>
                </a:lnTo>
                <a:close/>
              </a:path>
            </a:pathLst>
          </a:cu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solidFill>
                <a:schemeClr val="tx1"/>
              </a:solidFill>
            </a:endParaRPr>
          </a:p>
        </p:txBody>
      </p:sp>
      <p:sp>
        <p:nvSpPr>
          <p:cNvPr id="38" name="椭圆 65">
            <a:extLst>
              <a:ext uri="{FF2B5EF4-FFF2-40B4-BE49-F238E27FC236}">
                <a16:creationId xmlns:a16="http://schemas.microsoft.com/office/drawing/2014/main" id="{917C3B59-E731-4F52-ADE8-ED9DAAD0C830}"/>
              </a:ext>
            </a:extLst>
          </p:cNvPr>
          <p:cNvSpPr/>
          <p:nvPr/>
        </p:nvSpPr>
        <p:spPr>
          <a:xfrm>
            <a:off x="3036618" y="1591000"/>
            <a:ext cx="382407" cy="387928"/>
          </a:xfrm>
          <a:custGeom>
            <a:avLst/>
            <a:gdLst>
              <a:gd name="T0" fmla="*/ 375 w 500"/>
              <a:gd name="T1" fmla="*/ 188 h 508"/>
              <a:gd name="T2" fmla="*/ 188 w 500"/>
              <a:gd name="T3" fmla="*/ 0 h 508"/>
              <a:gd name="T4" fmla="*/ 0 w 500"/>
              <a:gd name="T5" fmla="*/ 188 h 508"/>
              <a:gd name="T6" fmla="*/ 188 w 500"/>
              <a:gd name="T7" fmla="*/ 375 h 508"/>
              <a:gd name="T8" fmla="*/ 375 w 500"/>
              <a:gd name="T9" fmla="*/ 188 h 508"/>
              <a:gd name="T10" fmla="*/ 188 w 500"/>
              <a:gd name="T11" fmla="*/ 328 h 508"/>
              <a:gd name="T12" fmla="*/ 47 w 500"/>
              <a:gd name="T13" fmla="*/ 188 h 508"/>
              <a:gd name="T14" fmla="*/ 188 w 500"/>
              <a:gd name="T15" fmla="*/ 47 h 508"/>
              <a:gd name="T16" fmla="*/ 328 w 500"/>
              <a:gd name="T17" fmla="*/ 188 h 508"/>
              <a:gd name="T18" fmla="*/ 188 w 500"/>
              <a:gd name="T19" fmla="*/ 328 h 508"/>
              <a:gd name="T20" fmla="*/ 500 w 500"/>
              <a:gd name="T21" fmla="*/ 466 h 508"/>
              <a:gd name="T22" fmla="*/ 458 w 500"/>
              <a:gd name="T23" fmla="*/ 508 h 508"/>
              <a:gd name="T24" fmla="*/ 314 w 500"/>
              <a:gd name="T25" fmla="*/ 364 h 508"/>
              <a:gd name="T26" fmla="*/ 356 w 500"/>
              <a:gd name="T27" fmla="*/ 322 h 508"/>
              <a:gd name="T28" fmla="*/ 500 w 500"/>
              <a:gd name="T29" fmla="*/ 466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00" h="508">
                <a:moveTo>
                  <a:pt x="375" y="188"/>
                </a:moveTo>
                <a:cubicBezTo>
                  <a:pt x="375" y="84"/>
                  <a:pt x="291" y="0"/>
                  <a:pt x="188" y="0"/>
                </a:cubicBezTo>
                <a:cubicBezTo>
                  <a:pt x="84" y="0"/>
                  <a:pt x="0" y="84"/>
                  <a:pt x="0" y="188"/>
                </a:cubicBezTo>
                <a:cubicBezTo>
                  <a:pt x="0" y="291"/>
                  <a:pt x="84" y="375"/>
                  <a:pt x="188" y="375"/>
                </a:cubicBezTo>
                <a:cubicBezTo>
                  <a:pt x="291" y="375"/>
                  <a:pt x="375" y="291"/>
                  <a:pt x="375" y="188"/>
                </a:cubicBezTo>
                <a:close/>
                <a:moveTo>
                  <a:pt x="188" y="328"/>
                </a:moveTo>
                <a:cubicBezTo>
                  <a:pt x="110" y="328"/>
                  <a:pt x="47" y="265"/>
                  <a:pt x="47" y="188"/>
                </a:cubicBezTo>
                <a:cubicBezTo>
                  <a:pt x="47" y="110"/>
                  <a:pt x="110" y="47"/>
                  <a:pt x="188" y="47"/>
                </a:cubicBezTo>
                <a:cubicBezTo>
                  <a:pt x="265" y="47"/>
                  <a:pt x="328" y="110"/>
                  <a:pt x="328" y="188"/>
                </a:cubicBezTo>
                <a:cubicBezTo>
                  <a:pt x="328" y="265"/>
                  <a:pt x="265" y="328"/>
                  <a:pt x="188" y="328"/>
                </a:cubicBezTo>
                <a:close/>
                <a:moveTo>
                  <a:pt x="500" y="466"/>
                </a:moveTo>
                <a:lnTo>
                  <a:pt x="458" y="508"/>
                </a:lnTo>
                <a:lnTo>
                  <a:pt x="314" y="364"/>
                </a:lnTo>
                <a:lnTo>
                  <a:pt x="356" y="322"/>
                </a:lnTo>
                <a:lnTo>
                  <a:pt x="500" y="46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41" name="椭圆 68">
            <a:extLst>
              <a:ext uri="{FF2B5EF4-FFF2-40B4-BE49-F238E27FC236}">
                <a16:creationId xmlns:a16="http://schemas.microsoft.com/office/drawing/2014/main" id="{EB1BF1C3-1C5E-4888-914F-5A2C6283D245}"/>
              </a:ext>
            </a:extLst>
          </p:cNvPr>
          <p:cNvSpPr/>
          <p:nvPr/>
        </p:nvSpPr>
        <p:spPr>
          <a:xfrm>
            <a:off x="4311192" y="1597771"/>
            <a:ext cx="387928" cy="387341"/>
          </a:xfrm>
          <a:custGeom>
            <a:avLst/>
            <a:gdLst>
              <a:gd name="T0" fmla="*/ 6894 w 7804"/>
              <a:gd name="T1" fmla="*/ 3038 h 7804"/>
              <a:gd name="T2" fmla="*/ 6614 w 7804"/>
              <a:gd name="T3" fmla="*/ 2704 h 7804"/>
              <a:gd name="T4" fmla="*/ 6826 w 7804"/>
              <a:gd name="T5" fmla="*/ 2200 h 7804"/>
              <a:gd name="T6" fmla="*/ 6496 w 7804"/>
              <a:gd name="T7" fmla="*/ 978 h 7804"/>
              <a:gd name="T8" fmla="*/ 5604 w 7804"/>
              <a:gd name="T9" fmla="*/ 978 h 7804"/>
              <a:gd name="T10" fmla="*/ 5254 w 7804"/>
              <a:gd name="T11" fmla="*/ 1222 h 7804"/>
              <a:gd name="T12" fmla="*/ 4973 w 7804"/>
              <a:gd name="T13" fmla="*/ 1137 h 7804"/>
              <a:gd name="T14" fmla="*/ 4766 w 7804"/>
              <a:gd name="T15" fmla="*/ 631 h 7804"/>
              <a:gd name="T16" fmla="*/ 3668 w 7804"/>
              <a:gd name="T17" fmla="*/ 0 h 7804"/>
              <a:gd name="T18" fmla="*/ 3038 w 7804"/>
              <a:gd name="T19" fmla="*/ 910 h 7804"/>
              <a:gd name="T20" fmla="*/ 2704 w 7804"/>
              <a:gd name="T21" fmla="*/ 1190 h 7804"/>
              <a:gd name="T22" fmla="*/ 2398 w 7804"/>
              <a:gd name="T23" fmla="*/ 1175 h 7804"/>
              <a:gd name="T24" fmla="*/ 1754 w 7804"/>
              <a:gd name="T25" fmla="*/ 793 h 7804"/>
              <a:gd name="T26" fmla="*/ 978 w 7804"/>
              <a:gd name="T27" fmla="*/ 1308 h 7804"/>
              <a:gd name="T28" fmla="*/ 1175 w 7804"/>
              <a:gd name="T29" fmla="*/ 2398 h 7804"/>
              <a:gd name="T30" fmla="*/ 1137 w 7804"/>
              <a:gd name="T31" fmla="*/ 2831 h 7804"/>
              <a:gd name="T32" fmla="*/ 631 w 7804"/>
              <a:gd name="T33" fmla="*/ 3038 h 7804"/>
              <a:gd name="T34" fmla="*/ 0 w 7804"/>
              <a:gd name="T35" fmla="*/ 4136 h 7804"/>
              <a:gd name="T36" fmla="*/ 910 w 7804"/>
              <a:gd name="T37" fmla="*/ 4766 h 7804"/>
              <a:gd name="T38" fmla="*/ 1190 w 7804"/>
              <a:gd name="T39" fmla="*/ 5100 h 7804"/>
              <a:gd name="T40" fmla="*/ 978 w 7804"/>
              <a:gd name="T41" fmla="*/ 5604 h 7804"/>
              <a:gd name="T42" fmla="*/ 1308 w 7804"/>
              <a:gd name="T43" fmla="*/ 6826 h 7804"/>
              <a:gd name="T44" fmla="*/ 2200 w 7804"/>
              <a:gd name="T45" fmla="*/ 6826 h 7804"/>
              <a:gd name="T46" fmla="*/ 2550 w 7804"/>
              <a:gd name="T47" fmla="*/ 6582 h 7804"/>
              <a:gd name="T48" fmla="*/ 2831 w 7804"/>
              <a:gd name="T49" fmla="*/ 6667 h 7804"/>
              <a:gd name="T50" fmla="*/ 3038 w 7804"/>
              <a:gd name="T51" fmla="*/ 7173 h 7804"/>
              <a:gd name="T52" fmla="*/ 4136 w 7804"/>
              <a:gd name="T53" fmla="*/ 7804 h 7804"/>
              <a:gd name="T54" fmla="*/ 4766 w 7804"/>
              <a:gd name="T55" fmla="*/ 6894 h 7804"/>
              <a:gd name="T56" fmla="*/ 5100 w 7804"/>
              <a:gd name="T57" fmla="*/ 6614 h 7804"/>
              <a:gd name="T58" fmla="*/ 5406 w 7804"/>
              <a:gd name="T59" fmla="*/ 6629 h 7804"/>
              <a:gd name="T60" fmla="*/ 6050 w 7804"/>
              <a:gd name="T61" fmla="*/ 7011 h 7804"/>
              <a:gd name="T62" fmla="*/ 6647 w 7804"/>
              <a:gd name="T63" fmla="*/ 6675 h 7804"/>
              <a:gd name="T64" fmla="*/ 6826 w 7804"/>
              <a:gd name="T65" fmla="*/ 6496 h 7804"/>
              <a:gd name="T66" fmla="*/ 6629 w 7804"/>
              <a:gd name="T67" fmla="*/ 5406 h 7804"/>
              <a:gd name="T68" fmla="*/ 6667 w 7804"/>
              <a:gd name="T69" fmla="*/ 4972 h 7804"/>
              <a:gd name="T70" fmla="*/ 7173 w 7804"/>
              <a:gd name="T71" fmla="*/ 4766 h 7804"/>
              <a:gd name="T72" fmla="*/ 7804 w 7804"/>
              <a:gd name="T73" fmla="*/ 3668 h 7804"/>
              <a:gd name="T74" fmla="*/ 5608 w 7804"/>
              <a:gd name="T75" fmla="*/ 3902 h 7804"/>
              <a:gd name="T76" fmla="*/ 2196 w 7804"/>
              <a:gd name="T77" fmla="*/ 3902 h 7804"/>
              <a:gd name="T78" fmla="*/ 5608 w 7804"/>
              <a:gd name="T79" fmla="*/ 3902 h 7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7804" h="7804">
                <a:moveTo>
                  <a:pt x="7173" y="3038"/>
                </a:moveTo>
                <a:lnTo>
                  <a:pt x="6894" y="3038"/>
                </a:lnTo>
                <a:cubicBezTo>
                  <a:pt x="6824" y="3038"/>
                  <a:pt x="6714" y="2953"/>
                  <a:pt x="6667" y="2831"/>
                </a:cubicBezTo>
                <a:cubicBezTo>
                  <a:pt x="6650" y="2789"/>
                  <a:pt x="6632" y="2746"/>
                  <a:pt x="6614" y="2704"/>
                </a:cubicBezTo>
                <a:cubicBezTo>
                  <a:pt x="6561" y="2585"/>
                  <a:pt x="6579" y="2447"/>
                  <a:pt x="6629" y="2398"/>
                </a:cubicBezTo>
                <a:lnTo>
                  <a:pt x="6826" y="2200"/>
                </a:lnTo>
                <a:cubicBezTo>
                  <a:pt x="7072" y="1954"/>
                  <a:pt x="7072" y="1554"/>
                  <a:pt x="6826" y="1308"/>
                </a:cubicBezTo>
                <a:lnTo>
                  <a:pt x="6496" y="978"/>
                </a:lnTo>
                <a:cubicBezTo>
                  <a:pt x="6377" y="859"/>
                  <a:pt x="6218" y="793"/>
                  <a:pt x="6050" y="793"/>
                </a:cubicBezTo>
                <a:cubicBezTo>
                  <a:pt x="5882" y="793"/>
                  <a:pt x="5723" y="859"/>
                  <a:pt x="5604" y="978"/>
                </a:cubicBezTo>
                <a:lnTo>
                  <a:pt x="5406" y="1176"/>
                </a:lnTo>
                <a:cubicBezTo>
                  <a:pt x="5378" y="1204"/>
                  <a:pt x="5319" y="1222"/>
                  <a:pt x="5254" y="1222"/>
                </a:cubicBezTo>
                <a:cubicBezTo>
                  <a:pt x="5201" y="1222"/>
                  <a:pt x="5147" y="1211"/>
                  <a:pt x="5100" y="1190"/>
                </a:cubicBezTo>
                <a:cubicBezTo>
                  <a:pt x="5058" y="1172"/>
                  <a:pt x="5015" y="1154"/>
                  <a:pt x="4973" y="1137"/>
                </a:cubicBezTo>
                <a:cubicBezTo>
                  <a:pt x="4851" y="1090"/>
                  <a:pt x="4766" y="980"/>
                  <a:pt x="4766" y="910"/>
                </a:cubicBezTo>
                <a:lnTo>
                  <a:pt x="4766" y="631"/>
                </a:lnTo>
                <a:cubicBezTo>
                  <a:pt x="4766" y="283"/>
                  <a:pt x="4483" y="0"/>
                  <a:pt x="4136" y="0"/>
                </a:cubicBezTo>
                <a:lnTo>
                  <a:pt x="3668" y="0"/>
                </a:lnTo>
                <a:cubicBezTo>
                  <a:pt x="3321" y="0"/>
                  <a:pt x="3038" y="283"/>
                  <a:pt x="3038" y="631"/>
                </a:cubicBezTo>
                <a:lnTo>
                  <a:pt x="3038" y="910"/>
                </a:lnTo>
                <a:cubicBezTo>
                  <a:pt x="3038" y="980"/>
                  <a:pt x="2953" y="1090"/>
                  <a:pt x="2831" y="1137"/>
                </a:cubicBezTo>
                <a:cubicBezTo>
                  <a:pt x="2789" y="1154"/>
                  <a:pt x="2746" y="1172"/>
                  <a:pt x="2704" y="1190"/>
                </a:cubicBezTo>
                <a:cubicBezTo>
                  <a:pt x="2657" y="1211"/>
                  <a:pt x="2603" y="1222"/>
                  <a:pt x="2550" y="1222"/>
                </a:cubicBezTo>
                <a:cubicBezTo>
                  <a:pt x="2485" y="1222"/>
                  <a:pt x="2426" y="1204"/>
                  <a:pt x="2398" y="1175"/>
                </a:cubicBezTo>
                <a:lnTo>
                  <a:pt x="2200" y="978"/>
                </a:lnTo>
                <a:cubicBezTo>
                  <a:pt x="2081" y="859"/>
                  <a:pt x="1922" y="793"/>
                  <a:pt x="1754" y="793"/>
                </a:cubicBezTo>
                <a:cubicBezTo>
                  <a:pt x="1585" y="793"/>
                  <a:pt x="1427" y="859"/>
                  <a:pt x="1308" y="978"/>
                </a:cubicBezTo>
                <a:lnTo>
                  <a:pt x="978" y="1308"/>
                </a:lnTo>
                <a:cubicBezTo>
                  <a:pt x="732" y="1554"/>
                  <a:pt x="732" y="1954"/>
                  <a:pt x="978" y="2200"/>
                </a:cubicBezTo>
                <a:lnTo>
                  <a:pt x="1175" y="2398"/>
                </a:lnTo>
                <a:cubicBezTo>
                  <a:pt x="1225" y="2447"/>
                  <a:pt x="1243" y="2585"/>
                  <a:pt x="1190" y="2704"/>
                </a:cubicBezTo>
                <a:cubicBezTo>
                  <a:pt x="1172" y="2746"/>
                  <a:pt x="1154" y="2789"/>
                  <a:pt x="1137" y="2831"/>
                </a:cubicBezTo>
                <a:cubicBezTo>
                  <a:pt x="1090" y="2953"/>
                  <a:pt x="980" y="3038"/>
                  <a:pt x="910" y="3038"/>
                </a:cubicBezTo>
                <a:lnTo>
                  <a:pt x="631" y="3038"/>
                </a:lnTo>
                <a:cubicBezTo>
                  <a:pt x="283" y="3038"/>
                  <a:pt x="0" y="3321"/>
                  <a:pt x="0" y="3668"/>
                </a:cubicBezTo>
                <a:lnTo>
                  <a:pt x="0" y="4136"/>
                </a:lnTo>
                <a:cubicBezTo>
                  <a:pt x="0" y="4483"/>
                  <a:pt x="283" y="4766"/>
                  <a:pt x="631" y="4766"/>
                </a:cubicBezTo>
                <a:lnTo>
                  <a:pt x="910" y="4766"/>
                </a:lnTo>
                <a:cubicBezTo>
                  <a:pt x="980" y="4766"/>
                  <a:pt x="1090" y="4851"/>
                  <a:pt x="1137" y="4972"/>
                </a:cubicBezTo>
                <a:cubicBezTo>
                  <a:pt x="1154" y="5015"/>
                  <a:pt x="1172" y="5058"/>
                  <a:pt x="1190" y="5100"/>
                </a:cubicBezTo>
                <a:cubicBezTo>
                  <a:pt x="1243" y="5219"/>
                  <a:pt x="1225" y="5357"/>
                  <a:pt x="1175" y="5406"/>
                </a:cubicBezTo>
                <a:lnTo>
                  <a:pt x="978" y="5604"/>
                </a:lnTo>
                <a:cubicBezTo>
                  <a:pt x="732" y="5850"/>
                  <a:pt x="732" y="6250"/>
                  <a:pt x="978" y="6496"/>
                </a:cubicBezTo>
                <a:lnTo>
                  <a:pt x="1308" y="6826"/>
                </a:lnTo>
                <a:cubicBezTo>
                  <a:pt x="1427" y="6945"/>
                  <a:pt x="1586" y="7011"/>
                  <a:pt x="1754" y="7011"/>
                </a:cubicBezTo>
                <a:cubicBezTo>
                  <a:pt x="1922" y="7011"/>
                  <a:pt x="2081" y="6945"/>
                  <a:pt x="2200" y="6826"/>
                </a:cubicBezTo>
                <a:lnTo>
                  <a:pt x="2398" y="6628"/>
                </a:lnTo>
                <a:cubicBezTo>
                  <a:pt x="2427" y="6599"/>
                  <a:pt x="2484" y="6582"/>
                  <a:pt x="2550" y="6582"/>
                </a:cubicBezTo>
                <a:cubicBezTo>
                  <a:pt x="2602" y="6582"/>
                  <a:pt x="2657" y="6593"/>
                  <a:pt x="2704" y="6614"/>
                </a:cubicBezTo>
                <a:cubicBezTo>
                  <a:pt x="2745" y="6632"/>
                  <a:pt x="2788" y="6650"/>
                  <a:pt x="2831" y="6667"/>
                </a:cubicBezTo>
                <a:cubicBezTo>
                  <a:pt x="2953" y="6714"/>
                  <a:pt x="3038" y="6824"/>
                  <a:pt x="3038" y="6894"/>
                </a:cubicBezTo>
                <a:lnTo>
                  <a:pt x="3038" y="7173"/>
                </a:lnTo>
                <a:cubicBezTo>
                  <a:pt x="3038" y="7521"/>
                  <a:pt x="3321" y="7804"/>
                  <a:pt x="3668" y="7804"/>
                </a:cubicBezTo>
                <a:lnTo>
                  <a:pt x="4136" y="7804"/>
                </a:lnTo>
                <a:cubicBezTo>
                  <a:pt x="4483" y="7804"/>
                  <a:pt x="4766" y="7521"/>
                  <a:pt x="4766" y="7173"/>
                </a:cubicBezTo>
                <a:lnTo>
                  <a:pt x="4766" y="6894"/>
                </a:lnTo>
                <a:cubicBezTo>
                  <a:pt x="4766" y="6824"/>
                  <a:pt x="4851" y="6714"/>
                  <a:pt x="4972" y="6667"/>
                </a:cubicBezTo>
                <a:cubicBezTo>
                  <a:pt x="5015" y="6650"/>
                  <a:pt x="5058" y="6632"/>
                  <a:pt x="5100" y="6614"/>
                </a:cubicBezTo>
                <a:cubicBezTo>
                  <a:pt x="5146" y="6593"/>
                  <a:pt x="5201" y="6582"/>
                  <a:pt x="5254" y="6582"/>
                </a:cubicBezTo>
                <a:cubicBezTo>
                  <a:pt x="5319" y="6582"/>
                  <a:pt x="5377" y="6600"/>
                  <a:pt x="5406" y="6629"/>
                </a:cubicBezTo>
                <a:lnTo>
                  <a:pt x="5604" y="6826"/>
                </a:lnTo>
                <a:cubicBezTo>
                  <a:pt x="5723" y="6945"/>
                  <a:pt x="5882" y="7011"/>
                  <a:pt x="6050" y="7011"/>
                </a:cubicBezTo>
                <a:cubicBezTo>
                  <a:pt x="6068" y="7011"/>
                  <a:pt x="6087" y="7010"/>
                  <a:pt x="6105" y="7009"/>
                </a:cubicBezTo>
                <a:cubicBezTo>
                  <a:pt x="6335" y="6989"/>
                  <a:pt x="6538" y="6785"/>
                  <a:pt x="6647" y="6675"/>
                </a:cubicBezTo>
                <a:lnTo>
                  <a:pt x="6661" y="6661"/>
                </a:lnTo>
                <a:lnTo>
                  <a:pt x="6826" y="6496"/>
                </a:lnTo>
                <a:cubicBezTo>
                  <a:pt x="7072" y="6250"/>
                  <a:pt x="7072" y="5850"/>
                  <a:pt x="6826" y="5604"/>
                </a:cubicBezTo>
                <a:lnTo>
                  <a:pt x="6629" y="5406"/>
                </a:lnTo>
                <a:cubicBezTo>
                  <a:pt x="6579" y="5357"/>
                  <a:pt x="6561" y="5219"/>
                  <a:pt x="6614" y="5100"/>
                </a:cubicBezTo>
                <a:cubicBezTo>
                  <a:pt x="6632" y="5058"/>
                  <a:pt x="6650" y="5015"/>
                  <a:pt x="6667" y="4972"/>
                </a:cubicBezTo>
                <a:cubicBezTo>
                  <a:pt x="6714" y="4851"/>
                  <a:pt x="6824" y="4766"/>
                  <a:pt x="6894" y="4766"/>
                </a:cubicBezTo>
                <a:lnTo>
                  <a:pt x="7173" y="4766"/>
                </a:lnTo>
                <a:cubicBezTo>
                  <a:pt x="7521" y="4766"/>
                  <a:pt x="7804" y="4483"/>
                  <a:pt x="7804" y="4135"/>
                </a:cubicBezTo>
                <a:lnTo>
                  <a:pt x="7804" y="3668"/>
                </a:lnTo>
                <a:cubicBezTo>
                  <a:pt x="7804" y="3321"/>
                  <a:pt x="7521" y="3038"/>
                  <a:pt x="7173" y="3038"/>
                </a:cubicBezTo>
                <a:close/>
                <a:moveTo>
                  <a:pt x="5608" y="3902"/>
                </a:moveTo>
                <a:cubicBezTo>
                  <a:pt x="5608" y="4843"/>
                  <a:pt x="4843" y="5608"/>
                  <a:pt x="3902" y="5608"/>
                </a:cubicBezTo>
                <a:cubicBezTo>
                  <a:pt x="2961" y="5608"/>
                  <a:pt x="2196" y="4843"/>
                  <a:pt x="2196" y="3902"/>
                </a:cubicBezTo>
                <a:cubicBezTo>
                  <a:pt x="2196" y="2961"/>
                  <a:pt x="2961" y="2196"/>
                  <a:pt x="3902" y="2196"/>
                </a:cubicBezTo>
                <a:cubicBezTo>
                  <a:pt x="4843" y="2196"/>
                  <a:pt x="5608" y="2961"/>
                  <a:pt x="5608" y="3902"/>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58" name="矩形 57">
            <a:extLst>
              <a:ext uri="{FF2B5EF4-FFF2-40B4-BE49-F238E27FC236}">
                <a16:creationId xmlns:a16="http://schemas.microsoft.com/office/drawing/2014/main" id="{084955AF-1C9D-40E6-AF77-16E919D7DDCC}"/>
              </a:ext>
            </a:extLst>
          </p:cNvPr>
          <p:cNvSpPr/>
          <p:nvPr/>
        </p:nvSpPr>
        <p:spPr>
          <a:xfrm>
            <a:off x="765671" y="1521136"/>
            <a:ext cx="1937887" cy="584775"/>
          </a:xfrm>
          <a:prstGeom prst="rect">
            <a:avLst/>
          </a:prstGeom>
        </p:spPr>
        <p:txBody>
          <a:bodyPr wrap="square">
            <a:spAutoFit/>
          </a:bodyPr>
          <a:lstStyle/>
          <a:p>
            <a:pPr>
              <a:buClr>
                <a:srgbClr val="85B2D2"/>
              </a:buClr>
            </a:pPr>
            <a:r>
              <a:rPr lang="zh-CN" altLang="en-US" sz="1600" dirty="0">
                <a:latin typeface="微软雅黑" panose="020B0503020204020204" pitchFamily="34" charset="-122"/>
                <a:ea typeface="微软雅黑" panose="020B0503020204020204" pitchFamily="34" charset="-122"/>
              </a:rPr>
              <a:t>使用两个要素K和L，价格分别为W和r</a:t>
            </a:r>
          </a:p>
        </p:txBody>
      </p:sp>
      <p:sp>
        <p:nvSpPr>
          <p:cNvPr id="59" name="矩形 58">
            <a:extLst>
              <a:ext uri="{FF2B5EF4-FFF2-40B4-BE49-F238E27FC236}">
                <a16:creationId xmlns:a16="http://schemas.microsoft.com/office/drawing/2014/main" id="{4AD4FACF-7628-4937-928E-9D757D5C313D}"/>
              </a:ext>
            </a:extLst>
          </p:cNvPr>
          <p:cNvSpPr/>
          <p:nvPr/>
        </p:nvSpPr>
        <p:spPr>
          <a:xfrm>
            <a:off x="585003" y="2175191"/>
            <a:ext cx="3008813" cy="738664"/>
          </a:xfrm>
          <a:prstGeom prst="rect">
            <a:avLst/>
          </a:prstGeom>
        </p:spPr>
        <p:txBody>
          <a:bodyPr wrap="square">
            <a:spAutoFit/>
          </a:bodyPr>
          <a:lstStyle/>
          <a:p>
            <a:pPr marL="285750" indent="-285750">
              <a:buFont typeface="Wingdings" panose="05000000000000000000" pitchFamily="2" charset="2"/>
              <a:buChar char="Ø"/>
            </a:pPr>
            <a:r>
              <a:rPr lang="zh-CN" altLang="en-US" sz="1400" dirty="0">
                <a:latin typeface="微软雅黑" panose="020B0503020204020204" pitchFamily="34" charset="-122"/>
                <a:ea typeface="微软雅黑" panose="020B0503020204020204" pitchFamily="34" charset="-122"/>
              </a:rPr>
              <a:t>在生产要素价格既定的条件下，企业花费相同的成本可以购买到的两种生产要素的不同数量组合。</a:t>
            </a:r>
          </a:p>
        </p:txBody>
      </p:sp>
      <p:sp>
        <p:nvSpPr>
          <p:cNvPr id="60" name="Freeform 28">
            <a:extLst>
              <a:ext uri="{FF2B5EF4-FFF2-40B4-BE49-F238E27FC236}">
                <a16:creationId xmlns:a16="http://schemas.microsoft.com/office/drawing/2014/main" id="{F60BFEEB-E4AD-47DB-8C89-BB8C4DC3A518}"/>
              </a:ext>
            </a:extLst>
          </p:cNvPr>
          <p:cNvSpPr>
            <a:spLocks/>
          </p:cNvSpPr>
          <p:nvPr/>
        </p:nvSpPr>
        <p:spPr bwMode="auto">
          <a:xfrm>
            <a:off x="681860" y="3280429"/>
            <a:ext cx="3019091" cy="673100"/>
          </a:xfrm>
          <a:custGeom>
            <a:avLst/>
            <a:gdLst>
              <a:gd name="T0" fmla="*/ 206 w 273"/>
              <a:gd name="T1" fmla="*/ 0 h 232"/>
              <a:gd name="T2" fmla="*/ 240 w 273"/>
              <a:gd name="T3" fmla="*/ 17 h 232"/>
              <a:gd name="T4" fmla="*/ 273 w 273"/>
              <a:gd name="T5" fmla="*/ 61 h 232"/>
              <a:gd name="T6" fmla="*/ 273 w 273"/>
              <a:gd name="T7" fmla="*/ 61 h 232"/>
              <a:gd name="T8" fmla="*/ 273 w 273"/>
              <a:gd name="T9" fmla="*/ 171 h 232"/>
              <a:gd name="T10" fmla="*/ 240 w 273"/>
              <a:gd name="T11" fmla="*/ 215 h 232"/>
              <a:gd name="T12" fmla="*/ 206 w 273"/>
              <a:gd name="T13" fmla="*/ 232 h 232"/>
              <a:gd name="T14" fmla="*/ 0 w 273"/>
              <a:gd name="T15" fmla="*/ 232 h 232"/>
              <a:gd name="T16" fmla="*/ 0 w 273"/>
              <a:gd name="T17" fmla="*/ 0 h 232"/>
              <a:gd name="T18" fmla="*/ 206 w 273"/>
              <a:gd name="T19"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3" h="232">
                <a:moveTo>
                  <a:pt x="206" y="0"/>
                </a:moveTo>
                <a:cubicBezTo>
                  <a:pt x="220" y="0"/>
                  <a:pt x="232" y="6"/>
                  <a:pt x="240" y="17"/>
                </a:cubicBezTo>
                <a:cubicBezTo>
                  <a:pt x="273" y="61"/>
                  <a:pt x="273" y="61"/>
                  <a:pt x="273" y="61"/>
                </a:cubicBezTo>
                <a:cubicBezTo>
                  <a:pt x="273" y="61"/>
                  <a:pt x="273" y="61"/>
                  <a:pt x="273" y="61"/>
                </a:cubicBezTo>
                <a:cubicBezTo>
                  <a:pt x="246" y="93"/>
                  <a:pt x="246" y="139"/>
                  <a:pt x="273" y="171"/>
                </a:cubicBezTo>
                <a:cubicBezTo>
                  <a:pt x="240" y="215"/>
                  <a:pt x="240" y="215"/>
                  <a:pt x="240" y="215"/>
                </a:cubicBezTo>
                <a:cubicBezTo>
                  <a:pt x="232" y="226"/>
                  <a:pt x="220" y="232"/>
                  <a:pt x="206" y="232"/>
                </a:cubicBezTo>
                <a:cubicBezTo>
                  <a:pt x="0" y="232"/>
                  <a:pt x="0" y="232"/>
                  <a:pt x="0" y="232"/>
                </a:cubicBezTo>
                <a:cubicBezTo>
                  <a:pt x="0" y="0"/>
                  <a:pt x="0" y="0"/>
                  <a:pt x="0" y="0"/>
                </a:cubicBezTo>
                <a:lnTo>
                  <a:pt x="206" y="0"/>
                </a:lnTo>
                <a:close/>
              </a:path>
            </a:pathLst>
          </a:cu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39" name="椭圆 66">
            <a:extLst>
              <a:ext uri="{FF2B5EF4-FFF2-40B4-BE49-F238E27FC236}">
                <a16:creationId xmlns:a16="http://schemas.microsoft.com/office/drawing/2014/main" id="{6DB07B9F-FF0A-4099-A0EB-C2E309D9170E}"/>
              </a:ext>
            </a:extLst>
          </p:cNvPr>
          <p:cNvSpPr/>
          <p:nvPr/>
        </p:nvSpPr>
        <p:spPr>
          <a:xfrm>
            <a:off x="3019184" y="3422226"/>
            <a:ext cx="375401" cy="387928"/>
          </a:xfrm>
          <a:custGeom>
            <a:avLst/>
            <a:gdLst>
              <a:gd name="connsiteX0" fmla="*/ 201045 w 587108"/>
              <a:gd name="connsiteY0" fmla="*/ 374989 h 606698"/>
              <a:gd name="connsiteX1" fmla="*/ 401729 w 587108"/>
              <a:gd name="connsiteY1" fmla="*/ 374989 h 606698"/>
              <a:gd name="connsiteX2" fmla="*/ 432462 w 587108"/>
              <a:gd name="connsiteY2" fmla="*/ 405650 h 606698"/>
              <a:gd name="connsiteX3" fmla="*/ 401729 w 587108"/>
              <a:gd name="connsiteY3" fmla="*/ 436310 h 606698"/>
              <a:gd name="connsiteX4" fmla="*/ 201045 w 587108"/>
              <a:gd name="connsiteY4" fmla="*/ 436310 h 606698"/>
              <a:gd name="connsiteX5" fmla="*/ 170312 w 587108"/>
              <a:gd name="connsiteY5" fmla="*/ 405650 h 606698"/>
              <a:gd name="connsiteX6" fmla="*/ 201045 w 587108"/>
              <a:gd name="connsiteY6" fmla="*/ 374989 h 606698"/>
              <a:gd name="connsiteX7" fmla="*/ 201041 w 587108"/>
              <a:gd name="connsiteY7" fmla="*/ 247195 h 606698"/>
              <a:gd name="connsiteX8" fmla="*/ 539054 w 587108"/>
              <a:gd name="connsiteY8" fmla="*/ 247195 h 606698"/>
              <a:gd name="connsiteX9" fmla="*/ 569783 w 587108"/>
              <a:gd name="connsiteY9" fmla="*/ 277856 h 606698"/>
              <a:gd name="connsiteX10" fmla="*/ 539054 w 587108"/>
              <a:gd name="connsiteY10" fmla="*/ 308516 h 606698"/>
              <a:gd name="connsiteX11" fmla="*/ 201041 w 587108"/>
              <a:gd name="connsiteY11" fmla="*/ 308516 h 606698"/>
              <a:gd name="connsiteX12" fmla="*/ 170312 w 587108"/>
              <a:gd name="connsiteY12" fmla="*/ 277856 h 606698"/>
              <a:gd name="connsiteX13" fmla="*/ 201041 w 587108"/>
              <a:gd name="connsiteY13" fmla="*/ 247195 h 606698"/>
              <a:gd name="connsiteX14" fmla="*/ 201045 w 587108"/>
              <a:gd name="connsiteY14" fmla="*/ 119189 h 606698"/>
              <a:gd name="connsiteX15" fmla="*/ 356709 w 587108"/>
              <a:gd name="connsiteY15" fmla="*/ 119189 h 606698"/>
              <a:gd name="connsiteX16" fmla="*/ 387442 w 587108"/>
              <a:gd name="connsiteY16" fmla="*/ 149885 h 606698"/>
              <a:gd name="connsiteX17" fmla="*/ 356709 w 587108"/>
              <a:gd name="connsiteY17" fmla="*/ 180581 h 606698"/>
              <a:gd name="connsiteX18" fmla="*/ 201045 w 587108"/>
              <a:gd name="connsiteY18" fmla="*/ 180581 h 606698"/>
              <a:gd name="connsiteX19" fmla="*/ 170312 w 587108"/>
              <a:gd name="connsiteY19" fmla="*/ 149885 h 606698"/>
              <a:gd name="connsiteX20" fmla="*/ 201045 w 587108"/>
              <a:gd name="connsiteY20" fmla="*/ 119189 h 606698"/>
              <a:gd name="connsiteX21" fmla="*/ 87274 w 587108"/>
              <a:gd name="connsiteY21" fmla="*/ 0 h 606698"/>
              <a:gd name="connsiteX22" fmla="*/ 109016 w 587108"/>
              <a:gd name="connsiteY22" fmla="*/ 9089 h 606698"/>
              <a:gd name="connsiteX23" fmla="*/ 165407 w 587108"/>
              <a:gd name="connsiteY23" fmla="*/ 65391 h 606698"/>
              <a:gd name="connsiteX24" fmla="*/ 165407 w 587108"/>
              <a:gd name="connsiteY24" fmla="*/ 108806 h 606698"/>
              <a:gd name="connsiteX25" fmla="*/ 122077 w 587108"/>
              <a:gd name="connsiteY25" fmla="*/ 108806 h 606698"/>
              <a:gd name="connsiteX26" fmla="*/ 117928 w 587108"/>
              <a:gd name="connsiteY26" fmla="*/ 104817 h 606698"/>
              <a:gd name="connsiteX27" fmla="*/ 117928 w 587108"/>
              <a:gd name="connsiteY27" fmla="*/ 488956 h 606698"/>
              <a:gd name="connsiteX28" fmla="*/ 482240 w 587108"/>
              <a:gd name="connsiteY28" fmla="*/ 488956 h 606698"/>
              <a:gd name="connsiteX29" fmla="*/ 478245 w 587108"/>
              <a:gd name="connsiteY29" fmla="*/ 484814 h 606698"/>
              <a:gd name="connsiteX30" fmla="*/ 478245 w 587108"/>
              <a:gd name="connsiteY30" fmla="*/ 441553 h 606698"/>
              <a:gd name="connsiteX31" fmla="*/ 521576 w 587108"/>
              <a:gd name="connsiteY31" fmla="*/ 441553 h 606698"/>
              <a:gd name="connsiteX32" fmla="*/ 578120 w 587108"/>
              <a:gd name="connsiteY32" fmla="*/ 497854 h 606698"/>
              <a:gd name="connsiteX33" fmla="*/ 578120 w 587108"/>
              <a:gd name="connsiteY33" fmla="*/ 541269 h 606698"/>
              <a:gd name="connsiteX34" fmla="*/ 521576 w 587108"/>
              <a:gd name="connsiteY34" fmla="*/ 597724 h 606698"/>
              <a:gd name="connsiteX35" fmla="*/ 478245 w 587108"/>
              <a:gd name="connsiteY35" fmla="*/ 597724 h 606698"/>
              <a:gd name="connsiteX36" fmla="*/ 478245 w 587108"/>
              <a:gd name="connsiteY36" fmla="*/ 554309 h 606698"/>
              <a:gd name="connsiteX37" fmla="*/ 482240 w 587108"/>
              <a:gd name="connsiteY37" fmla="*/ 550320 h 606698"/>
              <a:gd name="connsiteX38" fmla="*/ 87198 w 587108"/>
              <a:gd name="connsiteY38" fmla="*/ 550320 h 606698"/>
              <a:gd name="connsiteX39" fmla="*/ 56467 w 587108"/>
              <a:gd name="connsiteY39" fmla="*/ 519638 h 606698"/>
              <a:gd name="connsiteX40" fmla="*/ 56467 w 587108"/>
              <a:gd name="connsiteY40" fmla="*/ 104817 h 606698"/>
              <a:gd name="connsiteX41" fmla="*/ 52472 w 587108"/>
              <a:gd name="connsiteY41" fmla="*/ 108806 h 606698"/>
              <a:gd name="connsiteX42" fmla="*/ 8988 w 587108"/>
              <a:gd name="connsiteY42" fmla="*/ 108806 h 606698"/>
              <a:gd name="connsiteX43" fmla="*/ 8988 w 587108"/>
              <a:gd name="connsiteY43" fmla="*/ 65391 h 606698"/>
              <a:gd name="connsiteX44" fmla="*/ 65532 w 587108"/>
              <a:gd name="connsiteY44" fmla="*/ 9089 h 606698"/>
              <a:gd name="connsiteX45" fmla="*/ 87274 w 587108"/>
              <a:gd name="connsiteY45" fmla="*/ 0 h 6066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87108" h="606698">
                <a:moveTo>
                  <a:pt x="201045" y="374989"/>
                </a:moveTo>
                <a:lnTo>
                  <a:pt x="401729" y="374989"/>
                </a:lnTo>
                <a:cubicBezTo>
                  <a:pt x="418786" y="374989"/>
                  <a:pt x="432462" y="388633"/>
                  <a:pt x="432462" y="405650"/>
                </a:cubicBezTo>
                <a:cubicBezTo>
                  <a:pt x="432462" y="422513"/>
                  <a:pt x="418786" y="436310"/>
                  <a:pt x="401729" y="436310"/>
                </a:cubicBezTo>
                <a:lnTo>
                  <a:pt x="201045" y="436310"/>
                </a:lnTo>
                <a:cubicBezTo>
                  <a:pt x="183988" y="436310"/>
                  <a:pt x="170312" y="422513"/>
                  <a:pt x="170312" y="405650"/>
                </a:cubicBezTo>
                <a:cubicBezTo>
                  <a:pt x="170312" y="388633"/>
                  <a:pt x="183988" y="374989"/>
                  <a:pt x="201045" y="374989"/>
                </a:cubicBezTo>
                <a:close/>
                <a:moveTo>
                  <a:pt x="201041" y="247195"/>
                </a:moveTo>
                <a:lnTo>
                  <a:pt x="539054" y="247195"/>
                </a:lnTo>
                <a:cubicBezTo>
                  <a:pt x="555955" y="247195"/>
                  <a:pt x="569783" y="260839"/>
                  <a:pt x="569783" y="277856"/>
                </a:cubicBezTo>
                <a:cubicBezTo>
                  <a:pt x="569783" y="294719"/>
                  <a:pt x="555955" y="308516"/>
                  <a:pt x="539054" y="308516"/>
                </a:cubicBezTo>
                <a:lnTo>
                  <a:pt x="201041" y="308516"/>
                </a:lnTo>
                <a:cubicBezTo>
                  <a:pt x="183986" y="308516"/>
                  <a:pt x="170312" y="294719"/>
                  <a:pt x="170312" y="277856"/>
                </a:cubicBezTo>
                <a:cubicBezTo>
                  <a:pt x="170312" y="260839"/>
                  <a:pt x="183986" y="247195"/>
                  <a:pt x="201041" y="247195"/>
                </a:cubicBezTo>
                <a:close/>
                <a:moveTo>
                  <a:pt x="201045" y="119189"/>
                </a:moveTo>
                <a:lnTo>
                  <a:pt x="356709" y="119189"/>
                </a:lnTo>
                <a:cubicBezTo>
                  <a:pt x="373612" y="119189"/>
                  <a:pt x="387442" y="133002"/>
                  <a:pt x="387442" y="149885"/>
                </a:cubicBezTo>
                <a:cubicBezTo>
                  <a:pt x="387442" y="166921"/>
                  <a:pt x="373612" y="180581"/>
                  <a:pt x="356709" y="180581"/>
                </a:cubicBezTo>
                <a:lnTo>
                  <a:pt x="201045" y="180581"/>
                </a:lnTo>
                <a:cubicBezTo>
                  <a:pt x="183988" y="180581"/>
                  <a:pt x="170312" y="166921"/>
                  <a:pt x="170312" y="149885"/>
                </a:cubicBezTo>
                <a:cubicBezTo>
                  <a:pt x="170312" y="133002"/>
                  <a:pt x="183988" y="119189"/>
                  <a:pt x="201045" y="119189"/>
                </a:cubicBezTo>
                <a:close/>
                <a:moveTo>
                  <a:pt x="87274" y="0"/>
                </a:moveTo>
                <a:cubicBezTo>
                  <a:pt x="95149" y="0"/>
                  <a:pt x="103024" y="3030"/>
                  <a:pt x="109016" y="9089"/>
                </a:cubicBezTo>
                <a:lnTo>
                  <a:pt x="165407" y="65391"/>
                </a:lnTo>
                <a:cubicBezTo>
                  <a:pt x="177546" y="77357"/>
                  <a:pt x="177546" y="96840"/>
                  <a:pt x="165407" y="108806"/>
                </a:cubicBezTo>
                <a:cubicBezTo>
                  <a:pt x="153422" y="120772"/>
                  <a:pt x="134062" y="120772"/>
                  <a:pt x="122077" y="108806"/>
                </a:cubicBezTo>
                <a:lnTo>
                  <a:pt x="117928" y="104817"/>
                </a:lnTo>
                <a:lnTo>
                  <a:pt x="117928" y="488956"/>
                </a:lnTo>
                <a:lnTo>
                  <a:pt x="482240" y="488956"/>
                </a:lnTo>
                <a:lnTo>
                  <a:pt x="478245" y="484814"/>
                </a:lnTo>
                <a:cubicBezTo>
                  <a:pt x="466107" y="472848"/>
                  <a:pt x="466107" y="453519"/>
                  <a:pt x="478245" y="441553"/>
                </a:cubicBezTo>
                <a:cubicBezTo>
                  <a:pt x="490230" y="429433"/>
                  <a:pt x="509591" y="429433"/>
                  <a:pt x="521576" y="441553"/>
                </a:cubicBezTo>
                <a:lnTo>
                  <a:pt x="578120" y="497854"/>
                </a:lnTo>
                <a:cubicBezTo>
                  <a:pt x="590105" y="509820"/>
                  <a:pt x="590105" y="529303"/>
                  <a:pt x="578120" y="541269"/>
                </a:cubicBezTo>
                <a:lnTo>
                  <a:pt x="521576" y="597724"/>
                </a:lnTo>
                <a:cubicBezTo>
                  <a:pt x="509591" y="609690"/>
                  <a:pt x="490230" y="609690"/>
                  <a:pt x="478245" y="597724"/>
                </a:cubicBezTo>
                <a:cubicBezTo>
                  <a:pt x="466107" y="585758"/>
                  <a:pt x="466107" y="566275"/>
                  <a:pt x="478245" y="554309"/>
                </a:cubicBezTo>
                <a:lnTo>
                  <a:pt x="482240" y="550320"/>
                </a:lnTo>
                <a:lnTo>
                  <a:pt x="87198" y="550320"/>
                </a:lnTo>
                <a:cubicBezTo>
                  <a:pt x="70296" y="550320"/>
                  <a:pt x="56467" y="536514"/>
                  <a:pt x="56467" y="519638"/>
                </a:cubicBezTo>
                <a:lnTo>
                  <a:pt x="56467" y="104817"/>
                </a:lnTo>
                <a:lnTo>
                  <a:pt x="52472" y="108806"/>
                </a:lnTo>
                <a:cubicBezTo>
                  <a:pt x="40487" y="120772"/>
                  <a:pt x="20973" y="120772"/>
                  <a:pt x="8988" y="108806"/>
                </a:cubicBezTo>
                <a:cubicBezTo>
                  <a:pt x="-2997" y="96840"/>
                  <a:pt x="-2997" y="77357"/>
                  <a:pt x="8988" y="65391"/>
                </a:cubicBezTo>
                <a:lnTo>
                  <a:pt x="65532" y="9089"/>
                </a:lnTo>
                <a:cubicBezTo>
                  <a:pt x="71525" y="3030"/>
                  <a:pt x="79399" y="0"/>
                  <a:pt x="872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61" name="矩形 60">
            <a:extLst>
              <a:ext uri="{FF2B5EF4-FFF2-40B4-BE49-F238E27FC236}">
                <a16:creationId xmlns:a16="http://schemas.microsoft.com/office/drawing/2014/main" id="{30BCD349-84CA-4C0E-8902-2373C68D8B4D}"/>
              </a:ext>
            </a:extLst>
          </p:cNvPr>
          <p:cNvSpPr/>
          <p:nvPr/>
        </p:nvSpPr>
        <p:spPr>
          <a:xfrm>
            <a:off x="1246899" y="3334106"/>
            <a:ext cx="1581038" cy="338554"/>
          </a:xfrm>
          <a:prstGeom prst="rect">
            <a:avLst/>
          </a:prstGeom>
        </p:spPr>
        <p:txBody>
          <a:bodyPr wrap="square">
            <a:spAutoFit/>
          </a:bodyPr>
          <a:lstStyle/>
          <a:p>
            <a:pPr>
              <a:buClr>
                <a:srgbClr val="85B2D2"/>
              </a:buClr>
            </a:pPr>
            <a:r>
              <a:rPr lang="zh-CN" altLang="en-US" sz="1600" dirty="0">
                <a:latin typeface="微软雅黑" panose="020B0503020204020204" pitchFamily="34" charset="-122"/>
                <a:ea typeface="微软雅黑" panose="020B0503020204020204" pitchFamily="34" charset="-122"/>
              </a:rPr>
              <a:t>成本方程为</a:t>
            </a:r>
          </a:p>
        </p:txBody>
      </p:sp>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52AACD40-0C94-41C7-A008-03CF8562F406}"/>
                  </a:ext>
                </a:extLst>
              </p:cNvPr>
              <p:cNvSpPr txBox="1"/>
              <p:nvPr/>
            </p:nvSpPr>
            <p:spPr>
              <a:xfrm>
                <a:off x="1169694" y="3616190"/>
                <a:ext cx="1414875"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i="1" smtClean="0">
                          <a:solidFill>
                            <a:schemeClr val="tx1"/>
                          </a:solidFill>
                          <a:latin typeface="Cambria Math" panose="02040503050406030204" pitchFamily="18" charset="0"/>
                        </a:rPr>
                        <m:t>𝐶</m:t>
                      </m:r>
                      <m:r>
                        <a:rPr lang="zh-CN" altLang="en-US" i="1" smtClean="0">
                          <a:solidFill>
                            <a:schemeClr val="tx1"/>
                          </a:solidFill>
                          <a:latin typeface="Cambria Math" panose="02040503050406030204" pitchFamily="18" charset="0"/>
                        </a:rPr>
                        <m:t>=</m:t>
                      </m:r>
                      <m:r>
                        <a:rPr lang="zh-CN" altLang="en-US" i="1" smtClean="0">
                          <a:solidFill>
                            <a:schemeClr val="tx1"/>
                          </a:solidFill>
                          <a:latin typeface="Cambria Math" panose="02040503050406030204" pitchFamily="18" charset="0"/>
                        </a:rPr>
                        <m:t>𝑊𝐿</m:t>
                      </m:r>
                      <m:r>
                        <a:rPr lang="zh-CN" altLang="en-US" i="1" smtClean="0">
                          <a:solidFill>
                            <a:schemeClr val="tx1"/>
                          </a:solidFill>
                          <a:latin typeface="Cambria Math" panose="02040503050406030204" pitchFamily="18" charset="0"/>
                        </a:rPr>
                        <m:t>+</m:t>
                      </m:r>
                      <m:r>
                        <a:rPr lang="zh-CN" altLang="en-US" i="1" smtClean="0">
                          <a:solidFill>
                            <a:schemeClr val="tx1"/>
                          </a:solidFill>
                          <a:latin typeface="Cambria Math" panose="02040503050406030204" pitchFamily="18" charset="0"/>
                        </a:rPr>
                        <m:t>𝑟𝐾</m:t>
                      </m:r>
                    </m:oMath>
                  </m:oMathPara>
                </a14:m>
                <a:endParaRPr lang="zh-CN" altLang="en-US" dirty="0">
                  <a:solidFill>
                    <a:schemeClr val="tx1"/>
                  </a:solidFill>
                </a:endParaRPr>
              </a:p>
            </p:txBody>
          </p:sp>
        </mc:Choice>
        <mc:Fallback xmlns="">
          <p:sp>
            <p:nvSpPr>
              <p:cNvPr id="62" name="文本框 61">
                <a:extLst>
                  <a:ext uri="{FF2B5EF4-FFF2-40B4-BE49-F238E27FC236}">
                    <a16:creationId xmlns:a16="http://schemas.microsoft.com/office/drawing/2014/main" id="{52AACD40-0C94-41C7-A008-03CF8562F406}"/>
                  </a:ext>
                </a:extLst>
              </p:cNvPr>
              <p:cNvSpPr txBox="1">
                <a:spLocks noRot="1" noChangeAspect="1" noMove="1" noResize="1" noEditPoints="1" noAdjustHandles="1" noChangeArrowheads="1" noChangeShapeType="1" noTextEdit="1"/>
              </p:cNvSpPr>
              <p:nvPr/>
            </p:nvSpPr>
            <p:spPr>
              <a:xfrm>
                <a:off x="1169694" y="3616190"/>
                <a:ext cx="1414875" cy="276999"/>
              </a:xfrm>
              <a:prstGeom prst="rect">
                <a:avLst/>
              </a:prstGeom>
              <a:blipFill>
                <a:blip r:embed="rId2"/>
                <a:stretch>
                  <a:fillRect l="-3448" r="-3017" b="-8696"/>
                </a:stretch>
              </a:blipFill>
            </p:spPr>
            <p:txBody>
              <a:bodyPr/>
              <a:lstStyle/>
              <a:p>
                <a:r>
                  <a:rPr lang="zh-CN" altLang="en-US">
                    <a:noFill/>
                  </a:rPr>
                  <a:t> </a:t>
                </a:r>
              </a:p>
            </p:txBody>
          </p:sp>
        </mc:Fallback>
      </mc:AlternateContent>
      <p:sp>
        <p:nvSpPr>
          <p:cNvPr id="63" name="Freeform 28">
            <a:extLst>
              <a:ext uri="{FF2B5EF4-FFF2-40B4-BE49-F238E27FC236}">
                <a16:creationId xmlns:a16="http://schemas.microsoft.com/office/drawing/2014/main" id="{554407EB-77DE-4813-8D45-A0464DEDFC66}"/>
              </a:ext>
            </a:extLst>
          </p:cNvPr>
          <p:cNvSpPr>
            <a:spLocks/>
          </p:cNvSpPr>
          <p:nvPr/>
        </p:nvSpPr>
        <p:spPr bwMode="auto">
          <a:xfrm>
            <a:off x="674410" y="4128890"/>
            <a:ext cx="3065214" cy="859069"/>
          </a:xfrm>
          <a:custGeom>
            <a:avLst/>
            <a:gdLst>
              <a:gd name="T0" fmla="*/ 206 w 273"/>
              <a:gd name="T1" fmla="*/ 0 h 232"/>
              <a:gd name="T2" fmla="*/ 240 w 273"/>
              <a:gd name="T3" fmla="*/ 17 h 232"/>
              <a:gd name="T4" fmla="*/ 273 w 273"/>
              <a:gd name="T5" fmla="*/ 61 h 232"/>
              <a:gd name="T6" fmla="*/ 273 w 273"/>
              <a:gd name="T7" fmla="*/ 61 h 232"/>
              <a:gd name="T8" fmla="*/ 273 w 273"/>
              <a:gd name="T9" fmla="*/ 171 h 232"/>
              <a:gd name="T10" fmla="*/ 240 w 273"/>
              <a:gd name="T11" fmla="*/ 215 h 232"/>
              <a:gd name="T12" fmla="*/ 206 w 273"/>
              <a:gd name="T13" fmla="*/ 232 h 232"/>
              <a:gd name="T14" fmla="*/ 0 w 273"/>
              <a:gd name="T15" fmla="*/ 232 h 232"/>
              <a:gd name="T16" fmla="*/ 0 w 273"/>
              <a:gd name="T17" fmla="*/ 0 h 232"/>
              <a:gd name="T18" fmla="*/ 206 w 273"/>
              <a:gd name="T19"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3" h="232">
                <a:moveTo>
                  <a:pt x="206" y="0"/>
                </a:moveTo>
                <a:cubicBezTo>
                  <a:pt x="220" y="0"/>
                  <a:pt x="232" y="6"/>
                  <a:pt x="240" y="17"/>
                </a:cubicBezTo>
                <a:cubicBezTo>
                  <a:pt x="273" y="61"/>
                  <a:pt x="273" y="61"/>
                  <a:pt x="273" y="61"/>
                </a:cubicBezTo>
                <a:cubicBezTo>
                  <a:pt x="273" y="61"/>
                  <a:pt x="273" y="61"/>
                  <a:pt x="273" y="61"/>
                </a:cubicBezTo>
                <a:cubicBezTo>
                  <a:pt x="246" y="93"/>
                  <a:pt x="246" y="139"/>
                  <a:pt x="273" y="171"/>
                </a:cubicBezTo>
                <a:cubicBezTo>
                  <a:pt x="240" y="215"/>
                  <a:pt x="240" y="215"/>
                  <a:pt x="240" y="215"/>
                </a:cubicBezTo>
                <a:cubicBezTo>
                  <a:pt x="232" y="226"/>
                  <a:pt x="220" y="232"/>
                  <a:pt x="206" y="232"/>
                </a:cubicBezTo>
                <a:cubicBezTo>
                  <a:pt x="0" y="232"/>
                  <a:pt x="0" y="232"/>
                  <a:pt x="0" y="232"/>
                </a:cubicBezTo>
                <a:cubicBezTo>
                  <a:pt x="0" y="0"/>
                  <a:pt x="0" y="0"/>
                  <a:pt x="0" y="0"/>
                </a:cubicBezTo>
                <a:lnTo>
                  <a:pt x="206" y="0"/>
                </a:lnTo>
                <a:close/>
              </a:path>
            </a:pathLst>
          </a:cu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40" name="椭圆 67">
            <a:extLst>
              <a:ext uri="{FF2B5EF4-FFF2-40B4-BE49-F238E27FC236}">
                <a16:creationId xmlns:a16="http://schemas.microsoft.com/office/drawing/2014/main" id="{3DDC9ED8-40F7-4E57-8DA9-4DE66CC275FA}"/>
              </a:ext>
            </a:extLst>
          </p:cNvPr>
          <p:cNvSpPr/>
          <p:nvPr/>
        </p:nvSpPr>
        <p:spPr>
          <a:xfrm>
            <a:off x="2981640" y="4362611"/>
            <a:ext cx="393854" cy="380334"/>
          </a:xfrm>
          <a:custGeom>
            <a:avLst/>
            <a:gdLst>
              <a:gd name="connsiteX0" fmla="*/ 35700 w 578738"/>
              <a:gd name="connsiteY0" fmla="*/ 243554 h 561315"/>
              <a:gd name="connsiteX1" fmla="*/ 30383 w 578738"/>
              <a:gd name="connsiteY1" fmla="*/ 254930 h 561315"/>
              <a:gd name="connsiteX2" fmla="*/ 30383 w 578738"/>
              <a:gd name="connsiteY2" fmla="*/ 519604 h 561315"/>
              <a:gd name="connsiteX3" fmla="*/ 35700 w 578738"/>
              <a:gd name="connsiteY3" fmla="*/ 530980 h 561315"/>
              <a:gd name="connsiteX4" fmla="*/ 132926 w 578738"/>
              <a:gd name="connsiteY4" fmla="*/ 530980 h 561315"/>
              <a:gd name="connsiteX5" fmla="*/ 138243 w 578738"/>
              <a:gd name="connsiteY5" fmla="*/ 519604 h 561315"/>
              <a:gd name="connsiteX6" fmla="*/ 138243 w 578738"/>
              <a:gd name="connsiteY6" fmla="*/ 254930 h 561315"/>
              <a:gd name="connsiteX7" fmla="*/ 132926 w 578738"/>
              <a:gd name="connsiteY7" fmla="*/ 243554 h 561315"/>
              <a:gd name="connsiteX8" fmla="*/ 35700 w 578738"/>
              <a:gd name="connsiteY8" fmla="*/ 213219 h 561315"/>
              <a:gd name="connsiteX9" fmla="*/ 132926 w 578738"/>
              <a:gd name="connsiteY9" fmla="*/ 213219 h 561315"/>
              <a:gd name="connsiteX10" fmla="*/ 168626 w 578738"/>
              <a:gd name="connsiteY10" fmla="*/ 254930 h 561315"/>
              <a:gd name="connsiteX11" fmla="*/ 168626 w 578738"/>
              <a:gd name="connsiteY11" fmla="*/ 519604 h 561315"/>
              <a:gd name="connsiteX12" fmla="*/ 132926 w 578738"/>
              <a:gd name="connsiteY12" fmla="*/ 561315 h 561315"/>
              <a:gd name="connsiteX13" fmla="*/ 35700 w 578738"/>
              <a:gd name="connsiteY13" fmla="*/ 561315 h 561315"/>
              <a:gd name="connsiteX14" fmla="*/ 0 w 578738"/>
              <a:gd name="connsiteY14" fmla="*/ 519604 h 561315"/>
              <a:gd name="connsiteX15" fmla="*/ 0 w 578738"/>
              <a:gd name="connsiteY15" fmla="*/ 254930 h 561315"/>
              <a:gd name="connsiteX16" fmla="*/ 35700 w 578738"/>
              <a:gd name="connsiteY16" fmla="*/ 213219 h 561315"/>
              <a:gd name="connsiteX17" fmla="*/ 321281 w 578738"/>
              <a:gd name="connsiteY17" fmla="*/ 30341 h 561315"/>
              <a:gd name="connsiteX18" fmla="*/ 296219 w 578738"/>
              <a:gd name="connsiteY18" fmla="*/ 55373 h 561315"/>
              <a:gd name="connsiteX19" fmla="*/ 296979 w 578738"/>
              <a:gd name="connsiteY19" fmla="*/ 60683 h 561315"/>
              <a:gd name="connsiteX20" fmla="*/ 296979 w 578738"/>
              <a:gd name="connsiteY20" fmla="*/ 65992 h 561315"/>
              <a:gd name="connsiteX21" fmla="*/ 268119 w 578738"/>
              <a:gd name="connsiteY21" fmla="*/ 212389 h 561315"/>
              <a:gd name="connsiteX22" fmla="*/ 263563 w 578738"/>
              <a:gd name="connsiteY22" fmla="*/ 221492 h 561315"/>
              <a:gd name="connsiteX23" fmla="*/ 262044 w 578738"/>
              <a:gd name="connsiteY23" fmla="*/ 223009 h 561315"/>
              <a:gd name="connsiteX24" fmla="*/ 232425 w 578738"/>
              <a:gd name="connsiteY24" fmla="*/ 240455 h 561315"/>
              <a:gd name="connsiteX25" fmla="*/ 230146 w 578738"/>
              <a:gd name="connsiteY25" fmla="*/ 240455 h 561315"/>
              <a:gd name="connsiteX26" fmla="*/ 225590 w 578738"/>
              <a:gd name="connsiteY26" fmla="*/ 240455 h 561315"/>
              <a:gd name="connsiteX27" fmla="*/ 224071 w 578738"/>
              <a:gd name="connsiteY27" fmla="*/ 241214 h 561315"/>
              <a:gd name="connsiteX28" fmla="*/ 211919 w 578738"/>
              <a:gd name="connsiteY28" fmla="*/ 253350 h 561315"/>
              <a:gd name="connsiteX29" fmla="*/ 211919 w 578738"/>
              <a:gd name="connsiteY29" fmla="*/ 518079 h 561315"/>
              <a:gd name="connsiteX30" fmla="*/ 224830 w 578738"/>
              <a:gd name="connsiteY30" fmla="*/ 530974 h 561315"/>
              <a:gd name="connsiteX31" fmla="*/ 521019 w 578738"/>
              <a:gd name="connsiteY31" fmla="*/ 530974 h 561315"/>
              <a:gd name="connsiteX32" fmla="*/ 522538 w 578738"/>
              <a:gd name="connsiteY32" fmla="*/ 530215 h 561315"/>
              <a:gd name="connsiteX33" fmla="*/ 546081 w 578738"/>
              <a:gd name="connsiteY33" fmla="*/ 505942 h 561315"/>
              <a:gd name="connsiteX34" fmla="*/ 522538 w 578738"/>
              <a:gd name="connsiteY34" fmla="*/ 480910 h 561315"/>
              <a:gd name="connsiteX35" fmla="*/ 508108 w 578738"/>
              <a:gd name="connsiteY35" fmla="*/ 465740 h 561315"/>
              <a:gd name="connsiteX36" fmla="*/ 523298 w 578738"/>
              <a:gd name="connsiteY36" fmla="*/ 450569 h 561315"/>
              <a:gd name="connsiteX37" fmla="*/ 548360 w 578738"/>
              <a:gd name="connsiteY37" fmla="*/ 425537 h 561315"/>
              <a:gd name="connsiteX38" fmla="*/ 523298 w 578738"/>
              <a:gd name="connsiteY38" fmla="*/ 401264 h 561315"/>
              <a:gd name="connsiteX39" fmla="*/ 508108 w 578738"/>
              <a:gd name="connsiteY39" fmla="*/ 386094 h 561315"/>
              <a:gd name="connsiteX40" fmla="*/ 523298 w 578738"/>
              <a:gd name="connsiteY40" fmla="*/ 370923 h 561315"/>
              <a:gd name="connsiteX41" fmla="*/ 548360 w 578738"/>
              <a:gd name="connsiteY41" fmla="*/ 345891 h 561315"/>
              <a:gd name="connsiteX42" fmla="*/ 523298 w 578738"/>
              <a:gd name="connsiteY42" fmla="*/ 320860 h 561315"/>
              <a:gd name="connsiteX43" fmla="*/ 508108 w 578738"/>
              <a:gd name="connsiteY43" fmla="*/ 305689 h 561315"/>
              <a:gd name="connsiteX44" fmla="*/ 523298 w 578738"/>
              <a:gd name="connsiteY44" fmla="*/ 290518 h 561315"/>
              <a:gd name="connsiteX45" fmla="*/ 548360 w 578738"/>
              <a:gd name="connsiteY45" fmla="*/ 265487 h 561315"/>
              <a:gd name="connsiteX46" fmla="*/ 523298 w 578738"/>
              <a:gd name="connsiteY46" fmla="*/ 240455 h 561315"/>
              <a:gd name="connsiteX47" fmla="*/ 373684 w 578738"/>
              <a:gd name="connsiteY47" fmla="*/ 240455 h 561315"/>
              <a:gd name="connsiteX48" fmla="*/ 361533 w 578738"/>
              <a:gd name="connsiteY48" fmla="*/ 234387 h 561315"/>
              <a:gd name="connsiteX49" fmla="*/ 360014 w 578738"/>
              <a:gd name="connsiteY49" fmla="*/ 219975 h 561315"/>
              <a:gd name="connsiteX50" fmla="*/ 343306 w 578738"/>
              <a:gd name="connsiteY50" fmla="*/ 42478 h 561315"/>
              <a:gd name="connsiteX51" fmla="*/ 341787 w 578738"/>
              <a:gd name="connsiteY51" fmla="*/ 40961 h 561315"/>
              <a:gd name="connsiteX52" fmla="*/ 321281 w 578738"/>
              <a:gd name="connsiteY52" fmla="*/ 30341 h 561315"/>
              <a:gd name="connsiteX53" fmla="*/ 321281 w 578738"/>
              <a:gd name="connsiteY53" fmla="*/ 0 h 561315"/>
              <a:gd name="connsiteX54" fmla="*/ 365330 w 578738"/>
              <a:gd name="connsiteY54" fmla="*/ 21997 h 561315"/>
              <a:gd name="connsiteX55" fmla="*/ 395708 w 578738"/>
              <a:gd name="connsiteY55" fmla="*/ 210114 h 561315"/>
              <a:gd name="connsiteX56" fmla="*/ 523298 w 578738"/>
              <a:gd name="connsiteY56" fmla="*/ 210114 h 561315"/>
              <a:gd name="connsiteX57" fmla="*/ 562789 w 578738"/>
              <a:gd name="connsiteY57" fmla="*/ 226802 h 561315"/>
              <a:gd name="connsiteX58" fmla="*/ 578738 w 578738"/>
              <a:gd name="connsiteY58" fmla="*/ 265487 h 561315"/>
              <a:gd name="connsiteX59" fmla="*/ 561270 w 578738"/>
              <a:gd name="connsiteY59" fmla="*/ 305689 h 561315"/>
              <a:gd name="connsiteX60" fmla="*/ 578738 w 578738"/>
              <a:gd name="connsiteY60" fmla="*/ 345891 h 561315"/>
              <a:gd name="connsiteX61" fmla="*/ 561270 w 578738"/>
              <a:gd name="connsiteY61" fmla="*/ 386094 h 561315"/>
              <a:gd name="connsiteX62" fmla="*/ 578738 w 578738"/>
              <a:gd name="connsiteY62" fmla="*/ 425537 h 561315"/>
              <a:gd name="connsiteX63" fmla="*/ 560511 w 578738"/>
              <a:gd name="connsiteY63" fmla="*/ 466498 h 561315"/>
              <a:gd name="connsiteX64" fmla="*/ 576460 w 578738"/>
              <a:gd name="connsiteY64" fmla="*/ 505942 h 561315"/>
              <a:gd name="connsiteX65" fmla="*/ 527095 w 578738"/>
              <a:gd name="connsiteY65" fmla="*/ 560556 h 561315"/>
              <a:gd name="connsiteX66" fmla="*/ 523298 w 578738"/>
              <a:gd name="connsiteY66" fmla="*/ 561315 h 561315"/>
              <a:gd name="connsiteX67" fmla="*/ 224830 w 578738"/>
              <a:gd name="connsiteY67" fmla="*/ 561315 h 561315"/>
              <a:gd name="connsiteX68" fmla="*/ 181541 w 578738"/>
              <a:gd name="connsiteY68" fmla="*/ 518079 h 561315"/>
              <a:gd name="connsiteX69" fmla="*/ 181541 w 578738"/>
              <a:gd name="connsiteY69" fmla="*/ 253350 h 561315"/>
              <a:gd name="connsiteX70" fmla="*/ 222552 w 578738"/>
              <a:gd name="connsiteY70" fmla="*/ 210872 h 561315"/>
              <a:gd name="connsiteX71" fmla="*/ 224830 w 578738"/>
              <a:gd name="connsiteY71" fmla="*/ 210114 h 561315"/>
              <a:gd name="connsiteX72" fmla="*/ 229387 w 578738"/>
              <a:gd name="connsiteY72" fmla="*/ 210114 h 561315"/>
              <a:gd name="connsiteX73" fmla="*/ 237741 w 578738"/>
              <a:gd name="connsiteY73" fmla="*/ 205563 h 561315"/>
              <a:gd name="connsiteX74" fmla="*/ 240779 w 578738"/>
              <a:gd name="connsiteY74" fmla="*/ 198736 h 561315"/>
              <a:gd name="connsiteX75" fmla="*/ 266600 w 578738"/>
              <a:gd name="connsiteY75" fmla="*/ 66751 h 561315"/>
              <a:gd name="connsiteX76" fmla="*/ 266600 w 578738"/>
              <a:gd name="connsiteY76" fmla="*/ 60683 h 561315"/>
              <a:gd name="connsiteX77" fmla="*/ 265841 w 578738"/>
              <a:gd name="connsiteY77" fmla="*/ 55373 h 561315"/>
              <a:gd name="connsiteX78" fmla="*/ 321281 w 578738"/>
              <a:gd name="connsiteY78" fmla="*/ 0 h 56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578738" h="561315">
                <a:moveTo>
                  <a:pt x="35700" y="243554"/>
                </a:moveTo>
                <a:cubicBezTo>
                  <a:pt x="34181" y="243554"/>
                  <a:pt x="30383" y="248104"/>
                  <a:pt x="30383" y="254930"/>
                </a:cubicBezTo>
                <a:lnTo>
                  <a:pt x="30383" y="519604"/>
                </a:lnTo>
                <a:cubicBezTo>
                  <a:pt x="30383" y="526430"/>
                  <a:pt x="34181" y="530980"/>
                  <a:pt x="35700" y="530980"/>
                </a:cubicBezTo>
                <a:lnTo>
                  <a:pt x="132926" y="530980"/>
                </a:lnTo>
                <a:cubicBezTo>
                  <a:pt x="134445" y="530980"/>
                  <a:pt x="138243" y="526430"/>
                  <a:pt x="138243" y="519604"/>
                </a:cubicBezTo>
                <a:lnTo>
                  <a:pt x="138243" y="254930"/>
                </a:lnTo>
                <a:cubicBezTo>
                  <a:pt x="138243" y="248104"/>
                  <a:pt x="134445" y="243554"/>
                  <a:pt x="132926" y="243554"/>
                </a:cubicBezTo>
                <a:close/>
                <a:moveTo>
                  <a:pt x="35700" y="213219"/>
                </a:moveTo>
                <a:lnTo>
                  <a:pt x="132926" y="213219"/>
                </a:lnTo>
                <a:cubicBezTo>
                  <a:pt x="152675" y="213219"/>
                  <a:pt x="168626" y="231420"/>
                  <a:pt x="168626" y="254930"/>
                </a:cubicBezTo>
                <a:lnTo>
                  <a:pt x="168626" y="519604"/>
                </a:lnTo>
                <a:cubicBezTo>
                  <a:pt x="168626" y="542356"/>
                  <a:pt x="152675" y="561315"/>
                  <a:pt x="132926" y="561315"/>
                </a:cubicBezTo>
                <a:lnTo>
                  <a:pt x="35700" y="561315"/>
                </a:lnTo>
                <a:cubicBezTo>
                  <a:pt x="15951" y="561315"/>
                  <a:pt x="0" y="542356"/>
                  <a:pt x="0" y="519604"/>
                </a:cubicBezTo>
                <a:lnTo>
                  <a:pt x="0" y="254930"/>
                </a:lnTo>
                <a:cubicBezTo>
                  <a:pt x="0" y="231420"/>
                  <a:pt x="15951" y="213219"/>
                  <a:pt x="35700" y="213219"/>
                </a:cubicBezTo>
                <a:close/>
                <a:moveTo>
                  <a:pt x="321281" y="30341"/>
                </a:moveTo>
                <a:cubicBezTo>
                  <a:pt x="307611" y="30341"/>
                  <a:pt x="296219" y="41719"/>
                  <a:pt x="296219" y="55373"/>
                </a:cubicBezTo>
                <a:cubicBezTo>
                  <a:pt x="296219" y="56890"/>
                  <a:pt x="296979" y="59166"/>
                  <a:pt x="296979" y="60683"/>
                </a:cubicBezTo>
                <a:cubicBezTo>
                  <a:pt x="297738" y="62200"/>
                  <a:pt x="297738" y="64475"/>
                  <a:pt x="296979" y="65992"/>
                </a:cubicBezTo>
                <a:cubicBezTo>
                  <a:pt x="306852" y="119090"/>
                  <a:pt x="287106" y="174463"/>
                  <a:pt x="268119" y="212389"/>
                </a:cubicBezTo>
                <a:cubicBezTo>
                  <a:pt x="266600" y="215424"/>
                  <a:pt x="265081" y="218458"/>
                  <a:pt x="263563" y="221492"/>
                </a:cubicBezTo>
                <a:cubicBezTo>
                  <a:pt x="263563" y="221492"/>
                  <a:pt x="262803" y="222250"/>
                  <a:pt x="262044" y="223009"/>
                </a:cubicBezTo>
                <a:cubicBezTo>
                  <a:pt x="255209" y="232870"/>
                  <a:pt x="244576" y="238938"/>
                  <a:pt x="232425" y="240455"/>
                </a:cubicBezTo>
                <a:cubicBezTo>
                  <a:pt x="231665" y="240455"/>
                  <a:pt x="230906" y="240455"/>
                  <a:pt x="230146" y="240455"/>
                </a:cubicBezTo>
                <a:lnTo>
                  <a:pt x="225590" y="240455"/>
                </a:lnTo>
                <a:cubicBezTo>
                  <a:pt x="225590" y="241214"/>
                  <a:pt x="224830" y="241214"/>
                  <a:pt x="224071" y="241214"/>
                </a:cubicBezTo>
                <a:cubicBezTo>
                  <a:pt x="217236" y="241214"/>
                  <a:pt x="211919" y="246524"/>
                  <a:pt x="211919" y="253350"/>
                </a:cubicBezTo>
                <a:lnTo>
                  <a:pt x="211919" y="518079"/>
                </a:lnTo>
                <a:cubicBezTo>
                  <a:pt x="211919" y="524905"/>
                  <a:pt x="217995" y="530974"/>
                  <a:pt x="224830" y="530974"/>
                </a:cubicBezTo>
                <a:lnTo>
                  <a:pt x="521019" y="530974"/>
                </a:lnTo>
                <a:cubicBezTo>
                  <a:pt x="521779" y="530974"/>
                  <a:pt x="521779" y="530215"/>
                  <a:pt x="522538" y="530215"/>
                </a:cubicBezTo>
                <a:cubicBezTo>
                  <a:pt x="536208" y="530215"/>
                  <a:pt x="546081" y="518837"/>
                  <a:pt x="546081" y="505942"/>
                </a:cubicBezTo>
                <a:cubicBezTo>
                  <a:pt x="546081" y="493047"/>
                  <a:pt x="536208" y="481669"/>
                  <a:pt x="522538" y="480910"/>
                </a:cubicBezTo>
                <a:cubicBezTo>
                  <a:pt x="514943" y="480910"/>
                  <a:pt x="508108" y="474084"/>
                  <a:pt x="508108" y="465740"/>
                </a:cubicBezTo>
                <a:cubicBezTo>
                  <a:pt x="508108" y="457396"/>
                  <a:pt x="514943" y="450569"/>
                  <a:pt x="523298" y="450569"/>
                </a:cubicBezTo>
                <a:cubicBezTo>
                  <a:pt x="536968" y="450569"/>
                  <a:pt x="548360" y="439191"/>
                  <a:pt x="548360" y="425537"/>
                </a:cubicBezTo>
                <a:cubicBezTo>
                  <a:pt x="548360" y="411884"/>
                  <a:pt x="536968" y="401264"/>
                  <a:pt x="523298" y="401264"/>
                </a:cubicBezTo>
                <a:cubicBezTo>
                  <a:pt x="514943" y="401264"/>
                  <a:pt x="508108" y="394438"/>
                  <a:pt x="508108" y="386094"/>
                </a:cubicBezTo>
                <a:cubicBezTo>
                  <a:pt x="508108" y="377750"/>
                  <a:pt x="514943" y="370923"/>
                  <a:pt x="523298" y="370923"/>
                </a:cubicBezTo>
                <a:cubicBezTo>
                  <a:pt x="536968" y="370923"/>
                  <a:pt x="548360" y="359545"/>
                  <a:pt x="548360" y="345891"/>
                </a:cubicBezTo>
                <a:cubicBezTo>
                  <a:pt x="548360" y="332238"/>
                  <a:pt x="536968" y="320860"/>
                  <a:pt x="523298" y="320860"/>
                </a:cubicBezTo>
                <a:cubicBezTo>
                  <a:pt x="514943" y="320860"/>
                  <a:pt x="508108" y="314033"/>
                  <a:pt x="508108" y="305689"/>
                </a:cubicBezTo>
                <a:cubicBezTo>
                  <a:pt x="508108" y="297345"/>
                  <a:pt x="514943" y="290518"/>
                  <a:pt x="523298" y="290518"/>
                </a:cubicBezTo>
                <a:cubicBezTo>
                  <a:pt x="536968" y="290518"/>
                  <a:pt x="548360" y="279140"/>
                  <a:pt x="548360" y="265487"/>
                </a:cubicBezTo>
                <a:cubicBezTo>
                  <a:pt x="548360" y="251833"/>
                  <a:pt x="536968" y="240455"/>
                  <a:pt x="523298" y="240455"/>
                </a:cubicBezTo>
                <a:lnTo>
                  <a:pt x="373684" y="240455"/>
                </a:lnTo>
                <a:cubicBezTo>
                  <a:pt x="369127" y="240455"/>
                  <a:pt x="363811" y="238180"/>
                  <a:pt x="361533" y="234387"/>
                </a:cubicBezTo>
                <a:cubicBezTo>
                  <a:pt x="358495" y="229836"/>
                  <a:pt x="357735" y="224526"/>
                  <a:pt x="360014" y="219975"/>
                </a:cubicBezTo>
                <a:cubicBezTo>
                  <a:pt x="401784" y="120607"/>
                  <a:pt x="349381" y="50822"/>
                  <a:pt x="343306" y="42478"/>
                </a:cubicBezTo>
                <a:cubicBezTo>
                  <a:pt x="342546" y="42478"/>
                  <a:pt x="341787" y="41719"/>
                  <a:pt x="341787" y="40961"/>
                </a:cubicBezTo>
                <a:cubicBezTo>
                  <a:pt x="336471" y="34134"/>
                  <a:pt x="329635" y="30341"/>
                  <a:pt x="321281" y="30341"/>
                </a:cubicBezTo>
                <a:close/>
                <a:moveTo>
                  <a:pt x="321281" y="0"/>
                </a:moveTo>
                <a:cubicBezTo>
                  <a:pt x="338749" y="0"/>
                  <a:pt x="354698" y="8344"/>
                  <a:pt x="365330" y="21997"/>
                </a:cubicBezTo>
                <a:cubicBezTo>
                  <a:pt x="368368" y="25032"/>
                  <a:pt x="431403" y="99368"/>
                  <a:pt x="395708" y="210114"/>
                </a:cubicBezTo>
                <a:lnTo>
                  <a:pt x="523298" y="210114"/>
                </a:lnTo>
                <a:cubicBezTo>
                  <a:pt x="538487" y="210114"/>
                  <a:pt x="552157" y="216182"/>
                  <a:pt x="562789" y="226802"/>
                </a:cubicBezTo>
                <a:cubicBezTo>
                  <a:pt x="572662" y="237421"/>
                  <a:pt x="578738" y="251075"/>
                  <a:pt x="578738" y="265487"/>
                </a:cubicBezTo>
                <a:cubicBezTo>
                  <a:pt x="578738" y="281416"/>
                  <a:pt x="571903" y="295828"/>
                  <a:pt x="561270" y="305689"/>
                </a:cubicBezTo>
                <a:cubicBezTo>
                  <a:pt x="571903" y="315550"/>
                  <a:pt x="578738" y="329962"/>
                  <a:pt x="578738" y="345891"/>
                </a:cubicBezTo>
                <a:cubicBezTo>
                  <a:pt x="578738" y="361821"/>
                  <a:pt x="571903" y="375474"/>
                  <a:pt x="561270" y="386094"/>
                </a:cubicBezTo>
                <a:cubicBezTo>
                  <a:pt x="571903" y="395955"/>
                  <a:pt x="578738" y="410367"/>
                  <a:pt x="578738" y="425537"/>
                </a:cubicBezTo>
                <a:cubicBezTo>
                  <a:pt x="578738" y="442225"/>
                  <a:pt x="571903" y="456637"/>
                  <a:pt x="560511" y="466498"/>
                </a:cubicBezTo>
                <a:cubicBezTo>
                  <a:pt x="570384" y="477118"/>
                  <a:pt x="576460" y="490771"/>
                  <a:pt x="576460" y="505942"/>
                </a:cubicBezTo>
                <a:cubicBezTo>
                  <a:pt x="576460" y="534008"/>
                  <a:pt x="555195" y="557522"/>
                  <a:pt x="527095" y="560556"/>
                </a:cubicBezTo>
                <a:cubicBezTo>
                  <a:pt x="525576" y="560556"/>
                  <a:pt x="524816" y="561315"/>
                  <a:pt x="523298" y="561315"/>
                </a:cubicBezTo>
                <a:lnTo>
                  <a:pt x="224830" y="561315"/>
                </a:lnTo>
                <a:cubicBezTo>
                  <a:pt x="201287" y="561315"/>
                  <a:pt x="181541" y="541593"/>
                  <a:pt x="181541" y="518079"/>
                </a:cubicBezTo>
                <a:lnTo>
                  <a:pt x="181541" y="253350"/>
                </a:lnTo>
                <a:cubicBezTo>
                  <a:pt x="181541" y="230594"/>
                  <a:pt x="199768" y="211631"/>
                  <a:pt x="222552" y="210872"/>
                </a:cubicBezTo>
                <a:cubicBezTo>
                  <a:pt x="223311" y="210872"/>
                  <a:pt x="224071" y="210114"/>
                  <a:pt x="224830" y="210114"/>
                </a:cubicBezTo>
                <a:lnTo>
                  <a:pt x="229387" y="210114"/>
                </a:lnTo>
                <a:cubicBezTo>
                  <a:pt x="232425" y="210114"/>
                  <a:pt x="235463" y="208597"/>
                  <a:pt x="237741" y="205563"/>
                </a:cubicBezTo>
                <a:cubicBezTo>
                  <a:pt x="238500" y="203287"/>
                  <a:pt x="240019" y="201011"/>
                  <a:pt x="240779" y="198736"/>
                </a:cubicBezTo>
                <a:cubicBezTo>
                  <a:pt x="255209" y="170670"/>
                  <a:pt x="277233" y="115297"/>
                  <a:pt x="266600" y="66751"/>
                </a:cubicBezTo>
                <a:cubicBezTo>
                  <a:pt x="265841" y="65234"/>
                  <a:pt x="265841" y="62958"/>
                  <a:pt x="266600" y="60683"/>
                </a:cubicBezTo>
                <a:cubicBezTo>
                  <a:pt x="265841" y="59166"/>
                  <a:pt x="265841" y="56890"/>
                  <a:pt x="265841" y="55373"/>
                </a:cubicBezTo>
                <a:cubicBezTo>
                  <a:pt x="265841" y="25032"/>
                  <a:pt x="290903" y="0"/>
                  <a:pt x="32128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64" name="矩形 63">
            <a:extLst>
              <a:ext uri="{FF2B5EF4-FFF2-40B4-BE49-F238E27FC236}">
                <a16:creationId xmlns:a16="http://schemas.microsoft.com/office/drawing/2014/main" id="{530F3CB1-E5DB-4CF8-817A-E3E807B2700D}"/>
              </a:ext>
            </a:extLst>
          </p:cNvPr>
          <p:cNvSpPr/>
          <p:nvPr/>
        </p:nvSpPr>
        <p:spPr>
          <a:xfrm>
            <a:off x="758005" y="4145915"/>
            <a:ext cx="2191817" cy="840020"/>
          </a:xfrm>
          <a:prstGeom prst="rect">
            <a:avLst/>
          </a:prstGeom>
        </p:spPr>
        <p:txBody>
          <a:bodyPr wrap="square">
            <a:spAutoFit/>
          </a:bodyPr>
          <a:lstStyle/>
          <a:p>
            <a:pPr>
              <a:buClr>
                <a:srgbClr val="85B2D2"/>
              </a:buClr>
            </a:pPr>
            <a:r>
              <a:rPr lang="zh-CN" altLang="en-US" sz="1600" dirty="0">
                <a:latin typeface="微软雅黑" panose="020B0503020204020204" pitchFamily="34" charset="-122"/>
                <a:ea typeface="微软雅黑" panose="020B0503020204020204" pitchFamily="34" charset="-122"/>
              </a:rPr>
              <a:t>在生产要素空间描绘成本方程，C为常数</a:t>
            </a:r>
            <a:r>
              <a:rPr lang="en-US" altLang="zh-CN" sz="1600" dirty="0">
                <a:sym typeface="Wingdings" panose="05000000000000000000" pitchFamily="2" charset="2"/>
              </a:rPr>
              <a:t></a:t>
            </a:r>
            <a:r>
              <a:rPr lang="zh-CN" altLang="en-US" sz="1600" dirty="0">
                <a:latin typeface="微软雅黑" panose="020B0503020204020204" pitchFamily="34" charset="-122"/>
                <a:ea typeface="微软雅黑" panose="020B0503020204020204" pitchFamily="34" charset="-122"/>
              </a:rPr>
              <a:t>等成本方程</a:t>
            </a:r>
          </a:p>
        </p:txBody>
      </p:sp>
      <p:sp>
        <p:nvSpPr>
          <p:cNvPr id="65" name="矩形 64">
            <a:extLst>
              <a:ext uri="{FF2B5EF4-FFF2-40B4-BE49-F238E27FC236}">
                <a16:creationId xmlns:a16="http://schemas.microsoft.com/office/drawing/2014/main" id="{E7DE92A3-4431-4065-BF9E-3D8F32671DD1}"/>
              </a:ext>
            </a:extLst>
          </p:cNvPr>
          <p:cNvSpPr/>
          <p:nvPr/>
        </p:nvSpPr>
        <p:spPr>
          <a:xfrm>
            <a:off x="4746887" y="1472290"/>
            <a:ext cx="2129369" cy="584775"/>
          </a:xfrm>
          <a:prstGeom prst="rect">
            <a:avLst/>
          </a:prstGeom>
        </p:spPr>
        <p:txBody>
          <a:bodyPr wrap="square">
            <a:spAutoFit/>
          </a:bodyPr>
          <a:lstStyle/>
          <a:p>
            <a:pPr>
              <a:buClr>
                <a:srgbClr val="85B2D2"/>
              </a:buClr>
            </a:pPr>
            <a:r>
              <a:rPr lang="zh-CN" altLang="en-US" sz="1600" dirty="0">
                <a:latin typeface="微软雅黑" panose="020B0503020204020204" pitchFamily="34" charset="-122"/>
                <a:ea typeface="微软雅黑" panose="020B0503020204020204" pitchFamily="34" charset="-122"/>
              </a:rPr>
              <a:t>等成本方程：相同成本下K和L的各种组合</a:t>
            </a:r>
          </a:p>
        </p:txBody>
      </p:sp>
      <p:sp>
        <p:nvSpPr>
          <p:cNvPr id="66" name="Freeform 17">
            <a:extLst>
              <a:ext uri="{FF2B5EF4-FFF2-40B4-BE49-F238E27FC236}">
                <a16:creationId xmlns:a16="http://schemas.microsoft.com/office/drawing/2014/main" id="{206F7FF6-2FFA-4249-9D54-8EE32EBEF0E2}"/>
              </a:ext>
            </a:extLst>
          </p:cNvPr>
          <p:cNvSpPr>
            <a:spLocks/>
          </p:cNvSpPr>
          <p:nvPr/>
        </p:nvSpPr>
        <p:spPr bwMode="auto">
          <a:xfrm>
            <a:off x="3946360" y="2346453"/>
            <a:ext cx="2929896" cy="673100"/>
          </a:xfrm>
          <a:custGeom>
            <a:avLst/>
            <a:gdLst>
              <a:gd name="T0" fmla="*/ 66 w 273"/>
              <a:gd name="T1" fmla="*/ 0 h 232"/>
              <a:gd name="T2" fmla="*/ 32 w 273"/>
              <a:gd name="T3" fmla="*/ 17 h 232"/>
              <a:gd name="T4" fmla="*/ 0 w 273"/>
              <a:gd name="T5" fmla="*/ 61 h 232"/>
              <a:gd name="T6" fmla="*/ 0 w 273"/>
              <a:gd name="T7" fmla="*/ 61 h 232"/>
              <a:gd name="T8" fmla="*/ 0 w 273"/>
              <a:gd name="T9" fmla="*/ 171 h 232"/>
              <a:gd name="T10" fmla="*/ 32 w 273"/>
              <a:gd name="T11" fmla="*/ 215 h 232"/>
              <a:gd name="T12" fmla="*/ 66 w 273"/>
              <a:gd name="T13" fmla="*/ 232 h 232"/>
              <a:gd name="T14" fmla="*/ 273 w 273"/>
              <a:gd name="T15" fmla="*/ 232 h 232"/>
              <a:gd name="T16" fmla="*/ 273 w 273"/>
              <a:gd name="T17" fmla="*/ 0 h 232"/>
              <a:gd name="T18" fmla="*/ 66 w 273"/>
              <a:gd name="T19" fmla="*/ 0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3" h="232">
                <a:moveTo>
                  <a:pt x="66" y="0"/>
                </a:moveTo>
                <a:cubicBezTo>
                  <a:pt x="52" y="0"/>
                  <a:pt x="40" y="7"/>
                  <a:pt x="32" y="17"/>
                </a:cubicBezTo>
                <a:cubicBezTo>
                  <a:pt x="0" y="61"/>
                  <a:pt x="0" y="61"/>
                  <a:pt x="0" y="61"/>
                </a:cubicBezTo>
                <a:cubicBezTo>
                  <a:pt x="0" y="61"/>
                  <a:pt x="0" y="61"/>
                  <a:pt x="0" y="61"/>
                </a:cubicBezTo>
                <a:cubicBezTo>
                  <a:pt x="27" y="93"/>
                  <a:pt x="27" y="139"/>
                  <a:pt x="0" y="171"/>
                </a:cubicBezTo>
                <a:cubicBezTo>
                  <a:pt x="32" y="215"/>
                  <a:pt x="32" y="215"/>
                  <a:pt x="32" y="215"/>
                </a:cubicBezTo>
                <a:cubicBezTo>
                  <a:pt x="40" y="226"/>
                  <a:pt x="52" y="232"/>
                  <a:pt x="66" y="232"/>
                </a:cubicBezTo>
                <a:cubicBezTo>
                  <a:pt x="273" y="232"/>
                  <a:pt x="273" y="232"/>
                  <a:pt x="273" y="232"/>
                </a:cubicBezTo>
                <a:cubicBezTo>
                  <a:pt x="273" y="0"/>
                  <a:pt x="273" y="0"/>
                  <a:pt x="273" y="0"/>
                </a:cubicBezTo>
                <a:lnTo>
                  <a:pt x="66" y="0"/>
                </a:lnTo>
                <a:close/>
              </a:path>
            </a:pathLst>
          </a:cu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solidFill>
            </a:endParaRPr>
          </a:p>
        </p:txBody>
      </p:sp>
      <p:sp>
        <p:nvSpPr>
          <p:cNvPr id="42" name="椭圆 69">
            <a:extLst>
              <a:ext uri="{FF2B5EF4-FFF2-40B4-BE49-F238E27FC236}">
                <a16:creationId xmlns:a16="http://schemas.microsoft.com/office/drawing/2014/main" id="{61FF7979-F19A-47D9-8493-76C988578D4D}"/>
              </a:ext>
            </a:extLst>
          </p:cNvPr>
          <p:cNvSpPr/>
          <p:nvPr/>
        </p:nvSpPr>
        <p:spPr>
          <a:xfrm>
            <a:off x="4318844" y="2527587"/>
            <a:ext cx="387928" cy="330353"/>
          </a:xfrm>
          <a:custGeom>
            <a:avLst/>
            <a:gdLst>
              <a:gd name="connsiteX0" fmla="*/ 303714 w 607639"/>
              <a:gd name="connsiteY0" fmla="*/ 173520 h 517456"/>
              <a:gd name="connsiteX1" fmla="*/ 337586 w 607639"/>
              <a:gd name="connsiteY1" fmla="*/ 207321 h 517456"/>
              <a:gd name="connsiteX2" fmla="*/ 303714 w 607639"/>
              <a:gd name="connsiteY2" fmla="*/ 241122 h 517456"/>
              <a:gd name="connsiteX3" fmla="*/ 269842 w 607639"/>
              <a:gd name="connsiteY3" fmla="*/ 207321 h 517456"/>
              <a:gd name="connsiteX4" fmla="*/ 303714 w 607639"/>
              <a:gd name="connsiteY4" fmla="*/ 173520 h 517456"/>
              <a:gd name="connsiteX5" fmla="*/ 303758 w 607639"/>
              <a:gd name="connsiteY5" fmla="*/ 139994 h 517456"/>
              <a:gd name="connsiteX6" fmla="*/ 236373 w 607639"/>
              <a:gd name="connsiteY6" fmla="*/ 207277 h 517456"/>
              <a:gd name="connsiteX7" fmla="*/ 303758 w 607639"/>
              <a:gd name="connsiteY7" fmla="*/ 274559 h 517456"/>
              <a:gd name="connsiteX8" fmla="*/ 371054 w 607639"/>
              <a:gd name="connsiteY8" fmla="*/ 207277 h 517456"/>
              <a:gd name="connsiteX9" fmla="*/ 303758 w 607639"/>
              <a:gd name="connsiteY9" fmla="*/ 139994 h 517456"/>
              <a:gd name="connsiteX10" fmla="*/ 282839 w 607639"/>
              <a:gd name="connsiteY10" fmla="*/ 68801 h 517456"/>
              <a:gd name="connsiteX11" fmla="*/ 303669 w 607639"/>
              <a:gd name="connsiteY11" fmla="*/ 68801 h 517456"/>
              <a:gd name="connsiteX12" fmla="*/ 303847 w 607639"/>
              <a:gd name="connsiteY12" fmla="*/ 68801 h 517456"/>
              <a:gd name="connsiteX13" fmla="*/ 324588 w 607639"/>
              <a:gd name="connsiteY13" fmla="*/ 68801 h 517456"/>
              <a:gd name="connsiteX14" fmla="*/ 327703 w 607639"/>
              <a:gd name="connsiteY14" fmla="*/ 99465 h 517456"/>
              <a:gd name="connsiteX15" fmla="*/ 363221 w 607639"/>
              <a:gd name="connsiteY15" fmla="*/ 114219 h 517456"/>
              <a:gd name="connsiteX16" fmla="*/ 387166 w 607639"/>
              <a:gd name="connsiteY16" fmla="*/ 94665 h 517456"/>
              <a:gd name="connsiteX17" fmla="*/ 416541 w 607639"/>
              <a:gd name="connsiteY17" fmla="*/ 124085 h 517456"/>
              <a:gd name="connsiteX18" fmla="*/ 396958 w 607639"/>
              <a:gd name="connsiteY18" fmla="*/ 147993 h 517456"/>
              <a:gd name="connsiteX19" fmla="*/ 411645 w 607639"/>
              <a:gd name="connsiteY19" fmla="*/ 183457 h 517456"/>
              <a:gd name="connsiteX20" fmla="*/ 442445 w 607639"/>
              <a:gd name="connsiteY20" fmla="*/ 186479 h 517456"/>
              <a:gd name="connsiteX21" fmla="*/ 442445 w 607639"/>
              <a:gd name="connsiteY21" fmla="*/ 228075 h 517456"/>
              <a:gd name="connsiteX22" fmla="*/ 411645 w 607639"/>
              <a:gd name="connsiteY22" fmla="*/ 231185 h 517456"/>
              <a:gd name="connsiteX23" fmla="*/ 396958 w 607639"/>
              <a:gd name="connsiteY23" fmla="*/ 266649 h 517456"/>
              <a:gd name="connsiteX24" fmla="*/ 416541 w 607639"/>
              <a:gd name="connsiteY24" fmla="*/ 290558 h 517456"/>
              <a:gd name="connsiteX25" fmla="*/ 387166 w 607639"/>
              <a:gd name="connsiteY25" fmla="*/ 319977 h 517456"/>
              <a:gd name="connsiteX26" fmla="*/ 363221 w 607639"/>
              <a:gd name="connsiteY26" fmla="*/ 300423 h 517456"/>
              <a:gd name="connsiteX27" fmla="*/ 327703 w 607639"/>
              <a:gd name="connsiteY27" fmla="*/ 315177 h 517456"/>
              <a:gd name="connsiteX28" fmla="*/ 324588 w 607639"/>
              <a:gd name="connsiteY28" fmla="*/ 345841 h 517456"/>
              <a:gd name="connsiteX29" fmla="*/ 303847 w 607639"/>
              <a:gd name="connsiteY29" fmla="*/ 345841 h 517456"/>
              <a:gd name="connsiteX30" fmla="*/ 303669 w 607639"/>
              <a:gd name="connsiteY30" fmla="*/ 345841 h 517456"/>
              <a:gd name="connsiteX31" fmla="*/ 282839 w 607639"/>
              <a:gd name="connsiteY31" fmla="*/ 345841 h 517456"/>
              <a:gd name="connsiteX32" fmla="*/ 279813 w 607639"/>
              <a:gd name="connsiteY32" fmla="*/ 315177 h 517456"/>
              <a:gd name="connsiteX33" fmla="*/ 244295 w 607639"/>
              <a:gd name="connsiteY33" fmla="*/ 300423 h 517456"/>
              <a:gd name="connsiteX34" fmla="*/ 220350 w 607639"/>
              <a:gd name="connsiteY34" fmla="*/ 319977 h 517456"/>
              <a:gd name="connsiteX35" fmla="*/ 190886 w 607639"/>
              <a:gd name="connsiteY35" fmla="*/ 290558 h 517456"/>
              <a:gd name="connsiteX36" fmla="*/ 210558 w 607639"/>
              <a:gd name="connsiteY36" fmla="*/ 266649 h 517456"/>
              <a:gd name="connsiteX37" fmla="*/ 195782 w 607639"/>
              <a:gd name="connsiteY37" fmla="*/ 231185 h 517456"/>
              <a:gd name="connsiteX38" fmla="*/ 164982 w 607639"/>
              <a:gd name="connsiteY38" fmla="*/ 228075 h 517456"/>
              <a:gd name="connsiteX39" fmla="*/ 164982 w 607639"/>
              <a:gd name="connsiteY39" fmla="*/ 186568 h 517456"/>
              <a:gd name="connsiteX40" fmla="*/ 195782 w 607639"/>
              <a:gd name="connsiteY40" fmla="*/ 183457 h 517456"/>
              <a:gd name="connsiteX41" fmla="*/ 210558 w 607639"/>
              <a:gd name="connsiteY41" fmla="*/ 147993 h 517456"/>
              <a:gd name="connsiteX42" fmla="*/ 190886 w 607639"/>
              <a:gd name="connsiteY42" fmla="*/ 124085 h 517456"/>
              <a:gd name="connsiteX43" fmla="*/ 220350 w 607639"/>
              <a:gd name="connsiteY43" fmla="*/ 94665 h 517456"/>
              <a:gd name="connsiteX44" fmla="*/ 244295 w 607639"/>
              <a:gd name="connsiteY44" fmla="*/ 114219 h 517456"/>
              <a:gd name="connsiteX45" fmla="*/ 279813 w 607639"/>
              <a:gd name="connsiteY45" fmla="*/ 99465 h 517456"/>
              <a:gd name="connsiteX46" fmla="*/ 38005 w 607639"/>
              <a:gd name="connsiteY46" fmla="*/ 37951 h 517456"/>
              <a:gd name="connsiteX47" fmla="*/ 38005 w 607639"/>
              <a:gd name="connsiteY47" fmla="*/ 376049 h 517456"/>
              <a:gd name="connsiteX48" fmla="*/ 569634 w 607639"/>
              <a:gd name="connsiteY48" fmla="*/ 376049 h 517456"/>
              <a:gd name="connsiteX49" fmla="*/ 569634 w 607639"/>
              <a:gd name="connsiteY49" fmla="*/ 37951 h 517456"/>
              <a:gd name="connsiteX50" fmla="*/ 28482 w 607639"/>
              <a:gd name="connsiteY50" fmla="*/ 0 h 517456"/>
              <a:gd name="connsiteX51" fmla="*/ 579157 w 607639"/>
              <a:gd name="connsiteY51" fmla="*/ 0 h 517456"/>
              <a:gd name="connsiteX52" fmla="*/ 607639 w 607639"/>
              <a:gd name="connsiteY52" fmla="*/ 28441 h 517456"/>
              <a:gd name="connsiteX53" fmla="*/ 607639 w 607639"/>
              <a:gd name="connsiteY53" fmla="*/ 385559 h 517456"/>
              <a:gd name="connsiteX54" fmla="*/ 579157 w 607639"/>
              <a:gd name="connsiteY54" fmla="*/ 414000 h 517456"/>
              <a:gd name="connsiteX55" fmla="*/ 351304 w 607639"/>
              <a:gd name="connsiteY55" fmla="*/ 414000 h 517456"/>
              <a:gd name="connsiteX56" fmla="*/ 351304 w 607639"/>
              <a:gd name="connsiteY56" fmla="*/ 479593 h 517456"/>
              <a:gd name="connsiteX57" fmla="*/ 437906 w 607639"/>
              <a:gd name="connsiteY57" fmla="*/ 479593 h 517456"/>
              <a:gd name="connsiteX58" fmla="*/ 437906 w 607639"/>
              <a:gd name="connsiteY58" fmla="*/ 517456 h 517456"/>
              <a:gd name="connsiteX59" fmla="*/ 169733 w 607639"/>
              <a:gd name="connsiteY59" fmla="*/ 517456 h 517456"/>
              <a:gd name="connsiteX60" fmla="*/ 169733 w 607639"/>
              <a:gd name="connsiteY60" fmla="*/ 479593 h 517456"/>
              <a:gd name="connsiteX61" fmla="*/ 256335 w 607639"/>
              <a:gd name="connsiteY61" fmla="*/ 479593 h 517456"/>
              <a:gd name="connsiteX62" fmla="*/ 256335 w 607639"/>
              <a:gd name="connsiteY62" fmla="*/ 414000 h 517456"/>
              <a:gd name="connsiteX63" fmla="*/ 28482 w 607639"/>
              <a:gd name="connsiteY63" fmla="*/ 414000 h 517456"/>
              <a:gd name="connsiteX64" fmla="*/ 0 w 607639"/>
              <a:gd name="connsiteY64" fmla="*/ 385559 h 517456"/>
              <a:gd name="connsiteX65" fmla="*/ 0 w 607639"/>
              <a:gd name="connsiteY65" fmla="*/ 28441 h 517456"/>
              <a:gd name="connsiteX66" fmla="*/ 28482 w 607639"/>
              <a:gd name="connsiteY66" fmla="*/ 0 h 51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607639" h="517456">
                <a:moveTo>
                  <a:pt x="303714" y="173520"/>
                </a:moveTo>
                <a:cubicBezTo>
                  <a:pt x="322421" y="173520"/>
                  <a:pt x="337586" y="188653"/>
                  <a:pt x="337586" y="207321"/>
                </a:cubicBezTo>
                <a:cubicBezTo>
                  <a:pt x="337586" y="225989"/>
                  <a:pt x="322421" y="241122"/>
                  <a:pt x="303714" y="241122"/>
                </a:cubicBezTo>
                <a:cubicBezTo>
                  <a:pt x="285007" y="241122"/>
                  <a:pt x="269842" y="225989"/>
                  <a:pt x="269842" y="207321"/>
                </a:cubicBezTo>
                <a:cubicBezTo>
                  <a:pt x="269842" y="188653"/>
                  <a:pt x="285007" y="173520"/>
                  <a:pt x="303714" y="173520"/>
                </a:cubicBezTo>
                <a:close/>
                <a:moveTo>
                  <a:pt x="303758" y="139994"/>
                </a:moveTo>
                <a:cubicBezTo>
                  <a:pt x="266549" y="139994"/>
                  <a:pt x="236373" y="170125"/>
                  <a:pt x="236373" y="207277"/>
                </a:cubicBezTo>
                <a:cubicBezTo>
                  <a:pt x="236373" y="244517"/>
                  <a:pt x="266549" y="274559"/>
                  <a:pt x="303758" y="274559"/>
                </a:cubicBezTo>
                <a:cubicBezTo>
                  <a:pt x="340967" y="274559"/>
                  <a:pt x="371054" y="244517"/>
                  <a:pt x="371054" y="207277"/>
                </a:cubicBezTo>
                <a:cubicBezTo>
                  <a:pt x="371054" y="170125"/>
                  <a:pt x="340967" y="139994"/>
                  <a:pt x="303758" y="139994"/>
                </a:cubicBezTo>
                <a:close/>
                <a:moveTo>
                  <a:pt x="282839" y="68801"/>
                </a:moveTo>
                <a:lnTo>
                  <a:pt x="303669" y="68801"/>
                </a:lnTo>
                <a:lnTo>
                  <a:pt x="303847" y="68801"/>
                </a:lnTo>
                <a:lnTo>
                  <a:pt x="324588" y="68801"/>
                </a:lnTo>
                <a:lnTo>
                  <a:pt x="327703" y="99465"/>
                </a:lnTo>
                <a:cubicBezTo>
                  <a:pt x="340522" y="102309"/>
                  <a:pt x="352450" y="107375"/>
                  <a:pt x="363221" y="114219"/>
                </a:cubicBezTo>
                <a:lnTo>
                  <a:pt x="387166" y="94665"/>
                </a:lnTo>
                <a:lnTo>
                  <a:pt x="416541" y="124085"/>
                </a:lnTo>
                <a:lnTo>
                  <a:pt x="396958" y="147993"/>
                </a:lnTo>
                <a:cubicBezTo>
                  <a:pt x="403812" y="158748"/>
                  <a:pt x="408797" y="170658"/>
                  <a:pt x="411645" y="183457"/>
                </a:cubicBezTo>
                <a:lnTo>
                  <a:pt x="442445" y="186479"/>
                </a:lnTo>
                <a:lnTo>
                  <a:pt x="442445" y="228075"/>
                </a:lnTo>
                <a:lnTo>
                  <a:pt x="411645" y="231185"/>
                </a:lnTo>
                <a:cubicBezTo>
                  <a:pt x="408886" y="243984"/>
                  <a:pt x="403812" y="255894"/>
                  <a:pt x="396958" y="266649"/>
                </a:cubicBezTo>
                <a:lnTo>
                  <a:pt x="416541" y="290558"/>
                </a:lnTo>
                <a:lnTo>
                  <a:pt x="387166" y="319977"/>
                </a:lnTo>
                <a:lnTo>
                  <a:pt x="363221" y="300423"/>
                </a:lnTo>
                <a:cubicBezTo>
                  <a:pt x="352450" y="307267"/>
                  <a:pt x="340522" y="312333"/>
                  <a:pt x="327703" y="315177"/>
                </a:cubicBezTo>
                <a:lnTo>
                  <a:pt x="324588" y="345841"/>
                </a:lnTo>
                <a:lnTo>
                  <a:pt x="303847" y="345841"/>
                </a:lnTo>
                <a:lnTo>
                  <a:pt x="303669" y="345841"/>
                </a:lnTo>
                <a:lnTo>
                  <a:pt x="282839" y="345841"/>
                </a:lnTo>
                <a:lnTo>
                  <a:pt x="279813" y="315177"/>
                </a:lnTo>
                <a:cubicBezTo>
                  <a:pt x="266994" y="312333"/>
                  <a:pt x="254977" y="307267"/>
                  <a:pt x="244295" y="300423"/>
                </a:cubicBezTo>
                <a:lnTo>
                  <a:pt x="220350" y="319977"/>
                </a:lnTo>
                <a:lnTo>
                  <a:pt x="190886" y="290558"/>
                </a:lnTo>
                <a:lnTo>
                  <a:pt x="210558" y="266649"/>
                </a:lnTo>
                <a:cubicBezTo>
                  <a:pt x="203704" y="255894"/>
                  <a:pt x="198630" y="243984"/>
                  <a:pt x="195782" y="231185"/>
                </a:cubicBezTo>
                <a:lnTo>
                  <a:pt x="164982" y="228075"/>
                </a:lnTo>
                <a:lnTo>
                  <a:pt x="164982" y="186568"/>
                </a:lnTo>
                <a:lnTo>
                  <a:pt x="195782" y="183457"/>
                </a:lnTo>
                <a:cubicBezTo>
                  <a:pt x="198630" y="170658"/>
                  <a:pt x="203704" y="158748"/>
                  <a:pt x="210558" y="147993"/>
                </a:cubicBezTo>
                <a:lnTo>
                  <a:pt x="190886" y="124085"/>
                </a:lnTo>
                <a:lnTo>
                  <a:pt x="220350" y="94665"/>
                </a:lnTo>
                <a:lnTo>
                  <a:pt x="244295" y="114219"/>
                </a:lnTo>
                <a:cubicBezTo>
                  <a:pt x="254977" y="107375"/>
                  <a:pt x="266905" y="102309"/>
                  <a:pt x="279813" y="99465"/>
                </a:cubicBezTo>
                <a:close/>
                <a:moveTo>
                  <a:pt x="38005" y="37951"/>
                </a:moveTo>
                <a:lnTo>
                  <a:pt x="38005" y="376049"/>
                </a:lnTo>
                <a:lnTo>
                  <a:pt x="569634" y="376049"/>
                </a:lnTo>
                <a:lnTo>
                  <a:pt x="569634" y="37951"/>
                </a:lnTo>
                <a:close/>
                <a:moveTo>
                  <a:pt x="28482" y="0"/>
                </a:moveTo>
                <a:lnTo>
                  <a:pt x="579157" y="0"/>
                </a:lnTo>
                <a:cubicBezTo>
                  <a:pt x="594822" y="0"/>
                  <a:pt x="607639" y="12799"/>
                  <a:pt x="607639" y="28441"/>
                </a:cubicBezTo>
                <a:lnTo>
                  <a:pt x="607639" y="385559"/>
                </a:lnTo>
                <a:cubicBezTo>
                  <a:pt x="607639" y="401202"/>
                  <a:pt x="594822" y="414000"/>
                  <a:pt x="579157" y="414000"/>
                </a:cubicBezTo>
                <a:lnTo>
                  <a:pt x="351304" y="414000"/>
                </a:lnTo>
                <a:lnTo>
                  <a:pt x="351304" y="479593"/>
                </a:lnTo>
                <a:lnTo>
                  <a:pt x="437906" y="479593"/>
                </a:lnTo>
                <a:lnTo>
                  <a:pt x="437906" y="517456"/>
                </a:lnTo>
                <a:lnTo>
                  <a:pt x="169733" y="517456"/>
                </a:lnTo>
                <a:lnTo>
                  <a:pt x="169733" y="479593"/>
                </a:lnTo>
                <a:lnTo>
                  <a:pt x="256335" y="479593"/>
                </a:lnTo>
                <a:lnTo>
                  <a:pt x="256335" y="414000"/>
                </a:lnTo>
                <a:lnTo>
                  <a:pt x="28482" y="414000"/>
                </a:lnTo>
                <a:cubicBezTo>
                  <a:pt x="12817" y="414000"/>
                  <a:pt x="0" y="401202"/>
                  <a:pt x="0" y="385559"/>
                </a:cubicBezTo>
                <a:lnTo>
                  <a:pt x="0" y="28441"/>
                </a:lnTo>
                <a:cubicBezTo>
                  <a:pt x="0" y="12799"/>
                  <a:pt x="12817" y="0"/>
                  <a:pt x="2848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zh-CN" altLang="en-US">
              <a:solidFill>
                <a:schemeClr val="tx1"/>
              </a:solidFill>
            </a:endParaRPr>
          </a:p>
        </p:txBody>
      </p:sp>
      <p:sp>
        <p:nvSpPr>
          <p:cNvPr id="67" name="矩形 66">
            <a:extLst>
              <a:ext uri="{FF2B5EF4-FFF2-40B4-BE49-F238E27FC236}">
                <a16:creationId xmlns:a16="http://schemas.microsoft.com/office/drawing/2014/main" id="{74B9EE5A-B579-4E0C-8DCA-742AD1B9393A}"/>
              </a:ext>
            </a:extLst>
          </p:cNvPr>
          <p:cNvSpPr/>
          <p:nvPr/>
        </p:nvSpPr>
        <p:spPr>
          <a:xfrm>
            <a:off x="4800290" y="2501663"/>
            <a:ext cx="1005403" cy="338554"/>
          </a:xfrm>
          <a:prstGeom prst="rect">
            <a:avLst/>
          </a:prstGeom>
        </p:spPr>
        <p:txBody>
          <a:bodyPr wrap="none">
            <a:spAutoFit/>
          </a:bodyPr>
          <a:lstStyle/>
          <a:p>
            <a:pPr>
              <a:buClr>
                <a:srgbClr val="85B2D2"/>
              </a:buClr>
            </a:pPr>
            <a:r>
              <a:rPr lang="zh-CN" altLang="en-US" sz="1600" dirty="0">
                <a:latin typeface="微软雅黑" panose="020B0503020204020204" pitchFamily="34" charset="-122"/>
                <a:ea typeface="微软雅黑" panose="020B0503020204020204" pitchFamily="34" charset="-122"/>
              </a:rPr>
              <a:t>等成本线</a:t>
            </a:r>
          </a:p>
        </p:txBody>
      </p:sp>
      <mc:AlternateContent xmlns:mc="http://schemas.openxmlformats.org/markup-compatibility/2006" xmlns:a14="http://schemas.microsoft.com/office/drawing/2010/main">
        <mc:Choice Requires="a14">
          <p:sp>
            <p:nvSpPr>
              <p:cNvPr id="68" name="矩形 67">
                <a:extLst>
                  <a:ext uri="{FF2B5EF4-FFF2-40B4-BE49-F238E27FC236}">
                    <a16:creationId xmlns:a16="http://schemas.microsoft.com/office/drawing/2014/main" id="{D442C1F9-8DA9-4E94-9A26-E1BDD5166C47}"/>
                  </a:ext>
                </a:extLst>
              </p:cNvPr>
              <p:cNvSpPr/>
              <p:nvPr/>
            </p:nvSpPr>
            <p:spPr>
              <a:xfrm>
                <a:off x="5178820" y="5718607"/>
                <a:ext cx="40229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𝑂</m:t>
                      </m:r>
                    </m:oMath>
                  </m:oMathPara>
                </a14:m>
                <a:endParaRPr lang="zh-CN" altLang="en-US" dirty="0">
                  <a:solidFill>
                    <a:schemeClr val="tx1"/>
                  </a:solidFill>
                </a:endParaRPr>
              </a:p>
            </p:txBody>
          </p:sp>
        </mc:Choice>
        <mc:Fallback xmlns="">
          <p:sp>
            <p:nvSpPr>
              <p:cNvPr id="68" name="矩形 67">
                <a:extLst>
                  <a:ext uri="{FF2B5EF4-FFF2-40B4-BE49-F238E27FC236}">
                    <a16:creationId xmlns:a16="http://schemas.microsoft.com/office/drawing/2014/main" id="{D442C1F9-8DA9-4E94-9A26-E1BDD5166C47}"/>
                  </a:ext>
                </a:extLst>
              </p:cNvPr>
              <p:cNvSpPr>
                <a:spLocks noRot="1" noChangeAspect="1" noMove="1" noResize="1" noEditPoints="1" noAdjustHandles="1" noChangeArrowheads="1" noChangeShapeType="1" noTextEdit="1"/>
              </p:cNvSpPr>
              <p:nvPr/>
            </p:nvSpPr>
            <p:spPr>
              <a:xfrm>
                <a:off x="5178820" y="5718607"/>
                <a:ext cx="402292"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矩形 68">
                <a:extLst>
                  <a:ext uri="{FF2B5EF4-FFF2-40B4-BE49-F238E27FC236}">
                    <a16:creationId xmlns:a16="http://schemas.microsoft.com/office/drawing/2014/main" id="{3A33D18D-CE8F-484B-BD4B-207E93198842}"/>
                  </a:ext>
                </a:extLst>
              </p:cNvPr>
              <p:cNvSpPr/>
              <p:nvPr/>
            </p:nvSpPr>
            <p:spPr>
              <a:xfrm>
                <a:off x="5127355" y="3290301"/>
                <a:ext cx="409906"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𝐾</m:t>
                      </m:r>
                    </m:oMath>
                  </m:oMathPara>
                </a14:m>
                <a:endParaRPr lang="zh-CN" altLang="en-US" dirty="0">
                  <a:solidFill>
                    <a:schemeClr val="tx1"/>
                  </a:solidFill>
                </a:endParaRPr>
              </a:p>
            </p:txBody>
          </p:sp>
        </mc:Choice>
        <mc:Fallback xmlns="">
          <p:sp>
            <p:nvSpPr>
              <p:cNvPr id="69" name="矩形 68">
                <a:extLst>
                  <a:ext uri="{FF2B5EF4-FFF2-40B4-BE49-F238E27FC236}">
                    <a16:creationId xmlns:a16="http://schemas.microsoft.com/office/drawing/2014/main" id="{3A33D18D-CE8F-484B-BD4B-207E93198842}"/>
                  </a:ext>
                </a:extLst>
              </p:cNvPr>
              <p:cNvSpPr>
                <a:spLocks noRot="1" noChangeAspect="1" noMove="1" noResize="1" noEditPoints="1" noAdjustHandles="1" noChangeArrowheads="1" noChangeShapeType="1" noTextEdit="1"/>
              </p:cNvSpPr>
              <p:nvPr/>
            </p:nvSpPr>
            <p:spPr>
              <a:xfrm>
                <a:off x="5127355" y="3290301"/>
                <a:ext cx="409906"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矩形 69">
                <a:extLst>
                  <a:ext uri="{FF2B5EF4-FFF2-40B4-BE49-F238E27FC236}">
                    <a16:creationId xmlns:a16="http://schemas.microsoft.com/office/drawing/2014/main" id="{2E39EA6F-EEA7-450B-9849-580F26B40A42}"/>
                  </a:ext>
                </a:extLst>
              </p:cNvPr>
              <p:cNvSpPr/>
              <p:nvPr/>
            </p:nvSpPr>
            <p:spPr>
              <a:xfrm>
                <a:off x="8208303" y="5807650"/>
                <a:ext cx="36994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𝐿</m:t>
                      </m:r>
                    </m:oMath>
                  </m:oMathPara>
                </a14:m>
                <a:endParaRPr lang="zh-CN" altLang="en-US" dirty="0">
                  <a:solidFill>
                    <a:schemeClr val="tx1"/>
                  </a:solidFill>
                </a:endParaRPr>
              </a:p>
            </p:txBody>
          </p:sp>
        </mc:Choice>
        <mc:Fallback xmlns="">
          <p:sp>
            <p:nvSpPr>
              <p:cNvPr id="70" name="矩形 69">
                <a:extLst>
                  <a:ext uri="{FF2B5EF4-FFF2-40B4-BE49-F238E27FC236}">
                    <a16:creationId xmlns:a16="http://schemas.microsoft.com/office/drawing/2014/main" id="{2E39EA6F-EEA7-450B-9849-580F26B40A42}"/>
                  </a:ext>
                </a:extLst>
              </p:cNvPr>
              <p:cNvSpPr>
                <a:spLocks noRot="1" noChangeAspect="1" noMove="1" noResize="1" noEditPoints="1" noAdjustHandles="1" noChangeArrowheads="1" noChangeShapeType="1" noTextEdit="1"/>
              </p:cNvSpPr>
              <p:nvPr/>
            </p:nvSpPr>
            <p:spPr>
              <a:xfrm>
                <a:off x="8208303" y="5807650"/>
                <a:ext cx="369948"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7DC90AC1-BF64-4F00-B5FF-CBFAA99549DA}"/>
                  </a:ext>
                </a:extLst>
              </p:cNvPr>
              <p:cNvSpPr txBox="1"/>
              <p:nvPr/>
            </p:nvSpPr>
            <p:spPr>
              <a:xfrm>
                <a:off x="5036691" y="3722165"/>
                <a:ext cx="445522"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zh-CN" altLang="en-US" i="1" smtClean="0">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𝐶</m:t>
                          </m:r>
                        </m:num>
                        <m:den>
                          <m:r>
                            <a:rPr lang="zh-CN" altLang="en-US" i="1" smtClean="0">
                              <a:solidFill>
                                <a:schemeClr val="tx1"/>
                              </a:solidFill>
                              <a:latin typeface="Cambria Math" panose="02040503050406030204" pitchFamily="18" charset="0"/>
                            </a:rPr>
                            <m:t>𝑟</m:t>
                          </m:r>
                        </m:den>
                      </m:f>
                    </m:oMath>
                  </m:oMathPara>
                </a14:m>
                <a:endParaRPr lang="zh-CN" altLang="en-US" dirty="0">
                  <a:solidFill>
                    <a:schemeClr val="tx1"/>
                  </a:solidFill>
                </a:endParaRPr>
              </a:p>
            </p:txBody>
          </p:sp>
        </mc:Choice>
        <mc:Fallback xmlns="">
          <p:sp>
            <p:nvSpPr>
              <p:cNvPr id="71" name="文本框 70">
                <a:extLst>
                  <a:ext uri="{FF2B5EF4-FFF2-40B4-BE49-F238E27FC236}">
                    <a16:creationId xmlns:a16="http://schemas.microsoft.com/office/drawing/2014/main" id="{7DC90AC1-BF64-4F00-B5FF-CBFAA99549DA}"/>
                  </a:ext>
                </a:extLst>
              </p:cNvPr>
              <p:cNvSpPr txBox="1">
                <a:spLocks noRot="1" noChangeAspect="1" noMove="1" noResize="1" noEditPoints="1" noAdjustHandles="1" noChangeArrowheads="1" noChangeShapeType="1" noTextEdit="1"/>
              </p:cNvSpPr>
              <p:nvPr/>
            </p:nvSpPr>
            <p:spPr>
              <a:xfrm>
                <a:off x="5036691" y="3722165"/>
                <a:ext cx="445522" cy="276999"/>
              </a:xfrm>
              <a:prstGeom prst="rect">
                <a:avLst/>
              </a:prstGeom>
              <a:blipFill>
                <a:blip r:embed="rId6"/>
                <a:stretch>
                  <a:fillRect l="-53425" t="-173333" r="-132877" b="-257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0B886506-B32D-4F21-8CB5-1D52D5CB65A2}"/>
                  </a:ext>
                </a:extLst>
              </p:cNvPr>
              <p:cNvSpPr txBox="1"/>
              <p:nvPr/>
            </p:nvSpPr>
            <p:spPr>
              <a:xfrm>
                <a:off x="7390551" y="5877720"/>
                <a:ext cx="557975"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f>
                        <m:fPr>
                          <m:type m:val="lin"/>
                          <m:ctrlPr>
                            <a:rPr lang="zh-CN" altLang="en-US" i="1" smtClean="0">
                              <a:solidFill>
                                <a:schemeClr val="tx1"/>
                              </a:solidFill>
                              <a:latin typeface="Cambria Math" panose="02040503050406030204" pitchFamily="18" charset="0"/>
                            </a:rPr>
                          </m:ctrlPr>
                        </m:fPr>
                        <m:num>
                          <m:r>
                            <a:rPr lang="en-US" altLang="zh-CN" b="0" i="1" smtClean="0">
                              <a:solidFill>
                                <a:schemeClr val="tx1"/>
                              </a:solidFill>
                              <a:latin typeface="Cambria Math" panose="02040503050406030204" pitchFamily="18" charset="0"/>
                            </a:rPr>
                            <m:t>𝐶</m:t>
                          </m:r>
                        </m:num>
                        <m:den>
                          <m:r>
                            <a:rPr lang="en-US" altLang="zh-CN" b="0" i="1" smtClean="0">
                              <a:solidFill>
                                <a:schemeClr val="tx1"/>
                              </a:solidFill>
                              <a:latin typeface="Cambria Math" panose="02040503050406030204" pitchFamily="18" charset="0"/>
                            </a:rPr>
                            <m:t>𝑊</m:t>
                          </m:r>
                        </m:den>
                      </m:f>
                    </m:oMath>
                  </m:oMathPara>
                </a14:m>
                <a:endParaRPr lang="zh-CN" altLang="en-US" dirty="0">
                  <a:solidFill>
                    <a:schemeClr val="tx1"/>
                  </a:solidFill>
                </a:endParaRPr>
              </a:p>
            </p:txBody>
          </p:sp>
        </mc:Choice>
        <mc:Fallback xmlns="">
          <p:sp>
            <p:nvSpPr>
              <p:cNvPr id="72" name="文本框 71">
                <a:extLst>
                  <a:ext uri="{FF2B5EF4-FFF2-40B4-BE49-F238E27FC236}">
                    <a16:creationId xmlns:a16="http://schemas.microsoft.com/office/drawing/2014/main" id="{0B886506-B32D-4F21-8CB5-1D52D5CB65A2}"/>
                  </a:ext>
                </a:extLst>
              </p:cNvPr>
              <p:cNvSpPr txBox="1">
                <a:spLocks noRot="1" noChangeAspect="1" noMove="1" noResize="1" noEditPoints="1" noAdjustHandles="1" noChangeArrowheads="1" noChangeShapeType="1" noTextEdit="1"/>
              </p:cNvSpPr>
              <p:nvPr/>
            </p:nvSpPr>
            <p:spPr>
              <a:xfrm>
                <a:off x="7390551" y="5877720"/>
                <a:ext cx="557975" cy="276999"/>
              </a:xfrm>
              <a:prstGeom prst="rect">
                <a:avLst/>
              </a:prstGeom>
              <a:blipFill>
                <a:blip r:embed="rId7"/>
                <a:stretch>
                  <a:fillRect l="-42391" t="-167391" r="-84783" b="-2521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矩形 72">
                <a:extLst>
                  <a:ext uri="{FF2B5EF4-FFF2-40B4-BE49-F238E27FC236}">
                    <a16:creationId xmlns:a16="http://schemas.microsoft.com/office/drawing/2014/main" id="{0E7A8E30-0464-42A4-821B-B3A611E6D50E}"/>
                  </a:ext>
                </a:extLst>
              </p:cNvPr>
              <p:cNvSpPr/>
              <p:nvPr/>
            </p:nvSpPr>
            <p:spPr>
              <a:xfrm>
                <a:off x="5454577" y="3598078"/>
                <a:ext cx="39971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𝐵</m:t>
                      </m:r>
                    </m:oMath>
                  </m:oMathPara>
                </a14:m>
                <a:endParaRPr lang="zh-CN" altLang="en-US" dirty="0">
                  <a:solidFill>
                    <a:schemeClr val="tx1"/>
                  </a:solidFill>
                </a:endParaRPr>
              </a:p>
            </p:txBody>
          </p:sp>
        </mc:Choice>
        <mc:Fallback xmlns="">
          <p:sp>
            <p:nvSpPr>
              <p:cNvPr id="73" name="矩形 72">
                <a:extLst>
                  <a:ext uri="{FF2B5EF4-FFF2-40B4-BE49-F238E27FC236}">
                    <a16:creationId xmlns:a16="http://schemas.microsoft.com/office/drawing/2014/main" id="{0E7A8E30-0464-42A4-821B-B3A611E6D50E}"/>
                  </a:ext>
                </a:extLst>
              </p:cNvPr>
              <p:cNvSpPr>
                <a:spLocks noRot="1" noChangeAspect="1" noMove="1" noResize="1" noEditPoints="1" noAdjustHandles="1" noChangeArrowheads="1" noChangeShapeType="1" noTextEdit="1"/>
              </p:cNvSpPr>
              <p:nvPr/>
            </p:nvSpPr>
            <p:spPr>
              <a:xfrm>
                <a:off x="5454577" y="3598078"/>
                <a:ext cx="399712"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矩形 73">
                <a:extLst>
                  <a:ext uri="{FF2B5EF4-FFF2-40B4-BE49-F238E27FC236}">
                    <a16:creationId xmlns:a16="http://schemas.microsoft.com/office/drawing/2014/main" id="{ABBE21B8-2B45-44EE-BB8B-09052D18BF6E}"/>
                  </a:ext>
                </a:extLst>
              </p:cNvPr>
              <p:cNvSpPr/>
              <p:nvPr/>
            </p:nvSpPr>
            <p:spPr>
              <a:xfrm>
                <a:off x="7623942" y="5552482"/>
                <a:ext cx="38939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𝐴</m:t>
                      </m:r>
                    </m:oMath>
                  </m:oMathPara>
                </a14:m>
                <a:endParaRPr lang="zh-CN" altLang="en-US" dirty="0">
                  <a:solidFill>
                    <a:schemeClr val="tx1"/>
                  </a:solidFill>
                </a:endParaRPr>
              </a:p>
            </p:txBody>
          </p:sp>
        </mc:Choice>
        <mc:Fallback xmlns="">
          <p:sp>
            <p:nvSpPr>
              <p:cNvPr id="74" name="矩形 73">
                <a:extLst>
                  <a:ext uri="{FF2B5EF4-FFF2-40B4-BE49-F238E27FC236}">
                    <a16:creationId xmlns:a16="http://schemas.microsoft.com/office/drawing/2014/main" id="{ABBE21B8-2B45-44EE-BB8B-09052D18BF6E}"/>
                  </a:ext>
                </a:extLst>
              </p:cNvPr>
              <p:cNvSpPr>
                <a:spLocks noRot="1" noChangeAspect="1" noMove="1" noResize="1" noEditPoints="1" noAdjustHandles="1" noChangeArrowheads="1" noChangeShapeType="1" noTextEdit="1"/>
              </p:cNvSpPr>
              <p:nvPr/>
            </p:nvSpPr>
            <p:spPr>
              <a:xfrm>
                <a:off x="7623942" y="5552482"/>
                <a:ext cx="389392" cy="369332"/>
              </a:xfrm>
              <a:prstGeom prst="rect">
                <a:avLst/>
              </a:prstGeom>
              <a:blipFill>
                <a:blip r:embed="rId9"/>
                <a:stretch>
                  <a:fillRect/>
                </a:stretch>
              </a:blipFill>
            </p:spPr>
            <p:txBody>
              <a:bodyPr/>
              <a:lstStyle/>
              <a:p>
                <a:r>
                  <a:rPr lang="zh-CN" altLang="en-US">
                    <a:noFill/>
                  </a:rPr>
                  <a:t> </a:t>
                </a:r>
              </a:p>
            </p:txBody>
          </p:sp>
        </mc:Fallback>
      </mc:AlternateContent>
      <p:sp>
        <p:nvSpPr>
          <p:cNvPr id="43" name="矩形 42">
            <a:extLst>
              <a:ext uri="{FF2B5EF4-FFF2-40B4-BE49-F238E27FC236}">
                <a16:creationId xmlns:a16="http://schemas.microsoft.com/office/drawing/2014/main" id="{08A06D41-75E8-43EE-9A25-C2C6CAFC2CA8}"/>
              </a:ext>
            </a:extLst>
          </p:cNvPr>
          <p:cNvSpPr/>
          <p:nvPr/>
        </p:nvSpPr>
        <p:spPr>
          <a:xfrm>
            <a:off x="6732240" y="35332"/>
            <a:ext cx="233108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第四节 长期生产函数</a:t>
            </a:r>
          </a:p>
        </p:txBody>
      </p:sp>
      <p:sp>
        <p:nvSpPr>
          <p:cNvPr id="6" name="线形标注 1 5"/>
          <p:cNvSpPr/>
          <p:nvPr/>
        </p:nvSpPr>
        <p:spPr bwMode="auto">
          <a:xfrm>
            <a:off x="4139952" y="431686"/>
            <a:ext cx="4896544" cy="842183"/>
          </a:xfrm>
          <a:prstGeom prst="borderCallout1">
            <a:avLst>
              <a:gd name="adj1" fmla="val 41350"/>
              <a:gd name="adj2" fmla="val -1981"/>
              <a:gd name="adj3" fmla="val 37590"/>
              <a:gd name="adj4" fmla="val -2417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前面是从生产技术的角度分析生产要素投入的合理范围，但是对企业而言未必在经济上是最优的，需要考虑要素的成本。</a:t>
            </a:r>
          </a:p>
        </p:txBody>
      </p:sp>
      <p:sp>
        <p:nvSpPr>
          <p:cNvPr id="7" name="线形标注 1 6"/>
          <p:cNvSpPr/>
          <p:nvPr/>
        </p:nvSpPr>
        <p:spPr bwMode="auto">
          <a:xfrm>
            <a:off x="6660231" y="3105562"/>
            <a:ext cx="1918019" cy="1166719"/>
          </a:xfrm>
          <a:prstGeom prst="borderCallout1">
            <a:avLst>
              <a:gd name="adj1" fmla="val 18750"/>
              <a:gd name="adj2" fmla="val -8333"/>
              <a:gd name="adj3" fmla="val 74508"/>
              <a:gd name="adj4" fmla="val -2403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如果预算总成本或者要素价格发生变动，则等成本线将发生变化。</a:t>
            </a:r>
          </a:p>
        </p:txBody>
      </p:sp>
    </p:spTree>
    <p:extLst>
      <p:ext uri="{BB962C8B-B14F-4D97-AF65-F5344CB8AC3E}">
        <p14:creationId xmlns:p14="http://schemas.microsoft.com/office/powerpoint/2010/main" val="234778744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anim calcmode="lin" valueType="num">
                                      <p:cBhvr>
                                        <p:cTn id="19" dur="500" fill="hold"/>
                                        <p:tgtEl>
                                          <p:spTgt spid="19"/>
                                        </p:tgtEl>
                                        <p:attrNameLst>
                                          <p:attrName>ppt_w</p:attrName>
                                        </p:attrNameLst>
                                      </p:cBhvr>
                                      <p:tavLst>
                                        <p:tav tm="0">
                                          <p:val>
                                            <p:fltVal val="0"/>
                                          </p:val>
                                        </p:tav>
                                        <p:tav tm="100000">
                                          <p:val>
                                            <p:strVal val="#ppt_w"/>
                                          </p:val>
                                        </p:tav>
                                      </p:tavLst>
                                    </p:anim>
                                    <p:anim calcmode="lin" valueType="num">
                                      <p:cBhvr>
                                        <p:cTn id="20" dur="500" fill="hold"/>
                                        <p:tgtEl>
                                          <p:spTgt spid="19"/>
                                        </p:tgtEl>
                                        <p:attrNameLst>
                                          <p:attrName>ppt_h</p:attrName>
                                        </p:attrNameLst>
                                      </p:cBhvr>
                                      <p:tavLst>
                                        <p:tav tm="0">
                                          <p:val>
                                            <p:fltVal val="0"/>
                                          </p:val>
                                        </p:tav>
                                        <p:tav tm="100000">
                                          <p:val>
                                            <p:strVal val="#ppt_h"/>
                                          </p:val>
                                        </p:tav>
                                      </p:tavLst>
                                    </p:anim>
                                    <p:animEffect transition="in" filter="fade">
                                      <p:cBhvr>
                                        <p:cTn id="21" dur="500"/>
                                        <p:tgtEl>
                                          <p:spTgt spid="19"/>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20"/>
                                        </p:tgtEl>
                                        <p:attrNameLst>
                                          <p:attrName>style.visibility</p:attrName>
                                        </p:attrNameLst>
                                      </p:cBhvr>
                                      <p:to>
                                        <p:strVal val="visible"/>
                                      </p:to>
                                    </p:set>
                                    <p:anim calcmode="lin" valueType="num">
                                      <p:cBhvr>
                                        <p:cTn id="24" dur="500" fill="hold"/>
                                        <p:tgtEl>
                                          <p:spTgt spid="20"/>
                                        </p:tgtEl>
                                        <p:attrNameLst>
                                          <p:attrName>ppt_w</p:attrName>
                                        </p:attrNameLst>
                                      </p:cBhvr>
                                      <p:tavLst>
                                        <p:tav tm="0">
                                          <p:val>
                                            <p:fltVal val="0"/>
                                          </p:val>
                                        </p:tav>
                                        <p:tav tm="100000">
                                          <p:val>
                                            <p:strVal val="#ppt_w"/>
                                          </p:val>
                                        </p:tav>
                                      </p:tavLst>
                                    </p:anim>
                                    <p:anim calcmode="lin" valueType="num">
                                      <p:cBhvr>
                                        <p:cTn id="25" dur="500" fill="hold"/>
                                        <p:tgtEl>
                                          <p:spTgt spid="20"/>
                                        </p:tgtEl>
                                        <p:attrNameLst>
                                          <p:attrName>ppt_h</p:attrName>
                                        </p:attrNameLst>
                                      </p:cBhvr>
                                      <p:tavLst>
                                        <p:tav tm="0">
                                          <p:val>
                                            <p:fltVal val="0"/>
                                          </p:val>
                                        </p:tav>
                                        <p:tav tm="100000">
                                          <p:val>
                                            <p:strVal val="#ppt_h"/>
                                          </p:val>
                                        </p:tav>
                                      </p:tavLst>
                                    </p:anim>
                                    <p:animEffect transition="in" filter="fade">
                                      <p:cBhvr>
                                        <p:cTn id="26" dur="500"/>
                                        <p:tgtEl>
                                          <p:spTgt spid="20"/>
                                        </p:tgtEl>
                                      </p:cBhvr>
                                    </p:animEffect>
                                  </p:childTnLst>
                                </p:cTn>
                              </p:par>
                              <p:par>
                                <p:cTn id="27" presetID="53" presetClass="entr" presetSubtype="16"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p:cTn id="29" dur="500" fill="hold"/>
                                        <p:tgtEl>
                                          <p:spTgt spid="23"/>
                                        </p:tgtEl>
                                        <p:attrNameLst>
                                          <p:attrName>ppt_w</p:attrName>
                                        </p:attrNameLst>
                                      </p:cBhvr>
                                      <p:tavLst>
                                        <p:tav tm="0">
                                          <p:val>
                                            <p:fltVal val="0"/>
                                          </p:val>
                                        </p:tav>
                                        <p:tav tm="100000">
                                          <p:val>
                                            <p:strVal val="#ppt_w"/>
                                          </p:val>
                                        </p:tav>
                                      </p:tavLst>
                                    </p:anim>
                                    <p:anim calcmode="lin" valueType="num">
                                      <p:cBhvr>
                                        <p:cTn id="30" dur="500" fill="hold"/>
                                        <p:tgtEl>
                                          <p:spTgt spid="23"/>
                                        </p:tgtEl>
                                        <p:attrNameLst>
                                          <p:attrName>ppt_h</p:attrName>
                                        </p:attrNameLst>
                                      </p:cBhvr>
                                      <p:tavLst>
                                        <p:tav tm="0">
                                          <p:val>
                                            <p:fltVal val="0"/>
                                          </p:val>
                                        </p:tav>
                                        <p:tav tm="100000">
                                          <p:val>
                                            <p:strVal val="#ppt_h"/>
                                          </p:val>
                                        </p:tav>
                                      </p:tavLst>
                                    </p:anim>
                                    <p:animEffect transition="in" filter="fade">
                                      <p:cBhvr>
                                        <p:cTn id="31" dur="500"/>
                                        <p:tgtEl>
                                          <p:spTgt spid="23"/>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 calcmode="lin" valueType="num">
                                      <p:cBhvr>
                                        <p:cTn id="34" dur="500" fill="hold"/>
                                        <p:tgtEl>
                                          <p:spTgt spid="24"/>
                                        </p:tgtEl>
                                        <p:attrNameLst>
                                          <p:attrName>ppt_w</p:attrName>
                                        </p:attrNameLst>
                                      </p:cBhvr>
                                      <p:tavLst>
                                        <p:tav tm="0">
                                          <p:val>
                                            <p:fltVal val="0"/>
                                          </p:val>
                                        </p:tav>
                                        <p:tav tm="100000">
                                          <p:val>
                                            <p:strVal val="#ppt_w"/>
                                          </p:val>
                                        </p:tav>
                                      </p:tavLst>
                                    </p:anim>
                                    <p:anim calcmode="lin" valueType="num">
                                      <p:cBhvr>
                                        <p:cTn id="35" dur="500" fill="hold"/>
                                        <p:tgtEl>
                                          <p:spTgt spid="24"/>
                                        </p:tgtEl>
                                        <p:attrNameLst>
                                          <p:attrName>ppt_h</p:attrName>
                                        </p:attrNameLst>
                                      </p:cBhvr>
                                      <p:tavLst>
                                        <p:tav tm="0">
                                          <p:val>
                                            <p:fltVal val="0"/>
                                          </p:val>
                                        </p:tav>
                                        <p:tav tm="100000">
                                          <p:val>
                                            <p:strVal val="#ppt_h"/>
                                          </p:val>
                                        </p:tav>
                                      </p:tavLst>
                                    </p:anim>
                                    <p:animEffect transition="in" filter="fade">
                                      <p:cBhvr>
                                        <p:cTn id="36" dur="500"/>
                                        <p:tgtEl>
                                          <p:spTgt spid="24"/>
                                        </p:tgtEl>
                                      </p:cBhvr>
                                    </p:animEffect>
                                  </p:childTnLst>
                                </p:cTn>
                              </p:par>
                              <p:par>
                                <p:cTn id="37" presetID="53" presetClass="entr" presetSubtype="16" fill="hold" grpId="0" nodeType="withEffect">
                                  <p:stCondLst>
                                    <p:cond delay="0"/>
                                  </p:stCondLst>
                                  <p:childTnLst>
                                    <p:set>
                                      <p:cBhvr>
                                        <p:cTn id="38" dur="1" fill="hold">
                                          <p:stCondLst>
                                            <p:cond delay="0"/>
                                          </p:stCondLst>
                                        </p:cTn>
                                        <p:tgtEl>
                                          <p:spTgt spid="25"/>
                                        </p:tgtEl>
                                        <p:attrNameLst>
                                          <p:attrName>style.visibility</p:attrName>
                                        </p:attrNameLst>
                                      </p:cBhvr>
                                      <p:to>
                                        <p:strVal val="visible"/>
                                      </p:to>
                                    </p:set>
                                    <p:anim calcmode="lin" valueType="num">
                                      <p:cBhvr>
                                        <p:cTn id="39" dur="500" fill="hold"/>
                                        <p:tgtEl>
                                          <p:spTgt spid="25"/>
                                        </p:tgtEl>
                                        <p:attrNameLst>
                                          <p:attrName>ppt_w</p:attrName>
                                        </p:attrNameLst>
                                      </p:cBhvr>
                                      <p:tavLst>
                                        <p:tav tm="0">
                                          <p:val>
                                            <p:fltVal val="0"/>
                                          </p:val>
                                        </p:tav>
                                        <p:tav tm="100000">
                                          <p:val>
                                            <p:strVal val="#ppt_w"/>
                                          </p:val>
                                        </p:tav>
                                      </p:tavLst>
                                    </p:anim>
                                    <p:anim calcmode="lin" valueType="num">
                                      <p:cBhvr>
                                        <p:cTn id="40" dur="500" fill="hold"/>
                                        <p:tgtEl>
                                          <p:spTgt spid="25"/>
                                        </p:tgtEl>
                                        <p:attrNameLst>
                                          <p:attrName>ppt_h</p:attrName>
                                        </p:attrNameLst>
                                      </p:cBhvr>
                                      <p:tavLst>
                                        <p:tav tm="0">
                                          <p:val>
                                            <p:fltVal val="0"/>
                                          </p:val>
                                        </p:tav>
                                        <p:tav tm="100000">
                                          <p:val>
                                            <p:strVal val="#ppt_h"/>
                                          </p:val>
                                        </p:tav>
                                      </p:tavLst>
                                    </p:anim>
                                    <p:animEffect transition="in" filter="fade">
                                      <p:cBhvr>
                                        <p:cTn id="41" dur="500"/>
                                        <p:tgtEl>
                                          <p:spTgt spid="25"/>
                                        </p:tgtEl>
                                      </p:cBhvr>
                                    </p:animEffect>
                                  </p:childTnLst>
                                </p:cTn>
                              </p:par>
                              <p:par>
                                <p:cTn id="42" presetID="53" presetClass="entr" presetSubtype="16"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 calcmode="lin" valueType="num">
                                      <p:cBhvr>
                                        <p:cTn id="44" dur="500" fill="hold"/>
                                        <p:tgtEl>
                                          <p:spTgt spid="26"/>
                                        </p:tgtEl>
                                        <p:attrNameLst>
                                          <p:attrName>ppt_w</p:attrName>
                                        </p:attrNameLst>
                                      </p:cBhvr>
                                      <p:tavLst>
                                        <p:tav tm="0">
                                          <p:val>
                                            <p:fltVal val="0"/>
                                          </p:val>
                                        </p:tav>
                                        <p:tav tm="100000">
                                          <p:val>
                                            <p:strVal val="#ppt_w"/>
                                          </p:val>
                                        </p:tav>
                                      </p:tavLst>
                                    </p:anim>
                                    <p:anim calcmode="lin" valueType="num">
                                      <p:cBhvr>
                                        <p:cTn id="45" dur="500" fill="hold"/>
                                        <p:tgtEl>
                                          <p:spTgt spid="26"/>
                                        </p:tgtEl>
                                        <p:attrNameLst>
                                          <p:attrName>ppt_h</p:attrName>
                                        </p:attrNameLst>
                                      </p:cBhvr>
                                      <p:tavLst>
                                        <p:tav tm="0">
                                          <p:val>
                                            <p:fltVal val="0"/>
                                          </p:val>
                                        </p:tav>
                                        <p:tav tm="100000">
                                          <p:val>
                                            <p:strVal val="#ppt_h"/>
                                          </p:val>
                                        </p:tav>
                                      </p:tavLst>
                                    </p:anim>
                                    <p:animEffect transition="in" filter="fade">
                                      <p:cBhvr>
                                        <p:cTn id="46" dur="500"/>
                                        <p:tgtEl>
                                          <p:spTgt spid="26"/>
                                        </p:tgtEl>
                                      </p:cBhvr>
                                    </p:animEffect>
                                  </p:childTnLst>
                                </p:cTn>
                              </p:par>
                              <p:par>
                                <p:cTn id="47" presetID="53" presetClass="entr" presetSubtype="16" fill="hold" grpId="0" nodeType="withEffect">
                                  <p:stCondLst>
                                    <p:cond delay="0"/>
                                  </p:stCondLst>
                                  <p:childTnLst>
                                    <p:set>
                                      <p:cBhvr>
                                        <p:cTn id="48" dur="1" fill="hold">
                                          <p:stCondLst>
                                            <p:cond delay="0"/>
                                          </p:stCondLst>
                                        </p:cTn>
                                        <p:tgtEl>
                                          <p:spTgt spid="38"/>
                                        </p:tgtEl>
                                        <p:attrNameLst>
                                          <p:attrName>style.visibility</p:attrName>
                                        </p:attrNameLst>
                                      </p:cBhvr>
                                      <p:to>
                                        <p:strVal val="visible"/>
                                      </p:to>
                                    </p:set>
                                    <p:anim calcmode="lin" valueType="num">
                                      <p:cBhvr>
                                        <p:cTn id="49" dur="500" fill="hold"/>
                                        <p:tgtEl>
                                          <p:spTgt spid="38"/>
                                        </p:tgtEl>
                                        <p:attrNameLst>
                                          <p:attrName>ppt_w</p:attrName>
                                        </p:attrNameLst>
                                      </p:cBhvr>
                                      <p:tavLst>
                                        <p:tav tm="0">
                                          <p:val>
                                            <p:fltVal val="0"/>
                                          </p:val>
                                        </p:tav>
                                        <p:tav tm="100000">
                                          <p:val>
                                            <p:strVal val="#ppt_w"/>
                                          </p:val>
                                        </p:tav>
                                      </p:tavLst>
                                    </p:anim>
                                    <p:anim calcmode="lin" valueType="num">
                                      <p:cBhvr>
                                        <p:cTn id="50" dur="500" fill="hold"/>
                                        <p:tgtEl>
                                          <p:spTgt spid="38"/>
                                        </p:tgtEl>
                                        <p:attrNameLst>
                                          <p:attrName>ppt_h</p:attrName>
                                        </p:attrNameLst>
                                      </p:cBhvr>
                                      <p:tavLst>
                                        <p:tav tm="0">
                                          <p:val>
                                            <p:fltVal val="0"/>
                                          </p:val>
                                        </p:tav>
                                        <p:tav tm="100000">
                                          <p:val>
                                            <p:strVal val="#ppt_h"/>
                                          </p:val>
                                        </p:tav>
                                      </p:tavLst>
                                    </p:anim>
                                    <p:animEffect transition="in" filter="fade">
                                      <p:cBhvr>
                                        <p:cTn id="51" dur="500"/>
                                        <p:tgtEl>
                                          <p:spTgt spid="38"/>
                                        </p:tgtEl>
                                      </p:cBhvr>
                                    </p:animEffect>
                                  </p:childTnLst>
                                </p:cTn>
                              </p:par>
                              <p:par>
                                <p:cTn id="52" presetID="53" presetClass="entr" presetSubtype="16" fill="hold" grpId="0" nodeType="withEffect">
                                  <p:stCondLst>
                                    <p:cond delay="0"/>
                                  </p:stCondLst>
                                  <p:childTnLst>
                                    <p:set>
                                      <p:cBhvr>
                                        <p:cTn id="53" dur="1" fill="hold">
                                          <p:stCondLst>
                                            <p:cond delay="0"/>
                                          </p:stCondLst>
                                        </p:cTn>
                                        <p:tgtEl>
                                          <p:spTgt spid="58"/>
                                        </p:tgtEl>
                                        <p:attrNameLst>
                                          <p:attrName>style.visibility</p:attrName>
                                        </p:attrNameLst>
                                      </p:cBhvr>
                                      <p:to>
                                        <p:strVal val="visible"/>
                                      </p:to>
                                    </p:set>
                                    <p:anim calcmode="lin" valueType="num">
                                      <p:cBhvr>
                                        <p:cTn id="54" dur="500" fill="hold"/>
                                        <p:tgtEl>
                                          <p:spTgt spid="58"/>
                                        </p:tgtEl>
                                        <p:attrNameLst>
                                          <p:attrName>ppt_w</p:attrName>
                                        </p:attrNameLst>
                                      </p:cBhvr>
                                      <p:tavLst>
                                        <p:tav tm="0">
                                          <p:val>
                                            <p:fltVal val="0"/>
                                          </p:val>
                                        </p:tav>
                                        <p:tav tm="100000">
                                          <p:val>
                                            <p:strVal val="#ppt_w"/>
                                          </p:val>
                                        </p:tav>
                                      </p:tavLst>
                                    </p:anim>
                                    <p:anim calcmode="lin" valueType="num">
                                      <p:cBhvr>
                                        <p:cTn id="55" dur="500" fill="hold"/>
                                        <p:tgtEl>
                                          <p:spTgt spid="58"/>
                                        </p:tgtEl>
                                        <p:attrNameLst>
                                          <p:attrName>ppt_h</p:attrName>
                                        </p:attrNameLst>
                                      </p:cBhvr>
                                      <p:tavLst>
                                        <p:tav tm="0">
                                          <p:val>
                                            <p:fltVal val="0"/>
                                          </p:val>
                                        </p:tav>
                                        <p:tav tm="100000">
                                          <p:val>
                                            <p:strVal val="#ppt_h"/>
                                          </p:val>
                                        </p:tav>
                                      </p:tavLst>
                                    </p:anim>
                                    <p:animEffect transition="in" filter="fade">
                                      <p:cBhvr>
                                        <p:cTn id="56" dur="500"/>
                                        <p:tgtEl>
                                          <p:spTgt spid="58"/>
                                        </p:tgtEl>
                                      </p:cBhvr>
                                    </p:animEffect>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59"/>
                                        </p:tgtEl>
                                        <p:attrNameLst>
                                          <p:attrName>style.visibility</p:attrName>
                                        </p:attrNameLst>
                                      </p:cBhvr>
                                      <p:to>
                                        <p:strVal val="visible"/>
                                      </p:to>
                                    </p:set>
                                    <p:animEffect transition="in" filter="fade">
                                      <p:cBhvr>
                                        <p:cTn id="61" dur="1000"/>
                                        <p:tgtEl>
                                          <p:spTgt spid="59"/>
                                        </p:tgtEl>
                                      </p:cBhvr>
                                    </p:animEffect>
                                    <p:anim calcmode="lin" valueType="num">
                                      <p:cBhvr>
                                        <p:cTn id="62" dur="1000" fill="hold"/>
                                        <p:tgtEl>
                                          <p:spTgt spid="59"/>
                                        </p:tgtEl>
                                        <p:attrNameLst>
                                          <p:attrName>ppt_x</p:attrName>
                                        </p:attrNameLst>
                                      </p:cBhvr>
                                      <p:tavLst>
                                        <p:tav tm="0">
                                          <p:val>
                                            <p:strVal val="#ppt_x"/>
                                          </p:val>
                                        </p:tav>
                                        <p:tav tm="100000">
                                          <p:val>
                                            <p:strVal val="#ppt_x"/>
                                          </p:val>
                                        </p:tav>
                                      </p:tavLst>
                                    </p:anim>
                                    <p:anim calcmode="lin" valueType="num">
                                      <p:cBhvr>
                                        <p:cTn id="63"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16" presetClass="entr" presetSubtype="21" fill="hold" grpId="0" nodeType="clickEffect">
                                  <p:stCondLst>
                                    <p:cond delay="0"/>
                                  </p:stCondLst>
                                  <p:childTnLst>
                                    <p:set>
                                      <p:cBhvr>
                                        <p:cTn id="67" dur="1" fill="hold">
                                          <p:stCondLst>
                                            <p:cond delay="0"/>
                                          </p:stCondLst>
                                        </p:cTn>
                                        <p:tgtEl>
                                          <p:spTgt spid="60"/>
                                        </p:tgtEl>
                                        <p:attrNameLst>
                                          <p:attrName>style.visibility</p:attrName>
                                        </p:attrNameLst>
                                      </p:cBhvr>
                                      <p:to>
                                        <p:strVal val="visible"/>
                                      </p:to>
                                    </p:set>
                                    <p:animEffect transition="in" filter="barn(inVertical)">
                                      <p:cBhvr>
                                        <p:cTn id="68" dur="500"/>
                                        <p:tgtEl>
                                          <p:spTgt spid="60"/>
                                        </p:tgtEl>
                                      </p:cBhvr>
                                    </p:animEffect>
                                  </p:childTnLst>
                                </p:cTn>
                              </p:par>
                              <p:par>
                                <p:cTn id="69" presetID="16" presetClass="entr" presetSubtype="21" fill="hold" grpId="0" nodeType="withEffect">
                                  <p:stCondLst>
                                    <p:cond delay="0"/>
                                  </p:stCondLst>
                                  <p:childTnLst>
                                    <p:set>
                                      <p:cBhvr>
                                        <p:cTn id="70" dur="1" fill="hold">
                                          <p:stCondLst>
                                            <p:cond delay="0"/>
                                          </p:stCondLst>
                                        </p:cTn>
                                        <p:tgtEl>
                                          <p:spTgt spid="39"/>
                                        </p:tgtEl>
                                        <p:attrNameLst>
                                          <p:attrName>style.visibility</p:attrName>
                                        </p:attrNameLst>
                                      </p:cBhvr>
                                      <p:to>
                                        <p:strVal val="visible"/>
                                      </p:to>
                                    </p:set>
                                    <p:animEffect transition="in" filter="barn(inVertical)">
                                      <p:cBhvr>
                                        <p:cTn id="71" dur="500"/>
                                        <p:tgtEl>
                                          <p:spTgt spid="39"/>
                                        </p:tgtEl>
                                      </p:cBhvr>
                                    </p:animEffect>
                                  </p:childTnLst>
                                </p:cTn>
                              </p:par>
                              <p:par>
                                <p:cTn id="72" presetID="16" presetClass="entr" presetSubtype="21" fill="hold" grpId="0" nodeType="withEffect">
                                  <p:stCondLst>
                                    <p:cond delay="0"/>
                                  </p:stCondLst>
                                  <p:childTnLst>
                                    <p:set>
                                      <p:cBhvr>
                                        <p:cTn id="73" dur="1" fill="hold">
                                          <p:stCondLst>
                                            <p:cond delay="0"/>
                                          </p:stCondLst>
                                        </p:cTn>
                                        <p:tgtEl>
                                          <p:spTgt spid="61"/>
                                        </p:tgtEl>
                                        <p:attrNameLst>
                                          <p:attrName>style.visibility</p:attrName>
                                        </p:attrNameLst>
                                      </p:cBhvr>
                                      <p:to>
                                        <p:strVal val="visible"/>
                                      </p:to>
                                    </p:set>
                                    <p:animEffect transition="in" filter="barn(inVertical)">
                                      <p:cBhvr>
                                        <p:cTn id="74" dur="500"/>
                                        <p:tgtEl>
                                          <p:spTgt spid="61"/>
                                        </p:tgtEl>
                                      </p:cBhvr>
                                    </p:animEffect>
                                  </p:childTnLst>
                                </p:cTn>
                              </p:par>
                              <p:par>
                                <p:cTn id="75" presetID="16" presetClass="entr" presetSubtype="21" fill="hold" grpId="0" nodeType="withEffect">
                                  <p:stCondLst>
                                    <p:cond delay="0"/>
                                  </p:stCondLst>
                                  <p:childTnLst>
                                    <p:set>
                                      <p:cBhvr>
                                        <p:cTn id="76" dur="1" fill="hold">
                                          <p:stCondLst>
                                            <p:cond delay="0"/>
                                          </p:stCondLst>
                                        </p:cTn>
                                        <p:tgtEl>
                                          <p:spTgt spid="62"/>
                                        </p:tgtEl>
                                        <p:attrNameLst>
                                          <p:attrName>style.visibility</p:attrName>
                                        </p:attrNameLst>
                                      </p:cBhvr>
                                      <p:to>
                                        <p:strVal val="visible"/>
                                      </p:to>
                                    </p:set>
                                    <p:animEffect transition="in" filter="barn(inVertical)">
                                      <p:cBhvr>
                                        <p:cTn id="77" dur="500"/>
                                        <p:tgtEl>
                                          <p:spTgt spid="62"/>
                                        </p:tgtEl>
                                      </p:cBhvr>
                                    </p:animEffect>
                                  </p:childTnLst>
                                </p:cTn>
                              </p:par>
                            </p:childTnLst>
                          </p:cTn>
                        </p:par>
                      </p:childTnLst>
                    </p:cTn>
                  </p:par>
                  <p:par>
                    <p:cTn id="78" fill="hold">
                      <p:stCondLst>
                        <p:cond delay="indefinite"/>
                      </p:stCondLst>
                      <p:childTnLst>
                        <p:par>
                          <p:cTn id="79" fill="hold">
                            <p:stCondLst>
                              <p:cond delay="0"/>
                            </p:stCondLst>
                            <p:childTnLst>
                              <p:par>
                                <p:cTn id="80" presetID="16" presetClass="entr" presetSubtype="21" fill="hold" grpId="0" nodeType="clickEffect">
                                  <p:stCondLst>
                                    <p:cond delay="0"/>
                                  </p:stCondLst>
                                  <p:childTnLst>
                                    <p:set>
                                      <p:cBhvr>
                                        <p:cTn id="81" dur="1" fill="hold">
                                          <p:stCondLst>
                                            <p:cond delay="0"/>
                                          </p:stCondLst>
                                        </p:cTn>
                                        <p:tgtEl>
                                          <p:spTgt spid="63"/>
                                        </p:tgtEl>
                                        <p:attrNameLst>
                                          <p:attrName>style.visibility</p:attrName>
                                        </p:attrNameLst>
                                      </p:cBhvr>
                                      <p:to>
                                        <p:strVal val="visible"/>
                                      </p:to>
                                    </p:set>
                                    <p:animEffect transition="in" filter="barn(inVertical)">
                                      <p:cBhvr>
                                        <p:cTn id="82" dur="500"/>
                                        <p:tgtEl>
                                          <p:spTgt spid="63"/>
                                        </p:tgtEl>
                                      </p:cBhvr>
                                    </p:animEffect>
                                  </p:childTnLst>
                                </p:cTn>
                              </p:par>
                              <p:par>
                                <p:cTn id="83" presetID="16" presetClass="entr" presetSubtype="21" fill="hold" grpId="0" nodeType="withEffect">
                                  <p:stCondLst>
                                    <p:cond delay="0"/>
                                  </p:stCondLst>
                                  <p:childTnLst>
                                    <p:set>
                                      <p:cBhvr>
                                        <p:cTn id="84" dur="1" fill="hold">
                                          <p:stCondLst>
                                            <p:cond delay="0"/>
                                          </p:stCondLst>
                                        </p:cTn>
                                        <p:tgtEl>
                                          <p:spTgt spid="40"/>
                                        </p:tgtEl>
                                        <p:attrNameLst>
                                          <p:attrName>style.visibility</p:attrName>
                                        </p:attrNameLst>
                                      </p:cBhvr>
                                      <p:to>
                                        <p:strVal val="visible"/>
                                      </p:to>
                                    </p:set>
                                    <p:animEffect transition="in" filter="barn(inVertical)">
                                      <p:cBhvr>
                                        <p:cTn id="85" dur="500"/>
                                        <p:tgtEl>
                                          <p:spTgt spid="40"/>
                                        </p:tgtEl>
                                      </p:cBhvr>
                                    </p:animEffect>
                                  </p:childTnLst>
                                </p:cTn>
                              </p:par>
                              <p:par>
                                <p:cTn id="86" presetID="16" presetClass="entr" presetSubtype="21" fill="hold" grpId="0" nodeType="withEffect">
                                  <p:stCondLst>
                                    <p:cond delay="0"/>
                                  </p:stCondLst>
                                  <p:childTnLst>
                                    <p:set>
                                      <p:cBhvr>
                                        <p:cTn id="87" dur="1" fill="hold">
                                          <p:stCondLst>
                                            <p:cond delay="0"/>
                                          </p:stCondLst>
                                        </p:cTn>
                                        <p:tgtEl>
                                          <p:spTgt spid="64"/>
                                        </p:tgtEl>
                                        <p:attrNameLst>
                                          <p:attrName>style.visibility</p:attrName>
                                        </p:attrNameLst>
                                      </p:cBhvr>
                                      <p:to>
                                        <p:strVal val="visible"/>
                                      </p:to>
                                    </p:set>
                                    <p:animEffect transition="in" filter="barn(inVertical)">
                                      <p:cBhvr>
                                        <p:cTn id="88" dur="500"/>
                                        <p:tgtEl>
                                          <p:spTgt spid="64"/>
                                        </p:tgtEl>
                                      </p:cBhvr>
                                    </p:animEffect>
                                  </p:childTnLst>
                                </p:cTn>
                              </p:par>
                            </p:childTnLst>
                          </p:cTn>
                        </p:par>
                      </p:childTnLst>
                    </p:cTn>
                  </p:par>
                  <p:par>
                    <p:cTn id="89" fill="hold">
                      <p:stCondLst>
                        <p:cond delay="indefinite"/>
                      </p:stCondLst>
                      <p:childTnLst>
                        <p:par>
                          <p:cTn id="90" fill="hold">
                            <p:stCondLst>
                              <p:cond delay="0"/>
                            </p:stCondLst>
                            <p:childTnLst>
                              <p:par>
                                <p:cTn id="91" presetID="16" presetClass="entr" presetSubtype="21" fill="hold" grpId="0" nodeType="clickEffect">
                                  <p:stCondLst>
                                    <p:cond delay="0"/>
                                  </p:stCondLst>
                                  <p:childTnLst>
                                    <p:set>
                                      <p:cBhvr>
                                        <p:cTn id="92" dur="1" fill="hold">
                                          <p:stCondLst>
                                            <p:cond delay="0"/>
                                          </p:stCondLst>
                                        </p:cTn>
                                        <p:tgtEl>
                                          <p:spTgt spid="21"/>
                                        </p:tgtEl>
                                        <p:attrNameLst>
                                          <p:attrName>style.visibility</p:attrName>
                                        </p:attrNameLst>
                                      </p:cBhvr>
                                      <p:to>
                                        <p:strVal val="visible"/>
                                      </p:to>
                                    </p:set>
                                    <p:animEffect transition="in" filter="barn(inVertical)">
                                      <p:cBhvr>
                                        <p:cTn id="93" dur="500"/>
                                        <p:tgtEl>
                                          <p:spTgt spid="21"/>
                                        </p:tgtEl>
                                      </p:cBhvr>
                                    </p:animEffect>
                                  </p:childTnLst>
                                </p:cTn>
                              </p:par>
                              <p:par>
                                <p:cTn id="94" presetID="16" presetClass="entr" presetSubtype="21" fill="hold" grpId="0" nodeType="withEffect">
                                  <p:stCondLst>
                                    <p:cond delay="0"/>
                                  </p:stCondLst>
                                  <p:childTnLst>
                                    <p:set>
                                      <p:cBhvr>
                                        <p:cTn id="95" dur="1" fill="hold">
                                          <p:stCondLst>
                                            <p:cond delay="0"/>
                                          </p:stCondLst>
                                        </p:cTn>
                                        <p:tgtEl>
                                          <p:spTgt spid="41"/>
                                        </p:tgtEl>
                                        <p:attrNameLst>
                                          <p:attrName>style.visibility</p:attrName>
                                        </p:attrNameLst>
                                      </p:cBhvr>
                                      <p:to>
                                        <p:strVal val="visible"/>
                                      </p:to>
                                    </p:set>
                                    <p:animEffect transition="in" filter="barn(inVertical)">
                                      <p:cBhvr>
                                        <p:cTn id="96" dur="500"/>
                                        <p:tgtEl>
                                          <p:spTgt spid="41"/>
                                        </p:tgtEl>
                                      </p:cBhvr>
                                    </p:animEffect>
                                  </p:childTnLst>
                                </p:cTn>
                              </p:par>
                              <p:par>
                                <p:cTn id="97" presetID="16" presetClass="entr" presetSubtype="21" fill="hold" grpId="0" nodeType="withEffect">
                                  <p:stCondLst>
                                    <p:cond delay="0"/>
                                  </p:stCondLst>
                                  <p:childTnLst>
                                    <p:set>
                                      <p:cBhvr>
                                        <p:cTn id="98" dur="1" fill="hold">
                                          <p:stCondLst>
                                            <p:cond delay="0"/>
                                          </p:stCondLst>
                                        </p:cTn>
                                        <p:tgtEl>
                                          <p:spTgt spid="65"/>
                                        </p:tgtEl>
                                        <p:attrNameLst>
                                          <p:attrName>style.visibility</p:attrName>
                                        </p:attrNameLst>
                                      </p:cBhvr>
                                      <p:to>
                                        <p:strVal val="visible"/>
                                      </p:to>
                                    </p:set>
                                    <p:animEffect transition="in" filter="barn(inVertical)">
                                      <p:cBhvr>
                                        <p:cTn id="99" dur="500"/>
                                        <p:tgtEl>
                                          <p:spTgt spid="65"/>
                                        </p:tgtEl>
                                      </p:cBhvr>
                                    </p:animEffect>
                                  </p:childTnLst>
                                </p:cTn>
                              </p:par>
                            </p:childTnLst>
                          </p:cTn>
                        </p:par>
                      </p:childTnLst>
                    </p:cTn>
                  </p:par>
                  <p:par>
                    <p:cTn id="100" fill="hold">
                      <p:stCondLst>
                        <p:cond delay="indefinite"/>
                      </p:stCondLst>
                      <p:childTnLst>
                        <p:par>
                          <p:cTn id="101" fill="hold">
                            <p:stCondLst>
                              <p:cond delay="0"/>
                            </p:stCondLst>
                            <p:childTnLst>
                              <p:par>
                                <p:cTn id="102" presetID="16" presetClass="entr" presetSubtype="21" fill="hold" grpId="0" nodeType="clickEffect">
                                  <p:stCondLst>
                                    <p:cond delay="0"/>
                                  </p:stCondLst>
                                  <p:childTnLst>
                                    <p:set>
                                      <p:cBhvr>
                                        <p:cTn id="103" dur="1" fill="hold">
                                          <p:stCondLst>
                                            <p:cond delay="0"/>
                                          </p:stCondLst>
                                        </p:cTn>
                                        <p:tgtEl>
                                          <p:spTgt spid="66"/>
                                        </p:tgtEl>
                                        <p:attrNameLst>
                                          <p:attrName>style.visibility</p:attrName>
                                        </p:attrNameLst>
                                      </p:cBhvr>
                                      <p:to>
                                        <p:strVal val="visible"/>
                                      </p:to>
                                    </p:set>
                                    <p:animEffect transition="in" filter="barn(inVertical)">
                                      <p:cBhvr>
                                        <p:cTn id="104" dur="500"/>
                                        <p:tgtEl>
                                          <p:spTgt spid="66"/>
                                        </p:tgtEl>
                                      </p:cBhvr>
                                    </p:animEffect>
                                  </p:childTnLst>
                                </p:cTn>
                              </p:par>
                              <p:par>
                                <p:cTn id="105" presetID="16" presetClass="entr" presetSubtype="21" fill="hold" grpId="0" nodeType="withEffect">
                                  <p:stCondLst>
                                    <p:cond delay="0"/>
                                  </p:stCondLst>
                                  <p:childTnLst>
                                    <p:set>
                                      <p:cBhvr>
                                        <p:cTn id="106" dur="1" fill="hold">
                                          <p:stCondLst>
                                            <p:cond delay="0"/>
                                          </p:stCondLst>
                                        </p:cTn>
                                        <p:tgtEl>
                                          <p:spTgt spid="42"/>
                                        </p:tgtEl>
                                        <p:attrNameLst>
                                          <p:attrName>style.visibility</p:attrName>
                                        </p:attrNameLst>
                                      </p:cBhvr>
                                      <p:to>
                                        <p:strVal val="visible"/>
                                      </p:to>
                                    </p:set>
                                    <p:animEffect transition="in" filter="barn(inVertical)">
                                      <p:cBhvr>
                                        <p:cTn id="107" dur="500"/>
                                        <p:tgtEl>
                                          <p:spTgt spid="42"/>
                                        </p:tgtEl>
                                      </p:cBhvr>
                                    </p:animEffect>
                                  </p:childTnLst>
                                </p:cTn>
                              </p:par>
                              <p:par>
                                <p:cTn id="108" presetID="16" presetClass="entr" presetSubtype="21" fill="hold" grpId="0" nodeType="withEffect">
                                  <p:stCondLst>
                                    <p:cond delay="0"/>
                                  </p:stCondLst>
                                  <p:childTnLst>
                                    <p:set>
                                      <p:cBhvr>
                                        <p:cTn id="109" dur="1" fill="hold">
                                          <p:stCondLst>
                                            <p:cond delay="0"/>
                                          </p:stCondLst>
                                        </p:cTn>
                                        <p:tgtEl>
                                          <p:spTgt spid="67"/>
                                        </p:tgtEl>
                                        <p:attrNameLst>
                                          <p:attrName>style.visibility</p:attrName>
                                        </p:attrNameLst>
                                      </p:cBhvr>
                                      <p:to>
                                        <p:strVal val="visible"/>
                                      </p:to>
                                    </p:set>
                                    <p:animEffect transition="in" filter="barn(inVertical)">
                                      <p:cBhvr>
                                        <p:cTn id="110" dur="500"/>
                                        <p:tgtEl>
                                          <p:spTgt spid="67"/>
                                        </p:tgtEl>
                                      </p:cBhvr>
                                    </p:animEffect>
                                  </p:childTnLst>
                                </p:cTn>
                              </p:par>
                            </p:childTnLst>
                          </p:cTn>
                        </p:par>
                      </p:childTnLst>
                    </p:cTn>
                  </p:par>
                  <p:par>
                    <p:cTn id="111" fill="hold">
                      <p:stCondLst>
                        <p:cond delay="indefinite"/>
                      </p:stCondLst>
                      <p:childTnLst>
                        <p:par>
                          <p:cTn id="112" fill="hold">
                            <p:stCondLst>
                              <p:cond delay="0"/>
                            </p:stCondLst>
                            <p:childTnLst>
                              <p:par>
                                <p:cTn id="113" presetID="22" presetClass="entr" presetSubtype="4" fill="hold" nodeType="clickEffect">
                                  <p:stCondLst>
                                    <p:cond delay="0"/>
                                  </p:stCondLst>
                                  <p:childTnLst>
                                    <p:set>
                                      <p:cBhvr>
                                        <p:cTn id="114" dur="1" fill="hold">
                                          <p:stCondLst>
                                            <p:cond delay="0"/>
                                          </p:stCondLst>
                                        </p:cTn>
                                        <p:tgtEl>
                                          <p:spTgt spid="3"/>
                                        </p:tgtEl>
                                        <p:attrNameLst>
                                          <p:attrName>style.visibility</p:attrName>
                                        </p:attrNameLst>
                                      </p:cBhvr>
                                      <p:to>
                                        <p:strVal val="visible"/>
                                      </p:to>
                                    </p:set>
                                    <p:animEffect transition="in" filter="wipe(down)">
                                      <p:cBhvr>
                                        <p:cTn id="115" dur="500"/>
                                        <p:tgtEl>
                                          <p:spTgt spid="3"/>
                                        </p:tgtEl>
                                      </p:cBhvr>
                                    </p:animEffect>
                                  </p:childTnLst>
                                </p:cTn>
                              </p:par>
                              <p:par>
                                <p:cTn id="116" presetID="22" presetClass="entr" presetSubtype="4" fill="hold" grpId="0" nodeType="withEffect">
                                  <p:stCondLst>
                                    <p:cond delay="0"/>
                                  </p:stCondLst>
                                  <p:childTnLst>
                                    <p:set>
                                      <p:cBhvr>
                                        <p:cTn id="117" dur="1" fill="hold">
                                          <p:stCondLst>
                                            <p:cond delay="0"/>
                                          </p:stCondLst>
                                        </p:cTn>
                                        <p:tgtEl>
                                          <p:spTgt spid="68"/>
                                        </p:tgtEl>
                                        <p:attrNameLst>
                                          <p:attrName>style.visibility</p:attrName>
                                        </p:attrNameLst>
                                      </p:cBhvr>
                                      <p:to>
                                        <p:strVal val="visible"/>
                                      </p:to>
                                    </p:set>
                                    <p:animEffect transition="in" filter="wipe(down)">
                                      <p:cBhvr>
                                        <p:cTn id="118" dur="500"/>
                                        <p:tgtEl>
                                          <p:spTgt spid="68"/>
                                        </p:tgtEl>
                                      </p:cBhvr>
                                    </p:animEffect>
                                  </p:childTnLst>
                                </p:cTn>
                              </p:par>
                              <p:par>
                                <p:cTn id="119" presetID="22" presetClass="entr" presetSubtype="4" fill="hold" grpId="0" nodeType="withEffect">
                                  <p:stCondLst>
                                    <p:cond delay="0"/>
                                  </p:stCondLst>
                                  <p:childTnLst>
                                    <p:set>
                                      <p:cBhvr>
                                        <p:cTn id="120" dur="1" fill="hold">
                                          <p:stCondLst>
                                            <p:cond delay="0"/>
                                          </p:stCondLst>
                                        </p:cTn>
                                        <p:tgtEl>
                                          <p:spTgt spid="69"/>
                                        </p:tgtEl>
                                        <p:attrNameLst>
                                          <p:attrName>style.visibility</p:attrName>
                                        </p:attrNameLst>
                                      </p:cBhvr>
                                      <p:to>
                                        <p:strVal val="visible"/>
                                      </p:to>
                                    </p:set>
                                    <p:animEffect transition="in" filter="wipe(down)">
                                      <p:cBhvr>
                                        <p:cTn id="121" dur="500"/>
                                        <p:tgtEl>
                                          <p:spTgt spid="69"/>
                                        </p:tgtEl>
                                      </p:cBhvr>
                                    </p:animEffect>
                                  </p:childTnLst>
                                </p:cTn>
                              </p:par>
                              <p:par>
                                <p:cTn id="122" presetID="22" presetClass="entr" presetSubtype="4" fill="hold" grpId="0" nodeType="withEffect">
                                  <p:stCondLst>
                                    <p:cond delay="0"/>
                                  </p:stCondLst>
                                  <p:childTnLst>
                                    <p:set>
                                      <p:cBhvr>
                                        <p:cTn id="123" dur="1" fill="hold">
                                          <p:stCondLst>
                                            <p:cond delay="0"/>
                                          </p:stCondLst>
                                        </p:cTn>
                                        <p:tgtEl>
                                          <p:spTgt spid="70"/>
                                        </p:tgtEl>
                                        <p:attrNameLst>
                                          <p:attrName>style.visibility</p:attrName>
                                        </p:attrNameLst>
                                      </p:cBhvr>
                                      <p:to>
                                        <p:strVal val="visible"/>
                                      </p:to>
                                    </p:set>
                                    <p:animEffect transition="in" filter="wipe(down)">
                                      <p:cBhvr>
                                        <p:cTn id="124" dur="500"/>
                                        <p:tgtEl>
                                          <p:spTgt spid="70"/>
                                        </p:tgtEl>
                                      </p:cBhvr>
                                    </p:animEffect>
                                  </p:childTnLst>
                                </p:cTn>
                              </p:par>
                              <p:par>
                                <p:cTn id="125" presetID="22" presetClass="entr" presetSubtype="4" fill="hold" grpId="0" nodeType="withEffect">
                                  <p:stCondLst>
                                    <p:cond delay="0"/>
                                  </p:stCondLst>
                                  <p:childTnLst>
                                    <p:set>
                                      <p:cBhvr>
                                        <p:cTn id="126" dur="1" fill="hold">
                                          <p:stCondLst>
                                            <p:cond delay="0"/>
                                          </p:stCondLst>
                                        </p:cTn>
                                        <p:tgtEl>
                                          <p:spTgt spid="71"/>
                                        </p:tgtEl>
                                        <p:attrNameLst>
                                          <p:attrName>style.visibility</p:attrName>
                                        </p:attrNameLst>
                                      </p:cBhvr>
                                      <p:to>
                                        <p:strVal val="visible"/>
                                      </p:to>
                                    </p:set>
                                    <p:animEffect transition="in" filter="wipe(down)">
                                      <p:cBhvr>
                                        <p:cTn id="127" dur="500"/>
                                        <p:tgtEl>
                                          <p:spTgt spid="71"/>
                                        </p:tgtEl>
                                      </p:cBhvr>
                                    </p:animEffect>
                                  </p:childTnLst>
                                </p:cTn>
                              </p:par>
                              <p:par>
                                <p:cTn id="128" presetID="22" presetClass="entr" presetSubtype="4" fill="hold" grpId="0" nodeType="withEffect">
                                  <p:stCondLst>
                                    <p:cond delay="0"/>
                                  </p:stCondLst>
                                  <p:childTnLst>
                                    <p:set>
                                      <p:cBhvr>
                                        <p:cTn id="129" dur="1" fill="hold">
                                          <p:stCondLst>
                                            <p:cond delay="0"/>
                                          </p:stCondLst>
                                        </p:cTn>
                                        <p:tgtEl>
                                          <p:spTgt spid="72"/>
                                        </p:tgtEl>
                                        <p:attrNameLst>
                                          <p:attrName>style.visibility</p:attrName>
                                        </p:attrNameLst>
                                      </p:cBhvr>
                                      <p:to>
                                        <p:strVal val="visible"/>
                                      </p:to>
                                    </p:set>
                                    <p:animEffect transition="in" filter="wipe(down)">
                                      <p:cBhvr>
                                        <p:cTn id="130" dur="500"/>
                                        <p:tgtEl>
                                          <p:spTgt spid="72"/>
                                        </p:tgtEl>
                                      </p:cBhvr>
                                    </p:animEffect>
                                  </p:childTnLst>
                                </p:cTn>
                              </p:par>
                              <p:par>
                                <p:cTn id="131" presetID="22" presetClass="entr" presetSubtype="4" fill="hold" grpId="0" nodeType="withEffect">
                                  <p:stCondLst>
                                    <p:cond delay="0"/>
                                  </p:stCondLst>
                                  <p:childTnLst>
                                    <p:set>
                                      <p:cBhvr>
                                        <p:cTn id="132" dur="1" fill="hold">
                                          <p:stCondLst>
                                            <p:cond delay="0"/>
                                          </p:stCondLst>
                                        </p:cTn>
                                        <p:tgtEl>
                                          <p:spTgt spid="73"/>
                                        </p:tgtEl>
                                        <p:attrNameLst>
                                          <p:attrName>style.visibility</p:attrName>
                                        </p:attrNameLst>
                                      </p:cBhvr>
                                      <p:to>
                                        <p:strVal val="visible"/>
                                      </p:to>
                                    </p:set>
                                    <p:animEffect transition="in" filter="wipe(down)">
                                      <p:cBhvr>
                                        <p:cTn id="133" dur="500"/>
                                        <p:tgtEl>
                                          <p:spTgt spid="73"/>
                                        </p:tgtEl>
                                      </p:cBhvr>
                                    </p:animEffect>
                                  </p:childTnLst>
                                </p:cTn>
                              </p:par>
                              <p:par>
                                <p:cTn id="134" presetID="22" presetClass="entr" presetSubtype="4" fill="hold" grpId="0" nodeType="withEffect">
                                  <p:stCondLst>
                                    <p:cond delay="0"/>
                                  </p:stCondLst>
                                  <p:childTnLst>
                                    <p:set>
                                      <p:cBhvr>
                                        <p:cTn id="135" dur="1" fill="hold">
                                          <p:stCondLst>
                                            <p:cond delay="0"/>
                                          </p:stCondLst>
                                        </p:cTn>
                                        <p:tgtEl>
                                          <p:spTgt spid="74"/>
                                        </p:tgtEl>
                                        <p:attrNameLst>
                                          <p:attrName>style.visibility</p:attrName>
                                        </p:attrNameLst>
                                      </p:cBhvr>
                                      <p:to>
                                        <p:strVal val="visible"/>
                                      </p:to>
                                    </p:set>
                                    <p:animEffect transition="in" filter="wipe(down)">
                                      <p:cBhvr>
                                        <p:cTn id="136"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 grpId="0" animBg="1"/>
      <p:bldP spid="19" grpId="0" animBg="1"/>
      <p:bldP spid="20" grpId="0" animBg="1"/>
      <p:bldP spid="21" grpId="0" animBg="1"/>
      <p:bldP spid="23" grpId="0" animBg="1"/>
      <p:bldP spid="24" grpId="0" animBg="1"/>
      <p:bldP spid="25" grpId="0" animBg="1"/>
      <p:bldP spid="26" grpId="0" animBg="1"/>
      <p:bldP spid="38" grpId="0" animBg="1"/>
      <p:bldP spid="41" grpId="0" animBg="1"/>
      <p:bldP spid="58" grpId="0"/>
      <p:bldP spid="59" grpId="0"/>
      <p:bldP spid="60" grpId="0" animBg="1"/>
      <p:bldP spid="39" grpId="0" animBg="1"/>
      <p:bldP spid="61" grpId="0"/>
      <p:bldP spid="62" grpId="0"/>
      <p:bldP spid="63" grpId="0" animBg="1"/>
      <p:bldP spid="40" grpId="0" animBg="1"/>
      <p:bldP spid="64" grpId="0"/>
      <p:bldP spid="65" grpId="0"/>
      <p:bldP spid="66" grpId="0" animBg="1"/>
      <p:bldP spid="42" grpId="0" animBg="1"/>
      <p:bldP spid="67" grpId="0"/>
      <p:bldP spid="68" grpId="0"/>
      <p:bldP spid="69" grpId="0"/>
      <p:bldP spid="70" grpId="0"/>
      <p:bldP spid="71" grpId="0"/>
      <p:bldP spid="72" grpId="0"/>
      <p:bldP spid="73" grpId="0"/>
      <p:bldP spid="7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圆角 38">
            <a:extLst>
              <a:ext uri="{FF2B5EF4-FFF2-40B4-BE49-F238E27FC236}">
                <a16:creationId xmlns:a16="http://schemas.microsoft.com/office/drawing/2014/main" id="{E982706C-451B-447A-9A36-02396AAA67A1}"/>
              </a:ext>
            </a:extLst>
          </p:cNvPr>
          <p:cNvSpPr/>
          <p:nvPr/>
        </p:nvSpPr>
        <p:spPr>
          <a:xfrm>
            <a:off x="755012" y="1392661"/>
            <a:ext cx="4581045"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37C083F2-0E99-4519-8938-09940A28B5F0}"/>
              </a:ext>
            </a:extLst>
          </p:cNvPr>
          <p:cNvSpPr/>
          <p:nvPr/>
        </p:nvSpPr>
        <p:spPr>
          <a:xfrm>
            <a:off x="580922" y="520573"/>
            <a:ext cx="355903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四、生产要素最优组合</a:t>
            </a:r>
          </a:p>
        </p:txBody>
      </p:sp>
      <p:sp>
        <p:nvSpPr>
          <p:cNvPr id="3" name="矩形 2">
            <a:extLst>
              <a:ext uri="{FF2B5EF4-FFF2-40B4-BE49-F238E27FC236}">
                <a16:creationId xmlns:a16="http://schemas.microsoft.com/office/drawing/2014/main" id="{FD1998C9-98CC-4F2C-B022-101E445CCE38}"/>
              </a:ext>
            </a:extLst>
          </p:cNvPr>
          <p:cNvSpPr/>
          <p:nvPr/>
        </p:nvSpPr>
        <p:spPr>
          <a:xfrm>
            <a:off x="6732240" y="35332"/>
            <a:ext cx="233108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第四节 长期生产函数</a:t>
            </a:r>
          </a:p>
        </p:txBody>
      </p:sp>
      <p:grpSp>
        <p:nvGrpSpPr>
          <p:cNvPr id="6" name="组合 55"/>
          <p:cNvGrpSpPr>
            <a:grpSpLocks/>
          </p:cNvGrpSpPr>
          <p:nvPr/>
        </p:nvGrpSpPr>
        <p:grpSpPr bwMode="auto">
          <a:xfrm>
            <a:off x="5625853" y="3121533"/>
            <a:ext cx="2852757" cy="2678528"/>
            <a:chOff x="357189" y="-113135"/>
            <a:chExt cx="3286135" cy="3313910"/>
          </a:xfrm>
        </p:grpSpPr>
        <p:grpSp>
          <p:nvGrpSpPr>
            <p:cNvPr id="7" name="组合 4"/>
            <p:cNvGrpSpPr>
              <a:grpSpLocks/>
            </p:cNvGrpSpPr>
            <p:nvPr/>
          </p:nvGrpSpPr>
          <p:grpSpPr bwMode="auto">
            <a:xfrm>
              <a:off x="357189" y="238153"/>
              <a:ext cx="3286135" cy="2859421"/>
              <a:chOff x="259137" y="-295"/>
              <a:chExt cx="2384059" cy="2387655"/>
            </a:xfrm>
          </p:grpSpPr>
          <p:cxnSp>
            <p:nvCxnSpPr>
              <p:cNvPr id="22" name="直接箭头连接符 5"/>
              <p:cNvCxnSpPr>
                <a:cxnSpLocks noChangeShapeType="1"/>
              </p:cNvCxnSpPr>
              <p:nvPr/>
            </p:nvCxnSpPr>
            <p:spPr bwMode="auto">
              <a:xfrm>
                <a:off x="259137" y="2386035"/>
                <a:ext cx="2384059" cy="1325"/>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23" name="直接箭头连接符 6"/>
              <p:cNvCxnSpPr>
                <a:cxnSpLocks noChangeShapeType="1"/>
              </p:cNvCxnSpPr>
              <p:nvPr/>
            </p:nvCxnSpPr>
            <p:spPr bwMode="auto">
              <a:xfrm rot="16200000" flipV="1">
                <a:off x="-934028" y="1192870"/>
                <a:ext cx="2386330" cy="0"/>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pSp>
        <p:cxnSp>
          <p:nvCxnSpPr>
            <p:cNvPr id="8" name="直接连接符 11"/>
            <p:cNvCxnSpPr>
              <a:cxnSpLocks noChangeShapeType="1"/>
            </p:cNvCxnSpPr>
            <p:nvPr/>
          </p:nvCxnSpPr>
          <p:spPr bwMode="auto">
            <a:xfrm>
              <a:off x="357189" y="881165"/>
              <a:ext cx="2527308" cy="2214822"/>
            </a:xfrm>
            <a:prstGeom prst="line">
              <a:avLst/>
            </a:prstGeom>
            <a:noFill/>
            <a:ln w="38100" cmpd="sng">
              <a:solidFill>
                <a:srgbClr val="C0000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sp>
          <p:nvSpPr>
            <p:cNvPr id="9" name="任意多边形 12"/>
            <p:cNvSpPr>
              <a:spLocks noChangeArrowheads="1"/>
            </p:cNvSpPr>
            <p:nvPr/>
          </p:nvSpPr>
          <p:spPr bwMode="auto">
            <a:xfrm rot="20631389">
              <a:off x="820741" y="285783"/>
              <a:ext cx="2254257" cy="2629208"/>
            </a:xfrm>
            <a:custGeom>
              <a:avLst/>
              <a:gdLst>
                <a:gd name="T0" fmla="*/ 273051 w 2254250"/>
                <a:gd name="T1" fmla="*/ 0 h 2628900"/>
                <a:gd name="T2" fmla="*/ 330201 w 2254250"/>
                <a:gd name="T3" fmla="*/ 1771857 h 2628900"/>
                <a:gd name="T4" fmla="*/ 2254257 w 2254250"/>
                <a:gd name="T5" fmla="*/ 2629208 h 2628900"/>
                <a:gd name="T6" fmla="*/ 0 60000 65536"/>
                <a:gd name="T7" fmla="*/ 0 60000 65536"/>
                <a:gd name="T8" fmla="*/ 0 60000 65536"/>
                <a:gd name="T9" fmla="*/ 0 w 2254250"/>
                <a:gd name="T10" fmla="*/ 0 h 2628900"/>
                <a:gd name="T11" fmla="*/ 2254250 w 2254250"/>
                <a:gd name="T12" fmla="*/ 2628900 h 2628900"/>
              </a:gdLst>
              <a:ahLst/>
              <a:cxnLst>
                <a:cxn ang="T6">
                  <a:pos x="T0" y="T1"/>
                </a:cxn>
                <a:cxn ang="T7">
                  <a:pos x="T2" y="T3"/>
                </a:cxn>
                <a:cxn ang="T8">
                  <a:pos x="T4" y="T5"/>
                </a:cxn>
              </a:cxnLst>
              <a:rect l="T9" t="T10" r="T11" b="T12"/>
              <a:pathLst>
                <a:path w="2254250" h="2628900">
                  <a:moveTo>
                    <a:pt x="273050" y="0"/>
                  </a:moveTo>
                  <a:cubicBezTo>
                    <a:pt x="136525" y="666750"/>
                    <a:pt x="0" y="1333500"/>
                    <a:pt x="330200" y="1771650"/>
                  </a:cubicBezTo>
                  <a:cubicBezTo>
                    <a:pt x="660400" y="2209800"/>
                    <a:pt x="1457325" y="2419350"/>
                    <a:pt x="2254250" y="262890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0" name="任意多边形 13"/>
            <p:cNvSpPr>
              <a:spLocks noChangeArrowheads="1"/>
            </p:cNvSpPr>
            <p:nvPr/>
          </p:nvSpPr>
          <p:spPr bwMode="auto">
            <a:xfrm rot="20631389">
              <a:off x="1051234" y="-113135"/>
              <a:ext cx="2479682" cy="2629209"/>
            </a:xfrm>
            <a:custGeom>
              <a:avLst/>
              <a:gdLst>
                <a:gd name="T0" fmla="*/ 273051 w 2254250"/>
                <a:gd name="T1" fmla="*/ 0 h 2628900"/>
                <a:gd name="T2" fmla="*/ 330201 w 2254250"/>
                <a:gd name="T3" fmla="*/ 1771857 h 2628900"/>
                <a:gd name="T4" fmla="*/ 2254257 w 2254250"/>
                <a:gd name="T5" fmla="*/ 2629208 h 2628900"/>
                <a:gd name="T6" fmla="*/ 0 60000 65536"/>
                <a:gd name="T7" fmla="*/ 0 60000 65536"/>
                <a:gd name="T8" fmla="*/ 0 60000 65536"/>
                <a:gd name="T9" fmla="*/ 0 w 2254250"/>
                <a:gd name="T10" fmla="*/ 0 h 2628900"/>
                <a:gd name="T11" fmla="*/ 2254250 w 2254250"/>
                <a:gd name="T12" fmla="*/ 2628900 h 2628900"/>
              </a:gdLst>
              <a:ahLst/>
              <a:cxnLst>
                <a:cxn ang="T6">
                  <a:pos x="T0" y="T1"/>
                </a:cxn>
                <a:cxn ang="T7">
                  <a:pos x="T2" y="T3"/>
                </a:cxn>
                <a:cxn ang="T8">
                  <a:pos x="T4" y="T5"/>
                </a:cxn>
              </a:cxnLst>
              <a:rect l="T9" t="T10" r="T11" b="T12"/>
              <a:pathLst>
                <a:path w="2254250" h="2628900">
                  <a:moveTo>
                    <a:pt x="273050" y="0"/>
                  </a:moveTo>
                  <a:cubicBezTo>
                    <a:pt x="136525" y="666750"/>
                    <a:pt x="0" y="1333500"/>
                    <a:pt x="330200" y="1771650"/>
                  </a:cubicBezTo>
                  <a:cubicBezTo>
                    <a:pt x="660400" y="2209800"/>
                    <a:pt x="1457325" y="2419350"/>
                    <a:pt x="2254250" y="262890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1" name="任意多边形 14"/>
            <p:cNvSpPr>
              <a:spLocks noChangeArrowheads="1"/>
            </p:cNvSpPr>
            <p:nvPr/>
          </p:nvSpPr>
          <p:spPr bwMode="auto">
            <a:xfrm rot="20631389">
              <a:off x="606427" y="571567"/>
              <a:ext cx="2254257" cy="2629208"/>
            </a:xfrm>
            <a:custGeom>
              <a:avLst/>
              <a:gdLst>
                <a:gd name="T0" fmla="*/ 273051 w 2254250"/>
                <a:gd name="T1" fmla="*/ 0 h 2628900"/>
                <a:gd name="T2" fmla="*/ 330201 w 2254250"/>
                <a:gd name="T3" fmla="*/ 1771857 h 2628900"/>
                <a:gd name="T4" fmla="*/ 2254257 w 2254250"/>
                <a:gd name="T5" fmla="*/ 2629208 h 2628900"/>
                <a:gd name="T6" fmla="*/ 0 60000 65536"/>
                <a:gd name="T7" fmla="*/ 0 60000 65536"/>
                <a:gd name="T8" fmla="*/ 0 60000 65536"/>
                <a:gd name="T9" fmla="*/ 0 w 2254250"/>
                <a:gd name="T10" fmla="*/ 0 h 2628900"/>
                <a:gd name="T11" fmla="*/ 2254250 w 2254250"/>
                <a:gd name="T12" fmla="*/ 2628900 h 2628900"/>
              </a:gdLst>
              <a:ahLst/>
              <a:cxnLst>
                <a:cxn ang="T6">
                  <a:pos x="T0" y="T1"/>
                </a:cxn>
                <a:cxn ang="T7">
                  <a:pos x="T2" y="T3"/>
                </a:cxn>
                <a:cxn ang="T8">
                  <a:pos x="T4" y="T5"/>
                </a:cxn>
              </a:cxnLst>
              <a:rect l="T9" t="T10" r="T11" b="T12"/>
              <a:pathLst>
                <a:path w="2254250" h="2628900">
                  <a:moveTo>
                    <a:pt x="273050" y="0"/>
                  </a:moveTo>
                  <a:cubicBezTo>
                    <a:pt x="136525" y="666750"/>
                    <a:pt x="0" y="1333500"/>
                    <a:pt x="330200" y="1771650"/>
                  </a:cubicBezTo>
                  <a:cubicBezTo>
                    <a:pt x="660400" y="2209800"/>
                    <a:pt x="1457325" y="2419350"/>
                    <a:pt x="2254250" y="262890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12" name="直接连接符 22"/>
            <p:cNvCxnSpPr>
              <a:cxnSpLocks noChangeShapeType="1"/>
            </p:cNvCxnSpPr>
            <p:nvPr/>
          </p:nvCxnSpPr>
          <p:spPr bwMode="auto">
            <a:xfrm rot="10800000">
              <a:off x="357189" y="1881407"/>
              <a:ext cx="1143004" cy="1588"/>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cxnSp>
          <p:nvCxnSpPr>
            <p:cNvPr id="13" name="直接连接符 24"/>
            <p:cNvCxnSpPr>
              <a:cxnSpLocks noChangeShapeType="1"/>
            </p:cNvCxnSpPr>
            <p:nvPr/>
          </p:nvCxnSpPr>
          <p:spPr bwMode="auto">
            <a:xfrm rot="5400000">
              <a:off x="893697" y="2489491"/>
              <a:ext cx="1212992" cy="0"/>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grpSp>
      <p:sp>
        <p:nvSpPr>
          <p:cNvPr id="5" name="矩形 4">
            <a:extLst>
              <a:ext uri="{FF2B5EF4-FFF2-40B4-BE49-F238E27FC236}">
                <a16:creationId xmlns:a16="http://schemas.microsoft.com/office/drawing/2014/main" id="{056C0ED1-22DB-40D2-B140-4ABB384CB752}"/>
              </a:ext>
            </a:extLst>
          </p:cNvPr>
          <p:cNvSpPr/>
          <p:nvPr/>
        </p:nvSpPr>
        <p:spPr>
          <a:xfrm>
            <a:off x="815286" y="1414515"/>
            <a:ext cx="4416594" cy="400110"/>
          </a:xfrm>
          <a:prstGeom prst="rect">
            <a:avLst/>
          </a:prstGeom>
          <a:noFill/>
        </p:spPr>
        <p:txBody>
          <a:bodyPr wrap="none">
            <a:spAutoFit/>
          </a:bodyPr>
          <a:lstStyle/>
          <a:p>
            <a:pPr marL="342900" indent="-342900">
              <a:buFont typeface="Wingdings" panose="05000000000000000000" pitchFamily="2" charset="2"/>
              <a:buChar char="u"/>
            </a:pPr>
            <a:r>
              <a:rPr lang="en-US" sz="2000" dirty="0" err="1">
                <a:latin typeface="微软雅黑" panose="020B0503020204020204" pitchFamily="34" charset="-122"/>
                <a:ea typeface="微软雅黑" panose="020B0503020204020204" pitchFamily="34" charset="-122"/>
              </a:rPr>
              <a:t>企业该如何选择K和L的投入组合</a:t>
            </a:r>
            <a:r>
              <a:rPr lang="zh-CN" altLang="en-US" sz="2000" dirty="0">
                <a:latin typeface="微软雅黑" panose="020B0503020204020204" pitchFamily="34" charset="-122"/>
                <a:ea typeface="微软雅黑" panose="020B0503020204020204" pitchFamily="34" charset="-122"/>
              </a:rPr>
              <a:t>？</a:t>
            </a:r>
            <a:endParaRPr lang="en-US" sz="2000" dirty="0">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55497D8B-2000-4CC3-A0F3-D164CC86583B}"/>
              </a:ext>
            </a:extLst>
          </p:cNvPr>
          <p:cNvSpPr/>
          <p:nvPr/>
        </p:nvSpPr>
        <p:spPr>
          <a:xfrm>
            <a:off x="815286" y="2342140"/>
            <a:ext cx="2381426" cy="646331"/>
          </a:xfrm>
          <a:prstGeom prst="rect">
            <a:avLst/>
          </a:prstGeom>
          <a:noFill/>
        </p:spPr>
        <p:txBody>
          <a:bodyPr wrap="square">
            <a:spAutoFit/>
          </a:bodyPr>
          <a:lstStyle/>
          <a:p>
            <a:pPr marL="285750" indent="-285750" algn="ctr">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成本既定条件下的产量最大化</a:t>
            </a:r>
          </a:p>
        </p:txBody>
      </p:sp>
      <p:sp>
        <p:nvSpPr>
          <p:cNvPr id="37" name="矩形 36">
            <a:extLst>
              <a:ext uri="{FF2B5EF4-FFF2-40B4-BE49-F238E27FC236}">
                <a16:creationId xmlns:a16="http://schemas.microsoft.com/office/drawing/2014/main" id="{55497D8B-2000-4CC3-A0F3-D164CC86583B}"/>
              </a:ext>
            </a:extLst>
          </p:cNvPr>
          <p:cNvSpPr/>
          <p:nvPr/>
        </p:nvSpPr>
        <p:spPr>
          <a:xfrm>
            <a:off x="3978384" y="2339785"/>
            <a:ext cx="2177806" cy="646331"/>
          </a:xfrm>
          <a:prstGeom prst="rect">
            <a:avLst/>
          </a:prstGeom>
          <a:noFill/>
        </p:spPr>
        <p:txBody>
          <a:bodyPr wrap="square">
            <a:spAutoFit/>
          </a:bodyPr>
          <a:lstStyle/>
          <a:p>
            <a:pPr marL="285750" indent="-285750" algn="ctr">
              <a:buFont typeface="Wingdings" panose="05000000000000000000" pitchFamily="2" charset="2"/>
              <a:buChar char="Ø"/>
            </a:pPr>
            <a:r>
              <a:rPr lang="en-US" dirty="0" err="1">
                <a:latin typeface="微软雅黑" panose="020B0503020204020204" pitchFamily="34" charset="-122"/>
                <a:ea typeface="微软雅黑" panose="020B0503020204020204" pitchFamily="34" charset="-122"/>
              </a:rPr>
              <a:t>产量既定条件下的成本最小化</a:t>
            </a:r>
            <a:endParaRPr lang="en-US" dirty="0">
              <a:latin typeface="微软雅黑" panose="020B0503020204020204" pitchFamily="34" charset="-122"/>
              <a:ea typeface="微软雅黑" panose="020B0503020204020204" pitchFamily="34" charset="-122"/>
            </a:endParaRPr>
          </a:p>
        </p:txBody>
      </p:sp>
      <p:sp>
        <p:nvSpPr>
          <p:cNvPr id="38" name="文本框 37"/>
          <p:cNvSpPr txBox="1"/>
          <p:nvPr/>
        </p:nvSpPr>
        <p:spPr>
          <a:xfrm>
            <a:off x="3379799" y="2447337"/>
            <a:ext cx="415498" cy="369332"/>
          </a:xfrm>
          <a:prstGeom prst="rect">
            <a:avLst/>
          </a:prstGeom>
          <a:noFill/>
        </p:spPr>
        <p:txBody>
          <a:bodyPr wrap="none" rtlCol="0">
            <a:spAutoFit/>
          </a:bodyPr>
          <a:lstStyle/>
          <a:p>
            <a:r>
              <a:rPr lang="zh-CN" altLang="en-US" dirty="0">
                <a:latin typeface="微软雅黑" panose="020B0503020204020204" pitchFamily="34" charset="-122"/>
                <a:ea typeface="微软雅黑" panose="020B0503020204020204" pitchFamily="34" charset="-122"/>
              </a:rPr>
              <a:t>或</a:t>
            </a:r>
            <a:endParaRPr lang="en-US" dirty="0">
              <a:latin typeface="微软雅黑" panose="020B0503020204020204" pitchFamily="34" charset="-122"/>
              <a:ea typeface="微软雅黑" panose="020B0503020204020204" pitchFamily="34" charset="-122"/>
            </a:endParaRPr>
          </a:p>
        </p:txBody>
      </p:sp>
      <p:sp>
        <p:nvSpPr>
          <p:cNvPr id="40" name="矩形 39">
            <a:extLst>
              <a:ext uri="{FF2B5EF4-FFF2-40B4-BE49-F238E27FC236}">
                <a16:creationId xmlns:a16="http://schemas.microsoft.com/office/drawing/2014/main" id="{55497D8B-2000-4CC3-A0F3-D164CC86583B}"/>
              </a:ext>
            </a:extLst>
          </p:cNvPr>
          <p:cNvSpPr/>
          <p:nvPr/>
        </p:nvSpPr>
        <p:spPr>
          <a:xfrm>
            <a:off x="840728" y="3645024"/>
            <a:ext cx="3048035" cy="369332"/>
          </a:xfrm>
          <a:prstGeom prst="rect">
            <a:avLst/>
          </a:prstGeom>
          <a:noFill/>
        </p:spPr>
        <p:txBody>
          <a:bodyPr wrap="square">
            <a:spAutoFit/>
          </a:bodyPr>
          <a:lstStyle/>
          <a:p>
            <a:pPr marL="285750" indent="-285750" algn="ctr">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sym typeface="Wingdings" panose="05000000000000000000" pitchFamily="2" charset="2"/>
              </a:rPr>
              <a:t> </a:t>
            </a:r>
            <a:r>
              <a:rPr lang="en-US" dirty="0" err="1">
                <a:latin typeface="微软雅黑" panose="020B0503020204020204" pitchFamily="34" charset="-122"/>
                <a:ea typeface="微软雅黑" panose="020B0503020204020204" pitchFamily="34" charset="-122"/>
              </a:rPr>
              <a:t>最优要素组合的条件</a:t>
            </a:r>
            <a:endParaRPr lang="en-US"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41" name="文本框 40"/>
              <p:cNvSpPr txBox="1"/>
              <p:nvPr/>
            </p:nvSpPr>
            <p:spPr>
              <a:xfrm>
                <a:off x="1242774" y="4264380"/>
                <a:ext cx="2436108" cy="117910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rPr>
                          </m:ctrlPr>
                        </m:dPr>
                        <m:e>
                          <m:m>
                            <m:mPr>
                              <m:mcs>
                                <m:mc>
                                  <m:mcPr>
                                    <m:count m:val="1"/>
                                    <m:mcJc m:val="center"/>
                                  </m:mcPr>
                                </m:mc>
                              </m:mcs>
                              <m:ctrlPr>
                                <a:rPr lang="en-US" sz="2400" i="1" smtClean="0">
                                  <a:solidFill>
                                    <a:schemeClr val="tx1"/>
                                  </a:solidFill>
                                  <a:latin typeface="Cambria Math" panose="02040503050406030204" pitchFamily="18" charset="0"/>
                                </a:rPr>
                              </m:ctrlPr>
                            </m:mPr>
                            <m:mr>
                              <m:e>
                                <m:r>
                                  <a:rPr lang="en-US" sz="2400" b="0" i="1" smtClean="0">
                                    <a:solidFill>
                                      <a:schemeClr val="tx1"/>
                                    </a:solidFill>
                                    <a:latin typeface="Cambria Math" panose="02040503050406030204" pitchFamily="18" charset="0"/>
                                  </a:rPr>
                                  <m:t>𝑀</m:t>
                                </m:r>
                                <m:r>
                                  <a:rPr lang="en-US" sz="2400" i="1" smtClean="0">
                                    <a:solidFill>
                                      <a:schemeClr val="tx1"/>
                                    </a:solidFill>
                                    <a:latin typeface="Cambria Math" panose="02040503050406030204" pitchFamily="18" charset="0"/>
                                  </a:rPr>
                                  <m:t>𝑅𝑇</m:t>
                                </m:r>
                                <m:sSub>
                                  <m:sSubPr>
                                    <m:ctrlPr>
                                      <a:rPr lang="en-US" sz="240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𝑆</m:t>
                                    </m:r>
                                  </m:e>
                                  <m:sub>
                                    <m:r>
                                      <a:rPr lang="en-US" sz="2400" i="1" smtClean="0">
                                        <a:solidFill>
                                          <a:schemeClr val="tx1"/>
                                        </a:solidFill>
                                        <a:latin typeface="Cambria Math" panose="02040503050406030204" pitchFamily="18" charset="0"/>
                                      </a:rPr>
                                      <m:t>𝐿</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𝐾</m:t>
                                    </m:r>
                                  </m:sub>
                                </m:sSub>
                                <m:r>
                                  <a:rPr lang="en-US" sz="2400" i="1" smtClean="0">
                                    <a:solidFill>
                                      <a:schemeClr val="tx1"/>
                                    </a:solidFill>
                                    <a:latin typeface="Cambria Math" panose="02040503050406030204" pitchFamily="18" charset="0"/>
                                  </a:rPr>
                                  <m:t>=</m:t>
                                </m:r>
                                <m:f>
                                  <m:fPr>
                                    <m:ctrlPr>
                                      <a:rPr lang="en-US" sz="2400" i="1" smtClean="0">
                                        <a:solidFill>
                                          <a:schemeClr val="tx1"/>
                                        </a:solidFill>
                                        <a:latin typeface="Cambria Math" panose="02040503050406030204" pitchFamily="18" charset="0"/>
                                      </a:rPr>
                                    </m:ctrlPr>
                                  </m:fPr>
                                  <m:num>
                                    <m:r>
                                      <a:rPr lang="en-US" sz="2400" b="0" i="1" smtClean="0">
                                        <a:solidFill>
                                          <a:schemeClr val="tx1"/>
                                        </a:solidFill>
                                        <a:latin typeface="Cambria Math" panose="02040503050406030204" pitchFamily="18" charset="0"/>
                                      </a:rPr>
                                      <m:t>𝑊</m:t>
                                    </m:r>
                                  </m:num>
                                  <m:den>
                                    <m:r>
                                      <a:rPr lang="en-US" sz="2400" i="1" smtClean="0">
                                        <a:solidFill>
                                          <a:schemeClr val="tx1"/>
                                        </a:solidFill>
                                        <a:latin typeface="Cambria Math" panose="02040503050406030204" pitchFamily="18" charset="0"/>
                                      </a:rPr>
                                      <m:t>𝑟</m:t>
                                    </m:r>
                                  </m:den>
                                </m:f>
                              </m:e>
                            </m:mr>
                            <m:mr>
                              <m:e>
                                <m:r>
                                  <a:rPr lang="en-US" sz="2400" b="0" i="1" smtClean="0">
                                    <a:solidFill>
                                      <a:schemeClr val="tx1"/>
                                    </a:solidFill>
                                    <a:latin typeface="Cambria Math" panose="02040503050406030204" pitchFamily="18" charset="0"/>
                                  </a:rPr>
                                  <m:t>𝑊</m:t>
                                </m:r>
                                <m:r>
                                  <a:rPr lang="en-US" sz="2400" i="1" smtClean="0">
                                    <a:solidFill>
                                      <a:schemeClr val="tx1"/>
                                    </a:solidFill>
                                    <a:latin typeface="Cambria Math" panose="02040503050406030204" pitchFamily="18" charset="0"/>
                                  </a:rPr>
                                  <m:t>𝐿</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𝑟𝐾</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𝐶</m:t>
                                </m:r>
                              </m:e>
                            </m:mr>
                          </m:m>
                        </m:e>
                      </m:d>
                    </m:oMath>
                  </m:oMathPara>
                </a14:m>
                <a:endParaRPr lang="en-US" sz="2400" dirty="0">
                  <a:solidFill>
                    <a:schemeClr val="tx1"/>
                  </a:solidFill>
                </a:endParaRPr>
              </a:p>
            </p:txBody>
          </p:sp>
        </mc:Choice>
        <mc:Fallback xmlns="">
          <p:sp>
            <p:nvSpPr>
              <p:cNvPr id="41" name="文本框 40"/>
              <p:cNvSpPr txBox="1">
                <a:spLocks noRot="1" noChangeAspect="1" noMove="1" noResize="1" noEditPoints="1" noAdjustHandles="1" noChangeArrowheads="1" noChangeShapeType="1" noTextEdit="1"/>
              </p:cNvSpPr>
              <p:nvPr/>
            </p:nvSpPr>
            <p:spPr>
              <a:xfrm>
                <a:off x="1242774" y="4264380"/>
                <a:ext cx="2436108" cy="117910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D442C1F9-8DA9-4E94-9A26-E1BDD5166C47}"/>
                  </a:ext>
                </a:extLst>
              </p:cNvPr>
              <p:cNvSpPr/>
              <p:nvPr/>
            </p:nvSpPr>
            <p:spPr>
              <a:xfrm>
                <a:off x="5387523" y="5626724"/>
                <a:ext cx="40229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𝑂</m:t>
                      </m:r>
                    </m:oMath>
                  </m:oMathPara>
                </a14:m>
                <a:endParaRPr lang="zh-CN" altLang="en-US" dirty="0">
                  <a:solidFill>
                    <a:schemeClr val="tx1"/>
                  </a:solidFill>
                </a:endParaRPr>
              </a:p>
            </p:txBody>
          </p:sp>
        </mc:Choice>
        <mc:Fallback xmlns="">
          <p:sp>
            <p:nvSpPr>
              <p:cNvPr id="42" name="矩形 41">
                <a:extLst>
                  <a:ext uri="{FF2B5EF4-FFF2-40B4-BE49-F238E27FC236}">
                    <a16:creationId xmlns:a16="http://schemas.microsoft.com/office/drawing/2014/main" id="{D442C1F9-8DA9-4E94-9A26-E1BDD5166C47}"/>
                  </a:ext>
                </a:extLst>
              </p:cNvPr>
              <p:cNvSpPr>
                <a:spLocks noRot="1" noChangeAspect="1" noMove="1" noResize="1" noEditPoints="1" noAdjustHandles="1" noChangeArrowheads="1" noChangeShapeType="1" noTextEdit="1"/>
              </p:cNvSpPr>
              <p:nvPr/>
            </p:nvSpPr>
            <p:spPr>
              <a:xfrm>
                <a:off x="5387523" y="5626724"/>
                <a:ext cx="402292"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3A33D18D-CE8F-484B-BD4B-207E93198842}"/>
                  </a:ext>
                </a:extLst>
              </p:cNvPr>
              <p:cNvSpPr/>
              <p:nvPr/>
            </p:nvSpPr>
            <p:spPr>
              <a:xfrm>
                <a:off x="5336058" y="3198418"/>
                <a:ext cx="409906"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𝐾</m:t>
                      </m:r>
                    </m:oMath>
                  </m:oMathPara>
                </a14:m>
                <a:endParaRPr lang="zh-CN" altLang="en-US" dirty="0">
                  <a:solidFill>
                    <a:schemeClr val="tx1"/>
                  </a:solidFill>
                </a:endParaRPr>
              </a:p>
            </p:txBody>
          </p:sp>
        </mc:Choice>
        <mc:Fallback xmlns="">
          <p:sp>
            <p:nvSpPr>
              <p:cNvPr id="43" name="矩形 42">
                <a:extLst>
                  <a:ext uri="{FF2B5EF4-FFF2-40B4-BE49-F238E27FC236}">
                    <a16:creationId xmlns:a16="http://schemas.microsoft.com/office/drawing/2014/main" id="{3A33D18D-CE8F-484B-BD4B-207E93198842}"/>
                  </a:ext>
                </a:extLst>
              </p:cNvPr>
              <p:cNvSpPr>
                <a:spLocks noRot="1" noChangeAspect="1" noMove="1" noResize="1" noEditPoints="1" noAdjustHandles="1" noChangeArrowheads="1" noChangeShapeType="1" noTextEdit="1"/>
              </p:cNvSpPr>
              <p:nvPr/>
            </p:nvSpPr>
            <p:spPr>
              <a:xfrm>
                <a:off x="5336058" y="3198418"/>
                <a:ext cx="409906"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2E39EA6F-EEA7-450B-9849-580F26B40A42}"/>
                  </a:ext>
                </a:extLst>
              </p:cNvPr>
              <p:cNvSpPr/>
              <p:nvPr/>
            </p:nvSpPr>
            <p:spPr>
              <a:xfrm>
                <a:off x="8318872" y="5656372"/>
                <a:ext cx="36994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𝐿</m:t>
                      </m:r>
                    </m:oMath>
                  </m:oMathPara>
                </a14:m>
                <a:endParaRPr lang="zh-CN" altLang="en-US" dirty="0">
                  <a:solidFill>
                    <a:schemeClr val="tx1"/>
                  </a:solidFill>
                </a:endParaRPr>
              </a:p>
            </p:txBody>
          </p:sp>
        </mc:Choice>
        <mc:Fallback xmlns="">
          <p:sp>
            <p:nvSpPr>
              <p:cNvPr id="44" name="矩形 43">
                <a:extLst>
                  <a:ext uri="{FF2B5EF4-FFF2-40B4-BE49-F238E27FC236}">
                    <a16:creationId xmlns:a16="http://schemas.microsoft.com/office/drawing/2014/main" id="{2E39EA6F-EEA7-450B-9849-580F26B40A42}"/>
                  </a:ext>
                </a:extLst>
              </p:cNvPr>
              <p:cNvSpPr>
                <a:spLocks noRot="1" noChangeAspect="1" noMove="1" noResize="1" noEditPoints="1" noAdjustHandles="1" noChangeArrowheads="1" noChangeShapeType="1" noTextEdit="1"/>
              </p:cNvSpPr>
              <p:nvPr/>
            </p:nvSpPr>
            <p:spPr>
              <a:xfrm>
                <a:off x="8318872" y="5656372"/>
                <a:ext cx="369948"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p:cNvSpPr txBox="1"/>
              <p:nvPr/>
            </p:nvSpPr>
            <p:spPr>
              <a:xfrm>
                <a:off x="5433624" y="4595158"/>
                <a:ext cx="18437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𝐾</m:t>
                          </m:r>
                        </m:e>
                      </m:acc>
                    </m:oMath>
                  </m:oMathPara>
                </a14:m>
                <a:endParaRPr lang="en-US" dirty="0">
                  <a:solidFill>
                    <a:schemeClr val="tx1"/>
                  </a:solidFill>
                </a:endParaRPr>
              </a:p>
            </p:txBody>
          </p:sp>
        </mc:Choice>
        <mc:Fallback xmlns="">
          <p:sp>
            <p:nvSpPr>
              <p:cNvPr id="45" name="文本框 44"/>
              <p:cNvSpPr txBox="1">
                <a:spLocks noRot="1" noChangeAspect="1" noMove="1" noResize="1" noEditPoints="1" noAdjustHandles="1" noChangeArrowheads="1" noChangeShapeType="1" noTextEdit="1"/>
              </p:cNvSpPr>
              <p:nvPr/>
            </p:nvSpPr>
            <p:spPr>
              <a:xfrm>
                <a:off x="5433624" y="4595158"/>
                <a:ext cx="184373" cy="276999"/>
              </a:xfrm>
              <a:prstGeom prst="rect">
                <a:avLst/>
              </a:prstGeom>
              <a:blipFill>
                <a:blip r:embed="rId7"/>
                <a:stretch>
                  <a:fillRect l="-38710" t="-4444" r="-35484" b="-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p:cNvSpPr txBox="1"/>
              <p:nvPr/>
            </p:nvSpPr>
            <p:spPr>
              <a:xfrm>
                <a:off x="6529473" y="5715363"/>
                <a:ext cx="18437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𝐿</m:t>
                          </m:r>
                        </m:e>
                      </m:acc>
                    </m:oMath>
                  </m:oMathPara>
                </a14:m>
                <a:endParaRPr lang="en-US" dirty="0">
                  <a:solidFill>
                    <a:schemeClr val="tx1"/>
                  </a:solidFill>
                </a:endParaRPr>
              </a:p>
            </p:txBody>
          </p:sp>
        </mc:Choice>
        <mc:Fallback xmlns="">
          <p:sp>
            <p:nvSpPr>
              <p:cNvPr id="46" name="文本框 45"/>
              <p:cNvSpPr txBox="1">
                <a:spLocks noRot="1" noChangeAspect="1" noMove="1" noResize="1" noEditPoints="1" noAdjustHandles="1" noChangeArrowheads="1" noChangeShapeType="1" noTextEdit="1"/>
              </p:cNvSpPr>
              <p:nvPr/>
            </p:nvSpPr>
            <p:spPr>
              <a:xfrm>
                <a:off x="6529473" y="5715363"/>
                <a:ext cx="184373" cy="276999"/>
              </a:xfrm>
              <a:prstGeom prst="rect">
                <a:avLst/>
              </a:prstGeom>
              <a:blipFill>
                <a:blip r:embed="rId8"/>
                <a:stretch>
                  <a:fillRect l="-26667" t="-4444" r="-43333" b="-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矩形 47">
                <a:extLst>
                  <a:ext uri="{FF2B5EF4-FFF2-40B4-BE49-F238E27FC236}">
                    <a16:creationId xmlns:a16="http://schemas.microsoft.com/office/drawing/2014/main" id="{3A33D18D-CE8F-484B-BD4B-207E93198842}"/>
                  </a:ext>
                </a:extLst>
              </p:cNvPr>
              <p:cNvSpPr/>
              <p:nvPr/>
            </p:nvSpPr>
            <p:spPr>
              <a:xfrm>
                <a:off x="5558655" y="4011664"/>
                <a:ext cx="25110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𝐴</m:t>
                      </m:r>
                    </m:oMath>
                  </m:oMathPara>
                </a14:m>
                <a:endParaRPr lang="zh-CN" altLang="en-US" dirty="0">
                  <a:solidFill>
                    <a:schemeClr val="tx1"/>
                  </a:solidFill>
                </a:endParaRPr>
              </a:p>
            </p:txBody>
          </p:sp>
        </mc:Choice>
        <mc:Fallback xmlns="">
          <p:sp>
            <p:nvSpPr>
              <p:cNvPr id="48" name="矩形 47">
                <a:extLst>
                  <a:ext uri="{FF2B5EF4-FFF2-40B4-BE49-F238E27FC236}">
                    <a16:creationId xmlns:a16="http://schemas.microsoft.com/office/drawing/2014/main" id="{3A33D18D-CE8F-484B-BD4B-207E93198842}"/>
                  </a:ext>
                </a:extLst>
              </p:cNvPr>
              <p:cNvSpPr>
                <a:spLocks noRot="1" noChangeAspect="1" noMove="1" noResize="1" noEditPoints="1" noAdjustHandles="1" noChangeArrowheads="1" noChangeShapeType="1" noTextEdit="1"/>
              </p:cNvSpPr>
              <p:nvPr/>
            </p:nvSpPr>
            <p:spPr>
              <a:xfrm>
                <a:off x="5558655" y="4011664"/>
                <a:ext cx="251100" cy="369332"/>
              </a:xfrm>
              <a:prstGeom prst="rect">
                <a:avLst/>
              </a:prstGeom>
              <a:blipFill>
                <a:blip r:embed="rId9"/>
                <a:stretch>
                  <a:fillRect r="-268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矩形 48">
                <a:extLst>
                  <a:ext uri="{FF2B5EF4-FFF2-40B4-BE49-F238E27FC236}">
                    <a16:creationId xmlns:a16="http://schemas.microsoft.com/office/drawing/2014/main" id="{3A33D18D-CE8F-484B-BD4B-207E93198842}"/>
                  </a:ext>
                </a:extLst>
              </p:cNvPr>
              <p:cNvSpPr/>
              <p:nvPr/>
            </p:nvSpPr>
            <p:spPr>
              <a:xfrm>
                <a:off x="5990731" y="3981131"/>
                <a:ext cx="202637" cy="37676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𝐵</m:t>
                      </m:r>
                    </m:oMath>
                  </m:oMathPara>
                </a14:m>
                <a:endParaRPr lang="zh-CN" altLang="en-US" dirty="0">
                  <a:solidFill>
                    <a:schemeClr val="tx1"/>
                  </a:solidFill>
                </a:endParaRPr>
              </a:p>
            </p:txBody>
          </p:sp>
        </mc:Choice>
        <mc:Fallback xmlns="">
          <p:sp>
            <p:nvSpPr>
              <p:cNvPr id="49" name="矩形 48">
                <a:extLst>
                  <a:ext uri="{FF2B5EF4-FFF2-40B4-BE49-F238E27FC236}">
                    <a16:creationId xmlns:a16="http://schemas.microsoft.com/office/drawing/2014/main" id="{3A33D18D-CE8F-484B-BD4B-207E93198842}"/>
                  </a:ext>
                </a:extLst>
              </p:cNvPr>
              <p:cNvSpPr>
                <a:spLocks noRot="1" noChangeAspect="1" noMove="1" noResize="1" noEditPoints="1" noAdjustHandles="1" noChangeArrowheads="1" noChangeShapeType="1" noTextEdit="1"/>
              </p:cNvSpPr>
              <p:nvPr/>
            </p:nvSpPr>
            <p:spPr>
              <a:xfrm>
                <a:off x="5990731" y="3981131"/>
                <a:ext cx="202637" cy="376764"/>
              </a:xfrm>
              <a:prstGeom prst="rect">
                <a:avLst/>
              </a:prstGeom>
              <a:blipFill>
                <a:blip r:embed="rId10"/>
                <a:stretch>
                  <a:fillRect r="-606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矩形 49">
                <a:extLst>
                  <a:ext uri="{FF2B5EF4-FFF2-40B4-BE49-F238E27FC236}">
                    <a16:creationId xmlns:a16="http://schemas.microsoft.com/office/drawing/2014/main" id="{3A33D18D-CE8F-484B-BD4B-207E93198842}"/>
                  </a:ext>
                </a:extLst>
              </p:cNvPr>
              <p:cNvSpPr/>
              <p:nvPr/>
            </p:nvSpPr>
            <p:spPr>
              <a:xfrm>
                <a:off x="6538764" y="4427089"/>
                <a:ext cx="210797"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𝐸</m:t>
                      </m:r>
                    </m:oMath>
                  </m:oMathPara>
                </a14:m>
                <a:endParaRPr lang="zh-CN" altLang="en-US" dirty="0">
                  <a:solidFill>
                    <a:schemeClr val="tx1"/>
                  </a:solidFill>
                </a:endParaRPr>
              </a:p>
            </p:txBody>
          </p:sp>
        </mc:Choice>
        <mc:Fallback xmlns="">
          <p:sp>
            <p:nvSpPr>
              <p:cNvPr id="50" name="矩形 49">
                <a:extLst>
                  <a:ext uri="{FF2B5EF4-FFF2-40B4-BE49-F238E27FC236}">
                    <a16:creationId xmlns:a16="http://schemas.microsoft.com/office/drawing/2014/main" id="{3A33D18D-CE8F-484B-BD4B-207E93198842}"/>
                  </a:ext>
                </a:extLst>
              </p:cNvPr>
              <p:cNvSpPr>
                <a:spLocks noRot="1" noChangeAspect="1" noMove="1" noResize="1" noEditPoints="1" noAdjustHandles="1" noChangeArrowheads="1" noChangeShapeType="1" noTextEdit="1"/>
              </p:cNvSpPr>
              <p:nvPr/>
            </p:nvSpPr>
            <p:spPr>
              <a:xfrm>
                <a:off x="6538764" y="4427089"/>
                <a:ext cx="210797" cy="369332"/>
              </a:xfrm>
              <a:prstGeom prst="rect">
                <a:avLst/>
              </a:prstGeom>
              <a:blipFill>
                <a:blip r:embed="rId11"/>
                <a:stretch>
                  <a:fillRect r="-529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矩形 51">
                <a:extLst>
                  <a:ext uri="{FF2B5EF4-FFF2-40B4-BE49-F238E27FC236}">
                    <a16:creationId xmlns:a16="http://schemas.microsoft.com/office/drawing/2014/main" id="{7ED6E14F-6F53-4D55-AD8C-8A71214C99F5}"/>
                  </a:ext>
                </a:extLst>
              </p:cNvPr>
              <p:cNvSpPr/>
              <p:nvPr/>
            </p:nvSpPr>
            <p:spPr>
              <a:xfrm>
                <a:off x="7990099" y="5314409"/>
                <a:ext cx="18235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52" name="矩形 51">
                <a:extLst>
                  <a:ext uri="{FF2B5EF4-FFF2-40B4-BE49-F238E27FC236}">
                    <a16:creationId xmlns:a16="http://schemas.microsoft.com/office/drawing/2014/main" id="{7ED6E14F-6F53-4D55-AD8C-8A71214C99F5}"/>
                  </a:ext>
                </a:extLst>
              </p:cNvPr>
              <p:cNvSpPr>
                <a:spLocks noRot="1" noChangeAspect="1" noMove="1" noResize="1" noEditPoints="1" noAdjustHandles="1" noChangeArrowheads="1" noChangeShapeType="1" noTextEdit="1"/>
              </p:cNvSpPr>
              <p:nvPr/>
            </p:nvSpPr>
            <p:spPr>
              <a:xfrm>
                <a:off x="7990099" y="5314409"/>
                <a:ext cx="182353" cy="369332"/>
              </a:xfrm>
              <a:prstGeom prst="rect">
                <a:avLst/>
              </a:prstGeom>
              <a:blipFill>
                <a:blip r:embed="rId12"/>
                <a:stretch>
                  <a:fillRect l="-6667" r="-113333" b="-11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矩形 52">
                <a:extLst>
                  <a:ext uri="{FF2B5EF4-FFF2-40B4-BE49-F238E27FC236}">
                    <a16:creationId xmlns:a16="http://schemas.microsoft.com/office/drawing/2014/main" id="{5B0931DD-3E70-4E72-B5F6-4F19ABE19075}"/>
                  </a:ext>
                </a:extLst>
              </p:cNvPr>
              <p:cNvSpPr/>
              <p:nvPr/>
            </p:nvSpPr>
            <p:spPr>
              <a:xfrm>
                <a:off x="8183768" y="5047506"/>
                <a:ext cx="18235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53" name="矩形 52">
                <a:extLst>
                  <a:ext uri="{FF2B5EF4-FFF2-40B4-BE49-F238E27FC236}">
                    <a16:creationId xmlns:a16="http://schemas.microsoft.com/office/drawing/2014/main" id="{5B0931DD-3E70-4E72-B5F6-4F19ABE19075}"/>
                  </a:ext>
                </a:extLst>
              </p:cNvPr>
              <p:cNvSpPr>
                <a:spLocks noRot="1" noChangeAspect="1" noMove="1" noResize="1" noEditPoints="1" noAdjustHandles="1" noChangeArrowheads="1" noChangeShapeType="1" noTextEdit="1"/>
              </p:cNvSpPr>
              <p:nvPr/>
            </p:nvSpPr>
            <p:spPr>
              <a:xfrm>
                <a:off x="8183768" y="5047506"/>
                <a:ext cx="182353" cy="369332"/>
              </a:xfrm>
              <a:prstGeom prst="rect">
                <a:avLst/>
              </a:prstGeom>
              <a:blipFill>
                <a:blip r:embed="rId13"/>
                <a:stretch>
                  <a:fillRect l="-6667" r="-120000"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矩形 53">
                <a:extLst>
                  <a:ext uri="{FF2B5EF4-FFF2-40B4-BE49-F238E27FC236}">
                    <a16:creationId xmlns:a16="http://schemas.microsoft.com/office/drawing/2014/main" id="{5B0931DD-3E70-4E72-B5F6-4F19ABE19075}"/>
                  </a:ext>
                </a:extLst>
              </p:cNvPr>
              <p:cNvSpPr/>
              <p:nvPr/>
            </p:nvSpPr>
            <p:spPr>
              <a:xfrm>
                <a:off x="8418491" y="4820279"/>
                <a:ext cx="18235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3</m:t>
                          </m:r>
                        </m:sub>
                      </m:sSub>
                    </m:oMath>
                  </m:oMathPara>
                </a14:m>
                <a:endParaRPr lang="zh-CN" altLang="en-US" dirty="0">
                  <a:solidFill>
                    <a:schemeClr val="tx1"/>
                  </a:solidFill>
                </a:endParaRPr>
              </a:p>
            </p:txBody>
          </p:sp>
        </mc:Choice>
        <mc:Fallback xmlns="">
          <p:sp>
            <p:nvSpPr>
              <p:cNvPr id="54" name="矩形 53">
                <a:extLst>
                  <a:ext uri="{FF2B5EF4-FFF2-40B4-BE49-F238E27FC236}">
                    <a16:creationId xmlns:a16="http://schemas.microsoft.com/office/drawing/2014/main" id="{5B0931DD-3E70-4E72-B5F6-4F19ABE19075}"/>
                  </a:ext>
                </a:extLst>
              </p:cNvPr>
              <p:cNvSpPr>
                <a:spLocks noRot="1" noChangeAspect="1" noMove="1" noResize="1" noEditPoints="1" noAdjustHandles="1" noChangeArrowheads="1" noChangeShapeType="1" noTextEdit="1"/>
              </p:cNvSpPr>
              <p:nvPr/>
            </p:nvSpPr>
            <p:spPr>
              <a:xfrm>
                <a:off x="8418491" y="4820279"/>
                <a:ext cx="182353" cy="369332"/>
              </a:xfrm>
              <a:prstGeom prst="rect">
                <a:avLst/>
              </a:prstGeom>
              <a:blipFill>
                <a:blip r:embed="rId14"/>
                <a:stretch>
                  <a:fillRect l="-6667" r="-116667" b="-11667"/>
                </a:stretch>
              </a:blipFill>
            </p:spPr>
            <p:txBody>
              <a:bodyPr/>
              <a:lstStyle/>
              <a:p>
                <a:r>
                  <a:rPr lang="zh-CN" altLang="en-US">
                    <a:noFill/>
                  </a:rPr>
                  <a:t> </a:t>
                </a:r>
              </a:p>
            </p:txBody>
          </p:sp>
        </mc:Fallback>
      </mc:AlternateContent>
      <p:sp>
        <p:nvSpPr>
          <p:cNvPr id="4" name="线形标注 1 3"/>
          <p:cNvSpPr/>
          <p:nvPr/>
        </p:nvSpPr>
        <p:spPr bwMode="auto">
          <a:xfrm>
            <a:off x="7308304" y="1385085"/>
            <a:ext cx="1170306" cy="675763"/>
          </a:xfrm>
          <a:prstGeom prst="borderCallout1">
            <a:avLst>
              <a:gd name="adj1" fmla="val 18750"/>
              <a:gd name="adj2" fmla="val -8333"/>
              <a:gd name="adj3" fmla="val 61876"/>
              <a:gd name="adj4" fmla="val -6378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寻找生产者均衡</a:t>
            </a:r>
          </a:p>
        </p:txBody>
      </p:sp>
      <p:sp>
        <p:nvSpPr>
          <p:cNvPr id="14" name="线形标注 1 13"/>
          <p:cNvSpPr/>
          <p:nvPr/>
        </p:nvSpPr>
        <p:spPr bwMode="auto">
          <a:xfrm>
            <a:off x="3888763" y="3110200"/>
            <a:ext cx="1298517" cy="2882162"/>
          </a:xfrm>
          <a:prstGeom prst="borderCallout1">
            <a:avLst>
              <a:gd name="adj1" fmla="val 21688"/>
              <a:gd name="adj2" fmla="val 153"/>
              <a:gd name="adj3" fmla="val 59652"/>
              <a:gd name="adj4" fmla="val -2462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只有当从生产技术角度衡量的劳动对资本的替代率与按市场价格衡量的二者之间的替代率相等时，如果不等，则存在调整机会。</a:t>
            </a:r>
          </a:p>
        </p:txBody>
      </p:sp>
    </p:spTree>
    <p:extLst>
      <p:ext uri="{BB962C8B-B14F-4D97-AF65-F5344CB8AC3E}">
        <p14:creationId xmlns:p14="http://schemas.microsoft.com/office/powerpoint/2010/main" val="415719918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9"/>
                                        </p:tgtEl>
                                        <p:attrNameLst>
                                          <p:attrName>style.visibility</p:attrName>
                                        </p:attrNameLst>
                                      </p:cBhvr>
                                      <p:to>
                                        <p:strVal val="visible"/>
                                      </p:to>
                                    </p:set>
                                    <p:anim calcmode="lin" valueType="num">
                                      <p:cBhvr>
                                        <p:cTn id="14" dur="500" fill="hold"/>
                                        <p:tgtEl>
                                          <p:spTgt spid="39"/>
                                        </p:tgtEl>
                                        <p:attrNameLst>
                                          <p:attrName>ppt_w</p:attrName>
                                        </p:attrNameLst>
                                      </p:cBhvr>
                                      <p:tavLst>
                                        <p:tav tm="0">
                                          <p:val>
                                            <p:fltVal val="0"/>
                                          </p:val>
                                        </p:tav>
                                        <p:tav tm="100000">
                                          <p:val>
                                            <p:strVal val="#ppt_w"/>
                                          </p:val>
                                        </p:tav>
                                      </p:tavLst>
                                    </p:anim>
                                    <p:anim calcmode="lin" valueType="num">
                                      <p:cBhvr>
                                        <p:cTn id="15" dur="500" fill="hold"/>
                                        <p:tgtEl>
                                          <p:spTgt spid="39"/>
                                        </p:tgtEl>
                                        <p:attrNameLst>
                                          <p:attrName>ppt_h</p:attrName>
                                        </p:attrNameLst>
                                      </p:cBhvr>
                                      <p:tavLst>
                                        <p:tav tm="0">
                                          <p:val>
                                            <p:fltVal val="0"/>
                                          </p:val>
                                        </p:tav>
                                        <p:tav tm="100000">
                                          <p:val>
                                            <p:strVal val="#ppt_h"/>
                                          </p:val>
                                        </p:tav>
                                      </p:tavLst>
                                    </p:anim>
                                    <p:animEffect transition="in" filter="fade">
                                      <p:cBhvr>
                                        <p:cTn id="16" dur="500"/>
                                        <p:tgtEl>
                                          <p:spTgt spid="39"/>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42"/>
                                        </p:tgtEl>
                                        <p:attrNameLst>
                                          <p:attrName>style.visibility</p:attrName>
                                        </p:attrNameLst>
                                      </p:cBhvr>
                                      <p:to>
                                        <p:strVal val="visible"/>
                                      </p:to>
                                    </p:set>
                                    <p:animEffect transition="in" filter="fade">
                                      <p:cBhvr>
                                        <p:cTn id="31" dur="1000"/>
                                        <p:tgtEl>
                                          <p:spTgt spid="42"/>
                                        </p:tgtEl>
                                      </p:cBhvr>
                                    </p:animEffect>
                                    <p:anim calcmode="lin" valueType="num">
                                      <p:cBhvr>
                                        <p:cTn id="32" dur="1000" fill="hold"/>
                                        <p:tgtEl>
                                          <p:spTgt spid="42"/>
                                        </p:tgtEl>
                                        <p:attrNameLst>
                                          <p:attrName>ppt_x</p:attrName>
                                        </p:attrNameLst>
                                      </p:cBhvr>
                                      <p:tavLst>
                                        <p:tav tm="0">
                                          <p:val>
                                            <p:strVal val="#ppt_x"/>
                                          </p:val>
                                        </p:tav>
                                        <p:tav tm="100000">
                                          <p:val>
                                            <p:strVal val="#ppt_x"/>
                                          </p:val>
                                        </p:tav>
                                      </p:tavLst>
                                    </p:anim>
                                    <p:anim calcmode="lin" valueType="num">
                                      <p:cBhvr>
                                        <p:cTn id="33" dur="1000" fill="hold"/>
                                        <p:tgtEl>
                                          <p:spTgt spid="42"/>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43"/>
                                        </p:tgtEl>
                                        <p:attrNameLst>
                                          <p:attrName>style.visibility</p:attrName>
                                        </p:attrNameLst>
                                      </p:cBhvr>
                                      <p:to>
                                        <p:strVal val="visible"/>
                                      </p:to>
                                    </p:set>
                                    <p:animEffect transition="in" filter="fade">
                                      <p:cBhvr>
                                        <p:cTn id="36" dur="1000"/>
                                        <p:tgtEl>
                                          <p:spTgt spid="43"/>
                                        </p:tgtEl>
                                      </p:cBhvr>
                                    </p:animEffect>
                                    <p:anim calcmode="lin" valueType="num">
                                      <p:cBhvr>
                                        <p:cTn id="37" dur="1000" fill="hold"/>
                                        <p:tgtEl>
                                          <p:spTgt spid="43"/>
                                        </p:tgtEl>
                                        <p:attrNameLst>
                                          <p:attrName>ppt_x</p:attrName>
                                        </p:attrNameLst>
                                      </p:cBhvr>
                                      <p:tavLst>
                                        <p:tav tm="0">
                                          <p:val>
                                            <p:strVal val="#ppt_x"/>
                                          </p:val>
                                        </p:tav>
                                        <p:tav tm="100000">
                                          <p:val>
                                            <p:strVal val="#ppt_x"/>
                                          </p:val>
                                        </p:tav>
                                      </p:tavLst>
                                    </p:anim>
                                    <p:anim calcmode="lin" valueType="num">
                                      <p:cBhvr>
                                        <p:cTn id="38" dur="1000" fill="hold"/>
                                        <p:tgtEl>
                                          <p:spTgt spid="43"/>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animEffect transition="in" filter="fade">
                                      <p:cBhvr>
                                        <p:cTn id="41" dur="1000"/>
                                        <p:tgtEl>
                                          <p:spTgt spid="44"/>
                                        </p:tgtEl>
                                      </p:cBhvr>
                                    </p:animEffect>
                                    <p:anim calcmode="lin" valueType="num">
                                      <p:cBhvr>
                                        <p:cTn id="42" dur="1000" fill="hold"/>
                                        <p:tgtEl>
                                          <p:spTgt spid="44"/>
                                        </p:tgtEl>
                                        <p:attrNameLst>
                                          <p:attrName>ppt_x</p:attrName>
                                        </p:attrNameLst>
                                      </p:cBhvr>
                                      <p:tavLst>
                                        <p:tav tm="0">
                                          <p:val>
                                            <p:strVal val="#ppt_x"/>
                                          </p:val>
                                        </p:tav>
                                        <p:tav tm="100000">
                                          <p:val>
                                            <p:strVal val="#ppt_x"/>
                                          </p:val>
                                        </p:tav>
                                      </p:tavLst>
                                    </p:anim>
                                    <p:anim calcmode="lin" valueType="num">
                                      <p:cBhvr>
                                        <p:cTn id="43" dur="1000" fill="hold"/>
                                        <p:tgtEl>
                                          <p:spTgt spid="44"/>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fade">
                                      <p:cBhvr>
                                        <p:cTn id="46" dur="1000"/>
                                        <p:tgtEl>
                                          <p:spTgt spid="45"/>
                                        </p:tgtEl>
                                      </p:cBhvr>
                                    </p:animEffect>
                                    <p:anim calcmode="lin" valueType="num">
                                      <p:cBhvr>
                                        <p:cTn id="47" dur="1000" fill="hold"/>
                                        <p:tgtEl>
                                          <p:spTgt spid="45"/>
                                        </p:tgtEl>
                                        <p:attrNameLst>
                                          <p:attrName>ppt_x</p:attrName>
                                        </p:attrNameLst>
                                      </p:cBhvr>
                                      <p:tavLst>
                                        <p:tav tm="0">
                                          <p:val>
                                            <p:strVal val="#ppt_x"/>
                                          </p:val>
                                        </p:tav>
                                        <p:tav tm="100000">
                                          <p:val>
                                            <p:strVal val="#ppt_x"/>
                                          </p:val>
                                        </p:tav>
                                      </p:tavLst>
                                    </p:anim>
                                    <p:anim calcmode="lin" valueType="num">
                                      <p:cBhvr>
                                        <p:cTn id="48" dur="1000" fill="hold"/>
                                        <p:tgtEl>
                                          <p:spTgt spid="45"/>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fade">
                                      <p:cBhvr>
                                        <p:cTn id="51" dur="1000"/>
                                        <p:tgtEl>
                                          <p:spTgt spid="46"/>
                                        </p:tgtEl>
                                      </p:cBhvr>
                                    </p:animEffect>
                                    <p:anim calcmode="lin" valueType="num">
                                      <p:cBhvr>
                                        <p:cTn id="52" dur="1000" fill="hold"/>
                                        <p:tgtEl>
                                          <p:spTgt spid="46"/>
                                        </p:tgtEl>
                                        <p:attrNameLst>
                                          <p:attrName>ppt_x</p:attrName>
                                        </p:attrNameLst>
                                      </p:cBhvr>
                                      <p:tavLst>
                                        <p:tav tm="0">
                                          <p:val>
                                            <p:strVal val="#ppt_x"/>
                                          </p:val>
                                        </p:tav>
                                        <p:tav tm="100000">
                                          <p:val>
                                            <p:strVal val="#ppt_x"/>
                                          </p:val>
                                        </p:tav>
                                      </p:tavLst>
                                    </p:anim>
                                    <p:anim calcmode="lin" valueType="num">
                                      <p:cBhvr>
                                        <p:cTn id="53" dur="1000" fill="hold"/>
                                        <p:tgtEl>
                                          <p:spTgt spid="46"/>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48"/>
                                        </p:tgtEl>
                                        <p:attrNameLst>
                                          <p:attrName>style.visibility</p:attrName>
                                        </p:attrNameLst>
                                      </p:cBhvr>
                                      <p:to>
                                        <p:strVal val="visible"/>
                                      </p:to>
                                    </p:set>
                                    <p:animEffect transition="in" filter="fade">
                                      <p:cBhvr>
                                        <p:cTn id="56" dur="1000"/>
                                        <p:tgtEl>
                                          <p:spTgt spid="48"/>
                                        </p:tgtEl>
                                      </p:cBhvr>
                                    </p:animEffect>
                                    <p:anim calcmode="lin" valueType="num">
                                      <p:cBhvr>
                                        <p:cTn id="57" dur="1000" fill="hold"/>
                                        <p:tgtEl>
                                          <p:spTgt spid="48"/>
                                        </p:tgtEl>
                                        <p:attrNameLst>
                                          <p:attrName>ppt_x</p:attrName>
                                        </p:attrNameLst>
                                      </p:cBhvr>
                                      <p:tavLst>
                                        <p:tav tm="0">
                                          <p:val>
                                            <p:strVal val="#ppt_x"/>
                                          </p:val>
                                        </p:tav>
                                        <p:tav tm="100000">
                                          <p:val>
                                            <p:strVal val="#ppt_x"/>
                                          </p:val>
                                        </p:tav>
                                      </p:tavLst>
                                    </p:anim>
                                    <p:anim calcmode="lin" valueType="num">
                                      <p:cBhvr>
                                        <p:cTn id="58" dur="1000" fill="hold"/>
                                        <p:tgtEl>
                                          <p:spTgt spid="48"/>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fade">
                                      <p:cBhvr>
                                        <p:cTn id="61" dur="1000"/>
                                        <p:tgtEl>
                                          <p:spTgt spid="49"/>
                                        </p:tgtEl>
                                      </p:cBhvr>
                                    </p:animEffect>
                                    <p:anim calcmode="lin" valueType="num">
                                      <p:cBhvr>
                                        <p:cTn id="62" dur="1000" fill="hold"/>
                                        <p:tgtEl>
                                          <p:spTgt spid="49"/>
                                        </p:tgtEl>
                                        <p:attrNameLst>
                                          <p:attrName>ppt_x</p:attrName>
                                        </p:attrNameLst>
                                      </p:cBhvr>
                                      <p:tavLst>
                                        <p:tav tm="0">
                                          <p:val>
                                            <p:strVal val="#ppt_x"/>
                                          </p:val>
                                        </p:tav>
                                        <p:tav tm="100000">
                                          <p:val>
                                            <p:strVal val="#ppt_x"/>
                                          </p:val>
                                        </p:tav>
                                      </p:tavLst>
                                    </p:anim>
                                    <p:anim calcmode="lin" valueType="num">
                                      <p:cBhvr>
                                        <p:cTn id="63" dur="1000" fill="hold"/>
                                        <p:tgtEl>
                                          <p:spTgt spid="49"/>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50"/>
                                        </p:tgtEl>
                                        <p:attrNameLst>
                                          <p:attrName>style.visibility</p:attrName>
                                        </p:attrNameLst>
                                      </p:cBhvr>
                                      <p:to>
                                        <p:strVal val="visible"/>
                                      </p:to>
                                    </p:set>
                                    <p:animEffect transition="in" filter="fade">
                                      <p:cBhvr>
                                        <p:cTn id="66" dur="1000"/>
                                        <p:tgtEl>
                                          <p:spTgt spid="50"/>
                                        </p:tgtEl>
                                      </p:cBhvr>
                                    </p:animEffect>
                                    <p:anim calcmode="lin" valueType="num">
                                      <p:cBhvr>
                                        <p:cTn id="67" dur="1000" fill="hold"/>
                                        <p:tgtEl>
                                          <p:spTgt spid="50"/>
                                        </p:tgtEl>
                                        <p:attrNameLst>
                                          <p:attrName>ppt_x</p:attrName>
                                        </p:attrNameLst>
                                      </p:cBhvr>
                                      <p:tavLst>
                                        <p:tav tm="0">
                                          <p:val>
                                            <p:strVal val="#ppt_x"/>
                                          </p:val>
                                        </p:tav>
                                        <p:tav tm="100000">
                                          <p:val>
                                            <p:strVal val="#ppt_x"/>
                                          </p:val>
                                        </p:tav>
                                      </p:tavLst>
                                    </p:anim>
                                    <p:anim calcmode="lin" valueType="num">
                                      <p:cBhvr>
                                        <p:cTn id="68" dur="1000" fill="hold"/>
                                        <p:tgtEl>
                                          <p:spTgt spid="50"/>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52"/>
                                        </p:tgtEl>
                                        <p:attrNameLst>
                                          <p:attrName>style.visibility</p:attrName>
                                        </p:attrNameLst>
                                      </p:cBhvr>
                                      <p:to>
                                        <p:strVal val="visible"/>
                                      </p:to>
                                    </p:set>
                                    <p:animEffect transition="in" filter="fade">
                                      <p:cBhvr>
                                        <p:cTn id="71" dur="1000"/>
                                        <p:tgtEl>
                                          <p:spTgt spid="52"/>
                                        </p:tgtEl>
                                      </p:cBhvr>
                                    </p:animEffect>
                                    <p:anim calcmode="lin" valueType="num">
                                      <p:cBhvr>
                                        <p:cTn id="72" dur="1000" fill="hold"/>
                                        <p:tgtEl>
                                          <p:spTgt spid="52"/>
                                        </p:tgtEl>
                                        <p:attrNameLst>
                                          <p:attrName>ppt_x</p:attrName>
                                        </p:attrNameLst>
                                      </p:cBhvr>
                                      <p:tavLst>
                                        <p:tav tm="0">
                                          <p:val>
                                            <p:strVal val="#ppt_x"/>
                                          </p:val>
                                        </p:tav>
                                        <p:tav tm="100000">
                                          <p:val>
                                            <p:strVal val="#ppt_x"/>
                                          </p:val>
                                        </p:tav>
                                      </p:tavLst>
                                    </p:anim>
                                    <p:anim calcmode="lin" valueType="num">
                                      <p:cBhvr>
                                        <p:cTn id="73" dur="1000" fill="hold"/>
                                        <p:tgtEl>
                                          <p:spTgt spid="52"/>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53"/>
                                        </p:tgtEl>
                                        <p:attrNameLst>
                                          <p:attrName>style.visibility</p:attrName>
                                        </p:attrNameLst>
                                      </p:cBhvr>
                                      <p:to>
                                        <p:strVal val="visible"/>
                                      </p:to>
                                    </p:set>
                                    <p:animEffect transition="in" filter="fade">
                                      <p:cBhvr>
                                        <p:cTn id="76" dur="1000"/>
                                        <p:tgtEl>
                                          <p:spTgt spid="53"/>
                                        </p:tgtEl>
                                      </p:cBhvr>
                                    </p:animEffect>
                                    <p:anim calcmode="lin" valueType="num">
                                      <p:cBhvr>
                                        <p:cTn id="77" dur="1000" fill="hold"/>
                                        <p:tgtEl>
                                          <p:spTgt spid="53"/>
                                        </p:tgtEl>
                                        <p:attrNameLst>
                                          <p:attrName>ppt_x</p:attrName>
                                        </p:attrNameLst>
                                      </p:cBhvr>
                                      <p:tavLst>
                                        <p:tav tm="0">
                                          <p:val>
                                            <p:strVal val="#ppt_x"/>
                                          </p:val>
                                        </p:tav>
                                        <p:tav tm="100000">
                                          <p:val>
                                            <p:strVal val="#ppt_x"/>
                                          </p:val>
                                        </p:tav>
                                      </p:tavLst>
                                    </p:anim>
                                    <p:anim calcmode="lin" valueType="num">
                                      <p:cBhvr>
                                        <p:cTn id="78" dur="1000" fill="hold"/>
                                        <p:tgtEl>
                                          <p:spTgt spid="53"/>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54"/>
                                        </p:tgtEl>
                                        <p:attrNameLst>
                                          <p:attrName>style.visibility</p:attrName>
                                        </p:attrNameLst>
                                      </p:cBhvr>
                                      <p:to>
                                        <p:strVal val="visible"/>
                                      </p:to>
                                    </p:set>
                                    <p:animEffect transition="in" filter="fade">
                                      <p:cBhvr>
                                        <p:cTn id="81" dur="1000"/>
                                        <p:tgtEl>
                                          <p:spTgt spid="54"/>
                                        </p:tgtEl>
                                      </p:cBhvr>
                                    </p:animEffect>
                                    <p:anim calcmode="lin" valueType="num">
                                      <p:cBhvr>
                                        <p:cTn id="82" dur="1000" fill="hold"/>
                                        <p:tgtEl>
                                          <p:spTgt spid="54"/>
                                        </p:tgtEl>
                                        <p:attrNameLst>
                                          <p:attrName>ppt_x</p:attrName>
                                        </p:attrNameLst>
                                      </p:cBhvr>
                                      <p:tavLst>
                                        <p:tav tm="0">
                                          <p:val>
                                            <p:strVal val="#ppt_x"/>
                                          </p:val>
                                        </p:tav>
                                        <p:tav tm="100000">
                                          <p:val>
                                            <p:strVal val="#ppt_x"/>
                                          </p:val>
                                        </p:tav>
                                      </p:tavLst>
                                    </p:anim>
                                    <p:anim calcmode="lin" valueType="num">
                                      <p:cBhvr>
                                        <p:cTn id="83"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35"/>
                                        </p:tgtEl>
                                        <p:attrNameLst>
                                          <p:attrName>style.visibility</p:attrName>
                                        </p:attrNameLst>
                                      </p:cBhvr>
                                      <p:to>
                                        <p:strVal val="visible"/>
                                      </p:to>
                                    </p:set>
                                    <p:animEffect transition="in" filter="fade">
                                      <p:cBhvr>
                                        <p:cTn id="88" dur="1000"/>
                                        <p:tgtEl>
                                          <p:spTgt spid="35"/>
                                        </p:tgtEl>
                                      </p:cBhvr>
                                    </p:animEffect>
                                    <p:anim calcmode="lin" valueType="num">
                                      <p:cBhvr>
                                        <p:cTn id="89" dur="1000" fill="hold"/>
                                        <p:tgtEl>
                                          <p:spTgt spid="35"/>
                                        </p:tgtEl>
                                        <p:attrNameLst>
                                          <p:attrName>ppt_x</p:attrName>
                                        </p:attrNameLst>
                                      </p:cBhvr>
                                      <p:tavLst>
                                        <p:tav tm="0">
                                          <p:val>
                                            <p:strVal val="#ppt_x"/>
                                          </p:val>
                                        </p:tav>
                                        <p:tav tm="100000">
                                          <p:val>
                                            <p:strVal val="#ppt_x"/>
                                          </p:val>
                                        </p:tav>
                                      </p:tavLst>
                                    </p:anim>
                                    <p:anim calcmode="lin" valueType="num">
                                      <p:cBhvr>
                                        <p:cTn id="90"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37"/>
                                        </p:tgtEl>
                                        <p:attrNameLst>
                                          <p:attrName>style.visibility</p:attrName>
                                        </p:attrNameLst>
                                      </p:cBhvr>
                                      <p:to>
                                        <p:strVal val="visible"/>
                                      </p:to>
                                    </p:set>
                                    <p:animEffect transition="in" filter="fade">
                                      <p:cBhvr>
                                        <p:cTn id="95" dur="1000"/>
                                        <p:tgtEl>
                                          <p:spTgt spid="37"/>
                                        </p:tgtEl>
                                      </p:cBhvr>
                                    </p:animEffect>
                                    <p:anim calcmode="lin" valueType="num">
                                      <p:cBhvr>
                                        <p:cTn id="96" dur="1000" fill="hold"/>
                                        <p:tgtEl>
                                          <p:spTgt spid="37"/>
                                        </p:tgtEl>
                                        <p:attrNameLst>
                                          <p:attrName>ppt_x</p:attrName>
                                        </p:attrNameLst>
                                      </p:cBhvr>
                                      <p:tavLst>
                                        <p:tav tm="0">
                                          <p:val>
                                            <p:strVal val="#ppt_x"/>
                                          </p:val>
                                        </p:tav>
                                        <p:tav tm="100000">
                                          <p:val>
                                            <p:strVal val="#ppt_x"/>
                                          </p:val>
                                        </p:tav>
                                      </p:tavLst>
                                    </p:anim>
                                    <p:anim calcmode="lin" valueType="num">
                                      <p:cBhvr>
                                        <p:cTn id="97" dur="1000" fill="hold"/>
                                        <p:tgtEl>
                                          <p:spTgt spid="37"/>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38"/>
                                        </p:tgtEl>
                                        <p:attrNameLst>
                                          <p:attrName>style.visibility</p:attrName>
                                        </p:attrNameLst>
                                      </p:cBhvr>
                                      <p:to>
                                        <p:strVal val="visible"/>
                                      </p:to>
                                    </p:set>
                                    <p:animEffect transition="in" filter="fade">
                                      <p:cBhvr>
                                        <p:cTn id="100" dur="1000"/>
                                        <p:tgtEl>
                                          <p:spTgt spid="38"/>
                                        </p:tgtEl>
                                      </p:cBhvr>
                                    </p:animEffect>
                                    <p:anim calcmode="lin" valueType="num">
                                      <p:cBhvr>
                                        <p:cTn id="101" dur="1000" fill="hold"/>
                                        <p:tgtEl>
                                          <p:spTgt spid="38"/>
                                        </p:tgtEl>
                                        <p:attrNameLst>
                                          <p:attrName>ppt_x</p:attrName>
                                        </p:attrNameLst>
                                      </p:cBhvr>
                                      <p:tavLst>
                                        <p:tav tm="0">
                                          <p:val>
                                            <p:strVal val="#ppt_x"/>
                                          </p:val>
                                        </p:tav>
                                        <p:tav tm="100000">
                                          <p:val>
                                            <p:strVal val="#ppt_x"/>
                                          </p:val>
                                        </p:tav>
                                      </p:tavLst>
                                    </p:anim>
                                    <p:anim calcmode="lin" valueType="num">
                                      <p:cBhvr>
                                        <p:cTn id="102"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40"/>
                                        </p:tgtEl>
                                        <p:attrNameLst>
                                          <p:attrName>style.visibility</p:attrName>
                                        </p:attrNameLst>
                                      </p:cBhvr>
                                      <p:to>
                                        <p:strVal val="visible"/>
                                      </p:to>
                                    </p:set>
                                    <p:animEffect transition="in" filter="wipe(down)">
                                      <p:cBhvr>
                                        <p:cTn id="107" dur="500"/>
                                        <p:tgtEl>
                                          <p:spTgt spid="40"/>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41"/>
                                        </p:tgtEl>
                                        <p:attrNameLst>
                                          <p:attrName>style.visibility</p:attrName>
                                        </p:attrNameLst>
                                      </p:cBhvr>
                                      <p:to>
                                        <p:strVal val="visible"/>
                                      </p:to>
                                    </p:set>
                                    <p:animEffect transition="in" filter="wipe(left)">
                                      <p:cBhvr>
                                        <p:cTn id="112"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2" grpId="0" animBg="1"/>
      <p:bldP spid="5" grpId="0"/>
      <p:bldP spid="35" grpId="0"/>
      <p:bldP spid="37" grpId="0"/>
      <p:bldP spid="38" grpId="0"/>
      <p:bldP spid="40" grpId="0"/>
      <p:bldP spid="41" grpId="0"/>
      <p:bldP spid="42" grpId="0"/>
      <p:bldP spid="43" grpId="0"/>
      <p:bldP spid="44" grpId="0"/>
      <p:bldP spid="45" grpId="0"/>
      <p:bldP spid="46" grpId="0"/>
      <p:bldP spid="48" grpId="0"/>
      <p:bldP spid="49" grpId="0"/>
      <p:bldP spid="50" grpId="0"/>
      <p:bldP spid="52" grpId="0"/>
      <p:bldP spid="53" grpId="0"/>
      <p:bldP spid="5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圆角 40">
            <a:extLst>
              <a:ext uri="{FF2B5EF4-FFF2-40B4-BE49-F238E27FC236}">
                <a16:creationId xmlns:a16="http://schemas.microsoft.com/office/drawing/2014/main" id="{4E82B09E-CE57-4E94-B43F-10FA4A5DFCD3}"/>
              </a:ext>
            </a:extLst>
          </p:cNvPr>
          <p:cNvSpPr/>
          <p:nvPr/>
        </p:nvSpPr>
        <p:spPr>
          <a:xfrm>
            <a:off x="704500" y="1274967"/>
            <a:ext cx="4011515"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732240" y="35332"/>
            <a:ext cx="233108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第四节 长期生产函数</a:t>
            </a:r>
          </a:p>
        </p:txBody>
      </p:sp>
      <p:sp>
        <p:nvSpPr>
          <p:cNvPr id="4" name="矩形 3"/>
          <p:cNvSpPr/>
          <p:nvPr/>
        </p:nvSpPr>
        <p:spPr>
          <a:xfrm>
            <a:off x="798983" y="1907540"/>
            <a:ext cx="6960243" cy="369332"/>
          </a:xfrm>
          <a:prstGeom prst="rect">
            <a:avLst/>
          </a:prstGeom>
        </p:spPr>
        <p:txBody>
          <a:bodyPr wrap="square">
            <a:spAutoFit/>
          </a:bodyPr>
          <a:lstStyle/>
          <a:p>
            <a:pPr marL="285750" indent="-285750">
              <a:buFont typeface="Wingdings" panose="05000000000000000000" pitchFamily="2" charset="2"/>
              <a:buChar char="Ø"/>
            </a:pPr>
            <a:r>
              <a:rPr lang="en-US" dirty="0" err="1">
                <a:latin typeface="微软雅黑" panose="020B0503020204020204" pitchFamily="34" charset="-122"/>
                <a:ea typeface="微软雅黑" panose="020B0503020204020204" pitchFamily="34" charset="-122"/>
              </a:rPr>
              <a:t>成本既定条件下，企业寻求产量最大化的生产要素投入组合</a:t>
            </a:r>
            <a:endParaRPr lang="en-US" dirty="0">
              <a:latin typeface="微软雅黑" panose="020B0503020204020204" pitchFamily="34" charset="-122"/>
              <a:ea typeface="微软雅黑" panose="020B0503020204020204" pitchFamily="34" charset="-122"/>
            </a:endParaRPr>
          </a:p>
        </p:txBody>
      </p:sp>
      <p:sp>
        <p:nvSpPr>
          <p:cNvPr id="6" name="矩形 5"/>
          <p:cNvSpPr/>
          <p:nvPr/>
        </p:nvSpPr>
        <p:spPr>
          <a:xfrm>
            <a:off x="1043608" y="3212976"/>
            <a:ext cx="2376264" cy="369332"/>
          </a:xfrm>
          <a:prstGeom prst="rect">
            <a:avLst/>
          </a:prstGeom>
        </p:spPr>
        <p:txBody>
          <a:bodyPr wrap="square">
            <a:spAutoFit/>
          </a:bodyPr>
          <a:lstStyle/>
          <a:p>
            <a:pPr marL="285750" indent="-285750">
              <a:buFont typeface="Wingdings" panose="05000000000000000000" pitchFamily="2" charset="2"/>
              <a:buChar char="l"/>
            </a:pPr>
            <a:r>
              <a:rPr lang="en-US" dirty="0" err="1">
                <a:latin typeface="微软雅黑" panose="020B0503020204020204" pitchFamily="34" charset="-122"/>
                <a:ea typeface="微软雅黑" panose="020B0503020204020204" pitchFamily="34" charset="-122"/>
              </a:rPr>
              <a:t>处在等成本线上</a:t>
            </a:r>
            <a:r>
              <a:rPr lang="en-US" dirty="0">
                <a:latin typeface="微软雅黑" panose="020B0503020204020204" pitchFamily="34" charset="-122"/>
                <a:ea typeface="微软雅黑" panose="020B0503020204020204" pitchFamily="34" charset="-122"/>
              </a:rPr>
              <a:t>，</a:t>
            </a:r>
          </a:p>
        </p:txBody>
      </p:sp>
      <p:sp>
        <p:nvSpPr>
          <p:cNvPr id="7" name="矩形 6"/>
          <p:cNvSpPr/>
          <p:nvPr/>
        </p:nvSpPr>
        <p:spPr>
          <a:xfrm>
            <a:off x="1043608" y="3573208"/>
            <a:ext cx="3243196" cy="369332"/>
          </a:xfrm>
          <a:prstGeom prst="rect">
            <a:avLst/>
          </a:prstGeom>
        </p:spPr>
        <p:txBody>
          <a:bodyPr wrap="none">
            <a:spAutoFit/>
          </a:bodyPr>
          <a:lstStyle/>
          <a:p>
            <a:pPr marL="285750" indent="-285750">
              <a:buFont typeface="Wingdings" panose="05000000000000000000" pitchFamily="2" charset="2"/>
              <a:buChar char="l"/>
            </a:pPr>
            <a:r>
              <a:rPr lang="en-US" dirty="0" err="1">
                <a:latin typeface="微软雅黑" panose="020B0503020204020204" pitchFamily="34" charset="-122"/>
                <a:ea typeface="微软雅黑" panose="020B0503020204020204" pitchFamily="34" charset="-122"/>
              </a:rPr>
              <a:t>所处等产量曲线离</a:t>
            </a:r>
            <a:r>
              <a:rPr lang="zh-CN" altLang="en-US" dirty="0">
                <a:latin typeface="微软雅黑" panose="020B0503020204020204" pitchFamily="34" charset="-122"/>
                <a:ea typeface="微软雅黑" panose="020B0503020204020204" pitchFamily="34" charset="-122"/>
              </a:rPr>
              <a:t>原</a:t>
            </a:r>
            <a:r>
              <a:rPr lang="en-US" dirty="0" err="1">
                <a:latin typeface="微软雅黑" panose="020B0503020204020204" pitchFamily="34" charset="-122"/>
                <a:ea typeface="微软雅黑" panose="020B0503020204020204" pitchFamily="34" charset="-122"/>
              </a:rPr>
              <a:t>点最远</a:t>
            </a:r>
            <a:endParaRPr lang="en-US"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8" name="文本框 7"/>
              <p:cNvSpPr txBox="1"/>
              <p:nvPr/>
            </p:nvSpPr>
            <p:spPr>
              <a:xfrm>
                <a:off x="3226756" y="3244011"/>
                <a:ext cx="666272" cy="277576"/>
              </a:xfrm>
              <a:prstGeom prst="rect">
                <a:avLst/>
              </a:prstGeom>
              <a:noFill/>
            </p:spPr>
            <p:txBody>
              <a:bodyPr wrap="none" lIns="0" tIns="0" rIns="0" bIns="0" rtlCol="0">
                <a:spAutoFit/>
              </a:bodyPr>
              <a:lstStyle/>
              <a:p>
                <a:pPr>
                  <a:buClr>
                    <a:srgbClr val="CB0528"/>
                  </a:buClr>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𝐶</m:t>
                      </m:r>
                      <m:r>
                        <a:rPr lang="en-US" i="1" smtClean="0">
                          <a:solidFill>
                            <a:schemeClr val="tx1"/>
                          </a:solidFill>
                          <a:latin typeface="Cambria Math" panose="02040503050406030204" pitchFamily="18" charset="0"/>
                        </a:rPr>
                        <m:t>=</m:t>
                      </m:r>
                      <m:acc>
                        <m:accPr>
                          <m:chr m:val="̅"/>
                          <m:ctrlPr>
                            <a:rPr lang="en-US"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𝐶</m:t>
                          </m:r>
                        </m:e>
                      </m:acc>
                    </m:oMath>
                  </m:oMathPara>
                </a14:m>
                <a:endParaRPr lang="en-US" dirty="0">
                  <a:solidFill>
                    <a:schemeClr val="tx1"/>
                  </a:solidFill>
                  <a:latin typeface="微软雅黑" panose="020B0503020204020204" pitchFamily="34" charset="-122"/>
                  <a:ea typeface="微软雅黑" panose="020B0503020204020204" pitchFamily="34"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3226756" y="3244011"/>
                <a:ext cx="666272" cy="277576"/>
              </a:xfrm>
              <a:prstGeom prst="rect">
                <a:avLst/>
              </a:prstGeom>
              <a:blipFill>
                <a:blip r:embed="rId2"/>
                <a:stretch>
                  <a:fillRect l="-6364" t="-2174" r="-48182" b="-8696"/>
                </a:stretch>
              </a:blipFill>
            </p:spPr>
            <p:txBody>
              <a:bodyPr/>
              <a:lstStyle/>
              <a:p>
                <a:r>
                  <a:rPr lang="zh-CN" altLang="en-US">
                    <a:noFill/>
                  </a:rPr>
                  <a:t> </a:t>
                </a:r>
              </a:p>
            </p:txBody>
          </p:sp>
        </mc:Fallback>
      </mc:AlternateContent>
      <p:sp>
        <p:nvSpPr>
          <p:cNvPr id="11" name="矩形 10">
            <a:extLst>
              <a:ext uri="{FF2B5EF4-FFF2-40B4-BE49-F238E27FC236}">
                <a16:creationId xmlns:a16="http://schemas.microsoft.com/office/drawing/2014/main" id="{E7DE92A3-4431-4065-BF9E-3D8F32671DD1}"/>
              </a:ext>
            </a:extLst>
          </p:cNvPr>
          <p:cNvSpPr/>
          <p:nvPr/>
        </p:nvSpPr>
        <p:spPr>
          <a:xfrm>
            <a:off x="798983" y="1300698"/>
            <a:ext cx="3917033" cy="400110"/>
          </a:xfrm>
          <a:prstGeom prst="rect">
            <a:avLst/>
          </a:prstGeom>
          <a:noFill/>
        </p:spPr>
        <p:txBody>
          <a:bodyPr wrap="square">
            <a:spAutoFit/>
          </a:bodyPr>
          <a:lstStyle/>
          <a:p>
            <a:pPr marL="285750" indent="-285750">
              <a:buFont typeface="Wingdings" panose="05000000000000000000" pitchFamily="2" charset="2"/>
              <a:buChar char="u"/>
            </a:pPr>
            <a:r>
              <a:rPr lang="en-US" sz="2000" dirty="0" err="1">
                <a:latin typeface="微软雅黑" panose="020B0503020204020204" pitchFamily="34" charset="-122"/>
                <a:ea typeface="微软雅黑" panose="020B0503020204020204" pitchFamily="34" charset="-122"/>
              </a:rPr>
              <a:t>成本既定条件下的产量最大化</a:t>
            </a:r>
            <a:endParaRPr lang="zh-CN" altLang="en-US" sz="2000" dirty="0">
              <a:latin typeface="微软雅黑" panose="020B0503020204020204" pitchFamily="34" charset="-122"/>
              <a:ea typeface="微软雅黑" panose="020B0503020204020204" pitchFamily="34" charset="-122"/>
            </a:endParaRPr>
          </a:p>
        </p:txBody>
      </p:sp>
      <p:grpSp>
        <p:nvGrpSpPr>
          <p:cNvPr id="12" name="组合 11">
            <a:extLst>
              <a:ext uri="{FF2B5EF4-FFF2-40B4-BE49-F238E27FC236}">
                <a16:creationId xmlns:a16="http://schemas.microsoft.com/office/drawing/2014/main" id="{015E5300-5096-49FD-879E-9D5CBF7FAC42}"/>
              </a:ext>
            </a:extLst>
          </p:cNvPr>
          <p:cNvGrpSpPr/>
          <p:nvPr/>
        </p:nvGrpSpPr>
        <p:grpSpPr>
          <a:xfrm>
            <a:off x="673436" y="2493087"/>
            <a:ext cx="3610532" cy="575873"/>
            <a:chOff x="467544" y="1268760"/>
            <a:chExt cx="8192278" cy="1306490"/>
          </a:xfrm>
          <a:noFill/>
        </p:grpSpPr>
        <p:sp>
          <p:nvSpPr>
            <p:cNvPr id="13" name="矩形 12">
              <a:extLst>
                <a:ext uri="{FF2B5EF4-FFF2-40B4-BE49-F238E27FC236}">
                  <a16:creationId xmlns:a16="http://schemas.microsoft.com/office/drawing/2014/main" id="{44E57759-B9E5-441C-86CF-347ED027455B}"/>
                </a:ext>
              </a:extLst>
            </p:cNvPr>
            <p:cNvSpPr/>
            <p:nvPr/>
          </p:nvSpPr>
          <p:spPr>
            <a:xfrm>
              <a:off x="467544" y="1268760"/>
              <a:ext cx="8192278" cy="130649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sp>
          <p:nvSpPr>
            <p:cNvPr id="14" name="矩形 13">
              <a:extLst>
                <a:ext uri="{FF2B5EF4-FFF2-40B4-BE49-F238E27FC236}">
                  <a16:creationId xmlns:a16="http://schemas.microsoft.com/office/drawing/2014/main" id="{06B9519F-7BA2-4D39-AE0C-D9726E6C5C43}"/>
                </a:ext>
              </a:extLst>
            </p:cNvPr>
            <p:cNvSpPr/>
            <p:nvPr/>
          </p:nvSpPr>
          <p:spPr>
            <a:xfrm>
              <a:off x="538031" y="1342300"/>
              <a:ext cx="8051305" cy="115941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endParaRPr>
            </a:p>
          </p:txBody>
        </p:sp>
      </p:grpSp>
      <p:pic>
        <p:nvPicPr>
          <p:cNvPr id="15" name="图片 14">
            <a:extLst>
              <a:ext uri="{FF2B5EF4-FFF2-40B4-BE49-F238E27FC236}">
                <a16:creationId xmlns:a16="http://schemas.microsoft.com/office/drawing/2014/main" id="{41F2DC1C-4D75-4B3C-B438-7CA8D730C4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6987" y="2567256"/>
            <a:ext cx="448444" cy="448444"/>
          </a:xfrm>
          <a:prstGeom prst="rect">
            <a:avLst/>
          </a:prstGeom>
          <a:effectLst>
            <a:innerShdw blurRad="114300">
              <a:prstClr val="black"/>
            </a:innerShdw>
          </a:effectLst>
        </p:spPr>
      </p:pic>
      <p:sp>
        <p:nvSpPr>
          <p:cNvPr id="5" name="矩形 4"/>
          <p:cNvSpPr/>
          <p:nvPr/>
        </p:nvSpPr>
        <p:spPr>
          <a:xfrm>
            <a:off x="1276368" y="2622930"/>
            <a:ext cx="3007600" cy="369332"/>
          </a:xfrm>
          <a:prstGeom prst="rect">
            <a:avLst/>
          </a:prstGeom>
        </p:spPr>
        <p:txBody>
          <a:bodyPr wrap="square">
            <a:spAutoFit/>
          </a:bodyPr>
          <a:lstStyle/>
          <a:p>
            <a:pPr>
              <a:buClr>
                <a:srgbClr val="E5AB71"/>
              </a:buClr>
            </a:pPr>
            <a:r>
              <a:rPr lang="en-US" dirty="0" err="1">
                <a:latin typeface="微软雅黑" panose="020B0503020204020204" pitchFamily="34" charset="-122"/>
                <a:ea typeface="微软雅黑" panose="020B0503020204020204" pitchFamily="34" charset="-122"/>
              </a:rPr>
              <a:t>如何做到K和L的最优组合</a:t>
            </a:r>
            <a:r>
              <a:rPr lang="en-US" dirty="0">
                <a:latin typeface="微软雅黑" panose="020B0503020204020204" pitchFamily="34" charset="-122"/>
                <a:ea typeface="微软雅黑" panose="020B0503020204020204" pitchFamily="34" charset="-122"/>
              </a:rPr>
              <a:t>？</a:t>
            </a:r>
          </a:p>
        </p:txBody>
      </p:sp>
      <p:sp>
        <p:nvSpPr>
          <p:cNvPr id="17" name="矩形 16">
            <a:extLst>
              <a:ext uri="{FF2B5EF4-FFF2-40B4-BE49-F238E27FC236}">
                <a16:creationId xmlns:a16="http://schemas.microsoft.com/office/drawing/2014/main" id="{55497D8B-2000-4CC3-A0F3-D164CC86583B}"/>
              </a:ext>
            </a:extLst>
          </p:cNvPr>
          <p:cNvSpPr/>
          <p:nvPr/>
        </p:nvSpPr>
        <p:spPr>
          <a:xfrm>
            <a:off x="840728" y="4149080"/>
            <a:ext cx="3048035" cy="369332"/>
          </a:xfrm>
          <a:prstGeom prst="rect">
            <a:avLst/>
          </a:prstGeom>
          <a:noFill/>
        </p:spPr>
        <p:txBody>
          <a:bodyPr wrap="square">
            <a:spAutoFit/>
          </a:bodyPr>
          <a:lstStyle/>
          <a:p>
            <a:pPr marL="285750" indent="-285750" algn="ctr">
              <a:buFont typeface="Wingdings" panose="05000000000000000000" pitchFamily="2" charset="2"/>
              <a:buChar char="Ø"/>
            </a:pPr>
            <a:r>
              <a:rPr lang="en-US" altLang="zh-CN" dirty="0">
                <a:latin typeface="微软雅黑" panose="020B0503020204020204" pitchFamily="34" charset="-122"/>
                <a:ea typeface="微软雅黑" panose="020B0503020204020204" pitchFamily="34" charset="-122"/>
                <a:sym typeface="Wingdings" panose="05000000000000000000" pitchFamily="2" charset="2"/>
              </a:rPr>
              <a:t> </a:t>
            </a:r>
            <a:r>
              <a:rPr lang="en-US" dirty="0" err="1">
                <a:latin typeface="微软雅黑" panose="020B0503020204020204" pitchFamily="34" charset="-122"/>
                <a:ea typeface="微软雅黑" panose="020B0503020204020204" pitchFamily="34" charset="-122"/>
              </a:rPr>
              <a:t>最优要素组合的条件</a:t>
            </a:r>
            <a:endParaRPr lang="en-US"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8" name="文本框 17"/>
              <p:cNvSpPr txBox="1"/>
              <p:nvPr/>
            </p:nvSpPr>
            <p:spPr>
              <a:xfrm>
                <a:off x="1242774" y="4682483"/>
                <a:ext cx="2436108" cy="117910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400" i="1" smtClean="0">
                              <a:solidFill>
                                <a:schemeClr val="tx1"/>
                              </a:solidFill>
                              <a:latin typeface="Cambria Math" panose="02040503050406030204" pitchFamily="18" charset="0"/>
                            </a:rPr>
                          </m:ctrlPr>
                        </m:dPr>
                        <m:e>
                          <m:m>
                            <m:mPr>
                              <m:mcs>
                                <m:mc>
                                  <m:mcPr>
                                    <m:count m:val="1"/>
                                    <m:mcJc m:val="center"/>
                                  </m:mcPr>
                                </m:mc>
                              </m:mcs>
                              <m:ctrlPr>
                                <a:rPr lang="en-US" sz="2400" i="1" smtClean="0">
                                  <a:solidFill>
                                    <a:schemeClr val="tx1"/>
                                  </a:solidFill>
                                  <a:latin typeface="Cambria Math" panose="02040503050406030204" pitchFamily="18" charset="0"/>
                                </a:rPr>
                              </m:ctrlPr>
                            </m:mPr>
                            <m:mr>
                              <m:e>
                                <m:r>
                                  <a:rPr lang="en-US" sz="2400" b="0" i="1" smtClean="0">
                                    <a:solidFill>
                                      <a:schemeClr val="tx1"/>
                                    </a:solidFill>
                                    <a:latin typeface="Cambria Math" panose="02040503050406030204" pitchFamily="18" charset="0"/>
                                  </a:rPr>
                                  <m:t>𝑀</m:t>
                                </m:r>
                                <m:r>
                                  <a:rPr lang="en-US" sz="2400" i="1" smtClean="0">
                                    <a:solidFill>
                                      <a:schemeClr val="tx1"/>
                                    </a:solidFill>
                                    <a:latin typeface="Cambria Math" panose="02040503050406030204" pitchFamily="18" charset="0"/>
                                  </a:rPr>
                                  <m:t>𝑅𝑇</m:t>
                                </m:r>
                                <m:sSub>
                                  <m:sSubPr>
                                    <m:ctrlPr>
                                      <a:rPr lang="en-US" sz="2400" i="1" smtClean="0">
                                        <a:solidFill>
                                          <a:schemeClr val="tx1"/>
                                        </a:solidFill>
                                        <a:latin typeface="Cambria Math" panose="02040503050406030204" pitchFamily="18" charset="0"/>
                                      </a:rPr>
                                    </m:ctrlPr>
                                  </m:sSubPr>
                                  <m:e>
                                    <m:r>
                                      <a:rPr lang="en-US" sz="2400" b="0" i="1" smtClean="0">
                                        <a:solidFill>
                                          <a:schemeClr val="tx1"/>
                                        </a:solidFill>
                                        <a:latin typeface="Cambria Math" panose="02040503050406030204" pitchFamily="18" charset="0"/>
                                      </a:rPr>
                                      <m:t>𝑆</m:t>
                                    </m:r>
                                  </m:e>
                                  <m:sub>
                                    <m:r>
                                      <a:rPr lang="en-US" sz="2400" i="1" smtClean="0">
                                        <a:solidFill>
                                          <a:schemeClr val="tx1"/>
                                        </a:solidFill>
                                        <a:latin typeface="Cambria Math" panose="02040503050406030204" pitchFamily="18" charset="0"/>
                                      </a:rPr>
                                      <m:t>𝐿</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𝐾</m:t>
                                    </m:r>
                                  </m:sub>
                                </m:sSub>
                                <m:r>
                                  <a:rPr lang="en-US" sz="2400" i="1" smtClean="0">
                                    <a:solidFill>
                                      <a:schemeClr val="tx1"/>
                                    </a:solidFill>
                                    <a:latin typeface="Cambria Math" panose="02040503050406030204" pitchFamily="18" charset="0"/>
                                  </a:rPr>
                                  <m:t>=</m:t>
                                </m:r>
                                <m:f>
                                  <m:fPr>
                                    <m:ctrlPr>
                                      <a:rPr lang="en-US" sz="2400" i="1" smtClean="0">
                                        <a:solidFill>
                                          <a:schemeClr val="tx1"/>
                                        </a:solidFill>
                                        <a:latin typeface="Cambria Math" panose="02040503050406030204" pitchFamily="18" charset="0"/>
                                      </a:rPr>
                                    </m:ctrlPr>
                                  </m:fPr>
                                  <m:num>
                                    <m:r>
                                      <a:rPr lang="en-US" sz="2400" i="1" smtClean="0">
                                        <a:solidFill>
                                          <a:schemeClr val="tx1"/>
                                        </a:solidFill>
                                        <a:latin typeface="Cambria Math" panose="02040503050406030204" pitchFamily="18" charset="0"/>
                                      </a:rPr>
                                      <m:t>𝑤</m:t>
                                    </m:r>
                                  </m:num>
                                  <m:den>
                                    <m:r>
                                      <a:rPr lang="en-US" sz="2400" i="1" smtClean="0">
                                        <a:solidFill>
                                          <a:schemeClr val="tx1"/>
                                        </a:solidFill>
                                        <a:latin typeface="Cambria Math" panose="02040503050406030204" pitchFamily="18" charset="0"/>
                                      </a:rPr>
                                      <m:t>𝑟</m:t>
                                    </m:r>
                                  </m:den>
                                </m:f>
                              </m:e>
                            </m:mr>
                            <m:mr>
                              <m:e>
                                <m:r>
                                  <a:rPr lang="en-US" sz="2400" b="0" i="1" smtClean="0">
                                    <a:solidFill>
                                      <a:schemeClr val="tx1"/>
                                    </a:solidFill>
                                    <a:latin typeface="Cambria Math" panose="02040503050406030204" pitchFamily="18" charset="0"/>
                                  </a:rPr>
                                  <m:t>𝑊</m:t>
                                </m:r>
                                <m:r>
                                  <a:rPr lang="en-US" sz="2400" i="1" smtClean="0">
                                    <a:solidFill>
                                      <a:schemeClr val="tx1"/>
                                    </a:solidFill>
                                    <a:latin typeface="Cambria Math" panose="02040503050406030204" pitchFamily="18" charset="0"/>
                                  </a:rPr>
                                  <m:t>𝐿</m:t>
                                </m:r>
                                <m:r>
                                  <a:rPr lang="en-US" sz="2400" i="1" smtClean="0">
                                    <a:solidFill>
                                      <a:schemeClr val="tx1"/>
                                    </a:solidFill>
                                    <a:latin typeface="Cambria Math" panose="02040503050406030204" pitchFamily="18" charset="0"/>
                                  </a:rPr>
                                  <m:t>+</m:t>
                                </m:r>
                                <m:r>
                                  <a:rPr lang="en-US" sz="2400" i="1" smtClean="0">
                                    <a:solidFill>
                                      <a:schemeClr val="tx1"/>
                                    </a:solidFill>
                                    <a:latin typeface="Cambria Math" panose="02040503050406030204" pitchFamily="18" charset="0"/>
                                  </a:rPr>
                                  <m:t>𝑟𝐾</m:t>
                                </m:r>
                                <m:r>
                                  <a:rPr lang="en-US" sz="2400" i="1" smtClean="0">
                                    <a:solidFill>
                                      <a:schemeClr val="tx1"/>
                                    </a:solidFill>
                                    <a:latin typeface="Cambria Math" panose="02040503050406030204" pitchFamily="18" charset="0"/>
                                  </a:rPr>
                                  <m:t>=</m:t>
                                </m:r>
                                <m:acc>
                                  <m:accPr>
                                    <m:chr m:val="̅"/>
                                    <m:ctrlPr>
                                      <a:rPr lang="en-US" sz="2400" i="1">
                                        <a:solidFill>
                                          <a:schemeClr val="tx1"/>
                                        </a:solidFill>
                                        <a:latin typeface="Cambria Math" panose="02040503050406030204" pitchFamily="18" charset="0"/>
                                      </a:rPr>
                                    </m:ctrlPr>
                                  </m:accPr>
                                  <m:e>
                                    <m:r>
                                      <a:rPr lang="en-US" sz="2400" b="0" i="1" smtClean="0">
                                        <a:solidFill>
                                          <a:schemeClr val="tx1"/>
                                        </a:solidFill>
                                        <a:latin typeface="Cambria Math" panose="02040503050406030204" pitchFamily="18" charset="0"/>
                                      </a:rPr>
                                      <m:t>𝐶</m:t>
                                    </m:r>
                                  </m:e>
                                </m:acc>
                              </m:e>
                            </m:mr>
                          </m:m>
                        </m:e>
                      </m:d>
                    </m:oMath>
                  </m:oMathPara>
                </a14:m>
                <a:endParaRPr lang="en-US" sz="2400" dirty="0">
                  <a:solidFill>
                    <a:schemeClr val="tx1"/>
                  </a:solidFill>
                </a:endParaRPr>
              </a:p>
            </p:txBody>
          </p:sp>
        </mc:Choice>
        <mc:Fallback xmlns="">
          <p:sp>
            <p:nvSpPr>
              <p:cNvPr id="18" name="文本框 17"/>
              <p:cNvSpPr txBox="1">
                <a:spLocks noRot="1" noChangeAspect="1" noMove="1" noResize="1" noEditPoints="1" noAdjustHandles="1" noChangeArrowheads="1" noChangeShapeType="1" noTextEdit="1"/>
              </p:cNvSpPr>
              <p:nvPr/>
            </p:nvSpPr>
            <p:spPr>
              <a:xfrm>
                <a:off x="1242774" y="4682483"/>
                <a:ext cx="2436108" cy="1179105"/>
              </a:xfrm>
              <a:prstGeom prst="rect">
                <a:avLst/>
              </a:prstGeom>
              <a:blipFill>
                <a:blip r:embed="rId4"/>
                <a:stretch>
                  <a:fillRect/>
                </a:stretch>
              </a:blipFill>
            </p:spPr>
            <p:txBody>
              <a:bodyPr/>
              <a:lstStyle/>
              <a:p>
                <a:r>
                  <a:rPr lang="zh-CN" altLang="en-US">
                    <a:noFill/>
                  </a:rPr>
                  <a:t> </a:t>
                </a:r>
              </a:p>
            </p:txBody>
          </p:sp>
        </mc:Fallback>
      </mc:AlternateContent>
      <p:grpSp>
        <p:nvGrpSpPr>
          <p:cNvPr id="19" name="组合 55"/>
          <p:cNvGrpSpPr>
            <a:grpSpLocks/>
          </p:cNvGrpSpPr>
          <p:nvPr/>
        </p:nvGrpSpPr>
        <p:grpSpPr bwMode="auto">
          <a:xfrm>
            <a:off x="5469473" y="3208560"/>
            <a:ext cx="2852757" cy="2587085"/>
            <a:chOff x="357189" y="0"/>
            <a:chExt cx="3286135" cy="3200775"/>
          </a:xfrm>
        </p:grpSpPr>
        <p:grpSp>
          <p:nvGrpSpPr>
            <p:cNvPr id="20" name="组合 4"/>
            <p:cNvGrpSpPr>
              <a:grpSpLocks/>
            </p:cNvGrpSpPr>
            <p:nvPr/>
          </p:nvGrpSpPr>
          <p:grpSpPr bwMode="auto">
            <a:xfrm>
              <a:off x="357189" y="238153"/>
              <a:ext cx="3286135" cy="2859421"/>
              <a:chOff x="259137" y="-295"/>
              <a:chExt cx="2384059" cy="2387655"/>
            </a:xfrm>
          </p:grpSpPr>
          <p:cxnSp>
            <p:nvCxnSpPr>
              <p:cNvPr id="27" name="直接箭头连接符 5"/>
              <p:cNvCxnSpPr>
                <a:cxnSpLocks noChangeShapeType="1"/>
              </p:cNvCxnSpPr>
              <p:nvPr/>
            </p:nvCxnSpPr>
            <p:spPr bwMode="auto">
              <a:xfrm>
                <a:off x="259137" y="2386035"/>
                <a:ext cx="2384059" cy="1325"/>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28" name="直接箭头连接符 6"/>
              <p:cNvCxnSpPr>
                <a:cxnSpLocks noChangeShapeType="1"/>
              </p:cNvCxnSpPr>
              <p:nvPr/>
            </p:nvCxnSpPr>
            <p:spPr bwMode="auto">
              <a:xfrm rot="16200000" flipV="1">
                <a:off x="-934028" y="1192870"/>
                <a:ext cx="2386330" cy="0"/>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pSp>
        <p:cxnSp>
          <p:nvCxnSpPr>
            <p:cNvPr id="21" name="直接连接符 11"/>
            <p:cNvCxnSpPr>
              <a:cxnSpLocks noChangeShapeType="1"/>
            </p:cNvCxnSpPr>
            <p:nvPr/>
          </p:nvCxnSpPr>
          <p:spPr bwMode="auto">
            <a:xfrm>
              <a:off x="357189" y="881165"/>
              <a:ext cx="2527308" cy="2214822"/>
            </a:xfrm>
            <a:prstGeom prst="line">
              <a:avLst/>
            </a:prstGeom>
            <a:noFill/>
            <a:ln w="38100" cmpd="sng">
              <a:solidFill>
                <a:srgbClr val="C0000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sp>
          <p:nvSpPr>
            <p:cNvPr id="22" name="任意多边形 12"/>
            <p:cNvSpPr>
              <a:spLocks noChangeArrowheads="1"/>
            </p:cNvSpPr>
            <p:nvPr/>
          </p:nvSpPr>
          <p:spPr bwMode="auto">
            <a:xfrm rot="20631389">
              <a:off x="820741" y="285783"/>
              <a:ext cx="2254257" cy="2629208"/>
            </a:xfrm>
            <a:custGeom>
              <a:avLst/>
              <a:gdLst>
                <a:gd name="T0" fmla="*/ 273051 w 2254250"/>
                <a:gd name="T1" fmla="*/ 0 h 2628900"/>
                <a:gd name="T2" fmla="*/ 330201 w 2254250"/>
                <a:gd name="T3" fmla="*/ 1771857 h 2628900"/>
                <a:gd name="T4" fmla="*/ 2254257 w 2254250"/>
                <a:gd name="T5" fmla="*/ 2629208 h 2628900"/>
                <a:gd name="T6" fmla="*/ 0 60000 65536"/>
                <a:gd name="T7" fmla="*/ 0 60000 65536"/>
                <a:gd name="T8" fmla="*/ 0 60000 65536"/>
                <a:gd name="T9" fmla="*/ 0 w 2254250"/>
                <a:gd name="T10" fmla="*/ 0 h 2628900"/>
                <a:gd name="T11" fmla="*/ 2254250 w 2254250"/>
                <a:gd name="T12" fmla="*/ 2628900 h 2628900"/>
              </a:gdLst>
              <a:ahLst/>
              <a:cxnLst>
                <a:cxn ang="T6">
                  <a:pos x="T0" y="T1"/>
                </a:cxn>
                <a:cxn ang="T7">
                  <a:pos x="T2" y="T3"/>
                </a:cxn>
                <a:cxn ang="T8">
                  <a:pos x="T4" y="T5"/>
                </a:cxn>
              </a:cxnLst>
              <a:rect l="T9" t="T10" r="T11" b="T12"/>
              <a:pathLst>
                <a:path w="2254250" h="2628900">
                  <a:moveTo>
                    <a:pt x="273050" y="0"/>
                  </a:moveTo>
                  <a:cubicBezTo>
                    <a:pt x="136525" y="666750"/>
                    <a:pt x="0" y="1333500"/>
                    <a:pt x="330200" y="1771650"/>
                  </a:cubicBezTo>
                  <a:cubicBezTo>
                    <a:pt x="660400" y="2209800"/>
                    <a:pt x="1457325" y="2419350"/>
                    <a:pt x="2254250" y="262890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3" name="任意多边形 13"/>
            <p:cNvSpPr>
              <a:spLocks noChangeArrowheads="1"/>
            </p:cNvSpPr>
            <p:nvPr/>
          </p:nvSpPr>
          <p:spPr bwMode="auto">
            <a:xfrm rot="20631389">
              <a:off x="1106492" y="0"/>
              <a:ext cx="2254257" cy="2629208"/>
            </a:xfrm>
            <a:custGeom>
              <a:avLst/>
              <a:gdLst>
                <a:gd name="T0" fmla="*/ 273051 w 2254250"/>
                <a:gd name="T1" fmla="*/ 0 h 2628900"/>
                <a:gd name="T2" fmla="*/ 330201 w 2254250"/>
                <a:gd name="T3" fmla="*/ 1771857 h 2628900"/>
                <a:gd name="T4" fmla="*/ 2254257 w 2254250"/>
                <a:gd name="T5" fmla="*/ 2629208 h 2628900"/>
                <a:gd name="T6" fmla="*/ 0 60000 65536"/>
                <a:gd name="T7" fmla="*/ 0 60000 65536"/>
                <a:gd name="T8" fmla="*/ 0 60000 65536"/>
                <a:gd name="T9" fmla="*/ 0 w 2254250"/>
                <a:gd name="T10" fmla="*/ 0 h 2628900"/>
                <a:gd name="T11" fmla="*/ 2254250 w 2254250"/>
                <a:gd name="T12" fmla="*/ 2628900 h 2628900"/>
              </a:gdLst>
              <a:ahLst/>
              <a:cxnLst>
                <a:cxn ang="T6">
                  <a:pos x="T0" y="T1"/>
                </a:cxn>
                <a:cxn ang="T7">
                  <a:pos x="T2" y="T3"/>
                </a:cxn>
                <a:cxn ang="T8">
                  <a:pos x="T4" y="T5"/>
                </a:cxn>
              </a:cxnLst>
              <a:rect l="T9" t="T10" r="T11" b="T12"/>
              <a:pathLst>
                <a:path w="2254250" h="2628900">
                  <a:moveTo>
                    <a:pt x="273050" y="0"/>
                  </a:moveTo>
                  <a:cubicBezTo>
                    <a:pt x="136525" y="666750"/>
                    <a:pt x="0" y="1333500"/>
                    <a:pt x="330200" y="1771650"/>
                  </a:cubicBezTo>
                  <a:cubicBezTo>
                    <a:pt x="660400" y="2209800"/>
                    <a:pt x="1457325" y="2419350"/>
                    <a:pt x="2254250" y="262890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4" name="任意多边形 14"/>
            <p:cNvSpPr>
              <a:spLocks noChangeArrowheads="1"/>
            </p:cNvSpPr>
            <p:nvPr/>
          </p:nvSpPr>
          <p:spPr bwMode="auto">
            <a:xfrm rot="20631389">
              <a:off x="606427" y="571567"/>
              <a:ext cx="2254257" cy="2629208"/>
            </a:xfrm>
            <a:custGeom>
              <a:avLst/>
              <a:gdLst>
                <a:gd name="T0" fmla="*/ 273051 w 2254250"/>
                <a:gd name="T1" fmla="*/ 0 h 2628900"/>
                <a:gd name="T2" fmla="*/ 330201 w 2254250"/>
                <a:gd name="T3" fmla="*/ 1771857 h 2628900"/>
                <a:gd name="T4" fmla="*/ 2254257 w 2254250"/>
                <a:gd name="T5" fmla="*/ 2629208 h 2628900"/>
                <a:gd name="T6" fmla="*/ 0 60000 65536"/>
                <a:gd name="T7" fmla="*/ 0 60000 65536"/>
                <a:gd name="T8" fmla="*/ 0 60000 65536"/>
                <a:gd name="T9" fmla="*/ 0 w 2254250"/>
                <a:gd name="T10" fmla="*/ 0 h 2628900"/>
                <a:gd name="T11" fmla="*/ 2254250 w 2254250"/>
                <a:gd name="T12" fmla="*/ 2628900 h 2628900"/>
              </a:gdLst>
              <a:ahLst/>
              <a:cxnLst>
                <a:cxn ang="T6">
                  <a:pos x="T0" y="T1"/>
                </a:cxn>
                <a:cxn ang="T7">
                  <a:pos x="T2" y="T3"/>
                </a:cxn>
                <a:cxn ang="T8">
                  <a:pos x="T4" y="T5"/>
                </a:cxn>
              </a:cxnLst>
              <a:rect l="T9" t="T10" r="T11" b="T12"/>
              <a:pathLst>
                <a:path w="2254250" h="2628900">
                  <a:moveTo>
                    <a:pt x="273050" y="0"/>
                  </a:moveTo>
                  <a:cubicBezTo>
                    <a:pt x="136525" y="666750"/>
                    <a:pt x="0" y="1333500"/>
                    <a:pt x="330200" y="1771650"/>
                  </a:cubicBezTo>
                  <a:cubicBezTo>
                    <a:pt x="660400" y="2209800"/>
                    <a:pt x="1457325" y="2419350"/>
                    <a:pt x="2254250" y="262890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25" name="直接连接符 22"/>
            <p:cNvCxnSpPr>
              <a:cxnSpLocks noChangeShapeType="1"/>
            </p:cNvCxnSpPr>
            <p:nvPr/>
          </p:nvCxnSpPr>
          <p:spPr bwMode="auto">
            <a:xfrm rot="10800000">
              <a:off x="357189" y="1881407"/>
              <a:ext cx="1143004" cy="1588"/>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cxnSp>
          <p:nvCxnSpPr>
            <p:cNvPr id="26" name="直接连接符 24"/>
            <p:cNvCxnSpPr>
              <a:cxnSpLocks noChangeShapeType="1"/>
            </p:cNvCxnSpPr>
            <p:nvPr/>
          </p:nvCxnSpPr>
          <p:spPr bwMode="auto">
            <a:xfrm rot="5400000">
              <a:off x="893697" y="2489491"/>
              <a:ext cx="1212992" cy="0"/>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grpSp>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D442C1F9-8DA9-4E94-9A26-E1BDD5166C47}"/>
                  </a:ext>
                </a:extLst>
              </p:cNvPr>
              <p:cNvSpPr/>
              <p:nvPr/>
            </p:nvSpPr>
            <p:spPr>
              <a:xfrm>
                <a:off x="5231143" y="5622308"/>
                <a:ext cx="40229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𝑂</m:t>
                      </m:r>
                    </m:oMath>
                  </m:oMathPara>
                </a14:m>
                <a:endParaRPr lang="zh-CN" altLang="en-US" dirty="0">
                  <a:solidFill>
                    <a:schemeClr val="tx1"/>
                  </a:solidFill>
                </a:endParaRPr>
              </a:p>
            </p:txBody>
          </p:sp>
        </mc:Choice>
        <mc:Fallback xmlns="">
          <p:sp>
            <p:nvSpPr>
              <p:cNvPr id="29" name="矩形 28">
                <a:extLst>
                  <a:ext uri="{FF2B5EF4-FFF2-40B4-BE49-F238E27FC236}">
                    <a16:creationId xmlns:a16="http://schemas.microsoft.com/office/drawing/2014/main" id="{D442C1F9-8DA9-4E94-9A26-E1BDD5166C47}"/>
                  </a:ext>
                </a:extLst>
              </p:cNvPr>
              <p:cNvSpPr>
                <a:spLocks noRot="1" noChangeAspect="1" noMove="1" noResize="1" noEditPoints="1" noAdjustHandles="1" noChangeArrowheads="1" noChangeShapeType="1" noTextEdit="1"/>
              </p:cNvSpPr>
              <p:nvPr/>
            </p:nvSpPr>
            <p:spPr>
              <a:xfrm>
                <a:off x="5231143" y="5622308"/>
                <a:ext cx="402292"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3A33D18D-CE8F-484B-BD4B-207E93198842}"/>
                  </a:ext>
                </a:extLst>
              </p:cNvPr>
              <p:cNvSpPr/>
              <p:nvPr/>
            </p:nvSpPr>
            <p:spPr>
              <a:xfrm>
                <a:off x="5179678" y="3194002"/>
                <a:ext cx="409906"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𝐾</m:t>
                      </m:r>
                    </m:oMath>
                  </m:oMathPara>
                </a14:m>
                <a:endParaRPr lang="zh-CN" altLang="en-US" dirty="0">
                  <a:solidFill>
                    <a:schemeClr val="tx1"/>
                  </a:solidFill>
                </a:endParaRPr>
              </a:p>
            </p:txBody>
          </p:sp>
        </mc:Choice>
        <mc:Fallback xmlns="">
          <p:sp>
            <p:nvSpPr>
              <p:cNvPr id="30" name="矩形 29">
                <a:extLst>
                  <a:ext uri="{FF2B5EF4-FFF2-40B4-BE49-F238E27FC236}">
                    <a16:creationId xmlns:a16="http://schemas.microsoft.com/office/drawing/2014/main" id="{3A33D18D-CE8F-484B-BD4B-207E93198842}"/>
                  </a:ext>
                </a:extLst>
              </p:cNvPr>
              <p:cNvSpPr>
                <a:spLocks noRot="1" noChangeAspect="1" noMove="1" noResize="1" noEditPoints="1" noAdjustHandles="1" noChangeArrowheads="1" noChangeShapeType="1" noTextEdit="1"/>
              </p:cNvSpPr>
              <p:nvPr/>
            </p:nvSpPr>
            <p:spPr>
              <a:xfrm>
                <a:off x="5179678" y="3194002"/>
                <a:ext cx="409906"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矩形 30">
                <a:extLst>
                  <a:ext uri="{FF2B5EF4-FFF2-40B4-BE49-F238E27FC236}">
                    <a16:creationId xmlns:a16="http://schemas.microsoft.com/office/drawing/2014/main" id="{2E39EA6F-EEA7-450B-9849-580F26B40A42}"/>
                  </a:ext>
                </a:extLst>
              </p:cNvPr>
              <p:cNvSpPr/>
              <p:nvPr/>
            </p:nvSpPr>
            <p:spPr>
              <a:xfrm>
                <a:off x="8162492" y="5651956"/>
                <a:ext cx="36994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𝐿</m:t>
                      </m:r>
                    </m:oMath>
                  </m:oMathPara>
                </a14:m>
                <a:endParaRPr lang="zh-CN" altLang="en-US" dirty="0">
                  <a:solidFill>
                    <a:schemeClr val="tx1"/>
                  </a:solidFill>
                </a:endParaRPr>
              </a:p>
            </p:txBody>
          </p:sp>
        </mc:Choice>
        <mc:Fallback xmlns="">
          <p:sp>
            <p:nvSpPr>
              <p:cNvPr id="31" name="矩形 30">
                <a:extLst>
                  <a:ext uri="{FF2B5EF4-FFF2-40B4-BE49-F238E27FC236}">
                    <a16:creationId xmlns:a16="http://schemas.microsoft.com/office/drawing/2014/main" id="{2E39EA6F-EEA7-450B-9849-580F26B40A42}"/>
                  </a:ext>
                </a:extLst>
              </p:cNvPr>
              <p:cNvSpPr>
                <a:spLocks noRot="1" noChangeAspect="1" noMove="1" noResize="1" noEditPoints="1" noAdjustHandles="1" noChangeArrowheads="1" noChangeShapeType="1" noTextEdit="1"/>
              </p:cNvSpPr>
              <p:nvPr/>
            </p:nvSpPr>
            <p:spPr>
              <a:xfrm>
                <a:off x="8162492" y="5651956"/>
                <a:ext cx="369948"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p:cNvSpPr txBox="1"/>
              <p:nvPr/>
            </p:nvSpPr>
            <p:spPr>
              <a:xfrm>
                <a:off x="5277244" y="4590742"/>
                <a:ext cx="18437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𝐾</m:t>
                          </m:r>
                        </m:e>
                      </m:acc>
                    </m:oMath>
                  </m:oMathPara>
                </a14:m>
                <a:endParaRPr lang="en-US" dirty="0">
                  <a:solidFill>
                    <a:schemeClr val="tx1"/>
                  </a:solidFill>
                </a:endParaRPr>
              </a:p>
            </p:txBody>
          </p:sp>
        </mc:Choice>
        <mc:Fallback xmlns="">
          <p:sp>
            <p:nvSpPr>
              <p:cNvPr id="32" name="文本框 31"/>
              <p:cNvSpPr txBox="1">
                <a:spLocks noRot="1" noChangeAspect="1" noMove="1" noResize="1" noEditPoints="1" noAdjustHandles="1" noChangeArrowheads="1" noChangeShapeType="1" noTextEdit="1"/>
              </p:cNvSpPr>
              <p:nvPr/>
            </p:nvSpPr>
            <p:spPr>
              <a:xfrm>
                <a:off x="5277244" y="4590742"/>
                <a:ext cx="184373" cy="276999"/>
              </a:xfrm>
              <a:prstGeom prst="rect">
                <a:avLst/>
              </a:prstGeom>
              <a:blipFill>
                <a:blip r:embed="rId8"/>
                <a:stretch>
                  <a:fillRect l="-43333" t="-2174" r="-36667"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p:cNvSpPr txBox="1"/>
              <p:nvPr/>
            </p:nvSpPr>
            <p:spPr>
              <a:xfrm>
                <a:off x="6373093" y="5710947"/>
                <a:ext cx="18437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𝐿</m:t>
                          </m:r>
                        </m:e>
                      </m:acc>
                    </m:oMath>
                  </m:oMathPara>
                </a14:m>
                <a:endParaRPr lang="en-US" dirty="0">
                  <a:solidFill>
                    <a:schemeClr val="tx1"/>
                  </a:solidFill>
                </a:endParaRPr>
              </a:p>
            </p:txBody>
          </p:sp>
        </mc:Choice>
        <mc:Fallback xmlns="">
          <p:sp>
            <p:nvSpPr>
              <p:cNvPr id="33" name="文本框 32"/>
              <p:cNvSpPr txBox="1">
                <a:spLocks noRot="1" noChangeAspect="1" noMove="1" noResize="1" noEditPoints="1" noAdjustHandles="1" noChangeArrowheads="1" noChangeShapeType="1" noTextEdit="1"/>
              </p:cNvSpPr>
              <p:nvPr/>
            </p:nvSpPr>
            <p:spPr>
              <a:xfrm>
                <a:off x="6373093" y="5710947"/>
                <a:ext cx="184373" cy="276999"/>
              </a:xfrm>
              <a:prstGeom prst="rect">
                <a:avLst/>
              </a:prstGeom>
              <a:blipFill>
                <a:blip r:embed="rId9"/>
                <a:stretch>
                  <a:fillRect l="-25806" t="-4444" r="-38710" b="-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矩形 33">
                <a:extLst>
                  <a:ext uri="{FF2B5EF4-FFF2-40B4-BE49-F238E27FC236}">
                    <a16:creationId xmlns:a16="http://schemas.microsoft.com/office/drawing/2014/main" id="{3A33D18D-CE8F-484B-BD4B-207E93198842}"/>
                  </a:ext>
                </a:extLst>
              </p:cNvPr>
              <p:cNvSpPr/>
              <p:nvPr/>
            </p:nvSpPr>
            <p:spPr>
              <a:xfrm>
                <a:off x="5402275" y="4007248"/>
                <a:ext cx="25110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𝐴</m:t>
                      </m:r>
                    </m:oMath>
                  </m:oMathPara>
                </a14:m>
                <a:endParaRPr lang="zh-CN" altLang="en-US" dirty="0">
                  <a:solidFill>
                    <a:schemeClr val="tx1"/>
                  </a:solidFill>
                </a:endParaRPr>
              </a:p>
            </p:txBody>
          </p:sp>
        </mc:Choice>
        <mc:Fallback xmlns="">
          <p:sp>
            <p:nvSpPr>
              <p:cNvPr id="34" name="矩形 33">
                <a:extLst>
                  <a:ext uri="{FF2B5EF4-FFF2-40B4-BE49-F238E27FC236}">
                    <a16:creationId xmlns:a16="http://schemas.microsoft.com/office/drawing/2014/main" id="{3A33D18D-CE8F-484B-BD4B-207E93198842}"/>
                  </a:ext>
                </a:extLst>
              </p:cNvPr>
              <p:cNvSpPr>
                <a:spLocks noRot="1" noChangeAspect="1" noMove="1" noResize="1" noEditPoints="1" noAdjustHandles="1" noChangeArrowheads="1" noChangeShapeType="1" noTextEdit="1"/>
              </p:cNvSpPr>
              <p:nvPr/>
            </p:nvSpPr>
            <p:spPr>
              <a:xfrm>
                <a:off x="5402275" y="4007248"/>
                <a:ext cx="251100" cy="369332"/>
              </a:xfrm>
              <a:prstGeom prst="rect">
                <a:avLst/>
              </a:prstGeom>
              <a:blipFill>
                <a:blip r:embed="rId10"/>
                <a:stretch>
                  <a:fillRect r="-2926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3A33D18D-CE8F-484B-BD4B-207E93198842}"/>
                  </a:ext>
                </a:extLst>
              </p:cNvPr>
              <p:cNvSpPr/>
              <p:nvPr/>
            </p:nvSpPr>
            <p:spPr>
              <a:xfrm>
                <a:off x="5834351" y="3976715"/>
                <a:ext cx="202637" cy="37676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𝐵</m:t>
                      </m:r>
                    </m:oMath>
                  </m:oMathPara>
                </a14:m>
                <a:endParaRPr lang="zh-CN" altLang="en-US" dirty="0">
                  <a:solidFill>
                    <a:schemeClr val="tx1"/>
                  </a:solidFill>
                </a:endParaRPr>
              </a:p>
            </p:txBody>
          </p:sp>
        </mc:Choice>
        <mc:Fallback xmlns="">
          <p:sp>
            <p:nvSpPr>
              <p:cNvPr id="35" name="矩形 34">
                <a:extLst>
                  <a:ext uri="{FF2B5EF4-FFF2-40B4-BE49-F238E27FC236}">
                    <a16:creationId xmlns:a16="http://schemas.microsoft.com/office/drawing/2014/main" id="{3A33D18D-CE8F-484B-BD4B-207E93198842}"/>
                  </a:ext>
                </a:extLst>
              </p:cNvPr>
              <p:cNvSpPr>
                <a:spLocks noRot="1" noChangeAspect="1" noMove="1" noResize="1" noEditPoints="1" noAdjustHandles="1" noChangeArrowheads="1" noChangeShapeType="1" noTextEdit="1"/>
              </p:cNvSpPr>
              <p:nvPr/>
            </p:nvSpPr>
            <p:spPr>
              <a:xfrm>
                <a:off x="5834351" y="3976715"/>
                <a:ext cx="202637" cy="376764"/>
              </a:xfrm>
              <a:prstGeom prst="rect">
                <a:avLst/>
              </a:prstGeom>
              <a:blipFill>
                <a:blip r:embed="rId11"/>
                <a:stretch>
                  <a:fillRect r="-6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3A33D18D-CE8F-484B-BD4B-207E93198842}"/>
                  </a:ext>
                </a:extLst>
              </p:cNvPr>
              <p:cNvSpPr/>
              <p:nvPr/>
            </p:nvSpPr>
            <p:spPr>
              <a:xfrm>
                <a:off x="6382384" y="4422673"/>
                <a:ext cx="210797"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𝐸</m:t>
                      </m:r>
                    </m:oMath>
                  </m:oMathPara>
                </a14:m>
                <a:endParaRPr lang="zh-CN" altLang="en-US" dirty="0">
                  <a:solidFill>
                    <a:schemeClr val="tx1"/>
                  </a:solidFill>
                </a:endParaRPr>
              </a:p>
            </p:txBody>
          </p:sp>
        </mc:Choice>
        <mc:Fallback xmlns="">
          <p:sp>
            <p:nvSpPr>
              <p:cNvPr id="36" name="矩形 35">
                <a:extLst>
                  <a:ext uri="{FF2B5EF4-FFF2-40B4-BE49-F238E27FC236}">
                    <a16:creationId xmlns:a16="http://schemas.microsoft.com/office/drawing/2014/main" id="{3A33D18D-CE8F-484B-BD4B-207E93198842}"/>
                  </a:ext>
                </a:extLst>
              </p:cNvPr>
              <p:cNvSpPr>
                <a:spLocks noRot="1" noChangeAspect="1" noMove="1" noResize="1" noEditPoints="1" noAdjustHandles="1" noChangeArrowheads="1" noChangeShapeType="1" noTextEdit="1"/>
              </p:cNvSpPr>
              <p:nvPr/>
            </p:nvSpPr>
            <p:spPr>
              <a:xfrm>
                <a:off x="6382384" y="4422673"/>
                <a:ext cx="210797" cy="369332"/>
              </a:xfrm>
              <a:prstGeom prst="rect">
                <a:avLst/>
              </a:prstGeom>
              <a:blipFill>
                <a:blip r:embed="rId12"/>
                <a:stretch>
                  <a:fillRect r="-4857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7ED6E14F-6F53-4D55-AD8C-8A71214C99F5}"/>
                  </a:ext>
                </a:extLst>
              </p:cNvPr>
              <p:cNvSpPr/>
              <p:nvPr/>
            </p:nvSpPr>
            <p:spPr>
              <a:xfrm>
                <a:off x="7833719" y="5309993"/>
                <a:ext cx="18235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37" name="矩形 36">
                <a:extLst>
                  <a:ext uri="{FF2B5EF4-FFF2-40B4-BE49-F238E27FC236}">
                    <a16:creationId xmlns:a16="http://schemas.microsoft.com/office/drawing/2014/main" id="{7ED6E14F-6F53-4D55-AD8C-8A71214C99F5}"/>
                  </a:ext>
                </a:extLst>
              </p:cNvPr>
              <p:cNvSpPr>
                <a:spLocks noRot="1" noChangeAspect="1" noMove="1" noResize="1" noEditPoints="1" noAdjustHandles="1" noChangeArrowheads="1" noChangeShapeType="1" noTextEdit="1"/>
              </p:cNvSpPr>
              <p:nvPr/>
            </p:nvSpPr>
            <p:spPr>
              <a:xfrm>
                <a:off x="7833719" y="5309993"/>
                <a:ext cx="182353" cy="369332"/>
              </a:xfrm>
              <a:prstGeom prst="rect">
                <a:avLst/>
              </a:prstGeom>
              <a:blipFill>
                <a:blip r:embed="rId13"/>
                <a:stretch>
                  <a:fillRect l="-6667" r="-116667"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矩形 37">
                <a:extLst>
                  <a:ext uri="{FF2B5EF4-FFF2-40B4-BE49-F238E27FC236}">
                    <a16:creationId xmlns:a16="http://schemas.microsoft.com/office/drawing/2014/main" id="{5B0931DD-3E70-4E72-B5F6-4F19ABE19075}"/>
                  </a:ext>
                </a:extLst>
              </p:cNvPr>
              <p:cNvSpPr/>
              <p:nvPr/>
            </p:nvSpPr>
            <p:spPr>
              <a:xfrm>
                <a:off x="8027388" y="5043090"/>
                <a:ext cx="18235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38" name="矩形 37">
                <a:extLst>
                  <a:ext uri="{FF2B5EF4-FFF2-40B4-BE49-F238E27FC236}">
                    <a16:creationId xmlns:a16="http://schemas.microsoft.com/office/drawing/2014/main" id="{5B0931DD-3E70-4E72-B5F6-4F19ABE19075}"/>
                  </a:ext>
                </a:extLst>
              </p:cNvPr>
              <p:cNvSpPr>
                <a:spLocks noRot="1" noChangeAspect="1" noMove="1" noResize="1" noEditPoints="1" noAdjustHandles="1" noChangeArrowheads="1" noChangeShapeType="1" noTextEdit="1"/>
              </p:cNvSpPr>
              <p:nvPr/>
            </p:nvSpPr>
            <p:spPr>
              <a:xfrm>
                <a:off x="8027388" y="5043090"/>
                <a:ext cx="182353" cy="369332"/>
              </a:xfrm>
              <a:prstGeom prst="rect">
                <a:avLst/>
              </a:prstGeom>
              <a:blipFill>
                <a:blip r:embed="rId14"/>
                <a:stretch>
                  <a:fillRect l="-6667" r="-116667"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矩形 38">
                <a:extLst>
                  <a:ext uri="{FF2B5EF4-FFF2-40B4-BE49-F238E27FC236}">
                    <a16:creationId xmlns:a16="http://schemas.microsoft.com/office/drawing/2014/main" id="{5B0931DD-3E70-4E72-B5F6-4F19ABE19075}"/>
                  </a:ext>
                </a:extLst>
              </p:cNvPr>
              <p:cNvSpPr/>
              <p:nvPr/>
            </p:nvSpPr>
            <p:spPr>
              <a:xfrm>
                <a:off x="8262111" y="4815863"/>
                <a:ext cx="18235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3</m:t>
                          </m:r>
                        </m:sub>
                      </m:sSub>
                    </m:oMath>
                  </m:oMathPara>
                </a14:m>
                <a:endParaRPr lang="zh-CN" altLang="en-US" dirty="0">
                  <a:solidFill>
                    <a:schemeClr val="tx1"/>
                  </a:solidFill>
                </a:endParaRPr>
              </a:p>
            </p:txBody>
          </p:sp>
        </mc:Choice>
        <mc:Fallback xmlns="">
          <p:sp>
            <p:nvSpPr>
              <p:cNvPr id="39" name="矩形 38">
                <a:extLst>
                  <a:ext uri="{FF2B5EF4-FFF2-40B4-BE49-F238E27FC236}">
                    <a16:creationId xmlns:a16="http://schemas.microsoft.com/office/drawing/2014/main" id="{5B0931DD-3E70-4E72-B5F6-4F19ABE19075}"/>
                  </a:ext>
                </a:extLst>
              </p:cNvPr>
              <p:cNvSpPr>
                <a:spLocks noRot="1" noChangeAspect="1" noMove="1" noResize="1" noEditPoints="1" noAdjustHandles="1" noChangeArrowheads="1" noChangeShapeType="1" noTextEdit="1"/>
              </p:cNvSpPr>
              <p:nvPr/>
            </p:nvSpPr>
            <p:spPr>
              <a:xfrm>
                <a:off x="8262111" y="4815863"/>
                <a:ext cx="182353" cy="369332"/>
              </a:xfrm>
              <a:prstGeom prst="rect">
                <a:avLst/>
              </a:prstGeom>
              <a:blipFill>
                <a:blip r:embed="rId15"/>
                <a:stretch>
                  <a:fillRect l="-6667" r="-120000" b="-11475"/>
                </a:stretch>
              </a:blipFill>
            </p:spPr>
            <p:txBody>
              <a:bodyPr/>
              <a:lstStyle/>
              <a:p>
                <a:r>
                  <a:rPr lang="zh-CN" altLang="en-US">
                    <a:noFill/>
                  </a:rPr>
                  <a:t> </a:t>
                </a:r>
              </a:p>
            </p:txBody>
          </p:sp>
        </mc:Fallback>
      </mc:AlternateContent>
      <p:sp>
        <p:nvSpPr>
          <p:cNvPr id="40" name="矩形 39">
            <a:extLst>
              <a:ext uri="{FF2B5EF4-FFF2-40B4-BE49-F238E27FC236}">
                <a16:creationId xmlns:a16="http://schemas.microsoft.com/office/drawing/2014/main" id="{216AE13A-4AB0-48A9-ABF3-B81C294AC0F9}"/>
              </a:ext>
            </a:extLst>
          </p:cNvPr>
          <p:cNvSpPr/>
          <p:nvPr/>
        </p:nvSpPr>
        <p:spPr>
          <a:xfrm>
            <a:off x="580922" y="520573"/>
            <a:ext cx="355903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四、生产要素最优组合</a:t>
            </a:r>
          </a:p>
        </p:txBody>
      </p:sp>
    </p:spTree>
    <p:extLst>
      <p:ext uri="{BB962C8B-B14F-4D97-AF65-F5344CB8AC3E}">
        <p14:creationId xmlns:p14="http://schemas.microsoft.com/office/powerpoint/2010/main" val="241839435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Effect transition="in" filter="fade">
                                      <p:cBhvr>
                                        <p:cTn id="9" dur="500"/>
                                        <p:tgtEl>
                                          <p:spTgt spid="4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41"/>
                                        </p:tgtEl>
                                        <p:attrNameLst>
                                          <p:attrName>style.visibility</p:attrName>
                                        </p:attrNameLst>
                                      </p:cBhvr>
                                      <p:to>
                                        <p:strVal val="visible"/>
                                      </p:to>
                                    </p:set>
                                    <p:anim calcmode="lin" valueType="num">
                                      <p:cBhvr>
                                        <p:cTn id="14" dur="500" fill="hold"/>
                                        <p:tgtEl>
                                          <p:spTgt spid="41"/>
                                        </p:tgtEl>
                                        <p:attrNameLst>
                                          <p:attrName>ppt_w</p:attrName>
                                        </p:attrNameLst>
                                      </p:cBhvr>
                                      <p:tavLst>
                                        <p:tav tm="0">
                                          <p:val>
                                            <p:fltVal val="0"/>
                                          </p:val>
                                        </p:tav>
                                        <p:tav tm="100000">
                                          <p:val>
                                            <p:strVal val="#ppt_w"/>
                                          </p:val>
                                        </p:tav>
                                      </p:tavLst>
                                    </p:anim>
                                    <p:anim calcmode="lin" valueType="num">
                                      <p:cBhvr>
                                        <p:cTn id="15" dur="500" fill="hold"/>
                                        <p:tgtEl>
                                          <p:spTgt spid="41"/>
                                        </p:tgtEl>
                                        <p:attrNameLst>
                                          <p:attrName>ppt_h</p:attrName>
                                        </p:attrNameLst>
                                      </p:cBhvr>
                                      <p:tavLst>
                                        <p:tav tm="0">
                                          <p:val>
                                            <p:fltVal val="0"/>
                                          </p:val>
                                        </p:tav>
                                        <p:tav tm="100000">
                                          <p:val>
                                            <p:strVal val="#ppt_h"/>
                                          </p:val>
                                        </p:tav>
                                      </p:tavLst>
                                    </p:anim>
                                    <p:animEffect transition="in" filter="fade">
                                      <p:cBhvr>
                                        <p:cTn id="16" dur="500"/>
                                        <p:tgtEl>
                                          <p:spTgt spid="41"/>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animEffect transition="in" filter="fade">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down)">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circle(in)">
                                      <p:cBhvr>
                                        <p:cTn id="31" dur="2000"/>
                                        <p:tgtEl>
                                          <p:spTgt spid="12"/>
                                        </p:tgtEl>
                                      </p:cBhvr>
                                    </p:animEffect>
                                  </p:childTnLst>
                                </p:cTn>
                              </p:par>
                              <p:par>
                                <p:cTn id="32" presetID="6" presetClass="entr" presetSubtype="16"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circle(in)">
                                      <p:cBhvr>
                                        <p:cTn id="34" dur="2000"/>
                                        <p:tgtEl>
                                          <p:spTgt spid="15"/>
                                        </p:tgtEl>
                                      </p:cBhvr>
                                    </p:animEffect>
                                  </p:childTnLst>
                                </p:cTn>
                              </p:par>
                              <p:par>
                                <p:cTn id="35" presetID="6" presetClass="entr" presetSubtype="16" fill="hold" grpId="0"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circle(in)">
                                      <p:cBhvr>
                                        <p:cTn id="37" dur="20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down)">
                                      <p:cBhvr>
                                        <p:cTn id="42" dur="500"/>
                                        <p:tgtEl>
                                          <p:spTgt spid="6"/>
                                        </p:tgtEl>
                                      </p:cBhvr>
                                    </p:animEffect>
                                  </p:childTnLst>
                                </p:cTn>
                              </p:par>
                              <p:par>
                                <p:cTn id="43" presetID="22" presetClass="entr" presetSubtype="4" fill="hold" grpId="0"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wipe(down)">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wipe(down)">
                                      <p:cBhvr>
                                        <p:cTn id="50" dur="500"/>
                                        <p:tgtEl>
                                          <p:spTgt spid="7"/>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fade">
                                      <p:cBhvr>
                                        <p:cTn id="55" dur="1000"/>
                                        <p:tgtEl>
                                          <p:spTgt spid="19"/>
                                        </p:tgtEl>
                                      </p:cBhvr>
                                    </p:animEffect>
                                    <p:anim calcmode="lin" valueType="num">
                                      <p:cBhvr>
                                        <p:cTn id="56" dur="1000" fill="hold"/>
                                        <p:tgtEl>
                                          <p:spTgt spid="19"/>
                                        </p:tgtEl>
                                        <p:attrNameLst>
                                          <p:attrName>ppt_x</p:attrName>
                                        </p:attrNameLst>
                                      </p:cBhvr>
                                      <p:tavLst>
                                        <p:tav tm="0">
                                          <p:val>
                                            <p:strVal val="#ppt_x"/>
                                          </p:val>
                                        </p:tav>
                                        <p:tav tm="100000">
                                          <p:val>
                                            <p:strVal val="#ppt_x"/>
                                          </p:val>
                                        </p:tav>
                                      </p:tavLst>
                                    </p:anim>
                                    <p:anim calcmode="lin" valueType="num">
                                      <p:cBhvr>
                                        <p:cTn id="57" dur="1000" fill="hold"/>
                                        <p:tgtEl>
                                          <p:spTgt spid="19"/>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1000"/>
                                        <p:tgtEl>
                                          <p:spTgt spid="29"/>
                                        </p:tgtEl>
                                      </p:cBhvr>
                                    </p:animEffect>
                                    <p:anim calcmode="lin" valueType="num">
                                      <p:cBhvr>
                                        <p:cTn id="61" dur="1000" fill="hold"/>
                                        <p:tgtEl>
                                          <p:spTgt spid="29"/>
                                        </p:tgtEl>
                                        <p:attrNameLst>
                                          <p:attrName>ppt_x</p:attrName>
                                        </p:attrNameLst>
                                      </p:cBhvr>
                                      <p:tavLst>
                                        <p:tav tm="0">
                                          <p:val>
                                            <p:strVal val="#ppt_x"/>
                                          </p:val>
                                        </p:tav>
                                        <p:tav tm="100000">
                                          <p:val>
                                            <p:strVal val="#ppt_x"/>
                                          </p:val>
                                        </p:tav>
                                      </p:tavLst>
                                    </p:anim>
                                    <p:anim calcmode="lin" valueType="num">
                                      <p:cBhvr>
                                        <p:cTn id="62" dur="1000" fill="hold"/>
                                        <p:tgtEl>
                                          <p:spTgt spid="29"/>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1000"/>
                                        <p:tgtEl>
                                          <p:spTgt spid="30"/>
                                        </p:tgtEl>
                                      </p:cBhvr>
                                    </p:animEffect>
                                    <p:anim calcmode="lin" valueType="num">
                                      <p:cBhvr>
                                        <p:cTn id="66" dur="1000" fill="hold"/>
                                        <p:tgtEl>
                                          <p:spTgt spid="30"/>
                                        </p:tgtEl>
                                        <p:attrNameLst>
                                          <p:attrName>ppt_x</p:attrName>
                                        </p:attrNameLst>
                                      </p:cBhvr>
                                      <p:tavLst>
                                        <p:tav tm="0">
                                          <p:val>
                                            <p:strVal val="#ppt_x"/>
                                          </p:val>
                                        </p:tav>
                                        <p:tav tm="100000">
                                          <p:val>
                                            <p:strVal val="#ppt_x"/>
                                          </p:val>
                                        </p:tav>
                                      </p:tavLst>
                                    </p:anim>
                                    <p:anim calcmode="lin" valueType="num">
                                      <p:cBhvr>
                                        <p:cTn id="67" dur="1000" fill="hold"/>
                                        <p:tgtEl>
                                          <p:spTgt spid="30"/>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31"/>
                                        </p:tgtEl>
                                        <p:attrNameLst>
                                          <p:attrName>style.visibility</p:attrName>
                                        </p:attrNameLst>
                                      </p:cBhvr>
                                      <p:to>
                                        <p:strVal val="visible"/>
                                      </p:to>
                                    </p:set>
                                    <p:animEffect transition="in" filter="fade">
                                      <p:cBhvr>
                                        <p:cTn id="70" dur="1000"/>
                                        <p:tgtEl>
                                          <p:spTgt spid="31"/>
                                        </p:tgtEl>
                                      </p:cBhvr>
                                    </p:animEffect>
                                    <p:anim calcmode="lin" valueType="num">
                                      <p:cBhvr>
                                        <p:cTn id="71" dur="1000" fill="hold"/>
                                        <p:tgtEl>
                                          <p:spTgt spid="31"/>
                                        </p:tgtEl>
                                        <p:attrNameLst>
                                          <p:attrName>ppt_x</p:attrName>
                                        </p:attrNameLst>
                                      </p:cBhvr>
                                      <p:tavLst>
                                        <p:tav tm="0">
                                          <p:val>
                                            <p:strVal val="#ppt_x"/>
                                          </p:val>
                                        </p:tav>
                                        <p:tav tm="100000">
                                          <p:val>
                                            <p:strVal val="#ppt_x"/>
                                          </p:val>
                                        </p:tav>
                                      </p:tavLst>
                                    </p:anim>
                                    <p:anim calcmode="lin" valueType="num">
                                      <p:cBhvr>
                                        <p:cTn id="72" dur="1000" fill="hold"/>
                                        <p:tgtEl>
                                          <p:spTgt spid="31"/>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1000"/>
                                        <p:tgtEl>
                                          <p:spTgt spid="32"/>
                                        </p:tgtEl>
                                      </p:cBhvr>
                                    </p:animEffect>
                                    <p:anim calcmode="lin" valueType="num">
                                      <p:cBhvr>
                                        <p:cTn id="76" dur="1000" fill="hold"/>
                                        <p:tgtEl>
                                          <p:spTgt spid="32"/>
                                        </p:tgtEl>
                                        <p:attrNameLst>
                                          <p:attrName>ppt_x</p:attrName>
                                        </p:attrNameLst>
                                      </p:cBhvr>
                                      <p:tavLst>
                                        <p:tav tm="0">
                                          <p:val>
                                            <p:strVal val="#ppt_x"/>
                                          </p:val>
                                        </p:tav>
                                        <p:tav tm="100000">
                                          <p:val>
                                            <p:strVal val="#ppt_x"/>
                                          </p:val>
                                        </p:tav>
                                      </p:tavLst>
                                    </p:anim>
                                    <p:anim calcmode="lin" valueType="num">
                                      <p:cBhvr>
                                        <p:cTn id="77" dur="1000" fill="hold"/>
                                        <p:tgtEl>
                                          <p:spTgt spid="32"/>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1000"/>
                                        <p:tgtEl>
                                          <p:spTgt spid="33"/>
                                        </p:tgtEl>
                                      </p:cBhvr>
                                    </p:animEffect>
                                    <p:anim calcmode="lin" valueType="num">
                                      <p:cBhvr>
                                        <p:cTn id="81" dur="1000" fill="hold"/>
                                        <p:tgtEl>
                                          <p:spTgt spid="33"/>
                                        </p:tgtEl>
                                        <p:attrNameLst>
                                          <p:attrName>ppt_x</p:attrName>
                                        </p:attrNameLst>
                                      </p:cBhvr>
                                      <p:tavLst>
                                        <p:tav tm="0">
                                          <p:val>
                                            <p:strVal val="#ppt_x"/>
                                          </p:val>
                                        </p:tav>
                                        <p:tav tm="100000">
                                          <p:val>
                                            <p:strVal val="#ppt_x"/>
                                          </p:val>
                                        </p:tav>
                                      </p:tavLst>
                                    </p:anim>
                                    <p:anim calcmode="lin" valueType="num">
                                      <p:cBhvr>
                                        <p:cTn id="82" dur="1000" fill="hold"/>
                                        <p:tgtEl>
                                          <p:spTgt spid="33"/>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34"/>
                                        </p:tgtEl>
                                        <p:attrNameLst>
                                          <p:attrName>style.visibility</p:attrName>
                                        </p:attrNameLst>
                                      </p:cBhvr>
                                      <p:to>
                                        <p:strVal val="visible"/>
                                      </p:to>
                                    </p:set>
                                    <p:animEffect transition="in" filter="fade">
                                      <p:cBhvr>
                                        <p:cTn id="85" dur="1000"/>
                                        <p:tgtEl>
                                          <p:spTgt spid="34"/>
                                        </p:tgtEl>
                                      </p:cBhvr>
                                    </p:animEffect>
                                    <p:anim calcmode="lin" valueType="num">
                                      <p:cBhvr>
                                        <p:cTn id="86" dur="1000" fill="hold"/>
                                        <p:tgtEl>
                                          <p:spTgt spid="34"/>
                                        </p:tgtEl>
                                        <p:attrNameLst>
                                          <p:attrName>ppt_x</p:attrName>
                                        </p:attrNameLst>
                                      </p:cBhvr>
                                      <p:tavLst>
                                        <p:tav tm="0">
                                          <p:val>
                                            <p:strVal val="#ppt_x"/>
                                          </p:val>
                                        </p:tav>
                                        <p:tav tm="100000">
                                          <p:val>
                                            <p:strVal val="#ppt_x"/>
                                          </p:val>
                                        </p:tav>
                                      </p:tavLst>
                                    </p:anim>
                                    <p:anim calcmode="lin" valueType="num">
                                      <p:cBhvr>
                                        <p:cTn id="87" dur="1000" fill="hold"/>
                                        <p:tgtEl>
                                          <p:spTgt spid="34"/>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1000"/>
                                        <p:tgtEl>
                                          <p:spTgt spid="35"/>
                                        </p:tgtEl>
                                      </p:cBhvr>
                                    </p:animEffect>
                                    <p:anim calcmode="lin" valueType="num">
                                      <p:cBhvr>
                                        <p:cTn id="91" dur="1000" fill="hold"/>
                                        <p:tgtEl>
                                          <p:spTgt spid="35"/>
                                        </p:tgtEl>
                                        <p:attrNameLst>
                                          <p:attrName>ppt_x</p:attrName>
                                        </p:attrNameLst>
                                      </p:cBhvr>
                                      <p:tavLst>
                                        <p:tav tm="0">
                                          <p:val>
                                            <p:strVal val="#ppt_x"/>
                                          </p:val>
                                        </p:tav>
                                        <p:tav tm="100000">
                                          <p:val>
                                            <p:strVal val="#ppt_x"/>
                                          </p:val>
                                        </p:tav>
                                      </p:tavLst>
                                    </p:anim>
                                    <p:anim calcmode="lin" valueType="num">
                                      <p:cBhvr>
                                        <p:cTn id="92" dur="1000" fill="hold"/>
                                        <p:tgtEl>
                                          <p:spTgt spid="35"/>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1000"/>
                                        <p:tgtEl>
                                          <p:spTgt spid="36"/>
                                        </p:tgtEl>
                                      </p:cBhvr>
                                    </p:animEffect>
                                    <p:anim calcmode="lin" valueType="num">
                                      <p:cBhvr>
                                        <p:cTn id="96" dur="1000" fill="hold"/>
                                        <p:tgtEl>
                                          <p:spTgt spid="36"/>
                                        </p:tgtEl>
                                        <p:attrNameLst>
                                          <p:attrName>ppt_x</p:attrName>
                                        </p:attrNameLst>
                                      </p:cBhvr>
                                      <p:tavLst>
                                        <p:tav tm="0">
                                          <p:val>
                                            <p:strVal val="#ppt_x"/>
                                          </p:val>
                                        </p:tav>
                                        <p:tav tm="100000">
                                          <p:val>
                                            <p:strVal val="#ppt_x"/>
                                          </p:val>
                                        </p:tav>
                                      </p:tavLst>
                                    </p:anim>
                                    <p:anim calcmode="lin" valueType="num">
                                      <p:cBhvr>
                                        <p:cTn id="97" dur="1000" fill="hold"/>
                                        <p:tgtEl>
                                          <p:spTgt spid="36"/>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1000"/>
                                        <p:tgtEl>
                                          <p:spTgt spid="37"/>
                                        </p:tgtEl>
                                      </p:cBhvr>
                                    </p:animEffect>
                                    <p:anim calcmode="lin" valueType="num">
                                      <p:cBhvr>
                                        <p:cTn id="101" dur="1000" fill="hold"/>
                                        <p:tgtEl>
                                          <p:spTgt spid="37"/>
                                        </p:tgtEl>
                                        <p:attrNameLst>
                                          <p:attrName>ppt_x</p:attrName>
                                        </p:attrNameLst>
                                      </p:cBhvr>
                                      <p:tavLst>
                                        <p:tav tm="0">
                                          <p:val>
                                            <p:strVal val="#ppt_x"/>
                                          </p:val>
                                        </p:tav>
                                        <p:tav tm="100000">
                                          <p:val>
                                            <p:strVal val="#ppt_x"/>
                                          </p:val>
                                        </p:tav>
                                      </p:tavLst>
                                    </p:anim>
                                    <p:anim calcmode="lin" valueType="num">
                                      <p:cBhvr>
                                        <p:cTn id="102" dur="1000" fill="hold"/>
                                        <p:tgtEl>
                                          <p:spTgt spid="37"/>
                                        </p:tgtEl>
                                        <p:attrNameLst>
                                          <p:attrName>ppt_y</p:attrName>
                                        </p:attrNameLst>
                                      </p:cBhvr>
                                      <p:tavLst>
                                        <p:tav tm="0">
                                          <p:val>
                                            <p:strVal val="#ppt_y+.1"/>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1000"/>
                                        <p:tgtEl>
                                          <p:spTgt spid="38"/>
                                        </p:tgtEl>
                                      </p:cBhvr>
                                    </p:animEffect>
                                    <p:anim calcmode="lin" valueType="num">
                                      <p:cBhvr>
                                        <p:cTn id="106" dur="1000" fill="hold"/>
                                        <p:tgtEl>
                                          <p:spTgt spid="38"/>
                                        </p:tgtEl>
                                        <p:attrNameLst>
                                          <p:attrName>ppt_x</p:attrName>
                                        </p:attrNameLst>
                                      </p:cBhvr>
                                      <p:tavLst>
                                        <p:tav tm="0">
                                          <p:val>
                                            <p:strVal val="#ppt_x"/>
                                          </p:val>
                                        </p:tav>
                                        <p:tav tm="100000">
                                          <p:val>
                                            <p:strVal val="#ppt_x"/>
                                          </p:val>
                                        </p:tav>
                                      </p:tavLst>
                                    </p:anim>
                                    <p:anim calcmode="lin" valueType="num">
                                      <p:cBhvr>
                                        <p:cTn id="107" dur="1000" fill="hold"/>
                                        <p:tgtEl>
                                          <p:spTgt spid="38"/>
                                        </p:tgtEl>
                                        <p:attrNameLst>
                                          <p:attrName>ppt_y</p:attrName>
                                        </p:attrNameLst>
                                      </p:cBhvr>
                                      <p:tavLst>
                                        <p:tav tm="0">
                                          <p:val>
                                            <p:strVal val="#ppt_y+.1"/>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39"/>
                                        </p:tgtEl>
                                        <p:attrNameLst>
                                          <p:attrName>style.visibility</p:attrName>
                                        </p:attrNameLst>
                                      </p:cBhvr>
                                      <p:to>
                                        <p:strVal val="visible"/>
                                      </p:to>
                                    </p:set>
                                    <p:animEffect transition="in" filter="fade">
                                      <p:cBhvr>
                                        <p:cTn id="110" dur="1000"/>
                                        <p:tgtEl>
                                          <p:spTgt spid="39"/>
                                        </p:tgtEl>
                                      </p:cBhvr>
                                    </p:animEffect>
                                    <p:anim calcmode="lin" valueType="num">
                                      <p:cBhvr>
                                        <p:cTn id="111" dur="1000" fill="hold"/>
                                        <p:tgtEl>
                                          <p:spTgt spid="39"/>
                                        </p:tgtEl>
                                        <p:attrNameLst>
                                          <p:attrName>ppt_x</p:attrName>
                                        </p:attrNameLst>
                                      </p:cBhvr>
                                      <p:tavLst>
                                        <p:tav tm="0">
                                          <p:val>
                                            <p:strVal val="#ppt_x"/>
                                          </p:val>
                                        </p:tav>
                                        <p:tav tm="100000">
                                          <p:val>
                                            <p:strVal val="#ppt_x"/>
                                          </p:val>
                                        </p:tav>
                                      </p:tavLst>
                                    </p:anim>
                                    <p:anim calcmode="lin" valueType="num">
                                      <p:cBhvr>
                                        <p:cTn id="112" dur="1000" fill="hold"/>
                                        <p:tgtEl>
                                          <p:spTgt spid="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 grpId="0"/>
      <p:bldP spid="6" grpId="0"/>
      <p:bldP spid="7" grpId="0"/>
      <p:bldP spid="8" grpId="0"/>
      <p:bldP spid="11" grpId="0"/>
      <p:bldP spid="5" grpId="0"/>
      <p:bldP spid="29" grpId="0"/>
      <p:bldP spid="30" grpId="0"/>
      <p:bldP spid="31" grpId="0"/>
      <p:bldP spid="32" grpId="0"/>
      <p:bldP spid="33" grpId="0"/>
      <p:bldP spid="34" grpId="0"/>
      <p:bldP spid="35" grpId="0"/>
      <p:bldP spid="36" grpId="0"/>
      <p:bldP spid="37" grpId="0"/>
      <p:bldP spid="38" grpId="0"/>
      <p:bldP spid="39" grpId="0"/>
      <p:bldP spid="40"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圆角 49">
            <a:extLst>
              <a:ext uri="{FF2B5EF4-FFF2-40B4-BE49-F238E27FC236}">
                <a16:creationId xmlns:a16="http://schemas.microsoft.com/office/drawing/2014/main" id="{8B2DD4E7-ECF8-488F-9CEF-E440C34514A2}"/>
              </a:ext>
            </a:extLst>
          </p:cNvPr>
          <p:cNvSpPr/>
          <p:nvPr/>
        </p:nvSpPr>
        <p:spPr>
          <a:xfrm>
            <a:off x="790536" y="1269582"/>
            <a:ext cx="3909183"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732240" y="35332"/>
            <a:ext cx="233108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第四节 长期生产函数</a:t>
            </a:r>
          </a:p>
        </p:txBody>
      </p:sp>
      <mc:AlternateContent xmlns:mc="http://schemas.openxmlformats.org/markup-compatibility/2006" xmlns:a14="http://schemas.microsoft.com/office/drawing/2010/main">
        <mc:Choice Requires="a14">
          <p:sp>
            <p:nvSpPr>
              <p:cNvPr id="24" name="矩形 23"/>
              <p:cNvSpPr/>
              <p:nvPr/>
            </p:nvSpPr>
            <p:spPr>
              <a:xfrm>
                <a:off x="6327814" y="5096792"/>
                <a:ext cx="1900280" cy="1021690"/>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m>
                        <m:mPr>
                          <m:mcs>
                            <m:mc>
                              <m:mcPr>
                                <m:count m:val="1"/>
                                <m:mcJc m:val="center"/>
                              </m:mcPr>
                            </m:mc>
                          </m:mcs>
                          <m:ctrlPr>
                            <a:rPr lang="en-US" sz="2000" i="1" smtClean="0">
                              <a:solidFill>
                                <a:schemeClr val="tx1"/>
                              </a:solidFill>
                              <a:latin typeface="Cambria Math" panose="02040503050406030204" pitchFamily="18" charset="0"/>
                            </a:rPr>
                          </m:ctrlPr>
                        </m:mPr>
                        <m:mr>
                          <m:e>
                            <m:f>
                              <m:fPr>
                                <m:ctrlPr>
                                  <a:rPr lang="zh-CN" altLang="en-US" sz="2000" i="1">
                                    <a:latin typeface="Cambria Math" panose="02040503050406030204" pitchFamily="18" charset="0"/>
                                  </a:rPr>
                                </m:ctrlPr>
                              </m:fPr>
                              <m:num>
                                <m:r>
                                  <a:rPr lang="en-US" altLang="zh-CN" sz="2000" i="1">
                                    <a:latin typeface="Cambria Math" panose="02040503050406030204" pitchFamily="18" charset="0"/>
                                  </a:rPr>
                                  <m:t>𝑀</m:t>
                                </m:r>
                                <m:sSub>
                                  <m:sSubPr>
                                    <m:ctrlPr>
                                      <a:rPr lang="zh-CN" altLang="en-US" sz="2000" i="1">
                                        <a:latin typeface="Cambria Math" panose="02040503050406030204" pitchFamily="18" charset="0"/>
                                      </a:rPr>
                                    </m:ctrlPr>
                                  </m:sSubPr>
                                  <m:e>
                                    <m:r>
                                      <a:rPr lang="zh-CN" altLang="en-US" sz="2000" i="1">
                                        <a:latin typeface="Cambria Math" panose="02040503050406030204" pitchFamily="18" charset="0"/>
                                      </a:rPr>
                                      <m:t>𝑃</m:t>
                                    </m:r>
                                  </m:e>
                                  <m:sub>
                                    <m:r>
                                      <a:rPr lang="zh-CN" altLang="en-US" sz="2000" i="1">
                                        <a:latin typeface="Cambria Math" panose="02040503050406030204" pitchFamily="18" charset="0"/>
                                      </a:rPr>
                                      <m:t>𝐿</m:t>
                                    </m:r>
                                  </m:sub>
                                </m:sSub>
                              </m:num>
                              <m:den>
                                <m:r>
                                  <a:rPr lang="en-US" altLang="zh-CN" sz="2000" i="1">
                                    <a:latin typeface="Cambria Math" panose="02040503050406030204" pitchFamily="18" charset="0"/>
                                  </a:rPr>
                                  <m:t>𝑀</m:t>
                                </m:r>
                                <m:sSub>
                                  <m:sSubPr>
                                    <m:ctrlPr>
                                      <a:rPr lang="zh-CN" altLang="en-US" sz="2000" i="1">
                                        <a:latin typeface="Cambria Math" panose="02040503050406030204" pitchFamily="18" charset="0"/>
                                      </a:rPr>
                                    </m:ctrlPr>
                                  </m:sSubPr>
                                  <m:e>
                                    <m:r>
                                      <a:rPr lang="en-US" altLang="zh-CN" sz="2000" i="1">
                                        <a:latin typeface="Cambria Math" panose="02040503050406030204" pitchFamily="18" charset="0"/>
                                      </a:rPr>
                                      <m:t>𝑃</m:t>
                                    </m:r>
                                  </m:e>
                                  <m:sub>
                                    <m:r>
                                      <a:rPr lang="en-US" altLang="zh-CN" sz="2000" i="1">
                                        <a:latin typeface="Cambria Math" panose="02040503050406030204" pitchFamily="18" charset="0"/>
                                      </a:rPr>
                                      <m:t>𝐾</m:t>
                                    </m:r>
                                  </m:sub>
                                </m:sSub>
                              </m:den>
                            </m:f>
                            <m:r>
                              <a:rPr lang="en-US" sz="2000" i="1">
                                <a:solidFill>
                                  <a:schemeClr val="tx1"/>
                                </a:solidFill>
                                <a:latin typeface="Cambria Math" panose="02040503050406030204" pitchFamily="18" charset="0"/>
                              </a:rPr>
                              <m:t>=</m:t>
                            </m:r>
                            <m:f>
                              <m:fPr>
                                <m:ctrlPr>
                                  <a:rPr lang="en-US" sz="2000" i="1">
                                    <a:solidFill>
                                      <a:schemeClr val="tx1"/>
                                    </a:solidFill>
                                    <a:latin typeface="Cambria Math" panose="02040503050406030204" pitchFamily="18" charset="0"/>
                                  </a:rPr>
                                </m:ctrlPr>
                              </m:fPr>
                              <m:num>
                                <m:r>
                                  <a:rPr lang="en-US" sz="2000" b="0" i="1" smtClean="0">
                                    <a:solidFill>
                                      <a:schemeClr val="tx1"/>
                                    </a:solidFill>
                                    <a:latin typeface="Cambria Math" panose="02040503050406030204" pitchFamily="18" charset="0"/>
                                  </a:rPr>
                                  <m:t>𝑊</m:t>
                                </m:r>
                              </m:num>
                              <m:den>
                                <m:r>
                                  <a:rPr lang="en-US" sz="2000" i="1">
                                    <a:solidFill>
                                      <a:schemeClr val="tx1"/>
                                    </a:solidFill>
                                    <a:latin typeface="Cambria Math" panose="02040503050406030204" pitchFamily="18" charset="0"/>
                                  </a:rPr>
                                  <m:t>𝑟</m:t>
                                </m:r>
                              </m:den>
                            </m:f>
                          </m:e>
                        </m:mr>
                        <m:mr>
                          <m:e>
                            <m:r>
                              <a:rPr lang="en-US" sz="2000" i="1">
                                <a:solidFill>
                                  <a:schemeClr val="tx1"/>
                                </a:solidFill>
                                <a:latin typeface="Cambria Math" panose="02040503050406030204" pitchFamily="18" charset="0"/>
                              </a:rPr>
                              <m:t>𝑊𝐿</m:t>
                            </m:r>
                            <m:r>
                              <a:rPr lang="en-US" sz="2000" i="1">
                                <a:solidFill>
                                  <a:schemeClr val="tx1"/>
                                </a:solidFill>
                                <a:latin typeface="Cambria Math" panose="02040503050406030204" pitchFamily="18" charset="0"/>
                              </a:rPr>
                              <m:t>+</m:t>
                            </m:r>
                            <m:r>
                              <a:rPr lang="en-US" sz="2000" i="1">
                                <a:solidFill>
                                  <a:schemeClr val="tx1"/>
                                </a:solidFill>
                                <a:latin typeface="Cambria Math" panose="02040503050406030204" pitchFamily="18" charset="0"/>
                              </a:rPr>
                              <m:t>𝑟𝐾</m:t>
                            </m:r>
                            <m:r>
                              <a:rPr lang="en-US" sz="2000" i="1">
                                <a:solidFill>
                                  <a:schemeClr val="tx1"/>
                                </a:solidFill>
                                <a:latin typeface="Cambria Math" panose="02040503050406030204" pitchFamily="18" charset="0"/>
                              </a:rPr>
                              <m:t>=</m:t>
                            </m:r>
                            <m:acc>
                              <m:accPr>
                                <m:chr m:val="̅"/>
                                <m:ctrlPr>
                                  <a:rPr lang="en-US" sz="2000" i="1">
                                    <a:solidFill>
                                      <a:schemeClr val="tx1"/>
                                    </a:solidFill>
                                    <a:latin typeface="Cambria Math" panose="02040503050406030204" pitchFamily="18" charset="0"/>
                                  </a:rPr>
                                </m:ctrlPr>
                              </m:accPr>
                              <m:e>
                                <m:r>
                                  <a:rPr lang="en-US" sz="2000" i="1">
                                    <a:solidFill>
                                      <a:schemeClr val="tx1"/>
                                    </a:solidFill>
                                    <a:latin typeface="Cambria Math" panose="02040503050406030204" pitchFamily="18" charset="0"/>
                                  </a:rPr>
                                  <m:t>𝐶</m:t>
                                </m:r>
                              </m:e>
                            </m:acc>
                          </m:e>
                        </m:mr>
                      </m:m>
                    </m:oMath>
                  </m:oMathPara>
                </a14:m>
                <a:endParaRPr lang="en-US" sz="2000" dirty="0">
                  <a:solidFill>
                    <a:schemeClr val="tx1"/>
                  </a:solidFill>
                </a:endParaRPr>
              </a:p>
            </p:txBody>
          </p:sp>
        </mc:Choice>
        <mc:Fallback xmlns="">
          <p:sp>
            <p:nvSpPr>
              <p:cNvPr id="24" name="矩形 23"/>
              <p:cNvSpPr>
                <a:spLocks noRot="1" noChangeAspect="1" noMove="1" noResize="1" noEditPoints="1" noAdjustHandles="1" noChangeArrowheads="1" noChangeShapeType="1" noTextEdit="1"/>
              </p:cNvSpPr>
              <p:nvPr/>
            </p:nvSpPr>
            <p:spPr>
              <a:xfrm>
                <a:off x="6327814" y="5096792"/>
                <a:ext cx="1900280" cy="1021690"/>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矩形 24"/>
              <p:cNvSpPr/>
              <p:nvPr/>
            </p:nvSpPr>
            <p:spPr>
              <a:xfrm>
                <a:off x="2601190" y="2022158"/>
                <a:ext cx="6075266" cy="597536"/>
              </a:xfrm>
              <a:prstGeom prst="rect">
                <a:avLst/>
              </a:prstGeom>
              <a:noFill/>
            </p:spPr>
            <p:txBody>
              <a:bodyPr wrap="square">
                <a:spAutoFit/>
              </a:bodyPr>
              <a:lstStyle/>
              <a:p>
                <a:pPr marL="285750" indent="-285750">
                  <a:lnSpc>
                    <a:spcPct val="150000"/>
                  </a:lnSpc>
                  <a:buFont typeface="Wingdings" panose="05000000000000000000" pitchFamily="2" charset="2"/>
                  <a:buChar char="Ø"/>
                </a:pPr>
                <a14:m>
                  <m:oMath xmlns:m="http://schemas.openxmlformats.org/officeDocument/2006/math">
                    <m:r>
                      <a:rPr lang="en-US" altLang="zh-CN" i="1" smtClean="0">
                        <a:latin typeface="Cambria Math" panose="02040503050406030204" pitchFamily="18" charset="0"/>
                      </a:rPr>
                      <m:t>𝑀𝑅𝑇</m:t>
                    </m:r>
                    <m:sSub>
                      <m:sSubPr>
                        <m:ctrlPr>
                          <a:rPr lang="en-US" altLang="zh-CN" i="1">
                            <a:latin typeface="Cambria Math" panose="02040503050406030204" pitchFamily="18" charset="0"/>
                          </a:rPr>
                        </m:ctrlPr>
                      </m:sSubPr>
                      <m:e>
                        <m:r>
                          <a:rPr lang="en-US" altLang="zh-CN" i="1">
                            <a:latin typeface="Cambria Math" panose="02040503050406030204" pitchFamily="18" charset="0"/>
                          </a:rPr>
                          <m:t>𝑆</m:t>
                        </m:r>
                      </m:e>
                      <m:sub>
                        <m:r>
                          <a:rPr lang="en-US" altLang="zh-CN" i="1">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𝐾</m:t>
                        </m:r>
                      </m:sub>
                    </m:sSub>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𝑤</m:t>
                        </m:r>
                      </m:num>
                      <m:den>
                        <m:r>
                          <a:rPr lang="en-US" altLang="zh-CN" i="1">
                            <a:latin typeface="Cambria Math" panose="02040503050406030204" pitchFamily="18" charset="0"/>
                          </a:rPr>
                          <m:t>𝑟</m:t>
                        </m:r>
                      </m:den>
                    </m:f>
                  </m:oMath>
                </a14:m>
                <a:r>
                  <a:rPr lang="zh-CN" altLang="en-US" dirty="0">
                    <a:latin typeface="微软雅黑" panose="020B0503020204020204" pitchFamily="34" charset="-122"/>
                    <a:ea typeface="微软雅黑" panose="020B0503020204020204" pitchFamily="34" charset="-122"/>
                  </a:rPr>
                  <a:t>，且 𝑊𝐿</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𝑟𝐾</a:t>
                </a:r>
                <a:r>
                  <a:rPr lang="en-US" altLang="zh-CN" dirty="0">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i="1">
                            <a:latin typeface="Cambria Math" panose="02040503050406030204" pitchFamily="18" charset="0"/>
                          </a:rPr>
                        </m:ctrlPr>
                      </m:accPr>
                      <m:e>
                        <m:r>
                          <a:rPr lang="en-US" altLang="zh-CN" b="0" i="1" smtClean="0">
                            <a:latin typeface="Cambria Math" panose="02040503050406030204" pitchFamily="18" charset="0"/>
                          </a:rPr>
                          <m:t>𝐶</m:t>
                        </m:r>
                      </m:e>
                    </m:acc>
                  </m:oMath>
                </a14:m>
                <a:endParaRPr lang="en-US" dirty="0">
                  <a:latin typeface="微软雅黑" panose="020B0503020204020204" pitchFamily="34" charset="-122"/>
                  <a:ea typeface="微软雅黑" panose="020B0503020204020204" pitchFamily="34" charset="-122"/>
                </a:endParaRPr>
              </a:p>
            </p:txBody>
          </p:sp>
        </mc:Choice>
        <mc:Fallback xmlns="">
          <p:sp>
            <p:nvSpPr>
              <p:cNvPr id="25" name="矩形 24"/>
              <p:cNvSpPr>
                <a:spLocks noRot="1" noChangeAspect="1" noMove="1" noResize="1" noEditPoints="1" noAdjustHandles="1" noChangeArrowheads="1" noChangeShapeType="1" noTextEdit="1"/>
              </p:cNvSpPr>
              <p:nvPr/>
            </p:nvSpPr>
            <p:spPr>
              <a:xfrm>
                <a:off x="2601190" y="2022158"/>
                <a:ext cx="6075266" cy="597536"/>
              </a:xfrm>
              <a:prstGeom prst="rect">
                <a:avLst/>
              </a:prstGeom>
              <a:blipFill>
                <a:blip r:embed="rId3"/>
                <a:stretch>
                  <a:fillRect l="-703" b="-5102"/>
                </a:stretch>
              </a:blipFill>
            </p:spPr>
            <p:txBody>
              <a:bodyPr/>
              <a:lstStyle/>
              <a:p>
                <a:r>
                  <a:rPr lang="zh-CN" altLang="en-US">
                    <a:noFill/>
                  </a:rPr>
                  <a:t> </a:t>
                </a:r>
              </a:p>
            </p:txBody>
          </p:sp>
        </mc:Fallback>
      </mc:AlternateContent>
      <p:sp>
        <p:nvSpPr>
          <p:cNvPr id="28" name="下箭头 27"/>
          <p:cNvSpPr/>
          <p:nvPr/>
        </p:nvSpPr>
        <p:spPr bwMode="auto">
          <a:xfrm rot="18913635" flipH="1">
            <a:off x="6059711" y="3175617"/>
            <a:ext cx="279690" cy="1787000"/>
          </a:xfrm>
          <a:prstGeom prst="downArrow">
            <a:avLst>
              <a:gd name="adj1" fmla="val 100000"/>
              <a:gd name="adj2" fmla="val 50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effectLst/>
              <a:latin typeface="Arial" panose="020B0604020202020204" pitchFamily="34" charset="0"/>
              <a:ea typeface="宋体" panose="02010600030101010101" pitchFamily="2" charset="-122"/>
            </a:endParaRPr>
          </a:p>
        </p:txBody>
      </p:sp>
      <p:sp>
        <p:nvSpPr>
          <p:cNvPr id="29" name="任意多边形 13"/>
          <p:cNvSpPr>
            <a:spLocks noChangeArrowheads="1"/>
          </p:cNvSpPr>
          <p:nvPr/>
        </p:nvSpPr>
        <p:spPr bwMode="auto">
          <a:xfrm rot="20631389">
            <a:off x="1812551" y="2056710"/>
            <a:ext cx="2774252" cy="3235326"/>
          </a:xfrm>
          <a:custGeom>
            <a:avLst/>
            <a:gdLst>
              <a:gd name="T0" fmla="*/ 273051 w 2254250"/>
              <a:gd name="T1" fmla="*/ 0 h 2628900"/>
              <a:gd name="T2" fmla="*/ 330201 w 2254250"/>
              <a:gd name="T3" fmla="*/ 1771857 h 2628900"/>
              <a:gd name="T4" fmla="*/ 2254257 w 2254250"/>
              <a:gd name="T5" fmla="*/ 2629208 h 2628900"/>
              <a:gd name="T6" fmla="*/ 0 60000 65536"/>
              <a:gd name="T7" fmla="*/ 0 60000 65536"/>
              <a:gd name="T8" fmla="*/ 0 60000 65536"/>
              <a:gd name="T9" fmla="*/ 0 w 2254250"/>
              <a:gd name="T10" fmla="*/ 0 h 2628900"/>
              <a:gd name="T11" fmla="*/ 2254250 w 2254250"/>
              <a:gd name="T12" fmla="*/ 2628900 h 2628900"/>
            </a:gdLst>
            <a:ahLst/>
            <a:cxnLst>
              <a:cxn ang="T6">
                <a:pos x="T0" y="T1"/>
              </a:cxn>
              <a:cxn ang="T7">
                <a:pos x="T2" y="T3"/>
              </a:cxn>
              <a:cxn ang="T8">
                <a:pos x="T4" y="T5"/>
              </a:cxn>
            </a:cxnLst>
            <a:rect l="T9" t="T10" r="T11" b="T12"/>
            <a:pathLst>
              <a:path w="2254250" h="2628900">
                <a:moveTo>
                  <a:pt x="273050" y="0"/>
                </a:moveTo>
                <a:cubicBezTo>
                  <a:pt x="136525" y="666750"/>
                  <a:pt x="0" y="1333500"/>
                  <a:pt x="330200" y="1771650"/>
                </a:cubicBezTo>
                <a:cubicBezTo>
                  <a:pt x="660400" y="2209800"/>
                  <a:pt x="1457325" y="2419350"/>
                  <a:pt x="2254250" y="262890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30" name="任意多边形 13"/>
          <p:cNvSpPr>
            <a:spLocks noChangeArrowheads="1"/>
          </p:cNvSpPr>
          <p:nvPr/>
        </p:nvSpPr>
        <p:spPr bwMode="auto">
          <a:xfrm rot="20631389">
            <a:off x="1418055" y="2451455"/>
            <a:ext cx="2774252" cy="3235326"/>
          </a:xfrm>
          <a:custGeom>
            <a:avLst/>
            <a:gdLst>
              <a:gd name="T0" fmla="*/ 273051 w 2254250"/>
              <a:gd name="T1" fmla="*/ 0 h 2628900"/>
              <a:gd name="T2" fmla="*/ 330201 w 2254250"/>
              <a:gd name="T3" fmla="*/ 1771857 h 2628900"/>
              <a:gd name="T4" fmla="*/ 2254257 w 2254250"/>
              <a:gd name="T5" fmla="*/ 2629208 h 2628900"/>
              <a:gd name="T6" fmla="*/ 0 60000 65536"/>
              <a:gd name="T7" fmla="*/ 0 60000 65536"/>
              <a:gd name="T8" fmla="*/ 0 60000 65536"/>
              <a:gd name="T9" fmla="*/ 0 w 2254250"/>
              <a:gd name="T10" fmla="*/ 0 h 2628900"/>
              <a:gd name="T11" fmla="*/ 2254250 w 2254250"/>
              <a:gd name="T12" fmla="*/ 2628900 h 2628900"/>
            </a:gdLst>
            <a:ahLst/>
            <a:cxnLst>
              <a:cxn ang="T6">
                <a:pos x="T0" y="T1"/>
              </a:cxn>
              <a:cxn ang="T7">
                <a:pos x="T2" y="T3"/>
              </a:cxn>
              <a:cxn ang="T8">
                <a:pos x="T4" y="T5"/>
              </a:cxn>
            </a:cxnLst>
            <a:rect l="T9" t="T10" r="T11" b="T12"/>
            <a:pathLst>
              <a:path w="2254250" h="2628900">
                <a:moveTo>
                  <a:pt x="273050" y="0"/>
                </a:moveTo>
                <a:cubicBezTo>
                  <a:pt x="136525" y="666750"/>
                  <a:pt x="0" y="1333500"/>
                  <a:pt x="330200" y="1771650"/>
                </a:cubicBezTo>
                <a:cubicBezTo>
                  <a:pt x="660400" y="2209800"/>
                  <a:pt x="1457325" y="2419350"/>
                  <a:pt x="2254250" y="262890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31" name="任意多边形 13"/>
          <p:cNvSpPr>
            <a:spLocks noChangeArrowheads="1"/>
          </p:cNvSpPr>
          <p:nvPr/>
        </p:nvSpPr>
        <p:spPr bwMode="auto">
          <a:xfrm rot="20631389">
            <a:off x="1066400" y="2752098"/>
            <a:ext cx="2774252" cy="3235326"/>
          </a:xfrm>
          <a:custGeom>
            <a:avLst/>
            <a:gdLst>
              <a:gd name="T0" fmla="*/ 273051 w 2254250"/>
              <a:gd name="T1" fmla="*/ 0 h 2628900"/>
              <a:gd name="T2" fmla="*/ 330201 w 2254250"/>
              <a:gd name="T3" fmla="*/ 1771857 h 2628900"/>
              <a:gd name="T4" fmla="*/ 2254257 w 2254250"/>
              <a:gd name="T5" fmla="*/ 2629208 h 2628900"/>
              <a:gd name="T6" fmla="*/ 0 60000 65536"/>
              <a:gd name="T7" fmla="*/ 0 60000 65536"/>
              <a:gd name="T8" fmla="*/ 0 60000 65536"/>
              <a:gd name="T9" fmla="*/ 0 w 2254250"/>
              <a:gd name="T10" fmla="*/ 0 h 2628900"/>
              <a:gd name="T11" fmla="*/ 2254250 w 2254250"/>
              <a:gd name="T12" fmla="*/ 2628900 h 2628900"/>
            </a:gdLst>
            <a:ahLst/>
            <a:cxnLst>
              <a:cxn ang="T6">
                <a:pos x="T0" y="T1"/>
              </a:cxn>
              <a:cxn ang="T7">
                <a:pos x="T2" y="T3"/>
              </a:cxn>
              <a:cxn ang="T8">
                <a:pos x="T4" y="T5"/>
              </a:cxn>
            </a:cxnLst>
            <a:rect l="T9" t="T10" r="T11" b="T12"/>
            <a:pathLst>
              <a:path w="2254250" h="2628900">
                <a:moveTo>
                  <a:pt x="273050" y="0"/>
                </a:moveTo>
                <a:cubicBezTo>
                  <a:pt x="136525" y="666750"/>
                  <a:pt x="0" y="1333500"/>
                  <a:pt x="330200" y="1771650"/>
                </a:cubicBezTo>
                <a:cubicBezTo>
                  <a:pt x="660400" y="2209800"/>
                  <a:pt x="1457325" y="2419350"/>
                  <a:pt x="2254250" y="262890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32" name="直接连接符 11"/>
          <p:cNvCxnSpPr>
            <a:cxnSpLocks noChangeShapeType="1"/>
          </p:cNvCxnSpPr>
          <p:nvPr/>
        </p:nvCxnSpPr>
        <p:spPr bwMode="auto">
          <a:xfrm>
            <a:off x="835104" y="3115473"/>
            <a:ext cx="3110288" cy="2725410"/>
          </a:xfrm>
          <a:prstGeom prst="line">
            <a:avLst/>
          </a:prstGeom>
          <a:noFill/>
          <a:ln w="38100" cmpd="sng">
            <a:solidFill>
              <a:srgbClr val="C0000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33" name="直接连接符 22"/>
          <p:cNvCxnSpPr>
            <a:cxnSpLocks noChangeShapeType="1"/>
          </p:cNvCxnSpPr>
          <p:nvPr/>
        </p:nvCxnSpPr>
        <p:spPr bwMode="auto">
          <a:xfrm rot="10800000">
            <a:off x="836387" y="4361473"/>
            <a:ext cx="1406664" cy="1954"/>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cxnSp>
        <p:nvCxnSpPr>
          <p:cNvPr id="34" name="直接连接符 24"/>
          <p:cNvCxnSpPr>
            <a:cxnSpLocks noChangeShapeType="1"/>
          </p:cNvCxnSpPr>
          <p:nvPr/>
        </p:nvCxnSpPr>
        <p:spPr bwMode="auto">
          <a:xfrm rot="5400000">
            <a:off x="1494323" y="5107786"/>
            <a:ext cx="1492626" cy="0"/>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D442C1F9-8DA9-4E94-9A26-E1BDD5166C47}"/>
                  </a:ext>
                </a:extLst>
              </p:cNvPr>
              <p:cNvSpPr/>
              <p:nvPr/>
            </p:nvSpPr>
            <p:spPr>
              <a:xfrm>
                <a:off x="538775" y="5746713"/>
                <a:ext cx="40229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𝑂</m:t>
                      </m:r>
                    </m:oMath>
                  </m:oMathPara>
                </a14:m>
                <a:endParaRPr lang="zh-CN" altLang="en-US" dirty="0">
                  <a:solidFill>
                    <a:schemeClr val="tx1"/>
                  </a:solidFill>
                </a:endParaRPr>
              </a:p>
            </p:txBody>
          </p:sp>
        </mc:Choice>
        <mc:Fallback xmlns="">
          <p:sp>
            <p:nvSpPr>
              <p:cNvPr id="35" name="矩形 34">
                <a:extLst>
                  <a:ext uri="{FF2B5EF4-FFF2-40B4-BE49-F238E27FC236}">
                    <a16:creationId xmlns:a16="http://schemas.microsoft.com/office/drawing/2014/main" id="{D442C1F9-8DA9-4E94-9A26-E1BDD5166C47}"/>
                  </a:ext>
                </a:extLst>
              </p:cNvPr>
              <p:cNvSpPr>
                <a:spLocks noRot="1" noChangeAspect="1" noMove="1" noResize="1" noEditPoints="1" noAdjustHandles="1" noChangeArrowheads="1" noChangeShapeType="1" noTextEdit="1"/>
              </p:cNvSpPr>
              <p:nvPr/>
            </p:nvSpPr>
            <p:spPr>
              <a:xfrm>
                <a:off x="538775" y="5746713"/>
                <a:ext cx="402292"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矩形 35">
                <a:extLst>
                  <a:ext uri="{FF2B5EF4-FFF2-40B4-BE49-F238E27FC236}">
                    <a16:creationId xmlns:a16="http://schemas.microsoft.com/office/drawing/2014/main" id="{3A33D18D-CE8F-484B-BD4B-207E93198842}"/>
                  </a:ext>
                </a:extLst>
              </p:cNvPr>
              <p:cNvSpPr/>
              <p:nvPr/>
            </p:nvSpPr>
            <p:spPr>
              <a:xfrm>
                <a:off x="466361" y="2245536"/>
                <a:ext cx="409906"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𝐾</m:t>
                      </m:r>
                    </m:oMath>
                  </m:oMathPara>
                </a14:m>
                <a:endParaRPr lang="zh-CN" altLang="en-US" dirty="0">
                  <a:solidFill>
                    <a:schemeClr val="tx1"/>
                  </a:solidFill>
                </a:endParaRPr>
              </a:p>
            </p:txBody>
          </p:sp>
        </mc:Choice>
        <mc:Fallback xmlns="">
          <p:sp>
            <p:nvSpPr>
              <p:cNvPr id="36" name="矩形 35">
                <a:extLst>
                  <a:ext uri="{FF2B5EF4-FFF2-40B4-BE49-F238E27FC236}">
                    <a16:creationId xmlns:a16="http://schemas.microsoft.com/office/drawing/2014/main" id="{3A33D18D-CE8F-484B-BD4B-207E93198842}"/>
                  </a:ext>
                </a:extLst>
              </p:cNvPr>
              <p:cNvSpPr>
                <a:spLocks noRot="1" noChangeAspect="1" noMove="1" noResize="1" noEditPoints="1" noAdjustHandles="1" noChangeArrowheads="1" noChangeShapeType="1" noTextEdit="1"/>
              </p:cNvSpPr>
              <p:nvPr/>
            </p:nvSpPr>
            <p:spPr>
              <a:xfrm>
                <a:off x="466361" y="2245536"/>
                <a:ext cx="409906"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2E39EA6F-EEA7-450B-9849-580F26B40A42}"/>
                  </a:ext>
                </a:extLst>
              </p:cNvPr>
              <p:cNvSpPr/>
              <p:nvPr/>
            </p:nvSpPr>
            <p:spPr>
              <a:xfrm>
                <a:off x="4552771" y="5794159"/>
                <a:ext cx="369948"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𝐿</m:t>
                      </m:r>
                    </m:oMath>
                  </m:oMathPara>
                </a14:m>
                <a:endParaRPr lang="zh-CN" altLang="en-US" dirty="0">
                  <a:solidFill>
                    <a:schemeClr val="tx1"/>
                  </a:solidFill>
                </a:endParaRPr>
              </a:p>
            </p:txBody>
          </p:sp>
        </mc:Choice>
        <mc:Fallback xmlns="">
          <p:sp>
            <p:nvSpPr>
              <p:cNvPr id="37" name="矩形 36">
                <a:extLst>
                  <a:ext uri="{FF2B5EF4-FFF2-40B4-BE49-F238E27FC236}">
                    <a16:creationId xmlns:a16="http://schemas.microsoft.com/office/drawing/2014/main" id="{2E39EA6F-EEA7-450B-9849-580F26B40A42}"/>
                  </a:ext>
                </a:extLst>
              </p:cNvPr>
              <p:cNvSpPr>
                <a:spLocks noRot="1" noChangeAspect="1" noMove="1" noResize="1" noEditPoints="1" noAdjustHandles="1" noChangeArrowheads="1" noChangeShapeType="1" noTextEdit="1"/>
              </p:cNvSpPr>
              <p:nvPr/>
            </p:nvSpPr>
            <p:spPr>
              <a:xfrm>
                <a:off x="4552771" y="5794159"/>
                <a:ext cx="369948"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文本框 37"/>
              <p:cNvSpPr txBox="1"/>
              <p:nvPr/>
            </p:nvSpPr>
            <p:spPr>
              <a:xfrm>
                <a:off x="541426" y="4231261"/>
                <a:ext cx="18437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𝐾</m:t>
                          </m:r>
                        </m:e>
                      </m:acc>
                    </m:oMath>
                  </m:oMathPara>
                </a14:m>
                <a:endParaRPr lang="en-US" dirty="0">
                  <a:solidFill>
                    <a:schemeClr val="tx1"/>
                  </a:solidFill>
                </a:endParaRPr>
              </a:p>
            </p:txBody>
          </p:sp>
        </mc:Choice>
        <mc:Fallback xmlns="">
          <p:sp>
            <p:nvSpPr>
              <p:cNvPr id="38" name="文本框 37"/>
              <p:cNvSpPr txBox="1">
                <a:spLocks noRot="1" noChangeAspect="1" noMove="1" noResize="1" noEditPoints="1" noAdjustHandles="1" noChangeArrowheads="1" noChangeShapeType="1" noTextEdit="1"/>
              </p:cNvSpPr>
              <p:nvPr/>
            </p:nvSpPr>
            <p:spPr>
              <a:xfrm>
                <a:off x="541426" y="4231261"/>
                <a:ext cx="184373" cy="276999"/>
              </a:xfrm>
              <a:prstGeom prst="rect">
                <a:avLst/>
              </a:prstGeom>
              <a:blipFill>
                <a:blip r:embed="rId7"/>
                <a:stretch>
                  <a:fillRect l="-43333" t="-2174" r="-36667" b="-869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9" name="文本框 38"/>
              <p:cNvSpPr txBox="1"/>
              <p:nvPr/>
            </p:nvSpPr>
            <p:spPr>
              <a:xfrm>
                <a:off x="2148449" y="5853236"/>
                <a:ext cx="184373"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i="1" smtClean="0">
                              <a:solidFill>
                                <a:schemeClr val="tx1"/>
                              </a:solidFill>
                              <a:latin typeface="Cambria Math" panose="02040503050406030204" pitchFamily="18" charset="0"/>
                            </a:rPr>
                          </m:ctrlPr>
                        </m:accPr>
                        <m:e>
                          <m:r>
                            <a:rPr lang="en-US" b="0" i="1" smtClean="0">
                              <a:solidFill>
                                <a:schemeClr val="tx1"/>
                              </a:solidFill>
                              <a:latin typeface="Cambria Math" panose="02040503050406030204" pitchFamily="18" charset="0"/>
                            </a:rPr>
                            <m:t>𝐿</m:t>
                          </m:r>
                        </m:e>
                      </m:acc>
                    </m:oMath>
                  </m:oMathPara>
                </a14:m>
                <a:endParaRPr lang="en-US" dirty="0">
                  <a:solidFill>
                    <a:schemeClr val="tx1"/>
                  </a:solidFill>
                </a:endParaRPr>
              </a:p>
            </p:txBody>
          </p:sp>
        </mc:Choice>
        <mc:Fallback xmlns="">
          <p:sp>
            <p:nvSpPr>
              <p:cNvPr id="39" name="文本框 38"/>
              <p:cNvSpPr txBox="1">
                <a:spLocks noRot="1" noChangeAspect="1" noMove="1" noResize="1" noEditPoints="1" noAdjustHandles="1" noChangeArrowheads="1" noChangeShapeType="1" noTextEdit="1"/>
              </p:cNvSpPr>
              <p:nvPr/>
            </p:nvSpPr>
            <p:spPr>
              <a:xfrm>
                <a:off x="2148449" y="5853236"/>
                <a:ext cx="184373" cy="276999"/>
              </a:xfrm>
              <a:prstGeom prst="rect">
                <a:avLst/>
              </a:prstGeom>
              <a:blipFill>
                <a:blip r:embed="rId8"/>
                <a:stretch>
                  <a:fillRect l="-25806" t="-2174" r="-38710" b="-8696"/>
                </a:stretch>
              </a:blipFill>
            </p:spPr>
            <p:txBody>
              <a:bodyPr/>
              <a:lstStyle/>
              <a:p>
                <a:r>
                  <a:rPr lang="zh-CN" altLang="en-US">
                    <a:noFill/>
                  </a:rPr>
                  <a:t> </a:t>
                </a:r>
              </a:p>
            </p:txBody>
          </p:sp>
        </mc:Fallback>
      </mc:AlternateContent>
      <p:cxnSp>
        <p:nvCxnSpPr>
          <p:cNvPr id="40" name="直接箭头连接符 5"/>
          <p:cNvCxnSpPr>
            <a:cxnSpLocks noChangeShapeType="1"/>
          </p:cNvCxnSpPr>
          <p:nvPr/>
        </p:nvCxnSpPr>
        <p:spPr bwMode="auto">
          <a:xfrm>
            <a:off x="806523" y="5851283"/>
            <a:ext cx="4044156" cy="1953"/>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41" name="直接箭头连接符 6"/>
          <p:cNvCxnSpPr>
            <a:cxnSpLocks noChangeShapeType="1"/>
          </p:cNvCxnSpPr>
          <p:nvPr/>
        </p:nvCxnSpPr>
        <p:spPr bwMode="auto">
          <a:xfrm rot="16200000" flipV="1">
            <a:off x="-951805" y="4082949"/>
            <a:ext cx="3516657" cy="0"/>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3A33D18D-CE8F-484B-BD4B-207E93198842}"/>
                  </a:ext>
                </a:extLst>
              </p:cNvPr>
              <p:cNvSpPr/>
              <p:nvPr/>
            </p:nvSpPr>
            <p:spPr>
              <a:xfrm>
                <a:off x="743460" y="3184475"/>
                <a:ext cx="251100"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𝐴</m:t>
                      </m:r>
                    </m:oMath>
                  </m:oMathPara>
                </a14:m>
                <a:endParaRPr lang="zh-CN" altLang="en-US" dirty="0">
                  <a:solidFill>
                    <a:schemeClr val="tx1"/>
                  </a:solidFill>
                </a:endParaRPr>
              </a:p>
            </p:txBody>
          </p:sp>
        </mc:Choice>
        <mc:Fallback xmlns="">
          <p:sp>
            <p:nvSpPr>
              <p:cNvPr id="42" name="矩形 41">
                <a:extLst>
                  <a:ext uri="{FF2B5EF4-FFF2-40B4-BE49-F238E27FC236}">
                    <a16:creationId xmlns:a16="http://schemas.microsoft.com/office/drawing/2014/main" id="{3A33D18D-CE8F-484B-BD4B-207E93198842}"/>
                  </a:ext>
                </a:extLst>
              </p:cNvPr>
              <p:cNvSpPr>
                <a:spLocks noRot="1" noChangeAspect="1" noMove="1" noResize="1" noEditPoints="1" noAdjustHandles="1" noChangeArrowheads="1" noChangeShapeType="1" noTextEdit="1"/>
              </p:cNvSpPr>
              <p:nvPr/>
            </p:nvSpPr>
            <p:spPr>
              <a:xfrm>
                <a:off x="743460" y="3184475"/>
                <a:ext cx="251100" cy="369332"/>
              </a:xfrm>
              <a:prstGeom prst="rect">
                <a:avLst/>
              </a:prstGeom>
              <a:blipFill>
                <a:blip r:embed="rId9"/>
                <a:stretch>
                  <a:fillRect r="-268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矩形 42">
                <a:extLst>
                  <a:ext uri="{FF2B5EF4-FFF2-40B4-BE49-F238E27FC236}">
                    <a16:creationId xmlns:a16="http://schemas.microsoft.com/office/drawing/2014/main" id="{3A33D18D-CE8F-484B-BD4B-207E93198842}"/>
                  </a:ext>
                </a:extLst>
              </p:cNvPr>
              <p:cNvSpPr/>
              <p:nvPr/>
            </p:nvSpPr>
            <p:spPr>
              <a:xfrm>
                <a:off x="1354246" y="3348635"/>
                <a:ext cx="202637" cy="37676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𝐵</m:t>
                      </m:r>
                    </m:oMath>
                  </m:oMathPara>
                </a14:m>
                <a:endParaRPr lang="zh-CN" altLang="en-US" dirty="0">
                  <a:solidFill>
                    <a:schemeClr val="tx1"/>
                  </a:solidFill>
                </a:endParaRPr>
              </a:p>
            </p:txBody>
          </p:sp>
        </mc:Choice>
        <mc:Fallback xmlns="">
          <p:sp>
            <p:nvSpPr>
              <p:cNvPr id="43" name="矩形 42">
                <a:extLst>
                  <a:ext uri="{FF2B5EF4-FFF2-40B4-BE49-F238E27FC236}">
                    <a16:creationId xmlns:a16="http://schemas.microsoft.com/office/drawing/2014/main" id="{3A33D18D-CE8F-484B-BD4B-207E93198842}"/>
                  </a:ext>
                </a:extLst>
              </p:cNvPr>
              <p:cNvSpPr>
                <a:spLocks noRot="1" noChangeAspect="1" noMove="1" noResize="1" noEditPoints="1" noAdjustHandles="1" noChangeArrowheads="1" noChangeShapeType="1" noTextEdit="1"/>
              </p:cNvSpPr>
              <p:nvPr/>
            </p:nvSpPr>
            <p:spPr>
              <a:xfrm>
                <a:off x="1354246" y="3348635"/>
                <a:ext cx="202637" cy="376764"/>
              </a:xfrm>
              <a:prstGeom prst="rect">
                <a:avLst/>
              </a:prstGeom>
              <a:blipFill>
                <a:blip r:embed="rId10"/>
                <a:stretch>
                  <a:fillRect r="-6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4" name="矩形 43">
                <a:extLst>
                  <a:ext uri="{FF2B5EF4-FFF2-40B4-BE49-F238E27FC236}">
                    <a16:creationId xmlns:a16="http://schemas.microsoft.com/office/drawing/2014/main" id="{3A33D18D-CE8F-484B-BD4B-207E93198842}"/>
                  </a:ext>
                </a:extLst>
              </p:cNvPr>
              <p:cNvSpPr/>
              <p:nvPr/>
            </p:nvSpPr>
            <p:spPr>
              <a:xfrm>
                <a:off x="2190022" y="4048336"/>
                <a:ext cx="210797"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rPr>
                        <m:t>𝐸</m:t>
                      </m:r>
                    </m:oMath>
                  </m:oMathPara>
                </a14:m>
                <a:endParaRPr lang="zh-CN" altLang="en-US" dirty="0">
                  <a:solidFill>
                    <a:schemeClr val="tx1"/>
                  </a:solidFill>
                </a:endParaRPr>
              </a:p>
            </p:txBody>
          </p:sp>
        </mc:Choice>
        <mc:Fallback xmlns="">
          <p:sp>
            <p:nvSpPr>
              <p:cNvPr id="44" name="矩形 43">
                <a:extLst>
                  <a:ext uri="{FF2B5EF4-FFF2-40B4-BE49-F238E27FC236}">
                    <a16:creationId xmlns:a16="http://schemas.microsoft.com/office/drawing/2014/main" id="{3A33D18D-CE8F-484B-BD4B-207E93198842}"/>
                  </a:ext>
                </a:extLst>
              </p:cNvPr>
              <p:cNvSpPr>
                <a:spLocks noRot="1" noChangeAspect="1" noMove="1" noResize="1" noEditPoints="1" noAdjustHandles="1" noChangeArrowheads="1" noChangeShapeType="1" noTextEdit="1"/>
              </p:cNvSpPr>
              <p:nvPr/>
            </p:nvSpPr>
            <p:spPr>
              <a:xfrm>
                <a:off x="2190022" y="4048336"/>
                <a:ext cx="210797" cy="369332"/>
              </a:xfrm>
              <a:prstGeom prst="rect">
                <a:avLst/>
              </a:prstGeom>
              <a:blipFill>
                <a:blip r:embed="rId11"/>
                <a:stretch>
                  <a:fillRect r="-514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矩形 44">
                <a:extLst>
                  <a:ext uri="{FF2B5EF4-FFF2-40B4-BE49-F238E27FC236}">
                    <a16:creationId xmlns:a16="http://schemas.microsoft.com/office/drawing/2014/main" id="{7ED6E14F-6F53-4D55-AD8C-8A71214C99F5}"/>
                  </a:ext>
                </a:extLst>
              </p:cNvPr>
              <p:cNvSpPr/>
              <p:nvPr/>
            </p:nvSpPr>
            <p:spPr>
              <a:xfrm>
                <a:off x="4183273" y="5305379"/>
                <a:ext cx="18235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1</m:t>
                          </m:r>
                        </m:sub>
                      </m:sSub>
                    </m:oMath>
                  </m:oMathPara>
                </a14:m>
                <a:endParaRPr lang="zh-CN" altLang="en-US" dirty="0">
                  <a:solidFill>
                    <a:schemeClr val="tx1"/>
                  </a:solidFill>
                </a:endParaRPr>
              </a:p>
            </p:txBody>
          </p:sp>
        </mc:Choice>
        <mc:Fallback xmlns="">
          <p:sp>
            <p:nvSpPr>
              <p:cNvPr id="45" name="矩形 44">
                <a:extLst>
                  <a:ext uri="{FF2B5EF4-FFF2-40B4-BE49-F238E27FC236}">
                    <a16:creationId xmlns:a16="http://schemas.microsoft.com/office/drawing/2014/main" id="{7ED6E14F-6F53-4D55-AD8C-8A71214C99F5}"/>
                  </a:ext>
                </a:extLst>
              </p:cNvPr>
              <p:cNvSpPr>
                <a:spLocks noRot="1" noChangeAspect="1" noMove="1" noResize="1" noEditPoints="1" noAdjustHandles="1" noChangeArrowheads="1" noChangeShapeType="1" noTextEdit="1"/>
              </p:cNvSpPr>
              <p:nvPr/>
            </p:nvSpPr>
            <p:spPr>
              <a:xfrm>
                <a:off x="4183273" y="5305379"/>
                <a:ext cx="182353" cy="369332"/>
              </a:xfrm>
              <a:prstGeom prst="rect">
                <a:avLst/>
              </a:prstGeom>
              <a:blipFill>
                <a:blip r:embed="rId12"/>
                <a:stretch>
                  <a:fillRect l="-6667" r="-116667"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矩形 45">
                <a:extLst>
                  <a:ext uri="{FF2B5EF4-FFF2-40B4-BE49-F238E27FC236}">
                    <a16:creationId xmlns:a16="http://schemas.microsoft.com/office/drawing/2014/main" id="{5B0931DD-3E70-4E72-B5F6-4F19ABE19075}"/>
                  </a:ext>
                </a:extLst>
              </p:cNvPr>
              <p:cNvSpPr/>
              <p:nvPr/>
            </p:nvSpPr>
            <p:spPr>
              <a:xfrm>
                <a:off x="4517367" y="5055274"/>
                <a:ext cx="18235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2</m:t>
                          </m:r>
                        </m:sub>
                      </m:sSub>
                    </m:oMath>
                  </m:oMathPara>
                </a14:m>
                <a:endParaRPr lang="zh-CN" altLang="en-US" dirty="0">
                  <a:solidFill>
                    <a:schemeClr val="tx1"/>
                  </a:solidFill>
                </a:endParaRPr>
              </a:p>
            </p:txBody>
          </p:sp>
        </mc:Choice>
        <mc:Fallback xmlns="">
          <p:sp>
            <p:nvSpPr>
              <p:cNvPr id="46" name="矩形 45">
                <a:extLst>
                  <a:ext uri="{FF2B5EF4-FFF2-40B4-BE49-F238E27FC236}">
                    <a16:creationId xmlns:a16="http://schemas.microsoft.com/office/drawing/2014/main" id="{5B0931DD-3E70-4E72-B5F6-4F19ABE19075}"/>
                  </a:ext>
                </a:extLst>
              </p:cNvPr>
              <p:cNvSpPr>
                <a:spLocks noRot="1" noChangeAspect="1" noMove="1" noResize="1" noEditPoints="1" noAdjustHandles="1" noChangeArrowheads="1" noChangeShapeType="1" noTextEdit="1"/>
              </p:cNvSpPr>
              <p:nvPr/>
            </p:nvSpPr>
            <p:spPr>
              <a:xfrm>
                <a:off x="4517367" y="5055274"/>
                <a:ext cx="182353" cy="369332"/>
              </a:xfrm>
              <a:prstGeom prst="rect">
                <a:avLst/>
              </a:prstGeom>
              <a:blipFill>
                <a:blip r:embed="rId13"/>
                <a:stretch>
                  <a:fillRect l="-6667" r="-116667"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矩形 46">
                <a:extLst>
                  <a:ext uri="{FF2B5EF4-FFF2-40B4-BE49-F238E27FC236}">
                    <a16:creationId xmlns:a16="http://schemas.microsoft.com/office/drawing/2014/main" id="{5B0931DD-3E70-4E72-B5F6-4F19ABE19075}"/>
                  </a:ext>
                </a:extLst>
              </p:cNvPr>
              <p:cNvSpPr/>
              <p:nvPr/>
            </p:nvSpPr>
            <p:spPr>
              <a:xfrm>
                <a:off x="4953931" y="4629142"/>
                <a:ext cx="182353"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CN" altLang="en-US" i="1" smtClean="0">
                              <a:solidFill>
                                <a:schemeClr val="tx1"/>
                              </a:solidFill>
                              <a:latin typeface="Cambria Math" panose="02040503050406030204" pitchFamily="18" charset="0"/>
                            </a:rPr>
                          </m:ctrlPr>
                        </m:sSubPr>
                        <m:e>
                          <m:r>
                            <a:rPr lang="en-US" altLang="zh-CN" b="0" i="1" smtClean="0">
                              <a:solidFill>
                                <a:schemeClr val="tx1"/>
                              </a:solidFill>
                              <a:latin typeface="Cambria Math" panose="02040503050406030204" pitchFamily="18" charset="0"/>
                            </a:rPr>
                            <m:t>𝑄</m:t>
                          </m:r>
                        </m:e>
                        <m:sub>
                          <m:r>
                            <a:rPr lang="en-US" altLang="zh-CN" b="0" i="1" smtClean="0">
                              <a:solidFill>
                                <a:schemeClr val="tx1"/>
                              </a:solidFill>
                              <a:latin typeface="Cambria Math" panose="02040503050406030204" pitchFamily="18" charset="0"/>
                            </a:rPr>
                            <m:t>3</m:t>
                          </m:r>
                        </m:sub>
                      </m:sSub>
                    </m:oMath>
                  </m:oMathPara>
                </a14:m>
                <a:endParaRPr lang="zh-CN" altLang="en-US" dirty="0">
                  <a:solidFill>
                    <a:schemeClr val="tx1"/>
                  </a:solidFill>
                </a:endParaRPr>
              </a:p>
            </p:txBody>
          </p:sp>
        </mc:Choice>
        <mc:Fallback xmlns="">
          <p:sp>
            <p:nvSpPr>
              <p:cNvPr id="47" name="矩形 46">
                <a:extLst>
                  <a:ext uri="{FF2B5EF4-FFF2-40B4-BE49-F238E27FC236}">
                    <a16:creationId xmlns:a16="http://schemas.microsoft.com/office/drawing/2014/main" id="{5B0931DD-3E70-4E72-B5F6-4F19ABE19075}"/>
                  </a:ext>
                </a:extLst>
              </p:cNvPr>
              <p:cNvSpPr>
                <a:spLocks noRot="1" noChangeAspect="1" noMove="1" noResize="1" noEditPoints="1" noAdjustHandles="1" noChangeArrowheads="1" noChangeShapeType="1" noTextEdit="1"/>
              </p:cNvSpPr>
              <p:nvPr/>
            </p:nvSpPr>
            <p:spPr>
              <a:xfrm>
                <a:off x="4953931" y="4629142"/>
                <a:ext cx="182353" cy="369332"/>
              </a:xfrm>
              <a:prstGeom prst="rect">
                <a:avLst/>
              </a:prstGeom>
              <a:blipFill>
                <a:blip r:embed="rId14"/>
                <a:stretch>
                  <a:fillRect l="-6667" r="-116667" b="-1147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1F7A5E40-0D0B-4201-A4D7-6E6694BAFFB0}"/>
                  </a:ext>
                </a:extLst>
              </p:cNvPr>
              <p:cNvSpPr/>
              <p:nvPr/>
            </p:nvSpPr>
            <p:spPr>
              <a:xfrm>
                <a:off x="2601189" y="2466485"/>
                <a:ext cx="6075266" cy="689035"/>
              </a:xfrm>
              <a:prstGeom prst="rect">
                <a:avLst/>
              </a:prstGeom>
              <a:noFill/>
            </p:spPr>
            <p:txBody>
              <a:bodyPr wrap="square">
                <a:spAutoFit/>
              </a:bodyPr>
              <a:lstStyle/>
              <a:p>
                <a:pPr marL="285750" indent="-285750">
                  <a:lnSpc>
                    <a:spcPct val="150000"/>
                  </a:lnSpc>
                  <a:buFont typeface="Wingdings" panose="05000000000000000000" pitchFamily="2" charset="2"/>
                  <a:buChar char="Ø"/>
                </a:pPr>
                <a14:m>
                  <m:oMath xmlns:m="http://schemas.openxmlformats.org/officeDocument/2006/math">
                    <m:r>
                      <a:rPr lang="en-US" altLang="zh-CN" i="1">
                        <a:latin typeface="Cambria Math" panose="02040503050406030204" pitchFamily="18" charset="0"/>
                      </a:rPr>
                      <m:t>𝑀𝑅𝑇</m:t>
                    </m:r>
                    <m:sSub>
                      <m:sSubPr>
                        <m:ctrlPr>
                          <a:rPr lang="zh-CN" altLang="en-US" i="1">
                            <a:latin typeface="Cambria Math" panose="02040503050406030204" pitchFamily="18" charset="0"/>
                          </a:rPr>
                        </m:ctrlPr>
                      </m:sSubPr>
                      <m:e>
                        <m:r>
                          <a:rPr lang="en-US" altLang="zh-CN" i="1">
                            <a:latin typeface="Cambria Math" panose="02040503050406030204" pitchFamily="18" charset="0"/>
                          </a:rPr>
                          <m:t>𝑆</m:t>
                        </m:r>
                      </m:e>
                      <m:sub>
                        <m:r>
                          <a:rPr lang="zh-CN" altLang="en-US" i="1">
                            <a:latin typeface="Cambria Math" panose="02040503050406030204" pitchFamily="18" charset="0"/>
                          </a:rPr>
                          <m:t>𝐿</m:t>
                        </m:r>
                        <m:r>
                          <a:rPr lang="en-US" altLang="zh-CN" i="1">
                            <a:latin typeface="Cambria Math" panose="02040503050406030204" pitchFamily="18" charset="0"/>
                          </a:rPr>
                          <m:t>,</m:t>
                        </m:r>
                        <m:r>
                          <a:rPr lang="en-US" altLang="zh-CN" i="1">
                            <a:latin typeface="Cambria Math" panose="02040503050406030204" pitchFamily="18" charset="0"/>
                          </a:rPr>
                          <m:t>𝐾</m:t>
                        </m:r>
                      </m:sub>
                    </m:sSub>
                    <m:r>
                      <a:rPr lang="zh-CN" altLang="en-US" i="1">
                        <a:latin typeface="Cambria Math" panose="02040503050406030204" pitchFamily="18" charset="0"/>
                      </a:rPr>
                      <m:t>=−</m:t>
                    </m:r>
                    <m:f>
                      <m:fPr>
                        <m:ctrlPr>
                          <a:rPr lang="zh-CN" altLang="en-US" i="1">
                            <a:latin typeface="Cambria Math" panose="02040503050406030204" pitchFamily="18" charset="0"/>
                          </a:rPr>
                        </m:ctrlPr>
                      </m:fPr>
                      <m:num>
                        <m:r>
                          <m:rPr>
                            <m:sty m:val="p"/>
                          </m:rPr>
                          <a:rPr lang="zh-CN" altLang="en-US" i="1">
                            <a:latin typeface="Cambria Math" panose="02040503050406030204" pitchFamily="18" charset="0"/>
                          </a:rPr>
                          <m:t>Δ</m:t>
                        </m:r>
                        <m:r>
                          <a:rPr lang="en-US" altLang="zh-CN" i="1">
                            <a:latin typeface="Cambria Math" panose="02040503050406030204" pitchFamily="18" charset="0"/>
                          </a:rPr>
                          <m:t>𝐾</m:t>
                        </m:r>
                      </m:num>
                      <m:den>
                        <m:r>
                          <m:rPr>
                            <m:sty m:val="p"/>
                          </m:rPr>
                          <a:rPr lang="zh-CN" altLang="en-US" i="1">
                            <a:latin typeface="Cambria Math" panose="02040503050406030204" pitchFamily="18" charset="0"/>
                          </a:rPr>
                          <m:t>Δ</m:t>
                        </m:r>
                        <m:r>
                          <a:rPr lang="zh-CN" altLang="en-US" i="1">
                            <a:latin typeface="Cambria Math" panose="02040503050406030204" pitchFamily="18" charset="0"/>
                          </a:rPr>
                          <m:t>𝐿</m:t>
                        </m:r>
                      </m:den>
                    </m:f>
                    <m:r>
                      <a:rPr lang="zh-CN" altLang="en-US" i="1">
                        <a:latin typeface="Cambria Math" panose="02040503050406030204" pitchFamily="18" charset="0"/>
                      </a:rPr>
                      <m:t>=</m:t>
                    </m:r>
                    <m:f>
                      <m:fPr>
                        <m:ctrlPr>
                          <a:rPr lang="zh-CN" altLang="en-US" i="1">
                            <a:latin typeface="Cambria Math" panose="02040503050406030204" pitchFamily="18" charset="0"/>
                          </a:rPr>
                        </m:ctrlPr>
                      </m:fPr>
                      <m:num>
                        <m:r>
                          <a:rPr lang="en-US" altLang="zh-CN" i="1">
                            <a:latin typeface="Cambria Math" panose="02040503050406030204" pitchFamily="18" charset="0"/>
                          </a:rPr>
                          <m:t>𝑀</m:t>
                        </m:r>
                        <m:sSub>
                          <m:sSubPr>
                            <m:ctrlPr>
                              <a:rPr lang="zh-CN" altLang="en-US" i="1">
                                <a:latin typeface="Cambria Math" panose="02040503050406030204" pitchFamily="18" charset="0"/>
                              </a:rPr>
                            </m:ctrlPr>
                          </m:sSubPr>
                          <m:e>
                            <m:r>
                              <a:rPr lang="zh-CN" altLang="en-US" i="1">
                                <a:latin typeface="Cambria Math" panose="02040503050406030204" pitchFamily="18" charset="0"/>
                              </a:rPr>
                              <m:t>𝑃</m:t>
                            </m:r>
                          </m:e>
                          <m:sub>
                            <m:r>
                              <a:rPr lang="zh-CN" altLang="en-US" i="1">
                                <a:latin typeface="Cambria Math" panose="02040503050406030204" pitchFamily="18" charset="0"/>
                              </a:rPr>
                              <m:t>𝐿</m:t>
                            </m:r>
                          </m:sub>
                        </m:sSub>
                      </m:num>
                      <m:den>
                        <m:r>
                          <a:rPr lang="en-US" altLang="zh-CN" i="1">
                            <a:latin typeface="Cambria Math" panose="02040503050406030204" pitchFamily="18" charset="0"/>
                          </a:rPr>
                          <m:t>𝑀</m:t>
                        </m:r>
                        <m:sSub>
                          <m:sSubPr>
                            <m:ctrlPr>
                              <a:rPr lang="zh-CN" altLang="en-US"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𝐾</m:t>
                            </m:r>
                          </m:sub>
                        </m:sSub>
                      </m:den>
                    </m:f>
                  </m:oMath>
                </a14:m>
                <a:endParaRPr lang="en-US" altLang="zh-CN" dirty="0">
                  <a:latin typeface="微软雅黑" panose="020B0503020204020204" pitchFamily="34" charset="-122"/>
                  <a:ea typeface="微软雅黑" panose="020B0503020204020204" pitchFamily="34" charset="-122"/>
                </a:endParaRPr>
              </a:p>
            </p:txBody>
          </p:sp>
        </mc:Choice>
        <mc:Fallback xmlns="">
          <p:sp>
            <p:nvSpPr>
              <p:cNvPr id="3" name="矩形 2">
                <a:extLst>
                  <a:ext uri="{FF2B5EF4-FFF2-40B4-BE49-F238E27FC236}">
                    <a16:creationId xmlns:a16="http://schemas.microsoft.com/office/drawing/2014/main" id="{1F7A5E40-0D0B-4201-A4D7-6E6694BAFFB0}"/>
                  </a:ext>
                </a:extLst>
              </p:cNvPr>
              <p:cNvSpPr>
                <a:spLocks noRot="1" noChangeAspect="1" noMove="1" noResize="1" noEditPoints="1" noAdjustHandles="1" noChangeArrowheads="1" noChangeShapeType="1" noTextEdit="1"/>
              </p:cNvSpPr>
              <p:nvPr/>
            </p:nvSpPr>
            <p:spPr>
              <a:xfrm>
                <a:off x="2601189" y="2466485"/>
                <a:ext cx="6075266" cy="689035"/>
              </a:xfrm>
              <a:prstGeom prst="rect">
                <a:avLst/>
              </a:prstGeom>
              <a:blipFill>
                <a:blip r:embed="rId15"/>
                <a:stretch>
                  <a:fillRect l="-703"/>
                </a:stretch>
              </a:blipFill>
            </p:spPr>
            <p:txBody>
              <a:bodyPr/>
              <a:lstStyle/>
              <a:p>
                <a:r>
                  <a:rPr lang="zh-CN" altLang="en-US">
                    <a:noFill/>
                  </a:rPr>
                  <a:t> </a:t>
                </a:r>
              </a:p>
            </p:txBody>
          </p:sp>
        </mc:Fallback>
      </mc:AlternateContent>
      <p:sp>
        <p:nvSpPr>
          <p:cNvPr id="48" name="矩形 47">
            <a:extLst>
              <a:ext uri="{FF2B5EF4-FFF2-40B4-BE49-F238E27FC236}">
                <a16:creationId xmlns:a16="http://schemas.microsoft.com/office/drawing/2014/main" id="{4AE736B8-9628-411E-98D2-8D541C13FD10}"/>
              </a:ext>
            </a:extLst>
          </p:cNvPr>
          <p:cNvSpPr/>
          <p:nvPr/>
        </p:nvSpPr>
        <p:spPr>
          <a:xfrm>
            <a:off x="580922" y="520573"/>
            <a:ext cx="355903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四、生产要素最优组合</a:t>
            </a:r>
          </a:p>
        </p:txBody>
      </p:sp>
      <p:sp>
        <p:nvSpPr>
          <p:cNvPr id="49" name="矩形 48">
            <a:extLst>
              <a:ext uri="{FF2B5EF4-FFF2-40B4-BE49-F238E27FC236}">
                <a16:creationId xmlns:a16="http://schemas.microsoft.com/office/drawing/2014/main" id="{0D14BDD8-771E-4889-A028-DE51E60A2218}"/>
              </a:ext>
            </a:extLst>
          </p:cNvPr>
          <p:cNvSpPr/>
          <p:nvPr/>
        </p:nvSpPr>
        <p:spPr>
          <a:xfrm>
            <a:off x="798983" y="1300698"/>
            <a:ext cx="3917033" cy="400110"/>
          </a:xfrm>
          <a:prstGeom prst="rect">
            <a:avLst/>
          </a:prstGeom>
          <a:noFill/>
        </p:spPr>
        <p:txBody>
          <a:bodyPr wrap="square">
            <a:spAutoFit/>
          </a:bodyPr>
          <a:lstStyle/>
          <a:p>
            <a:pPr marL="285750" indent="-285750">
              <a:buFont typeface="Wingdings" panose="05000000000000000000" pitchFamily="2" charset="2"/>
              <a:buChar char="u"/>
            </a:pPr>
            <a:r>
              <a:rPr lang="en-US" sz="2000" dirty="0" err="1">
                <a:latin typeface="微软雅黑" panose="020B0503020204020204" pitchFamily="34" charset="-122"/>
                <a:ea typeface="微软雅黑" panose="020B0503020204020204" pitchFamily="34" charset="-122"/>
              </a:rPr>
              <a:t>成本既定条件下的产量最大化</a:t>
            </a:r>
            <a:endParaRPr lang="zh-CN" altLang="en-US" sz="2000" dirty="0">
              <a:latin typeface="微软雅黑" panose="020B0503020204020204" pitchFamily="34" charset="-122"/>
              <a:ea typeface="微软雅黑" panose="020B0503020204020204" pitchFamily="34" charset="-122"/>
            </a:endParaRPr>
          </a:p>
        </p:txBody>
      </p:sp>
      <p:sp>
        <p:nvSpPr>
          <p:cNvPr id="5" name="左大括号 4"/>
          <p:cNvSpPr/>
          <p:nvPr/>
        </p:nvSpPr>
        <p:spPr bwMode="auto">
          <a:xfrm>
            <a:off x="6201316" y="5230391"/>
            <a:ext cx="185668" cy="754491"/>
          </a:xfrm>
          <a:prstGeom prst="leftBrace">
            <a:avLst/>
          </a:prstGeom>
          <a:solidFill>
            <a:srgbClr val="F8F9FA"/>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49740782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 calcmode="lin" valueType="num">
                                      <p:cBhvr>
                                        <p:cTn id="7" dur="500" fill="hold"/>
                                        <p:tgtEl>
                                          <p:spTgt spid="48"/>
                                        </p:tgtEl>
                                        <p:attrNameLst>
                                          <p:attrName>ppt_w</p:attrName>
                                        </p:attrNameLst>
                                      </p:cBhvr>
                                      <p:tavLst>
                                        <p:tav tm="0">
                                          <p:val>
                                            <p:fltVal val="0"/>
                                          </p:val>
                                        </p:tav>
                                        <p:tav tm="100000">
                                          <p:val>
                                            <p:strVal val="#ppt_w"/>
                                          </p:val>
                                        </p:tav>
                                      </p:tavLst>
                                    </p:anim>
                                    <p:anim calcmode="lin" valueType="num">
                                      <p:cBhvr>
                                        <p:cTn id="8" dur="500" fill="hold"/>
                                        <p:tgtEl>
                                          <p:spTgt spid="48"/>
                                        </p:tgtEl>
                                        <p:attrNameLst>
                                          <p:attrName>ppt_h</p:attrName>
                                        </p:attrNameLst>
                                      </p:cBhvr>
                                      <p:tavLst>
                                        <p:tav tm="0">
                                          <p:val>
                                            <p:fltVal val="0"/>
                                          </p:val>
                                        </p:tav>
                                        <p:tav tm="100000">
                                          <p:val>
                                            <p:strVal val="#ppt_h"/>
                                          </p:val>
                                        </p:tav>
                                      </p:tavLst>
                                    </p:anim>
                                    <p:animEffect transition="in" filter="fade">
                                      <p:cBhvr>
                                        <p:cTn id="9" dur="500"/>
                                        <p:tgtEl>
                                          <p:spTgt spid="4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0"/>
                                        </p:tgtEl>
                                        <p:attrNameLst>
                                          <p:attrName>style.visibility</p:attrName>
                                        </p:attrNameLst>
                                      </p:cBhvr>
                                      <p:to>
                                        <p:strVal val="visible"/>
                                      </p:to>
                                    </p:set>
                                    <p:anim calcmode="lin" valueType="num">
                                      <p:cBhvr>
                                        <p:cTn id="14" dur="500" fill="hold"/>
                                        <p:tgtEl>
                                          <p:spTgt spid="50"/>
                                        </p:tgtEl>
                                        <p:attrNameLst>
                                          <p:attrName>ppt_w</p:attrName>
                                        </p:attrNameLst>
                                      </p:cBhvr>
                                      <p:tavLst>
                                        <p:tav tm="0">
                                          <p:val>
                                            <p:fltVal val="0"/>
                                          </p:val>
                                        </p:tav>
                                        <p:tav tm="100000">
                                          <p:val>
                                            <p:strVal val="#ppt_w"/>
                                          </p:val>
                                        </p:tav>
                                      </p:tavLst>
                                    </p:anim>
                                    <p:anim calcmode="lin" valueType="num">
                                      <p:cBhvr>
                                        <p:cTn id="15" dur="500" fill="hold"/>
                                        <p:tgtEl>
                                          <p:spTgt spid="50"/>
                                        </p:tgtEl>
                                        <p:attrNameLst>
                                          <p:attrName>ppt_h</p:attrName>
                                        </p:attrNameLst>
                                      </p:cBhvr>
                                      <p:tavLst>
                                        <p:tav tm="0">
                                          <p:val>
                                            <p:fltVal val="0"/>
                                          </p:val>
                                        </p:tav>
                                        <p:tav tm="100000">
                                          <p:val>
                                            <p:strVal val="#ppt_h"/>
                                          </p:val>
                                        </p:tav>
                                      </p:tavLst>
                                    </p:anim>
                                    <p:animEffect transition="in" filter="fade">
                                      <p:cBhvr>
                                        <p:cTn id="16" dur="500"/>
                                        <p:tgtEl>
                                          <p:spTgt spid="50"/>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49"/>
                                        </p:tgtEl>
                                        <p:attrNameLst>
                                          <p:attrName>style.visibility</p:attrName>
                                        </p:attrNameLst>
                                      </p:cBhvr>
                                      <p:to>
                                        <p:strVal val="visible"/>
                                      </p:to>
                                    </p:set>
                                    <p:anim calcmode="lin" valueType="num">
                                      <p:cBhvr>
                                        <p:cTn id="19" dur="500" fill="hold"/>
                                        <p:tgtEl>
                                          <p:spTgt spid="49"/>
                                        </p:tgtEl>
                                        <p:attrNameLst>
                                          <p:attrName>ppt_w</p:attrName>
                                        </p:attrNameLst>
                                      </p:cBhvr>
                                      <p:tavLst>
                                        <p:tav tm="0">
                                          <p:val>
                                            <p:fltVal val="0"/>
                                          </p:val>
                                        </p:tav>
                                        <p:tav tm="100000">
                                          <p:val>
                                            <p:strVal val="#ppt_w"/>
                                          </p:val>
                                        </p:tav>
                                      </p:tavLst>
                                    </p:anim>
                                    <p:anim calcmode="lin" valueType="num">
                                      <p:cBhvr>
                                        <p:cTn id="20" dur="500" fill="hold"/>
                                        <p:tgtEl>
                                          <p:spTgt spid="49"/>
                                        </p:tgtEl>
                                        <p:attrNameLst>
                                          <p:attrName>ppt_h</p:attrName>
                                        </p:attrNameLst>
                                      </p:cBhvr>
                                      <p:tavLst>
                                        <p:tav tm="0">
                                          <p:val>
                                            <p:fltVal val="0"/>
                                          </p:val>
                                        </p:tav>
                                        <p:tav tm="100000">
                                          <p:val>
                                            <p:strVal val="#ppt_h"/>
                                          </p:val>
                                        </p:tav>
                                      </p:tavLst>
                                    </p:anim>
                                    <p:animEffect transition="in" filter="fade">
                                      <p:cBhvr>
                                        <p:cTn id="21" dur="500"/>
                                        <p:tgtEl>
                                          <p:spTgt spid="4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500"/>
                                        <p:tgtEl>
                                          <p:spTgt spid="36"/>
                                        </p:tgtEl>
                                      </p:cBhvr>
                                    </p:animEffect>
                                  </p:childTnLst>
                                </p:cTn>
                              </p:par>
                              <p:par>
                                <p:cTn id="27" presetID="10" presetClass="entr" presetSubtype="0" fill="hold" nodeType="withEffect">
                                  <p:stCondLst>
                                    <p:cond delay="0"/>
                                  </p:stCondLst>
                                  <p:childTnLst>
                                    <p:set>
                                      <p:cBhvr>
                                        <p:cTn id="28" dur="1" fill="hold">
                                          <p:stCondLst>
                                            <p:cond delay="0"/>
                                          </p:stCondLst>
                                        </p:cTn>
                                        <p:tgtEl>
                                          <p:spTgt spid="41"/>
                                        </p:tgtEl>
                                        <p:attrNameLst>
                                          <p:attrName>style.visibility</p:attrName>
                                        </p:attrNameLst>
                                      </p:cBhvr>
                                      <p:to>
                                        <p:strVal val="visible"/>
                                      </p:to>
                                    </p:set>
                                    <p:animEffect transition="in" filter="fade">
                                      <p:cBhvr>
                                        <p:cTn id="29" dur="500"/>
                                        <p:tgtEl>
                                          <p:spTgt spid="4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500"/>
                                        <p:tgtEl>
                                          <p:spTgt spid="35"/>
                                        </p:tgtEl>
                                      </p:cBhvr>
                                    </p:animEffect>
                                  </p:childTnLst>
                                </p:cTn>
                              </p:par>
                              <p:par>
                                <p:cTn id="33" presetID="10" presetClass="entr" presetSubtype="0" fill="hold" nodeType="with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1"/>
                                        </p:tgtEl>
                                        <p:attrNameLst>
                                          <p:attrName>style.visibility</p:attrName>
                                        </p:attrNameLst>
                                      </p:cBhvr>
                                      <p:to>
                                        <p:strVal val="visible"/>
                                      </p:to>
                                    </p:set>
                                    <p:animEffect transition="in" filter="wipe(left)">
                                      <p:cBhvr>
                                        <p:cTn id="43" dur="500"/>
                                        <p:tgtEl>
                                          <p:spTgt spid="31"/>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wipe(left)">
                                      <p:cBhvr>
                                        <p:cTn id="46" dur="500"/>
                                        <p:tgtEl>
                                          <p:spTgt spid="4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wipe(left)">
                                      <p:cBhvr>
                                        <p:cTn id="51" dur="500"/>
                                        <p:tgtEl>
                                          <p:spTgt spid="30"/>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46"/>
                                        </p:tgtEl>
                                        <p:attrNameLst>
                                          <p:attrName>style.visibility</p:attrName>
                                        </p:attrNameLst>
                                      </p:cBhvr>
                                      <p:to>
                                        <p:strVal val="visible"/>
                                      </p:to>
                                    </p:set>
                                    <p:animEffect transition="in" filter="wipe(left)">
                                      <p:cBhvr>
                                        <p:cTn id="54" dur="500"/>
                                        <p:tgtEl>
                                          <p:spTgt spid="4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wipe(left)">
                                      <p:cBhvr>
                                        <p:cTn id="59" dur="500"/>
                                        <p:tgtEl>
                                          <p:spTgt spid="29"/>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47"/>
                                        </p:tgtEl>
                                        <p:attrNameLst>
                                          <p:attrName>style.visibility</p:attrName>
                                        </p:attrNameLst>
                                      </p:cBhvr>
                                      <p:to>
                                        <p:strVal val="visible"/>
                                      </p:to>
                                    </p:set>
                                    <p:animEffect transition="in" filter="wipe(left)">
                                      <p:cBhvr>
                                        <p:cTn id="62" dur="500"/>
                                        <p:tgtEl>
                                          <p:spTgt spid="4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wipe(left)">
                                      <p:cBhvr>
                                        <p:cTn id="67" dur="500"/>
                                        <p:tgtEl>
                                          <p:spTgt spid="25"/>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3"/>
                                        </p:tgtEl>
                                        <p:attrNameLst>
                                          <p:attrName>style.visibility</p:attrName>
                                        </p:attrNameLst>
                                      </p:cBhvr>
                                      <p:to>
                                        <p:strVal val="visible"/>
                                      </p:to>
                                    </p:set>
                                    <p:animEffect transition="in" filter="wipe(left)">
                                      <p:cBhvr>
                                        <p:cTn id="72" dur="500"/>
                                        <p:tgtEl>
                                          <p:spTgt spid="3"/>
                                        </p:tgtEl>
                                      </p:cBhvr>
                                    </p:animEffect>
                                  </p:childTnLst>
                                </p:cTn>
                              </p:par>
                              <p:par>
                                <p:cTn id="73" presetID="22" presetClass="entr" presetSubtype="8" fill="hold"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wipe(left)">
                                      <p:cBhvr>
                                        <p:cTn id="75" dur="500"/>
                                        <p:tgtEl>
                                          <p:spTgt spid="32"/>
                                        </p:tgtEl>
                                      </p:cBhvr>
                                    </p:animEffect>
                                  </p:childTnLst>
                                </p:cTn>
                              </p:par>
                              <p:par>
                                <p:cTn id="76" presetID="22" presetClass="entr" presetSubtype="8" fill="hold" grpId="0" nodeType="withEffect">
                                  <p:stCondLst>
                                    <p:cond delay="0"/>
                                  </p:stCondLst>
                                  <p:childTnLst>
                                    <p:set>
                                      <p:cBhvr>
                                        <p:cTn id="77" dur="1" fill="hold">
                                          <p:stCondLst>
                                            <p:cond delay="0"/>
                                          </p:stCondLst>
                                        </p:cTn>
                                        <p:tgtEl>
                                          <p:spTgt spid="42"/>
                                        </p:tgtEl>
                                        <p:attrNameLst>
                                          <p:attrName>style.visibility</p:attrName>
                                        </p:attrNameLst>
                                      </p:cBhvr>
                                      <p:to>
                                        <p:strVal val="visible"/>
                                      </p:to>
                                    </p:set>
                                    <p:animEffect transition="in" filter="wipe(left)">
                                      <p:cBhvr>
                                        <p:cTn id="78" dur="500"/>
                                        <p:tgtEl>
                                          <p:spTgt spid="42"/>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wipe(left)">
                                      <p:cBhvr>
                                        <p:cTn id="81" dur="500"/>
                                        <p:tgtEl>
                                          <p:spTgt spid="43"/>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44"/>
                                        </p:tgtEl>
                                        <p:attrNameLst>
                                          <p:attrName>style.visibility</p:attrName>
                                        </p:attrNameLst>
                                      </p:cBhvr>
                                      <p:to>
                                        <p:strVal val="visible"/>
                                      </p:to>
                                    </p:set>
                                    <p:animEffect transition="in" filter="fade">
                                      <p:cBhvr>
                                        <p:cTn id="86" dur="500"/>
                                        <p:tgtEl>
                                          <p:spTgt spid="44"/>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grpId="0" nodeType="click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wipe(down)">
                                      <p:cBhvr>
                                        <p:cTn id="91" dur="500"/>
                                        <p:tgtEl>
                                          <p:spTgt spid="38"/>
                                        </p:tgtEl>
                                      </p:cBhvr>
                                    </p:animEffect>
                                  </p:childTnLst>
                                </p:cTn>
                              </p:par>
                              <p:par>
                                <p:cTn id="92" presetID="22" presetClass="entr" presetSubtype="4" fill="hold" nodeType="withEffect">
                                  <p:stCondLst>
                                    <p:cond delay="0"/>
                                  </p:stCondLst>
                                  <p:childTnLst>
                                    <p:set>
                                      <p:cBhvr>
                                        <p:cTn id="93" dur="1" fill="hold">
                                          <p:stCondLst>
                                            <p:cond delay="0"/>
                                          </p:stCondLst>
                                        </p:cTn>
                                        <p:tgtEl>
                                          <p:spTgt spid="33"/>
                                        </p:tgtEl>
                                        <p:attrNameLst>
                                          <p:attrName>style.visibility</p:attrName>
                                        </p:attrNameLst>
                                      </p:cBhvr>
                                      <p:to>
                                        <p:strVal val="visible"/>
                                      </p:to>
                                    </p:set>
                                    <p:animEffect transition="in" filter="wipe(down)">
                                      <p:cBhvr>
                                        <p:cTn id="94" dur="500"/>
                                        <p:tgtEl>
                                          <p:spTgt spid="33"/>
                                        </p:tgtEl>
                                      </p:cBhvr>
                                    </p:animEffect>
                                  </p:childTnLst>
                                </p:cTn>
                              </p:par>
                              <p:par>
                                <p:cTn id="95" presetID="22" presetClass="entr" presetSubtype="4" fill="hold"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wipe(down)">
                                      <p:cBhvr>
                                        <p:cTn id="97" dur="500"/>
                                        <p:tgtEl>
                                          <p:spTgt spid="34"/>
                                        </p:tgtEl>
                                      </p:cBhvr>
                                    </p:animEffect>
                                  </p:childTnLst>
                                </p:cTn>
                              </p:par>
                              <p:par>
                                <p:cTn id="98" presetID="22" presetClass="entr" presetSubtype="4" fill="hold" grpId="0" nodeType="with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wipe(down)">
                                      <p:cBhvr>
                                        <p:cTn id="100" dur="500"/>
                                        <p:tgtEl>
                                          <p:spTgt spid="39"/>
                                        </p:tgtEl>
                                      </p:cBhvr>
                                    </p:animEffect>
                                  </p:childTnLst>
                                </p:cTn>
                              </p:par>
                            </p:childTnLst>
                          </p:cTn>
                        </p:par>
                      </p:childTnLst>
                    </p:cTn>
                  </p:par>
                  <p:par>
                    <p:cTn id="101" fill="hold">
                      <p:stCondLst>
                        <p:cond delay="indefinite"/>
                      </p:stCondLst>
                      <p:childTnLst>
                        <p:par>
                          <p:cTn id="102" fill="hold">
                            <p:stCondLst>
                              <p:cond delay="0"/>
                            </p:stCondLst>
                            <p:childTnLst>
                              <p:par>
                                <p:cTn id="103" presetID="22" presetClass="entr" presetSubtype="1" fill="hold" grpId="0" nodeType="clickEffect">
                                  <p:stCondLst>
                                    <p:cond delay="0"/>
                                  </p:stCondLst>
                                  <p:childTnLst>
                                    <p:set>
                                      <p:cBhvr>
                                        <p:cTn id="104" dur="1" fill="hold">
                                          <p:stCondLst>
                                            <p:cond delay="0"/>
                                          </p:stCondLst>
                                        </p:cTn>
                                        <p:tgtEl>
                                          <p:spTgt spid="28"/>
                                        </p:tgtEl>
                                        <p:attrNameLst>
                                          <p:attrName>style.visibility</p:attrName>
                                        </p:attrNameLst>
                                      </p:cBhvr>
                                      <p:to>
                                        <p:strVal val="visible"/>
                                      </p:to>
                                    </p:set>
                                    <p:animEffect transition="in" filter="wipe(up)">
                                      <p:cBhvr>
                                        <p:cTn id="105" dur="500"/>
                                        <p:tgtEl>
                                          <p:spTgt spid="28"/>
                                        </p:tgtEl>
                                      </p:cBhvr>
                                    </p:animEffect>
                                  </p:childTnLst>
                                </p:cTn>
                              </p:par>
                            </p:childTnLst>
                          </p:cTn>
                        </p:par>
                      </p:childTnLst>
                    </p:cTn>
                  </p:par>
                  <p:par>
                    <p:cTn id="106" fill="hold">
                      <p:stCondLst>
                        <p:cond delay="indefinite"/>
                      </p:stCondLst>
                      <p:childTnLst>
                        <p:par>
                          <p:cTn id="107" fill="hold">
                            <p:stCondLst>
                              <p:cond delay="0"/>
                            </p:stCondLst>
                            <p:childTnLst>
                              <p:par>
                                <p:cTn id="108" presetID="22" presetClass="entr" presetSubtype="8" fill="hold" grpId="0" nodeType="click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wipe(left)">
                                      <p:cBhvr>
                                        <p:cTn id="11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24" grpId="0"/>
      <p:bldP spid="25" grpId="0"/>
      <p:bldP spid="28" grpId="0" animBg="1"/>
      <p:bldP spid="29" grpId="0" animBg="1"/>
      <p:bldP spid="30" grpId="0" animBg="1"/>
      <p:bldP spid="31" grpId="0" animBg="1"/>
      <p:bldP spid="35" grpId="0"/>
      <p:bldP spid="36" grpId="0"/>
      <p:bldP spid="37" grpId="0"/>
      <p:bldP spid="38" grpId="0"/>
      <p:bldP spid="39" grpId="0"/>
      <p:bldP spid="42" grpId="0"/>
      <p:bldP spid="43" grpId="0"/>
      <p:bldP spid="44" grpId="0"/>
      <p:bldP spid="45" grpId="0"/>
      <p:bldP spid="46" grpId="0"/>
      <p:bldP spid="47" grpId="0"/>
      <p:bldP spid="3" grpId="0"/>
      <p:bldP spid="48" grpId="0" animBg="1"/>
      <p:bldP spid="4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圆角 37">
            <a:extLst>
              <a:ext uri="{FF2B5EF4-FFF2-40B4-BE49-F238E27FC236}">
                <a16:creationId xmlns:a16="http://schemas.microsoft.com/office/drawing/2014/main" id="{214E108A-3439-404F-A42C-FE1ACC87E6B8}"/>
              </a:ext>
            </a:extLst>
          </p:cNvPr>
          <p:cNvSpPr/>
          <p:nvPr/>
        </p:nvSpPr>
        <p:spPr>
          <a:xfrm>
            <a:off x="805244" y="1343654"/>
            <a:ext cx="3910755"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E18812AA-FFAC-4F7F-AD00-CCFD49B80D20}"/>
              </a:ext>
            </a:extLst>
          </p:cNvPr>
          <p:cNvSpPr/>
          <p:nvPr/>
        </p:nvSpPr>
        <p:spPr>
          <a:xfrm>
            <a:off x="6732240" y="35332"/>
            <a:ext cx="2331087"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第四节 长期生产函数</a:t>
            </a:r>
          </a:p>
        </p:txBody>
      </p:sp>
      <p:sp>
        <p:nvSpPr>
          <p:cNvPr id="4" name="矩形 3">
            <a:extLst>
              <a:ext uri="{FF2B5EF4-FFF2-40B4-BE49-F238E27FC236}">
                <a16:creationId xmlns:a16="http://schemas.microsoft.com/office/drawing/2014/main" id="{E7DE92A3-4431-4065-BF9E-3D8F32671DD1}"/>
              </a:ext>
            </a:extLst>
          </p:cNvPr>
          <p:cNvSpPr/>
          <p:nvPr/>
        </p:nvSpPr>
        <p:spPr>
          <a:xfrm>
            <a:off x="798984" y="1372706"/>
            <a:ext cx="3917032" cy="400110"/>
          </a:xfrm>
          <a:prstGeom prst="rect">
            <a:avLst/>
          </a:prstGeom>
          <a:noFill/>
        </p:spPr>
        <p:txBody>
          <a:bodyPr wrap="square">
            <a:spAutoFit/>
          </a:bodyPr>
          <a:lstStyle/>
          <a:p>
            <a:pPr marL="285750" indent="-285750">
              <a:buFont typeface="Wingdings" panose="05000000000000000000" pitchFamily="2" charset="2"/>
              <a:buChar char="u"/>
            </a:pPr>
            <a:r>
              <a:rPr lang="en-US" sz="2000" dirty="0" err="1">
                <a:latin typeface="微软雅黑" panose="020B0503020204020204" pitchFamily="34" charset="-122"/>
                <a:ea typeface="微软雅黑" panose="020B0503020204020204" pitchFamily="34" charset="-122"/>
              </a:rPr>
              <a:t>产量既定条件下的成本最小化</a:t>
            </a:r>
            <a:endParaRPr lang="zh-CN" altLang="en-US" sz="2000" dirty="0">
              <a:latin typeface="微软雅黑" panose="020B0503020204020204" pitchFamily="34" charset="-122"/>
              <a:ea typeface="微软雅黑" panose="020B0503020204020204" pitchFamily="34" charset="-122"/>
            </a:endParaRPr>
          </a:p>
        </p:txBody>
      </p:sp>
      <p:grpSp>
        <p:nvGrpSpPr>
          <p:cNvPr id="5" name="组合 29"/>
          <p:cNvGrpSpPr>
            <a:grpSpLocks/>
          </p:cNvGrpSpPr>
          <p:nvPr/>
        </p:nvGrpSpPr>
        <p:grpSpPr bwMode="auto">
          <a:xfrm>
            <a:off x="1020299" y="2469692"/>
            <a:ext cx="3695700" cy="3249613"/>
            <a:chOff x="0" y="0"/>
            <a:chExt cx="3695712" cy="3249612"/>
          </a:xfrm>
        </p:grpSpPr>
        <p:cxnSp>
          <p:nvCxnSpPr>
            <p:cNvPr id="6" name="直接连接符 26"/>
            <p:cNvCxnSpPr>
              <a:cxnSpLocks noChangeShapeType="1"/>
            </p:cNvCxnSpPr>
            <p:nvPr/>
          </p:nvCxnSpPr>
          <p:spPr bwMode="auto">
            <a:xfrm>
              <a:off x="357189" y="1143000"/>
              <a:ext cx="1928818" cy="1714499"/>
            </a:xfrm>
            <a:prstGeom prst="line">
              <a:avLst/>
            </a:prstGeom>
            <a:noFill/>
            <a:ln w="38100" cmpd="sng">
              <a:solidFill>
                <a:srgbClr val="0AC236"/>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grpSp>
          <p:nvGrpSpPr>
            <p:cNvPr id="7" name="组合 28"/>
            <p:cNvGrpSpPr>
              <a:grpSpLocks/>
            </p:cNvGrpSpPr>
            <p:nvPr/>
          </p:nvGrpSpPr>
          <p:grpSpPr bwMode="auto">
            <a:xfrm>
              <a:off x="0" y="0"/>
              <a:ext cx="3695712" cy="3249612"/>
              <a:chOff x="0" y="0"/>
              <a:chExt cx="3695712" cy="3249612"/>
            </a:xfrm>
          </p:grpSpPr>
          <p:grpSp>
            <p:nvGrpSpPr>
              <p:cNvPr id="8" name="组合 4"/>
              <p:cNvGrpSpPr>
                <a:grpSpLocks/>
              </p:cNvGrpSpPr>
              <p:nvPr/>
            </p:nvGrpSpPr>
            <p:grpSpPr bwMode="auto">
              <a:xfrm>
                <a:off x="12" y="0"/>
                <a:ext cx="3695700" cy="3195637"/>
                <a:chOff x="0" y="0"/>
                <a:chExt cx="3695710" cy="3195657"/>
              </a:xfrm>
            </p:grpSpPr>
            <p:grpSp>
              <p:nvGrpSpPr>
                <p:cNvPr id="13" name="组合 4"/>
                <p:cNvGrpSpPr>
                  <a:grpSpLocks/>
                </p:cNvGrpSpPr>
                <p:nvPr/>
              </p:nvGrpSpPr>
              <p:grpSpPr bwMode="auto">
                <a:xfrm>
                  <a:off x="0" y="0"/>
                  <a:ext cx="3643325" cy="3176607"/>
                  <a:chOff x="0" y="0"/>
                  <a:chExt cx="2643196" cy="2652506"/>
                </a:xfrm>
              </p:grpSpPr>
              <p:cxnSp>
                <p:nvCxnSpPr>
                  <p:cNvPr id="25" name="直接箭头连接符 20"/>
                  <p:cNvCxnSpPr>
                    <a:cxnSpLocks noChangeShapeType="1"/>
                  </p:cNvCxnSpPr>
                  <p:nvPr/>
                </p:nvCxnSpPr>
                <p:spPr bwMode="auto">
                  <a:xfrm>
                    <a:off x="259129" y="2386062"/>
                    <a:ext cx="2384065" cy="1326"/>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26" name="直接箭头连接符 21"/>
                  <p:cNvCxnSpPr>
                    <a:cxnSpLocks noChangeShapeType="1"/>
                  </p:cNvCxnSpPr>
                  <p:nvPr/>
                </p:nvCxnSpPr>
                <p:spPr bwMode="auto">
                  <a:xfrm rot="16200000" flipV="1">
                    <a:off x="-933902" y="1193031"/>
                    <a:ext cx="2386062" cy="0"/>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27" name="Object 10"/>
                  <p:cNvGraphicFramePr>
                    <a:graphicFrameLocks noChangeAspect="1"/>
                  </p:cNvGraphicFramePr>
                  <p:nvPr/>
                </p:nvGraphicFramePr>
                <p:xfrm>
                  <a:off x="51827" y="2445715"/>
                  <a:ext cx="177364" cy="206791"/>
                </p:xfrm>
                <a:graphic>
                  <a:graphicData uri="http://schemas.openxmlformats.org/presentationml/2006/ole">
                    <mc:AlternateContent xmlns:mc="http://schemas.openxmlformats.org/markup-compatibility/2006">
                      <mc:Choice xmlns:v="urn:schemas-microsoft-com:vml" Requires="v">
                        <p:oleObj spid="_x0000_s116274" r:id="rId3" imgW="153248" imgH="178737" progId="">
                          <p:embed/>
                        </p:oleObj>
                      </mc:Choice>
                      <mc:Fallback>
                        <p:oleObj r:id="rId3" imgW="153248" imgH="178737" progId="">
                          <p:embed/>
                          <p:pic>
                            <p:nvPicPr>
                              <p:cNvPr id="38922"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27" y="2445715"/>
                                <a:ext cx="177364" cy="206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11"/>
                  <p:cNvGraphicFramePr>
                    <a:graphicFrameLocks noChangeAspect="1"/>
                  </p:cNvGraphicFramePr>
                  <p:nvPr/>
                </p:nvGraphicFramePr>
                <p:xfrm>
                  <a:off x="0" y="119302"/>
                  <a:ext cx="193488" cy="192209"/>
                </p:xfrm>
                <a:graphic>
                  <a:graphicData uri="http://schemas.openxmlformats.org/presentationml/2006/ole">
                    <mc:AlternateContent xmlns:mc="http://schemas.openxmlformats.org/markup-compatibility/2006">
                      <mc:Choice xmlns:v="urn:schemas-microsoft-com:vml" Requires="v">
                        <p:oleObj spid="_x0000_s116275" r:id="rId5" imgW="166064" imgH="166064" progId="">
                          <p:embed/>
                        </p:oleObj>
                      </mc:Choice>
                      <mc:Fallback>
                        <p:oleObj r:id="rId5" imgW="166064" imgH="166064" progId="">
                          <p:embed/>
                          <p:pic>
                            <p:nvPicPr>
                              <p:cNvPr id="38923"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19302"/>
                                <a:ext cx="193488" cy="192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12"/>
                  <p:cNvGraphicFramePr>
                    <a:graphicFrameLocks noChangeAspect="1"/>
                  </p:cNvGraphicFramePr>
                  <p:nvPr/>
                </p:nvGraphicFramePr>
                <p:xfrm>
                  <a:off x="2384050" y="2445702"/>
                  <a:ext cx="164696" cy="193535"/>
                </p:xfrm>
                <a:graphic>
                  <a:graphicData uri="http://schemas.openxmlformats.org/presentationml/2006/ole">
                    <mc:AlternateContent xmlns:mc="http://schemas.openxmlformats.org/markup-compatibility/2006">
                      <mc:Choice xmlns:v="urn:schemas-microsoft-com:vml" Requires="v">
                        <p:oleObj spid="_x0000_s116276" r:id="rId7" imgW="140565" imgH="166064" progId="">
                          <p:embed/>
                        </p:oleObj>
                      </mc:Choice>
                      <mc:Fallback>
                        <p:oleObj r:id="rId7" imgW="140565" imgH="166064" progId="">
                          <p:embed/>
                          <p:pic>
                            <p:nvPicPr>
                              <p:cNvPr id="38924"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84050" y="2445702"/>
                                <a:ext cx="164696" cy="193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cxnSp>
              <p:nvCxnSpPr>
                <p:cNvPr id="14" name="直接连接符 6"/>
                <p:cNvCxnSpPr>
                  <a:cxnSpLocks noChangeShapeType="1"/>
                </p:cNvCxnSpPr>
                <p:nvPr/>
              </p:nvCxnSpPr>
              <p:spPr bwMode="auto">
                <a:xfrm>
                  <a:off x="357178" y="642942"/>
                  <a:ext cx="2527315" cy="2214575"/>
                </a:xfrm>
                <a:prstGeom prst="line">
                  <a:avLst/>
                </a:prstGeom>
                <a:noFill/>
                <a:ln w="38100" cmpd="sng">
                  <a:solidFill>
                    <a:srgbClr val="00B05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sp>
              <p:nvSpPr>
                <p:cNvPr id="15" name="任意多边形 7"/>
                <p:cNvSpPr>
                  <a:spLocks noChangeArrowheads="1"/>
                </p:cNvSpPr>
                <p:nvPr/>
              </p:nvSpPr>
              <p:spPr bwMode="auto">
                <a:xfrm rot="20631389">
                  <a:off x="942969" y="200026"/>
                  <a:ext cx="2154251" cy="2459053"/>
                </a:xfrm>
                <a:custGeom>
                  <a:avLst/>
                  <a:gdLst>
                    <a:gd name="T0" fmla="*/ 260937 w 2254250"/>
                    <a:gd name="T1" fmla="*/ 0 h 2628900"/>
                    <a:gd name="T2" fmla="*/ 315552 w 2254250"/>
                    <a:gd name="T3" fmla="*/ 1657188 h 2628900"/>
                    <a:gd name="T4" fmla="*/ 2154251 w 2254250"/>
                    <a:gd name="T5" fmla="*/ 2459053 h 2628900"/>
                    <a:gd name="T6" fmla="*/ 0 60000 65536"/>
                    <a:gd name="T7" fmla="*/ 0 60000 65536"/>
                    <a:gd name="T8" fmla="*/ 0 60000 65536"/>
                    <a:gd name="T9" fmla="*/ 0 w 2254250"/>
                    <a:gd name="T10" fmla="*/ 0 h 2628900"/>
                    <a:gd name="T11" fmla="*/ 2254250 w 2254250"/>
                    <a:gd name="T12" fmla="*/ 2628900 h 2628900"/>
                  </a:gdLst>
                  <a:ahLst/>
                  <a:cxnLst>
                    <a:cxn ang="T6">
                      <a:pos x="T0" y="T1"/>
                    </a:cxn>
                    <a:cxn ang="T7">
                      <a:pos x="T2" y="T3"/>
                    </a:cxn>
                    <a:cxn ang="T8">
                      <a:pos x="T4" y="T5"/>
                    </a:cxn>
                  </a:cxnLst>
                  <a:rect l="T9" t="T10" r="T11" b="T12"/>
                  <a:pathLst>
                    <a:path w="2254250" h="2628900">
                      <a:moveTo>
                        <a:pt x="273050" y="0"/>
                      </a:moveTo>
                      <a:cubicBezTo>
                        <a:pt x="136525" y="666750"/>
                        <a:pt x="0" y="1333500"/>
                        <a:pt x="330200" y="1771650"/>
                      </a:cubicBezTo>
                      <a:cubicBezTo>
                        <a:pt x="660400" y="2209800"/>
                        <a:pt x="1457325" y="2419350"/>
                        <a:pt x="2254250" y="262890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16" name="直接连接符 10"/>
                <p:cNvCxnSpPr>
                  <a:cxnSpLocks noChangeShapeType="1"/>
                </p:cNvCxnSpPr>
                <p:nvPr/>
              </p:nvCxnSpPr>
              <p:spPr bwMode="auto">
                <a:xfrm rot="10800000">
                  <a:off x="357178" y="1976450"/>
                  <a:ext cx="928693" cy="1587"/>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cxnSp>
              <p:nvCxnSpPr>
                <p:cNvPr id="17" name="直接连接符 11"/>
                <p:cNvCxnSpPr>
                  <a:cxnSpLocks noChangeShapeType="1"/>
                </p:cNvCxnSpPr>
                <p:nvPr/>
              </p:nvCxnSpPr>
              <p:spPr bwMode="auto">
                <a:xfrm rot="5400000">
                  <a:off x="856446" y="2404279"/>
                  <a:ext cx="857255" cy="1587"/>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graphicFrame>
              <p:nvGraphicFramePr>
                <p:cNvPr id="18" name="Object 17"/>
                <p:cNvGraphicFramePr>
                  <a:graphicFrameLocks noChangeAspect="1"/>
                </p:cNvGraphicFramePr>
                <p:nvPr/>
              </p:nvGraphicFramePr>
              <p:xfrm>
                <a:off x="1000118" y="904498"/>
                <a:ext cx="213360" cy="231140"/>
              </p:xfrm>
              <a:graphic>
                <a:graphicData uri="http://schemas.openxmlformats.org/presentationml/2006/ole">
                  <mc:AlternateContent xmlns:mc="http://schemas.openxmlformats.org/markup-compatibility/2006">
                    <mc:Choice xmlns:v="urn:schemas-microsoft-com:vml" Requires="v">
                      <p:oleObj spid="_x0000_s116277" r:id="rId9" imgW="153315" imgH="166064" progId="">
                        <p:embed/>
                      </p:oleObj>
                    </mc:Choice>
                    <mc:Fallback>
                      <p:oleObj r:id="rId9" imgW="153315" imgH="166064" progId="">
                        <p:embed/>
                        <p:pic>
                          <p:nvPicPr>
                            <p:cNvPr id="38929"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00118" y="904498"/>
                              <a:ext cx="21336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18"/>
                <p:cNvGraphicFramePr>
                  <a:graphicFrameLocks noChangeAspect="1"/>
                </p:cNvGraphicFramePr>
                <p:nvPr/>
              </p:nvGraphicFramePr>
              <p:xfrm>
                <a:off x="1357309" y="1714511"/>
                <a:ext cx="213360" cy="231140"/>
              </p:xfrm>
              <a:graphic>
                <a:graphicData uri="http://schemas.openxmlformats.org/presentationml/2006/ole">
                  <mc:AlternateContent xmlns:mc="http://schemas.openxmlformats.org/markup-compatibility/2006">
                    <mc:Choice xmlns:v="urn:schemas-microsoft-com:vml" Requires="v">
                      <p:oleObj spid="_x0000_s116278" r:id="rId11" imgW="153315" imgH="166064" progId="">
                        <p:embed/>
                      </p:oleObj>
                    </mc:Choice>
                    <mc:Fallback>
                      <p:oleObj r:id="rId11" imgW="153315" imgH="166064" progId="">
                        <p:embed/>
                        <p:pic>
                          <p:nvPicPr>
                            <p:cNvPr id="3893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57309" y="1714511"/>
                              <a:ext cx="213360" cy="2311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19"/>
                <p:cNvGraphicFramePr>
                  <a:graphicFrameLocks noChangeAspect="1"/>
                </p:cNvGraphicFramePr>
                <p:nvPr/>
              </p:nvGraphicFramePr>
              <p:xfrm>
                <a:off x="71425" y="1857387"/>
                <a:ext cx="231140" cy="266700"/>
              </p:xfrm>
              <a:graphic>
                <a:graphicData uri="http://schemas.openxmlformats.org/presentationml/2006/ole">
                  <mc:AlternateContent xmlns:mc="http://schemas.openxmlformats.org/markup-compatibility/2006">
                    <mc:Choice xmlns:v="urn:schemas-microsoft-com:vml" Requires="v">
                      <p:oleObj spid="_x0000_s116279" r:id="rId13" imgW="166064" imgH="191564" progId="">
                        <p:embed/>
                      </p:oleObj>
                    </mc:Choice>
                    <mc:Fallback>
                      <p:oleObj r:id="rId13" imgW="166064" imgH="191564" progId="">
                        <p:embed/>
                        <p:pic>
                          <p:nvPicPr>
                            <p:cNvPr id="38931"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425" y="1857387"/>
                              <a:ext cx="231140"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20"/>
                <p:cNvGraphicFramePr>
                  <a:graphicFrameLocks noChangeAspect="1"/>
                </p:cNvGraphicFramePr>
                <p:nvPr/>
              </p:nvGraphicFramePr>
              <p:xfrm>
                <a:off x="1142995" y="2928957"/>
                <a:ext cx="213360" cy="266700"/>
              </p:xfrm>
              <a:graphic>
                <a:graphicData uri="http://schemas.openxmlformats.org/presentationml/2006/ole">
                  <mc:AlternateContent xmlns:mc="http://schemas.openxmlformats.org/markup-compatibility/2006">
                    <mc:Choice xmlns:v="urn:schemas-microsoft-com:vml" Requires="v">
                      <p:oleObj spid="_x0000_s116280" r:id="rId15" imgW="153381" imgH="191647" progId="">
                        <p:embed/>
                      </p:oleObj>
                    </mc:Choice>
                    <mc:Fallback>
                      <p:oleObj r:id="rId15" imgW="153381" imgH="191647" progId="">
                        <p:embed/>
                        <p:pic>
                          <p:nvPicPr>
                            <p:cNvPr id="38932"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42995" y="2928957"/>
                              <a:ext cx="213360" cy="266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Object 21"/>
                <p:cNvGraphicFramePr>
                  <a:graphicFrameLocks noChangeAspect="1"/>
                </p:cNvGraphicFramePr>
                <p:nvPr/>
              </p:nvGraphicFramePr>
              <p:xfrm>
                <a:off x="1714499" y="2500329"/>
                <a:ext cx="266700" cy="320675"/>
              </p:xfrm>
              <a:graphic>
                <a:graphicData uri="http://schemas.openxmlformats.org/presentationml/2006/ole">
                  <mc:AlternateContent xmlns:mc="http://schemas.openxmlformats.org/markup-compatibility/2006">
                    <mc:Choice xmlns:v="urn:schemas-microsoft-com:vml" Requires="v">
                      <p:oleObj spid="_x0000_s116281" r:id="rId17" imgW="191481" imgH="229714" progId="">
                        <p:embed/>
                      </p:oleObj>
                    </mc:Choice>
                    <mc:Fallback>
                      <p:oleObj r:id="rId17" imgW="191481" imgH="229714" progId="">
                        <p:embed/>
                        <p:pic>
                          <p:nvPicPr>
                            <p:cNvPr id="38933"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14499" y="2500329"/>
                              <a:ext cx="2667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22"/>
                <p:cNvGraphicFramePr>
                  <a:graphicFrameLocks noChangeAspect="1"/>
                </p:cNvGraphicFramePr>
                <p:nvPr/>
              </p:nvGraphicFramePr>
              <p:xfrm>
                <a:off x="3429010" y="2143136"/>
                <a:ext cx="266700" cy="320040"/>
              </p:xfrm>
              <a:graphic>
                <a:graphicData uri="http://schemas.openxmlformats.org/presentationml/2006/ole">
                  <mc:AlternateContent xmlns:mc="http://schemas.openxmlformats.org/markup-compatibility/2006">
                    <mc:Choice xmlns:v="urn:schemas-microsoft-com:vml" Requires="v">
                      <p:oleObj spid="_x0000_s116282" r:id="rId19" imgW="191481" imgH="229714" progId="">
                        <p:embed/>
                      </p:oleObj>
                    </mc:Choice>
                    <mc:Fallback>
                      <p:oleObj r:id="rId19" imgW="191481" imgH="229714" progId="">
                        <p:embed/>
                        <p:pic>
                          <p:nvPicPr>
                            <p:cNvPr id="38934"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29010" y="2143136"/>
                              <a:ext cx="266700" cy="320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 name="Object 23"/>
                <p:cNvGraphicFramePr>
                  <a:graphicFrameLocks noChangeAspect="1"/>
                </p:cNvGraphicFramePr>
                <p:nvPr/>
              </p:nvGraphicFramePr>
              <p:xfrm>
                <a:off x="2786069" y="2500329"/>
                <a:ext cx="249238" cy="320675"/>
              </p:xfrm>
              <a:graphic>
                <a:graphicData uri="http://schemas.openxmlformats.org/presentationml/2006/ole">
                  <mc:AlternateContent xmlns:mc="http://schemas.openxmlformats.org/markup-compatibility/2006">
                    <mc:Choice xmlns:v="urn:schemas-microsoft-com:vml" Requires="v">
                      <p:oleObj spid="_x0000_s116283" r:id="rId21" imgW="178504" imgH="229414" progId="">
                        <p:embed/>
                      </p:oleObj>
                    </mc:Choice>
                    <mc:Fallback>
                      <p:oleObj r:id="rId21" imgW="178504" imgH="229414" progId="">
                        <p:embed/>
                        <p:pic>
                          <p:nvPicPr>
                            <p:cNvPr id="38935" name="Object 2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86069" y="2500329"/>
                              <a:ext cx="24923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cxnSp>
            <p:nvCxnSpPr>
              <p:cNvPr id="9" name="直接连接符 35"/>
              <p:cNvCxnSpPr>
                <a:cxnSpLocks noChangeShapeType="1"/>
              </p:cNvCxnSpPr>
              <p:nvPr/>
            </p:nvCxnSpPr>
            <p:spPr bwMode="auto">
              <a:xfrm rot="5400000">
                <a:off x="72231" y="1999451"/>
                <a:ext cx="1714499" cy="1587"/>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cxnSp>
            <p:nvCxnSpPr>
              <p:cNvPr id="10" name="直接连接符 37"/>
              <p:cNvCxnSpPr>
                <a:cxnSpLocks noChangeShapeType="1"/>
              </p:cNvCxnSpPr>
              <p:nvPr/>
            </p:nvCxnSpPr>
            <p:spPr bwMode="auto">
              <a:xfrm rot="10800000">
                <a:off x="357189" y="1143000"/>
                <a:ext cx="571502" cy="1588"/>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graphicFrame>
            <p:nvGraphicFramePr>
              <p:cNvPr id="11" name="Object 26"/>
              <p:cNvGraphicFramePr>
                <a:graphicFrameLocks noChangeAspect="1"/>
              </p:cNvGraphicFramePr>
              <p:nvPr/>
            </p:nvGraphicFramePr>
            <p:xfrm>
              <a:off x="0" y="1000128"/>
              <a:ext cx="266700" cy="320675"/>
            </p:xfrm>
            <a:graphic>
              <a:graphicData uri="http://schemas.openxmlformats.org/presentationml/2006/ole">
                <mc:AlternateContent xmlns:mc="http://schemas.openxmlformats.org/markup-compatibility/2006">
                  <mc:Choice xmlns:v="urn:schemas-microsoft-com:vml" Requires="v">
                    <p:oleObj spid="_x0000_s116284" r:id="rId23" imgW="191481" imgH="229714" progId="">
                      <p:embed/>
                    </p:oleObj>
                  </mc:Choice>
                  <mc:Fallback>
                    <p:oleObj r:id="rId23" imgW="191481" imgH="229714" progId="">
                      <p:embed/>
                      <p:pic>
                        <p:nvPicPr>
                          <p:cNvPr id="38938" name="Object 2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0" y="1000128"/>
                            <a:ext cx="2667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27"/>
              <p:cNvGraphicFramePr>
                <a:graphicFrameLocks noChangeAspect="1"/>
              </p:cNvGraphicFramePr>
              <p:nvPr/>
            </p:nvGraphicFramePr>
            <p:xfrm>
              <a:off x="714387" y="2928937"/>
              <a:ext cx="231775" cy="320675"/>
            </p:xfrm>
            <a:graphic>
              <a:graphicData uri="http://schemas.openxmlformats.org/presentationml/2006/ole">
                <mc:AlternateContent xmlns:mc="http://schemas.openxmlformats.org/markup-compatibility/2006">
                  <mc:Choice xmlns:v="urn:schemas-microsoft-com:vml" Requires="v">
                    <p:oleObj spid="_x0000_s116285" r:id="rId25" imgW="165848" imgH="229514" progId="">
                      <p:embed/>
                    </p:oleObj>
                  </mc:Choice>
                  <mc:Fallback>
                    <p:oleObj r:id="rId25" imgW="165848" imgH="229514" progId="">
                      <p:embed/>
                      <p:pic>
                        <p:nvPicPr>
                          <p:cNvPr id="38939" name="Object 2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714387" y="2928937"/>
                            <a:ext cx="2317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mc:AlternateContent xmlns:mc="http://schemas.openxmlformats.org/markup-compatibility/2006" xmlns:a14="http://schemas.microsoft.com/office/drawing/2010/main">
        <mc:Choice Requires="a14">
          <p:sp>
            <p:nvSpPr>
              <p:cNvPr id="30" name="矩形 29"/>
              <p:cNvSpPr/>
              <p:nvPr/>
            </p:nvSpPr>
            <p:spPr>
              <a:xfrm>
                <a:off x="3852262" y="2108835"/>
                <a:ext cx="3511531" cy="369332"/>
              </a:xfrm>
              <a:prstGeom prst="rect">
                <a:avLst/>
              </a:prstGeom>
              <a:noFill/>
            </p:spPr>
            <p:txBody>
              <a:bodyPr wrap="square">
                <a:spAutoFit/>
              </a:bodyPr>
              <a:lstStyle/>
              <a:p>
                <a:pPr marL="285750" indent="-285750">
                  <a:buFont typeface="Wingdings" panose="05000000000000000000" pitchFamily="2" charset="2"/>
                  <a:buChar char="Ø"/>
                </a:pPr>
                <a:r>
                  <a:rPr lang="en-US" dirty="0">
                    <a:solidFill>
                      <a:schemeClr val="tx1"/>
                    </a:solidFill>
                    <a:latin typeface="微软雅黑" panose="020B0503020204020204" pitchFamily="34" charset="-122"/>
                    <a:ea typeface="微软雅黑" panose="020B0503020204020204" pitchFamily="34" charset="-122"/>
                  </a:rPr>
                  <a:t>处在既定的等产量线</a:t>
                </a:r>
                <a14:m>
                  <m:oMath xmlns:m="http://schemas.openxmlformats.org/officeDocument/2006/math">
                    <m:sSub>
                      <m:sSubPr>
                        <m:ctrlPr>
                          <a:rPr lang="zh-CN" altLang="en-US"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𝑄</m:t>
                        </m:r>
                      </m:e>
                      <m:sub>
                        <m:r>
                          <a:rPr lang="en-US" altLang="zh-CN" i="1" smtClean="0">
                            <a:solidFill>
                              <a:schemeClr val="tx1"/>
                            </a:solidFill>
                            <a:latin typeface="Cambria Math" panose="02040503050406030204" pitchFamily="18" charset="0"/>
                          </a:rPr>
                          <m:t>0</m:t>
                        </m:r>
                      </m:sub>
                    </m:sSub>
                  </m:oMath>
                </a14:m>
                <a:r>
                  <a:rPr lang="en-US" dirty="0">
                    <a:solidFill>
                      <a:schemeClr val="tx1"/>
                    </a:solidFill>
                    <a:latin typeface="微软雅黑" panose="020B0503020204020204" pitchFamily="34" charset="-122"/>
                    <a:ea typeface="微软雅黑" panose="020B0503020204020204" pitchFamily="34" charset="-122"/>
                  </a:rPr>
                  <a:t>上</a:t>
                </a:r>
              </a:p>
            </p:txBody>
          </p:sp>
        </mc:Choice>
        <mc:Fallback xmlns="">
          <p:sp>
            <p:nvSpPr>
              <p:cNvPr id="30" name="矩形 29"/>
              <p:cNvSpPr>
                <a:spLocks noRot="1" noChangeAspect="1" noMove="1" noResize="1" noEditPoints="1" noAdjustHandles="1" noChangeArrowheads="1" noChangeShapeType="1" noTextEdit="1"/>
              </p:cNvSpPr>
              <p:nvPr/>
            </p:nvSpPr>
            <p:spPr>
              <a:xfrm>
                <a:off x="3852262" y="2108835"/>
                <a:ext cx="3511531" cy="369332"/>
              </a:xfrm>
              <a:prstGeom prst="rect">
                <a:avLst/>
              </a:prstGeom>
              <a:blipFill>
                <a:blip r:embed="rId27"/>
                <a:stretch>
                  <a:fillRect l="-1215" t="-9836" b="-24590"/>
                </a:stretch>
              </a:blipFill>
            </p:spPr>
            <p:txBody>
              <a:bodyPr/>
              <a:lstStyle/>
              <a:p>
                <a:r>
                  <a:rPr lang="zh-CN" altLang="en-US">
                    <a:noFill/>
                  </a:rPr>
                  <a:t> </a:t>
                </a:r>
              </a:p>
            </p:txBody>
          </p:sp>
        </mc:Fallback>
      </mc:AlternateContent>
      <p:sp>
        <p:nvSpPr>
          <p:cNvPr id="31" name="矩形 30"/>
          <p:cNvSpPr/>
          <p:nvPr/>
        </p:nvSpPr>
        <p:spPr>
          <a:xfrm>
            <a:off x="5436305" y="3655382"/>
            <a:ext cx="2664087" cy="369332"/>
          </a:xfrm>
          <a:prstGeom prst="rect">
            <a:avLst/>
          </a:prstGeom>
          <a:noFill/>
        </p:spPr>
        <p:txBody>
          <a:bodyPr wrap="square">
            <a:spAutoFit/>
          </a:bodyPr>
          <a:lstStyle/>
          <a:p>
            <a:pPr marL="285750" indent="-285750">
              <a:buFont typeface="Wingdings" panose="05000000000000000000" pitchFamily="2" charset="2"/>
              <a:buChar char="Ø"/>
            </a:pPr>
            <a:r>
              <a:rPr lang="en-US" dirty="0" err="1">
                <a:latin typeface="微软雅黑" panose="020B0503020204020204" pitchFamily="34" charset="-122"/>
                <a:ea typeface="微软雅黑" panose="020B0503020204020204" pitchFamily="34" charset="-122"/>
              </a:rPr>
              <a:t>切点E点符合条件</a:t>
            </a:r>
            <a:endParaRPr lang="en-US"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4" name="文本框 33"/>
              <p:cNvSpPr txBox="1"/>
              <p:nvPr/>
            </p:nvSpPr>
            <p:spPr>
              <a:xfrm>
                <a:off x="5861352" y="5038711"/>
                <a:ext cx="2436108" cy="98257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sz="2000" i="1" smtClean="0">
                              <a:solidFill>
                                <a:schemeClr val="tx1"/>
                              </a:solidFill>
                              <a:latin typeface="Cambria Math" panose="02040503050406030204" pitchFamily="18" charset="0"/>
                            </a:rPr>
                          </m:ctrlPr>
                        </m:dPr>
                        <m:e>
                          <m:m>
                            <m:mPr>
                              <m:mcs>
                                <m:mc>
                                  <m:mcPr>
                                    <m:count m:val="1"/>
                                    <m:mcJc m:val="center"/>
                                  </m:mcPr>
                                </m:mc>
                              </m:mcs>
                              <m:ctrlPr>
                                <a:rPr lang="en-US" sz="2000" i="1" smtClean="0">
                                  <a:solidFill>
                                    <a:schemeClr val="tx1"/>
                                  </a:solidFill>
                                  <a:latin typeface="Cambria Math" panose="02040503050406030204" pitchFamily="18" charset="0"/>
                                </a:rPr>
                              </m:ctrlPr>
                            </m:mPr>
                            <m:mr>
                              <m:e>
                                <m:r>
                                  <a:rPr lang="en-US" sz="2000" b="0" i="1" smtClean="0">
                                    <a:solidFill>
                                      <a:schemeClr val="tx1"/>
                                    </a:solidFill>
                                    <a:latin typeface="Cambria Math" panose="02040503050406030204" pitchFamily="18" charset="0"/>
                                  </a:rPr>
                                  <m:t>𝑀</m:t>
                                </m:r>
                                <m:r>
                                  <a:rPr lang="en-US" sz="2000" i="1" smtClean="0">
                                    <a:solidFill>
                                      <a:schemeClr val="tx1"/>
                                    </a:solidFill>
                                    <a:latin typeface="Cambria Math" panose="02040503050406030204" pitchFamily="18" charset="0"/>
                                  </a:rPr>
                                  <m:t>𝑅𝑇</m:t>
                                </m:r>
                                <m:sSub>
                                  <m:sSubPr>
                                    <m:ctrlPr>
                                      <a:rPr lang="en-US" sz="2000" i="1" smtClean="0">
                                        <a:solidFill>
                                          <a:schemeClr val="tx1"/>
                                        </a:solidFill>
                                        <a:latin typeface="Cambria Math" panose="02040503050406030204" pitchFamily="18" charset="0"/>
                                      </a:rPr>
                                    </m:ctrlPr>
                                  </m:sSubPr>
                                  <m:e>
                                    <m:r>
                                      <a:rPr lang="en-US" sz="2000" b="0" i="1" smtClean="0">
                                        <a:solidFill>
                                          <a:schemeClr val="tx1"/>
                                        </a:solidFill>
                                        <a:latin typeface="Cambria Math" panose="02040503050406030204" pitchFamily="18" charset="0"/>
                                      </a:rPr>
                                      <m:t>𝑆</m:t>
                                    </m:r>
                                  </m:e>
                                  <m:sub>
                                    <m:r>
                                      <a:rPr lang="en-US" sz="2000" i="1" smtClean="0">
                                        <a:solidFill>
                                          <a:schemeClr val="tx1"/>
                                        </a:solidFill>
                                        <a:latin typeface="Cambria Math" panose="02040503050406030204" pitchFamily="18" charset="0"/>
                                      </a:rPr>
                                      <m:t>𝐿</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𝐾</m:t>
                                    </m:r>
                                  </m:sub>
                                </m:sSub>
                                <m:r>
                                  <a:rPr lang="en-US" sz="2000" i="1" smtClean="0">
                                    <a:solidFill>
                                      <a:schemeClr val="tx1"/>
                                    </a:solidFill>
                                    <a:latin typeface="Cambria Math" panose="02040503050406030204" pitchFamily="18" charset="0"/>
                                  </a:rPr>
                                  <m:t>=</m:t>
                                </m:r>
                                <m:f>
                                  <m:fPr>
                                    <m:ctrlPr>
                                      <a:rPr lang="en-US" sz="2000" i="1" smtClean="0">
                                        <a:solidFill>
                                          <a:schemeClr val="tx1"/>
                                        </a:solidFill>
                                        <a:latin typeface="Cambria Math" panose="02040503050406030204" pitchFamily="18" charset="0"/>
                                      </a:rPr>
                                    </m:ctrlPr>
                                  </m:fPr>
                                  <m:num>
                                    <m:r>
                                      <a:rPr lang="en-US" sz="2000" i="1" smtClean="0">
                                        <a:solidFill>
                                          <a:schemeClr val="tx1"/>
                                        </a:solidFill>
                                        <a:latin typeface="Cambria Math" panose="02040503050406030204" pitchFamily="18" charset="0"/>
                                      </a:rPr>
                                      <m:t>𝑤</m:t>
                                    </m:r>
                                  </m:num>
                                  <m:den>
                                    <m:r>
                                      <a:rPr lang="en-US" sz="2000" i="1" smtClean="0">
                                        <a:solidFill>
                                          <a:schemeClr val="tx1"/>
                                        </a:solidFill>
                                        <a:latin typeface="Cambria Math" panose="02040503050406030204" pitchFamily="18" charset="0"/>
                                      </a:rPr>
                                      <m:t>𝑟</m:t>
                                    </m:r>
                                  </m:den>
                                </m:f>
                              </m:e>
                            </m:mr>
                            <m:mr>
                              <m:e>
                                <m:r>
                                  <a:rPr lang="en-US" sz="2000" b="0" i="1" smtClean="0">
                                    <a:solidFill>
                                      <a:schemeClr val="tx1"/>
                                    </a:solidFill>
                                    <a:latin typeface="Cambria Math" panose="02040503050406030204" pitchFamily="18" charset="0"/>
                                  </a:rPr>
                                  <m:t>𝑓</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𝐿</m:t>
                                </m:r>
                                <m:r>
                                  <a:rPr lang="en-US" sz="2000" b="0" i="1" smtClean="0">
                                    <a:solidFill>
                                      <a:schemeClr val="tx1"/>
                                    </a:solidFill>
                                    <a:latin typeface="Cambria Math" panose="02040503050406030204" pitchFamily="18" charset="0"/>
                                  </a:rPr>
                                  <m:t>,</m:t>
                                </m:r>
                                <m:r>
                                  <a:rPr lang="en-US" sz="2000" b="0" i="1" smtClean="0">
                                    <a:solidFill>
                                      <a:schemeClr val="tx1"/>
                                    </a:solidFill>
                                    <a:latin typeface="Cambria Math" panose="02040503050406030204" pitchFamily="18" charset="0"/>
                                  </a:rPr>
                                  <m:t>𝐾</m:t>
                                </m:r>
                                <m:r>
                                  <a:rPr lang="en-US" sz="2000" b="0" i="1" smtClean="0">
                                    <a:solidFill>
                                      <a:schemeClr val="tx1"/>
                                    </a:solidFill>
                                    <a:latin typeface="Cambria Math" panose="02040503050406030204" pitchFamily="18" charset="0"/>
                                  </a:rPr>
                                  <m:t>)=</m:t>
                                </m:r>
                                <m:sSub>
                                  <m:sSubPr>
                                    <m:ctrlPr>
                                      <a:rPr lang="zh-CN" altLang="en-US" sz="2000" i="1">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𝑄</m:t>
                                    </m:r>
                                  </m:e>
                                  <m:sub>
                                    <m:r>
                                      <a:rPr lang="en-US" altLang="zh-CN" sz="2000" b="0" i="1" smtClean="0">
                                        <a:solidFill>
                                          <a:schemeClr val="tx1"/>
                                        </a:solidFill>
                                        <a:latin typeface="Cambria Math" panose="02040503050406030204" pitchFamily="18" charset="0"/>
                                      </a:rPr>
                                      <m:t>0</m:t>
                                    </m:r>
                                  </m:sub>
                                </m:sSub>
                              </m:e>
                            </m:mr>
                          </m:m>
                        </m:e>
                      </m:d>
                    </m:oMath>
                  </m:oMathPara>
                </a14:m>
                <a:endParaRPr lang="en-US" sz="2000" dirty="0">
                  <a:solidFill>
                    <a:schemeClr val="tx1"/>
                  </a:solidFill>
                </a:endParaRPr>
              </a:p>
            </p:txBody>
          </p:sp>
        </mc:Choice>
        <mc:Fallback xmlns="">
          <p:sp>
            <p:nvSpPr>
              <p:cNvPr id="34" name="文本框 33"/>
              <p:cNvSpPr txBox="1">
                <a:spLocks noRot="1" noChangeAspect="1" noMove="1" noResize="1" noEditPoints="1" noAdjustHandles="1" noChangeArrowheads="1" noChangeShapeType="1" noTextEdit="1"/>
              </p:cNvSpPr>
              <p:nvPr/>
            </p:nvSpPr>
            <p:spPr>
              <a:xfrm>
                <a:off x="5861352" y="5038711"/>
                <a:ext cx="2436108" cy="982577"/>
              </a:xfrm>
              <a:prstGeom prst="rect">
                <a:avLst/>
              </a:prstGeom>
              <a:blipFill>
                <a:blip r:embed="rId28"/>
                <a:stretch>
                  <a:fillRect/>
                </a:stretch>
              </a:blipFill>
            </p:spPr>
            <p:txBody>
              <a:bodyPr/>
              <a:lstStyle/>
              <a:p>
                <a:r>
                  <a:rPr lang="zh-CN" altLang="en-US">
                    <a:noFill/>
                  </a:rPr>
                  <a:t> </a:t>
                </a:r>
              </a:p>
            </p:txBody>
          </p:sp>
        </mc:Fallback>
      </mc:AlternateContent>
      <p:sp>
        <p:nvSpPr>
          <p:cNvPr id="35" name="下箭头 34"/>
          <p:cNvSpPr/>
          <p:nvPr/>
        </p:nvSpPr>
        <p:spPr bwMode="auto">
          <a:xfrm>
            <a:off x="6012160" y="2944425"/>
            <a:ext cx="259209" cy="562099"/>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effectLst/>
              <a:latin typeface="Arial" panose="020B0604020202020204" pitchFamily="34" charset="0"/>
              <a:ea typeface="宋体" panose="02010600030101010101" pitchFamily="2" charset="-122"/>
            </a:endParaRPr>
          </a:p>
        </p:txBody>
      </p:sp>
      <p:sp>
        <p:nvSpPr>
          <p:cNvPr id="36" name="下箭头 35"/>
          <p:cNvSpPr/>
          <p:nvPr/>
        </p:nvSpPr>
        <p:spPr bwMode="auto">
          <a:xfrm>
            <a:off x="7046543" y="4508650"/>
            <a:ext cx="259209" cy="562099"/>
          </a:xfrm>
          <a:prstGeom prst="down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effectLst/>
              <a:latin typeface="Arial" panose="020B0604020202020204" pitchFamily="34" charset="0"/>
              <a:ea typeface="宋体" panose="02010600030101010101" pitchFamily="2" charset="-122"/>
            </a:endParaRPr>
          </a:p>
        </p:txBody>
      </p:sp>
      <p:sp>
        <p:nvSpPr>
          <p:cNvPr id="2" name="矩形 1">
            <a:extLst>
              <a:ext uri="{FF2B5EF4-FFF2-40B4-BE49-F238E27FC236}">
                <a16:creationId xmlns:a16="http://schemas.microsoft.com/office/drawing/2014/main" id="{B5891E52-543C-482D-A69E-DD61DC955282}"/>
              </a:ext>
            </a:extLst>
          </p:cNvPr>
          <p:cNvSpPr/>
          <p:nvPr/>
        </p:nvSpPr>
        <p:spPr>
          <a:xfrm>
            <a:off x="3852262" y="2528793"/>
            <a:ext cx="3511531" cy="369332"/>
          </a:xfrm>
          <a:prstGeom prst="rect">
            <a:avLst/>
          </a:prstGeom>
          <a:noFill/>
        </p:spPr>
        <p:txBody>
          <a:bodyPr wrap="square">
            <a:spAutoFit/>
          </a:bodyPr>
          <a:lstStyle/>
          <a:p>
            <a:pPr marL="285750" indent="-285750">
              <a:buFont typeface="Wingdings" panose="05000000000000000000" pitchFamily="2" charset="2"/>
              <a:buChar char="Ø"/>
            </a:pPr>
            <a:r>
              <a:rPr lang="en-US" altLang="zh-CN" dirty="0" err="1">
                <a:latin typeface="微软雅黑" panose="020B0503020204020204" pitchFamily="34" charset="-122"/>
                <a:ea typeface="微软雅黑" panose="020B0503020204020204" pitchFamily="34" charset="-122"/>
              </a:rPr>
              <a:t>等成本线尽可能靠近</a:t>
            </a:r>
            <a:r>
              <a:rPr lang="zh-CN" altLang="en-US" dirty="0">
                <a:latin typeface="微软雅黑" panose="020B0503020204020204" pitchFamily="34" charset="-122"/>
                <a:ea typeface="微软雅黑" panose="020B0503020204020204" pitchFamily="34" charset="-122"/>
              </a:rPr>
              <a:t>原点</a:t>
            </a:r>
            <a:endParaRPr lang="en-US" altLang="zh-CN"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32" name="矩形 31">
                <a:extLst>
                  <a:ext uri="{FF2B5EF4-FFF2-40B4-BE49-F238E27FC236}">
                    <a16:creationId xmlns:a16="http://schemas.microsoft.com/office/drawing/2014/main" id="{AA42CC33-E20D-44EF-B487-310CB28E8B3C}"/>
                  </a:ext>
                </a:extLst>
              </p:cNvPr>
              <p:cNvSpPr/>
              <p:nvPr/>
            </p:nvSpPr>
            <p:spPr>
              <a:xfrm>
                <a:off x="5436305" y="4094499"/>
                <a:ext cx="2664087" cy="369332"/>
              </a:xfrm>
              <a:prstGeom prst="rect">
                <a:avLst/>
              </a:prstGeom>
              <a:noFill/>
            </p:spPr>
            <p:txBody>
              <a:bodyPr wrap="square">
                <a:spAutoFit/>
              </a:bodyPr>
              <a:lstStyle/>
              <a:p>
                <a:pPr marL="285750" indent="-285750">
                  <a:buFont typeface="Wingdings" panose="05000000000000000000" pitchFamily="2" charset="2"/>
                  <a:buChar char="Ø"/>
                </a:pPr>
                <a:r>
                  <a:rPr lang="en-US" altLang="zh-CN" dirty="0">
                    <a:solidFill>
                      <a:schemeClr val="tx1"/>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dirty="0">
                    <a:solidFill>
                      <a:schemeClr val="tx1"/>
                    </a:solidFill>
                    <a:latin typeface="微软雅黑" panose="020B0503020204020204" pitchFamily="34" charset="-122"/>
                    <a:ea typeface="微软雅黑" panose="020B0503020204020204" pitchFamily="34" charset="-122"/>
                  </a:rPr>
                  <a:t> (</a:t>
                </a:r>
                <a14:m>
                  <m:oMath xmlns:m="http://schemas.openxmlformats.org/officeDocument/2006/math">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𝐾</m:t>
                        </m:r>
                        <m:r>
                          <a:rPr lang="en-US" altLang="zh-CN" i="1">
                            <a:solidFill>
                              <a:schemeClr val="tx1"/>
                            </a:solidFill>
                            <a:latin typeface="Cambria Math" panose="02040503050406030204" pitchFamily="18" charset="0"/>
                          </a:rPr>
                          <m:t>,</m:t>
                        </m:r>
                      </m:e>
                    </m:acc>
                    <m:acc>
                      <m:accPr>
                        <m:chr m:val="̅"/>
                        <m:ctrlPr>
                          <a:rPr lang="en-US" altLang="zh-CN" i="1">
                            <a:solidFill>
                              <a:schemeClr val="tx1"/>
                            </a:solidFill>
                            <a:latin typeface="Cambria Math" panose="02040503050406030204" pitchFamily="18" charset="0"/>
                          </a:rPr>
                        </m:ctrlPr>
                      </m:accPr>
                      <m:e>
                        <m:r>
                          <a:rPr lang="en-US" altLang="zh-CN" i="1">
                            <a:solidFill>
                              <a:schemeClr val="tx1"/>
                            </a:solidFill>
                            <a:latin typeface="Cambria Math" panose="02040503050406030204" pitchFamily="18" charset="0"/>
                          </a:rPr>
                          <m:t>𝐿</m:t>
                        </m:r>
                      </m:e>
                    </m:acc>
                  </m:oMath>
                </a14:m>
                <a:r>
                  <a:rPr lang="en-US" altLang="zh-CN" dirty="0">
                    <a:solidFill>
                      <a:schemeClr val="tx1"/>
                    </a:solidFill>
                    <a:latin typeface="微软雅黑" panose="020B0503020204020204" pitchFamily="34" charset="-122"/>
                    <a:ea typeface="微软雅黑" panose="020B0503020204020204" pitchFamily="34" charset="-122"/>
                  </a:rPr>
                  <a:t>) </a:t>
                </a:r>
                <a:r>
                  <a:rPr lang="en-US" altLang="zh-CN" dirty="0" err="1">
                    <a:solidFill>
                      <a:schemeClr val="tx1"/>
                    </a:solidFill>
                    <a:latin typeface="微软雅黑" panose="020B0503020204020204" pitchFamily="34" charset="-122"/>
                    <a:ea typeface="微软雅黑" panose="020B0503020204020204" pitchFamily="34" charset="-122"/>
                  </a:rPr>
                  <a:t>为最优组合</a:t>
                </a:r>
                <a:endParaRPr lang="en-US" altLang="zh-CN"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2" name="矩形 31">
                <a:extLst>
                  <a:ext uri="{FF2B5EF4-FFF2-40B4-BE49-F238E27FC236}">
                    <a16:creationId xmlns:a16="http://schemas.microsoft.com/office/drawing/2014/main" id="{AA42CC33-E20D-44EF-B487-310CB28E8B3C}"/>
                  </a:ext>
                </a:extLst>
              </p:cNvPr>
              <p:cNvSpPr>
                <a:spLocks noRot="1" noChangeAspect="1" noMove="1" noResize="1" noEditPoints="1" noAdjustHandles="1" noChangeArrowheads="1" noChangeShapeType="1" noTextEdit="1"/>
              </p:cNvSpPr>
              <p:nvPr/>
            </p:nvSpPr>
            <p:spPr>
              <a:xfrm>
                <a:off x="5436305" y="4094499"/>
                <a:ext cx="2664087" cy="369332"/>
              </a:xfrm>
              <a:prstGeom prst="rect">
                <a:avLst/>
              </a:prstGeom>
              <a:blipFill>
                <a:blip r:embed="rId29"/>
                <a:stretch>
                  <a:fillRect l="-1602" t="-10000" b="-26667"/>
                </a:stretch>
              </a:blipFill>
            </p:spPr>
            <p:txBody>
              <a:bodyPr/>
              <a:lstStyle/>
              <a:p>
                <a:r>
                  <a:rPr lang="zh-CN" altLang="en-US">
                    <a:noFill/>
                  </a:rPr>
                  <a:t> </a:t>
                </a:r>
              </a:p>
            </p:txBody>
          </p:sp>
        </mc:Fallback>
      </mc:AlternateContent>
      <p:sp>
        <p:nvSpPr>
          <p:cNvPr id="37" name="矩形 36">
            <a:extLst>
              <a:ext uri="{FF2B5EF4-FFF2-40B4-BE49-F238E27FC236}">
                <a16:creationId xmlns:a16="http://schemas.microsoft.com/office/drawing/2014/main" id="{CF899071-E1FB-4CAD-8B9C-D2BCC79B0405}"/>
              </a:ext>
            </a:extLst>
          </p:cNvPr>
          <p:cNvSpPr/>
          <p:nvPr/>
        </p:nvSpPr>
        <p:spPr>
          <a:xfrm>
            <a:off x="580922" y="520573"/>
            <a:ext cx="355903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四、生产要素最优组合</a:t>
            </a:r>
          </a:p>
        </p:txBody>
      </p:sp>
      <p:sp>
        <p:nvSpPr>
          <p:cNvPr id="33" name="线形标注 1 32"/>
          <p:cNvSpPr/>
          <p:nvPr/>
        </p:nvSpPr>
        <p:spPr bwMode="auto">
          <a:xfrm>
            <a:off x="8314968" y="5805264"/>
            <a:ext cx="936104" cy="908721"/>
          </a:xfrm>
          <a:prstGeom prst="borderCallout1">
            <a:avLst>
              <a:gd name="adj1" fmla="val 46193"/>
              <a:gd name="adj2" fmla="val -1229"/>
              <a:gd name="adj3" fmla="val 2074"/>
              <a:gd name="adj4" fmla="val -5052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注意这个条件不同了</a:t>
            </a:r>
          </a:p>
        </p:txBody>
      </p:sp>
    </p:spTree>
    <p:extLst>
      <p:ext uri="{BB962C8B-B14F-4D97-AF65-F5344CB8AC3E}">
        <p14:creationId xmlns:p14="http://schemas.microsoft.com/office/powerpoint/2010/main" val="38630582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fltVal val="0"/>
                                          </p:val>
                                        </p:tav>
                                        <p:tav tm="100000">
                                          <p:val>
                                            <p:strVal val="#ppt_h"/>
                                          </p:val>
                                        </p:tav>
                                      </p:tavLst>
                                    </p:anim>
                                    <p:animEffect transition="in" filter="fade">
                                      <p:cBhvr>
                                        <p:cTn id="9" dur="500"/>
                                        <p:tgtEl>
                                          <p:spTgt spid="3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8"/>
                                        </p:tgtEl>
                                        <p:attrNameLst>
                                          <p:attrName>style.visibility</p:attrName>
                                        </p:attrNameLst>
                                      </p:cBhvr>
                                      <p:to>
                                        <p:strVal val="visible"/>
                                      </p:to>
                                    </p:set>
                                    <p:anim calcmode="lin" valueType="num">
                                      <p:cBhvr>
                                        <p:cTn id="14" dur="500" fill="hold"/>
                                        <p:tgtEl>
                                          <p:spTgt spid="38"/>
                                        </p:tgtEl>
                                        <p:attrNameLst>
                                          <p:attrName>ppt_w</p:attrName>
                                        </p:attrNameLst>
                                      </p:cBhvr>
                                      <p:tavLst>
                                        <p:tav tm="0">
                                          <p:val>
                                            <p:fltVal val="0"/>
                                          </p:val>
                                        </p:tav>
                                        <p:tav tm="100000">
                                          <p:val>
                                            <p:strVal val="#ppt_w"/>
                                          </p:val>
                                        </p:tav>
                                      </p:tavLst>
                                    </p:anim>
                                    <p:anim calcmode="lin" valueType="num">
                                      <p:cBhvr>
                                        <p:cTn id="15" dur="500" fill="hold"/>
                                        <p:tgtEl>
                                          <p:spTgt spid="38"/>
                                        </p:tgtEl>
                                        <p:attrNameLst>
                                          <p:attrName>ppt_h</p:attrName>
                                        </p:attrNameLst>
                                      </p:cBhvr>
                                      <p:tavLst>
                                        <p:tav tm="0">
                                          <p:val>
                                            <p:fltVal val="0"/>
                                          </p:val>
                                        </p:tav>
                                        <p:tav tm="100000">
                                          <p:val>
                                            <p:strVal val="#ppt_h"/>
                                          </p:val>
                                        </p:tav>
                                      </p:tavLst>
                                    </p:anim>
                                    <p:animEffect transition="in" filter="fade">
                                      <p:cBhvr>
                                        <p:cTn id="16" dur="500"/>
                                        <p:tgtEl>
                                          <p:spTgt spid="38"/>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37" fill="hold" grpId="0"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barn(outVertical)">
                                      <p:cBhvr>
                                        <p:cTn id="26" dur="5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heel(4)">
                                      <p:cBhvr>
                                        <p:cTn id="31" dur="10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wipe(down)">
                                      <p:cBhvr>
                                        <p:cTn id="36" dur="500"/>
                                        <p:tgtEl>
                                          <p:spTgt spid="3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wipe(down)">
                                      <p:cBhvr>
                                        <p:cTn id="41" dur="5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35"/>
                                        </p:tgtEl>
                                        <p:attrNameLst>
                                          <p:attrName>style.visibility</p:attrName>
                                        </p:attrNameLst>
                                      </p:cBhvr>
                                      <p:to>
                                        <p:strVal val="visible"/>
                                      </p:to>
                                    </p:set>
                                    <p:animEffect transition="in" filter="wipe(up)">
                                      <p:cBhvr>
                                        <p:cTn id="46" dur="500"/>
                                        <p:tgtEl>
                                          <p:spTgt spid="3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31"/>
                                        </p:tgtEl>
                                        <p:attrNameLst>
                                          <p:attrName>style.visibility</p:attrName>
                                        </p:attrNameLst>
                                      </p:cBhvr>
                                      <p:to>
                                        <p:strVal val="visible"/>
                                      </p:to>
                                    </p:set>
                                    <p:animEffect transition="in" filter="wipe(down)">
                                      <p:cBhvr>
                                        <p:cTn id="51" dur="500"/>
                                        <p:tgtEl>
                                          <p:spTgt spid="31"/>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32"/>
                                        </p:tgtEl>
                                        <p:attrNameLst>
                                          <p:attrName>style.visibility</p:attrName>
                                        </p:attrNameLst>
                                      </p:cBhvr>
                                      <p:to>
                                        <p:strVal val="visible"/>
                                      </p:to>
                                    </p:set>
                                    <p:animEffect transition="in" filter="wipe(down)">
                                      <p:cBhvr>
                                        <p:cTn id="56" dur="500"/>
                                        <p:tgtEl>
                                          <p:spTgt spid="32"/>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1" fill="hold" grpId="0" nodeType="clickEffect">
                                  <p:stCondLst>
                                    <p:cond delay="0"/>
                                  </p:stCondLst>
                                  <p:childTnLst>
                                    <p:set>
                                      <p:cBhvr>
                                        <p:cTn id="60" dur="1" fill="hold">
                                          <p:stCondLst>
                                            <p:cond delay="0"/>
                                          </p:stCondLst>
                                        </p:cTn>
                                        <p:tgtEl>
                                          <p:spTgt spid="36"/>
                                        </p:tgtEl>
                                        <p:attrNameLst>
                                          <p:attrName>style.visibility</p:attrName>
                                        </p:attrNameLst>
                                      </p:cBhvr>
                                      <p:to>
                                        <p:strVal val="visible"/>
                                      </p:to>
                                    </p:set>
                                    <p:animEffect transition="in" filter="wipe(up)">
                                      <p:cBhvr>
                                        <p:cTn id="6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 grpId="0"/>
      <p:bldP spid="30" grpId="0"/>
      <p:bldP spid="31" grpId="0"/>
      <p:bldP spid="34" grpId="0"/>
      <p:bldP spid="35" grpId="0" animBg="1"/>
      <p:bldP spid="36" grpId="0" animBg="1"/>
      <p:bldP spid="2" grpId="0"/>
      <p:bldP spid="32" grpId="0"/>
      <p:bldP spid="3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圆角 23">
            <a:extLst>
              <a:ext uri="{FF2B5EF4-FFF2-40B4-BE49-F238E27FC236}">
                <a16:creationId xmlns:a16="http://schemas.microsoft.com/office/drawing/2014/main" id="{FD5BBF94-82D8-4D53-A8AC-1D8BFEBCCECF}"/>
              </a:ext>
            </a:extLst>
          </p:cNvPr>
          <p:cNvSpPr/>
          <p:nvPr/>
        </p:nvSpPr>
        <p:spPr>
          <a:xfrm>
            <a:off x="1099360" y="1253235"/>
            <a:ext cx="6496976" cy="95654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Freeform 36" descr="e7d195523061f1c0f55f9af68525816972d868573ada39bc763F3977967589A5F92C178830C92595A6CE4D0132F8C206B2B04C416AAA86B7FD80AB023F78DAEB544E2F013E11B2B95AD21703D1C90034A379EC9026EFAAF5D8D3F6EDD7215B01F6CA9944DC1B7CBBDAA69CBEB3E97B6961AD0B84AF64FBDEE7BFD789234F86D611D00A1237AD43ED849A958CA111FA04">
            <a:extLst>
              <a:ext uri="{FF2B5EF4-FFF2-40B4-BE49-F238E27FC236}">
                <a16:creationId xmlns:a16="http://schemas.microsoft.com/office/drawing/2014/main" id="{11AB159E-3413-4949-A20E-4DE0C6188C73}"/>
              </a:ext>
            </a:extLst>
          </p:cNvPr>
          <p:cNvSpPr/>
          <p:nvPr/>
        </p:nvSpPr>
        <p:spPr>
          <a:xfrm>
            <a:off x="888972" y="4563650"/>
            <a:ext cx="7454944" cy="457609"/>
          </a:xfrm>
          <a:custGeom>
            <a:avLst/>
            <a:gdLst>
              <a:gd name="connsiteX0" fmla="*/ 0 w 2683934"/>
              <a:gd name="connsiteY0" fmla="*/ 702733 h 799629"/>
              <a:gd name="connsiteX1" fmla="*/ 431800 w 2683934"/>
              <a:gd name="connsiteY1" fmla="*/ 533400 h 799629"/>
              <a:gd name="connsiteX2" fmla="*/ 897467 w 2683934"/>
              <a:gd name="connsiteY2" fmla="*/ 719667 h 799629"/>
              <a:gd name="connsiteX3" fmla="*/ 1151467 w 2683934"/>
              <a:gd name="connsiteY3" fmla="*/ 778933 h 799629"/>
              <a:gd name="connsiteX4" fmla="*/ 1456267 w 2683934"/>
              <a:gd name="connsiteY4" fmla="*/ 787400 h 799629"/>
              <a:gd name="connsiteX5" fmla="*/ 1769534 w 2683934"/>
              <a:gd name="connsiteY5" fmla="*/ 618067 h 799629"/>
              <a:gd name="connsiteX6" fmla="*/ 1981200 w 2683934"/>
              <a:gd name="connsiteY6" fmla="*/ 313267 h 799629"/>
              <a:gd name="connsiteX7" fmla="*/ 2218267 w 2683934"/>
              <a:gd name="connsiteY7" fmla="*/ 118533 h 799629"/>
              <a:gd name="connsiteX8" fmla="*/ 2463800 w 2683934"/>
              <a:gd name="connsiteY8" fmla="*/ 16933 h 799629"/>
              <a:gd name="connsiteX9" fmla="*/ 2683934 w 2683934"/>
              <a:gd name="connsiteY9" fmla="*/ 0 h 799629"/>
              <a:gd name="connsiteX0" fmla="*/ 0 w 2779669"/>
              <a:gd name="connsiteY0" fmla="*/ 686196 h 783092"/>
              <a:gd name="connsiteX1" fmla="*/ 431800 w 2779669"/>
              <a:gd name="connsiteY1" fmla="*/ 516863 h 783092"/>
              <a:gd name="connsiteX2" fmla="*/ 897467 w 2779669"/>
              <a:gd name="connsiteY2" fmla="*/ 703130 h 783092"/>
              <a:gd name="connsiteX3" fmla="*/ 1151467 w 2779669"/>
              <a:gd name="connsiteY3" fmla="*/ 762396 h 783092"/>
              <a:gd name="connsiteX4" fmla="*/ 1456267 w 2779669"/>
              <a:gd name="connsiteY4" fmla="*/ 770863 h 783092"/>
              <a:gd name="connsiteX5" fmla="*/ 1769534 w 2779669"/>
              <a:gd name="connsiteY5" fmla="*/ 601530 h 783092"/>
              <a:gd name="connsiteX6" fmla="*/ 1981200 w 2779669"/>
              <a:gd name="connsiteY6" fmla="*/ 296730 h 783092"/>
              <a:gd name="connsiteX7" fmla="*/ 2218267 w 2779669"/>
              <a:gd name="connsiteY7" fmla="*/ 101996 h 783092"/>
              <a:gd name="connsiteX8" fmla="*/ 2463800 w 2779669"/>
              <a:gd name="connsiteY8" fmla="*/ 396 h 783092"/>
              <a:gd name="connsiteX9" fmla="*/ 2779669 w 2779669"/>
              <a:gd name="connsiteY9" fmla="*/ 690837 h 783092"/>
              <a:gd name="connsiteX0" fmla="*/ 0 w 2779669"/>
              <a:gd name="connsiteY0" fmla="*/ 686190 h 783086"/>
              <a:gd name="connsiteX1" fmla="*/ 431800 w 2779669"/>
              <a:gd name="connsiteY1" fmla="*/ 516857 h 783086"/>
              <a:gd name="connsiteX2" fmla="*/ 897467 w 2779669"/>
              <a:gd name="connsiteY2" fmla="*/ 703124 h 783086"/>
              <a:gd name="connsiteX3" fmla="*/ 1151467 w 2779669"/>
              <a:gd name="connsiteY3" fmla="*/ 762390 h 783086"/>
              <a:gd name="connsiteX4" fmla="*/ 1456267 w 2779669"/>
              <a:gd name="connsiteY4" fmla="*/ 770857 h 783086"/>
              <a:gd name="connsiteX5" fmla="*/ 1769534 w 2779669"/>
              <a:gd name="connsiteY5" fmla="*/ 601524 h 783086"/>
              <a:gd name="connsiteX6" fmla="*/ 1981200 w 2779669"/>
              <a:gd name="connsiteY6" fmla="*/ 296724 h 783086"/>
              <a:gd name="connsiteX7" fmla="*/ 2218267 w 2779669"/>
              <a:gd name="connsiteY7" fmla="*/ 101990 h 783086"/>
              <a:gd name="connsiteX8" fmla="*/ 2463800 w 2779669"/>
              <a:gd name="connsiteY8" fmla="*/ 390 h 783086"/>
              <a:gd name="connsiteX9" fmla="*/ 2779669 w 2779669"/>
              <a:gd name="connsiteY9" fmla="*/ 690831 h 783086"/>
              <a:gd name="connsiteX0" fmla="*/ 0 w 2779669"/>
              <a:gd name="connsiteY0" fmla="*/ 588891 h 685787"/>
              <a:gd name="connsiteX1" fmla="*/ 431800 w 2779669"/>
              <a:gd name="connsiteY1" fmla="*/ 419558 h 685787"/>
              <a:gd name="connsiteX2" fmla="*/ 897467 w 2779669"/>
              <a:gd name="connsiteY2" fmla="*/ 605825 h 685787"/>
              <a:gd name="connsiteX3" fmla="*/ 1151467 w 2779669"/>
              <a:gd name="connsiteY3" fmla="*/ 665091 h 685787"/>
              <a:gd name="connsiteX4" fmla="*/ 1456267 w 2779669"/>
              <a:gd name="connsiteY4" fmla="*/ 673558 h 685787"/>
              <a:gd name="connsiteX5" fmla="*/ 1769534 w 2779669"/>
              <a:gd name="connsiteY5" fmla="*/ 504225 h 685787"/>
              <a:gd name="connsiteX6" fmla="*/ 1981200 w 2779669"/>
              <a:gd name="connsiteY6" fmla="*/ 199425 h 685787"/>
              <a:gd name="connsiteX7" fmla="*/ 2218267 w 2779669"/>
              <a:gd name="connsiteY7" fmla="*/ 4691 h 685787"/>
              <a:gd name="connsiteX8" fmla="*/ 2440824 w 2779669"/>
              <a:gd name="connsiteY8" fmla="*/ 46776 h 685787"/>
              <a:gd name="connsiteX9" fmla="*/ 2779669 w 2779669"/>
              <a:gd name="connsiteY9" fmla="*/ 593532 h 685787"/>
              <a:gd name="connsiteX0" fmla="*/ 0 w 2779669"/>
              <a:gd name="connsiteY0" fmla="*/ 598502 h 695398"/>
              <a:gd name="connsiteX1" fmla="*/ 431800 w 2779669"/>
              <a:gd name="connsiteY1" fmla="*/ 429169 h 695398"/>
              <a:gd name="connsiteX2" fmla="*/ 897467 w 2779669"/>
              <a:gd name="connsiteY2" fmla="*/ 615436 h 695398"/>
              <a:gd name="connsiteX3" fmla="*/ 1151467 w 2779669"/>
              <a:gd name="connsiteY3" fmla="*/ 674702 h 695398"/>
              <a:gd name="connsiteX4" fmla="*/ 1456267 w 2779669"/>
              <a:gd name="connsiteY4" fmla="*/ 683169 h 695398"/>
              <a:gd name="connsiteX5" fmla="*/ 1769534 w 2779669"/>
              <a:gd name="connsiteY5" fmla="*/ 513836 h 695398"/>
              <a:gd name="connsiteX6" fmla="*/ 1981200 w 2779669"/>
              <a:gd name="connsiteY6" fmla="*/ 209036 h 695398"/>
              <a:gd name="connsiteX7" fmla="*/ 2218267 w 2779669"/>
              <a:gd name="connsiteY7" fmla="*/ 14302 h 695398"/>
              <a:gd name="connsiteX8" fmla="*/ 2779669 w 2779669"/>
              <a:gd name="connsiteY8" fmla="*/ 603143 h 695398"/>
              <a:gd name="connsiteX0" fmla="*/ 0 w 2779669"/>
              <a:gd name="connsiteY0" fmla="*/ 584881 h 681777"/>
              <a:gd name="connsiteX1" fmla="*/ 431800 w 2779669"/>
              <a:gd name="connsiteY1" fmla="*/ 415548 h 681777"/>
              <a:gd name="connsiteX2" fmla="*/ 897467 w 2779669"/>
              <a:gd name="connsiteY2" fmla="*/ 601815 h 681777"/>
              <a:gd name="connsiteX3" fmla="*/ 1151467 w 2779669"/>
              <a:gd name="connsiteY3" fmla="*/ 661081 h 681777"/>
              <a:gd name="connsiteX4" fmla="*/ 1456267 w 2779669"/>
              <a:gd name="connsiteY4" fmla="*/ 669548 h 681777"/>
              <a:gd name="connsiteX5" fmla="*/ 1769534 w 2779669"/>
              <a:gd name="connsiteY5" fmla="*/ 500215 h 681777"/>
              <a:gd name="connsiteX6" fmla="*/ 1981200 w 2779669"/>
              <a:gd name="connsiteY6" fmla="*/ 195415 h 681777"/>
              <a:gd name="connsiteX7" fmla="*/ 2218267 w 2779669"/>
              <a:gd name="connsiteY7" fmla="*/ 681 h 681777"/>
              <a:gd name="connsiteX8" fmla="*/ 2779669 w 2779669"/>
              <a:gd name="connsiteY8" fmla="*/ 589522 h 681777"/>
              <a:gd name="connsiteX0" fmla="*/ 0 w 2779669"/>
              <a:gd name="connsiteY0" fmla="*/ 469032 h 565928"/>
              <a:gd name="connsiteX1" fmla="*/ 431800 w 2779669"/>
              <a:gd name="connsiteY1" fmla="*/ 299699 h 565928"/>
              <a:gd name="connsiteX2" fmla="*/ 897467 w 2779669"/>
              <a:gd name="connsiteY2" fmla="*/ 485966 h 565928"/>
              <a:gd name="connsiteX3" fmla="*/ 1151467 w 2779669"/>
              <a:gd name="connsiteY3" fmla="*/ 545232 h 565928"/>
              <a:gd name="connsiteX4" fmla="*/ 1456267 w 2779669"/>
              <a:gd name="connsiteY4" fmla="*/ 553699 h 565928"/>
              <a:gd name="connsiteX5" fmla="*/ 1769534 w 2779669"/>
              <a:gd name="connsiteY5" fmla="*/ 384366 h 565928"/>
              <a:gd name="connsiteX6" fmla="*/ 1981200 w 2779669"/>
              <a:gd name="connsiteY6" fmla="*/ 79566 h 565928"/>
              <a:gd name="connsiteX7" fmla="*/ 2224968 w 2779669"/>
              <a:gd name="connsiteY7" fmla="*/ 885 h 565928"/>
              <a:gd name="connsiteX8" fmla="*/ 2779669 w 2779669"/>
              <a:gd name="connsiteY8" fmla="*/ 473673 h 565928"/>
              <a:gd name="connsiteX0" fmla="*/ 0 w 2779669"/>
              <a:gd name="connsiteY0" fmla="*/ 471936 h 568832"/>
              <a:gd name="connsiteX1" fmla="*/ 431800 w 2779669"/>
              <a:gd name="connsiteY1" fmla="*/ 302603 h 568832"/>
              <a:gd name="connsiteX2" fmla="*/ 897467 w 2779669"/>
              <a:gd name="connsiteY2" fmla="*/ 488870 h 568832"/>
              <a:gd name="connsiteX3" fmla="*/ 1151467 w 2779669"/>
              <a:gd name="connsiteY3" fmla="*/ 548136 h 568832"/>
              <a:gd name="connsiteX4" fmla="*/ 1456267 w 2779669"/>
              <a:gd name="connsiteY4" fmla="*/ 556603 h 568832"/>
              <a:gd name="connsiteX5" fmla="*/ 1769534 w 2779669"/>
              <a:gd name="connsiteY5" fmla="*/ 387270 h 568832"/>
              <a:gd name="connsiteX6" fmla="*/ 1981200 w 2779669"/>
              <a:gd name="connsiteY6" fmla="*/ 82470 h 568832"/>
              <a:gd name="connsiteX7" fmla="*/ 2224968 w 2779669"/>
              <a:gd name="connsiteY7" fmla="*/ 3789 h 568832"/>
              <a:gd name="connsiteX8" fmla="*/ 2779669 w 2779669"/>
              <a:gd name="connsiteY8" fmla="*/ 476577 h 568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79669" h="568832">
                <a:moveTo>
                  <a:pt x="0" y="471936"/>
                </a:moveTo>
                <a:cubicBezTo>
                  <a:pt x="141111" y="385858"/>
                  <a:pt x="282222" y="299781"/>
                  <a:pt x="431800" y="302603"/>
                </a:cubicBezTo>
                <a:cubicBezTo>
                  <a:pt x="581378" y="305425"/>
                  <a:pt x="777523" y="447948"/>
                  <a:pt x="897467" y="488870"/>
                </a:cubicBezTo>
                <a:cubicBezTo>
                  <a:pt x="1017411" y="529792"/>
                  <a:pt x="1058334" y="536847"/>
                  <a:pt x="1151467" y="548136"/>
                </a:cubicBezTo>
                <a:cubicBezTo>
                  <a:pt x="1244600" y="559425"/>
                  <a:pt x="1353256" y="583414"/>
                  <a:pt x="1456267" y="556603"/>
                </a:cubicBezTo>
                <a:cubicBezTo>
                  <a:pt x="1559278" y="529792"/>
                  <a:pt x="1682045" y="466292"/>
                  <a:pt x="1769534" y="387270"/>
                </a:cubicBezTo>
                <a:cubicBezTo>
                  <a:pt x="1857023" y="308248"/>
                  <a:pt x="1905294" y="146384"/>
                  <a:pt x="1981200" y="82470"/>
                </a:cubicBezTo>
                <a:cubicBezTo>
                  <a:pt x="2057106" y="18557"/>
                  <a:pt x="2093566" y="-11121"/>
                  <a:pt x="2224968" y="3789"/>
                </a:cubicBezTo>
                <a:cubicBezTo>
                  <a:pt x="2356370" y="18699"/>
                  <a:pt x="2662710" y="353902"/>
                  <a:pt x="2779669" y="476577"/>
                </a:cubicBezTo>
              </a:path>
            </a:pathLst>
          </a:custGeom>
          <a:noFill/>
          <a:ln w="28575">
            <a:solidFill>
              <a:schemeClr val="tx1">
                <a:lumMod val="50000"/>
                <a:lumOff val="50000"/>
              </a:schemeClr>
            </a:solidFill>
            <a:prstDash val="sysDot"/>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solidFill>
                <a:schemeClr val="tx1"/>
              </a:solidFill>
            </a:endParaRPr>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第四节  长期生产函数</a:t>
            </a:r>
          </a:p>
        </p:txBody>
      </p:sp>
      <p:sp>
        <p:nvSpPr>
          <p:cNvPr id="3" name="矩形 2">
            <a:extLst>
              <a:ext uri="{FF2B5EF4-FFF2-40B4-BE49-F238E27FC236}">
                <a16:creationId xmlns:a16="http://schemas.microsoft.com/office/drawing/2014/main" id="{37C083F2-0E99-4519-8938-09940A28B5F0}"/>
              </a:ext>
            </a:extLst>
          </p:cNvPr>
          <p:cNvSpPr/>
          <p:nvPr/>
        </p:nvSpPr>
        <p:spPr>
          <a:xfrm>
            <a:off x="580922" y="520573"/>
            <a:ext cx="283895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五、生产扩展曲线</a:t>
            </a:r>
          </a:p>
        </p:txBody>
      </p:sp>
      <p:sp>
        <p:nvSpPr>
          <p:cNvPr id="5" name="矩形 4">
            <a:extLst>
              <a:ext uri="{FF2B5EF4-FFF2-40B4-BE49-F238E27FC236}">
                <a16:creationId xmlns:a16="http://schemas.microsoft.com/office/drawing/2014/main" id="{084955AF-1C9D-40E6-AF77-16E919D7DDCC}"/>
              </a:ext>
            </a:extLst>
          </p:cNvPr>
          <p:cNvSpPr/>
          <p:nvPr/>
        </p:nvSpPr>
        <p:spPr>
          <a:xfrm>
            <a:off x="1115616" y="1268760"/>
            <a:ext cx="6480720" cy="923330"/>
          </a:xfrm>
          <a:prstGeom prst="rect">
            <a:avLst/>
          </a:prstGeom>
          <a:noFill/>
        </p:spPr>
        <p:txBody>
          <a:bodyPr wrap="square">
            <a:spAutoFit/>
          </a:bodyPr>
          <a:lstStyle/>
          <a:p>
            <a:pPr marL="285750" indent="-285750">
              <a:buFont typeface="Wingdings" panose="05000000000000000000" pitchFamily="2" charset="2"/>
              <a:buChar char="u"/>
            </a:pPr>
            <a:r>
              <a:rPr lang="en-US" dirty="0">
                <a:latin typeface="微软雅黑" panose="020B0503020204020204" pitchFamily="34" charset="-122"/>
                <a:ea typeface="微软雅黑" panose="020B0503020204020204" pitchFamily="34" charset="-122"/>
              </a:rPr>
              <a:t>企业的生产扩展曲线简称为生产扩展线，表示在生产要素价格和其他条件不变的情况下，随着成本或者产量增加，按照企业的所有生产要素最优组合点描绘出来的一条曲线 </a:t>
            </a:r>
            <a:r>
              <a:rPr lang="zh-CN" altLang="en-US" dirty="0">
                <a:latin typeface="微软雅黑" panose="020B0503020204020204" pitchFamily="34" charset="-122"/>
                <a:ea typeface="微软雅黑" panose="020B0503020204020204" pitchFamily="34" charset="-122"/>
              </a:rPr>
              <a:t>。</a:t>
            </a:r>
          </a:p>
        </p:txBody>
      </p:sp>
      <p:grpSp>
        <p:nvGrpSpPr>
          <p:cNvPr id="28" name="组合 27">
            <a:extLst>
              <a:ext uri="{FF2B5EF4-FFF2-40B4-BE49-F238E27FC236}">
                <a16:creationId xmlns:a16="http://schemas.microsoft.com/office/drawing/2014/main" id="{015E5300-5096-49FD-879E-9D5CBF7FAC42}"/>
              </a:ext>
            </a:extLst>
          </p:cNvPr>
          <p:cNvGrpSpPr/>
          <p:nvPr/>
        </p:nvGrpSpPr>
        <p:grpSpPr>
          <a:xfrm>
            <a:off x="755576" y="2401871"/>
            <a:ext cx="7454945" cy="648072"/>
            <a:chOff x="467544" y="1268760"/>
            <a:chExt cx="8192278" cy="1306490"/>
          </a:xfrm>
          <a:noFill/>
        </p:grpSpPr>
        <p:sp>
          <p:nvSpPr>
            <p:cNvPr id="29" name="矩形 28">
              <a:extLst>
                <a:ext uri="{FF2B5EF4-FFF2-40B4-BE49-F238E27FC236}">
                  <a16:creationId xmlns:a16="http://schemas.microsoft.com/office/drawing/2014/main" id="{44E57759-B9E5-441C-86CF-347ED027455B}"/>
                </a:ext>
              </a:extLst>
            </p:cNvPr>
            <p:cNvSpPr/>
            <p:nvPr/>
          </p:nvSpPr>
          <p:spPr>
            <a:xfrm>
              <a:off x="467544" y="1268760"/>
              <a:ext cx="8192278" cy="130649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latin typeface="微软雅黑" panose="020B0503020204020204" pitchFamily="34" charset="-122"/>
                <a:ea typeface="微软雅黑" panose="020B0503020204020204" pitchFamily="34" charset="-122"/>
              </a:endParaRPr>
            </a:p>
          </p:txBody>
        </p:sp>
        <p:sp>
          <p:nvSpPr>
            <p:cNvPr id="30" name="矩形 29">
              <a:extLst>
                <a:ext uri="{FF2B5EF4-FFF2-40B4-BE49-F238E27FC236}">
                  <a16:creationId xmlns:a16="http://schemas.microsoft.com/office/drawing/2014/main" id="{06B9519F-7BA2-4D39-AE0C-D9726E6C5C43}"/>
                </a:ext>
              </a:extLst>
            </p:cNvPr>
            <p:cNvSpPr/>
            <p:nvPr/>
          </p:nvSpPr>
          <p:spPr>
            <a:xfrm>
              <a:off x="538031" y="1342300"/>
              <a:ext cx="8051305" cy="115941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latin typeface="微软雅黑" panose="020B0503020204020204" pitchFamily="34" charset="-122"/>
                <a:ea typeface="微软雅黑" panose="020B0503020204020204" pitchFamily="34" charset="-122"/>
              </a:endParaRPr>
            </a:p>
          </p:txBody>
        </p:sp>
      </p:grpSp>
      <p:sp>
        <p:nvSpPr>
          <p:cNvPr id="32" name="矩形 31"/>
          <p:cNvSpPr/>
          <p:nvPr/>
        </p:nvSpPr>
        <p:spPr>
          <a:xfrm>
            <a:off x="833387" y="2559256"/>
            <a:ext cx="7377135" cy="369332"/>
          </a:xfrm>
          <a:prstGeom prst="rect">
            <a:avLst/>
          </a:prstGeom>
          <a:noFill/>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当企业生产投入增加，成本开支增加，要素投入组合会如何变化呢？ </a:t>
            </a:r>
            <a:endParaRPr lang="en-US" dirty="0">
              <a:latin typeface="微软雅黑" panose="020B0503020204020204" pitchFamily="34" charset="-122"/>
              <a:ea typeface="微软雅黑" panose="020B0503020204020204" pitchFamily="34" charset="-122"/>
            </a:endParaRPr>
          </a:p>
        </p:txBody>
      </p:sp>
      <p:sp>
        <p:nvSpPr>
          <p:cNvPr id="33" name="矩形 32"/>
          <p:cNvSpPr/>
          <p:nvPr/>
        </p:nvSpPr>
        <p:spPr>
          <a:xfrm>
            <a:off x="766839" y="3586055"/>
            <a:ext cx="1627369" cy="369332"/>
          </a:xfrm>
          <a:prstGeom prst="rect">
            <a:avLst/>
          </a:prstGeom>
          <a:noFill/>
        </p:spPr>
        <p:txBody>
          <a:bodyPr wrap="none">
            <a:spAutoFit/>
          </a:bodyPr>
          <a:lstStyle/>
          <a:p>
            <a:pPr marL="285750" indent="-285750">
              <a:buFont typeface="Wingdings" panose="05000000000000000000" pitchFamily="2" charset="2"/>
              <a:buChar char="Ø"/>
            </a:pPr>
            <a:r>
              <a:rPr lang="en-US" dirty="0" err="1">
                <a:latin typeface="微软雅黑" panose="020B0503020204020204" pitchFamily="34" charset="-122"/>
                <a:ea typeface="微软雅黑" panose="020B0503020204020204" pitchFamily="34" charset="-122"/>
              </a:rPr>
              <a:t>生产扩展线</a:t>
            </a:r>
            <a:endParaRPr lang="en-US" dirty="0">
              <a:latin typeface="微软雅黑" panose="020B0503020204020204" pitchFamily="34" charset="-122"/>
              <a:ea typeface="微软雅黑" panose="020B0503020204020204" pitchFamily="34" charset="-122"/>
            </a:endParaRPr>
          </a:p>
        </p:txBody>
      </p:sp>
      <p:sp>
        <p:nvSpPr>
          <p:cNvPr id="34" name="矩形 33"/>
          <p:cNvSpPr/>
          <p:nvPr/>
        </p:nvSpPr>
        <p:spPr>
          <a:xfrm>
            <a:off x="993357" y="5501281"/>
            <a:ext cx="1005403" cy="338554"/>
          </a:xfrm>
          <a:prstGeom prst="rect">
            <a:avLst/>
          </a:prstGeom>
        </p:spPr>
        <p:txBody>
          <a:bodyPr wrap="none">
            <a:spAutoFit/>
          </a:bodyPr>
          <a:lstStyle/>
          <a:p>
            <a:r>
              <a:rPr lang="en-US" sz="1600" dirty="0" err="1">
                <a:latin typeface="微软雅黑" panose="020B0503020204020204" pitchFamily="34" charset="-122"/>
                <a:ea typeface="微软雅黑" panose="020B0503020204020204" pitchFamily="34" charset="-122"/>
              </a:rPr>
              <a:t>成本变化</a:t>
            </a:r>
            <a:endParaRPr lang="en-US" sz="1600" dirty="0">
              <a:latin typeface="微软雅黑" panose="020B0503020204020204" pitchFamily="34" charset="-122"/>
              <a:ea typeface="微软雅黑" panose="020B0503020204020204" pitchFamily="34" charset="-122"/>
            </a:endParaRPr>
          </a:p>
        </p:txBody>
      </p:sp>
      <p:sp>
        <p:nvSpPr>
          <p:cNvPr id="35" name="矩形 34"/>
          <p:cNvSpPr/>
          <p:nvPr/>
        </p:nvSpPr>
        <p:spPr>
          <a:xfrm>
            <a:off x="2778199" y="5501281"/>
            <a:ext cx="1415772" cy="338554"/>
          </a:xfrm>
          <a:prstGeom prst="rect">
            <a:avLst/>
          </a:prstGeom>
        </p:spPr>
        <p:txBody>
          <a:bodyPr wrap="none">
            <a:spAutoFit/>
          </a:bodyPr>
          <a:lstStyle/>
          <a:p>
            <a:r>
              <a:rPr lang="en-US" sz="1600" dirty="0" err="1">
                <a:latin typeface="微软雅黑" panose="020B0503020204020204" pitchFamily="34" charset="-122"/>
                <a:ea typeface="微软雅黑" panose="020B0503020204020204" pitchFamily="34" charset="-122"/>
              </a:rPr>
              <a:t>等成本线变化</a:t>
            </a:r>
            <a:endParaRPr lang="en-US" sz="1600" dirty="0">
              <a:latin typeface="微软雅黑" panose="020B0503020204020204" pitchFamily="34" charset="-122"/>
              <a:ea typeface="微软雅黑" panose="020B0503020204020204" pitchFamily="34" charset="-122"/>
            </a:endParaRPr>
          </a:p>
        </p:txBody>
      </p:sp>
      <p:sp>
        <p:nvSpPr>
          <p:cNvPr id="36" name="矩形 35"/>
          <p:cNvSpPr/>
          <p:nvPr/>
        </p:nvSpPr>
        <p:spPr>
          <a:xfrm>
            <a:off x="5024705" y="5361590"/>
            <a:ext cx="1005403" cy="584775"/>
          </a:xfrm>
          <a:prstGeom prst="rect">
            <a:avLst/>
          </a:prstGeom>
        </p:spPr>
        <p:txBody>
          <a:bodyPr wrap="none">
            <a:spAutoFit/>
          </a:bodyPr>
          <a:lstStyle/>
          <a:p>
            <a:r>
              <a:rPr lang="en-US" sz="1600" dirty="0" err="1">
                <a:latin typeface="微软雅黑" panose="020B0503020204020204" pitchFamily="34" charset="-122"/>
                <a:ea typeface="微软雅黑" panose="020B0503020204020204" pitchFamily="34" charset="-122"/>
              </a:rPr>
              <a:t>最优要素</a:t>
            </a:r>
            <a:endParaRPr lang="en-US" sz="1600" dirty="0">
              <a:latin typeface="微软雅黑" panose="020B0503020204020204" pitchFamily="34" charset="-122"/>
              <a:ea typeface="微软雅黑" panose="020B0503020204020204" pitchFamily="34" charset="-122"/>
            </a:endParaRPr>
          </a:p>
          <a:p>
            <a:r>
              <a:rPr lang="en-US" sz="1600" dirty="0" err="1">
                <a:latin typeface="微软雅黑" panose="020B0503020204020204" pitchFamily="34" charset="-122"/>
                <a:ea typeface="微软雅黑" panose="020B0503020204020204" pitchFamily="34" charset="-122"/>
              </a:rPr>
              <a:t>组合变化</a:t>
            </a:r>
            <a:endParaRPr lang="en-US" sz="1600" dirty="0">
              <a:latin typeface="微软雅黑" panose="020B0503020204020204" pitchFamily="34" charset="-122"/>
              <a:ea typeface="微软雅黑" panose="020B0503020204020204" pitchFamily="34" charset="-122"/>
            </a:endParaRPr>
          </a:p>
        </p:txBody>
      </p:sp>
      <p:sp>
        <p:nvSpPr>
          <p:cNvPr id="37" name="矩形 36"/>
          <p:cNvSpPr/>
          <p:nvPr/>
        </p:nvSpPr>
        <p:spPr>
          <a:xfrm>
            <a:off x="6937437" y="5361590"/>
            <a:ext cx="1210588" cy="584775"/>
          </a:xfrm>
          <a:prstGeom prst="rect">
            <a:avLst/>
          </a:prstGeom>
        </p:spPr>
        <p:txBody>
          <a:bodyPr wrap="none">
            <a:spAutoFit/>
          </a:bodyPr>
          <a:lstStyle/>
          <a:p>
            <a:pPr algn="ctr"/>
            <a:r>
              <a:rPr lang="en-US" sz="1600" dirty="0" err="1">
                <a:latin typeface="微软雅黑" panose="020B0503020204020204" pitchFamily="34" charset="-122"/>
                <a:ea typeface="微软雅黑" panose="020B0503020204020204" pitchFamily="34" charset="-122"/>
              </a:rPr>
              <a:t>最优要素</a:t>
            </a:r>
            <a:endParaRPr lang="en-US" sz="1600" dirty="0">
              <a:latin typeface="微软雅黑" panose="020B0503020204020204" pitchFamily="34" charset="-122"/>
              <a:ea typeface="微软雅黑" panose="020B0503020204020204" pitchFamily="34" charset="-122"/>
            </a:endParaRPr>
          </a:p>
          <a:p>
            <a:pPr algn="ctr"/>
            <a:r>
              <a:rPr lang="en-US" sz="1600" dirty="0" err="1">
                <a:latin typeface="微软雅黑" panose="020B0503020204020204" pitchFamily="34" charset="-122"/>
                <a:ea typeface="微软雅黑" panose="020B0503020204020204" pitchFamily="34" charset="-122"/>
              </a:rPr>
              <a:t>组合的轨迹</a:t>
            </a:r>
            <a:endParaRPr lang="en-US" sz="1600" dirty="0">
              <a:latin typeface="微软雅黑" panose="020B0503020204020204" pitchFamily="34" charset="-122"/>
              <a:ea typeface="微软雅黑" panose="020B0503020204020204" pitchFamily="34" charset="-122"/>
            </a:endParaRPr>
          </a:p>
        </p:txBody>
      </p:sp>
      <p:sp>
        <p:nvSpPr>
          <p:cNvPr id="26" name="Chevron 16">
            <a:extLst>
              <a:ext uri="{FF2B5EF4-FFF2-40B4-BE49-F238E27FC236}">
                <a16:creationId xmlns:a16="http://schemas.microsoft.com/office/drawing/2014/main" id="{413C4396-F964-461F-AF80-96D6DD1147B9}"/>
              </a:ext>
            </a:extLst>
          </p:cNvPr>
          <p:cNvSpPr/>
          <p:nvPr/>
        </p:nvSpPr>
        <p:spPr>
          <a:xfrm>
            <a:off x="1226437" y="4132093"/>
            <a:ext cx="772323" cy="1158992"/>
          </a:xfrm>
          <a:prstGeom prst="chevron">
            <a:avLst/>
          </a:prstGeom>
          <a:solidFill>
            <a:srgbClr val="AFD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7" name="Oval 17">
            <a:extLst>
              <a:ext uri="{FF2B5EF4-FFF2-40B4-BE49-F238E27FC236}">
                <a16:creationId xmlns:a16="http://schemas.microsoft.com/office/drawing/2014/main" id="{1BA17020-4F8A-49D5-A8D4-42F23AAE351B}"/>
              </a:ext>
            </a:extLst>
          </p:cNvPr>
          <p:cNvSpPr>
            <a:spLocks noChangeAspect="1"/>
          </p:cNvSpPr>
          <p:nvPr/>
        </p:nvSpPr>
        <p:spPr>
          <a:xfrm>
            <a:off x="1773378" y="4500401"/>
            <a:ext cx="465380" cy="402907"/>
          </a:xfrm>
          <a:prstGeom prst="ellipse">
            <a:avLst/>
          </a:prstGeom>
          <a:solidFill>
            <a:schemeClr val="bg1"/>
          </a:solidFill>
          <a:ln w="38100">
            <a:solidFill>
              <a:schemeClr val="accent1"/>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chemeClr val="tx1"/>
              </a:solidFill>
            </a:endParaRPr>
          </a:p>
        </p:txBody>
      </p:sp>
      <p:sp>
        <p:nvSpPr>
          <p:cNvPr id="38" name="Chevron 19">
            <a:extLst>
              <a:ext uri="{FF2B5EF4-FFF2-40B4-BE49-F238E27FC236}">
                <a16:creationId xmlns:a16="http://schemas.microsoft.com/office/drawing/2014/main" id="{4BACC029-C248-44D2-93C9-3C7B222DA648}"/>
              </a:ext>
            </a:extLst>
          </p:cNvPr>
          <p:cNvSpPr/>
          <p:nvPr/>
        </p:nvSpPr>
        <p:spPr>
          <a:xfrm>
            <a:off x="3219812" y="4132093"/>
            <a:ext cx="772323" cy="1158992"/>
          </a:xfrm>
          <a:prstGeom prst="chevron">
            <a:avLst/>
          </a:prstGeom>
          <a:solidFill>
            <a:srgbClr val="85B2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9" name="Oval 20">
            <a:extLst>
              <a:ext uri="{FF2B5EF4-FFF2-40B4-BE49-F238E27FC236}">
                <a16:creationId xmlns:a16="http://schemas.microsoft.com/office/drawing/2014/main" id="{8A6977E9-CE6D-4E67-B862-C33974FB6EC4}"/>
              </a:ext>
            </a:extLst>
          </p:cNvPr>
          <p:cNvSpPr>
            <a:spLocks noChangeAspect="1"/>
          </p:cNvSpPr>
          <p:nvPr/>
        </p:nvSpPr>
        <p:spPr>
          <a:xfrm>
            <a:off x="3771449" y="4500401"/>
            <a:ext cx="465380" cy="402907"/>
          </a:xfrm>
          <a:prstGeom prst="ellipse">
            <a:avLst/>
          </a:prstGeom>
          <a:solidFill>
            <a:schemeClr val="bg1"/>
          </a:solidFill>
          <a:ln w="38100">
            <a:solidFill>
              <a:schemeClr val="tx2">
                <a:lumMod val="50000"/>
              </a:schemeClr>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40" name="Chevron 22">
            <a:extLst>
              <a:ext uri="{FF2B5EF4-FFF2-40B4-BE49-F238E27FC236}">
                <a16:creationId xmlns:a16="http://schemas.microsoft.com/office/drawing/2014/main" id="{84965345-DEB5-4C51-896E-C885AE53418B}"/>
              </a:ext>
            </a:extLst>
          </p:cNvPr>
          <p:cNvSpPr/>
          <p:nvPr/>
        </p:nvSpPr>
        <p:spPr>
          <a:xfrm>
            <a:off x="5212305" y="4132093"/>
            <a:ext cx="772322" cy="1158992"/>
          </a:xfrm>
          <a:prstGeom prst="chevron">
            <a:avLst/>
          </a:prstGeom>
          <a:solidFill>
            <a:srgbClr val="AFD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1" name="Oval 23">
            <a:extLst>
              <a:ext uri="{FF2B5EF4-FFF2-40B4-BE49-F238E27FC236}">
                <a16:creationId xmlns:a16="http://schemas.microsoft.com/office/drawing/2014/main" id="{A899CCEA-B044-4E89-A3A3-90ECA2C5C51E}"/>
              </a:ext>
            </a:extLst>
          </p:cNvPr>
          <p:cNvSpPr>
            <a:spLocks noChangeAspect="1"/>
          </p:cNvSpPr>
          <p:nvPr/>
        </p:nvSpPr>
        <p:spPr>
          <a:xfrm>
            <a:off x="5762064" y="4500401"/>
            <a:ext cx="465380" cy="402907"/>
          </a:xfrm>
          <a:prstGeom prst="ellipse">
            <a:avLst/>
          </a:prstGeom>
          <a:solidFill>
            <a:srgbClr val="AFD9E6"/>
          </a:solidFill>
          <a:ln w="38100">
            <a:solidFill>
              <a:schemeClr val="accent3"/>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
        <p:nvSpPr>
          <p:cNvPr id="42" name="Chevron 25">
            <a:extLst>
              <a:ext uri="{FF2B5EF4-FFF2-40B4-BE49-F238E27FC236}">
                <a16:creationId xmlns:a16="http://schemas.microsoft.com/office/drawing/2014/main" id="{A2AE7E26-4150-4CE9-94D7-CD543232276A}"/>
              </a:ext>
            </a:extLst>
          </p:cNvPr>
          <p:cNvSpPr/>
          <p:nvPr/>
        </p:nvSpPr>
        <p:spPr>
          <a:xfrm>
            <a:off x="7145240" y="4126773"/>
            <a:ext cx="772323" cy="1158992"/>
          </a:xfrm>
          <a:prstGeom prst="chevron">
            <a:avLst/>
          </a:prstGeom>
          <a:solidFill>
            <a:srgbClr val="85B2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Oval 26">
            <a:extLst>
              <a:ext uri="{FF2B5EF4-FFF2-40B4-BE49-F238E27FC236}">
                <a16:creationId xmlns:a16="http://schemas.microsoft.com/office/drawing/2014/main" id="{1C18AD79-B32B-4FD2-B638-B65FA244ECBD}"/>
              </a:ext>
            </a:extLst>
          </p:cNvPr>
          <p:cNvSpPr>
            <a:spLocks noChangeAspect="1"/>
          </p:cNvSpPr>
          <p:nvPr/>
        </p:nvSpPr>
        <p:spPr>
          <a:xfrm>
            <a:off x="7720081" y="4495081"/>
            <a:ext cx="465380" cy="402907"/>
          </a:xfrm>
          <a:prstGeom prst="ellipse">
            <a:avLst/>
          </a:prstGeom>
          <a:solidFill>
            <a:schemeClr val="bg1"/>
          </a:solidFill>
          <a:ln w="38100">
            <a:solidFill>
              <a:schemeClr val="tx2">
                <a:lumMod val="50000"/>
              </a:schemeClr>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spTree>
    <p:extLst>
      <p:ext uri="{BB962C8B-B14F-4D97-AF65-F5344CB8AC3E}">
        <p14:creationId xmlns:p14="http://schemas.microsoft.com/office/powerpoint/2010/main" val="390324505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circle(in)">
                                      <p:cBhvr>
                                        <p:cTn id="14" dur="2000"/>
                                        <p:tgtEl>
                                          <p:spTgt spid="24"/>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in)">
                                      <p:cBhvr>
                                        <p:cTn id="17" dur="2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arn(inVertical)">
                                      <p:cBhvr>
                                        <p:cTn id="22" dur="500"/>
                                        <p:tgtEl>
                                          <p:spTgt spid="28"/>
                                        </p:tgtEl>
                                      </p:cBhvr>
                                    </p:animEffect>
                                  </p:childTnLst>
                                </p:cTn>
                              </p:par>
                              <p:par>
                                <p:cTn id="23" presetID="16" presetClass="entr" presetSubtype="21"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barn(inVertical)">
                                      <p:cBhvr>
                                        <p:cTn id="25" dur="500"/>
                                        <p:tgtEl>
                                          <p:spTgt spid="32"/>
                                        </p:tgtEl>
                                      </p:cBhvr>
                                    </p:animEffect>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33"/>
                                        </p:tgtEl>
                                        <p:attrNameLst>
                                          <p:attrName>style.visibility</p:attrName>
                                        </p:attrNameLst>
                                      </p:cBhvr>
                                      <p:to>
                                        <p:strVal val="visible"/>
                                      </p:to>
                                    </p:set>
                                    <p:anim calcmode="lin" valueType="num">
                                      <p:cBhvr>
                                        <p:cTn id="30" dur="500" fill="hold"/>
                                        <p:tgtEl>
                                          <p:spTgt spid="33"/>
                                        </p:tgtEl>
                                        <p:attrNameLst>
                                          <p:attrName>ppt_w</p:attrName>
                                        </p:attrNameLst>
                                      </p:cBhvr>
                                      <p:tavLst>
                                        <p:tav tm="0">
                                          <p:val>
                                            <p:fltVal val="0"/>
                                          </p:val>
                                        </p:tav>
                                        <p:tav tm="100000">
                                          <p:val>
                                            <p:strVal val="#ppt_w"/>
                                          </p:val>
                                        </p:tav>
                                      </p:tavLst>
                                    </p:anim>
                                    <p:anim calcmode="lin" valueType="num">
                                      <p:cBhvr>
                                        <p:cTn id="31" dur="500" fill="hold"/>
                                        <p:tgtEl>
                                          <p:spTgt spid="33"/>
                                        </p:tgtEl>
                                        <p:attrNameLst>
                                          <p:attrName>ppt_h</p:attrName>
                                        </p:attrNameLst>
                                      </p:cBhvr>
                                      <p:tavLst>
                                        <p:tav tm="0">
                                          <p:val>
                                            <p:fltVal val="0"/>
                                          </p:val>
                                        </p:tav>
                                        <p:tav tm="100000">
                                          <p:val>
                                            <p:strVal val="#ppt_h"/>
                                          </p:val>
                                        </p:tav>
                                      </p:tavLst>
                                    </p:anim>
                                    <p:animEffect transition="in" filter="fade">
                                      <p:cBhvr>
                                        <p:cTn id="32" dur="50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animEffect transition="in" filter="wipe(left)">
                                      <p:cBhvr>
                                        <p:cTn id="37" dur="500"/>
                                        <p:tgtEl>
                                          <p:spTgt spid="25"/>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8" fill="hold" grpId="0" nodeType="clickEffect">
                                  <p:stCondLst>
                                    <p:cond delay="0"/>
                                  </p:stCondLst>
                                  <p:childTnLst>
                                    <p:set>
                                      <p:cBhvr>
                                        <p:cTn id="41" dur="1" fill="hold">
                                          <p:stCondLst>
                                            <p:cond delay="0"/>
                                          </p:stCondLst>
                                        </p:cTn>
                                        <p:tgtEl>
                                          <p:spTgt spid="34"/>
                                        </p:tgtEl>
                                        <p:attrNameLst>
                                          <p:attrName>style.visibility</p:attrName>
                                        </p:attrNameLst>
                                      </p:cBhvr>
                                      <p:to>
                                        <p:strVal val="visible"/>
                                      </p:to>
                                    </p:set>
                                    <p:anim calcmode="lin" valueType="num">
                                      <p:cBhvr additive="base">
                                        <p:cTn id="42" dur="500" fill="hold"/>
                                        <p:tgtEl>
                                          <p:spTgt spid="34"/>
                                        </p:tgtEl>
                                        <p:attrNameLst>
                                          <p:attrName>ppt_x</p:attrName>
                                        </p:attrNameLst>
                                      </p:cBhvr>
                                      <p:tavLst>
                                        <p:tav tm="0">
                                          <p:val>
                                            <p:strVal val="0-#ppt_w/2"/>
                                          </p:val>
                                        </p:tav>
                                        <p:tav tm="100000">
                                          <p:val>
                                            <p:strVal val="#ppt_x"/>
                                          </p:val>
                                        </p:tav>
                                      </p:tavLst>
                                    </p:anim>
                                    <p:anim calcmode="lin" valueType="num">
                                      <p:cBhvr additive="base">
                                        <p:cTn id="43" dur="500" fill="hold"/>
                                        <p:tgtEl>
                                          <p:spTgt spid="34"/>
                                        </p:tgtEl>
                                        <p:attrNameLst>
                                          <p:attrName>ppt_y</p:attrName>
                                        </p:attrNameLst>
                                      </p:cBhvr>
                                      <p:tavLst>
                                        <p:tav tm="0">
                                          <p:val>
                                            <p:strVal val="#ppt_y"/>
                                          </p:val>
                                        </p:tav>
                                        <p:tav tm="100000">
                                          <p:val>
                                            <p:strVal val="#ppt_y"/>
                                          </p:val>
                                        </p:tav>
                                      </p:tavLst>
                                    </p:anim>
                                  </p:childTnLst>
                                </p:cTn>
                              </p:par>
                              <p:par>
                                <p:cTn id="44" presetID="2" presetClass="entr" presetSubtype="8" fill="hold" grpId="0" nodeType="withEffect">
                                  <p:stCondLst>
                                    <p:cond delay="0"/>
                                  </p:stCondLst>
                                  <p:childTnLst>
                                    <p:set>
                                      <p:cBhvr>
                                        <p:cTn id="45" dur="1" fill="hold">
                                          <p:stCondLst>
                                            <p:cond delay="0"/>
                                          </p:stCondLst>
                                        </p:cTn>
                                        <p:tgtEl>
                                          <p:spTgt spid="26"/>
                                        </p:tgtEl>
                                        <p:attrNameLst>
                                          <p:attrName>style.visibility</p:attrName>
                                        </p:attrNameLst>
                                      </p:cBhvr>
                                      <p:to>
                                        <p:strVal val="visible"/>
                                      </p:to>
                                    </p:set>
                                    <p:anim calcmode="lin" valueType="num">
                                      <p:cBhvr additive="base">
                                        <p:cTn id="46" dur="500" fill="hold"/>
                                        <p:tgtEl>
                                          <p:spTgt spid="26"/>
                                        </p:tgtEl>
                                        <p:attrNameLst>
                                          <p:attrName>ppt_x</p:attrName>
                                        </p:attrNameLst>
                                      </p:cBhvr>
                                      <p:tavLst>
                                        <p:tav tm="0">
                                          <p:val>
                                            <p:strVal val="0-#ppt_w/2"/>
                                          </p:val>
                                        </p:tav>
                                        <p:tav tm="100000">
                                          <p:val>
                                            <p:strVal val="#ppt_x"/>
                                          </p:val>
                                        </p:tav>
                                      </p:tavLst>
                                    </p:anim>
                                    <p:anim calcmode="lin" valueType="num">
                                      <p:cBhvr additive="base">
                                        <p:cTn id="47" dur="500" fill="hold"/>
                                        <p:tgtEl>
                                          <p:spTgt spid="26"/>
                                        </p:tgtEl>
                                        <p:attrNameLst>
                                          <p:attrName>ppt_y</p:attrName>
                                        </p:attrNameLst>
                                      </p:cBhvr>
                                      <p:tavLst>
                                        <p:tav tm="0">
                                          <p:val>
                                            <p:strVal val="#ppt_y"/>
                                          </p:val>
                                        </p:tav>
                                        <p:tav tm="100000">
                                          <p:val>
                                            <p:strVal val="#ppt_y"/>
                                          </p:val>
                                        </p:tav>
                                      </p:tavLst>
                                    </p:anim>
                                  </p:childTnLst>
                                </p:cTn>
                              </p:par>
                              <p:par>
                                <p:cTn id="48" presetID="2" presetClass="entr" presetSubtype="8"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anim calcmode="lin" valueType="num">
                                      <p:cBhvr additive="base">
                                        <p:cTn id="50" dur="500" fill="hold"/>
                                        <p:tgtEl>
                                          <p:spTgt spid="27"/>
                                        </p:tgtEl>
                                        <p:attrNameLst>
                                          <p:attrName>ppt_x</p:attrName>
                                        </p:attrNameLst>
                                      </p:cBhvr>
                                      <p:tavLst>
                                        <p:tav tm="0">
                                          <p:val>
                                            <p:strVal val="0-#ppt_w/2"/>
                                          </p:val>
                                        </p:tav>
                                        <p:tav tm="100000">
                                          <p:val>
                                            <p:strVal val="#ppt_x"/>
                                          </p:val>
                                        </p:tav>
                                      </p:tavLst>
                                    </p:anim>
                                    <p:anim calcmode="lin" valueType="num">
                                      <p:cBhvr additive="base">
                                        <p:cTn id="51"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38"/>
                                        </p:tgtEl>
                                        <p:attrNameLst>
                                          <p:attrName>style.visibility</p:attrName>
                                        </p:attrNameLst>
                                      </p:cBhvr>
                                      <p:to>
                                        <p:strVal val="visible"/>
                                      </p:to>
                                    </p:set>
                                    <p:anim calcmode="lin" valueType="num">
                                      <p:cBhvr additive="base">
                                        <p:cTn id="56" dur="500" fill="hold"/>
                                        <p:tgtEl>
                                          <p:spTgt spid="38"/>
                                        </p:tgtEl>
                                        <p:attrNameLst>
                                          <p:attrName>ppt_x</p:attrName>
                                        </p:attrNameLst>
                                      </p:cBhvr>
                                      <p:tavLst>
                                        <p:tav tm="0">
                                          <p:val>
                                            <p:strVal val="#ppt_x"/>
                                          </p:val>
                                        </p:tav>
                                        <p:tav tm="100000">
                                          <p:val>
                                            <p:strVal val="#ppt_x"/>
                                          </p:val>
                                        </p:tav>
                                      </p:tavLst>
                                    </p:anim>
                                    <p:anim calcmode="lin" valueType="num">
                                      <p:cBhvr additive="base">
                                        <p:cTn id="57" dur="500" fill="hold"/>
                                        <p:tgtEl>
                                          <p:spTgt spid="38"/>
                                        </p:tgtEl>
                                        <p:attrNameLst>
                                          <p:attrName>ppt_y</p:attrName>
                                        </p:attrNameLst>
                                      </p:cBhvr>
                                      <p:tavLst>
                                        <p:tav tm="0">
                                          <p:val>
                                            <p:strVal val="1+#ppt_h/2"/>
                                          </p:val>
                                        </p:tav>
                                        <p:tav tm="100000">
                                          <p:val>
                                            <p:strVal val="#ppt_y"/>
                                          </p:val>
                                        </p:tav>
                                      </p:tavLst>
                                    </p:anim>
                                  </p:childTnLst>
                                </p:cTn>
                              </p:par>
                              <p:par>
                                <p:cTn id="58" presetID="2" presetClass="entr" presetSubtype="4" fill="hold" grpId="0" nodeType="withEffect">
                                  <p:stCondLst>
                                    <p:cond delay="0"/>
                                  </p:stCondLst>
                                  <p:childTnLst>
                                    <p:set>
                                      <p:cBhvr>
                                        <p:cTn id="59" dur="1" fill="hold">
                                          <p:stCondLst>
                                            <p:cond delay="0"/>
                                          </p:stCondLst>
                                        </p:cTn>
                                        <p:tgtEl>
                                          <p:spTgt spid="39"/>
                                        </p:tgtEl>
                                        <p:attrNameLst>
                                          <p:attrName>style.visibility</p:attrName>
                                        </p:attrNameLst>
                                      </p:cBhvr>
                                      <p:to>
                                        <p:strVal val="visible"/>
                                      </p:to>
                                    </p:set>
                                    <p:anim calcmode="lin" valueType="num">
                                      <p:cBhvr additive="base">
                                        <p:cTn id="60" dur="500" fill="hold"/>
                                        <p:tgtEl>
                                          <p:spTgt spid="39"/>
                                        </p:tgtEl>
                                        <p:attrNameLst>
                                          <p:attrName>ppt_x</p:attrName>
                                        </p:attrNameLst>
                                      </p:cBhvr>
                                      <p:tavLst>
                                        <p:tav tm="0">
                                          <p:val>
                                            <p:strVal val="#ppt_x"/>
                                          </p:val>
                                        </p:tav>
                                        <p:tav tm="100000">
                                          <p:val>
                                            <p:strVal val="#ppt_x"/>
                                          </p:val>
                                        </p:tav>
                                      </p:tavLst>
                                    </p:anim>
                                    <p:anim calcmode="lin" valueType="num">
                                      <p:cBhvr additive="base">
                                        <p:cTn id="61" dur="500" fill="hold"/>
                                        <p:tgtEl>
                                          <p:spTgt spid="39"/>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35"/>
                                        </p:tgtEl>
                                        <p:attrNameLst>
                                          <p:attrName>style.visibility</p:attrName>
                                        </p:attrNameLst>
                                      </p:cBhvr>
                                      <p:to>
                                        <p:strVal val="visible"/>
                                      </p:to>
                                    </p:set>
                                    <p:anim calcmode="lin" valueType="num">
                                      <p:cBhvr additive="base">
                                        <p:cTn id="64" dur="500" fill="hold"/>
                                        <p:tgtEl>
                                          <p:spTgt spid="35"/>
                                        </p:tgtEl>
                                        <p:attrNameLst>
                                          <p:attrName>ppt_x</p:attrName>
                                        </p:attrNameLst>
                                      </p:cBhvr>
                                      <p:tavLst>
                                        <p:tav tm="0">
                                          <p:val>
                                            <p:strVal val="#ppt_x"/>
                                          </p:val>
                                        </p:tav>
                                        <p:tav tm="100000">
                                          <p:val>
                                            <p:strVal val="#ppt_x"/>
                                          </p:val>
                                        </p:tav>
                                      </p:tavLst>
                                    </p:anim>
                                    <p:anim calcmode="lin" valueType="num">
                                      <p:cBhvr additive="base">
                                        <p:cTn id="65"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40"/>
                                        </p:tgtEl>
                                        <p:attrNameLst>
                                          <p:attrName>style.visibility</p:attrName>
                                        </p:attrNameLst>
                                      </p:cBhvr>
                                      <p:to>
                                        <p:strVal val="visible"/>
                                      </p:to>
                                    </p:set>
                                    <p:anim calcmode="lin" valueType="num">
                                      <p:cBhvr additive="base">
                                        <p:cTn id="70" dur="500" fill="hold"/>
                                        <p:tgtEl>
                                          <p:spTgt spid="40"/>
                                        </p:tgtEl>
                                        <p:attrNameLst>
                                          <p:attrName>ppt_x</p:attrName>
                                        </p:attrNameLst>
                                      </p:cBhvr>
                                      <p:tavLst>
                                        <p:tav tm="0">
                                          <p:val>
                                            <p:strVal val="#ppt_x"/>
                                          </p:val>
                                        </p:tav>
                                        <p:tav tm="100000">
                                          <p:val>
                                            <p:strVal val="#ppt_x"/>
                                          </p:val>
                                        </p:tav>
                                      </p:tavLst>
                                    </p:anim>
                                    <p:anim calcmode="lin" valueType="num">
                                      <p:cBhvr additive="base">
                                        <p:cTn id="71" dur="500" fill="hold"/>
                                        <p:tgtEl>
                                          <p:spTgt spid="40"/>
                                        </p:tgtEl>
                                        <p:attrNameLst>
                                          <p:attrName>ppt_y</p:attrName>
                                        </p:attrNameLst>
                                      </p:cBhvr>
                                      <p:tavLst>
                                        <p:tav tm="0">
                                          <p:val>
                                            <p:strVal val="1+#ppt_h/2"/>
                                          </p:val>
                                        </p:tav>
                                        <p:tav tm="100000">
                                          <p:val>
                                            <p:strVal val="#ppt_y"/>
                                          </p:val>
                                        </p:tav>
                                      </p:tavLst>
                                    </p:anim>
                                  </p:childTnLst>
                                </p:cTn>
                              </p:par>
                              <p:par>
                                <p:cTn id="72" presetID="2" presetClass="entr" presetSubtype="4" fill="hold" grpId="0" nodeType="withEffect">
                                  <p:stCondLst>
                                    <p:cond delay="0"/>
                                  </p:stCondLst>
                                  <p:childTnLst>
                                    <p:set>
                                      <p:cBhvr>
                                        <p:cTn id="73" dur="1" fill="hold">
                                          <p:stCondLst>
                                            <p:cond delay="0"/>
                                          </p:stCondLst>
                                        </p:cTn>
                                        <p:tgtEl>
                                          <p:spTgt spid="41"/>
                                        </p:tgtEl>
                                        <p:attrNameLst>
                                          <p:attrName>style.visibility</p:attrName>
                                        </p:attrNameLst>
                                      </p:cBhvr>
                                      <p:to>
                                        <p:strVal val="visible"/>
                                      </p:to>
                                    </p:set>
                                    <p:anim calcmode="lin" valueType="num">
                                      <p:cBhvr additive="base">
                                        <p:cTn id="74" dur="500" fill="hold"/>
                                        <p:tgtEl>
                                          <p:spTgt spid="41"/>
                                        </p:tgtEl>
                                        <p:attrNameLst>
                                          <p:attrName>ppt_x</p:attrName>
                                        </p:attrNameLst>
                                      </p:cBhvr>
                                      <p:tavLst>
                                        <p:tav tm="0">
                                          <p:val>
                                            <p:strVal val="#ppt_x"/>
                                          </p:val>
                                        </p:tav>
                                        <p:tav tm="100000">
                                          <p:val>
                                            <p:strVal val="#ppt_x"/>
                                          </p:val>
                                        </p:tav>
                                      </p:tavLst>
                                    </p:anim>
                                    <p:anim calcmode="lin" valueType="num">
                                      <p:cBhvr additive="base">
                                        <p:cTn id="75" dur="500" fill="hold"/>
                                        <p:tgtEl>
                                          <p:spTgt spid="41"/>
                                        </p:tgtEl>
                                        <p:attrNameLst>
                                          <p:attrName>ppt_y</p:attrName>
                                        </p:attrNameLst>
                                      </p:cBhvr>
                                      <p:tavLst>
                                        <p:tav tm="0">
                                          <p:val>
                                            <p:strVal val="1+#ppt_h/2"/>
                                          </p:val>
                                        </p:tav>
                                        <p:tav tm="100000">
                                          <p:val>
                                            <p:strVal val="#ppt_y"/>
                                          </p:val>
                                        </p:tav>
                                      </p:tavLst>
                                    </p:anim>
                                  </p:childTnLst>
                                </p:cTn>
                              </p:par>
                              <p:par>
                                <p:cTn id="76" presetID="2" presetClass="entr" presetSubtype="4" fill="hold" grpId="0" nodeType="withEffect">
                                  <p:stCondLst>
                                    <p:cond delay="0"/>
                                  </p:stCondLst>
                                  <p:childTnLst>
                                    <p:set>
                                      <p:cBhvr>
                                        <p:cTn id="77" dur="1" fill="hold">
                                          <p:stCondLst>
                                            <p:cond delay="0"/>
                                          </p:stCondLst>
                                        </p:cTn>
                                        <p:tgtEl>
                                          <p:spTgt spid="36"/>
                                        </p:tgtEl>
                                        <p:attrNameLst>
                                          <p:attrName>style.visibility</p:attrName>
                                        </p:attrNameLst>
                                      </p:cBhvr>
                                      <p:to>
                                        <p:strVal val="visible"/>
                                      </p:to>
                                    </p:set>
                                    <p:anim calcmode="lin" valueType="num">
                                      <p:cBhvr additive="base">
                                        <p:cTn id="78" dur="500" fill="hold"/>
                                        <p:tgtEl>
                                          <p:spTgt spid="36"/>
                                        </p:tgtEl>
                                        <p:attrNameLst>
                                          <p:attrName>ppt_x</p:attrName>
                                        </p:attrNameLst>
                                      </p:cBhvr>
                                      <p:tavLst>
                                        <p:tav tm="0">
                                          <p:val>
                                            <p:strVal val="#ppt_x"/>
                                          </p:val>
                                        </p:tav>
                                        <p:tav tm="100000">
                                          <p:val>
                                            <p:strVal val="#ppt_x"/>
                                          </p:val>
                                        </p:tav>
                                      </p:tavLst>
                                    </p:anim>
                                    <p:anim calcmode="lin" valueType="num">
                                      <p:cBhvr additive="base">
                                        <p:cTn id="79"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2" presetClass="entr" presetSubtype="2" fill="hold" grpId="0" nodeType="clickEffect">
                                  <p:stCondLst>
                                    <p:cond delay="0"/>
                                  </p:stCondLst>
                                  <p:childTnLst>
                                    <p:set>
                                      <p:cBhvr>
                                        <p:cTn id="83" dur="1" fill="hold">
                                          <p:stCondLst>
                                            <p:cond delay="0"/>
                                          </p:stCondLst>
                                        </p:cTn>
                                        <p:tgtEl>
                                          <p:spTgt spid="42"/>
                                        </p:tgtEl>
                                        <p:attrNameLst>
                                          <p:attrName>style.visibility</p:attrName>
                                        </p:attrNameLst>
                                      </p:cBhvr>
                                      <p:to>
                                        <p:strVal val="visible"/>
                                      </p:to>
                                    </p:set>
                                    <p:anim calcmode="lin" valueType="num">
                                      <p:cBhvr additive="base">
                                        <p:cTn id="84" dur="500" fill="hold"/>
                                        <p:tgtEl>
                                          <p:spTgt spid="42"/>
                                        </p:tgtEl>
                                        <p:attrNameLst>
                                          <p:attrName>ppt_x</p:attrName>
                                        </p:attrNameLst>
                                      </p:cBhvr>
                                      <p:tavLst>
                                        <p:tav tm="0">
                                          <p:val>
                                            <p:strVal val="1+#ppt_w/2"/>
                                          </p:val>
                                        </p:tav>
                                        <p:tav tm="100000">
                                          <p:val>
                                            <p:strVal val="#ppt_x"/>
                                          </p:val>
                                        </p:tav>
                                      </p:tavLst>
                                    </p:anim>
                                    <p:anim calcmode="lin" valueType="num">
                                      <p:cBhvr additive="base">
                                        <p:cTn id="85" dur="500" fill="hold"/>
                                        <p:tgtEl>
                                          <p:spTgt spid="42"/>
                                        </p:tgtEl>
                                        <p:attrNameLst>
                                          <p:attrName>ppt_y</p:attrName>
                                        </p:attrNameLst>
                                      </p:cBhvr>
                                      <p:tavLst>
                                        <p:tav tm="0">
                                          <p:val>
                                            <p:strVal val="#ppt_y"/>
                                          </p:val>
                                        </p:tav>
                                        <p:tav tm="100000">
                                          <p:val>
                                            <p:strVal val="#ppt_y"/>
                                          </p:val>
                                        </p:tav>
                                      </p:tavLst>
                                    </p:anim>
                                  </p:childTnLst>
                                </p:cTn>
                              </p:par>
                              <p:par>
                                <p:cTn id="86" presetID="2" presetClass="entr" presetSubtype="2" fill="hold" grpId="0" nodeType="withEffect">
                                  <p:stCondLst>
                                    <p:cond delay="0"/>
                                  </p:stCondLst>
                                  <p:childTnLst>
                                    <p:set>
                                      <p:cBhvr>
                                        <p:cTn id="87" dur="1" fill="hold">
                                          <p:stCondLst>
                                            <p:cond delay="0"/>
                                          </p:stCondLst>
                                        </p:cTn>
                                        <p:tgtEl>
                                          <p:spTgt spid="43"/>
                                        </p:tgtEl>
                                        <p:attrNameLst>
                                          <p:attrName>style.visibility</p:attrName>
                                        </p:attrNameLst>
                                      </p:cBhvr>
                                      <p:to>
                                        <p:strVal val="visible"/>
                                      </p:to>
                                    </p:set>
                                    <p:anim calcmode="lin" valueType="num">
                                      <p:cBhvr additive="base">
                                        <p:cTn id="88" dur="500" fill="hold"/>
                                        <p:tgtEl>
                                          <p:spTgt spid="43"/>
                                        </p:tgtEl>
                                        <p:attrNameLst>
                                          <p:attrName>ppt_x</p:attrName>
                                        </p:attrNameLst>
                                      </p:cBhvr>
                                      <p:tavLst>
                                        <p:tav tm="0">
                                          <p:val>
                                            <p:strVal val="1+#ppt_w/2"/>
                                          </p:val>
                                        </p:tav>
                                        <p:tav tm="100000">
                                          <p:val>
                                            <p:strVal val="#ppt_x"/>
                                          </p:val>
                                        </p:tav>
                                      </p:tavLst>
                                    </p:anim>
                                    <p:anim calcmode="lin" valueType="num">
                                      <p:cBhvr additive="base">
                                        <p:cTn id="89" dur="500" fill="hold"/>
                                        <p:tgtEl>
                                          <p:spTgt spid="43"/>
                                        </p:tgtEl>
                                        <p:attrNameLst>
                                          <p:attrName>ppt_y</p:attrName>
                                        </p:attrNameLst>
                                      </p:cBhvr>
                                      <p:tavLst>
                                        <p:tav tm="0">
                                          <p:val>
                                            <p:strVal val="#ppt_y"/>
                                          </p:val>
                                        </p:tav>
                                        <p:tav tm="100000">
                                          <p:val>
                                            <p:strVal val="#ppt_y"/>
                                          </p:val>
                                        </p:tav>
                                      </p:tavLst>
                                    </p:anim>
                                  </p:childTnLst>
                                </p:cTn>
                              </p:par>
                              <p:par>
                                <p:cTn id="90" presetID="2" presetClass="entr" presetSubtype="2" fill="hold" grpId="0" nodeType="withEffect">
                                  <p:stCondLst>
                                    <p:cond delay="0"/>
                                  </p:stCondLst>
                                  <p:childTnLst>
                                    <p:set>
                                      <p:cBhvr>
                                        <p:cTn id="91" dur="1" fill="hold">
                                          <p:stCondLst>
                                            <p:cond delay="0"/>
                                          </p:stCondLst>
                                        </p:cTn>
                                        <p:tgtEl>
                                          <p:spTgt spid="37"/>
                                        </p:tgtEl>
                                        <p:attrNameLst>
                                          <p:attrName>style.visibility</p:attrName>
                                        </p:attrNameLst>
                                      </p:cBhvr>
                                      <p:to>
                                        <p:strVal val="visible"/>
                                      </p:to>
                                    </p:set>
                                    <p:anim calcmode="lin" valueType="num">
                                      <p:cBhvr additive="base">
                                        <p:cTn id="92" dur="500" fill="hold"/>
                                        <p:tgtEl>
                                          <p:spTgt spid="37"/>
                                        </p:tgtEl>
                                        <p:attrNameLst>
                                          <p:attrName>ppt_x</p:attrName>
                                        </p:attrNameLst>
                                      </p:cBhvr>
                                      <p:tavLst>
                                        <p:tav tm="0">
                                          <p:val>
                                            <p:strVal val="1+#ppt_w/2"/>
                                          </p:val>
                                        </p:tav>
                                        <p:tav tm="100000">
                                          <p:val>
                                            <p:strVal val="#ppt_x"/>
                                          </p:val>
                                        </p:tav>
                                      </p:tavLst>
                                    </p:anim>
                                    <p:anim calcmode="lin" valueType="num">
                                      <p:cBhvr additive="base">
                                        <p:cTn id="93" dur="5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3" grpId="0" animBg="1"/>
      <p:bldP spid="5" grpId="0"/>
      <p:bldP spid="32" grpId="0"/>
      <p:bldP spid="33" grpId="0"/>
      <p:bldP spid="34" grpId="0"/>
      <p:bldP spid="35" grpId="0"/>
      <p:bldP spid="36" grpId="0"/>
      <p:bldP spid="37" grpId="0"/>
      <p:bldP spid="26" grpId="0" animBg="1"/>
      <p:bldP spid="27" grpId="0" animBg="1"/>
      <p:bldP spid="38" grpId="0" animBg="1"/>
      <p:bldP spid="39" grpId="0" animBg="1"/>
      <p:bldP spid="40" grpId="0" animBg="1"/>
      <p:bldP spid="41" grpId="0" animBg="1"/>
      <p:bldP spid="42" grpId="0" animBg="1"/>
      <p:bldP spid="43"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圆角 32">
            <a:extLst>
              <a:ext uri="{FF2B5EF4-FFF2-40B4-BE49-F238E27FC236}">
                <a16:creationId xmlns:a16="http://schemas.microsoft.com/office/drawing/2014/main" id="{A711F344-749E-407F-A68A-AF8CD405CE41}"/>
              </a:ext>
            </a:extLst>
          </p:cNvPr>
          <p:cNvSpPr/>
          <p:nvPr/>
        </p:nvSpPr>
        <p:spPr>
          <a:xfrm>
            <a:off x="1169414" y="1269165"/>
            <a:ext cx="990871"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第四节  长期生产函数</a:t>
            </a:r>
          </a:p>
        </p:txBody>
      </p:sp>
      <p:grpSp>
        <p:nvGrpSpPr>
          <p:cNvPr id="4" name="组合 29"/>
          <p:cNvGrpSpPr>
            <a:grpSpLocks/>
          </p:cNvGrpSpPr>
          <p:nvPr/>
        </p:nvGrpSpPr>
        <p:grpSpPr bwMode="auto">
          <a:xfrm>
            <a:off x="4766344" y="3076102"/>
            <a:ext cx="1893888" cy="2676525"/>
            <a:chOff x="0" y="0"/>
            <a:chExt cx="1893888" cy="2676525"/>
          </a:xfrm>
        </p:grpSpPr>
        <p:sp>
          <p:nvSpPr>
            <p:cNvPr id="5" name="任意多边形 38"/>
            <p:cNvSpPr>
              <a:spLocks noChangeArrowheads="1"/>
            </p:cNvSpPr>
            <p:nvPr/>
          </p:nvSpPr>
          <p:spPr bwMode="auto">
            <a:xfrm>
              <a:off x="0" y="71438"/>
              <a:ext cx="1609725" cy="2605087"/>
            </a:xfrm>
            <a:custGeom>
              <a:avLst/>
              <a:gdLst>
                <a:gd name="T0" fmla="*/ 0 w 647700"/>
                <a:gd name="T1" fmla="*/ 2605087 h 495300"/>
                <a:gd name="T2" fmla="*/ 1041587 w 647700"/>
                <a:gd name="T3" fmla="*/ 1703326 h 495300"/>
                <a:gd name="T4" fmla="*/ 1609725 w 647700"/>
                <a:gd name="T5" fmla="*/ 0 h 495300"/>
                <a:gd name="T6" fmla="*/ 0 60000 65536"/>
                <a:gd name="T7" fmla="*/ 0 60000 65536"/>
                <a:gd name="T8" fmla="*/ 0 60000 65536"/>
                <a:gd name="T9" fmla="*/ 0 w 647700"/>
                <a:gd name="T10" fmla="*/ 0 h 495300"/>
                <a:gd name="T11" fmla="*/ 647700 w 647700"/>
                <a:gd name="T12" fmla="*/ 495300 h 495300"/>
              </a:gdLst>
              <a:ahLst/>
              <a:cxnLst>
                <a:cxn ang="T6">
                  <a:pos x="T0" y="T1"/>
                </a:cxn>
                <a:cxn ang="T7">
                  <a:pos x="T2" y="T3"/>
                </a:cxn>
                <a:cxn ang="T8">
                  <a:pos x="T4" y="T5"/>
                </a:cxn>
              </a:cxnLst>
              <a:rect l="T9" t="T10" r="T11" b="T12"/>
              <a:pathLst>
                <a:path w="647700" h="495300">
                  <a:moveTo>
                    <a:pt x="0" y="495300"/>
                  </a:moveTo>
                  <a:cubicBezTo>
                    <a:pt x="155575" y="450850"/>
                    <a:pt x="311150" y="406400"/>
                    <a:pt x="419100" y="323850"/>
                  </a:cubicBezTo>
                  <a:cubicBezTo>
                    <a:pt x="527050" y="241300"/>
                    <a:pt x="587375" y="120650"/>
                    <a:pt x="647700" y="0"/>
                  </a:cubicBezTo>
                </a:path>
              </a:pathLst>
            </a:custGeom>
            <a:noFill/>
            <a:ln w="38100" cmpd="sng">
              <a:solidFill>
                <a:srgbClr val="FFC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6" name="Object 5"/>
            <p:cNvGraphicFramePr>
              <a:graphicFrameLocks noChangeAspect="1"/>
            </p:cNvGraphicFramePr>
            <p:nvPr/>
          </p:nvGraphicFramePr>
          <p:xfrm>
            <a:off x="1681163" y="0"/>
            <a:ext cx="212725" cy="231775"/>
          </p:xfrm>
          <a:graphic>
            <a:graphicData uri="http://schemas.openxmlformats.org/presentationml/2006/ole">
              <mc:AlternateContent xmlns:mc="http://schemas.openxmlformats.org/markup-compatibility/2006">
                <mc:Choice xmlns:v="urn:schemas-microsoft-com:vml" Requires="v">
                  <p:oleObj spid="_x0000_s115250" r:id="rId3" imgW="153315" imgH="166064" progId="">
                    <p:embed/>
                  </p:oleObj>
                </mc:Choice>
                <mc:Fallback>
                  <p:oleObj r:id="rId3" imgW="153315" imgH="166064" progId="">
                    <p:embed/>
                    <p:pic>
                      <p:nvPicPr>
                        <p:cNvPr id="40965"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1163" y="0"/>
                          <a:ext cx="212725"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 name="组合 28"/>
          <p:cNvGrpSpPr>
            <a:grpSpLocks/>
          </p:cNvGrpSpPr>
          <p:nvPr/>
        </p:nvGrpSpPr>
        <p:grpSpPr bwMode="auto">
          <a:xfrm>
            <a:off x="4447257" y="2776065"/>
            <a:ext cx="3929062" cy="3406775"/>
            <a:chOff x="0" y="0"/>
            <a:chExt cx="3929062" cy="3406775"/>
          </a:xfrm>
        </p:grpSpPr>
        <p:sp>
          <p:nvSpPr>
            <p:cNvPr id="8" name="任意多边形 32"/>
            <p:cNvSpPr>
              <a:spLocks noChangeArrowheads="1"/>
            </p:cNvSpPr>
            <p:nvPr/>
          </p:nvSpPr>
          <p:spPr bwMode="auto">
            <a:xfrm rot="19911204">
              <a:off x="946150" y="1089025"/>
              <a:ext cx="1036637" cy="1851025"/>
            </a:xfrm>
            <a:custGeom>
              <a:avLst/>
              <a:gdLst>
                <a:gd name="T0" fmla="*/ 188479 w 1257300"/>
                <a:gd name="T1" fmla="*/ 0 h 2343150"/>
                <a:gd name="T2" fmla="*/ 141360 w 1257300"/>
                <a:gd name="T3" fmla="*/ 1128674 h 2343150"/>
                <a:gd name="T4" fmla="*/ 1036637 w 1257300"/>
                <a:gd name="T5" fmla="*/ 1851025 h 2343150"/>
                <a:gd name="T6" fmla="*/ 0 60000 65536"/>
                <a:gd name="T7" fmla="*/ 0 60000 65536"/>
                <a:gd name="T8" fmla="*/ 0 60000 65536"/>
                <a:gd name="T9" fmla="*/ 0 w 1257300"/>
                <a:gd name="T10" fmla="*/ 0 h 2343150"/>
                <a:gd name="T11" fmla="*/ 1257300 w 1257300"/>
                <a:gd name="T12" fmla="*/ 2343150 h 2343150"/>
              </a:gdLst>
              <a:ahLst/>
              <a:cxnLst>
                <a:cxn ang="T6">
                  <a:pos x="T0" y="T1"/>
                </a:cxn>
                <a:cxn ang="T7">
                  <a:pos x="T2" y="T3"/>
                </a:cxn>
                <a:cxn ang="T8">
                  <a:pos x="T4" y="T5"/>
                </a:cxn>
              </a:cxnLst>
              <a:rect l="T9" t="T10" r="T11" b="T12"/>
              <a:pathLst>
                <a:path w="1257300" h="2343150">
                  <a:moveTo>
                    <a:pt x="228600" y="0"/>
                  </a:moveTo>
                  <a:cubicBezTo>
                    <a:pt x="114300" y="519112"/>
                    <a:pt x="0" y="1038225"/>
                    <a:pt x="171450" y="1428750"/>
                  </a:cubicBezTo>
                  <a:cubicBezTo>
                    <a:pt x="342900" y="1819275"/>
                    <a:pt x="800100" y="2081212"/>
                    <a:pt x="1257300" y="234315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nvGrpSpPr>
            <p:cNvPr id="9" name="组合 27"/>
            <p:cNvGrpSpPr>
              <a:grpSpLocks/>
            </p:cNvGrpSpPr>
            <p:nvPr/>
          </p:nvGrpSpPr>
          <p:grpSpPr bwMode="auto">
            <a:xfrm>
              <a:off x="0" y="0"/>
              <a:ext cx="3929062" cy="3406775"/>
              <a:chOff x="0" y="0"/>
              <a:chExt cx="3929062" cy="3406775"/>
            </a:xfrm>
          </p:grpSpPr>
          <p:sp>
            <p:nvSpPr>
              <p:cNvPr id="10" name="任意多边形 31"/>
              <p:cNvSpPr>
                <a:spLocks noChangeArrowheads="1"/>
              </p:cNvSpPr>
              <p:nvPr/>
            </p:nvSpPr>
            <p:spPr bwMode="auto">
              <a:xfrm rot="19911204">
                <a:off x="1203325" y="0"/>
                <a:ext cx="1484312" cy="2544762"/>
              </a:xfrm>
              <a:custGeom>
                <a:avLst/>
                <a:gdLst>
                  <a:gd name="T0" fmla="*/ 269875 w 1257300"/>
                  <a:gd name="T1" fmla="*/ 0 h 2343150"/>
                  <a:gd name="T2" fmla="*/ 202406 w 1257300"/>
                  <a:gd name="T3" fmla="*/ 1551684 h 2343150"/>
                  <a:gd name="T4" fmla="*/ 1484312 w 1257300"/>
                  <a:gd name="T5" fmla="*/ 2544762 h 2343150"/>
                  <a:gd name="T6" fmla="*/ 0 60000 65536"/>
                  <a:gd name="T7" fmla="*/ 0 60000 65536"/>
                  <a:gd name="T8" fmla="*/ 0 60000 65536"/>
                  <a:gd name="T9" fmla="*/ 0 w 1257300"/>
                  <a:gd name="T10" fmla="*/ 0 h 2343150"/>
                  <a:gd name="T11" fmla="*/ 1257300 w 1257300"/>
                  <a:gd name="T12" fmla="*/ 2343150 h 2343150"/>
                </a:gdLst>
                <a:ahLst/>
                <a:cxnLst>
                  <a:cxn ang="T6">
                    <a:pos x="T0" y="T1"/>
                  </a:cxn>
                  <a:cxn ang="T7">
                    <a:pos x="T2" y="T3"/>
                  </a:cxn>
                  <a:cxn ang="T8">
                    <a:pos x="T4" y="T5"/>
                  </a:cxn>
                </a:cxnLst>
                <a:rect l="T9" t="T10" r="T11" b="T12"/>
                <a:pathLst>
                  <a:path w="1257300" h="2343150">
                    <a:moveTo>
                      <a:pt x="228600" y="0"/>
                    </a:moveTo>
                    <a:cubicBezTo>
                      <a:pt x="114300" y="519112"/>
                      <a:pt x="0" y="1038225"/>
                      <a:pt x="171450" y="1428750"/>
                    </a:cubicBezTo>
                    <a:cubicBezTo>
                      <a:pt x="342900" y="1819275"/>
                      <a:pt x="800100" y="2081212"/>
                      <a:pt x="1257300" y="234315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nvGrpSpPr>
              <p:cNvPr id="11" name="组合 26"/>
              <p:cNvGrpSpPr>
                <a:grpSpLocks/>
              </p:cNvGrpSpPr>
              <p:nvPr/>
            </p:nvGrpSpPr>
            <p:grpSpPr bwMode="auto">
              <a:xfrm>
                <a:off x="0" y="85725"/>
                <a:ext cx="3929062" cy="3321050"/>
                <a:chOff x="0" y="0"/>
                <a:chExt cx="3929062" cy="3321050"/>
              </a:xfrm>
            </p:grpSpPr>
            <p:cxnSp>
              <p:nvCxnSpPr>
                <p:cNvPr id="12" name="直接箭头连接符 23"/>
                <p:cNvCxnSpPr>
                  <a:cxnSpLocks noChangeShapeType="1"/>
                </p:cNvCxnSpPr>
                <p:nvPr/>
              </p:nvCxnSpPr>
              <p:spPr bwMode="auto">
                <a:xfrm>
                  <a:off x="296862" y="2894012"/>
                  <a:ext cx="3632200" cy="3175"/>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13" name="直接箭头连接符 24"/>
                <p:cNvCxnSpPr>
                  <a:cxnSpLocks noChangeShapeType="1"/>
                </p:cNvCxnSpPr>
                <p:nvPr/>
              </p:nvCxnSpPr>
              <p:spPr bwMode="auto">
                <a:xfrm rot="5400000" flipH="1" flipV="1">
                  <a:off x="-1148556" y="1445414"/>
                  <a:ext cx="2894012" cy="3175"/>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14" name="Object 13"/>
                <p:cNvGraphicFramePr>
                  <a:graphicFrameLocks noChangeAspect="1"/>
                </p:cNvGraphicFramePr>
                <p:nvPr/>
              </p:nvGraphicFramePr>
              <p:xfrm>
                <a:off x="0" y="2928937"/>
                <a:ext cx="241300" cy="247650"/>
              </p:xfrm>
              <a:graphic>
                <a:graphicData uri="http://schemas.openxmlformats.org/presentationml/2006/ole">
                  <mc:AlternateContent xmlns:mc="http://schemas.openxmlformats.org/markup-compatibility/2006">
                    <mc:Choice xmlns:v="urn:schemas-microsoft-com:vml" Requires="v">
                      <p:oleObj spid="_x0000_s115251" r:id="rId5" imgW="153248" imgH="178737" progId="">
                        <p:embed/>
                      </p:oleObj>
                    </mc:Choice>
                    <mc:Fallback>
                      <p:oleObj r:id="rId5" imgW="153248" imgH="178737" progId="">
                        <p:embed/>
                        <p:pic>
                          <p:nvPicPr>
                            <p:cNvPr id="40973"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928937"/>
                              <a:ext cx="2413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4"/>
                <p:cNvGraphicFramePr>
                  <a:graphicFrameLocks noChangeAspect="1"/>
                </p:cNvGraphicFramePr>
                <p:nvPr/>
              </p:nvGraphicFramePr>
              <p:xfrm>
                <a:off x="0" y="71437"/>
                <a:ext cx="261937" cy="228600"/>
              </p:xfrm>
              <a:graphic>
                <a:graphicData uri="http://schemas.openxmlformats.org/presentationml/2006/ole">
                  <mc:AlternateContent xmlns:mc="http://schemas.openxmlformats.org/markup-compatibility/2006">
                    <mc:Choice xmlns:v="urn:schemas-microsoft-com:vml" Requires="v">
                      <p:oleObj spid="_x0000_s115252" r:id="rId7" imgW="166064" imgH="166064" progId="">
                        <p:embed/>
                      </p:oleObj>
                    </mc:Choice>
                    <mc:Fallback>
                      <p:oleObj r:id="rId7" imgW="166064" imgH="166064" progId="">
                        <p:embed/>
                        <p:pic>
                          <p:nvPicPr>
                            <p:cNvPr id="40974"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71437"/>
                              <a:ext cx="261937"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15"/>
                <p:cNvGraphicFramePr>
                  <a:graphicFrameLocks noChangeAspect="1"/>
                </p:cNvGraphicFramePr>
                <p:nvPr/>
              </p:nvGraphicFramePr>
              <p:xfrm>
                <a:off x="3643312" y="3000375"/>
                <a:ext cx="223838" cy="231775"/>
              </p:xfrm>
              <a:graphic>
                <a:graphicData uri="http://schemas.openxmlformats.org/presentationml/2006/ole">
                  <mc:AlternateContent xmlns:mc="http://schemas.openxmlformats.org/markup-compatibility/2006">
                    <mc:Choice xmlns:v="urn:schemas-microsoft-com:vml" Requires="v">
                      <p:oleObj spid="_x0000_s115253" r:id="rId9" imgW="140565" imgH="166064" progId="">
                        <p:embed/>
                      </p:oleObj>
                    </mc:Choice>
                    <mc:Fallback>
                      <p:oleObj r:id="rId9" imgW="140565" imgH="166064" progId="">
                        <p:embed/>
                        <p:pic>
                          <p:nvPicPr>
                            <p:cNvPr id="40975"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3312" y="3000375"/>
                              <a:ext cx="223838" cy="23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17" name="直接连接符 34"/>
                <p:cNvCxnSpPr>
                  <a:cxnSpLocks noChangeShapeType="1"/>
                </p:cNvCxnSpPr>
                <p:nvPr/>
              </p:nvCxnSpPr>
              <p:spPr bwMode="auto">
                <a:xfrm>
                  <a:off x="285750" y="1500187"/>
                  <a:ext cx="1643062" cy="1428750"/>
                </a:xfrm>
                <a:prstGeom prst="line">
                  <a:avLst/>
                </a:prstGeom>
                <a:noFill/>
                <a:ln w="38100" cmpd="sng">
                  <a:solidFill>
                    <a:srgbClr val="C0000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cxnSp>
              <p:nvCxnSpPr>
                <p:cNvPr id="18" name="直接连接符 36"/>
                <p:cNvCxnSpPr>
                  <a:cxnSpLocks noChangeShapeType="1"/>
                </p:cNvCxnSpPr>
                <p:nvPr/>
              </p:nvCxnSpPr>
              <p:spPr bwMode="auto">
                <a:xfrm>
                  <a:off x="285750" y="571500"/>
                  <a:ext cx="2714625" cy="2357437"/>
                </a:xfrm>
                <a:prstGeom prst="line">
                  <a:avLst/>
                </a:prstGeom>
                <a:noFill/>
                <a:ln w="38100" cmpd="sng">
                  <a:solidFill>
                    <a:srgbClr val="C0000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graphicFrame>
              <p:nvGraphicFramePr>
                <p:cNvPr id="19" name="Object 18"/>
                <p:cNvGraphicFramePr>
                  <a:graphicFrameLocks noChangeAspect="1"/>
                </p:cNvGraphicFramePr>
                <p:nvPr/>
              </p:nvGraphicFramePr>
              <p:xfrm>
                <a:off x="0" y="1428750"/>
                <a:ext cx="231775" cy="320675"/>
              </p:xfrm>
              <a:graphic>
                <a:graphicData uri="http://schemas.openxmlformats.org/presentationml/2006/ole">
                  <mc:AlternateContent xmlns:mc="http://schemas.openxmlformats.org/markup-compatibility/2006">
                    <mc:Choice xmlns:v="urn:schemas-microsoft-com:vml" Requires="v">
                      <p:oleObj spid="_x0000_s115254" r:id="rId11" imgW="165848" imgH="229514" progId="">
                        <p:embed/>
                      </p:oleObj>
                    </mc:Choice>
                    <mc:Fallback>
                      <p:oleObj r:id="rId11" imgW="165848" imgH="229514" progId="">
                        <p:embed/>
                        <p:pic>
                          <p:nvPicPr>
                            <p:cNvPr id="40978"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1428750"/>
                              <a:ext cx="2317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19"/>
                <p:cNvGraphicFramePr>
                  <a:graphicFrameLocks noChangeAspect="1"/>
                </p:cNvGraphicFramePr>
                <p:nvPr/>
              </p:nvGraphicFramePr>
              <p:xfrm>
                <a:off x="0" y="500062"/>
                <a:ext cx="266700" cy="320675"/>
              </p:xfrm>
              <a:graphic>
                <a:graphicData uri="http://schemas.openxmlformats.org/presentationml/2006/ole">
                  <mc:AlternateContent xmlns:mc="http://schemas.openxmlformats.org/markup-compatibility/2006">
                    <mc:Choice xmlns:v="urn:schemas-microsoft-com:vml" Requires="v">
                      <p:oleObj spid="_x0000_s115255" r:id="rId13" imgW="191481" imgH="229714" progId="">
                        <p:embed/>
                      </p:oleObj>
                    </mc:Choice>
                    <mc:Fallback>
                      <p:oleObj r:id="rId13" imgW="191481" imgH="229714" progId="">
                        <p:embed/>
                        <p:pic>
                          <p:nvPicPr>
                            <p:cNvPr id="40979"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500062"/>
                              <a:ext cx="2667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20"/>
                <p:cNvGraphicFramePr>
                  <a:graphicFrameLocks noChangeAspect="1"/>
                </p:cNvGraphicFramePr>
                <p:nvPr/>
              </p:nvGraphicFramePr>
              <p:xfrm>
                <a:off x="1785937" y="3000375"/>
                <a:ext cx="231775" cy="320675"/>
              </p:xfrm>
              <a:graphic>
                <a:graphicData uri="http://schemas.openxmlformats.org/presentationml/2006/ole">
                  <mc:AlternateContent xmlns:mc="http://schemas.openxmlformats.org/markup-compatibility/2006">
                    <mc:Choice xmlns:v="urn:schemas-microsoft-com:vml" Requires="v">
                      <p:oleObj spid="_x0000_s115256" r:id="rId15" imgW="165848" imgH="229514" progId="">
                        <p:embed/>
                      </p:oleObj>
                    </mc:Choice>
                    <mc:Fallback>
                      <p:oleObj r:id="rId15" imgW="165848" imgH="229514" progId="">
                        <p:embed/>
                        <p:pic>
                          <p:nvPicPr>
                            <p:cNvPr id="4098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85937" y="3000375"/>
                              <a:ext cx="23177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Object 21"/>
                <p:cNvGraphicFramePr>
                  <a:graphicFrameLocks noChangeAspect="1"/>
                </p:cNvGraphicFramePr>
                <p:nvPr/>
              </p:nvGraphicFramePr>
              <p:xfrm>
                <a:off x="2857500" y="3000375"/>
                <a:ext cx="266700" cy="320675"/>
              </p:xfrm>
              <a:graphic>
                <a:graphicData uri="http://schemas.openxmlformats.org/presentationml/2006/ole">
                  <mc:AlternateContent xmlns:mc="http://schemas.openxmlformats.org/markup-compatibility/2006">
                    <mc:Choice xmlns:v="urn:schemas-microsoft-com:vml" Requires="v">
                      <p:oleObj spid="_x0000_s115257" r:id="rId17" imgW="191481" imgH="229714" progId="">
                        <p:embed/>
                      </p:oleObj>
                    </mc:Choice>
                    <mc:Fallback>
                      <p:oleObj r:id="rId17" imgW="191481" imgH="229714" progId="">
                        <p:embed/>
                        <p:pic>
                          <p:nvPicPr>
                            <p:cNvPr id="40981" name="Object 2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57500" y="3000375"/>
                              <a:ext cx="2667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22"/>
                <p:cNvGraphicFramePr>
                  <a:graphicFrameLocks noChangeAspect="1"/>
                </p:cNvGraphicFramePr>
                <p:nvPr/>
              </p:nvGraphicFramePr>
              <p:xfrm>
                <a:off x="2214562" y="2571750"/>
                <a:ext cx="249238" cy="320675"/>
              </p:xfrm>
              <a:graphic>
                <a:graphicData uri="http://schemas.openxmlformats.org/presentationml/2006/ole">
                  <mc:AlternateContent xmlns:mc="http://schemas.openxmlformats.org/markup-compatibility/2006">
                    <mc:Choice xmlns:v="urn:schemas-microsoft-com:vml" Requires="v">
                      <p:oleObj spid="_x0000_s115258" r:id="rId19" imgW="178504" imgH="229414" progId="">
                        <p:embed/>
                      </p:oleObj>
                    </mc:Choice>
                    <mc:Fallback>
                      <p:oleObj r:id="rId19" imgW="178504" imgH="229414" progId="">
                        <p:embed/>
                        <p:pic>
                          <p:nvPicPr>
                            <p:cNvPr id="40982"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14562" y="2571750"/>
                              <a:ext cx="249238"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4" name="Object 23"/>
                <p:cNvGraphicFramePr>
                  <a:graphicFrameLocks noChangeAspect="1"/>
                </p:cNvGraphicFramePr>
                <p:nvPr/>
              </p:nvGraphicFramePr>
              <p:xfrm>
                <a:off x="3214687" y="1785937"/>
                <a:ext cx="266700" cy="320675"/>
              </p:xfrm>
              <a:graphic>
                <a:graphicData uri="http://schemas.openxmlformats.org/presentationml/2006/ole">
                  <mc:AlternateContent xmlns:mc="http://schemas.openxmlformats.org/markup-compatibility/2006">
                    <mc:Choice xmlns:v="urn:schemas-microsoft-com:vml" Requires="v">
                      <p:oleObj spid="_x0000_s115259" r:id="rId21" imgW="191481" imgH="229714" progId="">
                        <p:embed/>
                      </p:oleObj>
                    </mc:Choice>
                    <mc:Fallback>
                      <p:oleObj r:id="rId21" imgW="191481" imgH="229714" progId="">
                        <p:embed/>
                        <p:pic>
                          <p:nvPicPr>
                            <p:cNvPr id="40983" name="Object 2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214687" y="1785937"/>
                              <a:ext cx="2667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5" name="Object 24"/>
                <p:cNvGraphicFramePr>
                  <a:graphicFrameLocks noChangeAspect="1"/>
                </p:cNvGraphicFramePr>
                <p:nvPr/>
              </p:nvGraphicFramePr>
              <p:xfrm>
                <a:off x="1285875" y="2071687"/>
                <a:ext cx="249237" cy="320675"/>
              </p:xfrm>
              <a:graphic>
                <a:graphicData uri="http://schemas.openxmlformats.org/presentationml/2006/ole">
                  <mc:AlternateContent xmlns:mc="http://schemas.openxmlformats.org/markup-compatibility/2006">
                    <mc:Choice xmlns:v="urn:schemas-microsoft-com:vml" Requires="v">
                      <p:oleObj spid="_x0000_s115260" r:id="rId23" imgW="178504" imgH="229414" progId="">
                        <p:embed/>
                      </p:oleObj>
                    </mc:Choice>
                    <mc:Fallback>
                      <p:oleObj r:id="rId23" imgW="178504" imgH="229414" progId="">
                        <p:embed/>
                        <p:pic>
                          <p:nvPicPr>
                            <p:cNvPr id="40984" name="Object 2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285875" y="2071687"/>
                              <a:ext cx="2492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 name="Object 25"/>
                <p:cNvGraphicFramePr>
                  <a:graphicFrameLocks noChangeAspect="1"/>
                </p:cNvGraphicFramePr>
                <p:nvPr/>
              </p:nvGraphicFramePr>
              <p:xfrm>
                <a:off x="1643062" y="1428750"/>
                <a:ext cx="266700" cy="320675"/>
              </p:xfrm>
              <a:graphic>
                <a:graphicData uri="http://schemas.openxmlformats.org/presentationml/2006/ole">
                  <mc:AlternateContent xmlns:mc="http://schemas.openxmlformats.org/markup-compatibility/2006">
                    <mc:Choice xmlns:v="urn:schemas-microsoft-com:vml" Requires="v">
                      <p:oleObj spid="_x0000_s115261" r:id="rId25" imgW="191481" imgH="229714" progId="">
                        <p:embed/>
                      </p:oleObj>
                    </mc:Choice>
                    <mc:Fallback>
                      <p:oleObj r:id="rId25" imgW="191481" imgH="229714" progId="">
                        <p:embed/>
                        <p:pic>
                          <p:nvPicPr>
                            <p:cNvPr id="40985" name="Object 2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643062" y="1428750"/>
                              <a:ext cx="2667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7" name="椭圆 50"/>
                <p:cNvSpPr>
                  <a:spLocks noChangeArrowheads="1"/>
                </p:cNvSpPr>
                <p:nvPr/>
              </p:nvSpPr>
              <p:spPr bwMode="auto">
                <a:xfrm>
                  <a:off x="1498600" y="1612900"/>
                  <a:ext cx="88900" cy="90487"/>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8" name="椭圆 51"/>
                <p:cNvSpPr>
                  <a:spLocks noChangeArrowheads="1"/>
                </p:cNvSpPr>
                <p:nvPr/>
              </p:nvSpPr>
              <p:spPr bwMode="auto">
                <a:xfrm>
                  <a:off x="1109662" y="2214562"/>
                  <a:ext cx="88900" cy="90488"/>
                </a:xfrm>
                <a:prstGeom prst="ellipse">
                  <a:avLst/>
                </a:prstGeom>
                <a:solidFill>
                  <a:schemeClr val="tx1"/>
                </a:solidFill>
                <a:ln w="25400" cmpd="sng">
                  <a:solidFill>
                    <a:srgbClr val="000000"/>
                  </a:solidFill>
                  <a:round/>
                  <a:headEnd/>
                  <a:tailEnd/>
                </a:ln>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grpSp>
      </p:grpSp>
      <p:sp>
        <p:nvSpPr>
          <p:cNvPr id="30" name="矩形 29"/>
          <p:cNvSpPr/>
          <p:nvPr/>
        </p:nvSpPr>
        <p:spPr>
          <a:xfrm>
            <a:off x="1111471" y="1772816"/>
            <a:ext cx="5044705" cy="874407"/>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生产扩展线上的任意特定的生产要素组合必然是企业在相应条件下利润最大化投入组合</a:t>
            </a:r>
            <a:r>
              <a:rPr lang="en-US" sz="1700" dirty="0">
                <a:latin typeface="微软雅黑" panose="020B0503020204020204" pitchFamily="34" charset="-122"/>
                <a:ea typeface="微软雅黑" panose="020B0503020204020204" pitchFamily="34" charset="-122"/>
              </a:rPr>
              <a:t>。</a:t>
            </a:r>
          </a:p>
        </p:txBody>
      </p:sp>
      <p:sp>
        <p:nvSpPr>
          <p:cNvPr id="31" name="矩形 30">
            <a:extLst>
              <a:ext uri="{FF2B5EF4-FFF2-40B4-BE49-F238E27FC236}">
                <a16:creationId xmlns:a16="http://schemas.microsoft.com/office/drawing/2014/main" id="{084955AF-1C9D-40E6-AF77-16E919D7DDCC}"/>
              </a:ext>
            </a:extLst>
          </p:cNvPr>
          <p:cNvSpPr/>
          <p:nvPr/>
        </p:nvSpPr>
        <p:spPr>
          <a:xfrm>
            <a:off x="1143638" y="1290872"/>
            <a:ext cx="1061036" cy="400110"/>
          </a:xfrm>
          <a:prstGeom prst="rect">
            <a:avLst/>
          </a:prstGeom>
          <a:noFill/>
        </p:spPr>
        <p:txBody>
          <a:bodyPr wrap="square">
            <a:spAutoFit/>
          </a:bodyPr>
          <a:lstStyle/>
          <a:p>
            <a:pPr marL="285750" indent="-285750">
              <a:buFont typeface="Wingdings" panose="05000000000000000000" pitchFamily="2" charset="2"/>
              <a:buChar char="u"/>
            </a:pPr>
            <a:r>
              <a:rPr lang="en-US" sz="2000" dirty="0" err="1">
                <a:latin typeface="微软雅黑" panose="020B0503020204020204" pitchFamily="34" charset="-122"/>
                <a:ea typeface="微软雅黑" panose="020B0503020204020204" pitchFamily="34" charset="-122"/>
              </a:rPr>
              <a:t>图形</a:t>
            </a:r>
            <a:endParaRPr lang="zh-CN" altLang="en-US" sz="2000" dirty="0">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E4E9667A-41DE-4DAB-AADC-3A7DE1CFCB4E}"/>
              </a:ext>
            </a:extLst>
          </p:cNvPr>
          <p:cNvSpPr/>
          <p:nvPr/>
        </p:nvSpPr>
        <p:spPr>
          <a:xfrm>
            <a:off x="580922" y="520573"/>
            <a:ext cx="283895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五、生产扩展曲线</a:t>
            </a:r>
          </a:p>
        </p:txBody>
      </p:sp>
      <p:pic>
        <p:nvPicPr>
          <p:cNvPr id="29" name="图片 28">
            <a:extLst>
              <a:ext uri="{FF2B5EF4-FFF2-40B4-BE49-F238E27FC236}">
                <a16:creationId xmlns:a16="http://schemas.microsoft.com/office/drawing/2014/main" id="{13625CF6-425C-48C0-A278-0D1917AFC33D}"/>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1183028" y="2861785"/>
            <a:ext cx="2621292" cy="3496148"/>
          </a:xfrm>
          <a:prstGeom prst="rect">
            <a:avLst/>
          </a:prstGeom>
        </p:spPr>
      </p:pic>
      <p:sp>
        <p:nvSpPr>
          <p:cNvPr id="3" name="线形标注 1 2"/>
          <p:cNvSpPr/>
          <p:nvPr/>
        </p:nvSpPr>
        <p:spPr bwMode="auto">
          <a:xfrm>
            <a:off x="7251581" y="739672"/>
            <a:ext cx="1677976" cy="3409408"/>
          </a:xfrm>
          <a:prstGeom prst="borderCallout1">
            <a:avLst>
              <a:gd name="adj1" fmla="val 19725"/>
              <a:gd name="adj2" fmla="val -407"/>
              <a:gd name="adj3" fmla="val 86854"/>
              <a:gd name="adj4" fmla="val -25948"/>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lang="zh-CN" altLang="en-US" dirty="0"/>
              <a:t>生产扩展线上各点对应的利润值未必相同。要取决于产品价格与投入成本。即这里的</a:t>
            </a:r>
            <a:r>
              <a:rPr lang="en-US" altLang="zh-CN" dirty="0"/>
              <a:t>E1</a:t>
            </a:r>
            <a:r>
              <a:rPr lang="zh-CN" altLang="en-US" dirty="0"/>
              <a:t>点和</a:t>
            </a:r>
            <a:r>
              <a:rPr lang="en-US" altLang="zh-CN" dirty="0"/>
              <a:t>E2</a:t>
            </a:r>
            <a:r>
              <a:rPr lang="zh-CN" altLang="en-US" dirty="0"/>
              <a:t>点的利润未必相同，要取决于产品价格与他们各自对应的成本大小。</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9603047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Effect transition="in" filter="fade">
                                      <p:cBhvr>
                                        <p:cTn id="9" dur="500"/>
                                        <p:tgtEl>
                                          <p:spTgt spid="32"/>
                                        </p:tgtEl>
                                      </p:cBhvr>
                                    </p:animEffect>
                                  </p:childTnLst>
                                </p:cTn>
                              </p:par>
                              <p:par>
                                <p:cTn id="10" presetID="53" presetClass="entr" presetSubtype="16" fill="hold" nodeType="with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500" fill="hold"/>
                                        <p:tgtEl>
                                          <p:spTgt spid="29"/>
                                        </p:tgtEl>
                                        <p:attrNameLst>
                                          <p:attrName>ppt_w</p:attrName>
                                        </p:attrNameLst>
                                      </p:cBhvr>
                                      <p:tavLst>
                                        <p:tav tm="0">
                                          <p:val>
                                            <p:fltVal val="0"/>
                                          </p:val>
                                        </p:tav>
                                        <p:tav tm="100000">
                                          <p:val>
                                            <p:strVal val="#ppt_w"/>
                                          </p:val>
                                        </p:tav>
                                      </p:tavLst>
                                    </p:anim>
                                    <p:anim calcmode="lin" valueType="num">
                                      <p:cBhvr>
                                        <p:cTn id="13" dur="500" fill="hold"/>
                                        <p:tgtEl>
                                          <p:spTgt spid="29"/>
                                        </p:tgtEl>
                                        <p:attrNameLst>
                                          <p:attrName>ppt_h</p:attrName>
                                        </p:attrNameLst>
                                      </p:cBhvr>
                                      <p:tavLst>
                                        <p:tav tm="0">
                                          <p:val>
                                            <p:fltVal val="0"/>
                                          </p:val>
                                        </p:tav>
                                        <p:tav tm="100000">
                                          <p:val>
                                            <p:strVal val="#ppt_h"/>
                                          </p:val>
                                        </p:tav>
                                      </p:tavLst>
                                    </p:anim>
                                    <p:animEffect transition="in" filter="fade">
                                      <p:cBhvr>
                                        <p:cTn id="14" dur="500"/>
                                        <p:tgtEl>
                                          <p:spTgt spid="29"/>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p:cTn id="19" dur="500" fill="hold"/>
                                        <p:tgtEl>
                                          <p:spTgt spid="33"/>
                                        </p:tgtEl>
                                        <p:attrNameLst>
                                          <p:attrName>ppt_w</p:attrName>
                                        </p:attrNameLst>
                                      </p:cBhvr>
                                      <p:tavLst>
                                        <p:tav tm="0">
                                          <p:val>
                                            <p:fltVal val="0"/>
                                          </p:val>
                                        </p:tav>
                                        <p:tav tm="100000">
                                          <p:val>
                                            <p:strVal val="#ppt_w"/>
                                          </p:val>
                                        </p:tav>
                                      </p:tavLst>
                                    </p:anim>
                                    <p:anim calcmode="lin" valueType="num">
                                      <p:cBhvr>
                                        <p:cTn id="20" dur="500" fill="hold"/>
                                        <p:tgtEl>
                                          <p:spTgt spid="33"/>
                                        </p:tgtEl>
                                        <p:attrNameLst>
                                          <p:attrName>ppt_h</p:attrName>
                                        </p:attrNameLst>
                                      </p:cBhvr>
                                      <p:tavLst>
                                        <p:tav tm="0">
                                          <p:val>
                                            <p:fltVal val="0"/>
                                          </p:val>
                                        </p:tav>
                                        <p:tav tm="100000">
                                          <p:val>
                                            <p:strVal val="#ppt_h"/>
                                          </p:val>
                                        </p:tav>
                                      </p:tavLst>
                                    </p:anim>
                                    <p:animEffect transition="in" filter="fade">
                                      <p:cBhvr>
                                        <p:cTn id="21" dur="500"/>
                                        <p:tgtEl>
                                          <p:spTgt spid="33"/>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p:cTn id="24" dur="500" fill="hold"/>
                                        <p:tgtEl>
                                          <p:spTgt spid="31"/>
                                        </p:tgtEl>
                                        <p:attrNameLst>
                                          <p:attrName>ppt_w</p:attrName>
                                        </p:attrNameLst>
                                      </p:cBhvr>
                                      <p:tavLst>
                                        <p:tav tm="0">
                                          <p:val>
                                            <p:fltVal val="0"/>
                                          </p:val>
                                        </p:tav>
                                        <p:tav tm="100000">
                                          <p:val>
                                            <p:strVal val="#ppt_w"/>
                                          </p:val>
                                        </p:tav>
                                      </p:tavLst>
                                    </p:anim>
                                    <p:anim calcmode="lin" valueType="num">
                                      <p:cBhvr>
                                        <p:cTn id="25" dur="500" fill="hold"/>
                                        <p:tgtEl>
                                          <p:spTgt spid="31"/>
                                        </p:tgtEl>
                                        <p:attrNameLst>
                                          <p:attrName>ppt_h</p:attrName>
                                        </p:attrNameLst>
                                      </p:cBhvr>
                                      <p:tavLst>
                                        <p:tav tm="0">
                                          <p:val>
                                            <p:fltVal val="0"/>
                                          </p:val>
                                        </p:tav>
                                        <p:tav tm="100000">
                                          <p:val>
                                            <p:strVal val="#ppt_h"/>
                                          </p:val>
                                        </p:tav>
                                      </p:tavLst>
                                    </p:anim>
                                    <p:animEffect transition="in" filter="fade">
                                      <p:cBhvr>
                                        <p:cTn id="26" dur="500"/>
                                        <p:tgtEl>
                                          <p:spTgt spid="31"/>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heel(4)">
                                      <p:cBhvr>
                                        <p:cTn id="31" dur="10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3"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strips(upRight)">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0" grpId="0"/>
      <p:bldP spid="31" grpId="0"/>
      <p:bldP spid="3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Line 5">
            <a:extLst>
              <a:ext uri="{FF2B5EF4-FFF2-40B4-BE49-F238E27FC236}">
                <a16:creationId xmlns:a16="http://schemas.microsoft.com/office/drawing/2014/main" id="{2606C6C1-9889-47AB-96F3-1EF8D6463CE1}"/>
              </a:ext>
            </a:extLst>
          </p:cNvPr>
          <p:cNvSpPr>
            <a:spLocks noChangeShapeType="1"/>
          </p:cNvSpPr>
          <p:nvPr/>
        </p:nvSpPr>
        <p:spPr bwMode="auto">
          <a:xfrm flipV="1">
            <a:off x="2224088" y="2871788"/>
            <a:ext cx="3082925" cy="3109912"/>
          </a:xfrm>
          <a:prstGeom prst="line">
            <a:avLst/>
          </a:prstGeom>
          <a:noFill/>
          <a:ln w="38100">
            <a:solidFill>
              <a:srgbClr val="638713"/>
            </a:solidFill>
            <a:prstDash val="dash"/>
            <a:round/>
            <a:headEnd/>
            <a:tailEnd type="triangle"/>
          </a:ln>
          <a:extLst>
            <a:ext uri="{909E8E84-426E-40DD-AFC4-6F175D3DCCD1}">
              <a14:hiddenFill xmlns:a14="http://schemas.microsoft.com/office/drawing/2010/main">
                <a:noFill/>
              </a14:hiddenFill>
            </a:ext>
          </a:extLst>
        </p:spPr>
        <p:txBody>
          <a:bodyPr/>
          <a:lstStyle/>
          <a:p>
            <a:endParaRPr lang="zh-CN" altLang="en-US"/>
          </a:p>
        </p:txBody>
      </p:sp>
      <p:sp>
        <p:nvSpPr>
          <p:cNvPr id="57347" name="Rectangle 25">
            <a:extLst>
              <a:ext uri="{FF2B5EF4-FFF2-40B4-BE49-F238E27FC236}">
                <a16:creationId xmlns:a16="http://schemas.microsoft.com/office/drawing/2014/main" id="{6685E9F2-6894-4C46-B7AB-AB3C4911664E}"/>
              </a:ext>
            </a:extLst>
          </p:cNvPr>
          <p:cNvSpPr>
            <a:spLocks noChangeArrowheads="1"/>
          </p:cNvSpPr>
          <p:nvPr/>
        </p:nvSpPr>
        <p:spPr bwMode="auto">
          <a:xfrm>
            <a:off x="5129213" y="2990850"/>
            <a:ext cx="16144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zh-CN" altLang="en-US" sz="1600" b="1">
                <a:solidFill>
                  <a:schemeClr val="tx1"/>
                </a:solidFill>
                <a:latin typeface="Times New Roman" panose="02020603050405020304" pitchFamily="18" charset="0"/>
                <a:ea typeface="宋体" panose="02010600030101010101" pitchFamily="2" charset="-122"/>
              </a:rPr>
              <a:t>长期的扩张路径</a:t>
            </a:r>
          </a:p>
        </p:txBody>
      </p:sp>
      <p:sp>
        <p:nvSpPr>
          <p:cNvPr id="55300" name="Rectangle 37">
            <a:extLst>
              <a:ext uri="{FF2B5EF4-FFF2-40B4-BE49-F238E27FC236}">
                <a16:creationId xmlns:a16="http://schemas.microsoft.com/office/drawing/2014/main" id="{7B698260-FA4E-47F3-B623-3B7481602E1D}"/>
              </a:ext>
            </a:extLst>
          </p:cNvPr>
          <p:cNvSpPr>
            <a:spLocks noChangeArrowheads="1"/>
          </p:cNvSpPr>
          <p:nvPr/>
        </p:nvSpPr>
        <p:spPr bwMode="auto">
          <a:xfrm>
            <a:off x="7185026" y="119063"/>
            <a:ext cx="1827213" cy="4029075"/>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lIns="90488" tIns="44450" rIns="90488" bIns="44450">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zh-CN" altLang="en-US" sz="1600" dirty="0">
                <a:solidFill>
                  <a:schemeClr val="accent6">
                    <a:lumMod val="75000"/>
                  </a:schemeClr>
                </a:solidFill>
                <a:ea typeface="宋体" panose="02010600030101010101" pitchFamily="2" charset="-122"/>
              </a:rPr>
              <a:t>要使产量从</a:t>
            </a:r>
            <a:r>
              <a:rPr lang="en-US" altLang="zh-CN" sz="1600" dirty="0">
                <a:solidFill>
                  <a:schemeClr val="accent6">
                    <a:lumMod val="75000"/>
                  </a:schemeClr>
                </a:solidFill>
                <a:ea typeface="宋体" panose="02010600030101010101" pitchFamily="2" charset="-122"/>
              </a:rPr>
              <a:t>Q</a:t>
            </a:r>
            <a:r>
              <a:rPr lang="en-US" altLang="zh-CN" sz="1600" baseline="-25000" dirty="0">
                <a:solidFill>
                  <a:schemeClr val="accent6">
                    <a:lumMod val="75000"/>
                  </a:schemeClr>
                </a:solidFill>
                <a:ea typeface="宋体" panose="02010600030101010101" pitchFamily="2" charset="-122"/>
              </a:rPr>
              <a:t>1</a:t>
            </a:r>
            <a:r>
              <a:rPr lang="zh-CN" altLang="en-US" sz="1600" dirty="0">
                <a:solidFill>
                  <a:schemeClr val="accent6">
                    <a:lumMod val="75000"/>
                  </a:schemeClr>
                </a:solidFill>
                <a:ea typeface="宋体" panose="02010600030101010101" pitchFamily="2" charset="-122"/>
              </a:rPr>
              <a:t>增加到</a:t>
            </a:r>
            <a:r>
              <a:rPr lang="en-US" altLang="zh-CN" sz="1600" dirty="0">
                <a:solidFill>
                  <a:schemeClr val="accent6">
                    <a:lumMod val="75000"/>
                  </a:schemeClr>
                </a:solidFill>
                <a:ea typeface="宋体" panose="02010600030101010101" pitchFamily="2" charset="-122"/>
              </a:rPr>
              <a:t>Q</a:t>
            </a:r>
            <a:r>
              <a:rPr lang="en-US" altLang="zh-CN" sz="1600" baseline="-25000" dirty="0">
                <a:solidFill>
                  <a:schemeClr val="accent6">
                    <a:lumMod val="75000"/>
                  </a:schemeClr>
                </a:solidFill>
                <a:ea typeface="宋体" panose="02010600030101010101" pitchFamily="2" charset="-122"/>
              </a:rPr>
              <a:t>2</a:t>
            </a:r>
            <a:r>
              <a:rPr lang="zh-CN" altLang="en-US" sz="1600" dirty="0">
                <a:solidFill>
                  <a:schemeClr val="accent6">
                    <a:lumMod val="75000"/>
                  </a:schemeClr>
                </a:solidFill>
                <a:ea typeface="宋体" panose="02010600030101010101" pitchFamily="2" charset="-122"/>
              </a:rPr>
              <a:t>：</a:t>
            </a:r>
            <a:endParaRPr lang="en-US" altLang="zh-CN" sz="1600" dirty="0">
              <a:solidFill>
                <a:schemeClr val="accent6">
                  <a:lumMod val="75000"/>
                </a:schemeClr>
              </a:solidFill>
              <a:ea typeface="宋体" panose="02010600030101010101" pitchFamily="2" charset="-122"/>
            </a:endParaRPr>
          </a:p>
          <a:p>
            <a:pPr eaLnBrk="1" hangingPunct="1">
              <a:defRPr/>
            </a:pPr>
            <a:endParaRPr lang="en-US" altLang="zh-CN" sz="1600" dirty="0">
              <a:solidFill>
                <a:schemeClr val="accent6">
                  <a:lumMod val="75000"/>
                </a:schemeClr>
              </a:solidFill>
              <a:ea typeface="宋体" panose="02010600030101010101" pitchFamily="2" charset="-122"/>
            </a:endParaRPr>
          </a:p>
          <a:p>
            <a:pPr eaLnBrk="1" hangingPunct="1">
              <a:defRPr/>
            </a:pPr>
            <a:r>
              <a:rPr lang="zh-CN" altLang="en-US" sz="1600" dirty="0">
                <a:solidFill>
                  <a:schemeClr val="accent6">
                    <a:lumMod val="75000"/>
                  </a:schemeClr>
                </a:solidFill>
                <a:ea typeface="宋体" panose="02010600030101010101" pitchFamily="2" charset="-122"/>
              </a:rPr>
              <a:t>短期，由于资本是固定不变的，因此，生产点从</a:t>
            </a:r>
            <a:r>
              <a:rPr lang="en-US" altLang="zh-CN" sz="1600" dirty="0">
                <a:solidFill>
                  <a:schemeClr val="accent6">
                    <a:lumMod val="75000"/>
                  </a:schemeClr>
                </a:solidFill>
                <a:ea typeface="宋体" panose="02010600030101010101" pitchFamily="2" charset="-122"/>
              </a:rPr>
              <a:t>E</a:t>
            </a:r>
            <a:r>
              <a:rPr lang="zh-CN" altLang="en-US" sz="1600" dirty="0">
                <a:solidFill>
                  <a:schemeClr val="accent6">
                    <a:lumMod val="75000"/>
                  </a:schemeClr>
                </a:solidFill>
                <a:ea typeface="宋体" panose="02010600030101010101" pitchFamily="2" charset="-122"/>
              </a:rPr>
              <a:t>点转移到</a:t>
            </a:r>
            <a:r>
              <a:rPr lang="en-US" altLang="zh-CN" sz="1600" dirty="0">
                <a:solidFill>
                  <a:schemeClr val="accent6">
                    <a:lumMod val="75000"/>
                  </a:schemeClr>
                </a:solidFill>
                <a:ea typeface="宋体" panose="02010600030101010101" pitchFamily="2" charset="-122"/>
              </a:rPr>
              <a:t>P</a:t>
            </a:r>
            <a:r>
              <a:rPr lang="zh-CN" altLang="en-US" sz="1600" dirty="0">
                <a:solidFill>
                  <a:schemeClr val="accent6">
                    <a:lumMod val="75000"/>
                  </a:schemeClr>
                </a:solidFill>
                <a:ea typeface="宋体" panose="02010600030101010101" pitchFamily="2" charset="-122"/>
              </a:rPr>
              <a:t>点。</a:t>
            </a:r>
            <a:endParaRPr lang="en-US" altLang="zh-CN" sz="1600" dirty="0">
              <a:solidFill>
                <a:schemeClr val="accent6">
                  <a:lumMod val="75000"/>
                </a:schemeClr>
              </a:solidFill>
              <a:ea typeface="宋体" panose="02010600030101010101" pitchFamily="2" charset="-122"/>
            </a:endParaRPr>
          </a:p>
          <a:p>
            <a:pPr eaLnBrk="1" hangingPunct="1">
              <a:defRPr/>
            </a:pPr>
            <a:endParaRPr lang="en-US" altLang="zh-CN" sz="1600" dirty="0">
              <a:solidFill>
                <a:schemeClr val="accent6">
                  <a:lumMod val="75000"/>
                </a:schemeClr>
              </a:solidFill>
              <a:ea typeface="宋体" panose="02010600030101010101" pitchFamily="2" charset="-122"/>
            </a:endParaRPr>
          </a:p>
          <a:p>
            <a:pPr eaLnBrk="1" hangingPunct="1">
              <a:defRPr/>
            </a:pPr>
            <a:r>
              <a:rPr lang="zh-CN" altLang="en-US" sz="1600" dirty="0">
                <a:solidFill>
                  <a:schemeClr val="accent6">
                    <a:lumMod val="75000"/>
                  </a:schemeClr>
                </a:solidFill>
                <a:ea typeface="宋体" panose="02010600030101010101" pitchFamily="2" charset="-122"/>
              </a:rPr>
              <a:t>长期，资本与劳动都是可变的，生产点将从</a:t>
            </a:r>
            <a:r>
              <a:rPr lang="en-US" altLang="zh-CN" sz="1600" dirty="0">
                <a:solidFill>
                  <a:schemeClr val="accent6">
                    <a:lumMod val="75000"/>
                  </a:schemeClr>
                </a:solidFill>
                <a:ea typeface="宋体" panose="02010600030101010101" pitchFamily="2" charset="-122"/>
              </a:rPr>
              <a:t>E</a:t>
            </a:r>
            <a:r>
              <a:rPr lang="zh-CN" altLang="en-US" sz="1600" dirty="0">
                <a:solidFill>
                  <a:schemeClr val="accent6">
                    <a:lumMod val="75000"/>
                  </a:schemeClr>
                </a:solidFill>
                <a:ea typeface="宋体" panose="02010600030101010101" pitchFamily="2" charset="-122"/>
              </a:rPr>
              <a:t>点转移到</a:t>
            </a:r>
            <a:r>
              <a:rPr lang="en-US" altLang="zh-CN" sz="1600" dirty="0">
                <a:solidFill>
                  <a:schemeClr val="accent6">
                    <a:lumMod val="75000"/>
                  </a:schemeClr>
                </a:solidFill>
                <a:ea typeface="宋体" panose="02010600030101010101" pitchFamily="2" charset="-122"/>
              </a:rPr>
              <a:t>F</a:t>
            </a:r>
            <a:r>
              <a:rPr lang="zh-CN" altLang="en-US" sz="1600" dirty="0">
                <a:solidFill>
                  <a:schemeClr val="accent6">
                    <a:lumMod val="75000"/>
                  </a:schemeClr>
                </a:solidFill>
                <a:ea typeface="宋体" panose="02010600030101010101" pitchFamily="2" charset="-122"/>
              </a:rPr>
              <a:t>点，显然，</a:t>
            </a:r>
            <a:r>
              <a:rPr lang="en-US" altLang="zh-CN" sz="1600" dirty="0">
                <a:solidFill>
                  <a:schemeClr val="accent6">
                    <a:lumMod val="75000"/>
                  </a:schemeClr>
                </a:solidFill>
                <a:ea typeface="宋体" panose="02010600030101010101" pitchFamily="2" charset="-122"/>
              </a:rPr>
              <a:t>P</a:t>
            </a:r>
            <a:r>
              <a:rPr lang="zh-CN" altLang="en-US" sz="1600" dirty="0">
                <a:solidFill>
                  <a:schemeClr val="accent6">
                    <a:lumMod val="75000"/>
                  </a:schemeClr>
                </a:solidFill>
                <a:ea typeface="宋体" panose="02010600030101010101" pitchFamily="2" charset="-122"/>
              </a:rPr>
              <a:t>点的成本高于</a:t>
            </a:r>
            <a:r>
              <a:rPr lang="en-US" altLang="zh-CN" sz="1600" dirty="0">
                <a:solidFill>
                  <a:schemeClr val="accent6">
                    <a:lumMod val="75000"/>
                  </a:schemeClr>
                </a:solidFill>
                <a:ea typeface="宋体" panose="02010600030101010101" pitchFamily="2" charset="-122"/>
              </a:rPr>
              <a:t>F</a:t>
            </a:r>
            <a:r>
              <a:rPr lang="zh-CN" altLang="en-US" sz="1600" dirty="0">
                <a:solidFill>
                  <a:schemeClr val="accent6">
                    <a:lumMod val="75000"/>
                  </a:schemeClr>
                </a:solidFill>
                <a:ea typeface="宋体" panose="02010600030101010101" pitchFamily="2" charset="-122"/>
              </a:rPr>
              <a:t>点。</a:t>
            </a:r>
            <a:endParaRPr lang="en-US" altLang="zh-CN" sz="1600" dirty="0">
              <a:solidFill>
                <a:schemeClr val="accent6">
                  <a:lumMod val="75000"/>
                </a:schemeClr>
              </a:solidFill>
              <a:ea typeface="宋体" panose="02010600030101010101" pitchFamily="2" charset="-122"/>
            </a:endParaRPr>
          </a:p>
          <a:p>
            <a:pPr eaLnBrk="1" hangingPunct="1">
              <a:defRPr/>
            </a:pPr>
            <a:endParaRPr lang="en-US" altLang="zh-CN" sz="1600" dirty="0">
              <a:solidFill>
                <a:schemeClr val="accent6">
                  <a:lumMod val="75000"/>
                </a:schemeClr>
              </a:solidFill>
              <a:ea typeface="宋体" panose="02010600030101010101" pitchFamily="2" charset="-122"/>
            </a:endParaRPr>
          </a:p>
          <a:p>
            <a:pPr eaLnBrk="1" hangingPunct="1">
              <a:defRPr/>
            </a:pPr>
            <a:r>
              <a:rPr lang="zh-CN" altLang="en-US" sz="1600" dirty="0">
                <a:solidFill>
                  <a:schemeClr val="accent6">
                    <a:lumMod val="75000"/>
                  </a:schemeClr>
                </a:solidFill>
                <a:ea typeface="宋体" panose="02010600030101010101" pitchFamily="2" charset="-122"/>
              </a:rPr>
              <a:t>即短期成本是高于长期成本的。</a:t>
            </a:r>
          </a:p>
        </p:txBody>
      </p:sp>
      <p:sp>
        <p:nvSpPr>
          <p:cNvPr id="57349" name="Rectangle 2">
            <a:extLst>
              <a:ext uri="{FF2B5EF4-FFF2-40B4-BE49-F238E27FC236}">
                <a16:creationId xmlns:a16="http://schemas.microsoft.com/office/drawing/2014/main" id="{362D239D-9288-4AFE-97FE-B7A6A649B89B}"/>
              </a:ext>
            </a:extLst>
          </p:cNvPr>
          <p:cNvSpPr>
            <a:spLocks noChangeArrowheads="1"/>
          </p:cNvSpPr>
          <p:nvPr/>
        </p:nvSpPr>
        <p:spPr bwMode="auto">
          <a:xfrm>
            <a:off x="7620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endParaRPr lang="zh-CN" altLang="en-US" sz="1800">
              <a:solidFill>
                <a:schemeClr val="tx1"/>
              </a:solidFill>
              <a:latin typeface="Times New Roman" panose="02020603050405020304" pitchFamily="18" charset="0"/>
              <a:ea typeface="宋体" panose="02010600030101010101" pitchFamily="2" charset="-122"/>
            </a:endParaRPr>
          </a:p>
        </p:txBody>
      </p:sp>
      <p:sp>
        <p:nvSpPr>
          <p:cNvPr id="57350" name="Rectangle 3">
            <a:extLst>
              <a:ext uri="{FF2B5EF4-FFF2-40B4-BE49-F238E27FC236}">
                <a16:creationId xmlns:a16="http://schemas.microsoft.com/office/drawing/2014/main" id="{D010A783-B2A7-4809-AA10-0B828ED8C760}"/>
              </a:ext>
            </a:extLst>
          </p:cNvPr>
          <p:cNvSpPr>
            <a:spLocks noChangeArrowheads="1"/>
          </p:cNvSpPr>
          <p:nvPr/>
        </p:nvSpPr>
        <p:spPr bwMode="auto">
          <a:xfrm>
            <a:off x="32766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endParaRPr lang="zh-CN" altLang="en-US" sz="1800">
              <a:solidFill>
                <a:schemeClr val="tx1"/>
              </a:solidFill>
              <a:latin typeface="Times New Roman" panose="02020603050405020304" pitchFamily="18" charset="0"/>
              <a:ea typeface="宋体" panose="02010600030101010101" pitchFamily="2" charset="-122"/>
            </a:endParaRPr>
          </a:p>
        </p:txBody>
      </p:sp>
      <p:sp>
        <p:nvSpPr>
          <p:cNvPr id="57352" name="Rectangle 8">
            <a:extLst>
              <a:ext uri="{FF2B5EF4-FFF2-40B4-BE49-F238E27FC236}">
                <a16:creationId xmlns:a16="http://schemas.microsoft.com/office/drawing/2014/main" id="{C8E9AFB9-BD3E-46DE-B316-5330DF03B9D2}"/>
              </a:ext>
            </a:extLst>
          </p:cNvPr>
          <p:cNvSpPr>
            <a:spLocks noChangeArrowheads="1"/>
          </p:cNvSpPr>
          <p:nvPr/>
        </p:nvSpPr>
        <p:spPr bwMode="auto">
          <a:xfrm>
            <a:off x="762000" y="6248400"/>
            <a:ext cx="1905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endParaRPr lang="zh-CN" altLang="en-US" sz="1800">
              <a:solidFill>
                <a:schemeClr val="tx1"/>
              </a:solidFill>
              <a:latin typeface="Times New Roman" panose="02020603050405020304" pitchFamily="18" charset="0"/>
              <a:ea typeface="宋体" panose="02010600030101010101" pitchFamily="2" charset="-122"/>
            </a:endParaRPr>
          </a:p>
        </p:txBody>
      </p:sp>
      <p:sp>
        <p:nvSpPr>
          <p:cNvPr id="57353" name="Rectangle 9">
            <a:extLst>
              <a:ext uri="{FF2B5EF4-FFF2-40B4-BE49-F238E27FC236}">
                <a16:creationId xmlns:a16="http://schemas.microsoft.com/office/drawing/2014/main" id="{A805AAEA-6F04-4511-99CE-FF78B4BF853A}"/>
              </a:ext>
            </a:extLst>
          </p:cNvPr>
          <p:cNvSpPr>
            <a:spLocks noChangeArrowheads="1"/>
          </p:cNvSpPr>
          <p:nvPr/>
        </p:nvSpPr>
        <p:spPr bwMode="auto">
          <a:xfrm>
            <a:off x="32766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endParaRPr lang="zh-CN" altLang="en-US" sz="1800">
              <a:solidFill>
                <a:schemeClr val="tx1"/>
              </a:solidFill>
              <a:latin typeface="Times New Roman" panose="02020603050405020304" pitchFamily="18" charset="0"/>
              <a:ea typeface="宋体" panose="02010600030101010101" pitchFamily="2" charset="-122"/>
            </a:endParaRPr>
          </a:p>
        </p:txBody>
      </p:sp>
      <p:sp>
        <p:nvSpPr>
          <p:cNvPr id="57354" name="Rectangle 10">
            <a:extLst>
              <a:ext uri="{FF2B5EF4-FFF2-40B4-BE49-F238E27FC236}">
                <a16:creationId xmlns:a16="http://schemas.microsoft.com/office/drawing/2014/main" id="{DFBC05D2-B441-4CBB-8001-FF31FA364ACB}"/>
              </a:ext>
            </a:extLst>
          </p:cNvPr>
          <p:cNvSpPr>
            <a:spLocks noChangeArrowheads="1"/>
          </p:cNvSpPr>
          <p:nvPr/>
        </p:nvSpPr>
        <p:spPr bwMode="auto">
          <a:xfrm>
            <a:off x="3124200" y="62357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endParaRPr lang="zh-CN" altLang="en-US" sz="1800">
              <a:solidFill>
                <a:schemeClr val="tx1"/>
              </a:solidFill>
              <a:latin typeface="Times New Roman" panose="02020603050405020304" pitchFamily="18" charset="0"/>
              <a:ea typeface="宋体" panose="02010600030101010101" pitchFamily="2" charset="-122"/>
            </a:endParaRPr>
          </a:p>
        </p:txBody>
      </p:sp>
      <p:sp>
        <p:nvSpPr>
          <p:cNvPr id="57355" name="Line 11">
            <a:extLst>
              <a:ext uri="{FF2B5EF4-FFF2-40B4-BE49-F238E27FC236}">
                <a16:creationId xmlns:a16="http://schemas.microsoft.com/office/drawing/2014/main" id="{526F2E12-595C-40B0-9EE5-C13CF65EBB6E}"/>
              </a:ext>
            </a:extLst>
          </p:cNvPr>
          <p:cNvSpPr>
            <a:spLocks noChangeShapeType="1"/>
          </p:cNvSpPr>
          <p:nvPr/>
        </p:nvSpPr>
        <p:spPr bwMode="auto">
          <a:xfrm>
            <a:off x="2222500" y="1757363"/>
            <a:ext cx="0" cy="42370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6" name="Line 12">
            <a:extLst>
              <a:ext uri="{FF2B5EF4-FFF2-40B4-BE49-F238E27FC236}">
                <a16:creationId xmlns:a16="http://schemas.microsoft.com/office/drawing/2014/main" id="{09606C28-30BA-44F9-A177-E3F787704E6E}"/>
              </a:ext>
            </a:extLst>
          </p:cNvPr>
          <p:cNvSpPr>
            <a:spLocks noChangeShapeType="1"/>
          </p:cNvSpPr>
          <p:nvPr/>
        </p:nvSpPr>
        <p:spPr bwMode="auto">
          <a:xfrm>
            <a:off x="2203450" y="6007100"/>
            <a:ext cx="44259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57" name="Rectangle 13">
            <a:extLst>
              <a:ext uri="{FF2B5EF4-FFF2-40B4-BE49-F238E27FC236}">
                <a16:creationId xmlns:a16="http://schemas.microsoft.com/office/drawing/2014/main" id="{25CD0172-E9C5-450A-AC6F-0DBEDDD8D62A}"/>
              </a:ext>
            </a:extLst>
          </p:cNvPr>
          <p:cNvSpPr>
            <a:spLocks noChangeArrowheads="1"/>
          </p:cNvSpPr>
          <p:nvPr/>
        </p:nvSpPr>
        <p:spPr bwMode="auto">
          <a:xfrm>
            <a:off x="6661150" y="5918200"/>
            <a:ext cx="5905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zh-CN" altLang="en-US" sz="1600" b="1">
                <a:solidFill>
                  <a:schemeClr val="tx1"/>
                </a:solidFill>
                <a:latin typeface="Times New Roman" panose="02020603050405020304" pitchFamily="18" charset="0"/>
                <a:ea typeface="宋体" panose="02010600030101010101" pitchFamily="2" charset="-122"/>
              </a:rPr>
              <a:t>劳动</a:t>
            </a:r>
          </a:p>
        </p:txBody>
      </p:sp>
      <p:sp>
        <p:nvSpPr>
          <p:cNvPr id="57358" name="Rectangle 14">
            <a:extLst>
              <a:ext uri="{FF2B5EF4-FFF2-40B4-BE49-F238E27FC236}">
                <a16:creationId xmlns:a16="http://schemas.microsoft.com/office/drawing/2014/main" id="{789B0013-61F8-4A41-A28F-53382DB0874D}"/>
              </a:ext>
            </a:extLst>
          </p:cNvPr>
          <p:cNvSpPr>
            <a:spLocks noChangeArrowheads="1"/>
          </p:cNvSpPr>
          <p:nvPr/>
        </p:nvSpPr>
        <p:spPr bwMode="auto">
          <a:xfrm>
            <a:off x="984250" y="1670050"/>
            <a:ext cx="5905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r" eaLnBrk="1" hangingPunct="1">
              <a:spcBef>
                <a:spcPct val="0"/>
              </a:spcBef>
              <a:buClrTx/>
              <a:buFontTx/>
              <a:buNone/>
            </a:pPr>
            <a:r>
              <a:rPr lang="zh-CN" altLang="en-US" sz="1600" b="1" dirty="0">
                <a:solidFill>
                  <a:schemeClr val="tx1"/>
                </a:solidFill>
                <a:latin typeface="Times New Roman" panose="02020603050405020304" pitchFamily="18" charset="0"/>
                <a:ea typeface="宋体" panose="02010600030101010101" pitchFamily="2" charset="-122"/>
              </a:rPr>
              <a:t>资本</a:t>
            </a:r>
          </a:p>
        </p:txBody>
      </p:sp>
      <p:grpSp>
        <p:nvGrpSpPr>
          <p:cNvPr id="2" name="Group 53">
            <a:extLst>
              <a:ext uri="{FF2B5EF4-FFF2-40B4-BE49-F238E27FC236}">
                <a16:creationId xmlns:a16="http://schemas.microsoft.com/office/drawing/2014/main" id="{13A2CC88-FB53-4E64-9F65-528A65193229}"/>
              </a:ext>
            </a:extLst>
          </p:cNvPr>
          <p:cNvGrpSpPr>
            <a:grpSpLocks/>
          </p:cNvGrpSpPr>
          <p:nvPr/>
        </p:nvGrpSpPr>
        <p:grpSpPr bwMode="auto">
          <a:xfrm>
            <a:off x="1754188" y="1674813"/>
            <a:ext cx="5472112" cy="4641850"/>
            <a:chOff x="1105" y="1055"/>
            <a:chExt cx="3447" cy="2924"/>
          </a:xfrm>
        </p:grpSpPr>
        <p:sp>
          <p:nvSpPr>
            <p:cNvPr id="57383" name="Rectangle 30">
              <a:extLst>
                <a:ext uri="{FF2B5EF4-FFF2-40B4-BE49-F238E27FC236}">
                  <a16:creationId xmlns:a16="http://schemas.microsoft.com/office/drawing/2014/main" id="{A233E53F-3729-4287-B33D-20C9E0FE710F}"/>
                </a:ext>
              </a:extLst>
            </p:cNvPr>
            <p:cNvSpPr>
              <a:spLocks noChangeArrowheads="1"/>
            </p:cNvSpPr>
            <p:nvPr/>
          </p:nvSpPr>
          <p:spPr bwMode="auto">
            <a:xfrm>
              <a:off x="2353" y="3753"/>
              <a:ext cx="24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600" b="1" i="1">
                  <a:solidFill>
                    <a:schemeClr val="tx1"/>
                  </a:solidFill>
                  <a:latin typeface="Times New Roman" panose="02020603050405020304" pitchFamily="18" charset="0"/>
                  <a:ea typeface="宋体" panose="02010600030101010101" pitchFamily="2" charset="-122"/>
                </a:rPr>
                <a:t>L</a:t>
              </a:r>
              <a:r>
                <a:rPr lang="en-US" altLang="zh-CN" sz="1600" b="1" i="1" baseline="-25000">
                  <a:solidFill>
                    <a:schemeClr val="tx1"/>
                  </a:solidFill>
                  <a:latin typeface="Times New Roman" panose="02020603050405020304" pitchFamily="18" charset="0"/>
                  <a:ea typeface="宋体" panose="02010600030101010101" pitchFamily="2" charset="-122"/>
                </a:rPr>
                <a:t>2</a:t>
              </a:r>
            </a:p>
          </p:txBody>
        </p:sp>
        <p:sp>
          <p:nvSpPr>
            <p:cNvPr id="57384" name="Rectangle 26">
              <a:extLst>
                <a:ext uri="{FF2B5EF4-FFF2-40B4-BE49-F238E27FC236}">
                  <a16:creationId xmlns:a16="http://schemas.microsoft.com/office/drawing/2014/main" id="{FEA55DB6-2AD7-4E11-B094-0AD9E1D55C1B}"/>
                </a:ext>
              </a:extLst>
            </p:cNvPr>
            <p:cNvSpPr>
              <a:spLocks noChangeArrowheads="1"/>
            </p:cNvSpPr>
            <p:nvPr/>
          </p:nvSpPr>
          <p:spPr bwMode="auto">
            <a:xfrm>
              <a:off x="4273" y="2977"/>
              <a:ext cx="279"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800" b="1" i="1">
                  <a:solidFill>
                    <a:schemeClr val="tx1"/>
                  </a:solidFill>
                  <a:latin typeface="Times New Roman" panose="02020603050405020304" pitchFamily="18" charset="0"/>
                  <a:ea typeface="宋体" panose="02010600030101010101" pitchFamily="2" charset="-122"/>
                </a:rPr>
                <a:t>Q</a:t>
              </a:r>
              <a:r>
                <a:rPr lang="en-US" altLang="zh-CN" sz="1800" b="1" i="1" baseline="-25000">
                  <a:solidFill>
                    <a:schemeClr val="tx1"/>
                  </a:solidFill>
                  <a:latin typeface="Times New Roman" panose="02020603050405020304" pitchFamily="18" charset="0"/>
                  <a:ea typeface="宋体" panose="02010600030101010101" pitchFamily="2" charset="-122"/>
                </a:rPr>
                <a:t>2</a:t>
              </a:r>
            </a:p>
          </p:txBody>
        </p:sp>
        <p:sp>
          <p:nvSpPr>
            <p:cNvPr id="57385" name="Line 4">
              <a:extLst>
                <a:ext uri="{FF2B5EF4-FFF2-40B4-BE49-F238E27FC236}">
                  <a16:creationId xmlns:a16="http://schemas.microsoft.com/office/drawing/2014/main" id="{7E2D2A97-DE08-4512-B5BB-2C6C835F1FC0}"/>
                </a:ext>
              </a:extLst>
            </p:cNvPr>
            <p:cNvSpPr>
              <a:spLocks noChangeShapeType="1"/>
            </p:cNvSpPr>
            <p:nvPr/>
          </p:nvSpPr>
          <p:spPr bwMode="auto">
            <a:xfrm>
              <a:off x="1418" y="1602"/>
              <a:ext cx="2166" cy="2174"/>
            </a:xfrm>
            <a:prstGeom prst="line">
              <a:avLst/>
            </a:prstGeom>
            <a:noFill/>
            <a:ln w="50800">
              <a:solidFill>
                <a:srgbClr val="A7ACB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6" name="Rectangle 18">
              <a:extLst>
                <a:ext uri="{FF2B5EF4-FFF2-40B4-BE49-F238E27FC236}">
                  <a16:creationId xmlns:a16="http://schemas.microsoft.com/office/drawing/2014/main" id="{D47D2AB3-46C9-4D24-B16F-1ED26649F0C2}"/>
                </a:ext>
              </a:extLst>
            </p:cNvPr>
            <p:cNvSpPr>
              <a:spLocks noChangeArrowheads="1"/>
            </p:cNvSpPr>
            <p:nvPr/>
          </p:nvSpPr>
          <p:spPr bwMode="auto">
            <a:xfrm>
              <a:off x="1105" y="2545"/>
              <a:ext cx="27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800" b="1" i="1">
                  <a:solidFill>
                    <a:schemeClr val="tx1"/>
                  </a:solidFill>
                  <a:latin typeface="Times New Roman" panose="02020603050405020304" pitchFamily="18" charset="0"/>
                  <a:ea typeface="宋体" panose="02010600030101010101" pitchFamily="2" charset="-122"/>
                </a:rPr>
                <a:t>K</a:t>
              </a:r>
              <a:r>
                <a:rPr lang="en-US" altLang="zh-CN" sz="1800" b="1" i="1" baseline="-25000">
                  <a:solidFill>
                    <a:schemeClr val="tx1"/>
                  </a:solidFill>
                  <a:latin typeface="Times New Roman" panose="02020603050405020304" pitchFamily="18" charset="0"/>
                  <a:ea typeface="宋体" panose="02010600030101010101" pitchFamily="2" charset="-122"/>
                </a:rPr>
                <a:t>2</a:t>
              </a:r>
            </a:p>
          </p:txBody>
        </p:sp>
        <p:sp>
          <p:nvSpPr>
            <p:cNvPr id="57387" name="Line 19">
              <a:extLst>
                <a:ext uri="{FF2B5EF4-FFF2-40B4-BE49-F238E27FC236}">
                  <a16:creationId xmlns:a16="http://schemas.microsoft.com/office/drawing/2014/main" id="{ACB28537-499C-4C6E-9EB8-F2C5CC382D24}"/>
                </a:ext>
              </a:extLst>
            </p:cNvPr>
            <p:cNvSpPr>
              <a:spLocks noChangeShapeType="1"/>
            </p:cNvSpPr>
            <p:nvPr/>
          </p:nvSpPr>
          <p:spPr bwMode="auto">
            <a:xfrm flipH="1">
              <a:off x="1386" y="2688"/>
              <a:ext cx="1118"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8" name="Freeform 22">
              <a:extLst>
                <a:ext uri="{FF2B5EF4-FFF2-40B4-BE49-F238E27FC236}">
                  <a16:creationId xmlns:a16="http://schemas.microsoft.com/office/drawing/2014/main" id="{C77A789B-0713-4158-90AF-5AFF3F4BFF64}"/>
                </a:ext>
              </a:extLst>
            </p:cNvPr>
            <p:cNvSpPr>
              <a:spLocks/>
            </p:cNvSpPr>
            <p:nvPr/>
          </p:nvSpPr>
          <p:spPr bwMode="auto">
            <a:xfrm>
              <a:off x="1873" y="1055"/>
              <a:ext cx="2401" cy="2115"/>
            </a:xfrm>
            <a:custGeom>
              <a:avLst/>
              <a:gdLst>
                <a:gd name="T0" fmla="*/ 0 w 2401"/>
                <a:gd name="T1" fmla="*/ 0 h 2115"/>
                <a:gd name="T2" fmla="*/ 0 w 2401"/>
                <a:gd name="T3" fmla="*/ 25 h 2115"/>
                <a:gd name="T4" fmla="*/ 7 w 2401"/>
                <a:gd name="T5" fmla="*/ 55 h 2115"/>
                <a:gd name="T6" fmla="*/ 7 w 2401"/>
                <a:gd name="T7" fmla="*/ 126 h 2115"/>
                <a:gd name="T8" fmla="*/ 21 w 2401"/>
                <a:gd name="T9" fmla="*/ 213 h 2115"/>
                <a:gd name="T10" fmla="*/ 28 w 2401"/>
                <a:gd name="T11" fmla="*/ 304 h 2115"/>
                <a:gd name="T12" fmla="*/ 34 w 2401"/>
                <a:gd name="T13" fmla="*/ 400 h 2115"/>
                <a:gd name="T14" fmla="*/ 48 w 2401"/>
                <a:gd name="T15" fmla="*/ 497 h 2115"/>
                <a:gd name="T16" fmla="*/ 55 w 2401"/>
                <a:gd name="T17" fmla="*/ 578 h 2115"/>
                <a:gd name="T18" fmla="*/ 69 w 2401"/>
                <a:gd name="T19" fmla="*/ 649 h 2115"/>
                <a:gd name="T20" fmla="*/ 75 w 2401"/>
                <a:gd name="T21" fmla="*/ 704 h 2115"/>
                <a:gd name="T22" fmla="*/ 89 w 2401"/>
                <a:gd name="T23" fmla="*/ 750 h 2115"/>
                <a:gd name="T24" fmla="*/ 96 w 2401"/>
                <a:gd name="T25" fmla="*/ 791 h 2115"/>
                <a:gd name="T26" fmla="*/ 110 w 2401"/>
                <a:gd name="T27" fmla="*/ 826 h 2115"/>
                <a:gd name="T28" fmla="*/ 130 w 2401"/>
                <a:gd name="T29" fmla="*/ 887 h 2115"/>
                <a:gd name="T30" fmla="*/ 158 w 2401"/>
                <a:gd name="T31" fmla="*/ 958 h 2115"/>
                <a:gd name="T32" fmla="*/ 233 w 2401"/>
                <a:gd name="T33" fmla="*/ 1100 h 2115"/>
                <a:gd name="T34" fmla="*/ 274 w 2401"/>
                <a:gd name="T35" fmla="*/ 1171 h 2115"/>
                <a:gd name="T36" fmla="*/ 322 w 2401"/>
                <a:gd name="T37" fmla="*/ 1242 h 2115"/>
                <a:gd name="T38" fmla="*/ 383 w 2401"/>
                <a:gd name="T39" fmla="*/ 1323 h 2115"/>
                <a:gd name="T40" fmla="*/ 445 w 2401"/>
                <a:gd name="T41" fmla="*/ 1409 h 2115"/>
                <a:gd name="T42" fmla="*/ 520 w 2401"/>
                <a:gd name="T43" fmla="*/ 1495 h 2115"/>
                <a:gd name="T44" fmla="*/ 588 w 2401"/>
                <a:gd name="T45" fmla="*/ 1571 h 2115"/>
                <a:gd name="T46" fmla="*/ 657 w 2401"/>
                <a:gd name="T47" fmla="*/ 1632 h 2115"/>
                <a:gd name="T48" fmla="*/ 725 w 2401"/>
                <a:gd name="T49" fmla="*/ 1688 h 2115"/>
                <a:gd name="T50" fmla="*/ 800 w 2401"/>
                <a:gd name="T51" fmla="*/ 1739 h 2115"/>
                <a:gd name="T52" fmla="*/ 889 w 2401"/>
                <a:gd name="T53" fmla="*/ 1789 h 2115"/>
                <a:gd name="T54" fmla="*/ 998 w 2401"/>
                <a:gd name="T55" fmla="*/ 1850 h 2115"/>
                <a:gd name="T56" fmla="*/ 1122 w 2401"/>
                <a:gd name="T57" fmla="*/ 1921 h 2115"/>
                <a:gd name="T58" fmla="*/ 1190 w 2401"/>
                <a:gd name="T59" fmla="*/ 1952 h 2115"/>
                <a:gd name="T60" fmla="*/ 1265 w 2401"/>
                <a:gd name="T61" fmla="*/ 1982 h 2115"/>
                <a:gd name="T62" fmla="*/ 1347 w 2401"/>
                <a:gd name="T63" fmla="*/ 2008 h 2115"/>
                <a:gd name="T64" fmla="*/ 1436 w 2401"/>
                <a:gd name="T65" fmla="*/ 2033 h 2115"/>
                <a:gd name="T66" fmla="*/ 1545 w 2401"/>
                <a:gd name="T67" fmla="*/ 2048 h 2115"/>
                <a:gd name="T68" fmla="*/ 1668 w 2401"/>
                <a:gd name="T69" fmla="*/ 2063 h 2115"/>
                <a:gd name="T70" fmla="*/ 1798 w 2401"/>
                <a:gd name="T71" fmla="*/ 2079 h 2115"/>
                <a:gd name="T72" fmla="*/ 1942 w 2401"/>
                <a:gd name="T73" fmla="*/ 2089 h 2115"/>
                <a:gd name="T74" fmla="*/ 2072 w 2401"/>
                <a:gd name="T75" fmla="*/ 2094 h 2115"/>
                <a:gd name="T76" fmla="*/ 2202 w 2401"/>
                <a:gd name="T77" fmla="*/ 2104 h 2115"/>
                <a:gd name="T78" fmla="*/ 2311 w 2401"/>
                <a:gd name="T79" fmla="*/ 2109 h 2115"/>
                <a:gd name="T80" fmla="*/ 2359 w 2401"/>
                <a:gd name="T81" fmla="*/ 2109 h 2115"/>
                <a:gd name="T82" fmla="*/ 2400 w 2401"/>
                <a:gd name="T83" fmla="*/ 2114 h 211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401"/>
                <a:gd name="T127" fmla="*/ 0 h 2115"/>
                <a:gd name="T128" fmla="*/ 2401 w 2401"/>
                <a:gd name="T129" fmla="*/ 2115 h 211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401" h="2115">
                  <a:moveTo>
                    <a:pt x="0" y="0"/>
                  </a:moveTo>
                  <a:lnTo>
                    <a:pt x="0" y="25"/>
                  </a:lnTo>
                  <a:lnTo>
                    <a:pt x="7" y="55"/>
                  </a:lnTo>
                  <a:lnTo>
                    <a:pt x="7" y="126"/>
                  </a:lnTo>
                  <a:lnTo>
                    <a:pt x="21" y="213"/>
                  </a:lnTo>
                  <a:lnTo>
                    <a:pt x="28" y="304"/>
                  </a:lnTo>
                  <a:lnTo>
                    <a:pt x="34" y="400"/>
                  </a:lnTo>
                  <a:lnTo>
                    <a:pt x="48" y="497"/>
                  </a:lnTo>
                  <a:lnTo>
                    <a:pt x="55" y="578"/>
                  </a:lnTo>
                  <a:lnTo>
                    <a:pt x="69" y="649"/>
                  </a:lnTo>
                  <a:lnTo>
                    <a:pt x="75" y="704"/>
                  </a:lnTo>
                  <a:lnTo>
                    <a:pt x="89" y="750"/>
                  </a:lnTo>
                  <a:lnTo>
                    <a:pt x="96" y="791"/>
                  </a:lnTo>
                  <a:lnTo>
                    <a:pt x="110" y="826"/>
                  </a:lnTo>
                  <a:lnTo>
                    <a:pt x="130" y="887"/>
                  </a:lnTo>
                  <a:lnTo>
                    <a:pt x="158" y="958"/>
                  </a:lnTo>
                  <a:lnTo>
                    <a:pt x="233" y="1100"/>
                  </a:lnTo>
                  <a:lnTo>
                    <a:pt x="274" y="1171"/>
                  </a:lnTo>
                  <a:lnTo>
                    <a:pt x="322" y="1242"/>
                  </a:lnTo>
                  <a:lnTo>
                    <a:pt x="383" y="1323"/>
                  </a:lnTo>
                  <a:lnTo>
                    <a:pt x="445" y="1409"/>
                  </a:lnTo>
                  <a:lnTo>
                    <a:pt x="520" y="1495"/>
                  </a:lnTo>
                  <a:lnTo>
                    <a:pt x="588" y="1571"/>
                  </a:lnTo>
                  <a:lnTo>
                    <a:pt x="657" y="1632"/>
                  </a:lnTo>
                  <a:lnTo>
                    <a:pt x="725" y="1688"/>
                  </a:lnTo>
                  <a:lnTo>
                    <a:pt x="800" y="1739"/>
                  </a:lnTo>
                  <a:lnTo>
                    <a:pt x="889" y="1789"/>
                  </a:lnTo>
                  <a:lnTo>
                    <a:pt x="998" y="1850"/>
                  </a:lnTo>
                  <a:lnTo>
                    <a:pt x="1122" y="1921"/>
                  </a:lnTo>
                  <a:lnTo>
                    <a:pt x="1190" y="1952"/>
                  </a:lnTo>
                  <a:lnTo>
                    <a:pt x="1265" y="1982"/>
                  </a:lnTo>
                  <a:lnTo>
                    <a:pt x="1347" y="2008"/>
                  </a:lnTo>
                  <a:lnTo>
                    <a:pt x="1436" y="2033"/>
                  </a:lnTo>
                  <a:lnTo>
                    <a:pt x="1545" y="2048"/>
                  </a:lnTo>
                  <a:lnTo>
                    <a:pt x="1668" y="2063"/>
                  </a:lnTo>
                  <a:lnTo>
                    <a:pt x="1798" y="2079"/>
                  </a:lnTo>
                  <a:lnTo>
                    <a:pt x="1942" y="2089"/>
                  </a:lnTo>
                  <a:lnTo>
                    <a:pt x="2072" y="2094"/>
                  </a:lnTo>
                  <a:lnTo>
                    <a:pt x="2202" y="2104"/>
                  </a:lnTo>
                  <a:lnTo>
                    <a:pt x="2311" y="2109"/>
                  </a:lnTo>
                  <a:lnTo>
                    <a:pt x="2359" y="2109"/>
                  </a:lnTo>
                  <a:lnTo>
                    <a:pt x="2400" y="2114"/>
                  </a:lnTo>
                </a:path>
              </a:pathLst>
            </a:custGeom>
            <a:noFill/>
            <a:ln w="50800" cap="rnd">
              <a:solidFill>
                <a:srgbClr val="F3C97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89" name="Oval 23">
              <a:extLst>
                <a:ext uri="{FF2B5EF4-FFF2-40B4-BE49-F238E27FC236}">
                  <a16:creationId xmlns:a16="http://schemas.microsoft.com/office/drawing/2014/main" id="{D8E637A2-5FAC-4BF8-A53E-D0F2F45EB142}"/>
                </a:ext>
              </a:extLst>
            </p:cNvPr>
            <p:cNvSpPr>
              <a:spLocks noChangeArrowheads="1"/>
            </p:cNvSpPr>
            <p:nvPr/>
          </p:nvSpPr>
          <p:spPr bwMode="auto">
            <a:xfrm>
              <a:off x="2448" y="2640"/>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endParaRPr lang="zh-CN" altLang="en-US" sz="1800">
                <a:solidFill>
                  <a:schemeClr val="tx1"/>
                </a:solidFill>
                <a:latin typeface="Times New Roman" panose="02020603050405020304" pitchFamily="18" charset="0"/>
                <a:ea typeface="宋体" panose="02010600030101010101" pitchFamily="2" charset="-122"/>
              </a:endParaRPr>
            </a:p>
          </p:txBody>
        </p:sp>
        <p:sp>
          <p:nvSpPr>
            <p:cNvPr id="57390" name="Line 29">
              <a:extLst>
                <a:ext uri="{FF2B5EF4-FFF2-40B4-BE49-F238E27FC236}">
                  <a16:creationId xmlns:a16="http://schemas.microsoft.com/office/drawing/2014/main" id="{1C9ABBC4-5538-4BD9-9981-D21D67C66D7B}"/>
                </a:ext>
              </a:extLst>
            </p:cNvPr>
            <p:cNvSpPr>
              <a:spLocks noChangeShapeType="1"/>
            </p:cNvSpPr>
            <p:nvPr/>
          </p:nvSpPr>
          <p:spPr bwMode="auto">
            <a:xfrm>
              <a:off x="2496" y="2698"/>
              <a:ext cx="0" cy="1086"/>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91" name="Rectangle 31">
              <a:extLst>
                <a:ext uri="{FF2B5EF4-FFF2-40B4-BE49-F238E27FC236}">
                  <a16:creationId xmlns:a16="http://schemas.microsoft.com/office/drawing/2014/main" id="{1EF3568E-EB3C-4AB6-B822-1CE399266D75}"/>
                </a:ext>
              </a:extLst>
            </p:cNvPr>
            <p:cNvSpPr>
              <a:spLocks noChangeArrowheads="1"/>
            </p:cNvSpPr>
            <p:nvPr/>
          </p:nvSpPr>
          <p:spPr bwMode="auto">
            <a:xfrm>
              <a:off x="3505" y="3769"/>
              <a:ext cx="20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600" b="1" i="1">
                  <a:solidFill>
                    <a:schemeClr val="tx1"/>
                  </a:solidFill>
                  <a:latin typeface="Times New Roman" panose="02020603050405020304" pitchFamily="18" charset="0"/>
                  <a:ea typeface="宋体" panose="02010600030101010101" pitchFamily="2" charset="-122"/>
                </a:rPr>
                <a:t>D</a:t>
              </a:r>
            </a:p>
          </p:txBody>
        </p:sp>
        <p:sp>
          <p:nvSpPr>
            <p:cNvPr id="57392" name="Rectangle 33">
              <a:extLst>
                <a:ext uri="{FF2B5EF4-FFF2-40B4-BE49-F238E27FC236}">
                  <a16:creationId xmlns:a16="http://schemas.microsoft.com/office/drawing/2014/main" id="{BB249B17-9E8B-4E86-AF6A-00A8F1B73395}"/>
                </a:ext>
              </a:extLst>
            </p:cNvPr>
            <p:cNvSpPr>
              <a:spLocks noChangeArrowheads="1"/>
            </p:cNvSpPr>
            <p:nvPr/>
          </p:nvSpPr>
          <p:spPr bwMode="auto">
            <a:xfrm>
              <a:off x="1153" y="1441"/>
              <a:ext cx="2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800" b="1" i="1">
                  <a:solidFill>
                    <a:schemeClr val="tx1"/>
                  </a:solidFill>
                  <a:latin typeface="Times New Roman" panose="02020603050405020304" pitchFamily="18" charset="0"/>
                  <a:ea typeface="宋体" panose="02010600030101010101" pitchFamily="2" charset="-122"/>
                </a:rPr>
                <a:t>C</a:t>
              </a:r>
            </a:p>
          </p:txBody>
        </p:sp>
      </p:grpSp>
      <p:grpSp>
        <p:nvGrpSpPr>
          <p:cNvPr id="3" name="Group 48">
            <a:extLst>
              <a:ext uri="{FF2B5EF4-FFF2-40B4-BE49-F238E27FC236}">
                <a16:creationId xmlns:a16="http://schemas.microsoft.com/office/drawing/2014/main" id="{474189F0-2016-4E90-BB6D-FC6DCAF47829}"/>
              </a:ext>
            </a:extLst>
          </p:cNvPr>
          <p:cNvGrpSpPr>
            <a:grpSpLocks/>
          </p:cNvGrpSpPr>
          <p:nvPr/>
        </p:nvGrpSpPr>
        <p:grpSpPr bwMode="auto">
          <a:xfrm>
            <a:off x="1830388" y="1601788"/>
            <a:ext cx="4800600" cy="4714875"/>
            <a:chOff x="1153" y="1009"/>
            <a:chExt cx="3024" cy="2970"/>
          </a:xfrm>
        </p:grpSpPr>
        <p:sp>
          <p:nvSpPr>
            <p:cNvPr id="57380" name="Line 16">
              <a:extLst>
                <a:ext uri="{FF2B5EF4-FFF2-40B4-BE49-F238E27FC236}">
                  <a16:creationId xmlns:a16="http://schemas.microsoft.com/office/drawing/2014/main" id="{60CCE22A-457B-4CBB-BBB3-A2D54AB309F1}"/>
                </a:ext>
              </a:extLst>
            </p:cNvPr>
            <p:cNvSpPr>
              <a:spLocks noChangeShapeType="1"/>
            </p:cNvSpPr>
            <p:nvPr/>
          </p:nvSpPr>
          <p:spPr bwMode="auto">
            <a:xfrm>
              <a:off x="1418" y="1170"/>
              <a:ext cx="2598" cy="2598"/>
            </a:xfrm>
            <a:prstGeom prst="line">
              <a:avLst/>
            </a:prstGeom>
            <a:noFill/>
            <a:ln w="50800">
              <a:solidFill>
                <a:srgbClr val="A7ACB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81" name="Rectangle 32">
              <a:extLst>
                <a:ext uri="{FF2B5EF4-FFF2-40B4-BE49-F238E27FC236}">
                  <a16:creationId xmlns:a16="http://schemas.microsoft.com/office/drawing/2014/main" id="{2A66B6C4-1279-428E-B408-4FDA47214BBF}"/>
                </a:ext>
              </a:extLst>
            </p:cNvPr>
            <p:cNvSpPr>
              <a:spLocks noChangeArrowheads="1"/>
            </p:cNvSpPr>
            <p:nvPr/>
          </p:nvSpPr>
          <p:spPr bwMode="auto">
            <a:xfrm>
              <a:off x="3985" y="3769"/>
              <a:ext cx="19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600" b="1" i="1">
                  <a:solidFill>
                    <a:schemeClr val="tx1"/>
                  </a:solidFill>
                  <a:latin typeface="Times New Roman" panose="02020603050405020304" pitchFamily="18" charset="0"/>
                  <a:ea typeface="宋体" panose="02010600030101010101" pitchFamily="2" charset="-122"/>
                </a:rPr>
                <a:t>F</a:t>
              </a:r>
            </a:p>
          </p:txBody>
        </p:sp>
        <p:sp>
          <p:nvSpPr>
            <p:cNvPr id="57382" name="Rectangle 34">
              <a:extLst>
                <a:ext uri="{FF2B5EF4-FFF2-40B4-BE49-F238E27FC236}">
                  <a16:creationId xmlns:a16="http://schemas.microsoft.com/office/drawing/2014/main" id="{DC7B6172-97A6-44FC-B686-142DD979D741}"/>
                </a:ext>
              </a:extLst>
            </p:cNvPr>
            <p:cNvSpPr>
              <a:spLocks noChangeArrowheads="1"/>
            </p:cNvSpPr>
            <p:nvPr/>
          </p:nvSpPr>
          <p:spPr bwMode="auto">
            <a:xfrm>
              <a:off x="1153" y="1009"/>
              <a:ext cx="210"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800" b="1" i="1">
                  <a:solidFill>
                    <a:schemeClr val="tx1"/>
                  </a:solidFill>
                  <a:latin typeface="Times New Roman" panose="02020603050405020304" pitchFamily="18" charset="0"/>
                  <a:ea typeface="宋体" panose="02010600030101010101" pitchFamily="2" charset="-122"/>
                </a:rPr>
                <a:t>E</a:t>
              </a:r>
            </a:p>
          </p:txBody>
        </p:sp>
      </p:grpSp>
      <p:grpSp>
        <p:nvGrpSpPr>
          <p:cNvPr id="4" name="Group 50">
            <a:extLst>
              <a:ext uri="{FF2B5EF4-FFF2-40B4-BE49-F238E27FC236}">
                <a16:creationId xmlns:a16="http://schemas.microsoft.com/office/drawing/2014/main" id="{3D47F765-3D9B-44CC-B6A9-A2FA1FEC81B7}"/>
              </a:ext>
            </a:extLst>
          </p:cNvPr>
          <p:cNvGrpSpPr>
            <a:grpSpLocks/>
          </p:cNvGrpSpPr>
          <p:nvPr/>
        </p:nvGrpSpPr>
        <p:grpSpPr bwMode="auto">
          <a:xfrm>
            <a:off x="1754188" y="2359025"/>
            <a:ext cx="5014912" cy="3957638"/>
            <a:chOff x="1105" y="1486"/>
            <a:chExt cx="3159" cy="2493"/>
          </a:xfrm>
        </p:grpSpPr>
        <p:sp>
          <p:nvSpPr>
            <p:cNvPr id="57370" name="Rectangle 17">
              <a:extLst>
                <a:ext uri="{FF2B5EF4-FFF2-40B4-BE49-F238E27FC236}">
                  <a16:creationId xmlns:a16="http://schemas.microsoft.com/office/drawing/2014/main" id="{0B7AC43B-37DC-4119-9D1A-91F20ECC6E1A}"/>
                </a:ext>
              </a:extLst>
            </p:cNvPr>
            <p:cNvSpPr>
              <a:spLocks noChangeArrowheads="1"/>
            </p:cNvSpPr>
            <p:nvPr/>
          </p:nvSpPr>
          <p:spPr bwMode="auto">
            <a:xfrm>
              <a:off x="3985" y="3409"/>
              <a:ext cx="279"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800" b="1" i="1">
                  <a:solidFill>
                    <a:schemeClr val="tx1"/>
                  </a:solidFill>
                  <a:latin typeface="Times New Roman" panose="02020603050405020304" pitchFamily="18" charset="0"/>
                  <a:ea typeface="宋体" panose="02010600030101010101" pitchFamily="2" charset="-122"/>
                </a:rPr>
                <a:t>Q</a:t>
              </a:r>
              <a:r>
                <a:rPr lang="en-US" altLang="zh-CN" sz="1800" b="1" i="1" baseline="-25000">
                  <a:solidFill>
                    <a:schemeClr val="tx1"/>
                  </a:solidFill>
                  <a:latin typeface="Times New Roman" panose="02020603050405020304" pitchFamily="18" charset="0"/>
                  <a:ea typeface="宋体" panose="02010600030101010101" pitchFamily="2" charset="-122"/>
                </a:rPr>
                <a:t>1</a:t>
              </a:r>
            </a:p>
          </p:txBody>
        </p:sp>
        <p:sp>
          <p:nvSpPr>
            <p:cNvPr id="57371" name="Rectangle 27">
              <a:extLst>
                <a:ext uri="{FF2B5EF4-FFF2-40B4-BE49-F238E27FC236}">
                  <a16:creationId xmlns:a16="http://schemas.microsoft.com/office/drawing/2014/main" id="{5BDDCBD1-D6D4-424F-969E-AB856516FC21}"/>
                </a:ext>
              </a:extLst>
            </p:cNvPr>
            <p:cNvSpPr>
              <a:spLocks noChangeArrowheads="1"/>
            </p:cNvSpPr>
            <p:nvPr/>
          </p:nvSpPr>
          <p:spPr bwMode="auto">
            <a:xfrm>
              <a:off x="1153" y="2161"/>
              <a:ext cx="21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800" b="1" i="1">
                  <a:solidFill>
                    <a:schemeClr val="tx1"/>
                  </a:solidFill>
                  <a:latin typeface="Times New Roman" panose="02020603050405020304" pitchFamily="18" charset="0"/>
                  <a:ea typeface="宋体" panose="02010600030101010101" pitchFamily="2" charset="-122"/>
                </a:rPr>
                <a:t>A</a:t>
              </a:r>
            </a:p>
          </p:txBody>
        </p:sp>
        <p:sp>
          <p:nvSpPr>
            <p:cNvPr id="57372" name="Rectangle 28">
              <a:extLst>
                <a:ext uri="{FF2B5EF4-FFF2-40B4-BE49-F238E27FC236}">
                  <a16:creationId xmlns:a16="http://schemas.microsoft.com/office/drawing/2014/main" id="{4489F9CE-3AD1-4163-BF43-4F7BB33620E2}"/>
                </a:ext>
              </a:extLst>
            </p:cNvPr>
            <p:cNvSpPr>
              <a:spLocks noChangeArrowheads="1"/>
            </p:cNvSpPr>
            <p:nvPr/>
          </p:nvSpPr>
          <p:spPr bwMode="auto">
            <a:xfrm>
              <a:off x="2689" y="3769"/>
              <a:ext cx="206"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600" b="1" i="1">
                  <a:solidFill>
                    <a:schemeClr val="tx1"/>
                  </a:solidFill>
                  <a:latin typeface="Times New Roman" panose="02020603050405020304" pitchFamily="18" charset="0"/>
                  <a:ea typeface="宋体" panose="02010600030101010101" pitchFamily="2" charset="-122"/>
                </a:rPr>
                <a:t>B</a:t>
              </a:r>
            </a:p>
          </p:txBody>
        </p:sp>
        <p:sp>
          <p:nvSpPr>
            <p:cNvPr id="57373" name="Freeform 7">
              <a:extLst>
                <a:ext uri="{FF2B5EF4-FFF2-40B4-BE49-F238E27FC236}">
                  <a16:creationId xmlns:a16="http://schemas.microsoft.com/office/drawing/2014/main" id="{0BB26641-7863-4DAA-B70A-83191A5F4813}"/>
                </a:ext>
              </a:extLst>
            </p:cNvPr>
            <p:cNvSpPr>
              <a:spLocks/>
            </p:cNvSpPr>
            <p:nvPr/>
          </p:nvSpPr>
          <p:spPr bwMode="auto">
            <a:xfrm>
              <a:off x="1537" y="1486"/>
              <a:ext cx="2401" cy="2116"/>
            </a:xfrm>
            <a:custGeom>
              <a:avLst/>
              <a:gdLst>
                <a:gd name="T0" fmla="*/ 0 w 2401"/>
                <a:gd name="T1" fmla="*/ 0 h 2116"/>
                <a:gd name="T2" fmla="*/ 0 w 2401"/>
                <a:gd name="T3" fmla="*/ 24 h 2116"/>
                <a:gd name="T4" fmla="*/ 6 w 2401"/>
                <a:gd name="T5" fmla="*/ 52 h 2116"/>
                <a:gd name="T6" fmla="*/ 6 w 2401"/>
                <a:gd name="T7" fmla="*/ 127 h 2116"/>
                <a:gd name="T8" fmla="*/ 19 w 2401"/>
                <a:gd name="T9" fmla="*/ 214 h 2116"/>
                <a:gd name="T10" fmla="*/ 25 w 2401"/>
                <a:gd name="T11" fmla="*/ 306 h 2116"/>
                <a:gd name="T12" fmla="*/ 38 w 2401"/>
                <a:gd name="T13" fmla="*/ 404 h 2116"/>
                <a:gd name="T14" fmla="*/ 44 w 2401"/>
                <a:gd name="T15" fmla="*/ 496 h 2116"/>
                <a:gd name="T16" fmla="*/ 57 w 2401"/>
                <a:gd name="T17" fmla="*/ 577 h 2116"/>
                <a:gd name="T18" fmla="*/ 69 w 2401"/>
                <a:gd name="T19" fmla="*/ 646 h 2116"/>
                <a:gd name="T20" fmla="*/ 82 w 2401"/>
                <a:gd name="T21" fmla="*/ 703 h 2116"/>
                <a:gd name="T22" fmla="*/ 88 w 2401"/>
                <a:gd name="T23" fmla="*/ 750 h 2116"/>
                <a:gd name="T24" fmla="*/ 101 w 2401"/>
                <a:gd name="T25" fmla="*/ 790 h 2116"/>
                <a:gd name="T26" fmla="*/ 107 w 2401"/>
                <a:gd name="T27" fmla="*/ 824 h 2116"/>
                <a:gd name="T28" fmla="*/ 132 w 2401"/>
                <a:gd name="T29" fmla="*/ 888 h 2116"/>
                <a:gd name="T30" fmla="*/ 157 w 2401"/>
                <a:gd name="T31" fmla="*/ 957 h 2116"/>
                <a:gd name="T32" fmla="*/ 233 w 2401"/>
                <a:gd name="T33" fmla="*/ 1101 h 2116"/>
                <a:gd name="T34" fmla="*/ 271 w 2401"/>
                <a:gd name="T35" fmla="*/ 1170 h 2116"/>
                <a:gd name="T36" fmla="*/ 321 w 2401"/>
                <a:gd name="T37" fmla="*/ 1245 h 2116"/>
                <a:gd name="T38" fmla="*/ 384 w 2401"/>
                <a:gd name="T39" fmla="*/ 1326 h 2116"/>
                <a:gd name="T40" fmla="*/ 447 w 2401"/>
                <a:gd name="T41" fmla="*/ 1412 h 2116"/>
                <a:gd name="T42" fmla="*/ 523 w 2401"/>
                <a:gd name="T43" fmla="*/ 1493 h 2116"/>
                <a:gd name="T44" fmla="*/ 592 w 2401"/>
                <a:gd name="T45" fmla="*/ 1568 h 2116"/>
                <a:gd name="T46" fmla="*/ 655 w 2401"/>
                <a:gd name="T47" fmla="*/ 1631 h 2116"/>
                <a:gd name="T48" fmla="*/ 724 w 2401"/>
                <a:gd name="T49" fmla="*/ 1689 h 2116"/>
                <a:gd name="T50" fmla="*/ 794 w 2401"/>
                <a:gd name="T51" fmla="*/ 1740 h 2116"/>
                <a:gd name="T52" fmla="*/ 838 w 2401"/>
                <a:gd name="T53" fmla="*/ 1764 h 2116"/>
                <a:gd name="T54" fmla="*/ 888 w 2401"/>
                <a:gd name="T55" fmla="*/ 1792 h 2116"/>
                <a:gd name="T56" fmla="*/ 1002 w 2401"/>
                <a:gd name="T57" fmla="*/ 1856 h 2116"/>
                <a:gd name="T58" fmla="*/ 1121 w 2401"/>
                <a:gd name="T59" fmla="*/ 1925 h 2116"/>
                <a:gd name="T60" fmla="*/ 1191 w 2401"/>
                <a:gd name="T61" fmla="*/ 1954 h 2116"/>
                <a:gd name="T62" fmla="*/ 1266 w 2401"/>
                <a:gd name="T63" fmla="*/ 1988 h 2116"/>
                <a:gd name="T64" fmla="*/ 1348 w 2401"/>
                <a:gd name="T65" fmla="*/ 2011 h 2116"/>
                <a:gd name="T66" fmla="*/ 1436 w 2401"/>
                <a:gd name="T67" fmla="*/ 2034 h 2116"/>
                <a:gd name="T68" fmla="*/ 1543 w 2401"/>
                <a:gd name="T69" fmla="*/ 2052 h 2116"/>
                <a:gd name="T70" fmla="*/ 1663 w 2401"/>
                <a:gd name="T71" fmla="*/ 2069 h 2116"/>
                <a:gd name="T72" fmla="*/ 1802 w 2401"/>
                <a:gd name="T73" fmla="*/ 2080 h 2116"/>
                <a:gd name="T74" fmla="*/ 1940 w 2401"/>
                <a:gd name="T75" fmla="*/ 2086 h 2116"/>
                <a:gd name="T76" fmla="*/ 2072 w 2401"/>
                <a:gd name="T77" fmla="*/ 2098 h 2116"/>
                <a:gd name="T78" fmla="*/ 2198 w 2401"/>
                <a:gd name="T79" fmla="*/ 2103 h 2116"/>
                <a:gd name="T80" fmla="*/ 2312 w 2401"/>
                <a:gd name="T81" fmla="*/ 2109 h 2116"/>
                <a:gd name="T82" fmla="*/ 2356 w 2401"/>
                <a:gd name="T83" fmla="*/ 2109 h 2116"/>
                <a:gd name="T84" fmla="*/ 2400 w 2401"/>
                <a:gd name="T85" fmla="*/ 2115 h 211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401"/>
                <a:gd name="T130" fmla="*/ 0 h 2116"/>
                <a:gd name="T131" fmla="*/ 2401 w 2401"/>
                <a:gd name="T132" fmla="*/ 2116 h 211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401" h="2116">
                  <a:moveTo>
                    <a:pt x="0" y="0"/>
                  </a:moveTo>
                  <a:lnTo>
                    <a:pt x="0" y="24"/>
                  </a:lnTo>
                  <a:lnTo>
                    <a:pt x="6" y="52"/>
                  </a:lnTo>
                  <a:lnTo>
                    <a:pt x="6" y="127"/>
                  </a:lnTo>
                  <a:lnTo>
                    <a:pt x="19" y="214"/>
                  </a:lnTo>
                  <a:lnTo>
                    <a:pt x="25" y="306"/>
                  </a:lnTo>
                  <a:lnTo>
                    <a:pt x="38" y="404"/>
                  </a:lnTo>
                  <a:lnTo>
                    <a:pt x="44" y="496"/>
                  </a:lnTo>
                  <a:lnTo>
                    <a:pt x="57" y="577"/>
                  </a:lnTo>
                  <a:lnTo>
                    <a:pt x="69" y="646"/>
                  </a:lnTo>
                  <a:lnTo>
                    <a:pt x="82" y="703"/>
                  </a:lnTo>
                  <a:lnTo>
                    <a:pt x="88" y="750"/>
                  </a:lnTo>
                  <a:lnTo>
                    <a:pt x="101" y="790"/>
                  </a:lnTo>
                  <a:lnTo>
                    <a:pt x="107" y="824"/>
                  </a:lnTo>
                  <a:lnTo>
                    <a:pt x="132" y="888"/>
                  </a:lnTo>
                  <a:lnTo>
                    <a:pt x="157" y="957"/>
                  </a:lnTo>
                  <a:lnTo>
                    <a:pt x="233" y="1101"/>
                  </a:lnTo>
                  <a:lnTo>
                    <a:pt x="271" y="1170"/>
                  </a:lnTo>
                  <a:lnTo>
                    <a:pt x="321" y="1245"/>
                  </a:lnTo>
                  <a:lnTo>
                    <a:pt x="384" y="1326"/>
                  </a:lnTo>
                  <a:lnTo>
                    <a:pt x="447" y="1412"/>
                  </a:lnTo>
                  <a:lnTo>
                    <a:pt x="523" y="1493"/>
                  </a:lnTo>
                  <a:lnTo>
                    <a:pt x="592" y="1568"/>
                  </a:lnTo>
                  <a:lnTo>
                    <a:pt x="655" y="1631"/>
                  </a:lnTo>
                  <a:lnTo>
                    <a:pt x="724" y="1689"/>
                  </a:lnTo>
                  <a:lnTo>
                    <a:pt x="794" y="1740"/>
                  </a:lnTo>
                  <a:lnTo>
                    <a:pt x="838" y="1764"/>
                  </a:lnTo>
                  <a:lnTo>
                    <a:pt x="888" y="1792"/>
                  </a:lnTo>
                  <a:lnTo>
                    <a:pt x="1002" y="1856"/>
                  </a:lnTo>
                  <a:lnTo>
                    <a:pt x="1121" y="1925"/>
                  </a:lnTo>
                  <a:lnTo>
                    <a:pt x="1191" y="1954"/>
                  </a:lnTo>
                  <a:lnTo>
                    <a:pt x="1266" y="1988"/>
                  </a:lnTo>
                  <a:lnTo>
                    <a:pt x="1348" y="2011"/>
                  </a:lnTo>
                  <a:lnTo>
                    <a:pt x="1436" y="2034"/>
                  </a:lnTo>
                  <a:lnTo>
                    <a:pt x="1543" y="2052"/>
                  </a:lnTo>
                  <a:lnTo>
                    <a:pt x="1663" y="2069"/>
                  </a:lnTo>
                  <a:lnTo>
                    <a:pt x="1802" y="2080"/>
                  </a:lnTo>
                  <a:lnTo>
                    <a:pt x="1940" y="2086"/>
                  </a:lnTo>
                  <a:lnTo>
                    <a:pt x="2072" y="2098"/>
                  </a:lnTo>
                  <a:lnTo>
                    <a:pt x="2198" y="2103"/>
                  </a:lnTo>
                  <a:lnTo>
                    <a:pt x="2312" y="2109"/>
                  </a:lnTo>
                  <a:lnTo>
                    <a:pt x="2356" y="2109"/>
                  </a:lnTo>
                  <a:lnTo>
                    <a:pt x="2400" y="2115"/>
                  </a:lnTo>
                </a:path>
              </a:pathLst>
            </a:custGeom>
            <a:noFill/>
            <a:ln w="50800" cap="rnd">
              <a:solidFill>
                <a:srgbClr val="F3C97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7374" name="Line 15">
              <a:extLst>
                <a:ext uri="{FF2B5EF4-FFF2-40B4-BE49-F238E27FC236}">
                  <a16:creationId xmlns:a16="http://schemas.microsoft.com/office/drawing/2014/main" id="{68E931CE-176F-4588-B2E2-2E1180CB3B92}"/>
                </a:ext>
              </a:extLst>
            </p:cNvPr>
            <p:cNvSpPr>
              <a:spLocks noChangeShapeType="1"/>
            </p:cNvSpPr>
            <p:nvPr/>
          </p:nvSpPr>
          <p:spPr bwMode="auto">
            <a:xfrm>
              <a:off x="1387" y="2347"/>
              <a:ext cx="1429" cy="1429"/>
            </a:xfrm>
            <a:prstGeom prst="line">
              <a:avLst/>
            </a:prstGeom>
            <a:noFill/>
            <a:ln w="50800">
              <a:solidFill>
                <a:srgbClr val="A7ACB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5" name="Line 20">
              <a:extLst>
                <a:ext uri="{FF2B5EF4-FFF2-40B4-BE49-F238E27FC236}">
                  <a16:creationId xmlns:a16="http://schemas.microsoft.com/office/drawing/2014/main" id="{3E431DB3-4ECE-49F5-99E9-571EB30A4B38}"/>
                </a:ext>
              </a:extLst>
            </p:cNvPr>
            <p:cNvSpPr>
              <a:spLocks noChangeShapeType="1"/>
            </p:cNvSpPr>
            <p:nvPr/>
          </p:nvSpPr>
          <p:spPr bwMode="auto">
            <a:xfrm>
              <a:off x="2112" y="3082"/>
              <a:ext cx="0" cy="70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76" name="Rectangle 21">
              <a:extLst>
                <a:ext uri="{FF2B5EF4-FFF2-40B4-BE49-F238E27FC236}">
                  <a16:creationId xmlns:a16="http://schemas.microsoft.com/office/drawing/2014/main" id="{3A2A8214-7589-478C-9664-95E5CBC97378}"/>
                </a:ext>
              </a:extLst>
            </p:cNvPr>
            <p:cNvSpPr>
              <a:spLocks noChangeArrowheads="1"/>
            </p:cNvSpPr>
            <p:nvPr/>
          </p:nvSpPr>
          <p:spPr bwMode="auto">
            <a:xfrm>
              <a:off x="1969" y="3753"/>
              <a:ext cx="241"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600" b="1" i="1">
                  <a:solidFill>
                    <a:schemeClr val="tx1"/>
                  </a:solidFill>
                  <a:latin typeface="Times New Roman" panose="02020603050405020304" pitchFamily="18" charset="0"/>
                  <a:ea typeface="宋体" panose="02010600030101010101" pitchFamily="2" charset="-122"/>
                </a:rPr>
                <a:t>L</a:t>
              </a:r>
              <a:r>
                <a:rPr lang="en-US" altLang="zh-CN" sz="1600" b="1" i="1" baseline="-25000">
                  <a:solidFill>
                    <a:schemeClr val="tx1"/>
                  </a:solidFill>
                  <a:latin typeface="Times New Roman" panose="02020603050405020304" pitchFamily="18" charset="0"/>
                  <a:ea typeface="宋体" panose="02010600030101010101" pitchFamily="2" charset="-122"/>
                </a:rPr>
                <a:t>1</a:t>
              </a:r>
            </a:p>
          </p:txBody>
        </p:sp>
        <p:sp>
          <p:nvSpPr>
            <p:cNvPr id="57377" name="Oval 24">
              <a:extLst>
                <a:ext uri="{FF2B5EF4-FFF2-40B4-BE49-F238E27FC236}">
                  <a16:creationId xmlns:a16="http://schemas.microsoft.com/office/drawing/2014/main" id="{D226EBC7-79DA-478E-80FB-238777AFB4EA}"/>
                </a:ext>
              </a:extLst>
            </p:cNvPr>
            <p:cNvSpPr>
              <a:spLocks noChangeArrowheads="1"/>
            </p:cNvSpPr>
            <p:nvPr/>
          </p:nvSpPr>
          <p:spPr bwMode="auto">
            <a:xfrm>
              <a:off x="2064" y="3024"/>
              <a:ext cx="96" cy="96"/>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endParaRPr lang="zh-CN" altLang="en-US" sz="1800">
                <a:solidFill>
                  <a:schemeClr val="tx1"/>
                </a:solidFill>
                <a:latin typeface="Times New Roman" panose="02020603050405020304" pitchFamily="18" charset="0"/>
                <a:ea typeface="宋体" panose="02010600030101010101" pitchFamily="2" charset="-122"/>
              </a:endParaRPr>
            </a:p>
          </p:txBody>
        </p:sp>
        <p:sp>
          <p:nvSpPr>
            <p:cNvPr id="57378" name="Rectangle 35">
              <a:extLst>
                <a:ext uri="{FF2B5EF4-FFF2-40B4-BE49-F238E27FC236}">
                  <a16:creationId xmlns:a16="http://schemas.microsoft.com/office/drawing/2014/main" id="{99B18FC8-F6DA-42D2-8C39-D1B93520359E}"/>
                </a:ext>
              </a:extLst>
            </p:cNvPr>
            <p:cNvSpPr>
              <a:spLocks noChangeArrowheads="1"/>
            </p:cNvSpPr>
            <p:nvPr/>
          </p:nvSpPr>
          <p:spPr bwMode="auto">
            <a:xfrm>
              <a:off x="1105" y="2929"/>
              <a:ext cx="271"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800" b="1" i="1">
                  <a:solidFill>
                    <a:schemeClr val="tx1"/>
                  </a:solidFill>
                  <a:latin typeface="Times New Roman" panose="02020603050405020304" pitchFamily="18" charset="0"/>
                  <a:ea typeface="宋体" panose="02010600030101010101" pitchFamily="2" charset="-122"/>
                </a:rPr>
                <a:t>K</a:t>
              </a:r>
              <a:r>
                <a:rPr lang="en-US" altLang="zh-CN" sz="1800" b="1" i="1" baseline="-25000">
                  <a:solidFill>
                    <a:schemeClr val="tx1"/>
                  </a:solidFill>
                  <a:latin typeface="Times New Roman" panose="02020603050405020304" pitchFamily="18" charset="0"/>
                  <a:ea typeface="宋体" panose="02010600030101010101" pitchFamily="2" charset="-122"/>
                </a:rPr>
                <a:t>1</a:t>
              </a:r>
            </a:p>
          </p:txBody>
        </p:sp>
        <p:sp>
          <p:nvSpPr>
            <p:cNvPr id="57379" name="Line 36">
              <a:extLst>
                <a:ext uri="{FF2B5EF4-FFF2-40B4-BE49-F238E27FC236}">
                  <a16:creationId xmlns:a16="http://schemas.microsoft.com/office/drawing/2014/main" id="{82575144-1544-4F2F-AA2D-3DC7AB5DE52E}"/>
                </a:ext>
              </a:extLst>
            </p:cNvPr>
            <p:cNvSpPr>
              <a:spLocks noChangeShapeType="1"/>
            </p:cNvSpPr>
            <p:nvPr/>
          </p:nvSpPr>
          <p:spPr bwMode="auto">
            <a:xfrm flipH="1">
              <a:off x="1386" y="3072"/>
              <a:ext cx="710" cy="0"/>
            </a:xfrm>
            <a:prstGeom prst="line">
              <a:avLst/>
            </a:prstGeom>
            <a:noFill/>
            <a:ln w="38100">
              <a:solidFill>
                <a:srgbClr val="BB1528"/>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57362" name="Oval 39">
            <a:extLst>
              <a:ext uri="{FF2B5EF4-FFF2-40B4-BE49-F238E27FC236}">
                <a16:creationId xmlns:a16="http://schemas.microsoft.com/office/drawing/2014/main" id="{4880F03F-8AD9-43CC-A76D-55A6A16B7295}"/>
              </a:ext>
            </a:extLst>
          </p:cNvPr>
          <p:cNvSpPr>
            <a:spLocks noChangeArrowheads="1"/>
          </p:cNvSpPr>
          <p:nvPr/>
        </p:nvSpPr>
        <p:spPr bwMode="auto">
          <a:xfrm>
            <a:off x="5230813" y="4800600"/>
            <a:ext cx="152400" cy="152400"/>
          </a:xfrm>
          <a:prstGeom prst="ellipse">
            <a:avLst/>
          </a:prstGeom>
          <a:solidFill>
            <a:schemeClr val="tx1"/>
          </a:solidFill>
          <a:ln w="12700">
            <a:solidFill>
              <a:schemeClr val="tx1"/>
            </a:solidFill>
            <a:round/>
            <a:headEnd/>
            <a:tailEnd/>
          </a:ln>
        </p:spPr>
        <p:txBody>
          <a:bodyPr wrap="none" anchor="ct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endParaRPr lang="zh-CN" altLang="en-US" sz="1800">
              <a:solidFill>
                <a:schemeClr val="tx1"/>
              </a:solidFill>
              <a:latin typeface="Times New Roman" panose="02020603050405020304" pitchFamily="18" charset="0"/>
              <a:ea typeface="宋体" panose="02010600030101010101" pitchFamily="2" charset="-122"/>
            </a:endParaRPr>
          </a:p>
        </p:txBody>
      </p:sp>
      <p:sp>
        <p:nvSpPr>
          <p:cNvPr id="57363" name="Line 40">
            <a:extLst>
              <a:ext uri="{FF2B5EF4-FFF2-40B4-BE49-F238E27FC236}">
                <a16:creationId xmlns:a16="http://schemas.microsoft.com/office/drawing/2014/main" id="{B4BC7257-1AA2-4C4A-9D3C-D2E0A4B43DFD}"/>
              </a:ext>
            </a:extLst>
          </p:cNvPr>
          <p:cNvSpPr>
            <a:spLocks noChangeShapeType="1"/>
          </p:cNvSpPr>
          <p:nvPr/>
        </p:nvSpPr>
        <p:spPr bwMode="auto">
          <a:xfrm>
            <a:off x="5318125" y="4892675"/>
            <a:ext cx="0" cy="1114425"/>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364" name="Rectangle 41">
            <a:extLst>
              <a:ext uri="{FF2B5EF4-FFF2-40B4-BE49-F238E27FC236}">
                <a16:creationId xmlns:a16="http://schemas.microsoft.com/office/drawing/2014/main" id="{705CF6BA-EE24-4B04-AF2E-972866865905}"/>
              </a:ext>
            </a:extLst>
          </p:cNvPr>
          <p:cNvSpPr>
            <a:spLocks noChangeArrowheads="1"/>
          </p:cNvSpPr>
          <p:nvPr/>
        </p:nvSpPr>
        <p:spPr bwMode="auto">
          <a:xfrm>
            <a:off x="5162550" y="5957888"/>
            <a:ext cx="3825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600" b="1" i="1">
                <a:solidFill>
                  <a:schemeClr val="tx1"/>
                </a:solidFill>
                <a:latin typeface="Times New Roman" panose="02020603050405020304" pitchFamily="18" charset="0"/>
                <a:ea typeface="宋体" panose="02010600030101010101" pitchFamily="2" charset="-122"/>
              </a:rPr>
              <a:t>L</a:t>
            </a:r>
            <a:r>
              <a:rPr lang="en-US" altLang="zh-CN" sz="1600" b="1" i="1" baseline="-25000">
                <a:solidFill>
                  <a:schemeClr val="tx1"/>
                </a:solidFill>
                <a:latin typeface="Times New Roman" panose="02020603050405020304" pitchFamily="18" charset="0"/>
                <a:ea typeface="宋体" panose="02010600030101010101" pitchFamily="2" charset="-122"/>
              </a:rPr>
              <a:t>3</a:t>
            </a:r>
          </a:p>
        </p:txBody>
      </p:sp>
      <p:sp>
        <p:nvSpPr>
          <p:cNvPr id="57365" name="Rectangle 42">
            <a:extLst>
              <a:ext uri="{FF2B5EF4-FFF2-40B4-BE49-F238E27FC236}">
                <a16:creationId xmlns:a16="http://schemas.microsoft.com/office/drawing/2014/main" id="{861C194C-2DDB-45CD-B585-650EC75BCA87}"/>
              </a:ext>
            </a:extLst>
          </p:cNvPr>
          <p:cNvSpPr>
            <a:spLocks noChangeArrowheads="1"/>
          </p:cNvSpPr>
          <p:nvPr/>
        </p:nvSpPr>
        <p:spPr bwMode="auto">
          <a:xfrm>
            <a:off x="5338763" y="4416425"/>
            <a:ext cx="3333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800" b="1" i="1">
                <a:solidFill>
                  <a:schemeClr val="tx1"/>
                </a:solidFill>
                <a:latin typeface="Times New Roman" panose="02020603050405020304" pitchFamily="18" charset="0"/>
                <a:ea typeface="宋体" panose="02010600030101010101" pitchFamily="2" charset="-122"/>
              </a:rPr>
              <a:t>P</a:t>
            </a:r>
          </a:p>
        </p:txBody>
      </p:sp>
      <p:sp>
        <p:nvSpPr>
          <p:cNvPr id="57366" name="Line 43">
            <a:extLst>
              <a:ext uri="{FF2B5EF4-FFF2-40B4-BE49-F238E27FC236}">
                <a16:creationId xmlns:a16="http://schemas.microsoft.com/office/drawing/2014/main" id="{502D9855-FB91-4801-AA18-DD13A9ACCA95}"/>
              </a:ext>
            </a:extLst>
          </p:cNvPr>
          <p:cNvSpPr>
            <a:spLocks noChangeShapeType="1"/>
          </p:cNvSpPr>
          <p:nvPr/>
        </p:nvSpPr>
        <p:spPr bwMode="auto">
          <a:xfrm flipH="1">
            <a:off x="3352800" y="4876800"/>
            <a:ext cx="2730500" cy="0"/>
          </a:xfrm>
          <a:prstGeom prst="line">
            <a:avLst/>
          </a:prstGeom>
          <a:noFill/>
          <a:ln w="38100">
            <a:solidFill>
              <a:srgbClr val="BB1528"/>
            </a:solidFill>
            <a:prstDash val="dash"/>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7367" name="Rectangle 45">
            <a:extLst>
              <a:ext uri="{FF2B5EF4-FFF2-40B4-BE49-F238E27FC236}">
                <a16:creationId xmlns:a16="http://schemas.microsoft.com/office/drawing/2014/main" id="{69D29B47-4E1F-4665-A224-3F80E738156D}"/>
              </a:ext>
            </a:extLst>
          </p:cNvPr>
          <p:cNvSpPr>
            <a:spLocks noChangeArrowheads="1"/>
          </p:cNvSpPr>
          <p:nvPr/>
        </p:nvSpPr>
        <p:spPr bwMode="auto">
          <a:xfrm>
            <a:off x="5818188" y="4219575"/>
            <a:ext cx="161448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zh-CN" altLang="en-US" sz="1600" b="1">
                <a:solidFill>
                  <a:schemeClr val="tx1"/>
                </a:solidFill>
                <a:latin typeface="Times New Roman" panose="02020603050405020304" pitchFamily="18" charset="0"/>
                <a:ea typeface="宋体" panose="02010600030101010101" pitchFamily="2" charset="-122"/>
              </a:rPr>
              <a:t>短期的扩张路径</a:t>
            </a:r>
          </a:p>
        </p:txBody>
      </p:sp>
      <p:sp>
        <p:nvSpPr>
          <p:cNvPr id="57368" name="Rectangle 54">
            <a:extLst>
              <a:ext uri="{FF2B5EF4-FFF2-40B4-BE49-F238E27FC236}">
                <a16:creationId xmlns:a16="http://schemas.microsoft.com/office/drawing/2014/main" id="{35163392-9310-449D-99ED-D223E160BEEF}"/>
              </a:ext>
            </a:extLst>
          </p:cNvPr>
          <p:cNvSpPr>
            <a:spLocks noChangeArrowheads="1"/>
          </p:cNvSpPr>
          <p:nvPr/>
        </p:nvSpPr>
        <p:spPr bwMode="auto">
          <a:xfrm>
            <a:off x="3457575" y="4724400"/>
            <a:ext cx="333375" cy="36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800" b="1" i="1" dirty="0">
                <a:solidFill>
                  <a:schemeClr val="tx1"/>
                </a:solidFill>
                <a:latin typeface="Times New Roman" panose="02020603050405020304" pitchFamily="18" charset="0"/>
                <a:ea typeface="宋体" panose="02010600030101010101" pitchFamily="2" charset="-122"/>
              </a:rPr>
              <a:t>E</a:t>
            </a:r>
          </a:p>
        </p:txBody>
      </p:sp>
      <p:sp>
        <p:nvSpPr>
          <p:cNvPr id="57369" name="Rectangle 55">
            <a:extLst>
              <a:ext uri="{FF2B5EF4-FFF2-40B4-BE49-F238E27FC236}">
                <a16:creationId xmlns:a16="http://schemas.microsoft.com/office/drawing/2014/main" id="{45484FA8-178F-4F1D-9B6B-05EBBA8852F9}"/>
              </a:ext>
            </a:extLst>
          </p:cNvPr>
          <p:cNvSpPr>
            <a:spLocks noChangeArrowheads="1"/>
          </p:cNvSpPr>
          <p:nvPr/>
        </p:nvSpPr>
        <p:spPr bwMode="auto">
          <a:xfrm>
            <a:off x="4060825" y="4065588"/>
            <a:ext cx="320675" cy="363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a:spcBef>
                <a:spcPct val="20000"/>
              </a:spcBef>
              <a:buClr>
                <a:schemeClr val="tx2"/>
              </a:buClr>
              <a:buFont typeface="Wingdings" panose="05000000000000000000" pitchFamily="2" charset="2"/>
              <a:buChar char="v"/>
              <a:defRPr sz="2800">
                <a:solidFill>
                  <a:srgbClr val="131800"/>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600">
                <a:solidFill>
                  <a:srgbClr val="390100"/>
                </a:solidFill>
                <a:latin typeface="Arial" panose="020B0604020202020204" pitchFamily="34" charset="0"/>
              </a:defRPr>
            </a:lvl2pPr>
            <a:lvl3pPr marL="1143000" indent="-228600">
              <a:spcBef>
                <a:spcPct val="20000"/>
              </a:spcBef>
              <a:buClr>
                <a:schemeClr val="accent2"/>
              </a:buClr>
              <a:buChar char="•"/>
              <a:defRPr sz="2400">
                <a:solidFill>
                  <a:srgbClr val="777E4C"/>
                </a:solidFill>
                <a:latin typeface="Arial" panose="020B0604020202020204" pitchFamily="34" charset="0"/>
              </a:defRPr>
            </a:lvl3pPr>
            <a:lvl4pPr marL="1600200" indent="-228600">
              <a:spcBef>
                <a:spcPct val="20000"/>
              </a:spcBef>
              <a:buChar char="–"/>
              <a:defRPr sz="2000">
                <a:solidFill>
                  <a:srgbClr val="944205"/>
                </a:solidFill>
                <a:latin typeface="Arial" panose="020B0604020202020204" pitchFamily="34" charset="0"/>
              </a:defRPr>
            </a:lvl4pPr>
            <a:lvl5pPr marL="2057400" indent="-228600">
              <a:spcBef>
                <a:spcPct val="20000"/>
              </a:spcBef>
              <a:buChar char="»"/>
              <a:defRPr sz="2000">
                <a:solidFill>
                  <a:srgbClr val="FACF67"/>
                </a:solidFill>
                <a:latin typeface="Arial" panose="020B0604020202020204" pitchFamily="34" charset="0"/>
              </a:defRPr>
            </a:lvl5pPr>
            <a:lvl6pPr marL="2514600" indent="-228600" eaLnBrk="0" fontAlgn="base" hangingPunct="0">
              <a:spcBef>
                <a:spcPct val="20000"/>
              </a:spcBef>
              <a:spcAft>
                <a:spcPct val="0"/>
              </a:spcAft>
              <a:buChar char="»"/>
              <a:defRPr sz="2000">
                <a:solidFill>
                  <a:srgbClr val="FACF67"/>
                </a:solidFill>
                <a:latin typeface="Arial" panose="020B0604020202020204" pitchFamily="34" charset="0"/>
              </a:defRPr>
            </a:lvl6pPr>
            <a:lvl7pPr marL="2971800" indent="-228600" eaLnBrk="0" fontAlgn="base" hangingPunct="0">
              <a:spcBef>
                <a:spcPct val="20000"/>
              </a:spcBef>
              <a:spcAft>
                <a:spcPct val="0"/>
              </a:spcAft>
              <a:buChar char="»"/>
              <a:defRPr sz="2000">
                <a:solidFill>
                  <a:srgbClr val="FACF67"/>
                </a:solidFill>
                <a:latin typeface="Arial" panose="020B0604020202020204" pitchFamily="34" charset="0"/>
              </a:defRPr>
            </a:lvl7pPr>
            <a:lvl8pPr marL="3429000" indent="-228600" eaLnBrk="0" fontAlgn="base" hangingPunct="0">
              <a:spcBef>
                <a:spcPct val="20000"/>
              </a:spcBef>
              <a:spcAft>
                <a:spcPct val="0"/>
              </a:spcAft>
              <a:buChar char="»"/>
              <a:defRPr sz="2000">
                <a:solidFill>
                  <a:srgbClr val="FACF67"/>
                </a:solidFill>
                <a:latin typeface="Arial" panose="020B0604020202020204" pitchFamily="34" charset="0"/>
              </a:defRPr>
            </a:lvl8pPr>
            <a:lvl9pPr marL="3886200" indent="-228600" eaLnBrk="0" fontAlgn="base" hangingPunct="0">
              <a:spcBef>
                <a:spcPct val="20000"/>
              </a:spcBef>
              <a:spcAft>
                <a:spcPct val="0"/>
              </a:spcAft>
              <a:buChar char="»"/>
              <a:defRPr sz="2000">
                <a:solidFill>
                  <a:srgbClr val="FACF67"/>
                </a:solidFill>
                <a:latin typeface="Arial" panose="020B0604020202020204" pitchFamily="34" charset="0"/>
              </a:defRPr>
            </a:lvl9pPr>
          </a:lstStyle>
          <a:p>
            <a:pPr algn="ctr" eaLnBrk="1" hangingPunct="1">
              <a:spcBef>
                <a:spcPct val="0"/>
              </a:spcBef>
              <a:buClrTx/>
              <a:buFontTx/>
              <a:buNone/>
            </a:pPr>
            <a:r>
              <a:rPr lang="en-US" altLang="zh-CN" sz="1800" b="1" i="1">
                <a:solidFill>
                  <a:schemeClr val="tx1"/>
                </a:solidFill>
                <a:latin typeface="Times New Roman" panose="02020603050405020304" pitchFamily="18" charset="0"/>
                <a:ea typeface="宋体" panose="02010600030101010101" pitchFamily="2" charset="-122"/>
              </a:rPr>
              <a:t>F</a:t>
            </a:r>
          </a:p>
        </p:txBody>
      </p:sp>
    </p:spTree>
    <p:extLst>
      <p:ext uri="{BB962C8B-B14F-4D97-AF65-F5344CB8AC3E}">
        <p14:creationId xmlns:p14="http://schemas.microsoft.com/office/powerpoint/2010/main" val="4020500126"/>
      </p:ext>
    </p:extLst>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规模变动中的投入与产出</a:t>
            </a:r>
          </a:p>
        </p:txBody>
      </p:sp>
      <p:sp>
        <p:nvSpPr>
          <p:cNvPr id="3" name="内容占位符 2"/>
          <p:cNvSpPr>
            <a:spLocks noGrp="1"/>
          </p:cNvSpPr>
          <p:nvPr>
            <p:ph idx="1"/>
          </p:nvPr>
        </p:nvSpPr>
        <p:spPr/>
        <p:txBody>
          <a:bodyPr>
            <a:normAutofit fontScale="62500" lnSpcReduction="20000"/>
          </a:bodyPr>
          <a:lstStyle/>
          <a:p>
            <a:pPr>
              <a:lnSpc>
                <a:spcPct val="170000"/>
              </a:lnSpc>
            </a:pPr>
            <a:r>
              <a:rPr lang="zh-CN" altLang="en-US" dirty="0"/>
              <a:t>在生产理论中，将这些生产规律分成两大规律加以研究：</a:t>
            </a:r>
          </a:p>
          <a:p>
            <a:pPr lvl="1">
              <a:lnSpc>
                <a:spcPct val="170000"/>
              </a:lnSpc>
            </a:pPr>
            <a:r>
              <a:rPr lang="zh-CN" altLang="en-US" dirty="0"/>
              <a:t>在一定的技术条件下，假定其他生产要素的投入量固定不变，只有一种生产要素的投入量变动时所引起的产量的变动，即</a:t>
            </a:r>
            <a:r>
              <a:rPr lang="zh-CN" altLang="en-US" b="1" dirty="0">
                <a:solidFill>
                  <a:srgbClr val="7030A0"/>
                </a:solidFill>
              </a:rPr>
              <a:t>边际报酬递减规律</a:t>
            </a:r>
            <a:r>
              <a:rPr lang="zh-CN" altLang="en-US" dirty="0"/>
              <a:t>。</a:t>
            </a:r>
          </a:p>
          <a:p>
            <a:pPr lvl="1">
              <a:lnSpc>
                <a:spcPct val="170000"/>
              </a:lnSpc>
            </a:pPr>
            <a:r>
              <a:rPr lang="zh-CN" altLang="en-US" dirty="0"/>
              <a:t>在一定的技术条件下，所有生产要素的投入量都按同一比例变动所引起的产量变动，即</a:t>
            </a:r>
            <a:r>
              <a:rPr lang="zh-CN" altLang="en-US" b="1" dirty="0">
                <a:solidFill>
                  <a:srgbClr val="0066FF"/>
                </a:solidFill>
              </a:rPr>
              <a:t>规模报酬规律</a:t>
            </a:r>
            <a:r>
              <a:rPr lang="zh-CN" altLang="en-US" dirty="0"/>
              <a:t>。</a:t>
            </a:r>
          </a:p>
          <a:p>
            <a:pPr>
              <a:lnSpc>
                <a:spcPct val="170000"/>
              </a:lnSpc>
            </a:pPr>
            <a:r>
              <a:rPr lang="zh-CN" altLang="en-US" dirty="0"/>
              <a:t>在技术水平和要素价格不变时，所有投入要素按同一比例变动时，产量变动的情况有三种：</a:t>
            </a:r>
          </a:p>
          <a:p>
            <a:pPr lvl="1">
              <a:lnSpc>
                <a:spcPct val="170000"/>
              </a:lnSpc>
            </a:pPr>
            <a:r>
              <a:rPr lang="zh-CN" altLang="en-US" dirty="0"/>
              <a:t>产量增加的比例大于各种生产要素增加的比例，称之规模报酬递增。</a:t>
            </a:r>
          </a:p>
          <a:p>
            <a:pPr lvl="1">
              <a:lnSpc>
                <a:spcPct val="170000"/>
              </a:lnSpc>
            </a:pPr>
            <a:r>
              <a:rPr lang="zh-CN" altLang="en-US" dirty="0"/>
              <a:t>产量增加的比例等于各种生产要素增加的比例，称之规模报酬不变。</a:t>
            </a:r>
          </a:p>
          <a:p>
            <a:pPr lvl="1">
              <a:lnSpc>
                <a:spcPct val="170000"/>
              </a:lnSpc>
            </a:pPr>
            <a:r>
              <a:rPr lang="zh-CN" altLang="en-US" dirty="0"/>
              <a:t>产量增加的比例小于各种生产要素增加的比例，称之规模报酬递减。</a:t>
            </a:r>
          </a:p>
          <a:p>
            <a:endParaRPr lang="zh-CN" altLang="en-US" dirty="0"/>
          </a:p>
        </p:txBody>
      </p:sp>
    </p:spTree>
    <p:extLst>
      <p:ext uri="{BB962C8B-B14F-4D97-AF65-F5344CB8AC3E}">
        <p14:creationId xmlns:p14="http://schemas.microsoft.com/office/powerpoint/2010/main" val="375331451"/>
      </p:ext>
    </p:extLst>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规模报酬变化的直观描述</a:t>
            </a:r>
            <a:endParaRPr lang="en-US" altLang="zh-CN" dirty="0">
              <a:ea typeface="宋体" panose="02010600030101010101" pitchFamily="2" charset="-122"/>
            </a:endParaRPr>
          </a:p>
        </p:txBody>
      </p:sp>
      <p:sp>
        <p:nvSpPr>
          <p:cNvPr id="47107" name="Rectangle 3"/>
          <p:cNvSpPr>
            <a:spLocks noGrp="1" noChangeArrowheads="1"/>
          </p:cNvSpPr>
          <p:nvPr>
            <p:ph idx="1"/>
          </p:nvPr>
        </p:nvSpPr>
        <p:spPr>
          <a:xfrm>
            <a:off x="357188" y="1143000"/>
            <a:ext cx="8382000" cy="2428875"/>
          </a:xfrm>
        </p:spPr>
        <p:txBody>
          <a:bodyPr/>
          <a:lstStyle/>
          <a:p>
            <a:pPr eaLnBrk="1" hangingPunct="1"/>
            <a:r>
              <a:rPr kumimoji="1" lang="zh-CN" altLang="en-US" dirty="0">
                <a:ea typeface="宋体" panose="02010600030101010101" pitchFamily="2" charset="-122"/>
              </a:rPr>
              <a:t>生产函数</a:t>
            </a:r>
            <a:r>
              <a:rPr kumimoji="1" lang="en-US" altLang="zh-CN" dirty="0">
                <a:ea typeface="宋体" panose="02010600030101010101" pitchFamily="2" charset="-122"/>
              </a:rPr>
              <a:t>Q = f (K</a:t>
            </a:r>
            <a:r>
              <a:rPr kumimoji="1" lang="zh-CN" altLang="en-US" dirty="0">
                <a:ea typeface="宋体" panose="02010600030101010101" pitchFamily="2" charset="-122"/>
              </a:rPr>
              <a:t>，</a:t>
            </a:r>
            <a:r>
              <a:rPr kumimoji="1" lang="en-US" altLang="zh-CN" dirty="0">
                <a:ea typeface="宋体" panose="02010600030101010101" pitchFamily="2" charset="-122"/>
              </a:rPr>
              <a:t>L)</a:t>
            </a:r>
            <a:r>
              <a:rPr kumimoji="1" lang="zh-CN" altLang="en-US" dirty="0">
                <a:ea typeface="宋体" panose="02010600030101010101" pitchFamily="2" charset="-122"/>
              </a:rPr>
              <a:t>，如果生产要素增加</a:t>
            </a:r>
            <a:r>
              <a:rPr kumimoji="1" lang="el-GR" altLang="zh-CN" dirty="0">
                <a:latin typeface="Times New Roman" panose="02020603050405020304" pitchFamily="18" charset="0"/>
                <a:ea typeface="宋体" panose="02010600030101010101" pitchFamily="2" charset="-122"/>
                <a:cs typeface="Times New Roman" panose="02020603050405020304" pitchFamily="18" charset="0"/>
              </a:rPr>
              <a:t>λ</a:t>
            </a:r>
            <a:r>
              <a:rPr kumimoji="1" lang="zh-CN" altLang="en-US" dirty="0">
                <a:latin typeface="Times New Roman" panose="02020603050405020304" pitchFamily="18" charset="0"/>
                <a:ea typeface="宋体" panose="02010600030101010101" pitchFamily="2" charset="-122"/>
                <a:cs typeface="Times New Roman" panose="02020603050405020304" pitchFamily="18" charset="0"/>
              </a:rPr>
              <a:t>倍，产量增加</a:t>
            </a:r>
            <a:r>
              <a:rPr kumimoji="1" lang="el-GR" altLang="zh-CN" dirty="0">
                <a:latin typeface="Times New Roman" panose="02020603050405020304" pitchFamily="18" charset="0"/>
                <a:ea typeface="宋体" panose="02010600030101010101" pitchFamily="2" charset="-122"/>
                <a:cs typeface="Times New Roman" panose="02020603050405020304" pitchFamily="18" charset="0"/>
              </a:rPr>
              <a:t>γ</a:t>
            </a:r>
            <a:r>
              <a:rPr kumimoji="1" lang="zh-CN" altLang="en-US" dirty="0">
                <a:latin typeface="Times New Roman" panose="02020603050405020304" pitchFamily="18" charset="0"/>
                <a:ea typeface="宋体" panose="02010600030101010101" pitchFamily="2" charset="-122"/>
              </a:rPr>
              <a:t>倍，</a:t>
            </a:r>
            <a:endParaRPr kumimoji="1" lang="en-US" altLang="zh-CN" dirty="0">
              <a:ea typeface="宋体" panose="02010600030101010101" pitchFamily="2" charset="-122"/>
            </a:endParaRPr>
          </a:p>
          <a:p>
            <a:pPr lvl="1" eaLnBrk="1" hangingPunct="1"/>
            <a:r>
              <a:rPr lang="zh-CN" altLang="en-US" b="1" dirty="0">
                <a:latin typeface="Arial" panose="020B0604020202020204" pitchFamily="34" charset="0"/>
                <a:ea typeface="宋体" panose="02010600030101010101" pitchFamily="2" charset="-122"/>
              </a:rPr>
              <a:t>若</a:t>
            </a:r>
            <a:r>
              <a:rPr lang="el-GR" altLang="zh-CN" b="1" dirty="0">
                <a:latin typeface="Times New Roman" panose="02020603050405020304" pitchFamily="18" charset="0"/>
                <a:ea typeface="宋体" panose="02010600030101010101" pitchFamily="2" charset="-122"/>
              </a:rPr>
              <a:t>γ</a:t>
            </a:r>
            <a:r>
              <a:rPr lang="en-US" altLang="zh-CN" b="1" dirty="0">
                <a:latin typeface="Arial" panose="020B0604020202020204" pitchFamily="34" charset="0"/>
                <a:ea typeface="宋体" panose="02010600030101010101" pitchFamily="2" charset="-122"/>
              </a:rPr>
              <a:t>&gt;</a:t>
            </a:r>
            <a:r>
              <a:rPr lang="el-GR" altLang="zh-CN" b="1" dirty="0">
                <a:latin typeface="Times New Roman" panose="02020603050405020304" pitchFamily="18" charset="0"/>
                <a:ea typeface="宋体" panose="02010600030101010101" pitchFamily="2" charset="-122"/>
              </a:rPr>
              <a:t>λ </a:t>
            </a:r>
            <a:r>
              <a:rPr lang="zh-CN" altLang="en-US" b="1" dirty="0">
                <a:latin typeface="Arial" panose="020B0604020202020204" pitchFamily="34" charset="0"/>
                <a:ea typeface="宋体" panose="02010600030101010101" pitchFamily="2" charset="-122"/>
              </a:rPr>
              <a:t>，称之规模报酬递增</a:t>
            </a:r>
            <a:endParaRPr lang="en-US" altLang="zh-CN" b="1" dirty="0">
              <a:latin typeface="Arial" panose="020B0604020202020204" pitchFamily="34" charset="0"/>
              <a:ea typeface="宋体" panose="02010600030101010101" pitchFamily="2" charset="-122"/>
            </a:endParaRPr>
          </a:p>
          <a:p>
            <a:pPr lvl="1" eaLnBrk="1" hangingPunct="1"/>
            <a:r>
              <a:rPr lang="zh-CN" altLang="en-US" b="1" dirty="0">
                <a:latin typeface="Arial" panose="020B0604020202020204" pitchFamily="34" charset="0"/>
                <a:ea typeface="宋体" panose="02010600030101010101" pitchFamily="2" charset="-122"/>
              </a:rPr>
              <a:t>若</a:t>
            </a:r>
            <a:r>
              <a:rPr lang="el-GR" altLang="zh-CN" b="1" dirty="0">
                <a:latin typeface="Times New Roman" panose="02020603050405020304" pitchFamily="18" charset="0"/>
                <a:ea typeface="宋体" panose="02010600030101010101" pitchFamily="2" charset="-122"/>
              </a:rPr>
              <a:t>γ</a:t>
            </a:r>
            <a:r>
              <a:rPr lang="en-US" altLang="zh-CN" b="1" dirty="0">
                <a:latin typeface="Arial" panose="020B0604020202020204" pitchFamily="34" charset="0"/>
                <a:ea typeface="宋体" panose="02010600030101010101" pitchFamily="2" charset="-122"/>
              </a:rPr>
              <a:t>&lt;</a:t>
            </a:r>
            <a:r>
              <a:rPr lang="el-GR" altLang="zh-CN" b="1" dirty="0">
                <a:latin typeface="Times New Roman" panose="02020603050405020304" pitchFamily="18" charset="0"/>
                <a:ea typeface="宋体" panose="02010600030101010101" pitchFamily="2" charset="-122"/>
              </a:rPr>
              <a:t>λ </a:t>
            </a:r>
            <a:r>
              <a:rPr lang="zh-CN" altLang="en-US" b="1" dirty="0">
                <a:latin typeface="Arial" panose="020B0604020202020204" pitchFamily="34" charset="0"/>
                <a:ea typeface="宋体" panose="02010600030101010101" pitchFamily="2" charset="-122"/>
              </a:rPr>
              <a:t>，称之规模报酬递减</a:t>
            </a:r>
            <a:endParaRPr lang="en-US" altLang="zh-CN" b="1" dirty="0">
              <a:latin typeface="Arial" panose="020B0604020202020204" pitchFamily="34" charset="0"/>
              <a:ea typeface="宋体" panose="02010600030101010101" pitchFamily="2" charset="-122"/>
            </a:endParaRPr>
          </a:p>
          <a:p>
            <a:pPr lvl="1" eaLnBrk="1" hangingPunct="1"/>
            <a:r>
              <a:rPr lang="zh-CN" altLang="en-US" b="1" dirty="0">
                <a:latin typeface="Arial" panose="020B0604020202020204" pitchFamily="34" charset="0"/>
                <a:ea typeface="宋体" panose="02010600030101010101" pitchFamily="2" charset="-122"/>
              </a:rPr>
              <a:t>若</a:t>
            </a:r>
            <a:r>
              <a:rPr lang="el-GR" altLang="zh-CN" b="1" dirty="0">
                <a:latin typeface="Times New Roman" panose="02020603050405020304" pitchFamily="18" charset="0"/>
                <a:ea typeface="宋体" panose="02010600030101010101" pitchFamily="2" charset="-122"/>
              </a:rPr>
              <a:t>γ</a:t>
            </a:r>
            <a:r>
              <a:rPr lang="en-US" altLang="zh-CN" b="1" dirty="0">
                <a:latin typeface="Times New Roman" panose="02020603050405020304" pitchFamily="18" charset="0"/>
                <a:ea typeface="宋体" panose="02010600030101010101" pitchFamily="2" charset="-122"/>
              </a:rPr>
              <a:t>=</a:t>
            </a:r>
            <a:r>
              <a:rPr lang="el-GR" altLang="zh-CN" b="1" dirty="0">
                <a:latin typeface="Times New Roman" panose="02020603050405020304" pitchFamily="18" charset="0"/>
                <a:ea typeface="宋体" panose="02010600030101010101" pitchFamily="2" charset="-122"/>
              </a:rPr>
              <a:t>λ </a:t>
            </a:r>
            <a:r>
              <a:rPr lang="zh-CN" altLang="en-US" b="1" dirty="0">
                <a:latin typeface="Arial" panose="020B0604020202020204" pitchFamily="34" charset="0"/>
                <a:ea typeface="宋体" panose="02010600030101010101" pitchFamily="2" charset="-122"/>
              </a:rPr>
              <a:t>，称之规模报酬不变</a:t>
            </a:r>
            <a:endParaRPr lang="en-US" altLang="zh-CN" b="1" dirty="0">
              <a:latin typeface="Arial" panose="020B0604020202020204" pitchFamily="34" charset="0"/>
              <a:ea typeface="宋体" panose="02010600030101010101" pitchFamily="2" charset="-122"/>
            </a:endParaRPr>
          </a:p>
        </p:txBody>
      </p:sp>
      <p:grpSp>
        <p:nvGrpSpPr>
          <p:cNvPr id="47108" name="组合 36"/>
          <p:cNvGrpSpPr>
            <a:grpSpLocks/>
          </p:cNvGrpSpPr>
          <p:nvPr/>
        </p:nvGrpSpPr>
        <p:grpSpPr bwMode="auto">
          <a:xfrm>
            <a:off x="3071813" y="4071938"/>
            <a:ext cx="2500312" cy="2155825"/>
            <a:chOff x="214282" y="3929066"/>
            <a:chExt cx="2500330" cy="2155282"/>
          </a:xfrm>
        </p:grpSpPr>
        <p:cxnSp>
          <p:nvCxnSpPr>
            <p:cNvPr id="5" name="直接连接符 4">
              <a:extLst>
                <a:ext uri="{FF2B5EF4-FFF2-40B4-BE49-F238E27FC236}">
                  <a16:creationId xmlns:a16="http://schemas.microsoft.com/office/drawing/2014/main" id="{2201E0A4-B094-46C1-A4A9-9D264CEA2B49}"/>
                </a:ext>
              </a:extLst>
            </p:cNvPr>
            <p:cNvCxnSpPr>
              <a:cxnSpLocks noChangeShapeType="1"/>
            </p:cNvCxnSpPr>
            <p:nvPr/>
          </p:nvCxnSpPr>
          <p:spPr bwMode="auto">
            <a:xfrm rot="5400000">
              <a:off x="-322859" y="4964649"/>
              <a:ext cx="1787075" cy="1587"/>
            </a:xfrm>
            <a:prstGeom prst="line">
              <a:avLst/>
            </a:prstGeom>
            <a:noFill/>
            <a:ln w="25400">
              <a:solidFill>
                <a:srgbClr val="704530"/>
              </a:solidFill>
              <a:round/>
              <a:headEnd/>
              <a:tailEnd/>
            </a:ln>
            <a:effectLst>
              <a:outerShdw blurRad="63500" dist="20000" dir="5400000" rotWithShape="0">
                <a:srgbClr val="000000">
                  <a:alpha val="37999"/>
                </a:srgbClr>
              </a:outerShdw>
            </a:effectLst>
            <a:extLst>
              <a:ext uri="{909E8E84-426E-40dd-AFC4-6F175D3DCCD1}"/>
            </a:extLst>
          </p:spPr>
        </p:cxnSp>
        <p:cxnSp>
          <p:nvCxnSpPr>
            <p:cNvPr id="8" name="直接连接符 7">
              <a:extLst>
                <a:ext uri="{FF2B5EF4-FFF2-40B4-BE49-F238E27FC236}">
                  <a16:creationId xmlns:a16="http://schemas.microsoft.com/office/drawing/2014/main" id="{CC1EA5EB-1F1D-4107-836B-FE982E093070}"/>
                </a:ext>
              </a:extLst>
            </p:cNvPr>
            <p:cNvCxnSpPr>
              <a:cxnSpLocks noChangeShapeType="1"/>
            </p:cNvCxnSpPr>
            <p:nvPr/>
          </p:nvCxnSpPr>
          <p:spPr bwMode="auto">
            <a:xfrm>
              <a:off x="571472" y="5857392"/>
              <a:ext cx="1857388" cy="1588"/>
            </a:xfrm>
            <a:prstGeom prst="line">
              <a:avLst/>
            </a:prstGeom>
            <a:noFill/>
            <a:ln w="25400">
              <a:solidFill>
                <a:srgbClr val="704530"/>
              </a:solidFill>
              <a:round/>
              <a:headEnd/>
              <a:tailEnd/>
            </a:ln>
            <a:effectLst>
              <a:outerShdw blurRad="63500" dist="20000" dir="5400000" rotWithShape="0">
                <a:srgbClr val="000000">
                  <a:alpha val="37999"/>
                </a:srgbClr>
              </a:outerShdw>
            </a:effectLst>
            <a:extLst>
              <a:ext uri="{909E8E84-426E-40dd-AFC4-6F175D3DCCD1}"/>
            </a:extLst>
          </p:spPr>
        </p:cxnSp>
        <p:sp>
          <p:nvSpPr>
            <p:cNvPr id="47162" name="TextBox 16"/>
            <p:cNvSpPr txBox="1">
              <a:spLocks noChangeArrowheads="1"/>
            </p:cNvSpPr>
            <p:nvPr/>
          </p:nvSpPr>
          <p:spPr bwMode="auto">
            <a:xfrm>
              <a:off x="214282" y="3929066"/>
              <a:ext cx="3513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K</a:t>
              </a:r>
              <a:endParaRPr lang="zh-CN" altLang="en-US" sz="1800" b="0">
                <a:latin typeface="Calibri" panose="020F0502020204030204" pitchFamily="34" charset="0"/>
              </a:endParaRPr>
            </a:p>
          </p:txBody>
        </p:sp>
        <p:sp>
          <p:nvSpPr>
            <p:cNvPr id="47163" name="TextBox 17"/>
            <p:cNvSpPr txBox="1">
              <a:spLocks noChangeArrowheads="1"/>
            </p:cNvSpPr>
            <p:nvPr/>
          </p:nvSpPr>
          <p:spPr bwMode="auto">
            <a:xfrm>
              <a:off x="2388881" y="5715016"/>
              <a:ext cx="325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L</a:t>
              </a:r>
              <a:endParaRPr lang="zh-CN" altLang="en-US" sz="1800" b="0">
                <a:latin typeface="Calibri" panose="020F0502020204030204" pitchFamily="34" charset="0"/>
              </a:endParaRPr>
            </a:p>
          </p:txBody>
        </p:sp>
      </p:grpSp>
      <p:grpSp>
        <p:nvGrpSpPr>
          <p:cNvPr id="47109" name="组合 48"/>
          <p:cNvGrpSpPr>
            <a:grpSpLocks/>
          </p:cNvGrpSpPr>
          <p:nvPr/>
        </p:nvGrpSpPr>
        <p:grpSpPr bwMode="auto">
          <a:xfrm>
            <a:off x="714375" y="3357563"/>
            <a:ext cx="2214563" cy="2584450"/>
            <a:chOff x="714348" y="3357562"/>
            <a:chExt cx="2214578" cy="2583910"/>
          </a:xfrm>
        </p:grpSpPr>
        <p:sp>
          <p:nvSpPr>
            <p:cNvPr id="47154" name="弧形 11"/>
            <p:cNvSpPr>
              <a:spLocks/>
            </p:cNvSpPr>
            <p:nvPr/>
          </p:nvSpPr>
          <p:spPr bwMode="auto">
            <a:xfrm flipV="1">
              <a:off x="928662" y="3500407"/>
              <a:ext cx="1928825" cy="1999832"/>
            </a:xfrm>
            <a:custGeom>
              <a:avLst/>
              <a:gdLst>
                <a:gd name="T0" fmla="*/ 4966 w 1928825"/>
                <a:gd name="T1" fmla="*/ 898576 h 1999832"/>
                <a:gd name="T2" fmla="*/ 964413 w 1928825"/>
                <a:gd name="T3" fmla="*/ 999916 h 1999832"/>
                <a:gd name="T4" fmla="*/ 933158 w 1928825"/>
                <a:gd name="T5" fmla="*/ 525 h 1999832"/>
                <a:gd name="T6" fmla="*/ 5898240 60000 65536"/>
                <a:gd name="T7" fmla="*/ 17694720 60000 65536"/>
                <a:gd name="T8" fmla="*/ 0 60000 65536"/>
                <a:gd name="T9" fmla="*/ 4966 w 1928825"/>
                <a:gd name="T10" fmla="*/ 525 h 1999832"/>
                <a:gd name="T11" fmla="*/ 933158 w 1928825"/>
                <a:gd name="T12" fmla="*/ 898576 h 1999832"/>
              </a:gdLst>
              <a:ahLst/>
              <a:cxnLst>
                <a:cxn ang="T6">
                  <a:pos x="T0" y="T1"/>
                </a:cxn>
                <a:cxn ang="T7">
                  <a:pos x="T2" y="T3"/>
                </a:cxn>
                <a:cxn ang="T8">
                  <a:pos x="T4" y="T5"/>
                </a:cxn>
              </a:cxnLst>
              <a:rect l="T9" t="T10" r="T11" b="T12"/>
              <a:pathLst>
                <a:path w="1928825" h="1999832" stroke="0">
                  <a:moveTo>
                    <a:pt x="4966" y="898576"/>
                  </a:moveTo>
                  <a:lnTo>
                    <a:pt x="4965" y="898575"/>
                  </a:lnTo>
                  <a:cubicBezTo>
                    <a:pt x="53902" y="400519"/>
                    <a:pt x="450554" y="16749"/>
                    <a:pt x="933159" y="525"/>
                  </a:cubicBezTo>
                  <a:lnTo>
                    <a:pt x="964413" y="999916"/>
                  </a:lnTo>
                  <a:lnTo>
                    <a:pt x="4966" y="898576"/>
                  </a:lnTo>
                  <a:close/>
                </a:path>
                <a:path w="1928825" h="1999832" fill="none">
                  <a:moveTo>
                    <a:pt x="4966" y="898576"/>
                  </a:moveTo>
                  <a:lnTo>
                    <a:pt x="4965" y="898575"/>
                  </a:lnTo>
                  <a:cubicBezTo>
                    <a:pt x="53902" y="400519"/>
                    <a:pt x="450554" y="16749"/>
                    <a:pt x="933159" y="525"/>
                  </a:cubicBezTo>
                </a:path>
              </a:pathLst>
            </a:custGeom>
            <a:noFill/>
            <a:ln w="25400" cap="flat" cmpd="sng">
              <a:solidFill>
                <a:srgbClr val="2A2A00"/>
              </a:solidFill>
              <a:prstDash val="solid"/>
              <a:round/>
              <a:headEnd/>
              <a:tailEnd/>
            </a:ln>
            <a:effectLst>
              <a:outerShdw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47155" name="弧形 12"/>
            <p:cNvSpPr>
              <a:spLocks/>
            </p:cNvSpPr>
            <p:nvPr/>
          </p:nvSpPr>
          <p:spPr bwMode="auto">
            <a:xfrm flipV="1">
              <a:off x="714348" y="3786097"/>
              <a:ext cx="1857388" cy="1999832"/>
            </a:xfrm>
            <a:custGeom>
              <a:avLst/>
              <a:gdLst>
                <a:gd name="T0" fmla="*/ 18120 w 1857388"/>
                <a:gd name="T1" fmla="*/ 803357 h 1999832"/>
                <a:gd name="T2" fmla="*/ 928694 w 1857388"/>
                <a:gd name="T3" fmla="*/ 999916 h 1999832"/>
                <a:gd name="T4" fmla="*/ 897441 w 1857388"/>
                <a:gd name="T5" fmla="*/ 566 h 1999832"/>
                <a:gd name="T6" fmla="*/ 5898240 60000 65536"/>
                <a:gd name="T7" fmla="*/ 17694720 60000 65536"/>
                <a:gd name="T8" fmla="*/ 0 60000 65536"/>
                <a:gd name="T9" fmla="*/ 18120 w 1857388"/>
                <a:gd name="T10" fmla="*/ 566 h 1999832"/>
                <a:gd name="T11" fmla="*/ 897441 w 1857388"/>
                <a:gd name="T12" fmla="*/ 803357 h 1999832"/>
              </a:gdLst>
              <a:ahLst/>
              <a:cxnLst>
                <a:cxn ang="T6">
                  <a:pos x="T0" y="T1"/>
                </a:cxn>
                <a:cxn ang="T7">
                  <a:pos x="T2" y="T3"/>
                </a:cxn>
                <a:cxn ang="T8">
                  <a:pos x="T4" y="T5"/>
                </a:cxn>
              </a:cxnLst>
              <a:rect l="T9" t="T10" r="T11" b="T12"/>
              <a:pathLst>
                <a:path w="1857388" h="1999832" stroke="0">
                  <a:moveTo>
                    <a:pt x="18120" y="803357"/>
                  </a:moveTo>
                  <a:lnTo>
                    <a:pt x="18120" y="803357"/>
                  </a:lnTo>
                  <a:cubicBezTo>
                    <a:pt x="102807" y="348556"/>
                    <a:pt x="466873" y="16176"/>
                    <a:pt x="897440" y="566"/>
                  </a:cubicBezTo>
                  <a:lnTo>
                    <a:pt x="928694" y="999916"/>
                  </a:lnTo>
                  <a:lnTo>
                    <a:pt x="18120" y="803357"/>
                  </a:lnTo>
                  <a:close/>
                </a:path>
                <a:path w="1857388" h="1999832" fill="none">
                  <a:moveTo>
                    <a:pt x="18120" y="803357"/>
                  </a:moveTo>
                  <a:lnTo>
                    <a:pt x="18120" y="803357"/>
                  </a:lnTo>
                  <a:cubicBezTo>
                    <a:pt x="102807" y="348556"/>
                    <a:pt x="466873" y="16176"/>
                    <a:pt x="897440" y="566"/>
                  </a:cubicBezTo>
                </a:path>
              </a:pathLst>
            </a:custGeom>
            <a:noFill/>
            <a:ln w="25400" cap="flat" cmpd="sng">
              <a:solidFill>
                <a:srgbClr val="2A2A00"/>
              </a:solidFill>
              <a:prstDash val="solid"/>
              <a:round/>
              <a:headEnd/>
              <a:tailEnd/>
            </a:ln>
            <a:effectLst>
              <a:outerShdw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47156" name="弧形 13"/>
            <p:cNvSpPr>
              <a:spLocks/>
            </p:cNvSpPr>
            <p:nvPr/>
          </p:nvSpPr>
          <p:spPr bwMode="auto">
            <a:xfrm flipV="1">
              <a:off x="1071538" y="3357562"/>
              <a:ext cx="1857388" cy="1999832"/>
            </a:xfrm>
            <a:custGeom>
              <a:avLst/>
              <a:gdLst>
                <a:gd name="T0" fmla="*/ 4762 w 1857388"/>
                <a:gd name="T1" fmla="*/ 898787 h 1999832"/>
                <a:gd name="T2" fmla="*/ 928694 w 1857388"/>
                <a:gd name="T3" fmla="*/ 999916 h 1999832"/>
                <a:gd name="T4" fmla="*/ 945871 w 1857388"/>
                <a:gd name="T5" fmla="*/ 171 h 1999832"/>
                <a:gd name="T6" fmla="*/ 5898240 60000 65536"/>
                <a:gd name="T7" fmla="*/ 17694720 60000 65536"/>
                <a:gd name="T8" fmla="*/ 0 60000 65536"/>
                <a:gd name="T9" fmla="*/ 4762 w 1857388"/>
                <a:gd name="T10" fmla="*/ 0 h 1999832"/>
                <a:gd name="T11" fmla="*/ 945871 w 1857388"/>
                <a:gd name="T12" fmla="*/ 898787 h 1999832"/>
              </a:gdLst>
              <a:ahLst/>
              <a:cxnLst>
                <a:cxn ang="T6">
                  <a:pos x="T0" y="T1"/>
                </a:cxn>
                <a:cxn ang="T7">
                  <a:pos x="T2" y="T3"/>
                </a:cxn>
                <a:cxn ang="T8">
                  <a:pos x="T4" y="T5"/>
                </a:cxn>
              </a:cxnLst>
              <a:rect l="T9" t="T10" r="T11" b="T12"/>
              <a:pathLst>
                <a:path w="1857388" h="1999832" stroke="0">
                  <a:moveTo>
                    <a:pt x="4762" y="898787"/>
                  </a:moveTo>
                  <a:lnTo>
                    <a:pt x="4761" y="898786"/>
                  </a:lnTo>
                  <a:cubicBezTo>
                    <a:pt x="52957" y="388338"/>
                    <a:pt x="452159" y="-1"/>
                    <a:pt x="928694" y="-1"/>
                  </a:cubicBezTo>
                  <a:cubicBezTo>
                    <a:pt x="934420" y="-1"/>
                    <a:pt x="940145" y="57"/>
                    <a:pt x="945870" y="171"/>
                  </a:cubicBezTo>
                  <a:lnTo>
                    <a:pt x="928694" y="999916"/>
                  </a:lnTo>
                  <a:lnTo>
                    <a:pt x="4762" y="898787"/>
                  </a:lnTo>
                  <a:close/>
                </a:path>
                <a:path w="1857388" h="1999832" fill="none">
                  <a:moveTo>
                    <a:pt x="4762" y="898787"/>
                  </a:moveTo>
                  <a:lnTo>
                    <a:pt x="4761" y="898786"/>
                  </a:lnTo>
                  <a:cubicBezTo>
                    <a:pt x="52957" y="388338"/>
                    <a:pt x="452159" y="-1"/>
                    <a:pt x="928694" y="-1"/>
                  </a:cubicBezTo>
                  <a:cubicBezTo>
                    <a:pt x="934420" y="-1"/>
                    <a:pt x="940145" y="57"/>
                    <a:pt x="945870" y="171"/>
                  </a:cubicBezTo>
                </a:path>
              </a:pathLst>
            </a:custGeom>
            <a:noFill/>
            <a:ln w="25400" cap="flat" cmpd="sng">
              <a:solidFill>
                <a:srgbClr val="2A2A00"/>
              </a:solidFill>
              <a:prstDash val="solid"/>
              <a:round/>
              <a:headEnd/>
              <a:tailEnd/>
            </a:ln>
            <a:effectLst>
              <a:outerShdw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47157" name="TextBox 18"/>
            <p:cNvSpPr txBox="1">
              <a:spLocks noChangeArrowheads="1"/>
            </p:cNvSpPr>
            <p:nvPr/>
          </p:nvSpPr>
          <p:spPr bwMode="auto">
            <a:xfrm>
              <a:off x="1500166" y="5572140"/>
              <a:ext cx="3513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Q</a:t>
              </a:r>
              <a:endParaRPr lang="zh-CN" altLang="en-US" sz="1800" b="0">
                <a:latin typeface="Calibri" panose="020F0502020204030204" pitchFamily="34" charset="0"/>
              </a:endParaRPr>
            </a:p>
          </p:txBody>
        </p:sp>
        <p:sp>
          <p:nvSpPr>
            <p:cNvPr id="47158" name="TextBox 19"/>
            <p:cNvSpPr txBox="1">
              <a:spLocks noChangeArrowheads="1"/>
            </p:cNvSpPr>
            <p:nvPr/>
          </p:nvSpPr>
          <p:spPr bwMode="auto">
            <a:xfrm>
              <a:off x="1819189" y="5357826"/>
              <a:ext cx="4667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2Q</a:t>
              </a:r>
              <a:endParaRPr lang="zh-CN" altLang="en-US" sz="1800" b="0">
                <a:latin typeface="Calibri" panose="020F0502020204030204" pitchFamily="34" charset="0"/>
              </a:endParaRPr>
            </a:p>
          </p:txBody>
        </p:sp>
        <p:sp>
          <p:nvSpPr>
            <p:cNvPr id="47159" name="TextBox 20"/>
            <p:cNvSpPr txBox="1">
              <a:spLocks noChangeArrowheads="1"/>
            </p:cNvSpPr>
            <p:nvPr/>
          </p:nvSpPr>
          <p:spPr bwMode="auto">
            <a:xfrm>
              <a:off x="1928794" y="5143512"/>
              <a:ext cx="4667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3Q</a:t>
              </a:r>
              <a:endParaRPr lang="zh-CN" altLang="en-US" sz="1800" b="0">
                <a:latin typeface="Calibri" panose="020F0502020204030204" pitchFamily="34" charset="0"/>
              </a:endParaRPr>
            </a:p>
          </p:txBody>
        </p:sp>
      </p:grpSp>
      <p:cxnSp>
        <p:nvCxnSpPr>
          <p:cNvPr id="23" name="直接连接符 22">
            <a:extLst>
              <a:ext uri="{FF2B5EF4-FFF2-40B4-BE49-F238E27FC236}">
                <a16:creationId xmlns:a16="http://schemas.microsoft.com/office/drawing/2014/main" id="{AE9B6E88-E742-49FE-9551-A02E887D2D3A}"/>
              </a:ext>
            </a:extLst>
          </p:cNvPr>
          <p:cNvCxnSpPr/>
          <p:nvPr/>
        </p:nvCxnSpPr>
        <p:spPr>
          <a:xfrm rot="5400000" flipH="1" flipV="1">
            <a:off x="571500" y="4643438"/>
            <a:ext cx="1214437" cy="1214438"/>
          </a:xfrm>
          <a:prstGeom prst="line">
            <a:avLst/>
          </a:prstGeom>
          <a:ln>
            <a:solidFill>
              <a:srgbClr val="FF3399"/>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9C33AC9A-C132-4239-9E52-2F93825E7E67}"/>
              </a:ext>
            </a:extLst>
          </p:cNvPr>
          <p:cNvCxnSpPr/>
          <p:nvPr/>
        </p:nvCxnSpPr>
        <p:spPr>
          <a:xfrm rot="5400000">
            <a:off x="768350" y="5670550"/>
            <a:ext cx="357188" cy="1588"/>
          </a:xfrm>
          <a:prstGeom prst="line">
            <a:avLst/>
          </a:prstGeom>
          <a:ln>
            <a:solidFill>
              <a:srgbClr val="7030A0"/>
            </a:solidFill>
            <a:prstDash val="dash"/>
          </a:ln>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02EDD890-3C0E-4164-99D8-C4534CCFCE07}"/>
              </a:ext>
            </a:extLst>
          </p:cNvPr>
          <p:cNvCxnSpPr/>
          <p:nvPr/>
        </p:nvCxnSpPr>
        <p:spPr>
          <a:xfrm rot="10800000">
            <a:off x="571500" y="5491163"/>
            <a:ext cx="357188" cy="1587"/>
          </a:xfrm>
          <a:prstGeom prst="line">
            <a:avLst/>
          </a:prstGeom>
          <a:ln>
            <a:solidFill>
              <a:srgbClr val="7030A0"/>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244A391F-CF75-4981-8897-F36A5DF9ACAE}"/>
              </a:ext>
            </a:extLst>
          </p:cNvPr>
          <p:cNvCxnSpPr/>
          <p:nvPr/>
        </p:nvCxnSpPr>
        <p:spPr>
          <a:xfrm rot="10800000">
            <a:off x="571500" y="5214938"/>
            <a:ext cx="642938" cy="1587"/>
          </a:xfrm>
          <a:prstGeom prst="line">
            <a:avLst/>
          </a:prstGeom>
          <a:ln>
            <a:solidFill>
              <a:srgbClr val="7030A0"/>
            </a:solidFill>
            <a:prstDash val="dash"/>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B0D43873-931A-43F1-9707-CDC47CF20765}"/>
              </a:ext>
            </a:extLst>
          </p:cNvPr>
          <p:cNvCxnSpPr/>
          <p:nvPr/>
        </p:nvCxnSpPr>
        <p:spPr>
          <a:xfrm rot="5400000">
            <a:off x="892175" y="5537200"/>
            <a:ext cx="642938" cy="1588"/>
          </a:xfrm>
          <a:prstGeom prst="line">
            <a:avLst/>
          </a:prstGeom>
          <a:ln>
            <a:solidFill>
              <a:srgbClr val="7030A0"/>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339FC01-317F-442B-B56A-726766D30C63}"/>
              </a:ext>
            </a:extLst>
          </p:cNvPr>
          <p:cNvCxnSpPr/>
          <p:nvPr/>
        </p:nvCxnSpPr>
        <p:spPr>
          <a:xfrm rot="5400000">
            <a:off x="963612" y="5465763"/>
            <a:ext cx="785813" cy="1588"/>
          </a:xfrm>
          <a:prstGeom prst="line">
            <a:avLst/>
          </a:prstGeom>
          <a:ln>
            <a:solidFill>
              <a:srgbClr val="7030A0"/>
            </a:solidFill>
            <a:prstDash val="dash"/>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05F61258-F33F-4216-B70C-81FE8BA1991A}"/>
              </a:ext>
            </a:extLst>
          </p:cNvPr>
          <p:cNvCxnSpPr/>
          <p:nvPr/>
        </p:nvCxnSpPr>
        <p:spPr>
          <a:xfrm rot="10800000">
            <a:off x="571500" y="5072063"/>
            <a:ext cx="785813" cy="1587"/>
          </a:xfrm>
          <a:prstGeom prst="line">
            <a:avLst/>
          </a:prstGeom>
          <a:ln>
            <a:solidFill>
              <a:srgbClr val="7030A0"/>
            </a:solidFill>
            <a:prstDash val="dash"/>
          </a:ln>
        </p:spPr>
        <p:style>
          <a:lnRef idx="1">
            <a:schemeClr val="accent1"/>
          </a:lnRef>
          <a:fillRef idx="0">
            <a:schemeClr val="accent1"/>
          </a:fillRef>
          <a:effectRef idx="0">
            <a:schemeClr val="accent1"/>
          </a:effectRef>
          <a:fontRef idx="minor">
            <a:schemeClr val="tx1"/>
          </a:fontRef>
        </p:style>
      </p:cxnSp>
      <p:grpSp>
        <p:nvGrpSpPr>
          <p:cNvPr id="47117" name="组合 37"/>
          <p:cNvGrpSpPr>
            <a:grpSpLocks/>
          </p:cNvGrpSpPr>
          <p:nvPr/>
        </p:nvGrpSpPr>
        <p:grpSpPr bwMode="auto">
          <a:xfrm>
            <a:off x="214313" y="3929063"/>
            <a:ext cx="2500312" cy="2155825"/>
            <a:chOff x="214282" y="3929066"/>
            <a:chExt cx="2500330" cy="2155282"/>
          </a:xfrm>
        </p:grpSpPr>
        <p:cxnSp>
          <p:nvCxnSpPr>
            <p:cNvPr id="39" name="直接连接符 38">
              <a:extLst>
                <a:ext uri="{FF2B5EF4-FFF2-40B4-BE49-F238E27FC236}">
                  <a16:creationId xmlns:a16="http://schemas.microsoft.com/office/drawing/2014/main" id="{B73A2A21-8FC2-45A9-A1BA-3535343C2206}"/>
                </a:ext>
              </a:extLst>
            </p:cNvPr>
            <p:cNvCxnSpPr>
              <a:cxnSpLocks noChangeShapeType="1"/>
            </p:cNvCxnSpPr>
            <p:nvPr/>
          </p:nvCxnSpPr>
          <p:spPr bwMode="auto">
            <a:xfrm rot="5400000">
              <a:off x="-322859" y="4964649"/>
              <a:ext cx="1787075" cy="1587"/>
            </a:xfrm>
            <a:prstGeom prst="line">
              <a:avLst/>
            </a:prstGeom>
            <a:noFill/>
            <a:ln w="25400">
              <a:solidFill>
                <a:srgbClr val="704530"/>
              </a:solidFill>
              <a:round/>
              <a:headEnd/>
              <a:tailEnd/>
            </a:ln>
            <a:effectLst>
              <a:outerShdw blurRad="63500" dist="20000" dir="5400000" rotWithShape="0">
                <a:srgbClr val="000000">
                  <a:alpha val="37999"/>
                </a:srgbClr>
              </a:outerShdw>
            </a:effectLst>
            <a:extLst>
              <a:ext uri="{909E8E84-426E-40dd-AFC4-6F175D3DCCD1}"/>
            </a:extLst>
          </p:spPr>
        </p:cxnSp>
        <p:cxnSp>
          <p:nvCxnSpPr>
            <p:cNvPr id="40" name="直接连接符 39">
              <a:extLst>
                <a:ext uri="{FF2B5EF4-FFF2-40B4-BE49-F238E27FC236}">
                  <a16:creationId xmlns:a16="http://schemas.microsoft.com/office/drawing/2014/main" id="{93124EF8-2219-4036-8AFA-A9D087207CC2}"/>
                </a:ext>
              </a:extLst>
            </p:cNvPr>
            <p:cNvCxnSpPr>
              <a:cxnSpLocks noChangeShapeType="1"/>
            </p:cNvCxnSpPr>
            <p:nvPr/>
          </p:nvCxnSpPr>
          <p:spPr bwMode="auto">
            <a:xfrm>
              <a:off x="571472" y="5857392"/>
              <a:ext cx="1857388" cy="1588"/>
            </a:xfrm>
            <a:prstGeom prst="line">
              <a:avLst/>
            </a:prstGeom>
            <a:noFill/>
            <a:ln w="25400">
              <a:solidFill>
                <a:srgbClr val="704530"/>
              </a:solidFill>
              <a:round/>
              <a:headEnd/>
              <a:tailEnd/>
            </a:ln>
            <a:effectLst>
              <a:outerShdw blurRad="63500" dist="20000" dir="5400000" rotWithShape="0">
                <a:srgbClr val="000000">
                  <a:alpha val="37999"/>
                </a:srgbClr>
              </a:outerShdw>
            </a:effectLst>
            <a:extLst>
              <a:ext uri="{909E8E84-426E-40dd-AFC4-6F175D3DCCD1}"/>
            </a:extLst>
          </p:spPr>
        </p:cxnSp>
        <p:sp>
          <p:nvSpPr>
            <p:cNvPr id="47152" name="TextBox 40"/>
            <p:cNvSpPr txBox="1">
              <a:spLocks noChangeArrowheads="1"/>
            </p:cNvSpPr>
            <p:nvPr/>
          </p:nvSpPr>
          <p:spPr bwMode="auto">
            <a:xfrm>
              <a:off x="214282" y="3929066"/>
              <a:ext cx="3513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K</a:t>
              </a:r>
              <a:endParaRPr lang="zh-CN" altLang="en-US" sz="1800" b="0">
                <a:latin typeface="Calibri" panose="020F0502020204030204" pitchFamily="34" charset="0"/>
              </a:endParaRPr>
            </a:p>
          </p:txBody>
        </p:sp>
        <p:sp>
          <p:nvSpPr>
            <p:cNvPr id="47153" name="TextBox 41"/>
            <p:cNvSpPr txBox="1">
              <a:spLocks noChangeArrowheads="1"/>
            </p:cNvSpPr>
            <p:nvPr/>
          </p:nvSpPr>
          <p:spPr bwMode="auto">
            <a:xfrm>
              <a:off x="2388881" y="5715016"/>
              <a:ext cx="325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L</a:t>
              </a:r>
              <a:endParaRPr lang="zh-CN" altLang="en-US" sz="1800" b="0">
                <a:latin typeface="Calibri" panose="020F0502020204030204" pitchFamily="34" charset="0"/>
              </a:endParaRPr>
            </a:p>
          </p:txBody>
        </p:sp>
      </p:grpSp>
      <p:sp>
        <p:nvSpPr>
          <p:cNvPr id="47118" name="弧形 49"/>
          <p:cNvSpPr>
            <a:spLocks/>
          </p:cNvSpPr>
          <p:nvPr/>
        </p:nvSpPr>
        <p:spPr bwMode="auto">
          <a:xfrm flipV="1">
            <a:off x="3643313" y="3857625"/>
            <a:ext cx="1857375" cy="2000250"/>
          </a:xfrm>
          <a:custGeom>
            <a:avLst/>
            <a:gdLst>
              <a:gd name="T0" fmla="*/ 4760 w 1857375"/>
              <a:gd name="T1" fmla="*/ 898996 h 2000250"/>
              <a:gd name="T2" fmla="*/ 928688 w 1857375"/>
              <a:gd name="T3" fmla="*/ 1000125 h 2000250"/>
              <a:gd name="T4" fmla="*/ 945868 w 1857375"/>
              <a:gd name="T5" fmla="*/ 171 h 2000250"/>
              <a:gd name="T6" fmla="*/ 5898240 60000 65536"/>
              <a:gd name="T7" fmla="*/ 17694720 60000 65536"/>
              <a:gd name="T8" fmla="*/ 0 60000 65536"/>
              <a:gd name="T9" fmla="*/ 4760 w 1857375"/>
              <a:gd name="T10" fmla="*/ 0 h 2000250"/>
              <a:gd name="T11" fmla="*/ 945868 w 1857375"/>
              <a:gd name="T12" fmla="*/ 898996 h 2000250"/>
            </a:gdLst>
            <a:ahLst/>
            <a:cxnLst>
              <a:cxn ang="T6">
                <a:pos x="T0" y="T1"/>
              </a:cxn>
              <a:cxn ang="T7">
                <a:pos x="T2" y="T3"/>
              </a:cxn>
              <a:cxn ang="T8">
                <a:pos x="T4" y="T5"/>
              </a:cxn>
            </a:cxnLst>
            <a:rect l="T9" t="T10" r="T11" b="T12"/>
            <a:pathLst>
              <a:path w="1857375" h="2000250" stroke="0">
                <a:moveTo>
                  <a:pt x="4760" y="898996"/>
                </a:moveTo>
                <a:lnTo>
                  <a:pt x="4759" y="898995"/>
                </a:lnTo>
                <a:cubicBezTo>
                  <a:pt x="52945" y="388431"/>
                  <a:pt x="452149" y="-1"/>
                  <a:pt x="928688" y="-1"/>
                </a:cubicBezTo>
                <a:cubicBezTo>
                  <a:pt x="934415" y="-1"/>
                  <a:pt x="940142" y="57"/>
                  <a:pt x="945868" y="171"/>
                </a:cubicBezTo>
                <a:lnTo>
                  <a:pt x="928688" y="1000125"/>
                </a:lnTo>
                <a:lnTo>
                  <a:pt x="4760" y="898996"/>
                </a:lnTo>
                <a:close/>
              </a:path>
              <a:path w="1857375" h="2000250" fill="none">
                <a:moveTo>
                  <a:pt x="4760" y="898996"/>
                </a:moveTo>
                <a:lnTo>
                  <a:pt x="4759" y="898995"/>
                </a:lnTo>
                <a:cubicBezTo>
                  <a:pt x="52945" y="388431"/>
                  <a:pt x="452149" y="-1"/>
                  <a:pt x="928688" y="-1"/>
                </a:cubicBezTo>
                <a:cubicBezTo>
                  <a:pt x="934415" y="-1"/>
                  <a:pt x="940142" y="57"/>
                  <a:pt x="945868" y="171"/>
                </a:cubicBezTo>
              </a:path>
            </a:pathLst>
          </a:custGeom>
          <a:noFill/>
          <a:ln w="25400" cap="flat" cmpd="sng">
            <a:solidFill>
              <a:srgbClr val="7030A0"/>
            </a:solidFill>
            <a:prstDash val="solid"/>
            <a:round/>
            <a:headEnd/>
            <a:tailEnd/>
          </a:ln>
          <a:effectLst>
            <a:outerShdw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47119" name="弧形 50"/>
          <p:cNvSpPr>
            <a:spLocks/>
          </p:cNvSpPr>
          <p:nvPr/>
        </p:nvSpPr>
        <p:spPr bwMode="auto">
          <a:xfrm flipV="1">
            <a:off x="4286250" y="3286125"/>
            <a:ext cx="1857375" cy="2000250"/>
          </a:xfrm>
          <a:custGeom>
            <a:avLst/>
            <a:gdLst>
              <a:gd name="T0" fmla="*/ 4760 w 1857375"/>
              <a:gd name="T1" fmla="*/ 898996 h 2000250"/>
              <a:gd name="T2" fmla="*/ 928688 w 1857375"/>
              <a:gd name="T3" fmla="*/ 1000125 h 2000250"/>
              <a:gd name="T4" fmla="*/ 945868 w 1857375"/>
              <a:gd name="T5" fmla="*/ 171 h 2000250"/>
              <a:gd name="T6" fmla="*/ 5898240 60000 65536"/>
              <a:gd name="T7" fmla="*/ 17694720 60000 65536"/>
              <a:gd name="T8" fmla="*/ 0 60000 65536"/>
              <a:gd name="T9" fmla="*/ 4760 w 1857375"/>
              <a:gd name="T10" fmla="*/ 0 h 2000250"/>
              <a:gd name="T11" fmla="*/ 945868 w 1857375"/>
              <a:gd name="T12" fmla="*/ 898996 h 2000250"/>
            </a:gdLst>
            <a:ahLst/>
            <a:cxnLst>
              <a:cxn ang="T6">
                <a:pos x="T0" y="T1"/>
              </a:cxn>
              <a:cxn ang="T7">
                <a:pos x="T2" y="T3"/>
              </a:cxn>
              <a:cxn ang="T8">
                <a:pos x="T4" y="T5"/>
              </a:cxn>
            </a:cxnLst>
            <a:rect l="T9" t="T10" r="T11" b="T12"/>
            <a:pathLst>
              <a:path w="1857375" h="2000250" stroke="0">
                <a:moveTo>
                  <a:pt x="4760" y="898996"/>
                </a:moveTo>
                <a:lnTo>
                  <a:pt x="4759" y="898995"/>
                </a:lnTo>
                <a:cubicBezTo>
                  <a:pt x="52945" y="388431"/>
                  <a:pt x="452149" y="-1"/>
                  <a:pt x="928688" y="-1"/>
                </a:cubicBezTo>
                <a:cubicBezTo>
                  <a:pt x="934415" y="-1"/>
                  <a:pt x="940142" y="57"/>
                  <a:pt x="945868" y="171"/>
                </a:cubicBezTo>
                <a:lnTo>
                  <a:pt x="928688" y="1000125"/>
                </a:lnTo>
                <a:lnTo>
                  <a:pt x="4760" y="898996"/>
                </a:lnTo>
                <a:close/>
              </a:path>
              <a:path w="1857375" h="2000250" fill="none">
                <a:moveTo>
                  <a:pt x="4760" y="898996"/>
                </a:moveTo>
                <a:lnTo>
                  <a:pt x="4759" y="898995"/>
                </a:lnTo>
                <a:cubicBezTo>
                  <a:pt x="52945" y="388431"/>
                  <a:pt x="452149" y="-1"/>
                  <a:pt x="928688" y="-1"/>
                </a:cubicBezTo>
                <a:cubicBezTo>
                  <a:pt x="934415" y="-1"/>
                  <a:pt x="940142" y="57"/>
                  <a:pt x="945868" y="171"/>
                </a:cubicBezTo>
              </a:path>
            </a:pathLst>
          </a:custGeom>
          <a:noFill/>
          <a:ln w="25400" cap="flat" cmpd="sng">
            <a:solidFill>
              <a:srgbClr val="7030A0"/>
            </a:solidFill>
            <a:prstDash val="solid"/>
            <a:round/>
            <a:headEnd/>
            <a:tailEnd/>
          </a:ln>
          <a:effectLst>
            <a:outerShdw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47120" name="弧形 51"/>
          <p:cNvSpPr>
            <a:spLocks/>
          </p:cNvSpPr>
          <p:nvPr/>
        </p:nvSpPr>
        <p:spPr bwMode="auto">
          <a:xfrm flipV="1">
            <a:off x="3948113" y="3571875"/>
            <a:ext cx="1857375" cy="2000250"/>
          </a:xfrm>
          <a:custGeom>
            <a:avLst/>
            <a:gdLst>
              <a:gd name="T0" fmla="*/ 4760 w 1857375"/>
              <a:gd name="T1" fmla="*/ 898996 h 2000250"/>
              <a:gd name="T2" fmla="*/ 928688 w 1857375"/>
              <a:gd name="T3" fmla="*/ 1000125 h 2000250"/>
              <a:gd name="T4" fmla="*/ 945868 w 1857375"/>
              <a:gd name="T5" fmla="*/ 171 h 2000250"/>
              <a:gd name="T6" fmla="*/ 5898240 60000 65536"/>
              <a:gd name="T7" fmla="*/ 17694720 60000 65536"/>
              <a:gd name="T8" fmla="*/ 0 60000 65536"/>
              <a:gd name="T9" fmla="*/ 4760 w 1857375"/>
              <a:gd name="T10" fmla="*/ 0 h 2000250"/>
              <a:gd name="T11" fmla="*/ 945868 w 1857375"/>
              <a:gd name="T12" fmla="*/ 898996 h 2000250"/>
            </a:gdLst>
            <a:ahLst/>
            <a:cxnLst>
              <a:cxn ang="T6">
                <a:pos x="T0" y="T1"/>
              </a:cxn>
              <a:cxn ang="T7">
                <a:pos x="T2" y="T3"/>
              </a:cxn>
              <a:cxn ang="T8">
                <a:pos x="T4" y="T5"/>
              </a:cxn>
            </a:cxnLst>
            <a:rect l="T9" t="T10" r="T11" b="T12"/>
            <a:pathLst>
              <a:path w="1857375" h="2000250" stroke="0">
                <a:moveTo>
                  <a:pt x="4760" y="898996"/>
                </a:moveTo>
                <a:lnTo>
                  <a:pt x="4759" y="898995"/>
                </a:lnTo>
                <a:cubicBezTo>
                  <a:pt x="52945" y="388431"/>
                  <a:pt x="452149" y="-1"/>
                  <a:pt x="928688" y="-1"/>
                </a:cubicBezTo>
                <a:cubicBezTo>
                  <a:pt x="934415" y="-1"/>
                  <a:pt x="940142" y="57"/>
                  <a:pt x="945868" y="171"/>
                </a:cubicBezTo>
                <a:lnTo>
                  <a:pt x="928688" y="1000125"/>
                </a:lnTo>
                <a:lnTo>
                  <a:pt x="4760" y="898996"/>
                </a:lnTo>
                <a:close/>
              </a:path>
              <a:path w="1857375" h="2000250" fill="none">
                <a:moveTo>
                  <a:pt x="4760" y="898996"/>
                </a:moveTo>
                <a:lnTo>
                  <a:pt x="4759" y="898995"/>
                </a:lnTo>
                <a:cubicBezTo>
                  <a:pt x="52945" y="388431"/>
                  <a:pt x="452149" y="-1"/>
                  <a:pt x="928688" y="-1"/>
                </a:cubicBezTo>
                <a:cubicBezTo>
                  <a:pt x="934415" y="-1"/>
                  <a:pt x="940142" y="57"/>
                  <a:pt x="945868" y="171"/>
                </a:cubicBezTo>
              </a:path>
            </a:pathLst>
          </a:custGeom>
          <a:noFill/>
          <a:ln w="25400" cap="flat" cmpd="sng">
            <a:solidFill>
              <a:srgbClr val="7030A0"/>
            </a:solidFill>
            <a:prstDash val="solid"/>
            <a:round/>
            <a:headEnd/>
            <a:tailEnd/>
          </a:ln>
          <a:effectLst>
            <a:outerShdw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47121" name="TextBox 52"/>
          <p:cNvSpPr txBox="1">
            <a:spLocks noChangeArrowheads="1"/>
          </p:cNvSpPr>
          <p:nvPr/>
        </p:nvSpPr>
        <p:spPr bwMode="auto">
          <a:xfrm>
            <a:off x="5176838" y="5072063"/>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3Q</a:t>
            </a:r>
            <a:endParaRPr lang="zh-CN" altLang="en-US" sz="1800" b="0">
              <a:latin typeface="Calibri" panose="020F0502020204030204" pitchFamily="34" charset="0"/>
            </a:endParaRPr>
          </a:p>
        </p:txBody>
      </p:sp>
      <p:sp>
        <p:nvSpPr>
          <p:cNvPr id="47122" name="TextBox 53"/>
          <p:cNvSpPr txBox="1">
            <a:spLocks noChangeArrowheads="1"/>
          </p:cNvSpPr>
          <p:nvPr/>
        </p:nvSpPr>
        <p:spPr bwMode="auto">
          <a:xfrm>
            <a:off x="4857750" y="5357813"/>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2Q</a:t>
            </a:r>
            <a:endParaRPr lang="zh-CN" altLang="en-US" sz="1800" b="0">
              <a:latin typeface="Calibri" panose="020F0502020204030204" pitchFamily="34" charset="0"/>
            </a:endParaRPr>
          </a:p>
        </p:txBody>
      </p:sp>
      <p:sp>
        <p:nvSpPr>
          <p:cNvPr id="47123" name="TextBox 54"/>
          <p:cNvSpPr txBox="1">
            <a:spLocks noChangeArrowheads="1"/>
          </p:cNvSpPr>
          <p:nvPr/>
        </p:nvSpPr>
        <p:spPr bwMode="auto">
          <a:xfrm>
            <a:off x="4533900" y="5643563"/>
            <a:ext cx="3508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Q</a:t>
            </a:r>
            <a:endParaRPr lang="zh-CN" altLang="en-US" sz="1800" b="0">
              <a:latin typeface="Calibri" panose="020F0502020204030204" pitchFamily="34" charset="0"/>
            </a:endParaRPr>
          </a:p>
        </p:txBody>
      </p:sp>
      <p:cxnSp>
        <p:nvCxnSpPr>
          <p:cNvPr id="57" name="直接连接符 56">
            <a:extLst>
              <a:ext uri="{FF2B5EF4-FFF2-40B4-BE49-F238E27FC236}">
                <a16:creationId xmlns:a16="http://schemas.microsoft.com/office/drawing/2014/main" id="{A4FFCF30-52CC-4DB3-A219-2E77F1F65291}"/>
              </a:ext>
            </a:extLst>
          </p:cNvPr>
          <p:cNvCxnSpPr/>
          <p:nvPr/>
        </p:nvCxnSpPr>
        <p:spPr>
          <a:xfrm flipV="1">
            <a:off x="3429000" y="4643438"/>
            <a:ext cx="1571625" cy="1357312"/>
          </a:xfrm>
          <a:prstGeom prst="line">
            <a:avLst/>
          </a:prstGeom>
          <a:ln>
            <a:solidFill>
              <a:srgbClr val="3366FF"/>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32FFE16F-D319-4DF7-A3C2-FB7353E1CE67}"/>
              </a:ext>
            </a:extLst>
          </p:cNvPr>
          <p:cNvCxnSpPr/>
          <p:nvPr/>
        </p:nvCxnSpPr>
        <p:spPr>
          <a:xfrm rot="10800000">
            <a:off x="3429000" y="5572125"/>
            <a:ext cx="500063" cy="1588"/>
          </a:xfrm>
          <a:prstGeom prst="line">
            <a:avLst/>
          </a:prstGeom>
          <a:ln>
            <a:solidFill>
              <a:srgbClr val="FF3399"/>
            </a:solidFill>
            <a:prstDash val="dash"/>
          </a:ln>
        </p:spPr>
        <p:style>
          <a:lnRef idx="1">
            <a:schemeClr val="accent1"/>
          </a:lnRef>
          <a:fillRef idx="0">
            <a:schemeClr val="accent1"/>
          </a:fillRef>
          <a:effectRef idx="0">
            <a:schemeClr val="accent1"/>
          </a:effectRef>
          <a:fontRef idx="minor">
            <a:schemeClr val="tx1"/>
          </a:fontRef>
        </p:style>
      </p:cxnSp>
      <p:cxnSp>
        <p:nvCxnSpPr>
          <p:cNvPr id="61" name="直接连接符 60">
            <a:extLst>
              <a:ext uri="{FF2B5EF4-FFF2-40B4-BE49-F238E27FC236}">
                <a16:creationId xmlns:a16="http://schemas.microsoft.com/office/drawing/2014/main" id="{E2E680CC-9C3A-48C9-A433-4CBD00229094}"/>
              </a:ext>
            </a:extLst>
          </p:cNvPr>
          <p:cNvCxnSpPr/>
          <p:nvPr/>
        </p:nvCxnSpPr>
        <p:spPr>
          <a:xfrm rot="10800000">
            <a:off x="3429000" y="5286375"/>
            <a:ext cx="785813" cy="1588"/>
          </a:xfrm>
          <a:prstGeom prst="line">
            <a:avLst/>
          </a:prstGeom>
          <a:ln>
            <a:solidFill>
              <a:srgbClr val="FF3399"/>
            </a:solidFill>
            <a:prstDash val="dash"/>
          </a:ln>
        </p:spPr>
        <p:style>
          <a:lnRef idx="1">
            <a:schemeClr val="accent1"/>
          </a:lnRef>
          <a:fillRef idx="0">
            <a:schemeClr val="accent1"/>
          </a:fillRef>
          <a:effectRef idx="0">
            <a:schemeClr val="accent1"/>
          </a:effectRef>
          <a:fontRef idx="minor">
            <a:schemeClr val="tx1"/>
          </a:fontRef>
        </p:style>
      </p:cxnSp>
      <p:cxnSp>
        <p:nvCxnSpPr>
          <p:cNvPr id="63" name="直接连接符 62">
            <a:extLst>
              <a:ext uri="{FF2B5EF4-FFF2-40B4-BE49-F238E27FC236}">
                <a16:creationId xmlns:a16="http://schemas.microsoft.com/office/drawing/2014/main" id="{490C460C-D098-47AD-899E-2E26D9177F79}"/>
              </a:ext>
            </a:extLst>
          </p:cNvPr>
          <p:cNvCxnSpPr/>
          <p:nvPr/>
        </p:nvCxnSpPr>
        <p:spPr>
          <a:xfrm rot="10800000">
            <a:off x="3429000" y="5000625"/>
            <a:ext cx="1143000" cy="1588"/>
          </a:xfrm>
          <a:prstGeom prst="line">
            <a:avLst/>
          </a:prstGeom>
          <a:ln>
            <a:solidFill>
              <a:srgbClr val="FF3399"/>
            </a:solidFill>
            <a:prstDash val="dash"/>
          </a:ln>
        </p:spPr>
        <p:style>
          <a:lnRef idx="1">
            <a:schemeClr val="accent1"/>
          </a:lnRef>
          <a:fillRef idx="0">
            <a:schemeClr val="accent1"/>
          </a:fillRef>
          <a:effectRef idx="0">
            <a:schemeClr val="accent1"/>
          </a:effectRef>
          <a:fontRef idx="minor">
            <a:schemeClr val="tx1"/>
          </a:fontRef>
        </p:style>
      </p:cxnSp>
      <p:cxnSp>
        <p:nvCxnSpPr>
          <p:cNvPr id="65" name="直接连接符 64">
            <a:extLst>
              <a:ext uri="{FF2B5EF4-FFF2-40B4-BE49-F238E27FC236}">
                <a16:creationId xmlns:a16="http://schemas.microsoft.com/office/drawing/2014/main" id="{413BA1E5-9DD0-41C8-AC10-BB17B0D78E1C}"/>
              </a:ext>
            </a:extLst>
          </p:cNvPr>
          <p:cNvCxnSpPr/>
          <p:nvPr/>
        </p:nvCxnSpPr>
        <p:spPr>
          <a:xfrm rot="5400000">
            <a:off x="3713956" y="5787232"/>
            <a:ext cx="428625" cy="1588"/>
          </a:xfrm>
          <a:prstGeom prst="line">
            <a:avLst/>
          </a:prstGeom>
          <a:ln>
            <a:solidFill>
              <a:srgbClr val="FF3399"/>
            </a:solidFill>
            <a:prstDash val="dash"/>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41CBFD08-131F-4E74-A336-BF9C7EF1CA8B}"/>
              </a:ext>
            </a:extLst>
          </p:cNvPr>
          <p:cNvCxnSpPr/>
          <p:nvPr/>
        </p:nvCxnSpPr>
        <p:spPr>
          <a:xfrm rot="5400000">
            <a:off x="3856831" y="5644357"/>
            <a:ext cx="714375" cy="1588"/>
          </a:xfrm>
          <a:prstGeom prst="line">
            <a:avLst/>
          </a:prstGeom>
          <a:ln>
            <a:solidFill>
              <a:srgbClr val="FF3399"/>
            </a:solidFill>
            <a:prstDash val="dash"/>
          </a:ln>
        </p:spPr>
        <p:style>
          <a:lnRef idx="1">
            <a:schemeClr val="accent1"/>
          </a:lnRef>
          <a:fillRef idx="0">
            <a:schemeClr val="accent1"/>
          </a:fillRef>
          <a:effectRef idx="0">
            <a:schemeClr val="accent1"/>
          </a:effectRef>
          <a:fontRef idx="minor">
            <a:schemeClr val="tx1"/>
          </a:fontRef>
        </p:style>
      </p:cxnSp>
      <p:cxnSp>
        <p:nvCxnSpPr>
          <p:cNvPr id="69" name="直接连接符 68">
            <a:extLst>
              <a:ext uri="{FF2B5EF4-FFF2-40B4-BE49-F238E27FC236}">
                <a16:creationId xmlns:a16="http://schemas.microsoft.com/office/drawing/2014/main" id="{B65DB9B7-1CE6-4F63-A1FD-A69782F66E5E}"/>
              </a:ext>
            </a:extLst>
          </p:cNvPr>
          <p:cNvCxnSpPr/>
          <p:nvPr/>
        </p:nvCxnSpPr>
        <p:spPr>
          <a:xfrm rot="5400000">
            <a:off x="4071938" y="5500688"/>
            <a:ext cx="1000125" cy="3175"/>
          </a:xfrm>
          <a:prstGeom prst="line">
            <a:avLst/>
          </a:prstGeom>
          <a:ln>
            <a:solidFill>
              <a:srgbClr val="FF3399"/>
            </a:solidFill>
            <a:prstDash val="dash"/>
          </a:ln>
        </p:spPr>
        <p:style>
          <a:lnRef idx="1">
            <a:schemeClr val="accent1"/>
          </a:lnRef>
          <a:fillRef idx="0">
            <a:schemeClr val="accent1"/>
          </a:fillRef>
          <a:effectRef idx="0">
            <a:schemeClr val="accent1"/>
          </a:effectRef>
          <a:fontRef idx="minor">
            <a:schemeClr val="tx1"/>
          </a:fontRef>
        </p:style>
      </p:cxnSp>
      <p:grpSp>
        <p:nvGrpSpPr>
          <p:cNvPr id="47131" name="组合 59"/>
          <p:cNvGrpSpPr>
            <a:grpSpLocks/>
          </p:cNvGrpSpPr>
          <p:nvPr/>
        </p:nvGrpSpPr>
        <p:grpSpPr bwMode="auto">
          <a:xfrm>
            <a:off x="6143625" y="3071813"/>
            <a:ext cx="2857500" cy="3143250"/>
            <a:chOff x="6143625" y="3071813"/>
            <a:chExt cx="2857500" cy="3143250"/>
          </a:xfrm>
        </p:grpSpPr>
        <p:grpSp>
          <p:nvGrpSpPr>
            <p:cNvPr id="47132" name="组合 42"/>
            <p:cNvGrpSpPr>
              <a:grpSpLocks/>
            </p:cNvGrpSpPr>
            <p:nvPr/>
          </p:nvGrpSpPr>
          <p:grpSpPr bwMode="auto">
            <a:xfrm>
              <a:off x="6143625" y="4059238"/>
              <a:ext cx="2500313" cy="2155825"/>
              <a:chOff x="214282" y="3929066"/>
              <a:chExt cx="2500330" cy="2155282"/>
            </a:xfrm>
          </p:grpSpPr>
          <p:cxnSp>
            <p:nvCxnSpPr>
              <p:cNvPr id="44" name="直接连接符 43">
                <a:extLst>
                  <a:ext uri="{FF2B5EF4-FFF2-40B4-BE49-F238E27FC236}">
                    <a16:creationId xmlns:a16="http://schemas.microsoft.com/office/drawing/2014/main" id="{EF0F7294-6576-443D-B1BB-EF93AD799032}"/>
                  </a:ext>
                </a:extLst>
              </p:cNvPr>
              <p:cNvCxnSpPr>
                <a:cxnSpLocks noChangeShapeType="1"/>
              </p:cNvCxnSpPr>
              <p:nvPr/>
            </p:nvCxnSpPr>
            <p:spPr bwMode="auto">
              <a:xfrm rot="5400000">
                <a:off x="-322859" y="4964649"/>
                <a:ext cx="1787075" cy="1588"/>
              </a:xfrm>
              <a:prstGeom prst="line">
                <a:avLst/>
              </a:prstGeom>
              <a:noFill/>
              <a:ln w="25400">
                <a:solidFill>
                  <a:srgbClr val="704530"/>
                </a:solidFill>
                <a:round/>
                <a:headEnd/>
                <a:tailEnd/>
              </a:ln>
              <a:effectLst>
                <a:outerShdw blurRad="63500" dist="20000" dir="5400000" rotWithShape="0">
                  <a:srgbClr val="000000">
                    <a:alpha val="37999"/>
                  </a:srgbClr>
                </a:outerShdw>
              </a:effectLst>
              <a:extLst>
                <a:ext uri="{909E8E84-426E-40dd-AFC4-6F175D3DCCD1}"/>
              </a:extLst>
            </p:spPr>
          </p:cxnSp>
          <p:cxnSp>
            <p:nvCxnSpPr>
              <p:cNvPr id="45" name="直接连接符 44">
                <a:extLst>
                  <a:ext uri="{FF2B5EF4-FFF2-40B4-BE49-F238E27FC236}">
                    <a16:creationId xmlns:a16="http://schemas.microsoft.com/office/drawing/2014/main" id="{2033F797-0795-49F5-8D15-A757940E4DD0}"/>
                  </a:ext>
                </a:extLst>
              </p:cNvPr>
              <p:cNvCxnSpPr>
                <a:cxnSpLocks noChangeShapeType="1"/>
              </p:cNvCxnSpPr>
              <p:nvPr/>
            </p:nvCxnSpPr>
            <p:spPr bwMode="auto">
              <a:xfrm>
                <a:off x="571472" y="5857392"/>
                <a:ext cx="1857388" cy="1588"/>
              </a:xfrm>
              <a:prstGeom prst="line">
                <a:avLst/>
              </a:prstGeom>
              <a:noFill/>
              <a:ln w="25400">
                <a:solidFill>
                  <a:srgbClr val="704530"/>
                </a:solidFill>
                <a:round/>
                <a:headEnd/>
                <a:tailEnd/>
              </a:ln>
              <a:effectLst>
                <a:outerShdw blurRad="63500" dist="20000" dir="5400000" rotWithShape="0">
                  <a:srgbClr val="000000">
                    <a:alpha val="37999"/>
                  </a:srgbClr>
                </a:outerShdw>
              </a:effectLst>
              <a:extLst>
                <a:ext uri="{909E8E84-426E-40dd-AFC4-6F175D3DCCD1}"/>
              </a:extLst>
            </p:spPr>
          </p:cxnSp>
          <p:sp>
            <p:nvSpPr>
              <p:cNvPr id="47148" name="TextBox 45"/>
              <p:cNvSpPr txBox="1">
                <a:spLocks noChangeArrowheads="1"/>
              </p:cNvSpPr>
              <p:nvPr/>
            </p:nvSpPr>
            <p:spPr bwMode="auto">
              <a:xfrm>
                <a:off x="214282" y="3929066"/>
                <a:ext cx="3513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K</a:t>
                </a:r>
                <a:endParaRPr lang="zh-CN" altLang="en-US" sz="1800" b="0">
                  <a:latin typeface="Calibri" panose="020F0502020204030204" pitchFamily="34" charset="0"/>
                </a:endParaRPr>
              </a:p>
            </p:txBody>
          </p:sp>
          <p:sp>
            <p:nvSpPr>
              <p:cNvPr id="47149" name="TextBox 46"/>
              <p:cNvSpPr txBox="1">
                <a:spLocks noChangeArrowheads="1"/>
              </p:cNvSpPr>
              <p:nvPr/>
            </p:nvSpPr>
            <p:spPr bwMode="auto">
              <a:xfrm>
                <a:off x="2388881" y="5715016"/>
                <a:ext cx="325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L</a:t>
                </a:r>
                <a:endParaRPr lang="zh-CN" altLang="en-US" sz="1800" b="0">
                  <a:latin typeface="Calibri" panose="020F0502020204030204" pitchFamily="34" charset="0"/>
                </a:endParaRPr>
              </a:p>
            </p:txBody>
          </p:sp>
        </p:grpSp>
        <p:sp>
          <p:nvSpPr>
            <p:cNvPr id="47133" name="弧形 69"/>
            <p:cNvSpPr>
              <a:spLocks/>
            </p:cNvSpPr>
            <p:nvPr/>
          </p:nvSpPr>
          <p:spPr bwMode="auto">
            <a:xfrm flipV="1">
              <a:off x="6643688" y="3724275"/>
              <a:ext cx="1857375" cy="2000250"/>
            </a:xfrm>
            <a:custGeom>
              <a:avLst/>
              <a:gdLst>
                <a:gd name="T0" fmla="*/ 4760 w 1857375"/>
                <a:gd name="T1" fmla="*/ 898996 h 2000250"/>
                <a:gd name="T2" fmla="*/ 928688 w 1857375"/>
                <a:gd name="T3" fmla="*/ 1000125 h 2000250"/>
                <a:gd name="T4" fmla="*/ 945868 w 1857375"/>
                <a:gd name="T5" fmla="*/ 171 h 2000250"/>
                <a:gd name="T6" fmla="*/ 5898240 60000 65536"/>
                <a:gd name="T7" fmla="*/ 17694720 60000 65536"/>
                <a:gd name="T8" fmla="*/ 0 60000 65536"/>
                <a:gd name="T9" fmla="*/ 4760 w 1857375"/>
                <a:gd name="T10" fmla="*/ 0 h 2000250"/>
                <a:gd name="T11" fmla="*/ 945868 w 1857375"/>
                <a:gd name="T12" fmla="*/ 898996 h 2000250"/>
              </a:gdLst>
              <a:ahLst/>
              <a:cxnLst>
                <a:cxn ang="T6">
                  <a:pos x="T0" y="T1"/>
                </a:cxn>
                <a:cxn ang="T7">
                  <a:pos x="T2" y="T3"/>
                </a:cxn>
                <a:cxn ang="T8">
                  <a:pos x="T4" y="T5"/>
                </a:cxn>
              </a:cxnLst>
              <a:rect l="T9" t="T10" r="T11" b="T12"/>
              <a:pathLst>
                <a:path w="1857375" h="2000250" stroke="0">
                  <a:moveTo>
                    <a:pt x="4760" y="898996"/>
                  </a:moveTo>
                  <a:lnTo>
                    <a:pt x="4759" y="898995"/>
                  </a:lnTo>
                  <a:cubicBezTo>
                    <a:pt x="52945" y="388431"/>
                    <a:pt x="452149" y="-1"/>
                    <a:pt x="928688" y="-1"/>
                  </a:cubicBezTo>
                  <a:cubicBezTo>
                    <a:pt x="934415" y="-1"/>
                    <a:pt x="940142" y="57"/>
                    <a:pt x="945868" y="171"/>
                  </a:cubicBezTo>
                  <a:lnTo>
                    <a:pt x="928688" y="1000125"/>
                  </a:lnTo>
                  <a:lnTo>
                    <a:pt x="4760" y="898996"/>
                  </a:lnTo>
                  <a:close/>
                </a:path>
                <a:path w="1857375" h="2000250" fill="none">
                  <a:moveTo>
                    <a:pt x="4760" y="898996"/>
                  </a:moveTo>
                  <a:lnTo>
                    <a:pt x="4759" y="898995"/>
                  </a:lnTo>
                  <a:cubicBezTo>
                    <a:pt x="52945" y="388431"/>
                    <a:pt x="452149" y="-1"/>
                    <a:pt x="928688" y="-1"/>
                  </a:cubicBezTo>
                  <a:cubicBezTo>
                    <a:pt x="934415" y="-1"/>
                    <a:pt x="940142" y="57"/>
                    <a:pt x="945868" y="171"/>
                  </a:cubicBezTo>
                </a:path>
              </a:pathLst>
            </a:custGeom>
            <a:noFill/>
            <a:ln w="25400" cap="flat" cmpd="sng">
              <a:solidFill>
                <a:srgbClr val="0000FF"/>
              </a:solidFill>
              <a:prstDash val="solid"/>
              <a:round/>
              <a:headEnd/>
              <a:tailEnd/>
            </a:ln>
            <a:effectLst>
              <a:outerShdw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47134" name="TextBox 70"/>
            <p:cNvSpPr txBox="1">
              <a:spLocks noChangeArrowheads="1"/>
            </p:cNvSpPr>
            <p:nvPr/>
          </p:nvSpPr>
          <p:spPr bwMode="auto">
            <a:xfrm>
              <a:off x="7507288" y="5643563"/>
              <a:ext cx="3508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Q</a:t>
              </a:r>
              <a:endParaRPr lang="zh-CN" altLang="en-US" sz="1800" b="0">
                <a:latin typeface="Calibri" panose="020F0502020204030204" pitchFamily="34" charset="0"/>
              </a:endParaRPr>
            </a:p>
          </p:txBody>
        </p:sp>
        <p:sp>
          <p:nvSpPr>
            <p:cNvPr id="47135" name="弧形 71"/>
            <p:cNvSpPr>
              <a:spLocks/>
            </p:cNvSpPr>
            <p:nvPr/>
          </p:nvSpPr>
          <p:spPr bwMode="auto">
            <a:xfrm flipV="1">
              <a:off x="7143750" y="3071813"/>
              <a:ext cx="1857375" cy="2000250"/>
            </a:xfrm>
            <a:custGeom>
              <a:avLst/>
              <a:gdLst>
                <a:gd name="T0" fmla="*/ 4760 w 1857375"/>
                <a:gd name="T1" fmla="*/ 898996 h 2000250"/>
                <a:gd name="T2" fmla="*/ 928688 w 1857375"/>
                <a:gd name="T3" fmla="*/ 1000125 h 2000250"/>
                <a:gd name="T4" fmla="*/ 945868 w 1857375"/>
                <a:gd name="T5" fmla="*/ 171 h 2000250"/>
                <a:gd name="T6" fmla="*/ 5898240 60000 65536"/>
                <a:gd name="T7" fmla="*/ 17694720 60000 65536"/>
                <a:gd name="T8" fmla="*/ 0 60000 65536"/>
                <a:gd name="T9" fmla="*/ 4760 w 1857375"/>
                <a:gd name="T10" fmla="*/ 0 h 2000250"/>
                <a:gd name="T11" fmla="*/ 945868 w 1857375"/>
                <a:gd name="T12" fmla="*/ 898996 h 2000250"/>
              </a:gdLst>
              <a:ahLst/>
              <a:cxnLst>
                <a:cxn ang="T6">
                  <a:pos x="T0" y="T1"/>
                </a:cxn>
                <a:cxn ang="T7">
                  <a:pos x="T2" y="T3"/>
                </a:cxn>
                <a:cxn ang="T8">
                  <a:pos x="T4" y="T5"/>
                </a:cxn>
              </a:cxnLst>
              <a:rect l="T9" t="T10" r="T11" b="T12"/>
              <a:pathLst>
                <a:path w="1857375" h="2000250" stroke="0">
                  <a:moveTo>
                    <a:pt x="4760" y="898996"/>
                  </a:moveTo>
                  <a:lnTo>
                    <a:pt x="4759" y="898995"/>
                  </a:lnTo>
                  <a:cubicBezTo>
                    <a:pt x="52945" y="388431"/>
                    <a:pt x="452149" y="-1"/>
                    <a:pt x="928688" y="-1"/>
                  </a:cubicBezTo>
                  <a:cubicBezTo>
                    <a:pt x="934415" y="-1"/>
                    <a:pt x="940142" y="57"/>
                    <a:pt x="945868" y="171"/>
                  </a:cubicBezTo>
                  <a:lnTo>
                    <a:pt x="928688" y="1000125"/>
                  </a:lnTo>
                  <a:lnTo>
                    <a:pt x="4760" y="898996"/>
                  </a:lnTo>
                  <a:close/>
                </a:path>
                <a:path w="1857375" h="2000250" fill="none">
                  <a:moveTo>
                    <a:pt x="4760" y="898996"/>
                  </a:moveTo>
                  <a:lnTo>
                    <a:pt x="4759" y="898995"/>
                  </a:lnTo>
                  <a:cubicBezTo>
                    <a:pt x="52945" y="388431"/>
                    <a:pt x="452149" y="-1"/>
                    <a:pt x="928688" y="-1"/>
                  </a:cubicBezTo>
                  <a:cubicBezTo>
                    <a:pt x="934415" y="-1"/>
                    <a:pt x="940142" y="57"/>
                    <a:pt x="945868" y="171"/>
                  </a:cubicBezTo>
                </a:path>
              </a:pathLst>
            </a:custGeom>
            <a:noFill/>
            <a:ln w="25400" cap="flat" cmpd="sng">
              <a:solidFill>
                <a:srgbClr val="0000FF"/>
              </a:solidFill>
              <a:prstDash val="solid"/>
              <a:round/>
              <a:headEnd/>
              <a:tailEnd/>
            </a:ln>
            <a:effectLst>
              <a:outerShdw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sp>
          <p:nvSpPr>
            <p:cNvPr id="47136" name="弧形 72"/>
            <p:cNvSpPr>
              <a:spLocks/>
            </p:cNvSpPr>
            <p:nvPr/>
          </p:nvSpPr>
          <p:spPr bwMode="auto">
            <a:xfrm flipV="1">
              <a:off x="6786563" y="3500438"/>
              <a:ext cx="1857375" cy="2000250"/>
            </a:xfrm>
            <a:custGeom>
              <a:avLst/>
              <a:gdLst>
                <a:gd name="T0" fmla="*/ 4760 w 1857375"/>
                <a:gd name="T1" fmla="*/ 898996 h 2000250"/>
                <a:gd name="T2" fmla="*/ 928688 w 1857375"/>
                <a:gd name="T3" fmla="*/ 1000125 h 2000250"/>
                <a:gd name="T4" fmla="*/ 945868 w 1857375"/>
                <a:gd name="T5" fmla="*/ 171 h 2000250"/>
                <a:gd name="T6" fmla="*/ 5898240 60000 65536"/>
                <a:gd name="T7" fmla="*/ 17694720 60000 65536"/>
                <a:gd name="T8" fmla="*/ 0 60000 65536"/>
                <a:gd name="T9" fmla="*/ 4760 w 1857375"/>
                <a:gd name="T10" fmla="*/ 0 h 2000250"/>
                <a:gd name="T11" fmla="*/ 945868 w 1857375"/>
                <a:gd name="T12" fmla="*/ 898996 h 2000250"/>
              </a:gdLst>
              <a:ahLst/>
              <a:cxnLst>
                <a:cxn ang="T6">
                  <a:pos x="T0" y="T1"/>
                </a:cxn>
                <a:cxn ang="T7">
                  <a:pos x="T2" y="T3"/>
                </a:cxn>
                <a:cxn ang="T8">
                  <a:pos x="T4" y="T5"/>
                </a:cxn>
              </a:cxnLst>
              <a:rect l="T9" t="T10" r="T11" b="T12"/>
              <a:pathLst>
                <a:path w="1857375" h="2000250" stroke="0">
                  <a:moveTo>
                    <a:pt x="4760" y="898996"/>
                  </a:moveTo>
                  <a:lnTo>
                    <a:pt x="4759" y="898995"/>
                  </a:lnTo>
                  <a:cubicBezTo>
                    <a:pt x="52945" y="388431"/>
                    <a:pt x="452149" y="-1"/>
                    <a:pt x="928688" y="-1"/>
                  </a:cubicBezTo>
                  <a:cubicBezTo>
                    <a:pt x="934415" y="-1"/>
                    <a:pt x="940142" y="57"/>
                    <a:pt x="945868" y="171"/>
                  </a:cubicBezTo>
                  <a:lnTo>
                    <a:pt x="928688" y="1000125"/>
                  </a:lnTo>
                  <a:lnTo>
                    <a:pt x="4760" y="898996"/>
                  </a:lnTo>
                  <a:close/>
                </a:path>
                <a:path w="1857375" h="2000250" fill="none">
                  <a:moveTo>
                    <a:pt x="4760" y="898996"/>
                  </a:moveTo>
                  <a:lnTo>
                    <a:pt x="4759" y="898995"/>
                  </a:lnTo>
                  <a:cubicBezTo>
                    <a:pt x="52945" y="388431"/>
                    <a:pt x="452149" y="-1"/>
                    <a:pt x="928688" y="-1"/>
                  </a:cubicBezTo>
                  <a:cubicBezTo>
                    <a:pt x="934415" y="-1"/>
                    <a:pt x="940142" y="57"/>
                    <a:pt x="945868" y="171"/>
                  </a:cubicBezTo>
                </a:path>
              </a:pathLst>
            </a:custGeom>
            <a:noFill/>
            <a:ln w="25400" cap="flat" cmpd="sng">
              <a:solidFill>
                <a:srgbClr val="0000FF"/>
              </a:solidFill>
              <a:prstDash val="solid"/>
              <a:round/>
              <a:headEnd/>
              <a:tailEnd/>
            </a:ln>
            <a:effectLst>
              <a:outerShdw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endParaRPr lang="zh-CN" altLang="en-US"/>
            </a:p>
          </p:txBody>
        </p:sp>
        <p:cxnSp>
          <p:nvCxnSpPr>
            <p:cNvPr id="75" name="直接连接符 74">
              <a:extLst>
                <a:ext uri="{FF2B5EF4-FFF2-40B4-BE49-F238E27FC236}">
                  <a16:creationId xmlns:a16="http://schemas.microsoft.com/office/drawing/2014/main" id="{C42B7FC2-172E-4EF1-9B91-8A64EDB8DD65}"/>
                </a:ext>
              </a:extLst>
            </p:cNvPr>
            <p:cNvCxnSpPr/>
            <p:nvPr/>
          </p:nvCxnSpPr>
          <p:spPr>
            <a:xfrm rot="5400000" flipH="1" flipV="1">
              <a:off x="6429375" y="4572001"/>
              <a:ext cx="1500187" cy="1357312"/>
            </a:xfrm>
            <a:prstGeom prst="line">
              <a:avLst/>
            </a:prstGeom>
            <a:ln>
              <a:solidFill>
                <a:srgbClr val="FF9900"/>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5A0FCF22-F10D-444A-A2C8-71F492A55AED}"/>
                </a:ext>
              </a:extLst>
            </p:cNvPr>
            <p:cNvCxnSpPr/>
            <p:nvPr/>
          </p:nvCxnSpPr>
          <p:spPr>
            <a:xfrm rot="10800000">
              <a:off x="6500813" y="5500688"/>
              <a:ext cx="428625" cy="1587"/>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B9198D3D-A0DF-404C-A232-FF0230103663}"/>
                </a:ext>
              </a:extLst>
            </p:cNvPr>
            <p:cNvCxnSpPr/>
            <p:nvPr/>
          </p:nvCxnSpPr>
          <p:spPr>
            <a:xfrm rot="5400000">
              <a:off x="6680200" y="5751513"/>
              <a:ext cx="500063" cy="1587"/>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D11C3919-00EB-4DD7-99A9-69F9C6F69B3D}"/>
                </a:ext>
              </a:extLst>
            </p:cNvPr>
            <p:cNvCxnSpPr/>
            <p:nvPr/>
          </p:nvCxnSpPr>
          <p:spPr>
            <a:xfrm rot="10800000">
              <a:off x="6500813" y="5286375"/>
              <a:ext cx="642937" cy="1588"/>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CCBD9F7B-7AE5-4135-A2CE-95863DD1EE5E}"/>
                </a:ext>
              </a:extLst>
            </p:cNvPr>
            <p:cNvCxnSpPr/>
            <p:nvPr/>
          </p:nvCxnSpPr>
          <p:spPr>
            <a:xfrm rot="5400000">
              <a:off x="6787356" y="5644357"/>
              <a:ext cx="714375" cy="1588"/>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D13C4A96-C990-4388-89B1-30FEA66EF08C}"/>
                </a:ext>
              </a:extLst>
            </p:cNvPr>
            <p:cNvCxnSpPr/>
            <p:nvPr/>
          </p:nvCxnSpPr>
          <p:spPr>
            <a:xfrm rot="10800000">
              <a:off x="6500813" y="4886325"/>
              <a:ext cx="1000125" cy="1588"/>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8B6D172E-4C17-4A4B-8001-2BD075BA845A}"/>
                </a:ext>
              </a:extLst>
            </p:cNvPr>
            <p:cNvCxnSpPr/>
            <p:nvPr/>
          </p:nvCxnSpPr>
          <p:spPr>
            <a:xfrm rot="5400000">
              <a:off x="6965950" y="5465763"/>
              <a:ext cx="1071563" cy="1587"/>
            </a:xfrm>
            <a:prstGeom prst="line">
              <a:avLst/>
            </a:prstGeom>
            <a:ln>
              <a:solidFill>
                <a:srgbClr val="0070C0"/>
              </a:solidFill>
              <a:prstDash val="dash"/>
            </a:ln>
          </p:spPr>
          <p:style>
            <a:lnRef idx="1">
              <a:schemeClr val="accent1"/>
            </a:lnRef>
            <a:fillRef idx="0">
              <a:schemeClr val="accent1"/>
            </a:fillRef>
            <a:effectRef idx="0">
              <a:schemeClr val="accent1"/>
            </a:effectRef>
            <a:fontRef idx="minor">
              <a:schemeClr val="tx1"/>
            </a:fontRef>
          </p:style>
        </p:cxnSp>
        <p:sp>
          <p:nvSpPr>
            <p:cNvPr id="47144" name="TextBox 87"/>
            <p:cNvSpPr txBox="1">
              <a:spLocks noChangeArrowheads="1"/>
            </p:cNvSpPr>
            <p:nvPr/>
          </p:nvSpPr>
          <p:spPr bwMode="auto">
            <a:xfrm>
              <a:off x="7659688" y="5357813"/>
              <a:ext cx="4667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2Q</a:t>
              </a:r>
              <a:endParaRPr lang="zh-CN" altLang="en-US" sz="1800" b="0">
                <a:latin typeface="Calibri" panose="020F0502020204030204" pitchFamily="34" charset="0"/>
              </a:endParaRPr>
            </a:p>
          </p:txBody>
        </p:sp>
        <p:sp>
          <p:nvSpPr>
            <p:cNvPr id="47145" name="TextBox 88"/>
            <p:cNvSpPr txBox="1">
              <a:spLocks noChangeArrowheads="1"/>
            </p:cNvSpPr>
            <p:nvPr/>
          </p:nvSpPr>
          <p:spPr bwMode="auto">
            <a:xfrm>
              <a:off x="8034338" y="4857750"/>
              <a:ext cx="4667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tx2"/>
                </a:buClr>
                <a:buFont typeface="Wingdings" panose="05000000000000000000" pitchFamily="2" charset="2"/>
                <a:buChar char="v"/>
                <a:defRPr sz="2800" b="1">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accent1"/>
                </a:buClr>
                <a:buFont typeface="Wingdings" panose="05000000000000000000" pitchFamily="2" charset="2"/>
                <a:buChar char="§"/>
                <a:defRPr kumimoji="1" sz="26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2"/>
                </a:buClr>
                <a:buChar char="•"/>
                <a:defRPr kumimoji="1"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kumimoji="1"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1800" b="0">
                  <a:latin typeface="Calibri" panose="020F0502020204030204" pitchFamily="34" charset="0"/>
                </a:rPr>
                <a:t>3Q</a:t>
              </a:r>
              <a:endParaRPr lang="zh-CN" altLang="en-US" sz="1800" b="0">
                <a:latin typeface="Calibri" panose="020F0502020204030204" pitchFamily="34" charset="0"/>
              </a:endParaRPr>
            </a:p>
          </p:txBody>
        </p:sp>
      </p:grpSp>
    </p:spTree>
    <p:extLst>
      <p:ext uri="{BB962C8B-B14F-4D97-AF65-F5344CB8AC3E}">
        <p14:creationId xmlns:p14="http://schemas.microsoft.com/office/powerpoint/2010/main" val="2373258796"/>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9BE2BCD-3952-46BB-AB6A-4A3D17037FE4}"/>
              </a:ext>
            </a:extLst>
          </p:cNvPr>
          <p:cNvSpPr/>
          <p:nvPr/>
        </p:nvSpPr>
        <p:spPr>
          <a:xfrm>
            <a:off x="747435" y="2893071"/>
            <a:ext cx="1741403"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849BCA43-6777-4BA3-A39B-A02C320EFF46}"/>
              </a:ext>
            </a:extLst>
          </p:cNvPr>
          <p:cNvSpPr/>
          <p:nvPr/>
        </p:nvSpPr>
        <p:spPr>
          <a:xfrm>
            <a:off x="2792370" y="2885689"/>
            <a:ext cx="1728951"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28FB5ED5-32DD-46B3-95FB-C0ABA2FF995E}"/>
              </a:ext>
            </a:extLst>
          </p:cNvPr>
          <p:cNvSpPr/>
          <p:nvPr/>
        </p:nvSpPr>
        <p:spPr>
          <a:xfrm>
            <a:off x="4802993" y="2887971"/>
            <a:ext cx="1728951"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3C9D496C-D8B8-4078-A3B5-09B1A760BEB6}"/>
              </a:ext>
            </a:extLst>
          </p:cNvPr>
          <p:cNvSpPr txBox="1"/>
          <p:nvPr/>
        </p:nvSpPr>
        <p:spPr>
          <a:xfrm>
            <a:off x="2307592" y="1340768"/>
            <a:ext cx="4928704" cy="646331"/>
          </a:xfrm>
          <a:prstGeom prst="rect">
            <a:avLst/>
          </a:prstGeom>
          <a:noFill/>
        </p:spPr>
        <p:txBody>
          <a:bodyPr wrap="square" rtlCol="0">
            <a:spAutoFit/>
          </a:bodyPr>
          <a:lstStyle/>
          <a:p>
            <a:pPr algn="ctr"/>
            <a:r>
              <a:rPr lang="zh-CN" altLang="en-US" sz="3600" b="1" dirty="0">
                <a:solidFill>
                  <a:srgbClr val="262626"/>
                </a:solidFill>
                <a:latin typeface="微软雅黑" panose="020B0503020204020204" pitchFamily="34" charset="-122"/>
                <a:ea typeface="微软雅黑" panose="020B0503020204020204" pitchFamily="34" charset="-122"/>
              </a:rPr>
              <a:t>第五节	短期成本函数</a:t>
            </a:r>
          </a:p>
        </p:txBody>
      </p:sp>
      <p:sp>
        <p:nvSpPr>
          <p:cNvPr id="6" name="文本框 5">
            <a:extLst>
              <a:ext uri="{FF2B5EF4-FFF2-40B4-BE49-F238E27FC236}">
                <a16:creationId xmlns:a16="http://schemas.microsoft.com/office/drawing/2014/main" id="{FCB33326-6EF9-4223-8418-3951BA03DA1A}"/>
              </a:ext>
            </a:extLst>
          </p:cNvPr>
          <p:cNvSpPr txBox="1"/>
          <p:nvPr/>
        </p:nvSpPr>
        <p:spPr>
          <a:xfrm>
            <a:off x="919882" y="3337371"/>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01</a:t>
            </a:r>
          </a:p>
        </p:txBody>
      </p:sp>
      <p:sp>
        <p:nvSpPr>
          <p:cNvPr id="7" name="文本框 6">
            <a:extLst>
              <a:ext uri="{FF2B5EF4-FFF2-40B4-BE49-F238E27FC236}">
                <a16:creationId xmlns:a16="http://schemas.microsoft.com/office/drawing/2014/main" id="{DCEAE516-F182-4849-A6EB-726E060D84CA}"/>
              </a:ext>
            </a:extLst>
          </p:cNvPr>
          <p:cNvSpPr txBox="1"/>
          <p:nvPr/>
        </p:nvSpPr>
        <p:spPr>
          <a:xfrm>
            <a:off x="554801" y="3990129"/>
            <a:ext cx="2096733" cy="369332"/>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经济学中的成本</a:t>
            </a:r>
          </a:p>
        </p:txBody>
      </p:sp>
      <p:sp>
        <p:nvSpPr>
          <p:cNvPr id="8" name="文本框 7">
            <a:extLst>
              <a:ext uri="{FF2B5EF4-FFF2-40B4-BE49-F238E27FC236}">
                <a16:creationId xmlns:a16="http://schemas.microsoft.com/office/drawing/2014/main" id="{4E2423BF-CC41-4EFD-B0C9-9043C92E5F12}"/>
              </a:ext>
            </a:extLst>
          </p:cNvPr>
          <p:cNvSpPr txBox="1"/>
          <p:nvPr/>
        </p:nvSpPr>
        <p:spPr>
          <a:xfrm>
            <a:off x="2963469" y="3327529"/>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02</a:t>
            </a:r>
          </a:p>
        </p:txBody>
      </p:sp>
      <p:sp>
        <p:nvSpPr>
          <p:cNvPr id="9" name="文本框 8">
            <a:extLst>
              <a:ext uri="{FF2B5EF4-FFF2-40B4-BE49-F238E27FC236}">
                <a16:creationId xmlns:a16="http://schemas.microsoft.com/office/drawing/2014/main" id="{B4D8063F-068C-43C9-86E3-5DB343729833}"/>
              </a:ext>
            </a:extLst>
          </p:cNvPr>
          <p:cNvSpPr txBox="1"/>
          <p:nvPr/>
        </p:nvSpPr>
        <p:spPr>
          <a:xfrm>
            <a:off x="2610727" y="3990129"/>
            <a:ext cx="2119630" cy="369332"/>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短期成本的概念</a:t>
            </a:r>
          </a:p>
        </p:txBody>
      </p:sp>
      <p:sp>
        <p:nvSpPr>
          <p:cNvPr id="10" name="文本框 9">
            <a:extLst>
              <a:ext uri="{FF2B5EF4-FFF2-40B4-BE49-F238E27FC236}">
                <a16:creationId xmlns:a16="http://schemas.microsoft.com/office/drawing/2014/main" id="{C8821902-94B8-4E8F-9F97-D61C960AADB0}"/>
              </a:ext>
            </a:extLst>
          </p:cNvPr>
          <p:cNvSpPr txBox="1"/>
          <p:nvPr/>
        </p:nvSpPr>
        <p:spPr>
          <a:xfrm>
            <a:off x="4957900" y="3327529"/>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03</a:t>
            </a:r>
          </a:p>
        </p:txBody>
      </p:sp>
      <p:sp>
        <p:nvSpPr>
          <p:cNvPr id="11" name="文本框 10">
            <a:extLst>
              <a:ext uri="{FF2B5EF4-FFF2-40B4-BE49-F238E27FC236}">
                <a16:creationId xmlns:a16="http://schemas.microsoft.com/office/drawing/2014/main" id="{A19DE98A-A9E5-451F-AC7B-6648EA037512}"/>
              </a:ext>
            </a:extLst>
          </p:cNvPr>
          <p:cNvSpPr txBox="1"/>
          <p:nvPr/>
        </p:nvSpPr>
        <p:spPr>
          <a:xfrm>
            <a:off x="4605157" y="3990129"/>
            <a:ext cx="2119630" cy="369332"/>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短期成本曲线</a:t>
            </a:r>
            <a:endParaRPr lang="zh-CN" altLang="en-US" b="1" dirty="0">
              <a:solidFill>
                <a:srgbClr val="262626"/>
              </a:solidFill>
              <a:latin typeface="微软雅黑" panose="020B0503020204020204" pitchFamily="34" charset="-122"/>
              <a:ea typeface="微软雅黑" panose="020B0503020204020204" pitchFamily="34" charset="-122"/>
              <a:sym typeface="+mn-ea"/>
            </a:endParaRPr>
          </a:p>
        </p:txBody>
      </p:sp>
      <p:sp>
        <p:nvSpPr>
          <p:cNvPr id="12" name="矩形 11">
            <a:extLst>
              <a:ext uri="{FF2B5EF4-FFF2-40B4-BE49-F238E27FC236}">
                <a16:creationId xmlns:a16="http://schemas.microsoft.com/office/drawing/2014/main" id="{3EA35DEB-7E1C-4202-95C5-B2D08D23750C}"/>
              </a:ext>
            </a:extLst>
          </p:cNvPr>
          <p:cNvSpPr/>
          <p:nvPr/>
        </p:nvSpPr>
        <p:spPr>
          <a:xfrm>
            <a:off x="6803489" y="2885689"/>
            <a:ext cx="1728951" cy="2120265"/>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C1023DA6-E171-4DC3-8204-7AD99F87285B}"/>
              </a:ext>
            </a:extLst>
          </p:cNvPr>
          <p:cNvSpPr txBox="1"/>
          <p:nvPr/>
        </p:nvSpPr>
        <p:spPr>
          <a:xfrm>
            <a:off x="6960891" y="3327529"/>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04</a:t>
            </a:r>
          </a:p>
        </p:txBody>
      </p:sp>
      <p:sp>
        <p:nvSpPr>
          <p:cNvPr id="14" name="文本框 13">
            <a:extLst>
              <a:ext uri="{FF2B5EF4-FFF2-40B4-BE49-F238E27FC236}">
                <a16:creationId xmlns:a16="http://schemas.microsoft.com/office/drawing/2014/main" id="{827A3198-1AA7-4D8B-A6FF-929695C76B3E}"/>
              </a:ext>
            </a:extLst>
          </p:cNvPr>
          <p:cNvSpPr txBox="1"/>
          <p:nvPr/>
        </p:nvSpPr>
        <p:spPr>
          <a:xfrm>
            <a:off x="6842185" y="3851629"/>
            <a:ext cx="1609817" cy="646331"/>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短期成本曲线之间的关系</a:t>
            </a:r>
          </a:p>
        </p:txBody>
      </p:sp>
    </p:spTree>
    <p:extLst>
      <p:ext uri="{BB962C8B-B14F-4D97-AF65-F5344CB8AC3E}">
        <p14:creationId xmlns:p14="http://schemas.microsoft.com/office/powerpoint/2010/main" val="131965082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1"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par>
                                <p:cTn id="17" presetID="53" presetClass="entr" presetSubtype="16" fill="hold" grpId="1"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1"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
                                          </p:val>
                                        </p:tav>
                                        <p:tav tm="100000">
                                          <p:val>
                                            <p:strVal val="#ppt_w"/>
                                          </p:val>
                                        </p:tav>
                                      </p:tavLst>
                                    </p:anim>
                                    <p:anim calcmode="lin" valueType="num">
                                      <p:cBhvr>
                                        <p:cTn id="32" dur="500" fill="hold"/>
                                        <p:tgtEl>
                                          <p:spTgt spid="3"/>
                                        </p:tgtEl>
                                        <p:attrNameLst>
                                          <p:attrName>ppt_h</p:attrName>
                                        </p:attrNameLst>
                                      </p:cBhvr>
                                      <p:tavLst>
                                        <p:tav tm="0">
                                          <p:val>
                                            <p:fltVal val="0"/>
                                          </p:val>
                                        </p:tav>
                                        <p:tav tm="100000">
                                          <p:val>
                                            <p:strVal val="#ppt_h"/>
                                          </p:val>
                                        </p:tav>
                                      </p:tavLst>
                                    </p:anim>
                                    <p:animEffect transition="in" filter="fade">
                                      <p:cBhvr>
                                        <p:cTn id="33" dur="500"/>
                                        <p:tgtEl>
                                          <p:spTgt spid="3"/>
                                        </p:tgtEl>
                                      </p:cBhvr>
                                    </p:animEffect>
                                  </p:childTnLst>
                                </p:cTn>
                              </p:par>
                              <p:par>
                                <p:cTn id="34" presetID="53" presetClass="entr" presetSubtype="16" fill="hold" grpId="1"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1"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p:cTn id="48" dur="500" fill="hold"/>
                                        <p:tgtEl>
                                          <p:spTgt spid="4"/>
                                        </p:tgtEl>
                                        <p:attrNameLst>
                                          <p:attrName>ppt_w</p:attrName>
                                        </p:attrNameLst>
                                      </p:cBhvr>
                                      <p:tavLst>
                                        <p:tav tm="0">
                                          <p:val>
                                            <p:fltVal val="0"/>
                                          </p:val>
                                        </p:tav>
                                        <p:tav tm="100000">
                                          <p:val>
                                            <p:strVal val="#ppt_w"/>
                                          </p:val>
                                        </p:tav>
                                      </p:tavLst>
                                    </p:anim>
                                    <p:anim calcmode="lin" valueType="num">
                                      <p:cBhvr>
                                        <p:cTn id="49" dur="500" fill="hold"/>
                                        <p:tgtEl>
                                          <p:spTgt spid="4"/>
                                        </p:tgtEl>
                                        <p:attrNameLst>
                                          <p:attrName>ppt_h</p:attrName>
                                        </p:attrNameLst>
                                      </p:cBhvr>
                                      <p:tavLst>
                                        <p:tav tm="0">
                                          <p:val>
                                            <p:fltVal val="0"/>
                                          </p:val>
                                        </p:tav>
                                        <p:tav tm="100000">
                                          <p:val>
                                            <p:strVal val="#ppt_h"/>
                                          </p:val>
                                        </p:tav>
                                      </p:tavLst>
                                    </p:anim>
                                    <p:animEffect transition="in" filter="fade">
                                      <p:cBhvr>
                                        <p:cTn id="50" dur="500"/>
                                        <p:tgtEl>
                                          <p:spTgt spid="4"/>
                                        </p:tgtEl>
                                      </p:cBhvr>
                                    </p:animEffect>
                                  </p:childTnLst>
                                </p:cTn>
                              </p:par>
                              <p:par>
                                <p:cTn id="51" presetID="53" presetClass="entr" presetSubtype="16" fill="hold" grpId="1" nodeType="with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500" fill="hold"/>
                                        <p:tgtEl>
                                          <p:spTgt spid="10"/>
                                        </p:tgtEl>
                                        <p:attrNameLst>
                                          <p:attrName>ppt_w</p:attrName>
                                        </p:attrNameLst>
                                      </p:cBhvr>
                                      <p:tavLst>
                                        <p:tav tm="0">
                                          <p:val>
                                            <p:fltVal val="0"/>
                                          </p:val>
                                        </p:tav>
                                        <p:tav tm="100000">
                                          <p:val>
                                            <p:strVal val="#ppt_w"/>
                                          </p:val>
                                        </p:tav>
                                      </p:tavLst>
                                    </p:anim>
                                    <p:anim calcmode="lin" valueType="num">
                                      <p:cBhvr>
                                        <p:cTn id="54" dur="500" fill="hold"/>
                                        <p:tgtEl>
                                          <p:spTgt spid="10"/>
                                        </p:tgtEl>
                                        <p:attrNameLst>
                                          <p:attrName>ppt_h</p:attrName>
                                        </p:attrNameLst>
                                      </p:cBhvr>
                                      <p:tavLst>
                                        <p:tav tm="0">
                                          <p:val>
                                            <p:fltVal val="0"/>
                                          </p:val>
                                        </p:tav>
                                        <p:tav tm="100000">
                                          <p:val>
                                            <p:strVal val="#ppt_h"/>
                                          </p:val>
                                        </p:tav>
                                      </p:tavLst>
                                    </p:anim>
                                    <p:animEffect transition="in" filter="fade">
                                      <p:cBhvr>
                                        <p:cTn id="55" dur="500"/>
                                        <p:tgtEl>
                                          <p:spTgt spid="10"/>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 calcmode="lin" valueType="num">
                                      <p:cBhvr>
                                        <p:cTn id="58" dur="500" fill="hold"/>
                                        <p:tgtEl>
                                          <p:spTgt spid="11"/>
                                        </p:tgtEl>
                                        <p:attrNameLst>
                                          <p:attrName>ppt_w</p:attrName>
                                        </p:attrNameLst>
                                      </p:cBhvr>
                                      <p:tavLst>
                                        <p:tav tm="0">
                                          <p:val>
                                            <p:fltVal val="0"/>
                                          </p:val>
                                        </p:tav>
                                        <p:tav tm="100000">
                                          <p:val>
                                            <p:strVal val="#ppt_w"/>
                                          </p:val>
                                        </p:tav>
                                      </p:tavLst>
                                    </p:anim>
                                    <p:anim calcmode="lin" valueType="num">
                                      <p:cBhvr>
                                        <p:cTn id="59" dur="500" fill="hold"/>
                                        <p:tgtEl>
                                          <p:spTgt spid="11"/>
                                        </p:tgtEl>
                                        <p:attrNameLst>
                                          <p:attrName>ppt_h</p:attrName>
                                        </p:attrNameLst>
                                      </p:cBhvr>
                                      <p:tavLst>
                                        <p:tav tm="0">
                                          <p:val>
                                            <p:fltVal val="0"/>
                                          </p:val>
                                        </p:tav>
                                        <p:tav tm="100000">
                                          <p:val>
                                            <p:strVal val="#ppt_h"/>
                                          </p:val>
                                        </p:tav>
                                      </p:tavLst>
                                    </p:anim>
                                    <p:animEffect transition="in" filter="fade">
                                      <p:cBhvr>
                                        <p:cTn id="60" dur="500"/>
                                        <p:tgtEl>
                                          <p:spTgt spid="11"/>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1" nodeType="clickEffect">
                                  <p:stCondLst>
                                    <p:cond delay="0"/>
                                  </p:stCondLst>
                                  <p:childTnLst>
                                    <p:set>
                                      <p:cBhvr>
                                        <p:cTn id="64" dur="1" fill="hold">
                                          <p:stCondLst>
                                            <p:cond delay="0"/>
                                          </p:stCondLst>
                                        </p:cTn>
                                        <p:tgtEl>
                                          <p:spTgt spid="12"/>
                                        </p:tgtEl>
                                        <p:attrNameLst>
                                          <p:attrName>style.visibility</p:attrName>
                                        </p:attrNameLst>
                                      </p:cBhvr>
                                      <p:to>
                                        <p:strVal val="visible"/>
                                      </p:to>
                                    </p:set>
                                    <p:anim calcmode="lin" valueType="num">
                                      <p:cBhvr>
                                        <p:cTn id="65" dur="500" fill="hold"/>
                                        <p:tgtEl>
                                          <p:spTgt spid="12"/>
                                        </p:tgtEl>
                                        <p:attrNameLst>
                                          <p:attrName>ppt_w</p:attrName>
                                        </p:attrNameLst>
                                      </p:cBhvr>
                                      <p:tavLst>
                                        <p:tav tm="0">
                                          <p:val>
                                            <p:fltVal val="0"/>
                                          </p:val>
                                        </p:tav>
                                        <p:tav tm="100000">
                                          <p:val>
                                            <p:strVal val="#ppt_w"/>
                                          </p:val>
                                        </p:tav>
                                      </p:tavLst>
                                    </p:anim>
                                    <p:anim calcmode="lin" valueType="num">
                                      <p:cBhvr>
                                        <p:cTn id="66" dur="500" fill="hold"/>
                                        <p:tgtEl>
                                          <p:spTgt spid="12"/>
                                        </p:tgtEl>
                                        <p:attrNameLst>
                                          <p:attrName>ppt_h</p:attrName>
                                        </p:attrNameLst>
                                      </p:cBhvr>
                                      <p:tavLst>
                                        <p:tav tm="0">
                                          <p:val>
                                            <p:fltVal val="0"/>
                                          </p:val>
                                        </p:tav>
                                        <p:tav tm="100000">
                                          <p:val>
                                            <p:strVal val="#ppt_h"/>
                                          </p:val>
                                        </p:tav>
                                      </p:tavLst>
                                    </p:anim>
                                    <p:animEffect transition="in" filter="fade">
                                      <p:cBhvr>
                                        <p:cTn id="67" dur="500"/>
                                        <p:tgtEl>
                                          <p:spTgt spid="12"/>
                                        </p:tgtEl>
                                      </p:cBhvr>
                                    </p:animEffect>
                                  </p:childTnLst>
                                </p:cTn>
                              </p:par>
                              <p:par>
                                <p:cTn id="68" presetID="53" presetClass="entr" presetSubtype="16" fill="hold" grpId="1" nodeType="withEffect">
                                  <p:stCondLst>
                                    <p:cond delay="0"/>
                                  </p:stCondLst>
                                  <p:childTnLst>
                                    <p:set>
                                      <p:cBhvr>
                                        <p:cTn id="69" dur="1" fill="hold">
                                          <p:stCondLst>
                                            <p:cond delay="0"/>
                                          </p:stCondLst>
                                        </p:cTn>
                                        <p:tgtEl>
                                          <p:spTgt spid="13"/>
                                        </p:tgtEl>
                                        <p:attrNameLst>
                                          <p:attrName>style.visibility</p:attrName>
                                        </p:attrNameLst>
                                      </p:cBhvr>
                                      <p:to>
                                        <p:strVal val="visible"/>
                                      </p:to>
                                    </p:set>
                                    <p:anim calcmode="lin" valueType="num">
                                      <p:cBhvr>
                                        <p:cTn id="70" dur="500" fill="hold"/>
                                        <p:tgtEl>
                                          <p:spTgt spid="13"/>
                                        </p:tgtEl>
                                        <p:attrNameLst>
                                          <p:attrName>ppt_w</p:attrName>
                                        </p:attrNameLst>
                                      </p:cBhvr>
                                      <p:tavLst>
                                        <p:tav tm="0">
                                          <p:val>
                                            <p:fltVal val="0"/>
                                          </p:val>
                                        </p:tav>
                                        <p:tav tm="100000">
                                          <p:val>
                                            <p:strVal val="#ppt_w"/>
                                          </p:val>
                                        </p:tav>
                                      </p:tavLst>
                                    </p:anim>
                                    <p:anim calcmode="lin" valueType="num">
                                      <p:cBhvr>
                                        <p:cTn id="71" dur="500" fill="hold"/>
                                        <p:tgtEl>
                                          <p:spTgt spid="13"/>
                                        </p:tgtEl>
                                        <p:attrNameLst>
                                          <p:attrName>ppt_h</p:attrName>
                                        </p:attrNameLst>
                                      </p:cBhvr>
                                      <p:tavLst>
                                        <p:tav tm="0">
                                          <p:val>
                                            <p:fltVal val="0"/>
                                          </p:val>
                                        </p:tav>
                                        <p:tav tm="100000">
                                          <p:val>
                                            <p:strVal val="#ppt_h"/>
                                          </p:val>
                                        </p:tav>
                                      </p:tavLst>
                                    </p:anim>
                                    <p:animEffect transition="in" filter="fade">
                                      <p:cBhvr>
                                        <p:cTn id="72" dur="500"/>
                                        <p:tgtEl>
                                          <p:spTgt spid="13"/>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anim calcmode="lin" valueType="num">
                                      <p:cBhvr>
                                        <p:cTn id="75" dur="500" fill="hold"/>
                                        <p:tgtEl>
                                          <p:spTgt spid="14"/>
                                        </p:tgtEl>
                                        <p:attrNameLst>
                                          <p:attrName>ppt_w</p:attrName>
                                        </p:attrNameLst>
                                      </p:cBhvr>
                                      <p:tavLst>
                                        <p:tav tm="0">
                                          <p:val>
                                            <p:fltVal val="0"/>
                                          </p:val>
                                        </p:tav>
                                        <p:tav tm="100000">
                                          <p:val>
                                            <p:strVal val="#ppt_w"/>
                                          </p:val>
                                        </p:tav>
                                      </p:tavLst>
                                    </p:anim>
                                    <p:anim calcmode="lin" valueType="num">
                                      <p:cBhvr>
                                        <p:cTn id="76" dur="500" fill="hold"/>
                                        <p:tgtEl>
                                          <p:spTgt spid="14"/>
                                        </p:tgtEl>
                                        <p:attrNameLst>
                                          <p:attrName>ppt_h</p:attrName>
                                        </p:attrNameLst>
                                      </p:cBhvr>
                                      <p:tavLst>
                                        <p:tav tm="0">
                                          <p:val>
                                            <p:fltVal val="0"/>
                                          </p:val>
                                        </p:tav>
                                        <p:tav tm="100000">
                                          <p:val>
                                            <p:strVal val="#ppt_h"/>
                                          </p:val>
                                        </p:tav>
                                      </p:tavLst>
                                    </p:anim>
                                    <p:animEffect transition="in" filter="fade">
                                      <p:cBhvr>
                                        <p:cTn id="7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p:bldP spid="6" grpId="0"/>
      <p:bldP spid="6" grpId="1"/>
      <p:bldP spid="7" grpId="0"/>
      <p:bldP spid="8" grpId="0"/>
      <p:bldP spid="8" grpId="1"/>
      <p:bldP spid="9" grpId="0"/>
      <p:bldP spid="10" grpId="0"/>
      <p:bldP spid="10" grpId="1"/>
      <p:bldP spid="11" grpId="0"/>
      <p:bldP spid="12" grpId="0" animBg="1"/>
      <p:bldP spid="12" grpId="1" animBg="1"/>
      <p:bldP spid="13" grpId="0"/>
      <p:bldP spid="13" grpId="1"/>
      <p:bldP spid="1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sp>
        <p:nvSpPr>
          <p:cNvPr id="3" name="矩形 2">
            <a:extLst>
              <a:ext uri="{FF2B5EF4-FFF2-40B4-BE49-F238E27FC236}">
                <a16:creationId xmlns:a16="http://schemas.microsoft.com/office/drawing/2014/main" id="{37C083F2-0E99-4519-8938-09940A28B5F0}"/>
              </a:ext>
            </a:extLst>
          </p:cNvPr>
          <p:cNvSpPr/>
          <p:nvPr/>
        </p:nvSpPr>
        <p:spPr>
          <a:xfrm>
            <a:off x="580922" y="520573"/>
            <a:ext cx="319899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一、经济学中的成本</a:t>
            </a:r>
          </a:p>
        </p:txBody>
      </p:sp>
      <p:grpSp>
        <p:nvGrpSpPr>
          <p:cNvPr id="7" name="Group 21"/>
          <p:cNvGrpSpPr/>
          <p:nvPr/>
        </p:nvGrpSpPr>
        <p:grpSpPr>
          <a:xfrm rot="11624348">
            <a:off x="4465242" y="4949657"/>
            <a:ext cx="1135703" cy="970812"/>
            <a:chOff x="2208213" y="4308475"/>
            <a:chExt cx="1313851" cy="1123184"/>
          </a:xfrm>
          <a:solidFill>
            <a:srgbClr val="AFD9E6"/>
          </a:solidFill>
        </p:grpSpPr>
        <p:sp>
          <p:nvSpPr>
            <p:cNvPr id="8" name="Oval 18"/>
            <p:cNvSpPr>
              <a:spLocks noChangeArrowheads="1"/>
            </p:cNvSpPr>
            <p:nvPr/>
          </p:nvSpPr>
          <p:spPr bwMode="auto">
            <a:xfrm>
              <a:off x="2208213" y="4308475"/>
              <a:ext cx="885825" cy="889000"/>
            </a:xfrm>
            <a:prstGeom prst="ellipse">
              <a:avLst/>
            </a:prstGeom>
            <a:grpFill/>
            <a:ln>
              <a:noFill/>
            </a:ln>
          </p:spPr>
          <p:txBody>
            <a:bodyPr vert="horz" wrap="square" lIns="79409" tIns="39705" rIns="79409" bIns="39705" numCol="1" anchor="t" anchorCtr="0" compatLnSpc="1">
              <a:prstTxWarp prst="textNoShape">
                <a:avLst/>
              </a:prstTxWarp>
            </a:bodyPr>
            <a:lstStyle/>
            <a:p>
              <a:endParaRPr lang="id-ID" sz="1050" dirty="0">
                <a:ln>
                  <a:solidFill>
                    <a:schemeClr val="bg2"/>
                  </a:solidFill>
                </a:ln>
                <a:latin typeface="印品黑体" panose="00000500000000000000" pitchFamily="2" charset="-122"/>
                <a:ea typeface="印品黑体" panose="00000500000000000000" pitchFamily="2" charset="-122"/>
                <a:sym typeface="Arial" panose="020B0604020202020204" pitchFamily="34" charset="0"/>
              </a:endParaRPr>
            </a:p>
          </p:txBody>
        </p:sp>
        <p:sp>
          <p:nvSpPr>
            <p:cNvPr id="9" name="Freeform 31"/>
            <p:cNvSpPr>
              <a:spLocks/>
            </p:cNvSpPr>
            <p:nvPr/>
          </p:nvSpPr>
          <p:spPr bwMode="auto">
            <a:xfrm rot="2700000">
              <a:off x="3093668" y="5003263"/>
              <a:ext cx="330801" cy="525991"/>
            </a:xfrm>
            <a:custGeom>
              <a:avLst/>
              <a:gdLst>
                <a:gd name="T0" fmla="*/ 0 w 161"/>
                <a:gd name="T1" fmla="*/ 0 h 256"/>
                <a:gd name="T2" fmla="*/ 0 w 161"/>
                <a:gd name="T3" fmla="*/ 256 h 256"/>
                <a:gd name="T4" fmla="*/ 161 w 161"/>
                <a:gd name="T5" fmla="*/ 128 h 256"/>
                <a:gd name="T6" fmla="*/ 0 w 161"/>
                <a:gd name="T7" fmla="*/ 0 h 256"/>
              </a:gdLst>
              <a:ahLst/>
              <a:cxnLst>
                <a:cxn ang="0">
                  <a:pos x="T0" y="T1"/>
                </a:cxn>
                <a:cxn ang="0">
                  <a:pos x="T2" y="T3"/>
                </a:cxn>
                <a:cxn ang="0">
                  <a:pos x="T4" y="T5"/>
                </a:cxn>
                <a:cxn ang="0">
                  <a:pos x="T6" y="T7"/>
                </a:cxn>
              </a:cxnLst>
              <a:rect l="0" t="0" r="r" b="b"/>
              <a:pathLst>
                <a:path w="161" h="256">
                  <a:moveTo>
                    <a:pt x="0" y="0"/>
                  </a:moveTo>
                  <a:lnTo>
                    <a:pt x="0" y="256"/>
                  </a:lnTo>
                  <a:lnTo>
                    <a:pt x="161" y="128"/>
                  </a:lnTo>
                  <a:lnTo>
                    <a:pt x="0" y="0"/>
                  </a:lnTo>
                  <a:close/>
                </a:path>
              </a:pathLst>
            </a:custGeom>
            <a:grpFill/>
            <a:ln>
              <a:noFill/>
            </a:ln>
          </p:spPr>
          <p:txBody>
            <a:bodyPr vert="horz" wrap="square" lIns="79409" tIns="39705" rIns="79409" bIns="39705" numCol="1" anchor="t" anchorCtr="0" compatLnSpc="1">
              <a:prstTxWarp prst="textNoShape">
                <a:avLst/>
              </a:prstTxWarp>
            </a:bodyPr>
            <a:lstStyle/>
            <a:p>
              <a:endParaRPr lang="id-ID" sz="1050" dirty="0">
                <a:ln>
                  <a:solidFill>
                    <a:schemeClr val="bg2"/>
                  </a:solidFill>
                </a:ln>
                <a:latin typeface="印品黑体" panose="00000500000000000000" pitchFamily="2" charset="-122"/>
                <a:ea typeface="印品黑体" panose="00000500000000000000" pitchFamily="2" charset="-122"/>
                <a:sym typeface="Arial" panose="020B0604020202020204" pitchFamily="34" charset="0"/>
              </a:endParaRPr>
            </a:p>
          </p:txBody>
        </p:sp>
      </p:grpSp>
      <p:grpSp>
        <p:nvGrpSpPr>
          <p:cNvPr id="13" name="Group 14"/>
          <p:cNvGrpSpPr/>
          <p:nvPr/>
        </p:nvGrpSpPr>
        <p:grpSpPr>
          <a:xfrm rot="10123934">
            <a:off x="5314962" y="4364960"/>
            <a:ext cx="1113193" cy="951714"/>
            <a:chOff x="2208213" y="4308475"/>
            <a:chExt cx="1313851" cy="1123184"/>
          </a:xfrm>
          <a:solidFill>
            <a:srgbClr val="AFD9E6"/>
          </a:solidFill>
        </p:grpSpPr>
        <p:sp>
          <p:nvSpPr>
            <p:cNvPr id="14" name="Oval 18"/>
            <p:cNvSpPr>
              <a:spLocks noChangeArrowheads="1"/>
            </p:cNvSpPr>
            <p:nvPr/>
          </p:nvSpPr>
          <p:spPr bwMode="auto">
            <a:xfrm>
              <a:off x="2208213" y="4308475"/>
              <a:ext cx="885825" cy="889000"/>
            </a:xfrm>
            <a:prstGeom prst="ellipse">
              <a:avLst/>
            </a:prstGeom>
            <a:grpFill/>
            <a:ln>
              <a:noFill/>
            </a:ln>
          </p:spPr>
          <p:txBody>
            <a:bodyPr vert="horz" wrap="square" lIns="79409" tIns="39705" rIns="79409" bIns="39705" numCol="1" anchor="t" anchorCtr="0" compatLnSpc="1">
              <a:prstTxWarp prst="textNoShape">
                <a:avLst/>
              </a:prstTxWarp>
            </a:bodyPr>
            <a:lstStyle/>
            <a:p>
              <a:endParaRPr lang="id-ID" sz="1050" dirty="0">
                <a:ln>
                  <a:solidFill>
                    <a:schemeClr val="bg2"/>
                  </a:solidFill>
                </a:ln>
                <a:latin typeface="印品黑体" panose="00000500000000000000" pitchFamily="2" charset="-122"/>
                <a:ea typeface="印品黑体" panose="00000500000000000000" pitchFamily="2" charset="-122"/>
                <a:sym typeface="Arial" panose="020B0604020202020204" pitchFamily="34" charset="0"/>
              </a:endParaRPr>
            </a:p>
          </p:txBody>
        </p:sp>
        <p:sp>
          <p:nvSpPr>
            <p:cNvPr id="15" name="Freeform 31"/>
            <p:cNvSpPr>
              <a:spLocks/>
            </p:cNvSpPr>
            <p:nvPr/>
          </p:nvSpPr>
          <p:spPr bwMode="auto">
            <a:xfrm rot="2700000">
              <a:off x="3093668" y="5003263"/>
              <a:ext cx="330801" cy="525991"/>
            </a:xfrm>
            <a:custGeom>
              <a:avLst/>
              <a:gdLst>
                <a:gd name="T0" fmla="*/ 0 w 161"/>
                <a:gd name="T1" fmla="*/ 0 h 256"/>
                <a:gd name="T2" fmla="*/ 0 w 161"/>
                <a:gd name="T3" fmla="*/ 256 h 256"/>
                <a:gd name="T4" fmla="*/ 161 w 161"/>
                <a:gd name="T5" fmla="*/ 128 h 256"/>
                <a:gd name="T6" fmla="*/ 0 w 161"/>
                <a:gd name="T7" fmla="*/ 0 h 256"/>
              </a:gdLst>
              <a:ahLst/>
              <a:cxnLst>
                <a:cxn ang="0">
                  <a:pos x="T0" y="T1"/>
                </a:cxn>
                <a:cxn ang="0">
                  <a:pos x="T2" y="T3"/>
                </a:cxn>
                <a:cxn ang="0">
                  <a:pos x="T4" y="T5"/>
                </a:cxn>
                <a:cxn ang="0">
                  <a:pos x="T6" y="T7"/>
                </a:cxn>
              </a:cxnLst>
              <a:rect l="0" t="0" r="r" b="b"/>
              <a:pathLst>
                <a:path w="161" h="256">
                  <a:moveTo>
                    <a:pt x="0" y="0"/>
                  </a:moveTo>
                  <a:lnTo>
                    <a:pt x="0" y="256"/>
                  </a:lnTo>
                  <a:lnTo>
                    <a:pt x="161" y="128"/>
                  </a:lnTo>
                  <a:lnTo>
                    <a:pt x="0" y="0"/>
                  </a:lnTo>
                  <a:close/>
                </a:path>
              </a:pathLst>
            </a:custGeom>
            <a:grpFill/>
            <a:ln>
              <a:noFill/>
            </a:ln>
          </p:spPr>
          <p:txBody>
            <a:bodyPr vert="horz" wrap="square" lIns="79409" tIns="39705" rIns="79409" bIns="39705" numCol="1" anchor="t" anchorCtr="0" compatLnSpc="1">
              <a:prstTxWarp prst="textNoShape">
                <a:avLst/>
              </a:prstTxWarp>
            </a:bodyPr>
            <a:lstStyle/>
            <a:p>
              <a:endParaRPr lang="id-ID" sz="1050" dirty="0">
                <a:ln>
                  <a:solidFill>
                    <a:schemeClr val="bg2"/>
                  </a:solidFill>
                </a:ln>
                <a:latin typeface="印品黑体" panose="00000500000000000000" pitchFamily="2" charset="-122"/>
                <a:ea typeface="印品黑体" panose="00000500000000000000" pitchFamily="2" charset="-122"/>
                <a:sym typeface="Arial" panose="020B0604020202020204" pitchFamily="34" charset="0"/>
              </a:endParaRPr>
            </a:p>
          </p:txBody>
        </p:sp>
      </p:grpSp>
      <p:sp>
        <p:nvSpPr>
          <p:cNvPr id="16" name="Text Placeholder 7"/>
          <p:cNvSpPr txBox="1">
            <a:spLocks/>
          </p:cNvSpPr>
          <p:nvPr/>
        </p:nvSpPr>
        <p:spPr>
          <a:xfrm>
            <a:off x="5819596" y="4660321"/>
            <a:ext cx="506984" cy="484740"/>
          </a:xfrm>
          <a:prstGeom prst="rect">
            <a:avLst/>
          </a:prstGeom>
        </p:spPr>
        <p:txBody>
          <a:bodyPr vert="horz" lIns="0" tIns="90216" rIns="0" bIns="90216" anchor="ctr"/>
          <a:lstStyle>
            <a:lvl1pPr marL="0" indent="0" algn="ctr" defTabSz="914476" rtl="0" eaLnBrk="1" latinLnBrk="0" hangingPunct="1">
              <a:lnSpc>
                <a:spcPct val="100000"/>
              </a:lnSpc>
              <a:spcBef>
                <a:spcPts val="0"/>
              </a:spcBef>
              <a:buFont typeface="Arial" panose="020B0604020202020204" pitchFamily="34" charset="0"/>
              <a:buNone/>
              <a:defRPr sz="2966" b="1" kern="1200">
                <a:ln>
                  <a:noFill/>
                </a:ln>
                <a:solidFill>
                  <a:schemeClr val="bg1"/>
                </a:solidFill>
                <a:latin typeface="League Gothic Regular"/>
                <a:ea typeface="+mn-ea"/>
                <a:cs typeface="League Gothic Regular"/>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b="0" dirty="0">
                <a:solidFill>
                  <a:schemeClr val="tx1"/>
                </a:solidFill>
                <a:latin typeface="印品黑体" panose="00000500000000000000" pitchFamily="2" charset="-122"/>
                <a:ea typeface="印品黑体" panose="00000500000000000000" pitchFamily="2" charset="-122"/>
                <a:sym typeface="Arial" panose="020B0604020202020204" pitchFamily="34" charset="0"/>
              </a:rPr>
              <a:t>显性成本</a:t>
            </a:r>
          </a:p>
        </p:txBody>
      </p:sp>
      <p:sp>
        <p:nvSpPr>
          <p:cNvPr id="18" name="Text Placeholder 7"/>
          <p:cNvSpPr txBox="1">
            <a:spLocks/>
          </p:cNvSpPr>
          <p:nvPr/>
        </p:nvSpPr>
        <p:spPr>
          <a:xfrm>
            <a:off x="4900162" y="5346895"/>
            <a:ext cx="577191" cy="484740"/>
          </a:xfrm>
          <a:prstGeom prst="rect">
            <a:avLst/>
          </a:prstGeom>
        </p:spPr>
        <p:txBody>
          <a:bodyPr vert="horz" lIns="0" tIns="90216" rIns="0" bIns="90216" anchor="ctr"/>
          <a:lstStyle>
            <a:lvl1pPr marL="0" indent="0" algn="ctr" defTabSz="914476" rtl="0" eaLnBrk="1" latinLnBrk="0" hangingPunct="1">
              <a:lnSpc>
                <a:spcPct val="100000"/>
              </a:lnSpc>
              <a:spcBef>
                <a:spcPts val="0"/>
              </a:spcBef>
              <a:buFont typeface="Arial" panose="020B0604020202020204" pitchFamily="34" charset="0"/>
              <a:buNone/>
              <a:defRPr sz="2966" b="1" kern="1200">
                <a:solidFill>
                  <a:schemeClr val="bg1"/>
                </a:solidFill>
                <a:latin typeface="League Gothic Regular"/>
                <a:ea typeface="+mn-ea"/>
                <a:cs typeface="League Gothic Regular"/>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b="0" dirty="0">
                <a:solidFill>
                  <a:schemeClr val="tx1"/>
                </a:solidFill>
                <a:latin typeface="印品黑体" panose="00000500000000000000" pitchFamily="2" charset="-122"/>
                <a:ea typeface="印品黑体" panose="00000500000000000000" pitchFamily="2" charset="-122"/>
                <a:sym typeface="Arial" panose="020B0604020202020204" pitchFamily="34" charset="0"/>
              </a:rPr>
              <a:t>隐性成本</a:t>
            </a:r>
          </a:p>
        </p:txBody>
      </p:sp>
      <p:sp>
        <p:nvSpPr>
          <p:cNvPr id="20" name="Text Placeholder 7"/>
          <p:cNvSpPr txBox="1">
            <a:spLocks/>
          </p:cNvSpPr>
          <p:nvPr/>
        </p:nvSpPr>
        <p:spPr>
          <a:xfrm>
            <a:off x="5627148" y="5743323"/>
            <a:ext cx="3226680" cy="484740"/>
          </a:xfrm>
          <a:prstGeom prst="rect">
            <a:avLst/>
          </a:prstGeom>
        </p:spPr>
        <p:txBody>
          <a:bodyPr vert="horz" lIns="0" tIns="90216" rIns="0" bIns="90216" anchor="ctr"/>
          <a:lstStyle>
            <a:lvl1pPr marL="0" indent="0" algn="ctr" defTabSz="914476" rtl="0" eaLnBrk="1" latinLnBrk="0" hangingPunct="1">
              <a:lnSpc>
                <a:spcPct val="100000"/>
              </a:lnSpc>
              <a:spcBef>
                <a:spcPts val="0"/>
              </a:spcBef>
              <a:buFont typeface="Arial" panose="020B0604020202020204" pitchFamily="34" charset="0"/>
              <a:buNone/>
              <a:defRPr sz="2966" b="1" kern="1200">
                <a:solidFill>
                  <a:schemeClr val="bg1"/>
                </a:solidFill>
                <a:latin typeface="League Gothic Regular"/>
                <a:ea typeface="+mn-ea"/>
                <a:cs typeface="League Gothic Regular"/>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600" b="0" dirty="0">
                <a:solidFill>
                  <a:srgbClr val="CC3939"/>
                </a:solidFill>
                <a:latin typeface="微软雅黑" panose="020B0503020204020204" pitchFamily="34" charset="-122"/>
                <a:ea typeface="微软雅黑" panose="020B0503020204020204" pitchFamily="34" charset="-122"/>
                <a:sym typeface="Arial" panose="020B0604020202020204" pitchFamily="34" charset="0"/>
              </a:rPr>
              <a:t>经济成本</a:t>
            </a:r>
            <a:r>
              <a:rPr lang="en-US" altLang="zh-CN" sz="1600" b="0" dirty="0">
                <a:solidFill>
                  <a:srgbClr val="CC3939"/>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1600" b="0" dirty="0">
                <a:solidFill>
                  <a:srgbClr val="CC3939"/>
                </a:solidFill>
                <a:latin typeface="微软雅黑" panose="020B0503020204020204" pitchFamily="34" charset="-122"/>
                <a:ea typeface="微软雅黑" panose="020B0503020204020204" pitchFamily="34" charset="-122"/>
                <a:sym typeface="Arial" panose="020B0604020202020204" pitchFamily="34" charset="0"/>
              </a:rPr>
              <a:t>显性成本</a:t>
            </a:r>
            <a:r>
              <a:rPr lang="en-US" altLang="zh-CN" sz="1600" b="0" dirty="0">
                <a:solidFill>
                  <a:srgbClr val="CC3939"/>
                </a:solidFill>
                <a:latin typeface="微软雅黑" panose="020B0503020204020204" pitchFamily="34" charset="-122"/>
                <a:ea typeface="微软雅黑" panose="020B0503020204020204" pitchFamily="34" charset="-122"/>
                <a:sym typeface="Arial" panose="020B0604020202020204" pitchFamily="34" charset="0"/>
              </a:rPr>
              <a:t>+</a:t>
            </a:r>
            <a:r>
              <a:rPr lang="zh-CN" altLang="en-US" sz="1600" b="0" dirty="0">
                <a:solidFill>
                  <a:srgbClr val="CC3939"/>
                </a:solidFill>
                <a:latin typeface="微软雅黑" panose="020B0503020204020204" pitchFamily="34" charset="-122"/>
                <a:ea typeface="微软雅黑" panose="020B0503020204020204" pitchFamily="34" charset="-122"/>
                <a:sym typeface="Arial" panose="020B0604020202020204" pitchFamily="34" charset="0"/>
              </a:rPr>
              <a:t>隐性成本</a:t>
            </a:r>
            <a:endParaRPr lang="es-ES_tradnl" sz="1600" b="0" dirty="0">
              <a:solidFill>
                <a:srgbClr val="CC3939"/>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24" name="Shape 1719"/>
          <p:cNvSpPr/>
          <p:nvPr/>
        </p:nvSpPr>
        <p:spPr>
          <a:xfrm>
            <a:off x="2611171" y="3054266"/>
            <a:ext cx="1558843" cy="1870406"/>
          </a:xfrm>
          <a:custGeom>
            <a:avLst/>
            <a:gdLst/>
            <a:ahLst/>
            <a:cxnLst>
              <a:cxn ang="0">
                <a:pos x="wd2" y="hd2"/>
              </a:cxn>
              <a:cxn ang="5400000">
                <a:pos x="wd2" y="hd2"/>
              </a:cxn>
              <a:cxn ang="10800000">
                <a:pos x="wd2" y="hd2"/>
              </a:cxn>
              <a:cxn ang="16200000">
                <a:pos x="wd2" y="hd2"/>
              </a:cxn>
            </a:cxnLst>
            <a:rect l="0" t="0" r="r" b="b"/>
            <a:pathLst>
              <a:path w="21600" h="21600" extrusionOk="0">
                <a:moveTo>
                  <a:pt x="21544" y="21600"/>
                </a:moveTo>
                <a:lnTo>
                  <a:pt x="17863" y="16372"/>
                </a:lnTo>
                <a:lnTo>
                  <a:pt x="21600" y="11064"/>
                </a:lnTo>
                <a:cubicBezTo>
                  <a:pt x="16705" y="10632"/>
                  <a:pt x="12832" y="7246"/>
                  <a:pt x="12619" y="3093"/>
                </a:cubicBezTo>
                <a:lnTo>
                  <a:pt x="6294" y="0"/>
                </a:lnTo>
                <a:lnTo>
                  <a:pt x="0" y="3080"/>
                </a:lnTo>
                <a:cubicBezTo>
                  <a:pt x="216" y="13022"/>
                  <a:pt x="9708" y="21118"/>
                  <a:pt x="21544" y="21600"/>
                </a:cubicBezTo>
                <a:close/>
              </a:path>
            </a:pathLst>
          </a:custGeom>
          <a:solidFill>
            <a:srgbClr val="C3C9D7"/>
          </a:solidFill>
          <a:ln w="12700">
            <a:miter lim="400000"/>
          </a:ln>
        </p:spPr>
        <p:txBody>
          <a:bodyPr lIns="9813" tIns="9813" rIns="9813" bIns="9813" anchor="ctr"/>
          <a:lstStyle/>
          <a:p>
            <a:pPr defTabSz="117754">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800" dirty="0">
              <a:latin typeface="印品黑体" panose="00000500000000000000" pitchFamily="2" charset="-122"/>
              <a:ea typeface="印品黑体" panose="00000500000000000000" pitchFamily="2" charset="-122"/>
              <a:sym typeface="Arial" panose="020B0604020202020204" pitchFamily="34" charset="0"/>
            </a:endParaRPr>
          </a:p>
        </p:txBody>
      </p:sp>
      <p:sp>
        <p:nvSpPr>
          <p:cNvPr id="25" name="Shape 1720"/>
          <p:cNvSpPr/>
          <p:nvPr/>
        </p:nvSpPr>
        <p:spPr>
          <a:xfrm>
            <a:off x="3981973" y="3367914"/>
            <a:ext cx="1870348" cy="1559044"/>
          </a:xfrm>
          <a:custGeom>
            <a:avLst/>
            <a:gdLst/>
            <a:ahLst/>
            <a:cxnLst>
              <a:cxn ang="0">
                <a:pos x="wd2" y="hd2"/>
              </a:cxn>
              <a:cxn ang="5400000">
                <a:pos x="wd2" y="hd2"/>
              </a:cxn>
              <a:cxn ang="10800000">
                <a:pos x="wd2" y="hd2"/>
              </a:cxn>
              <a:cxn ang="16200000">
                <a:pos x="wd2" y="hd2"/>
              </a:cxn>
            </a:cxnLst>
            <a:rect l="0" t="0" r="r" b="b"/>
            <a:pathLst>
              <a:path w="21600" h="21600" extrusionOk="0">
                <a:moveTo>
                  <a:pt x="0" y="15305"/>
                </a:moveTo>
                <a:lnTo>
                  <a:pt x="3079" y="21600"/>
                </a:lnTo>
                <a:cubicBezTo>
                  <a:pt x="13022" y="21383"/>
                  <a:pt x="21117" y="11891"/>
                  <a:pt x="21600" y="57"/>
                </a:cubicBezTo>
                <a:lnTo>
                  <a:pt x="16372" y="3738"/>
                </a:lnTo>
                <a:lnTo>
                  <a:pt x="11063" y="0"/>
                </a:lnTo>
                <a:cubicBezTo>
                  <a:pt x="10631" y="4895"/>
                  <a:pt x="7245" y="8768"/>
                  <a:pt x="3093" y="8981"/>
                </a:cubicBezTo>
                <a:cubicBezTo>
                  <a:pt x="3093" y="8981"/>
                  <a:pt x="0" y="15305"/>
                  <a:pt x="0" y="15305"/>
                </a:cubicBezTo>
                <a:close/>
              </a:path>
            </a:pathLst>
          </a:custGeom>
          <a:solidFill>
            <a:srgbClr val="C3C9D7"/>
          </a:solidFill>
          <a:ln w="12700">
            <a:miter lim="400000"/>
          </a:ln>
        </p:spPr>
        <p:txBody>
          <a:bodyPr lIns="9813" tIns="9813" rIns="9813" bIns="9813" anchor="ctr"/>
          <a:lstStyle/>
          <a:p>
            <a:pPr defTabSz="117754">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800" dirty="0">
              <a:latin typeface="印品黑体" panose="00000500000000000000" pitchFamily="2" charset="-122"/>
              <a:ea typeface="印品黑体" panose="00000500000000000000" pitchFamily="2" charset="-122"/>
              <a:sym typeface="Arial" panose="020B0604020202020204" pitchFamily="34" charset="0"/>
            </a:endParaRPr>
          </a:p>
        </p:txBody>
      </p:sp>
      <p:sp>
        <p:nvSpPr>
          <p:cNvPr id="26" name="Shape 1721"/>
          <p:cNvSpPr/>
          <p:nvPr/>
        </p:nvSpPr>
        <p:spPr>
          <a:xfrm>
            <a:off x="4283968" y="1700808"/>
            <a:ext cx="1558843" cy="1870406"/>
          </a:xfrm>
          <a:custGeom>
            <a:avLst/>
            <a:gdLst/>
            <a:ahLst/>
            <a:cxnLst>
              <a:cxn ang="0">
                <a:pos x="wd2" y="hd2"/>
              </a:cxn>
              <a:cxn ang="5400000">
                <a:pos x="wd2" y="hd2"/>
              </a:cxn>
              <a:cxn ang="10800000">
                <a:pos x="wd2" y="hd2"/>
              </a:cxn>
              <a:cxn ang="16200000">
                <a:pos x="wd2" y="hd2"/>
              </a:cxn>
            </a:cxnLst>
            <a:rect l="0" t="0" r="r" b="b"/>
            <a:pathLst>
              <a:path w="21600" h="21600" extrusionOk="0">
                <a:moveTo>
                  <a:pt x="21600" y="18521"/>
                </a:moveTo>
                <a:cubicBezTo>
                  <a:pt x="21384" y="8578"/>
                  <a:pt x="11891" y="483"/>
                  <a:pt x="56" y="0"/>
                </a:cubicBezTo>
                <a:lnTo>
                  <a:pt x="3737" y="5228"/>
                </a:lnTo>
                <a:lnTo>
                  <a:pt x="0" y="10536"/>
                </a:lnTo>
                <a:cubicBezTo>
                  <a:pt x="4895" y="10968"/>
                  <a:pt x="8767" y="14353"/>
                  <a:pt x="8981" y="18507"/>
                </a:cubicBezTo>
                <a:lnTo>
                  <a:pt x="15305" y="21600"/>
                </a:lnTo>
                <a:cubicBezTo>
                  <a:pt x="15305" y="21600"/>
                  <a:pt x="21600" y="18521"/>
                  <a:pt x="21600" y="18521"/>
                </a:cubicBezTo>
                <a:close/>
              </a:path>
            </a:pathLst>
          </a:custGeom>
          <a:solidFill>
            <a:srgbClr val="C3C9D7"/>
          </a:solidFill>
          <a:ln w="12700">
            <a:miter lim="400000"/>
          </a:ln>
        </p:spPr>
        <p:txBody>
          <a:bodyPr lIns="9813" tIns="9813" rIns="9813" bIns="9813" anchor="ctr"/>
          <a:lstStyle/>
          <a:p>
            <a:pPr defTabSz="117754">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800" dirty="0">
              <a:latin typeface="印品黑体" panose="00000500000000000000" pitchFamily="2" charset="-122"/>
              <a:ea typeface="印品黑体" panose="00000500000000000000" pitchFamily="2" charset="-122"/>
              <a:sym typeface="Arial" panose="020B0604020202020204" pitchFamily="34" charset="0"/>
            </a:endParaRPr>
          </a:p>
        </p:txBody>
      </p:sp>
      <p:sp>
        <p:nvSpPr>
          <p:cNvPr id="27" name="Shape 1722"/>
          <p:cNvSpPr/>
          <p:nvPr/>
        </p:nvSpPr>
        <p:spPr>
          <a:xfrm>
            <a:off x="2611170" y="1700810"/>
            <a:ext cx="1870348" cy="1558961"/>
          </a:xfrm>
          <a:custGeom>
            <a:avLst/>
            <a:gdLst/>
            <a:ahLst/>
            <a:cxnLst>
              <a:cxn ang="0">
                <a:pos x="wd2" y="hd2"/>
              </a:cxn>
              <a:cxn ang="5400000">
                <a:pos x="wd2" y="hd2"/>
              </a:cxn>
              <a:cxn ang="10800000">
                <a:pos x="wd2" y="hd2"/>
              </a:cxn>
              <a:cxn ang="16200000">
                <a:pos x="wd2" y="hd2"/>
              </a:cxn>
            </a:cxnLst>
            <a:rect l="0" t="0" r="r" b="b"/>
            <a:pathLst>
              <a:path w="21600" h="21600" extrusionOk="0">
                <a:moveTo>
                  <a:pt x="21600" y="6294"/>
                </a:moveTo>
                <a:lnTo>
                  <a:pt x="18521" y="0"/>
                </a:lnTo>
                <a:cubicBezTo>
                  <a:pt x="8577" y="216"/>
                  <a:pt x="483" y="9708"/>
                  <a:pt x="0" y="21544"/>
                </a:cubicBezTo>
                <a:lnTo>
                  <a:pt x="5227" y="17863"/>
                </a:lnTo>
                <a:lnTo>
                  <a:pt x="10537" y="21600"/>
                </a:lnTo>
                <a:cubicBezTo>
                  <a:pt x="10969" y="16705"/>
                  <a:pt x="14354" y="12832"/>
                  <a:pt x="18507" y="12619"/>
                </a:cubicBezTo>
                <a:cubicBezTo>
                  <a:pt x="18507" y="12619"/>
                  <a:pt x="21600" y="6294"/>
                  <a:pt x="21600" y="6294"/>
                </a:cubicBezTo>
                <a:close/>
              </a:path>
            </a:pathLst>
          </a:custGeom>
          <a:solidFill>
            <a:srgbClr val="C3C9D7"/>
          </a:solidFill>
          <a:ln w="12700">
            <a:miter lim="400000"/>
          </a:ln>
        </p:spPr>
        <p:txBody>
          <a:bodyPr lIns="9813" tIns="9813" rIns="9813" bIns="9813" anchor="ctr"/>
          <a:lstStyle/>
          <a:p>
            <a:pPr defTabSz="117754">
              <a:defRPr sz="3000">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800" dirty="0">
              <a:latin typeface="印品黑体" panose="00000500000000000000" pitchFamily="2" charset="-122"/>
              <a:ea typeface="印品黑体" panose="00000500000000000000" pitchFamily="2" charset="-122"/>
              <a:sym typeface="Arial" panose="020B0604020202020204" pitchFamily="34" charset="0"/>
            </a:endParaRPr>
          </a:p>
        </p:txBody>
      </p:sp>
      <p:sp>
        <p:nvSpPr>
          <p:cNvPr id="28" name="Text Placeholder 7"/>
          <p:cNvSpPr txBox="1">
            <a:spLocks/>
          </p:cNvSpPr>
          <p:nvPr/>
        </p:nvSpPr>
        <p:spPr>
          <a:xfrm>
            <a:off x="3292661" y="2069543"/>
            <a:ext cx="489782" cy="672199"/>
          </a:xfrm>
          <a:prstGeom prst="rect">
            <a:avLst/>
          </a:prstGeom>
        </p:spPr>
        <p:txBody>
          <a:bodyPr vert="horz" wrap="square" lIns="0" tIns="0" rIns="0" bIns="0" anchor="ctr"/>
          <a:lstStyle>
            <a:lvl1pPr marL="0" indent="0" algn="ctr" defTabSz="914476" rtl="0" eaLnBrk="1" latinLnBrk="0" hangingPunct="1">
              <a:lnSpc>
                <a:spcPct val="100000"/>
              </a:lnSpc>
              <a:spcBef>
                <a:spcPts val="0"/>
              </a:spcBef>
              <a:buFont typeface="Arial" panose="020B0604020202020204" pitchFamily="34" charset="0"/>
              <a:buNone/>
              <a:defRPr sz="2669" b="0" i="0" kern="1200">
                <a:solidFill>
                  <a:schemeClr val="bg1"/>
                </a:solidFill>
                <a:latin typeface="FontAwesome"/>
                <a:ea typeface="+mn-ea"/>
                <a:cs typeface="FontAwesome"/>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b="1"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企业成本</a:t>
            </a:r>
          </a:p>
        </p:txBody>
      </p:sp>
      <p:sp>
        <p:nvSpPr>
          <p:cNvPr id="29" name="Text Placeholder 7"/>
          <p:cNvSpPr txBox="1">
            <a:spLocks/>
          </p:cNvSpPr>
          <p:nvPr/>
        </p:nvSpPr>
        <p:spPr>
          <a:xfrm>
            <a:off x="3030734" y="3598322"/>
            <a:ext cx="503766" cy="677727"/>
          </a:xfrm>
          <a:prstGeom prst="rect">
            <a:avLst/>
          </a:prstGeom>
        </p:spPr>
        <p:txBody>
          <a:bodyPr vert="horz" wrap="square" lIns="0" tIns="0" rIns="0" bIns="0" anchor="ctr"/>
          <a:lstStyle>
            <a:lvl1pPr marL="0" indent="0" algn="ctr" defTabSz="914476" rtl="0" eaLnBrk="1" latinLnBrk="0" hangingPunct="1">
              <a:lnSpc>
                <a:spcPct val="100000"/>
              </a:lnSpc>
              <a:spcBef>
                <a:spcPts val="0"/>
              </a:spcBef>
              <a:buFont typeface="Arial" panose="020B0604020202020204" pitchFamily="34" charset="0"/>
              <a:buNone/>
              <a:defRPr sz="2669" b="0" i="0" kern="1200">
                <a:solidFill>
                  <a:schemeClr val="bg1"/>
                </a:solidFill>
                <a:latin typeface="FontAwesome"/>
                <a:ea typeface="+mn-ea"/>
                <a:cs typeface="FontAwesome"/>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b="1"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经济成本</a:t>
            </a:r>
          </a:p>
        </p:txBody>
      </p:sp>
      <p:sp>
        <p:nvSpPr>
          <p:cNvPr id="30" name="Text Placeholder 7"/>
          <p:cNvSpPr txBox="1">
            <a:spLocks/>
          </p:cNvSpPr>
          <p:nvPr/>
        </p:nvSpPr>
        <p:spPr>
          <a:xfrm>
            <a:off x="4931452" y="2383081"/>
            <a:ext cx="508825" cy="679618"/>
          </a:xfrm>
          <a:prstGeom prst="rect">
            <a:avLst/>
          </a:prstGeom>
        </p:spPr>
        <p:txBody>
          <a:bodyPr vert="horz" wrap="square" lIns="0" tIns="0" rIns="0" bIns="0" anchor="ctr"/>
          <a:lstStyle>
            <a:lvl1pPr marL="0" indent="0" algn="ctr" defTabSz="914476" rtl="0" eaLnBrk="1" latinLnBrk="0" hangingPunct="1">
              <a:lnSpc>
                <a:spcPct val="100000"/>
              </a:lnSpc>
              <a:spcBef>
                <a:spcPts val="0"/>
              </a:spcBef>
              <a:buFont typeface="Arial" panose="020B0604020202020204" pitchFamily="34" charset="0"/>
              <a:buNone/>
              <a:defRPr sz="2669" b="0" i="0" kern="1200">
                <a:solidFill>
                  <a:schemeClr val="bg1"/>
                </a:solidFill>
                <a:latin typeface="FontAwesome"/>
                <a:ea typeface="+mn-ea"/>
                <a:cs typeface="FontAwesome"/>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b="1"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会计成本</a:t>
            </a:r>
          </a:p>
        </p:txBody>
      </p:sp>
      <p:sp>
        <p:nvSpPr>
          <p:cNvPr id="31" name="Text Placeholder 7"/>
          <p:cNvSpPr txBox="1">
            <a:spLocks/>
          </p:cNvSpPr>
          <p:nvPr/>
        </p:nvSpPr>
        <p:spPr>
          <a:xfrm>
            <a:off x="4689443" y="3830708"/>
            <a:ext cx="508825" cy="679618"/>
          </a:xfrm>
          <a:prstGeom prst="rect">
            <a:avLst/>
          </a:prstGeom>
        </p:spPr>
        <p:txBody>
          <a:bodyPr vert="horz" wrap="square" lIns="0" tIns="0" rIns="0" bIns="0" anchor="ctr"/>
          <a:lstStyle>
            <a:lvl1pPr marL="0" indent="0" algn="ctr" defTabSz="914476" rtl="0" eaLnBrk="1" latinLnBrk="0" hangingPunct="1">
              <a:lnSpc>
                <a:spcPct val="100000"/>
              </a:lnSpc>
              <a:spcBef>
                <a:spcPts val="0"/>
              </a:spcBef>
              <a:buFont typeface="Arial" panose="020B0604020202020204" pitchFamily="34" charset="0"/>
              <a:buNone/>
              <a:defRPr sz="2669" b="0" i="0" kern="1200">
                <a:solidFill>
                  <a:schemeClr val="bg1"/>
                </a:solidFill>
                <a:latin typeface="FontAwesome"/>
                <a:ea typeface="+mn-ea"/>
                <a:cs typeface="FontAwesome"/>
              </a:defRPr>
            </a:lvl1pPr>
            <a:lvl2pPr marL="685858" indent="-228620" algn="l" defTabSz="91447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94" indent="-228620" algn="l" defTabSz="91447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333"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71"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809"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2048"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286"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524" indent="-228620" algn="l" defTabSz="91447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1800" b="1" dirty="0">
                <a:solidFill>
                  <a:schemeClr val="tx1"/>
                </a:solidFill>
                <a:latin typeface="微软雅黑" panose="020B0503020204020204" pitchFamily="34" charset="-122"/>
                <a:ea typeface="微软雅黑" panose="020B0503020204020204" pitchFamily="34" charset="-122"/>
                <a:sym typeface="Arial" panose="020B0604020202020204" pitchFamily="34" charset="0"/>
              </a:rPr>
              <a:t>机会成本</a:t>
            </a:r>
          </a:p>
        </p:txBody>
      </p:sp>
      <p:sp>
        <p:nvSpPr>
          <p:cNvPr id="32" name="矩形 31"/>
          <p:cNvSpPr/>
          <p:nvPr/>
        </p:nvSpPr>
        <p:spPr>
          <a:xfrm>
            <a:off x="1075957" y="1262616"/>
            <a:ext cx="2206660" cy="954107"/>
          </a:xfrm>
          <a:prstGeom prst="rect">
            <a:avLst/>
          </a:prstGeom>
        </p:spPr>
        <p:txBody>
          <a:bodyPr wrap="square">
            <a:spAutoFit/>
          </a:bodyPr>
          <a:lstStyle/>
          <a:p>
            <a:r>
              <a:rPr lang="en-US" sz="1400" dirty="0">
                <a:latin typeface="微软雅黑" panose="020B0503020204020204" pitchFamily="34" charset="-122"/>
                <a:ea typeface="微软雅黑" panose="020B0503020204020204" pitchFamily="34" charset="-122"/>
              </a:rPr>
              <a:t>企业的成本又称生产成本，是指在一定时期内，企业生产一定数量的产品所使用的生产要素的费用。</a:t>
            </a:r>
          </a:p>
        </p:txBody>
      </p:sp>
      <p:sp>
        <p:nvSpPr>
          <p:cNvPr id="33" name="矩形 32"/>
          <p:cNvSpPr/>
          <p:nvPr/>
        </p:nvSpPr>
        <p:spPr>
          <a:xfrm>
            <a:off x="5718925" y="1446326"/>
            <a:ext cx="2548999" cy="1169551"/>
          </a:xfrm>
          <a:prstGeom prst="rect">
            <a:avLst/>
          </a:prstGeom>
        </p:spPr>
        <p:txBody>
          <a:bodyPr wrap="square">
            <a:spAutoFit/>
          </a:bodyPr>
          <a:lstStyle/>
          <a:p>
            <a:r>
              <a:rPr lang="en-US" sz="1400" dirty="0">
                <a:latin typeface="微软雅黑" panose="020B0503020204020204" pitchFamily="34" charset="-122"/>
                <a:ea typeface="微软雅黑" panose="020B0503020204020204" pitchFamily="34" charset="-122"/>
              </a:rPr>
              <a:t>会计成本：会计账户上记录着的企业在过去一段时期内生产和经营过程中的实际支出。</a:t>
            </a:r>
            <a:r>
              <a:rPr lang="zh-CN" altLang="en-US" sz="1400" dirty="0">
                <a:latin typeface="微软雅黑" panose="020B0503020204020204" pitchFamily="34" charset="-122"/>
                <a:ea typeface="微软雅黑" panose="020B0503020204020204" pitchFamily="34" charset="-122"/>
              </a:rPr>
              <a:t>通常被用于对以往经济行为的审核和评价。</a:t>
            </a:r>
            <a:endParaRPr lang="en-US" sz="1400" dirty="0">
              <a:latin typeface="微软雅黑" panose="020B0503020204020204" pitchFamily="34" charset="-122"/>
              <a:ea typeface="微软雅黑" panose="020B0503020204020204" pitchFamily="34" charset="-122"/>
            </a:endParaRPr>
          </a:p>
        </p:txBody>
      </p:sp>
      <p:sp>
        <p:nvSpPr>
          <p:cNvPr id="34" name="矩形 33"/>
          <p:cNvSpPr/>
          <p:nvPr/>
        </p:nvSpPr>
        <p:spPr>
          <a:xfrm>
            <a:off x="5890211" y="2919871"/>
            <a:ext cx="2548998" cy="1169551"/>
          </a:xfrm>
          <a:prstGeom prst="rect">
            <a:avLst/>
          </a:prstGeom>
        </p:spPr>
        <p:txBody>
          <a:bodyPr wrap="square">
            <a:spAutoFit/>
          </a:bodyPr>
          <a:lstStyle/>
          <a:p>
            <a:r>
              <a:rPr lang="en-US" sz="1400" dirty="0">
                <a:latin typeface="微软雅黑" panose="020B0503020204020204" pitchFamily="34" charset="-122"/>
                <a:ea typeface="微软雅黑" panose="020B0503020204020204" pitchFamily="34" charset="-122"/>
              </a:rPr>
              <a:t>机会成本是指某项资源用于一种特定用途而不得不放弃掉的其他机会所带来的成本。</a:t>
            </a:r>
            <a:r>
              <a:rPr lang="zh-CN" altLang="en-US" sz="1400" dirty="0">
                <a:latin typeface="微软雅黑" panose="020B0503020204020204" pitchFamily="34" charset="-122"/>
                <a:ea typeface="微软雅黑" panose="020B0503020204020204" pitchFamily="34" charset="-122"/>
              </a:rPr>
              <a:t>通常由这项资源在其他用途中所能得到的最高收入加以衡量。</a:t>
            </a:r>
            <a:endParaRPr lang="en-US" sz="1400" dirty="0">
              <a:latin typeface="微软雅黑" panose="020B0503020204020204" pitchFamily="34" charset="-122"/>
              <a:ea typeface="微软雅黑" panose="020B0503020204020204" pitchFamily="34" charset="-122"/>
            </a:endParaRPr>
          </a:p>
        </p:txBody>
      </p:sp>
      <p:sp>
        <p:nvSpPr>
          <p:cNvPr id="35" name="矩形 34"/>
          <p:cNvSpPr/>
          <p:nvPr/>
        </p:nvSpPr>
        <p:spPr>
          <a:xfrm>
            <a:off x="6424928" y="4576796"/>
            <a:ext cx="1795470" cy="954107"/>
          </a:xfrm>
          <a:prstGeom prst="rect">
            <a:avLst/>
          </a:prstGeom>
        </p:spPr>
        <p:txBody>
          <a:bodyPr wrap="square">
            <a:spAutoFit/>
          </a:bodyPr>
          <a:lstStyle/>
          <a:p>
            <a:r>
              <a:rPr lang="en-US" sz="1400" dirty="0">
                <a:latin typeface="微软雅黑" panose="020B0503020204020204" pitchFamily="34" charset="-122"/>
                <a:ea typeface="微软雅黑" panose="020B0503020204020204" pitchFamily="34" charset="-122"/>
              </a:rPr>
              <a:t>显性成本是指企业为生产一定数量的产品购买生产要素所花费的实际支出。</a:t>
            </a:r>
          </a:p>
        </p:txBody>
      </p:sp>
      <p:sp>
        <p:nvSpPr>
          <p:cNvPr id="36" name="矩形 35"/>
          <p:cNvSpPr/>
          <p:nvPr/>
        </p:nvSpPr>
        <p:spPr>
          <a:xfrm>
            <a:off x="3148813" y="5489318"/>
            <a:ext cx="1903356" cy="738664"/>
          </a:xfrm>
          <a:prstGeom prst="rect">
            <a:avLst/>
          </a:prstGeom>
        </p:spPr>
        <p:txBody>
          <a:bodyPr wrap="square">
            <a:spAutoFit/>
          </a:bodyPr>
          <a:lstStyle/>
          <a:p>
            <a:r>
              <a:rPr lang="en-US" sz="1400" dirty="0">
                <a:latin typeface="微软雅黑" panose="020B0503020204020204" pitchFamily="34" charset="-122"/>
                <a:ea typeface="微软雅黑" panose="020B0503020204020204" pitchFamily="34" charset="-122"/>
              </a:rPr>
              <a:t>隐性成本是指企业使</a:t>
            </a:r>
            <a:r>
              <a:rPr lang="zh-CN" altLang="en-US" sz="1400" dirty="0">
                <a:latin typeface="微软雅黑" panose="020B0503020204020204" pitchFamily="34" charset="-122"/>
                <a:ea typeface="微软雅黑" panose="020B0503020204020204" pitchFamily="34" charset="-122"/>
              </a:rPr>
              <a:t>用</a:t>
            </a:r>
            <a:r>
              <a:rPr lang="en-US" sz="1400" dirty="0">
                <a:latin typeface="微软雅黑" panose="020B0503020204020204" pitchFamily="34" charset="-122"/>
                <a:ea typeface="微软雅黑" panose="020B0503020204020204" pitchFamily="34" charset="-122"/>
              </a:rPr>
              <a:t>自己所拥有生产要素的机会成本。</a:t>
            </a:r>
          </a:p>
        </p:txBody>
      </p:sp>
      <p:sp>
        <p:nvSpPr>
          <p:cNvPr id="37" name="矩形 36"/>
          <p:cNvSpPr/>
          <p:nvPr/>
        </p:nvSpPr>
        <p:spPr>
          <a:xfrm>
            <a:off x="410174" y="3277277"/>
            <a:ext cx="2034408" cy="1169551"/>
          </a:xfrm>
          <a:prstGeom prst="rect">
            <a:avLst/>
          </a:prstGeom>
        </p:spPr>
        <p:txBody>
          <a:bodyPr wrap="square">
            <a:spAutoFit/>
          </a:bodyPr>
          <a:lstStyle/>
          <a:p>
            <a:r>
              <a:rPr lang="en-US" sz="1400" dirty="0">
                <a:latin typeface="微软雅黑" panose="020B0503020204020204" pitchFamily="34" charset="-122"/>
                <a:ea typeface="微软雅黑" panose="020B0503020204020204" pitchFamily="34" charset="-122"/>
              </a:rPr>
              <a:t>显性成本和隐性成本都由机会成本衡量，沉没成本被排除在经济成本之外，在经济成本中包含了自然利润。</a:t>
            </a:r>
          </a:p>
        </p:txBody>
      </p:sp>
      <p:sp>
        <p:nvSpPr>
          <p:cNvPr id="4" name="线形标注 1 3"/>
          <p:cNvSpPr/>
          <p:nvPr/>
        </p:nvSpPr>
        <p:spPr bwMode="auto">
          <a:xfrm>
            <a:off x="124477" y="4902691"/>
            <a:ext cx="3024336" cy="1178463"/>
          </a:xfrm>
          <a:prstGeom prst="borderCallout1">
            <a:avLst>
              <a:gd name="adj1" fmla="val -86786"/>
              <a:gd name="adj2" fmla="val 101163"/>
              <a:gd name="adj3" fmla="val -2945"/>
              <a:gd name="adj4" fmla="val 4863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经济学者分析成本的目的在于考察企业决策，分析资源配置的结果与效率。需要衡量稀缺资源配置于不同用途上的代价，于是涉及了机会成本的概念。</a:t>
            </a:r>
          </a:p>
        </p:txBody>
      </p:sp>
    </p:spTree>
    <p:extLst>
      <p:ext uri="{BB962C8B-B14F-4D97-AF65-F5344CB8AC3E}">
        <p14:creationId xmlns:p14="http://schemas.microsoft.com/office/powerpoint/2010/main" val="100977524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grpId="0" nodeType="clickEffect">
                                  <p:stCondLst>
                                    <p:cond delay="0"/>
                                  </p:stCondLst>
                                  <p:childTnLst>
                                    <p:set>
                                      <p:cBhvr>
                                        <p:cTn id="13" dur="1" fill="hold">
                                          <p:stCondLst>
                                            <p:cond delay="0"/>
                                          </p:stCondLst>
                                        </p:cTn>
                                        <p:tgtEl>
                                          <p:spTgt spid="27"/>
                                        </p:tgtEl>
                                        <p:attrNameLst>
                                          <p:attrName>style.visibility</p:attrName>
                                        </p:attrNameLst>
                                      </p:cBhvr>
                                      <p:to>
                                        <p:strVal val="visible"/>
                                      </p:to>
                                    </p:set>
                                    <p:anim calcmode="lin" valueType="num">
                                      <p:cBhvr>
                                        <p:cTn id="14" dur="1000" fill="hold"/>
                                        <p:tgtEl>
                                          <p:spTgt spid="27"/>
                                        </p:tgtEl>
                                        <p:attrNameLst>
                                          <p:attrName>ppt_w</p:attrName>
                                        </p:attrNameLst>
                                      </p:cBhvr>
                                      <p:tavLst>
                                        <p:tav tm="0">
                                          <p:val>
                                            <p:fltVal val="0"/>
                                          </p:val>
                                        </p:tav>
                                        <p:tav tm="100000">
                                          <p:val>
                                            <p:strVal val="#ppt_w"/>
                                          </p:val>
                                        </p:tav>
                                      </p:tavLst>
                                    </p:anim>
                                    <p:anim calcmode="lin" valueType="num">
                                      <p:cBhvr>
                                        <p:cTn id="15" dur="1000" fill="hold"/>
                                        <p:tgtEl>
                                          <p:spTgt spid="27"/>
                                        </p:tgtEl>
                                        <p:attrNameLst>
                                          <p:attrName>ppt_h</p:attrName>
                                        </p:attrNameLst>
                                      </p:cBhvr>
                                      <p:tavLst>
                                        <p:tav tm="0">
                                          <p:val>
                                            <p:fltVal val="0"/>
                                          </p:val>
                                        </p:tav>
                                        <p:tav tm="100000">
                                          <p:val>
                                            <p:strVal val="#ppt_h"/>
                                          </p:val>
                                        </p:tav>
                                      </p:tavLst>
                                    </p:anim>
                                    <p:anim calcmode="lin" valueType="num">
                                      <p:cBhvr>
                                        <p:cTn id="16" dur="1000" fill="hold"/>
                                        <p:tgtEl>
                                          <p:spTgt spid="27"/>
                                        </p:tgtEl>
                                        <p:attrNameLst>
                                          <p:attrName>style.rotation</p:attrName>
                                        </p:attrNameLst>
                                      </p:cBhvr>
                                      <p:tavLst>
                                        <p:tav tm="0">
                                          <p:val>
                                            <p:fltVal val="90"/>
                                          </p:val>
                                        </p:tav>
                                        <p:tav tm="100000">
                                          <p:val>
                                            <p:fltVal val="0"/>
                                          </p:val>
                                        </p:tav>
                                      </p:tavLst>
                                    </p:anim>
                                    <p:animEffect transition="in" filter="fade">
                                      <p:cBhvr>
                                        <p:cTn id="17" dur="1000"/>
                                        <p:tgtEl>
                                          <p:spTgt spid="27"/>
                                        </p:tgtEl>
                                      </p:cBhvr>
                                    </p:animEffect>
                                  </p:childTnLst>
                                </p:cTn>
                              </p:par>
                              <p:par>
                                <p:cTn id="18" presetID="31" presetClass="entr" presetSubtype="0" fill="hold" grpId="0" nodeType="withEffect">
                                  <p:stCondLst>
                                    <p:cond delay="0"/>
                                  </p:stCondLst>
                                  <p:childTnLst>
                                    <p:set>
                                      <p:cBhvr>
                                        <p:cTn id="19" dur="1" fill="hold">
                                          <p:stCondLst>
                                            <p:cond delay="0"/>
                                          </p:stCondLst>
                                        </p:cTn>
                                        <p:tgtEl>
                                          <p:spTgt spid="28"/>
                                        </p:tgtEl>
                                        <p:attrNameLst>
                                          <p:attrName>style.visibility</p:attrName>
                                        </p:attrNameLst>
                                      </p:cBhvr>
                                      <p:to>
                                        <p:strVal val="visible"/>
                                      </p:to>
                                    </p:set>
                                    <p:anim calcmode="lin" valueType="num">
                                      <p:cBhvr>
                                        <p:cTn id="20" dur="1000" fill="hold"/>
                                        <p:tgtEl>
                                          <p:spTgt spid="28"/>
                                        </p:tgtEl>
                                        <p:attrNameLst>
                                          <p:attrName>ppt_w</p:attrName>
                                        </p:attrNameLst>
                                      </p:cBhvr>
                                      <p:tavLst>
                                        <p:tav tm="0">
                                          <p:val>
                                            <p:fltVal val="0"/>
                                          </p:val>
                                        </p:tav>
                                        <p:tav tm="100000">
                                          <p:val>
                                            <p:strVal val="#ppt_w"/>
                                          </p:val>
                                        </p:tav>
                                      </p:tavLst>
                                    </p:anim>
                                    <p:anim calcmode="lin" valueType="num">
                                      <p:cBhvr>
                                        <p:cTn id="21" dur="1000" fill="hold"/>
                                        <p:tgtEl>
                                          <p:spTgt spid="28"/>
                                        </p:tgtEl>
                                        <p:attrNameLst>
                                          <p:attrName>ppt_h</p:attrName>
                                        </p:attrNameLst>
                                      </p:cBhvr>
                                      <p:tavLst>
                                        <p:tav tm="0">
                                          <p:val>
                                            <p:fltVal val="0"/>
                                          </p:val>
                                        </p:tav>
                                        <p:tav tm="100000">
                                          <p:val>
                                            <p:strVal val="#ppt_h"/>
                                          </p:val>
                                        </p:tav>
                                      </p:tavLst>
                                    </p:anim>
                                    <p:anim calcmode="lin" valueType="num">
                                      <p:cBhvr>
                                        <p:cTn id="22" dur="1000" fill="hold"/>
                                        <p:tgtEl>
                                          <p:spTgt spid="28"/>
                                        </p:tgtEl>
                                        <p:attrNameLst>
                                          <p:attrName>style.rotation</p:attrName>
                                        </p:attrNameLst>
                                      </p:cBhvr>
                                      <p:tavLst>
                                        <p:tav tm="0">
                                          <p:val>
                                            <p:fltVal val="90"/>
                                          </p:val>
                                        </p:tav>
                                        <p:tav tm="100000">
                                          <p:val>
                                            <p:fltVal val="0"/>
                                          </p:val>
                                        </p:tav>
                                      </p:tavLst>
                                    </p:anim>
                                    <p:animEffect transition="in" filter="fade">
                                      <p:cBhvr>
                                        <p:cTn id="23" dur="1000"/>
                                        <p:tgtEl>
                                          <p:spTgt spid="28"/>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fade">
                                      <p:cBhvr>
                                        <p:cTn id="28" dur="1000"/>
                                        <p:tgtEl>
                                          <p:spTgt spid="32"/>
                                        </p:tgtEl>
                                      </p:cBhvr>
                                    </p:animEffect>
                                    <p:anim calcmode="lin" valueType="num">
                                      <p:cBhvr>
                                        <p:cTn id="29" dur="1000" fill="hold"/>
                                        <p:tgtEl>
                                          <p:spTgt spid="32"/>
                                        </p:tgtEl>
                                        <p:attrNameLst>
                                          <p:attrName>ppt_x</p:attrName>
                                        </p:attrNameLst>
                                      </p:cBhvr>
                                      <p:tavLst>
                                        <p:tav tm="0">
                                          <p:val>
                                            <p:strVal val="#ppt_x"/>
                                          </p:val>
                                        </p:tav>
                                        <p:tav tm="100000">
                                          <p:val>
                                            <p:strVal val="#ppt_x"/>
                                          </p:val>
                                        </p:tav>
                                      </p:tavLst>
                                    </p:anim>
                                    <p:anim calcmode="lin" valueType="num">
                                      <p:cBhvr>
                                        <p:cTn id="30"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1" presetClass="entr" presetSubtype="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p:cTn id="35" dur="1000" fill="hold"/>
                                        <p:tgtEl>
                                          <p:spTgt spid="26"/>
                                        </p:tgtEl>
                                        <p:attrNameLst>
                                          <p:attrName>ppt_w</p:attrName>
                                        </p:attrNameLst>
                                      </p:cBhvr>
                                      <p:tavLst>
                                        <p:tav tm="0">
                                          <p:val>
                                            <p:fltVal val="0"/>
                                          </p:val>
                                        </p:tav>
                                        <p:tav tm="100000">
                                          <p:val>
                                            <p:strVal val="#ppt_w"/>
                                          </p:val>
                                        </p:tav>
                                      </p:tavLst>
                                    </p:anim>
                                    <p:anim calcmode="lin" valueType="num">
                                      <p:cBhvr>
                                        <p:cTn id="36" dur="1000" fill="hold"/>
                                        <p:tgtEl>
                                          <p:spTgt spid="26"/>
                                        </p:tgtEl>
                                        <p:attrNameLst>
                                          <p:attrName>ppt_h</p:attrName>
                                        </p:attrNameLst>
                                      </p:cBhvr>
                                      <p:tavLst>
                                        <p:tav tm="0">
                                          <p:val>
                                            <p:fltVal val="0"/>
                                          </p:val>
                                        </p:tav>
                                        <p:tav tm="100000">
                                          <p:val>
                                            <p:strVal val="#ppt_h"/>
                                          </p:val>
                                        </p:tav>
                                      </p:tavLst>
                                    </p:anim>
                                    <p:anim calcmode="lin" valueType="num">
                                      <p:cBhvr>
                                        <p:cTn id="37" dur="1000" fill="hold"/>
                                        <p:tgtEl>
                                          <p:spTgt spid="26"/>
                                        </p:tgtEl>
                                        <p:attrNameLst>
                                          <p:attrName>style.rotation</p:attrName>
                                        </p:attrNameLst>
                                      </p:cBhvr>
                                      <p:tavLst>
                                        <p:tav tm="0">
                                          <p:val>
                                            <p:fltVal val="90"/>
                                          </p:val>
                                        </p:tav>
                                        <p:tav tm="100000">
                                          <p:val>
                                            <p:fltVal val="0"/>
                                          </p:val>
                                        </p:tav>
                                      </p:tavLst>
                                    </p:anim>
                                    <p:animEffect transition="in" filter="fade">
                                      <p:cBhvr>
                                        <p:cTn id="38" dur="1000"/>
                                        <p:tgtEl>
                                          <p:spTgt spid="26"/>
                                        </p:tgtEl>
                                      </p:cBhvr>
                                    </p:animEffect>
                                  </p:childTnLst>
                                </p:cTn>
                              </p:par>
                              <p:par>
                                <p:cTn id="39" presetID="3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anim calcmode="lin" valueType="num">
                                      <p:cBhvr>
                                        <p:cTn id="41" dur="1000" fill="hold"/>
                                        <p:tgtEl>
                                          <p:spTgt spid="30"/>
                                        </p:tgtEl>
                                        <p:attrNameLst>
                                          <p:attrName>ppt_w</p:attrName>
                                        </p:attrNameLst>
                                      </p:cBhvr>
                                      <p:tavLst>
                                        <p:tav tm="0">
                                          <p:val>
                                            <p:fltVal val="0"/>
                                          </p:val>
                                        </p:tav>
                                        <p:tav tm="100000">
                                          <p:val>
                                            <p:strVal val="#ppt_w"/>
                                          </p:val>
                                        </p:tav>
                                      </p:tavLst>
                                    </p:anim>
                                    <p:anim calcmode="lin" valueType="num">
                                      <p:cBhvr>
                                        <p:cTn id="42" dur="1000" fill="hold"/>
                                        <p:tgtEl>
                                          <p:spTgt spid="30"/>
                                        </p:tgtEl>
                                        <p:attrNameLst>
                                          <p:attrName>ppt_h</p:attrName>
                                        </p:attrNameLst>
                                      </p:cBhvr>
                                      <p:tavLst>
                                        <p:tav tm="0">
                                          <p:val>
                                            <p:fltVal val="0"/>
                                          </p:val>
                                        </p:tav>
                                        <p:tav tm="100000">
                                          <p:val>
                                            <p:strVal val="#ppt_h"/>
                                          </p:val>
                                        </p:tav>
                                      </p:tavLst>
                                    </p:anim>
                                    <p:anim calcmode="lin" valueType="num">
                                      <p:cBhvr>
                                        <p:cTn id="43" dur="1000" fill="hold"/>
                                        <p:tgtEl>
                                          <p:spTgt spid="30"/>
                                        </p:tgtEl>
                                        <p:attrNameLst>
                                          <p:attrName>style.rotation</p:attrName>
                                        </p:attrNameLst>
                                      </p:cBhvr>
                                      <p:tavLst>
                                        <p:tav tm="0">
                                          <p:val>
                                            <p:fltVal val="90"/>
                                          </p:val>
                                        </p:tav>
                                        <p:tav tm="100000">
                                          <p:val>
                                            <p:fltVal val="0"/>
                                          </p:val>
                                        </p:tav>
                                      </p:tavLst>
                                    </p:anim>
                                    <p:animEffect transition="in" filter="fade">
                                      <p:cBhvr>
                                        <p:cTn id="44" dur="1000"/>
                                        <p:tgtEl>
                                          <p:spTgt spid="30"/>
                                        </p:tgtEl>
                                      </p:cBhvr>
                                    </p:animEffect>
                                  </p:childTnLst>
                                </p:cTn>
                              </p:par>
                            </p:childTnLst>
                          </p:cTn>
                        </p:par>
                      </p:childTnLst>
                    </p:cTn>
                  </p:par>
                  <p:par>
                    <p:cTn id="45" fill="hold">
                      <p:stCondLst>
                        <p:cond delay="indefinite"/>
                      </p:stCondLst>
                      <p:childTnLst>
                        <p:par>
                          <p:cTn id="46" fill="hold">
                            <p:stCondLst>
                              <p:cond delay="0"/>
                            </p:stCondLst>
                            <p:childTnLst>
                              <p:par>
                                <p:cTn id="47" presetID="47" presetClass="entr" presetSubtype="0"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1000"/>
                                        <p:tgtEl>
                                          <p:spTgt spid="33"/>
                                        </p:tgtEl>
                                      </p:cBhvr>
                                    </p:animEffect>
                                    <p:anim calcmode="lin" valueType="num">
                                      <p:cBhvr>
                                        <p:cTn id="50" dur="1000" fill="hold"/>
                                        <p:tgtEl>
                                          <p:spTgt spid="33"/>
                                        </p:tgtEl>
                                        <p:attrNameLst>
                                          <p:attrName>ppt_x</p:attrName>
                                        </p:attrNameLst>
                                      </p:cBhvr>
                                      <p:tavLst>
                                        <p:tav tm="0">
                                          <p:val>
                                            <p:strVal val="#ppt_x"/>
                                          </p:val>
                                        </p:tav>
                                        <p:tav tm="100000">
                                          <p:val>
                                            <p:strVal val="#ppt_x"/>
                                          </p:val>
                                        </p:tav>
                                      </p:tavLst>
                                    </p:anim>
                                    <p:anim calcmode="lin" valueType="num">
                                      <p:cBhvr>
                                        <p:cTn id="51"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31" presetClass="entr" presetSubtype="0" fill="hold" grpId="0" nodeType="clickEffect">
                                  <p:stCondLst>
                                    <p:cond delay="0"/>
                                  </p:stCondLst>
                                  <p:childTnLst>
                                    <p:set>
                                      <p:cBhvr>
                                        <p:cTn id="55" dur="1" fill="hold">
                                          <p:stCondLst>
                                            <p:cond delay="0"/>
                                          </p:stCondLst>
                                        </p:cTn>
                                        <p:tgtEl>
                                          <p:spTgt spid="25"/>
                                        </p:tgtEl>
                                        <p:attrNameLst>
                                          <p:attrName>style.visibility</p:attrName>
                                        </p:attrNameLst>
                                      </p:cBhvr>
                                      <p:to>
                                        <p:strVal val="visible"/>
                                      </p:to>
                                    </p:set>
                                    <p:anim calcmode="lin" valueType="num">
                                      <p:cBhvr>
                                        <p:cTn id="56" dur="1000" fill="hold"/>
                                        <p:tgtEl>
                                          <p:spTgt spid="25"/>
                                        </p:tgtEl>
                                        <p:attrNameLst>
                                          <p:attrName>ppt_w</p:attrName>
                                        </p:attrNameLst>
                                      </p:cBhvr>
                                      <p:tavLst>
                                        <p:tav tm="0">
                                          <p:val>
                                            <p:fltVal val="0"/>
                                          </p:val>
                                        </p:tav>
                                        <p:tav tm="100000">
                                          <p:val>
                                            <p:strVal val="#ppt_w"/>
                                          </p:val>
                                        </p:tav>
                                      </p:tavLst>
                                    </p:anim>
                                    <p:anim calcmode="lin" valueType="num">
                                      <p:cBhvr>
                                        <p:cTn id="57" dur="1000" fill="hold"/>
                                        <p:tgtEl>
                                          <p:spTgt spid="25"/>
                                        </p:tgtEl>
                                        <p:attrNameLst>
                                          <p:attrName>ppt_h</p:attrName>
                                        </p:attrNameLst>
                                      </p:cBhvr>
                                      <p:tavLst>
                                        <p:tav tm="0">
                                          <p:val>
                                            <p:fltVal val="0"/>
                                          </p:val>
                                        </p:tav>
                                        <p:tav tm="100000">
                                          <p:val>
                                            <p:strVal val="#ppt_h"/>
                                          </p:val>
                                        </p:tav>
                                      </p:tavLst>
                                    </p:anim>
                                    <p:anim calcmode="lin" valueType="num">
                                      <p:cBhvr>
                                        <p:cTn id="58" dur="1000" fill="hold"/>
                                        <p:tgtEl>
                                          <p:spTgt spid="25"/>
                                        </p:tgtEl>
                                        <p:attrNameLst>
                                          <p:attrName>style.rotation</p:attrName>
                                        </p:attrNameLst>
                                      </p:cBhvr>
                                      <p:tavLst>
                                        <p:tav tm="0">
                                          <p:val>
                                            <p:fltVal val="90"/>
                                          </p:val>
                                        </p:tav>
                                        <p:tav tm="100000">
                                          <p:val>
                                            <p:fltVal val="0"/>
                                          </p:val>
                                        </p:tav>
                                      </p:tavLst>
                                    </p:anim>
                                    <p:animEffect transition="in" filter="fade">
                                      <p:cBhvr>
                                        <p:cTn id="59" dur="1000"/>
                                        <p:tgtEl>
                                          <p:spTgt spid="25"/>
                                        </p:tgtEl>
                                      </p:cBhvr>
                                    </p:animEffect>
                                  </p:childTnLst>
                                </p:cTn>
                              </p:par>
                              <p:par>
                                <p:cTn id="60" presetID="31" presetClass="entr" presetSubtype="0" fill="hold" grpId="0" nodeType="withEffect">
                                  <p:stCondLst>
                                    <p:cond delay="0"/>
                                  </p:stCondLst>
                                  <p:childTnLst>
                                    <p:set>
                                      <p:cBhvr>
                                        <p:cTn id="61" dur="1" fill="hold">
                                          <p:stCondLst>
                                            <p:cond delay="0"/>
                                          </p:stCondLst>
                                        </p:cTn>
                                        <p:tgtEl>
                                          <p:spTgt spid="31"/>
                                        </p:tgtEl>
                                        <p:attrNameLst>
                                          <p:attrName>style.visibility</p:attrName>
                                        </p:attrNameLst>
                                      </p:cBhvr>
                                      <p:to>
                                        <p:strVal val="visible"/>
                                      </p:to>
                                    </p:set>
                                    <p:anim calcmode="lin" valueType="num">
                                      <p:cBhvr>
                                        <p:cTn id="62" dur="1000" fill="hold"/>
                                        <p:tgtEl>
                                          <p:spTgt spid="31"/>
                                        </p:tgtEl>
                                        <p:attrNameLst>
                                          <p:attrName>ppt_w</p:attrName>
                                        </p:attrNameLst>
                                      </p:cBhvr>
                                      <p:tavLst>
                                        <p:tav tm="0">
                                          <p:val>
                                            <p:fltVal val="0"/>
                                          </p:val>
                                        </p:tav>
                                        <p:tav tm="100000">
                                          <p:val>
                                            <p:strVal val="#ppt_w"/>
                                          </p:val>
                                        </p:tav>
                                      </p:tavLst>
                                    </p:anim>
                                    <p:anim calcmode="lin" valueType="num">
                                      <p:cBhvr>
                                        <p:cTn id="63" dur="1000" fill="hold"/>
                                        <p:tgtEl>
                                          <p:spTgt spid="31"/>
                                        </p:tgtEl>
                                        <p:attrNameLst>
                                          <p:attrName>ppt_h</p:attrName>
                                        </p:attrNameLst>
                                      </p:cBhvr>
                                      <p:tavLst>
                                        <p:tav tm="0">
                                          <p:val>
                                            <p:fltVal val="0"/>
                                          </p:val>
                                        </p:tav>
                                        <p:tav tm="100000">
                                          <p:val>
                                            <p:strVal val="#ppt_h"/>
                                          </p:val>
                                        </p:tav>
                                      </p:tavLst>
                                    </p:anim>
                                    <p:anim calcmode="lin" valueType="num">
                                      <p:cBhvr>
                                        <p:cTn id="64" dur="1000" fill="hold"/>
                                        <p:tgtEl>
                                          <p:spTgt spid="31"/>
                                        </p:tgtEl>
                                        <p:attrNameLst>
                                          <p:attrName>style.rotation</p:attrName>
                                        </p:attrNameLst>
                                      </p:cBhvr>
                                      <p:tavLst>
                                        <p:tav tm="0">
                                          <p:val>
                                            <p:fltVal val="90"/>
                                          </p:val>
                                        </p:tav>
                                        <p:tav tm="100000">
                                          <p:val>
                                            <p:fltVal val="0"/>
                                          </p:val>
                                        </p:tav>
                                      </p:tavLst>
                                    </p:anim>
                                    <p:animEffect transition="in" filter="fade">
                                      <p:cBhvr>
                                        <p:cTn id="65" dur="1000"/>
                                        <p:tgtEl>
                                          <p:spTgt spid="31"/>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2" fill="hold" grpId="0" nodeType="clickEffect">
                                  <p:stCondLst>
                                    <p:cond delay="0"/>
                                  </p:stCondLst>
                                  <p:childTnLst>
                                    <p:set>
                                      <p:cBhvr>
                                        <p:cTn id="69" dur="1" fill="hold">
                                          <p:stCondLst>
                                            <p:cond delay="0"/>
                                          </p:stCondLst>
                                        </p:cTn>
                                        <p:tgtEl>
                                          <p:spTgt spid="34"/>
                                        </p:tgtEl>
                                        <p:attrNameLst>
                                          <p:attrName>style.visibility</p:attrName>
                                        </p:attrNameLst>
                                      </p:cBhvr>
                                      <p:to>
                                        <p:strVal val="visible"/>
                                      </p:to>
                                    </p:set>
                                    <p:anim calcmode="lin" valueType="num">
                                      <p:cBhvr additive="base">
                                        <p:cTn id="70" dur="500" fill="hold"/>
                                        <p:tgtEl>
                                          <p:spTgt spid="34"/>
                                        </p:tgtEl>
                                        <p:attrNameLst>
                                          <p:attrName>ppt_x</p:attrName>
                                        </p:attrNameLst>
                                      </p:cBhvr>
                                      <p:tavLst>
                                        <p:tav tm="0">
                                          <p:val>
                                            <p:strVal val="1+#ppt_w/2"/>
                                          </p:val>
                                        </p:tav>
                                        <p:tav tm="100000">
                                          <p:val>
                                            <p:strVal val="#ppt_x"/>
                                          </p:val>
                                        </p:tav>
                                      </p:tavLst>
                                    </p:anim>
                                    <p:anim calcmode="lin" valueType="num">
                                      <p:cBhvr additive="base">
                                        <p:cTn id="71"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1" presetClass="entr" presetSubtype="1" fill="hold" nodeType="click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wheel(1)">
                                      <p:cBhvr>
                                        <p:cTn id="76" dur="2000"/>
                                        <p:tgtEl>
                                          <p:spTgt spid="13"/>
                                        </p:tgtEl>
                                      </p:cBhvr>
                                    </p:animEffect>
                                  </p:childTnLst>
                                </p:cTn>
                              </p:par>
                              <p:par>
                                <p:cTn id="77" presetID="21" presetClass="entr" presetSubtype="1" fill="hold" grpId="0" nodeType="withEffect">
                                  <p:stCondLst>
                                    <p:cond delay="0"/>
                                  </p:stCondLst>
                                  <p:childTnLst>
                                    <p:set>
                                      <p:cBhvr>
                                        <p:cTn id="78" dur="1" fill="hold">
                                          <p:stCondLst>
                                            <p:cond delay="0"/>
                                          </p:stCondLst>
                                        </p:cTn>
                                        <p:tgtEl>
                                          <p:spTgt spid="16"/>
                                        </p:tgtEl>
                                        <p:attrNameLst>
                                          <p:attrName>style.visibility</p:attrName>
                                        </p:attrNameLst>
                                      </p:cBhvr>
                                      <p:to>
                                        <p:strVal val="visible"/>
                                      </p:to>
                                    </p:set>
                                    <p:animEffect transition="in" filter="wheel(1)">
                                      <p:cBhvr>
                                        <p:cTn id="79" dur="2000"/>
                                        <p:tgtEl>
                                          <p:spTgt spid="16"/>
                                        </p:tgtEl>
                                      </p:cBhvr>
                                    </p:animEffect>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35"/>
                                        </p:tgtEl>
                                        <p:attrNameLst>
                                          <p:attrName>style.visibility</p:attrName>
                                        </p:attrNameLst>
                                      </p:cBhvr>
                                      <p:to>
                                        <p:strVal val="visible"/>
                                      </p:to>
                                    </p:set>
                                    <p:animEffect transition="in" filter="fade">
                                      <p:cBhvr>
                                        <p:cTn id="84" dur="1000"/>
                                        <p:tgtEl>
                                          <p:spTgt spid="35"/>
                                        </p:tgtEl>
                                      </p:cBhvr>
                                    </p:animEffect>
                                    <p:anim calcmode="lin" valueType="num">
                                      <p:cBhvr>
                                        <p:cTn id="85" dur="1000" fill="hold"/>
                                        <p:tgtEl>
                                          <p:spTgt spid="35"/>
                                        </p:tgtEl>
                                        <p:attrNameLst>
                                          <p:attrName>ppt_x</p:attrName>
                                        </p:attrNameLst>
                                      </p:cBhvr>
                                      <p:tavLst>
                                        <p:tav tm="0">
                                          <p:val>
                                            <p:strVal val="#ppt_x"/>
                                          </p:val>
                                        </p:tav>
                                        <p:tav tm="100000">
                                          <p:val>
                                            <p:strVal val="#ppt_x"/>
                                          </p:val>
                                        </p:tav>
                                      </p:tavLst>
                                    </p:anim>
                                    <p:anim calcmode="lin" valueType="num">
                                      <p:cBhvr>
                                        <p:cTn id="86"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1" presetClass="entr" presetSubtype="1" fill="hold" nodeType="clickEffect">
                                  <p:stCondLst>
                                    <p:cond delay="0"/>
                                  </p:stCondLst>
                                  <p:childTnLst>
                                    <p:set>
                                      <p:cBhvr>
                                        <p:cTn id="90" dur="1" fill="hold">
                                          <p:stCondLst>
                                            <p:cond delay="0"/>
                                          </p:stCondLst>
                                        </p:cTn>
                                        <p:tgtEl>
                                          <p:spTgt spid="7"/>
                                        </p:tgtEl>
                                        <p:attrNameLst>
                                          <p:attrName>style.visibility</p:attrName>
                                        </p:attrNameLst>
                                      </p:cBhvr>
                                      <p:to>
                                        <p:strVal val="visible"/>
                                      </p:to>
                                    </p:set>
                                    <p:animEffect transition="in" filter="wheel(1)">
                                      <p:cBhvr>
                                        <p:cTn id="91" dur="2000"/>
                                        <p:tgtEl>
                                          <p:spTgt spid="7"/>
                                        </p:tgtEl>
                                      </p:cBhvr>
                                    </p:animEffect>
                                  </p:childTnLst>
                                </p:cTn>
                              </p:par>
                              <p:par>
                                <p:cTn id="92" presetID="21" presetClass="entr" presetSubtype="1" fill="hold" grpId="0" nodeType="withEffect">
                                  <p:stCondLst>
                                    <p:cond delay="0"/>
                                  </p:stCondLst>
                                  <p:childTnLst>
                                    <p:set>
                                      <p:cBhvr>
                                        <p:cTn id="93" dur="1" fill="hold">
                                          <p:stCondLst>
                                            <p:cond delay="0"/>
                                          </p:stCondLst>
                                        </p:cTn>
                                        <p:tgtEl>
                                          <p:spTgt spid="18"/>
                                        </p:tgtEl>
                                        <p:attrNameLst>
                                          <p:attrName>style.visibility</p:attrName>
                                        </p:attrNameLst>
                                      </p:cBhvr>
                                      <p:to>
                                        <p:strVal val="visible"/>
                                      </p:to>
                                    </p:set>
                                    <p:animEffect transition="in" filter="wheel(1)">
                                      <p:cBhvr>
                                        <p:cTn id="94" dur="2000"/>
                                        <p:tgtEl>
                                          <p:spTgt spid="18"/>
                                        </p:tgtEl>
                                      </p:cBhvr>
                                    </p:animEffect>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grpId="0" nodeType="clickEffect">
                                  <p:stCondLst>
                                    <p:cond delay="0"/>
                                  </p:stCondLst>
                                  <p:childTnLst>
                                    <p:set>
                                      <p:cBhvr>
                                        <p:cTn id="98" dur="1" fill="hold">
                                          <p:stCondLst>
                                            <p:cond delay="0"/>
                                          </p:stCondLst>
                                        </p:cTn>
                                        <p:tgtEl>
                                          <p:spTgt spid="36"/>
                                        </p:tgtEl>
                                        <p:attrNameLst>
                                          <p:attrName>style.visibility</p:attrName>
                                        </p:attrNameLst>
                                      </p:cBhvr>
                                      <p:to>
                                        <p:strVal val="visible"/>
                                      </p:to>
                                    </p:set>
                                    <p:animEffect transition="in" filter="fade">
                                      <p:cBhvr>
                                        <p:cTn id="99" dur="1000"/>
                                        <p:tgtEl>
                                          <p:spTgt spid="36"/>
                                        </p:tgtEl>
                                      </p:cBhvr>
                                    </p:animEffect>
                                    <p:anim calcmode="lin" valueType="num">
                                      <p:cBhvr>
                                        <p:cTn id="100" dur="1000" fill="hold"/>
                                        <p:tgtEl>
                                          <p:spTgt spid="36"/>
                                        </p:tgtEl>
                                        <p:attrNameLst>
                                          <p:attrName>ppt_x</p:attrName>
                                        </p:attrNameLst>
                                      </p:cBhvr>
                                      <p:tavLst>
                                        <p:tav tm="0">
                                          <p:val>
                                            <p:strVal val="#ppt_x"/>
                                          </p:val>
                                        </p:tav>
                                        <p:tav tm="100000">
                                          <p:val>
                                            <p:strVal val="#ppt_x"/>
                                          </p:val>
                                        </p:tav>
                                      </p:tavLst>
                                    </p:anim>
                                    <p:anim calcmode="lin" valueType="num">
                                      <p:cBhvr>
                                        <p:cTn id="101"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31" presetClass="entr" presetSubtype="0" fill="hold" grpId="0" nodeType="clickEffect">
                                  <p:stCondLst>
                                    <p:cond delay="0"/>
                                  </p:stCondLst>
                                  <p:childTnLst>
                                    <p:set>
                                      <p:cBhvr>
                                        <p:cTn id="105" dur="1" fill="hold">
                                          <p:stCondLst>
                                            <p:cond delay="0"/>
                                          </p:stCondLst>
                                        </p:cTn>
                                        <p:tgtEl>
                                          <p:spTgt spid="24"/>
                                        </p:tgtEl>
                                        <p:attrNameLst>
                                          <p:attrName>style.visibility</p:attrName>
                                        </p:attrNameLst>
                                      </p:cBhvr>
                                      <p:to>
                                        <p:strVal val="visible"/>
                                      </p:to>
                                    </p:set>
                                    <p:anim calcmode="lin" valueType="num">
                                      <p:cBhvr>
                                        <p:cTn id="106" dur="1000" fill="hold"/>
                                        <p:tgtEl>
                                          <p:spTgt spid="24"/>
                                        </p:tgtEl>
                                        <p:attrNameLst>
                                          <p:attrName>ppt_w</p:attrName>
                                        </p:attrNameLst>
                                      </p:cBhvr>
                                      <p:tavLst>
                                        <p:tav tm="0">
                                          <p:val>
                                            <p:fltVal val="0"/>
                                          </p:val>
                                        </p:tav>
                                        <p:tav tm="100000">
                                          <p:val>
                                            <p:strVal val="#ppt_w"/>
                                          </p:val>
                                        </p:tav>
                                      </p:tavLst>
                                    </p:anim>
                                    <p:anim calcmode="lin" valueType="num">
                                      <p:cBhvr>
                                        <p:cTn id="107" dur="1000" fill="hold"/>
                                        <p:tgtEl>
                                          <p:spTgt spid="24"/>
                                        </p:tgtEl>
                                        <p:attrNameLst>
                                          <p:attrName>ppt_h</p:attrName>
                                        </p:attrNameLst>
                                      </p:cBhvr>
                                      <p:tavLst>
                                        <p:tav tm="0">
                                          <p:val>
                                            <p:fltVal val="0"/>
                                          </p:val>
                                        </p:tav>
                                        <p:tav tm="100000">
                                          <p:val>
                                            <p:strVal val="#ppt_h"/>
                                          </p:val>
                                        </p:tav>
                                      </p:tavLst>
                                    </p:anim>
                                    <p:anim calcmode="lin" valueType="num">
                                      <p:cBhvr>
                                        <p:cTn id="108" dur="1000" fill="hold"/>
                                        <p:tgtEl>
                                          <p:spTgt spid="24"/>
                                        </p:tgtEl>
                                        <p:attrNameLst>
                                          <p:attrName>style.rotation</p:attrName>
                                        </p:attrNameLst>
                                      </p:cBhvr>
                                      <p:tavLst>
                                        <p:tav tm="0">
                                          <p:val>
                                            <p:fltVal val="90"/>
                                          </p:val>
                                        </p:tav>
                                        <p:tav tm="100000">
                                          <p:val>
                                            <p:fltVal val="0"/>
                                          </p:val>
                                        </p:tav>
                                      </p:tavLst>
                                    </p:anim>
                                    <p:animEffect transition="in" filter="fade">
                                      <p:cBhvr>
                                        <p:cTn id="109" dur="1000"/>
                                        <p:tgtEl>
                                          <p:spTgt spid="24"/>
                                        </p:tgtEl>
                                      </p:cBhvr>
                                    </p:animEffect>
                                  </p:childTnLst>
                                </p:cTn>
                              </p:par>
                              <p:par>
                                <p:cTn id="110" presetID="31" presetClass="entr" presetSubtype="0" fill="hold" grpId="0" nodeType="withEffect">
                                  <p:stCondLst>
                                    <p:cond delay="0"/>
                                  </p:stCondLst>
                                  <p:childTnLst>
                                    <p:set>
                                      <p:cBhvr>
                                        <p:cTn id="111" dur="1" fill="hold">
                                          <p:stCondLst>
                                            <p:cond delay="0"/>
                                          </p:stCondLst>
                                        </p:cTn>
                                        <p:tgtEl>
                                          <p:spTgt spid="29"/>
                                        </p:tgtEl>
                                        <p:attrNameLst>
                                          <p:attrName>style.visibility</p:attrName>
                                        </p:attrNameLst>
                                      </p:cBhvr>
                                      <p:to>
                                        <p:strVal val="visible"/>
                                      </p:to>
                                    </p:set>
                                    <p:anim calcmode="lin" valueType="num">
                                      <p:cBhvr>
                                        <p:cTn id="112" dur="1000" fill="hold"/>
                                        <p:tgtEl>
                                          <p:spTgt spid="29"/>
                                        </p:tgtEl>
                                        <p:attrNameLst>
                                          <p:attrName>ppt_w</p:attrName>
                                        </p:attrNameLst>
                                      </p:cBhvr>
                                      <p:tavLst>
                                        <p:tav tm="0">
                                          <p:val>
                                            <p:fltVal val="0"/>
                                          </p:val>
                                        </p:tav>
                                        <p:tav tm="100000">
                                          <p:val>
                                            <p:strVal val="#ppt_w"/>
                                          </p:val>
                                        </p:tav>
                                      </p:tavLst>
                                    </p:anim>
                                    <p:anim calcmode="lin" valueType="num">
                                      <p:cBhvr>
                                        <p:cTn id="113" dur="1000" fill="hold"/>
                                        <p:tgtEl>
                                          <p:spTgt spid="29"/>
                                        </p:tgtEl>
                                        <p:attrNameLst>
                                          <p:attrName>ppt_h</p:attrName>
                                        </p:attrNameLst>
                                      </p:cBhvr>
                                      <p:tavLst>
                                        <p:tav tm="0">
                                          <p:val>
                                            <p:fltVal val="0"/>
                                          </p:val>
                                        </p:tav>
                                        <p:tav tm="100000">
                                          <p:val>
                                            <p:strVal val="#ppt_h"/>
                                          </p:val>
                                        </p:tav>
                                      </p:tavLst>
                                    </p:anim>
                                    <p:anim calcmode="lin" valueType="num">
                                      <p:cBhvr>
                                        <p:cTn id="114" dur="1000" fill="hold"/>
                                        <p:tgtEl>
                                          <p:spTgt spid="29"/>
                                        </p:tgtEl>
                                        <p:attrNameLst>
                                          <p:attrName>style.rotation</p:attrName>
                                        </p:attrNameLst>
                                      </p:cBhvr>
                                      <p:tavLst>
                                        <p:tav tm="0">
                                          <p:val>
                                            <p:fltVal val="90"/>
                                          </p:val>
                                        </p:tav>
                                        <p:tav tm="100000">
                                          <p:val>
                                            <p:fltVal val="0"/>
                                          </p:val>
                                        </p:tav>
                                      </p:tavLst>
                                    </p:anim>
                                    <p:animEffect transition="in" filter="fade">
                                      <p:cBhvr>
                                        <p:cTn id="115" dur="1000"/>
                                        <p:tgtEl>
                                          <p:spTgt spid="29"/>
                                        </p:tgtEl>
                                      </p:cBhvr>
                                    </p:animEffect>
                                  </p:childTnLst>
                                </p:cTn>
                              </p:par>
                              <p:par>
                                <p:cTn id="116" presetID="21" presetClass="entr" presetSubtype="1" fill="hold" grpId="0" nodeType="withEffect">
                                  <p:stCondLst>
                                    <p:cond delay="0"/>
                                  </p:stCondLst>
                                  <p:childTnLst>
                                    <p:set>
                                      <p:cBhvr>
                                        <p:cTn id="117" dur="1" fill="hold">
                                          <p:stCondLst>
                                            <p:cond delay="0"/>
                                          </p:stCondLst>
                                        </p:cTn>
                                        <p:tgtEl>
                                          <p:spTgt spid="20"/>
                                        </p:tgtEl>
                                        <p:attrNameLst>
                                          <p:attrName>style.visibility</p:attrName>
                                        </p:attrNameLst>
                                      </p:cBhvr>
                                      <p:to>
                                        <p:strVal val="visible"/>
                                      </p:to>
                                    </p:set>
                                    <p:animEffect transition="in" filter="wheel(1)">
                                      <p:cBhvr>
                                        <p:cTn id="118" dur="2000"/>
                                        <p:tgtEl>
                                          <p:spTgt spid="20"/>
                                        </p:tgtEl>
                                      </p:cBhvr>
                                    </p:animEffect>
                                  </p:childTnLst>
                                </p:cTn>
                              </p:par>
                            </p:childTnLst>
                          </p:cTn>
                        </p:par>
                      </p:childTnLst>
                    </p:cTn>
                  </p:par>
                  <p:par>
                    <p:cTn id="119" fill="hold">
                      <p:stCondLst>
                        <p:cond delay="indefinite"/>
                      </p:stCondLst>
                      <p:childTnLst>
                        <p:par>
                          <p:cTn id="120" fill="hold">
                            <p:stCondLst>
                              <p:cond delay="0"/>
                            </p:stCondLst>
                            <p:childTnLst>
                              <p:par>
                                <p:cTn id="121" presetID="47" presetClass="entr" presetSubtype="0" fill="hold" grpId="0" nodeType="clickEffect">
                                  <p:stCondLst>
                                    <p:cond delay="0"/>
                                  </p:stCondLst>
                                  <p:childTnLst>
                                    <p:set>
                                      <p:cBhvr>
                                        <p:cTn id="122" dur="1" fill="hold">
                                          <p:stCondLst>
                                            <p:cond delay="0"/>
                                          </p:stCondLst>
                                        </p:cTn>
                                        <p:tgtEl>
                                          <p:spTgt spid="37"/>
                                        </p:tgtEl>
                                        <p:attrNameLst>
                                          <p:attrName>style.visibility</p:attrName>
                                        </p:attrNameLst>
                                      </p:cBhvr>
                                      <p:to>
                                        <p:strVal val="visible"/>
                                      </p:to>
                                    </p:set>
                                    <p:animEffect transition="in" filter="fade">
                                      <p:cBhvr>
                                        <p:cTn id="123" dur="1000"/>
                                        <p:tgtEl>
                                          <p:spTgt spid="37"/>
                                        </p:tgtEl>
                                      </p:cBhvr>
                                    </p:animEffect>
                                    <p:anim calcmode="lin" valueType="num">
                                      <p:cBhvr>
                                        <p:cTn id="124" dur="1000" fill="hold"/>
                                        <p:tgtEl>
                                          <p:spTgt spid="37"/>
                                        </p:tgtEl>
                                        <p:attrNameLst>
                                          <p:attrName>ppt_x</p:attrName>
                                        </p:attrNameLst>
                                      </p:cBhvr>
                                      <p:tavLst>
                                        <p:tav tm="0">
                                          <p:val>
                                            <p:strVal val="#ppt_x"/>
                                          </p:val>
                                        </p:tav>
                                        <p:tav tm="100000">
                                          <p:val>
                                            <p:strVal val="#ppt_x"/>
                                          </p:val>
                                        </p:tav>
                                      </p:tavLst>
                                    </p:anim>
                                    <p:anim calcmode="lin" valueType="num">
                                      <p:cBhvr>
                                        <p:cTn id="125"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6" grpId="0"/>
      <p:bldP spid="18" grpId="0"/>
      <p:bldP spid="20" grpId="0"/>
      <p:bldP spid="24" grpId="0" animBg="1"/>
      <p:bldP spid="25" grpId="0" animBg="1"/>
      <p:bldP spid="26" grpId="0" animBg="1"/>
      <p:bldP spid="27" grpId="0" animBg="1"/>
      <p:bldP spid="28" grpId="0"/>
      <p:bldP spid="29" grpId="0"/>
      <p:bldP spid="30" grpId="0"/>
      <p:bldP spid="31" grpId="0"/>
      <p:bldP spid="32" grpId="0"/>
      <p:bldP spid="33" grpId="0"/>
      <p:bldP spid="34" grpId="0"/>
      <p:bldP spid="35" grpId="0"/>
      <p:bldP spid="36" grpId="0"/>
      <p:bldP spid="37"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任意多边形: 形状 20">
            <a:extLst>
              <a:ext uri="{FF2B5EF4-FFF2-40B4-BE49-F238E27FC236}">
                <a16:creationId xmlns:a16="http://schemas.microsoft.com/office/drawing/2014/main" id="{6160FB7D-FB87-4936-A780-22C32B7F06C3}"/>
              </a:ext>
            </a:extLst>
          </p:cNvPr>
          <p:cNvSpPr>
            <a:spLocks/>
          </p:cNvSpPr>
          <p:nvPr/>
        </p:nvSpPr>
        <p:spPr bwMode="auto">
          <a:xfrm>
            <a:off x="3910100" y="1144561"/>
            <a:ext cx="2174068" cy="2711468"/>
          </a:xfrm>
          <a:custGeom>
            <a:avLst/>
            <a:gdLst>
              <a:gd name="T0" fmla="*/ 2073 w 2073"/>
              <a:gd name="T1" fmla="*/ 2967 h 2967"/>
              <a:gd name="T2" fmla="*/ 782 w 2073"/>
              <a:gd name="T3" fmla="*/ 736 h 2967"/>
              <a:gd name="T4" fmla="*/ 996 w 2073"/>
              <a:gd name="T5" fmla="*/ 612 h 2967"/>
              <a:gd name="T6" fmla="*/ 0 w 2073"/>
              <a:gd name="T7" fmla="*/ 0 h 2967"/>
              <a:gd name="T8" fmla="*/ 32 w 2073"/>
              <a:gd name="T9" fmla="*/ 1169 h 2967"/>
              <a:gd name="T10" fmla="*/ 246 w 2073"/>
              <a:gd name="T11" fmla="*/ 1046 h 2967"/>
              <a:gd name="T12" fmla="*/ 1357 w 2073"/>
              <a:gd name="T13" fmla="*/ 2967 h 2967"/>
              <a:gd name="T14" fmla="*/ 2073 w 2073"/>
              <a:gd name="T15" fmla="*/ 2967 h 29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73" h="2967">
                <a:moveTo>
                  <a:pt x="2073" y="2967"/>
                </a:moveTo>
                <a:lnTo>
                  <a:pt x="782" y="736"/>
                </a:lnTo>
                <a:lnTo>
                  <a:pt x="996" y="612"/>
                </a:lnTo>
                <a:lnTo>
                  <a:pt x="0" y="0"/>
                </a:lnTo>
                <a:lnTo>
                  <a:pt x="32" y="1169"/>
                </a:lnTo>
                <a:lnTo>
                  <a:pt x="246" y="1046"/>
                </a:lnTo>
                <a:lnTo>
                  <a:pt x="1357" y="2967"/>
                </a:lnTo>
                <a:lnTo>
                  <a:pt x="2073" y="2967"/>
                </a:lnTo>
                <a:close/>
              </a:path>
            </a:pathLst>
          </a:custGeom>
          <a:solidFill>
            <a:srgbClr val="C3C9D7"/>
          </a:solidFill>
          <a:ln w="57150">
            <a:solidFill>
              <a:schemeClr val="bg1"/>
            </a:solidFill>
          </a:ln>
        </p:spPr>
        <p:txBody>
          <a:bodyPr anchor="ctr"/>
          <a:lstStyle/>
          <a:p>
            <a:pPr algn="ctr"/>
            <a:endParaRPr dirty="0"/>
          </a:p>
        </p:txBody>
      </p:sp>
      <p:sp>
        <p:nvSpPr>
          <p:cNvPr id="21" name="任意多边形: 形状 19">
            <a:extLst>
              <a:ext uri="{FF2B5EF4-FFF2-40B4-BE49-F238E27FC236}">
                <a16:creationId xmlns:a16="http://schemas.microsoft.com/office/drawing/2014/main" id="{E49B0E61-94C6-4594-8CBC-D6B4032E68F5}"/>
              </a:ext>
            </a:extLst>
          </p:cNvPr>
          <p:cNvSpPr>
            <a:spLocks/>
          </p:cNvSpPr>
          <p:nvPr/>
        </p:nvSpPr>
        <p:spPr bwMode="auto">
          <a:xfrm>
            <a:off x="3419872" y="3640005"/>
            <a:ext cx="3786003" cy="1015316"/>
          </a:xfrm>
          <a:custGeom>
            <a:avLst/>
            <a:gdLst>
              <a:gd name="T0" fmla="*/ 3610 w 3610"/>
              <a:gd name="T1" fmla="*/ 555 h 1111"/>
              <a:gd name="T2" fmla="*/ 2581 w 3610"/>
              <a:gd name="T3" fmla="*/ 0 h 1111"/>
              <a:gd name="T4" fmla="*/ 2581 w 3610"/>
              <a:gd name="T5" fmla="*/ 245 h 1111"/>
              <a:gd name="T6" fmla="*/ 358 w 3610"/>
              <a:gd name="T7" fmla="*/ 245 h 1111"/>
              <a:gd name="T8" fmla="*/ 0 w 3610"/>
              <a:gd name="T9" fmla="*/ 866 h 1111"/>
              <a:gd name="T10" fmla="*/ 2581 w 3610"/>
              <a:gd name="T11" fmla="*/ 866 h 1111"/>
              <a:gd name="T12" fmla="*/ 2581 w 3610"/>
              <a:gd name="T13" fmla="*/ 1111 h 1111"/>
              <a:gd name="T14" fmla="*/ 3610 w 3610"/>
              <a:gd name="T15" fmla="*/ 555 h 11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10" h="1111">
                <a:moveTo>
                  <a:pt x="3610" y="555"/>
                </a:moveTo>
                <a:lnTo>
                  <a:pt x="2581" y="0"/>
                </a:lnTo>
                <a:lnTo>
                  <a:pt x="2581" y="245"/>
                </a:lnTo>
                <a:lnTo>
                  <a:pt x="358" y="245"/>
                </a:lnTo>
                <a:lnTo>
                  <a:pt x="0" y="866"/>
                </a:lnTo>
                <a:lnTo>
                  <a:pt x="2581" y="866"/>
                </a:lnTo>
                <a:lnTo>
                  <a:pt x="2581" y="1111"/>
                </a:lnTo>
                <a:lnTo>
                  <a:pt x="3610" y="555"/>
                </a:lnTo>
                <a:close/>
              </a:path>
            </a:pathLst>
          </a:custGeom>
          <a:solidFill>
            <a:srgbClr val="C3C9D7"/>
          </a:solidFill>
          <a:ln w="57150">
            <a:solidFill>
              <a:schemeClr val="bg1"/>
            </a:solidFill>
          </a:ln>
        </p:spPr>
        <p:txBody>
          <a:bodyPr anchor="ctr"/>
          <a:lstStyle/>
          <a:p>
            <a:pPr algn="ctr"/>
            <a:endParaRPr dirty="0"/>
          </a:p>
        </p:txBody>
      </p:sp>
      <p:sp>
        <p:nvSpPr>
          <p:cNvPr id="19" name="任意多边形: 形状 21">
            <a:extLst>
              <a:ext uri="{FF2B5EF4-FFF2-40B4-BE49-F238E27FC236}">
                <a16:creationId xmlns:a16="http://schemas.microsoft.com/office/drawing/2014/main" id="{C11941C1-C807-4149-9F54-4488F1539D55}"/>
              </a:ext>
            </a:extLst>
          </p:cNvPr>
          <p:cNvSpPr>
            <a:spLocks/>
          </p:cNvSpPr>
          <p:nvPr/>
        </p:nvSpPr>
        <p:spPr bwMode="auto">
          <a:xfrm>
            <a:off x="2627784" y="2182830"/>
            <a:ext cx="1988438" cy="2992942"/>
          </a:xfrm>
          <a:custGeom>
            <a:avLst/>
            <a:gdLst>
              <a:gd name="T0" fmla="*/ 1896 w 1896"/>
              <a:gd name="T1" fmla="*/ 618 h 3275"/>
              <a:gd name="T2" fmla="*/ 1536 w 1896"/>
              <a:gd name="T3" fmla="*/ 0 h 3275"/>
              <a:gd name="T4" fmla="*/ 246 w 1896"/>
              <a:gd name="T5" fmla="*/ 2231 h 3275"/>
              <a:gd name="T6" fmla="*/ 33 w 1896"/>
              <a:gd name="T7" fmla="*/ 2108 h 3275"/>
              <a:gd name="T8" fmla="*/ 0 w 1896"/>
              <a:gd name="T9" fmla="*/ 3275 h 3275"/>
              <a:gd name="T10" fmla="*/ 998 w 1896"/>
              <a:gd name="T11" fmla="*/ 2664 h 3275"/>
              <a:gd name="T12" fmla="*/ 784 w 1896"/>
              <a:gd name="T13" fmla="*/ 2540 h 3275"/>
              <a:gd name="T14" fmla="*/ 1896 w 1896"/>
              <a:gd name="T15" fmla="*/ 618 h 32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96" h="3275">
                <a:moveTo>
                  <a:pt x="1896" y="618"/>
                </a:moveTo>
                <a:lnTo>
                  <a:pt x="1536" y="0"/>
                </a:lnTo>
                <a:lnTo>
                  <a:pt x="246" y="2231"/>
                </a:lnTo>
                <a:lnTo>
                  <a:pt x="33" y="2108"/>
                </a:lnTo>
                <a:lnTo>
                  <a:pt x="0" y="3275"/>
                </a:lnTo>
                <a:lnTo>
                  <a:pt x="998" y="2664"/>
                </a:lnTo>
                <a:lnTo>
                  <a:pt x="784" y="2540"/>
                </a:lnTo>
                <a:lnTo>
                  <a:pt x="1896" y="618"/>
                </a:lnTo>
                <a:close/>
              </a:path>
            </a:pathLst>
          </a:custGeom>
          <a:solidFill>
            <a:srgbClr val="C3C9D7"/>
          </a:solidFill>
          <a:ln w="57150">
            <a:solidFill>
              <a:schemeClr val="bg1"/>
            </a:solidFill>
          </a:ln>
        </p:spPr>
        <p:txBody>
          <a:bodyPr anchor="ctr"/>
          <a:lstStyle/>
          <a:p>
            <a:pPr algn="ctr"/>
            <a:endParaRPr dirty="0"/>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sp>
        <p:nvSpPr>
          <p:cNvPr id="22" name="矩形 21"/>
          <p:cNvSpPr/>
          <p:nvPr/>
        </p:nvSpPr>
        <p:spPr>
          <a:xfrm rot="18242620">
            <a:off x="2899678" y="3308456"/>
            <a:ext cx="1620957" cy="523220"/>
          </a:xfrm>
          <a:prstGeom prst="rect">
            <a:avLst/>
          </a:prstGeom>
        </p:spPr>
        <p:txBody>
          <a:bodyPr wrap="none">
            <a:spAutoFit/>
          </a:bodyPr>
          <a:lstStyle/>
          <a:p>
            <a:r>
              <a:rPr lang="en-US" sz="2800" b="1" dirty="0">
                <a:latin typeface="微软雅黑" panose="020B0503020204020204" pitchFamily="34" charset="-122"/>
                <a:ea typeface="微软雅黑" panose="020B0503020204020204" pitchFamily="34" charset="-122"/>
              </a:rPr>
              <a:t>经济利润</a:t>
            </a:r>
          </a:p>
        </p:txBody>
      </p:sp>
      <p:sp>
        <p:nvSpPr>
          <p:cNvPr id="23" name="矩形 22"/>
          <p:cNvSpPr/>
          <p:nvPr/>
        </p:nvSpPr>
        <p:spPr>
          <a:xfrm>
            <a:off x="658209" y="2248195"/>
            <a:ext cx="3088391" cy="830997"/>
          </a:xfrm>
          <a:prstGeom prst="rect">
            <a:avLst/>
          </a:prstGeom>
        </p:spPr>
        <p:txBody>
          <a:bodyPr wrap="square">
            <a:spAutoFit/>
          </a:bodyPr>
          <a:lstStyle/>
          <a:p>
            <a:pPr marL="285750" indent="-285750">
              <a:buFont typeface="Wingdings" panose="05000000000000000000" pitchFamily="2" charset="2"/>
              <a:buChar char="u"/>
            </a:pPr>
            <a:r>
              <a:rPr lang="en-US" sz="1600" dirty="0">
                <a:latin typeface="微软雅黑" panose="020B0503020204020204" pitchFamily="34" charset="-122"/>
                <a:ea typeface="微软雅黑" panose="020B0503020204020204" pitchFamily="34" charset="-122"/>
              </a:rPr>
              <a:t>经济利润是指企业销售产品获得的收益与经济成本之间的差额。</a:t>
            </a:r>
          </a:p>
        </p:txBody>
      </p:sp>
      <p:sp>
        <p:nvSpPr>
          <p:cNvPr id="24" name="矩形 23"/>
          <p:cNvSpPr/>
          <p:nvPr/>
        </p:nvSpPr>
        <p:spPr>
          <a:xfrm>
            <a:off x="4152773" y="3903201"/>
            <a:ext cx="1620957" cy="523220"/>
          </a:xfrm>
          <a:prstGeom prst="rect">
            <a:avLst/>
          </a:prstGeom>
        </p:spPr>
        <p:txBody>
          <a:bodyPr wrap="none">
            <a:spAutoFit/>
          </a:bodyPr>
          <a:lstStyle/>
          <a:p>
            <a:r>
              <a:rPr lang="en-US" sz="2800" b="1" dirty="0">
                <a:latin typeface="微软雅黑" panose="020B0503020204020204" pitchFamily="34" charset="-122"/>
                <a:ea typeface="微软雅黑" panose="020B0503020204020204" pitchFamily="34" charset="-122"/>
              </a:rPr>
              <a:t>会计利润</a:t>
            </a:r>
          </a:p>
        </p:txBody>
      </p:sp>
      <p:sp>
        <p:nvSpPr>
          <p:cNvPr id="25" name="矩形 24"/>
          <p:cNvSpPr/>
          <p:nvPr/>
        </p:nvSpPr>
        <p:spPr>
          <a:xfrm rot="3409097">
            <a:off x="3643054" y="2458469"/>
            <a:ext cx="2698175" cy="523220"/>
          </a:xfrm>
          <a:prstGeom prst="rect">
            <a:avLst/>
          </a:prstGeom>
        </p:spPr>
        <p:txBody>
          <a:bodyPr wrap="none">
            <a:spAutoFit/>
          </a:bodyPr>
          <a:lstStyle/>
          <a:p>
            <a:r>
              <a:rPr lang="en-US" sz="2800" b="1" dirty="0">
                <a:latin typeface="微软雅黑" panose="020B0503020204020204" pitchFamily="34" charset="-122"/>
                <a:ea typeface="微软雅黑" panose="020B0503020204020204" pitchFamily="34" charset="-122"/>
              </a:rPr>
              <a:t>决定成本的因素</a:t>
            </a:r>
          </a:p>
        </p:txBody>
      </p:sp>
      <p:sp>
        <p:nvSpPr>
          <p:cNvPr id="26" name="矩形 25"/>
          <p:cNvSpPr/>
          <p:nvPr/>
        </p:nvSpPr>
        <p:spPr>
          <a:xfrm>
            <a:off x="642941" y="3134477"/>
            <a:ext cx="2765501" cy="338554"/>
          </a:xfrm>
          <a:prstGeom prst="rect">
            <a:avLst/>
          </a:prstGeom>
        </p:spPr>
        <p:txBody>
          <a:bodyPr wrap="none">
            <a:spAutoFit/>
          </a:bodyPr>
          <a:lstStyle/>
          <a:p>
            <a:pPr marL="285750" indent="-285750">
              <a:buFont typeface="Wingdings" panose="05000000000000000000" pitchFamily="2" charset="2"/>
              <a:buChar char="Ø"/>
            </a:pPr>
            <a:r>
              <a:rPr lang="en-US" sz="1600" dirty="0">
                <a:latin typeface="微软雅黑" panose="020B0503020204020204" pitchFamily="34" charset="-122"/>
                <a:ea typeface="微软雅黑" panose="020B0503020204020204" pitchFamily="34" charset="-122"/>
              </a:rPr>
              <a:t>经济利润=收益-经济成本</a:t>
            </a:r>
          </a:p>
        </p:txBody>
      </p:sp>
      <p:sp>
        <p:nvSpPr>
          <p:cNvPr id="27" name="矩形 26"/>
          <p:cNvSpPr/>
          <p:nvPr/>
        </p:nvSpPr>
        <p:spPr>
          <a:xfrm>
            <a:off x="3525160" y="4927948"/>
            <a:ext cx="3351095" cy="584775"/>
          </a:xfrm>
          <a:prstGeom prst="rect">
            <a:avLst/>
          </a:prstGeom>
        </p:spPr>
        <p:txBody>
          <a:bodyPr wrap="square">
            <a:spAutoFit/>
          </a:bodyPr>
          <a:lstStyle/>
          <a:p>
            <a:pPr marL="285750" indent="-285750">
              <a:buFont typeface="Wingdings" panose="05000000000000000000" pitchFamily="2" charset="2"/>
              <a:buChar char="u"/>
            </a:pPr>
            <a:r>
              <a:rPr lang="en-US" sz="1600" dirty="0">
                <a:latin typeface="微软雅黑" panose="020B0503020204020204" pitchFamily="34" charset="-122"/>
                <a:ea typeface="微软雅黑" panose="020B0503020204020204" pitchFamily="34" charset="-122"/>
              </a:rPr>
              <a:t>会计利润是指企业销售产品获得的收益与会计成本之间的差额。</a:t>
            </a:r>
          </a:p>
        </p:txBody>
      </p:sp>
      <p:sp>
        <p:nvSpPr>
          <p:cNvPr id="28" name="矩形 27"/>
          <p:cNvSpPr/>
          <p:nvPr/>
        </p:nvSpPr>
        <p:spPr>
          <a:xfrm>
            <a:off x="3828183" y="5610726"/>
            <a:ext cx="2765501" cy="338554"/>
          </a:xfrm>
          <a:prstGeom prst="rect">
            <a:avLst/>
          </a:prstGeom>
        </p:spPr>
        <p:txBody>
          <a:bodyPr wrap="none">
            <a:spAutoFit/>
          </a:bodyPr>
          <a:lstStyle/>
          <a:p>
            <a:pPr marL="285750" indent="-285750">
              <a:buFont typeface="Wingdings" panose="05000000000000000000" pitchFamily="2" charset="2"/>
              <a:buChar char="Ø"/>
            </a:pPr>
            <a:r>
              <a:rPr lang="en-US" sz="1600" dirty="0">
                <a:latin typeface="微软雅黑" panose="020B0503020204020204" pitchFamily="34" charset="-122"/>
                <a:ea typeface="微软雅黑" panose="020B0503020204020204" pitchFamily="34" charset="-122"/>
              </a:rPr>
              <a:t>会计利润=收益-会计成本</a:t>
            </a:r>
          </a:p>
        </p:txBody>
      </p:sp>
      <p:sp>
        <p:nvSpPr>
          <p:cNvPr id="29" name="矩形 28"/>
          <p:cNvSpPr/>
          <p:nvPr/>
        </p:nvSpPr>
        <p:spPr>
          <a:xfrm>
            <a:off x="5748763" y="2219833"/>
            <a:ext cx="2098026" cy="338554"/>
          </a:xfrm>
          <a:prstGeom prst="rect">
            <a:avLst/>
          </a:prstGeom>
        </p:spPr>
        <p:txBody>
          <a:bodyPr wrap="square">
            <a:spAutoFit/>
          </a:bodyPr>
          <a:lstStyle/>
          <a:p>
            <a:pPr marL="285750" indent="-285750">
              <a:buFont typeface="Wingdings" panose="05000000000000000000" pitchFamily="2" charset="2"/>
              <a:buChar char="Ø"/>
            </a:pPr>
            <a:r>
              <a:rPr lang="en-US" sz="1600" dirty="0">
                <a:latin typeface="微软雅黑" panose="020B0503020204020204" pitchFamily="34" charset="-122"/>
                <a:ea typeface="微软雅黑" panose="020B0503020204020204" pitchFamily="34" charset="-122"/>
              </a:rPr>
              <a:t>生产技术</a:t>
            </a:r>
          </a:p>
        </p:txBody>
      </p:sp>
      <p:sp>
        <p:nvSpPr>
          <p:cNvPr id="30" name="矩形 29"/>
          <p:cNvSpPr/>
          <p:nvPr/>
        </p:nvSpPr>
        <p:spPr>
          <a:xfrm>
            <a:off x="5748763" y="2529314"/>
            <a:ext cx="1822606" cy="338554"/>
          </a:xfrm>
          <a:prstGeom prst="rect">
            <a:avLst/>
          </a:prstGeom>
        </p:spPr>
        <p:txBody>
          <a:bodyPr wrap="square">
            <a:spAutoFit/>
          </a:bodyPr>
          <a:lstStyle/>
          <a:p>
            <a:pPr marL="285750" indent="-285750">
              <a:buFont typeface="Wingdings" panose="05000000000000000000" pitchFamily="2" charset="2"/>
              <a:buChar char="Ø"/>
            </a:pPr>
            <a:r>
              <a:rPr lang="en-US" sz="1600" dirty="0">
                <a:latin typeface="微软雅黑" panose="020B0503020204020204" pitchFamily="34" charset="-122"/>
                <a:ea typeface="微软雅黑" panose="020B0503020204020204" pitchFamily="34" charset="-122"/>
              </a:rPr>
              <a:t>生产要素价格</a:t>
            </a:r>
          </a:p>
        </p:txBody>
      </p:sp>
      <p:sp>
        <p:nvSpPr>
          <p:cNvPr id="31" name="矩形 30"/>
          <p:cNvSpPr/>
          <p:nvPr/>
        </p:nvSpPr>
        <p:spPr>
          <a:xfrm>
            <a:off x="5748763" y="2866164"/>
            <a:ext cx="2319866" cy="338554"/>
          </a:xfrm>
          <a:prstGeom prst="rect">
            <a:avLst/>
          </a:prstGeom>
        </p:spPr>
        <p:txBody>
          <a:bodyPr wrap="none">
            <a:spAutoFit/>
          </a:bodyPr>
          <a:lstStyle/>
          <a:p>
            <a:pPr marL="285750" indent="-285750">
              <a:buFont typeface="Wingdings" panose="05000000000000000000" pitchFamily="2" charset="2"/>
              <a:buChar char="Ø"/>
            </a:pPr>
            <a:r>
              <a:rPr lang="en-US" sz="1600" dirty="0">
                <a:latin typeface="微软雅黑" panose="020B0503020204020204" pitchFamily="34" charset="-122"/>
                <a:ea typeface="微软雅黑" panose="020B0503020204020204" pitchFamily="34" charset="-122"/>
              </a:rPr>
              <a:t>生产要素数量的选择</a:t>
            </a:r>
          </a:p>
        </p:txBody>
      </p:sp>
      <p:sp>
        <p:nvSpPr>
          <p:cNvPr id="16" name="矩形 15">
            <a:extLst>
              <a:ext uri="{FF2B5EF4-FFF2-40B4-BE49-F238E27FC236}">
                <a16:creationId xmlns:a16="http://schemas.microsoft.com/office/drawing/2014/main" id="{CB5181D9-91E8-4A42-8F58-D40491A1D1D5}"/>
              </a:ext>
            </a:extLst>
          </p:cNvPr>
          <p:cNvSpPr/>
          <p:nvPr/>
        </p:nvSpPr>
        <p:spPr>
          <a:xfrm>
            <a:off x="580922" y="520573"/>
            <a:ext cx="319899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一、经济学中的成本</a:t>
            </a:r>
          </a:p>
        </p:txBody>
      </p:sp>
    </p:spTree>
    <p:extLst>
      <p:ext uri="{BB962C8B-B14F-4D97-AF65-F5344CB8AC3E}">
        <p14:creationId xmlns:p14="http://schemas.microsoft.com/office/powerpoint/2010/main" val="246603752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500" fill="hold"/>
                                        <p:tgtEl>
                                          <p:spTgt spid="16"/>
                                        </p:tgtEl>
                                        <p:attrNameLst>
                                          <p:attrName>ppt_w</p:attrName>
                                        </p:attrNameLst>
                                      </p:cBhvr>
                                      <p:tavLst>
                                        <p:tav tm="0">
                                          <p:val>
                                            <p:fltVal val="0"/>
                                          </p:val>
                                        </p:tav>
                                        <p:tav tm="100000">
                                          <p:val>
                                            <p:strVal val="#ppt_w"/>
                                          </p:val>
                                        </p:tav>
                                      </p:tavLst>
                                    </p:anim>
                                    <p:anim calcmode="lin" valueType="num">
                                      <p:cBhvr>
                                        <p:cTn id="8" dur="500" fill="hold"/>
                                        <p:tgtEl>
                                          <p:spTgt spid="16"/>
                                        </p:tgtEl>
                                        <p:attrNameLst>
                                          <p:attrName>ppt_h</p:attrName>
                                        </p:attrNameLst>
                                      </p:cBhvr>
                                      <p:tavLst>
                                        <p:tav tm="0">
                                          <p:val>
                                            <p:fltVal val="0"/>
                                          </p:val>
                                        </p:tav>
                                        <p:tav tm="100000">
                                          <p:val>
                                            <p:strVal val="#ppt_h"/>
                                          </p:val>
                                        </p:tav>
                                      </p:tavLst>
                                    </p:anim>
                                    <p:animEffect transition="in" filter="fade">
                                      <p:cBhvr>
                                        <p:cTn id="9" dur="500"/>
                                        <p:tgtEl>
                                          <p:spTgt spid="16"/>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wipe(up)">
                                      <p:cBhvr>
                                        <p:cTn id="14" dur="500"/>
                                        <p:tgtEl>
                                          <p:spTgt spid="19"/>
                                        </p:tgtEl>
                                      </p:cBhvr>
                                    </p:animEffect>
                                  </p:childTnLst>
                                </p:cTn>
                              </p:par>
                              <p:par>
                                <p:cTn id="15" presetID="22" presetClass="entr" presetSubtype="1"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up)">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down)">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26">
                                            <p:txEl>
                                              <p:pRg st="0" end="0"/>
                                            </p:txEl>
                                          </p:spTgt>
                                        </p:tgtEl>
                                        <p:attrNameLst>
                                          <p:attrName>style.visibility</p:attrName>
                                        </p:attrNameLst>
                                      </p:cBhvr>
                                      <p:to>
                                        <p:strVal val="visible"/>
                                      </p:to>
                                    </p:set>
                                    <p:animEffect transition="in" filter="barn(inVertical)">
                                      <p:cBhvr>
                                        <p:cTn id="27" dur="500"/>
                                        <p:tgtEl>
                                          <p:spTgt spid="26">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left)">
                                      <p:cBhvr>
                                        <p:cTn id="35" dur="500"/>
                                        <p:tgtEl>
                                          <p:spTgt spid="24"/>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fade">
                                      <p:cBhvr>
                                        <p:cTn id="40" dur="1000"/>
                                        <p:tgtEl>
                                          <p:spTgt spid="27"/>
                                        </p:tgtEl>
                                      </p:cBhvr>
                                    </p:animEffect>
                                    <p:anim calcmode="lin" valueType="num">
                                      <p:cBhvr>
                                        <p:cTn id="41" dur="1000" fill="hold"/>
                                        <p:tgtEl>
                                          <p:spTgt spid="27"/>
                                        </p:tgtEl>
                                        <p:attrNameLst>
                                          <p:attrName>ppt_x</p:attrName>
                                        </p:attrNameLst>
                                      </p:cBhvr>
                                      <p:tavLst>
                                        <p:tav tm="0">
                                          <p:val>
                                            <p:strVal val="#ppt_x"/>
                                          </p:val>
                                        </p:tav>
                                        <p:tav tm="100000">
                                          <p:val>
                                            <p:strVal val="#ppt_x"/>
                                          </p:val>
                                        </p:tav>
                                      </p:tavLst>
                                    </p:anim>
                                    <p:anim calcmode="lin" valueType="num">
                                      <p:cBhvr>
                                        <p:cTn id="42"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barn(inVertical)">
                                      <p:cBhvr>
                                        <p:cTn id="47" dur="500"/>
                                        <p:tgtEl>
                                          <p:spTgt spid="2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32"/>
                                        </p:tgtEl>
                                        <p:attrNameLst>
                                          <p:attrName>style.visibility</p:attrName>
                                        </p:attrNameLst>
                                      </p:cBhvr>
                                      <p:to>
                                        <p:strVal val="visible"/>
                                      </p:to>
                                    </p:set>
                                    <p:animEffect transition="in" filter="wipe(down)">
                                      <p:cBhvr>
                                        <p:cTn id="52" dur="500"/>
                                        <p:tgtEl>
                                          <p:spTgt spid="32"/>
                                        </p:tgtEl>
                                      </p:cBhvr>
                                    </p:animEffect>
                                  </p:childTnLst>
                                </p:cTn>
                              </p:par>
                              <p:par>
                                <p:cTn id="53" presetID="22" presetClass="entr" presetSubtype="4"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down)">
                                      <p:cBhvr>
                                        <p:cTn id="55" dur="5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16" presetClass="entr" presetSubtype="21" fill="hold" grpId="0" nodeType="click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barn(inVertical)">
                                      <p:cBhvr>
                                        <p:cTn id="60" dur="500"/>
                                        <p:tgtEl>
                                          <p:spTgt spid="29"/>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nodeType="clickEffect">
                                  <p:stCondLst>
                                    <p:cond delay="0"/>
                                  </p:stCondLst>
                                  <p:childTnLst>
                                    <p:set>
                                      <p:cBhvr>
                                        <p:cTn id="64" dur="1" fill="hold">
                                          <p:stCondLst>
                                            <p:cond delay="0"/>
                                          </p:stCondLst>
                                        </p:cTn>
                                        <p:tgtEl>
                                          <p:spTgt spid="30">
                                            <p:txEl>
                                              <p:pRg st="0" end="0"/>
                                            </p:txEl>
                                          </p:spTgt>
                                        </p:tgtEl>
                                        <p:attrNameLst>
                                          <p:attrName>style.visibility</p:attrName>
                                        </p:attrNameLst>
                                      </p:cBhvr>
                                      <p:to>
                                        <p:strVal val="visible"/>
                                      </p:to>
                                    </p:set>
                                    <p:animEffect transition="in" filter="barn(inVertical)">
                                      <p:cBhvr>
                                        <p:cTn id="65" dur="500"/>
                                        <p:tgtEl>
                                          <p:spTgt spid="30">
                                            <p:txEl>
                                              <p:pRg st="0" end="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nodeType="clickEffect">
                                  <p:stCondLst>
                                    <p:cond delay="0"/>
                                  </p:stCondLst>
                                  <p:childTnLst>
                                    <p:set>
                                      <p:cBhvr>
                                        <p:cTn id="69" dur="1" fill="hold">
                                          <p:stCondLst>
                                            <p:cond delay="0"/>
                                          </p:stCondLst>
                                        </p:cTn>
                                        <p:tgtEl>
                                          <p:spTgt spid="31">
                                            <p:txEl>
                                              <p:pRg st="0" end="0"/>
                                            </p:txEl>
                                          </p:spTgt>
                                        </p:tgtEl>
                                        <p:attrNameLst>
                                          <p:attrName>style.visibility</p:attrName>
                                        </p:attrNameLst>
                                      </p:cBhvr>
                                      <p:to>
                                        <p:strVal val="visible"/>
                                      </p:to>
                                    </p:set>
                                    <p:animEffect transition="in" filter="barn(inVertical)">
                                      <p:cBhvr>
                                        <p:cTn id="70" dur="500"/>
                                        <p:tgtEl>
                                          <p:spTgt spid="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21" grpId="0" animBg="1"/>
      <p:bldP spid="19" grpId="0" animBg="1"/>
      <p:bldP spid="22" grpId="0"/>
      <p:bldP spid="23" grpId="0"/>
      <p:bldP spid="24" grpId="0"/>
      <p:bldP spid="25" grpId="0"/>
      <p:bldP spid="27" grpId="0"/>
      <p:bldP spid="28" grpId="0"/>
      <p:bldP spid="29" grpId="0"/>
      <p:bldP spid="1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内容占位符 7">
            <a:extLst>
              <a:ext uri="{FF2B5EF4-FFF2-40B4-BE49-F238E27FC236}">
                <a16:creationId xmlns:a16="http://schemas.microsoft.com/office/drawing/2014/main" id="{421AE9AB-46E9-4377-8049-33E21A8C3CD7}"/>
              </a:ext>
            </a:extLst>
          </p:cNvPr>
          <p:cNvGraphicFramePr>
            <a:graphicFrameLocks/>
          </p:cNvGraphicFramePr>
          <p:nvPr/>
        </p:nvGraphicFramePr>
        <p:xfrm>
          <a:off x="1835150" y="1628775"/>
          <a:ext cx="1954213" cy="4276725"/>
        </p:xfrm>
        <a:graphic>
          <a:graphicData uri="http://schemas.openxmlformats.org/drawingml/2006/table">
            <a:tbl>
              <a:tblPr/>
              <a:tblGrid>
                <a:gridCol w="369888">
                  <a:extLst>
                    <a:ext uri="{9D8B030D-6E8A-4147-A177-3AD203B41FA5}">
                      <a16:colId xmlns:a16="http://schemas.microsoft.com/office/drawing/2014/main" val="2610467451"/>
                    </a:ext>
                  </a:extLst>
                </a:gridCol>
                <a:gridCol w="1152525">
                  <a:extLst>
                    <a:ext uri="{9D8B030D-6E8A-4147-A177-3AD203B41FA5}">
                      <a16:colId xmlns:a16="http://schemas.microsoft.com/office/drawing/2014/main" val="1018583229"/>
                    </a:ext>
                  </a:extLst>
                </a:gridCol>
                <a:gridCol w="431800">
                  <a:extLst>
                    <a:ext uri="{9D8B030D-6E8A-4147-A177-3AD203B41FA5}">
                      <a16:colId xmlns:a16="http://schemas.microsoft.com/office/drawing/2014/main" val="3675332844"/>
                    </a:ext>
                  </a:extLst>
                </a:gridCol>
              </a:tblGrid>
              <a:tr h="1425575">
                <a:tc rowSpan="3">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2"/>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总</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收</a:t>
                      </a: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rPr>
                        <a:t>益</a:t>
                      </a:r>
                    </a:p>
                  </a:txBody>
                  <a:tcPr marL="91424" marR="91424" marT="45718" marB="45718" anchor="ctr" anchorCtr="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2"/>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rgbClr val="FFFFFF"/>
                          </a:solidFill>
                          <a:effectLst/>
                          <a:latin typeface="Arial" panose="020B0604020202020204" pitchFamily="34" charset="0"/>
                          <a:ea typeface="宋体" panose="02010600030101010101" pitchFamily="2" charset="-122"/>
                        </a:rPr>
                        <a:t>经济利润</a:t>
                      </a:r>
                    </a:p>
                  </a:txBody>
                  <a:tcPr marL="91424" marR="91424"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rowSpan="3">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2"/>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总机会成本</a:t>
                      </a:r>
                    </a:p>
                  </a:txBody>
                  <a:tcPr marL="91424" marR="91424"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363668264"/>
                  </a:ext>
                </a:extLst>
              </a:tr>
              <a:tr h="1425575">
                <a:tc vMerge="1">
                  <a:txBody>
                    <a:bodyPr/>
                    <a:lstStyle/>
                    <a:p>
                      <a:endParaRPr lang="zh-CN" altLang="en-US"/>
                    </a:p>
                  </a:txBody>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2"/>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30311D"/>
                          </a:solidFill>
                          <a:effectLst/>
                          <a:latin typeface="Arial" panose="020B0604020202020204" pitchFamily="34" charset="0"/>
                          <a:ea typeface="宋体" panose="02010600030101010101" pitchFamily="2" charset="-122"/>
                        </a:rPr>
                        <a:t>隐性成本</a:t>
                      </a:r>
                    </a:p>
                  </a:txBody>
                  <a:tcPr marL="91424" marR="91424" marT="45718" marB="45718"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DEDD3"/>
                    </a:solidFill>
                  </a:tcPr>
                </a:tc>
                <a:tc vMerge="1">
                  <a:txBody>
                    <a:bodyPr/>
                    <a:lstStyle/>
                    <a:p>
                      <a:endParaRPr lang="zh-CN" altLang="en-US"/>
                    </a:p>
                  </a:txBody>
                  <a:tcPr/>
                </a:tc>
                <a:extLst>
                  <a:ext uri="{0D108BD9-81ED-4DB2-BD59-A6C34878D82A}">
                    <a16:rowId xmlns:a16="http://schemas.microsoft.com/office/drawing/2014/main" val="2458168703"/>
                  </a:ext>
                </a:extLst>
              </a:tr>
              <a:tr h="1425575">
                <a:tc vMerge="1">
                  <a:txBody>
                    <a:bodyPr/>
                    <a:lstStyle/>
                    <a:p>
                      <a:endParaRPr lang="zh-CN" altLang="en-US"/>
                    </a:p>
                  </a:txBody>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2"/>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30311D"/>
                          </a:solidFill>
                          <a:effectLst/>
                          <a:latin typeface="Arial" panose="020B0604020202020204" pitchFamily="34" charset="0"/>
                          <a:ea typeface="宋体" panose="02010600030101010101" pitchFamily="2" charset="-122"/>
                        </a:rPr>
                        <a:t>显性成本</a:t>
                      </a:r>
                    </a:p>
                  </a:txBody>
                  <a:tcPr marL="91424" marR="91424" marT="45718" marB="45718"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B955A"/>
                    </a:solidFill>
                  </a:tcPr>
                </a:tc>
                <a:tc vMerge="1">
                  <a:txBody>
                    <a:bodyPr/>
                    <a:lstStyle/>
                    <a:p>
                      <a:endParaRPr lang="zh-CN" altLang="en-US"/>
                    </a:p>
                  </a:txBody>
                  <a:tcPr/>
                </a:tc>
                <a:extLst>
                  <a:ext uri="{0D108BD9-81ED-4DB2-BD59-A6C34878D82A}">
                    <a16:rowId xmlns:a16="http://schemas.microsoft.com/office/drawing/2014/main" val="402175559"/>
                  </a:ext>
                </a:extLst>
              </a:tr>
            </a:tbl>
          </a:graphicData>
        </a:graphic>
      </p:graphicFrame>
      <p:graphicFrame>
        <p:nvGraphicFramePr>
          <p:cNvPr id="3" name="内容占位符 8">
            <a:extLst>
              <a:ext uri="{FF2B5EF4-FFF2-40B4-BE49-F238E27FC236}">
                <a16:creationId xmlns:a16="http://schemas.microsoft.com/office/drawing/2014/main" id="{EBCB4FC9-0C02-486B-98C1-EFB6719C6998}"/>
              </a:ext>
            </a:extLst>
          </p:cNvPr>
          <p:cNvGraphicFramePr>
            <a:graphicFrameLocks/>
          </p:cNvGraphicFramePr>
          <p:nvPr/>
        </p:nvGraphicFramePr>
        <p:xfrm>
          <a:off x="4859338" y="1628775"/>
          <a:ext cx="2014537" cy="4278313"/>
        </p:xfrm>
        <a:graphic>
          <a:graphicData uri="http://schemas.openxmlformats.org/drawingml/2006/table">
            <a:tbl>
              <a:tblPr/>
              <a:tblGrid>
                <a:gridCol w="358775">
                  <a:extLst>
                    <a:ext uri="{9D8B030D-6E8A-4147-A177-3AD203B41FA5}">
                      <a16:colId xmlns:a16="http://schemas.microsoft.com/office/drawing/2014/main" val="2681497666"/>
                    </a:ext>
                  </a:extLst>
                </a:gridCol>
                <a:gridCol w="1152525">
                  <a:extLst>
                    <a:ext uri="{9D8B030D-6E8A-4147-A177-3AD203B41FA5}">
                      <a16:colId xmlns:a16="http://schemas.microsoft.com/office/drawing/2014/main" val="3085834794"/>
                    </a:ext>
                  </a:extLst>
                </a:gridCol>
                <a:gridCol w="503237">
                  <a:extLst>
                    <a:ext uri="{9D8B030D-6E8A-4147-A177-3AD203B41FA5}">
                      <a16:colId xmlns:a16="http://schemas.microsoft.com/office/drawing/2014/main" val="1903651670"/>
                    </a:ext>
                  </a:extLst>
                </a:gridCol>
              </a:tblGrid>
              <a:tr h="2830513">
                <a:tc rowSpan="2">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2"/>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总</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收</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rPr>
                        <a:t>益</a:t>
                      </a:r>
                    </a:p>
                  </a:txBody>
                  <a:tcPr marL="91410" marR="91410"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solidFill>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2"/>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dirty="0">
                          <a:ln>
                            <a:noFill/>
                          </a:ln>
                          <a:solidFill>
                            <a:srgbClr val="FFFFFF"/>
                          </a:solidFill>
                          <a:effectLst/>
                          <a:latin typeface="Arial" panose="020B0604020202020204" pitchFamily="34" charset="0"/>
                          <a:ea typeface="宋体" panose="02010600030101010101" pitchFamily="2" charset="-122"/>
                        </a:rPr>
                        <a:t>会计利润</a:t>
                      </a:r>
                    </a:p>
                  </a:txBody>
                  <a:tcPr marL="91410" marR="91410"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rowSpan="2">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2"/>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en-US" sz="1800" b="1"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txBody>
                  <a:tcPr marL="91410" marR="91410" marT="45718" marB="4571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103819868"/>
                  </a:ext>
                </a:extLst>
              </a:tr>
              <a:tr h="1447800">
                <a:tc vMerge="1">
                  <a:txBody>
                    <a:bodyPr/>
                    <a:lstStyle/>
                    <a:p>
                      <a:endParaRPr lang="zh-CN" altLang="en-US"/>
                    </a:p>
                  </a:txBody>
                  <a:tcPr/>
                </a:tc>
                <a:tc>
                  <a:txBody>
                    <a:bodyPr/>
                    <a:lstStyle>
                      <a:lvl1pPr>
                        <a:spcBef>
                          <a:spcPct val="20000"/>
                        </a:spcBef>
                        <a:buClr>
                          <a:schemeClr val="tx2"/>
                        </a:buClr>
                        <a:buFont typeface="Wingdings" panose="05000000000000000000" pitchFamily="2" charset="2"/>
                        <a:defRPr sz="24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defRPr sz="2200">
                          <a:solidFill>
                            <a:schemeClr val="tx1"/>
                          </a:solidFill>
                          <a:latin typeface="Arial" panose="020B0604020202020204" pitchFamily="34" charset="0"/>
                        </a:defRPr>
                      </a:lvl2pPr>
                      <a:lvl3pPr marL="1143000" indent="-228600">
                        <a:spcBef>
                          <a:spcPct val="20000"/>
                        </a:spcBef>
                        <a:buClr>
                          <a:schemeClr val="accent2"/>
                        </a:buClr>
                        <a:defRPr sz="2000">
                          <a:solidFill>
                            <a:schemeClr val="tx1"/>
                          </a:solidFill>
                          <a:latin typeface="Arial" panose="020B0604020202020204" pitchFamily="34" charset="0"/>
                        </a:defRPr>
                      </a:lvl3pPr>
                      <a:lvl4pPr marL="1600200" indent="-228600">
                        <a:spcBef>
                          <a:spcPct val="20000"/>
                        </a:spcBef>
                        <a:defRPr>
                          <a:solidFill>
                            <a:schemeClr val="tx1"/>
                          </a:solidFill>
                          <a:latin typeface="Arial" panose="020B0604020202020204" pitchFamily="34" charset="0"/>
                        </a:defRPr>
                      </a:lvl4pPr>
                      <a:lvl5pPr marL="2057400" indent="-228600">
                        <a:spcBef>
                          <a:spcPct val="20000"/>
                        </a:spcBef>
                        <a:defRPr>
                          <a:solidFill>
                            <a:schemeClr val="tx1"/>
                          </a:solidFill>
                          <a:latin typeface="Arial" panose="020B0604020202020204" pitchFamily="34" charset="0"/>
                        </a:defRPr>
                      </a:lvl5pPr>
                      <a:lvl6pPr marL="2514600" indent="-228600" fontAlgn="base">
                        <a:spcBef>
                          <a:spcPct val="20000"/>
                        </a:spcBef>
                        <a:spcAft>
                          <a:spcPct val="0"/>
                        </a:spcAft>
                        <a:defRPr>
                          <a:solidFill>
                            <a:schemeClr val="tx1"/>
                          </a:solidFill>
                          <a:latin typeface="Arial" panose="020B0604020202020204" pitchFamily="34" charset="0"/>
                        </a:defRPr>
                      </a:lvl6pPr>
                      <a:lvl7pPr marL="2971800" indent="-228600" fontAlgn="base">
                        <a:spcBef>
                          <a:spcPct val="20000"/>
                        </a:spcBef>
                        <a:spcAft>
                          <a:spcPct val="0"/>
                        </a:spcAft>
                        <a:defRPr>
                          <a:solidFill>
                            <a:schemeClr val="tx1"/>
                          </a:solidFill>
                          <a:latin typeface="Arial" panose="020B0604020202020204" pitchFamily="34" charset="0"/>
                        </a:defRPr>
                      </a:lvl7pPr>
                      <a:lvl8pPr marL="3429000" indent="-228600" fontAlgn="base">
                        <a:spcBef>
                          <a:spcPct val="20000"/>
                        </a:spcBef>
                        <a:spcAft>
                          <a:spcPct val="0"/>
                        </a:spcAft>
                        <a:defRPr>
                          <a:solidFill>
                            <a:schemeClr val="tx1"/>
                          </a:solidFill>
                          <a:latin typeface="Arial" panose="020B0604020202020204" pitchFamily="34" charset="0"/>
                        </a:defRPr>
                      </a:lvl8pPr>
                      <a:lvl9pPr marL="3886200" indent="-228600" fontAlgn="base">
                        <a:spcBef>
                          <a:spcPct val="20000"/>
                        </a:spcBef>
                        <a:spcAft>
                          <a:spcPct val="0"/>
                        </a:spcAft>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0" i="0" u="none" strike="noStrike" cap="none" normalizeH="0" baseline="0" dirty="0">
                          <a:ln>
                            <a:noFill/>
                          </a:ln>
                          <a:solidFill>
                            <a:srgbClr val="30311D"/>
                          </a:solidFill>
                          <a:effectLst/>
                          <a:latin typeface="Arial" panose="020B0604020202020204" pitchFamily="34" charset="0"/>
                          <a:ea typeface="宋体" panose="02010600030101010101" pitchFamily="2" charset="-122"/>
                        </a:rPr>
                        <a:t>显性成本</a:t>
                      </a:r>
                    </a:p>
                  </a:txBody>
                  <a:tcPr marL="91410" marR="91410" marT="45718" marB="45718" horzOverflow="overflow">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8B955A"/>
                    </a:solidFill>
                  </a:tcPr>
                </a:tc>
                <a:tc vMerge="1">
                  <a:txBody>
                    <a:bodyPr/>
                    <a:lstStyle/>
                    <a:p>
                      <a:endParaRPr lang="zh-CN" altLang="en-US"/>
                    </a:p>
                  </a:txBody>
                  <a:tcPr/>
                </a:tc>
                <a:extLst>
                  <a:ext uri="{0D108BD9-81ED-4DB2-BD59-A6C34878D82A}">
                    <a16:rowId xmlns:a16="http://schemas.microsoft.com/office/drawing/2014/main" val="158458599"/>
                  </a:ext>
                </a:extLst>
              </a:tr>
            </a:tbl>
          </a:graphicData>
        </a:graphic>
      </p:graphicFrame>
      <p:sp>
        <p:nvSpPr>
          <p:cNvPr id="4" name="标题 3"/>
          <p:cNvSpPr>
            <a:spLocks noGrp="1"/>
          </p:cNvSpPr>
          <p:nvPr>
            <p:ph type="title"/>
          </p:nvPr>
        </p:nvSpPr>
        <p:spPr/>
        <p:txBody>
          <a:bodyPr/>
          <a:lstStyle/>
          <a:p>
            <a:r>
              <a:rPr lang="zh-CN" altLang="en-US" dirty="0">
                <a:solidFill>
                  <a:srgbClr val="CC3939"/>
                </a:solidFill>
              </a:rPr>
              <a:t>概念辨析：经济利润 </a:t>
            </a:r>
            <a:r>
              <a:rPr lang="en-US" altLang="zh-CN" dirty="0">
                <a:solidFill>
                  <a:srgbClr val="CC3939"/>
                </a:solidFill>
              </a:rPr>
              <a:t>VS </a:t>
            </a:r>
            <a:r>
              <a:rPr lang="zh-CN" altLang="en-US" dirty="0">
                <a:solidFill>
                  <a:srgbClr val="CC3939"/>
                </a:solidFill>
              </a:rPr>
              <a:t>会计利润</a:t>
            </a:r>
          </a:p>
        </p:txBody>
      </p:sp>
    </p:spTree>
    <p:extLst>
      <p:ext uri="{BB962C8B-B14F-4D97-AF65-F5344CB8AC3E}">
        <p14:creationId xmlns:p14="http://schemas.microsoft.com/office/powerpoint/2010/main" val="2736043074"/>
      </p:ext>
    </p:extLst>
  </p:cSld>
  <p:clrMapOvr>
    <a:masterClrMapping/>
  </p:clrMapOvr>
  <p:transition>
    <p:random/>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a:spLocks noGrp="1" noChangeArrowheads="1"/>
          </p:cNvSpPr>
          <p:nvPr/>
        </p:nvSpPr>
        <p:spPr bwMode="auto">
          <a:xfrm>
            <a:off x="539552" y="1891331"/>
            <a:ext cx="8064895" cy="1465661"/>
          </a:xfrm>
          <a:prstGeom prst="rect">
            <a:avLst/>
          </a:prstGeom>
          <a:solidFill>
            <a:srgbClr val="C3C9D7"/>
          </a:solidFill>
          <a:ln w="25400">
            <a:solidFill>
              <a:srgbClr val="CB0528"/>
            </a:solidFill>
          </a:ln>
          <a:effectLst/>
        </p:spPr>
        <p:txBody>
          <a:bodyPr/>
          <a:lstStyle>
            <a:lvl1pPr marL="342900" indent="-342900" eaLnBrk="0" hangingPunct="0">
              <a:spcBef>
                <a:spcPct val="20000"/>
              </a:spcBef>
              <a:buChar char="•"/>
              <a:defRPr sz="3200" b="1">
                <a:solidFill>
                  <a:srgbClr val="CC0000"/>
                </a:solidFill>
                <a:latin typeface="Arial" panose="020B0604020202020204" pitchFamily="34" charset="0"/>
                <a:ea typeface="宋体" panose="02010600030101010101" pitchFamily="2" charset="-122"/>
              </a:defRPr>
            </a:lvl1pPr>
            <a:lvl2pPr marL="742950" indent="-285750" eaLnBrk="0" hangingPunct="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0000"/>
              </a:lnSpc>
              <a:buFontTx/>
              <a:buNone/>
            </a:pPr>
            <a:endParaRPr lang="en-US" altLang="zh-CN" sz="2400" b="0" dirty="0">
              <a:solidFill>
                <a:schemeClr val="tx1"/>
              </a:solidFill>
              <a:latin typeface="微软雅黑" panose="020B0503020204020204" pitchFamily="34" charset="-122"/>
              <a:ea typeface="微软雅黑" panose="020B0503020204020204" pitchFamily="34" charset="-122"/>
            </a:endParaRPr>
          </a:p>
        </p:txBody>
      </p:sp>
      <p:sp>
        <p:nvSpPr>
          <p:cNvPr id="3" name="Rectangle 3"/>
          <p:cNvSpPr>
            <a:spLocks noChangeArrowheads="1"/>
          </p:cNvSpPr>
          <p:nvPr/>
        </p:nvSpPr>
        <p:spPr bwMode="auto">
          <a:xfrm>
            <a:off x="539552" y="3429000"/>
            <a:ext cx="4176464" cy="1881873"/>
          </a:xfrm>
          <a:prstGeom prst="rect">
            <a:avLst/>
          </a:prstGeom>
          <a:solidFill>
            <a:srgbClr val="AFD9E6"/>
          </a:solidFill>
          <a:ln w="25400">
            <a:solidFill>
              <a:srgbClr val="CB0528"/>
            </a:solidFill>
          </a:ln>
          <a:effec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90000"/>
              </a:lnSpc>
              <a:spcBef>
                <a:spcPct val="20000"/>
              </a:spcBef>
              <a:buClr>
                <a:schemeClr val="folHlink"/>
              </a:buClr>
              <a:buSzPct val="75000"/>
              <a:buFont typeface="Wingdings" panose="05000000000000000000" pitchFamily="2" charset="2"/>
              <a:buNone/>
            </a:pPr>
            <a:endParaRPr lang="zh-CN" altLang="en-US" sz="2400" b="1" dirty="0">
              <a:latin typeface="微软雅黑" panose="020B0503020204020204" pitchFamily="34" charset="-122"/>
              <a:ea typeface="微软雅黑" panose="020B0503020204020204" pitchFamily="34" charset="-122"/>
              <a:sym typeface="Verdana" panose="020B0604030504040204" pitchFamily="34" charset="0"/>
            </a:endParaRPr>
          </a:p>
        </p:txBody>
      </p:sp>
      <p:sp>
        <p:nvSpPr>
          <p:cNvPr id="4" name="Rectangle 4"/>
          <p:cNvSpPr>
            <a:spLocks noChangeArrowheads="1"/>
          </p:cNvSpPr>
          <p:nvPr/>
        </p:nvSpPr>
        <p:spPr bwMode="auto">
          <a:xfrm>
            <a:off x="4815618" y="3423123"/>
            <a:ext cx="3788830" cy="1887750"/>
          </a:xfrm>
          <a:prstGeom prst="rect">
            <a:avLst/>
          </a:prstGeom>
          <a:solidFill>
            <a:srgbClr val="AFD9E6"/>
          </a:solidFill>
          <a:ln w="25400">
            <a:solidFill>
              <a:srgbClr val="CB0528"/>
            </a:solidFill>
          </a:ln>
          <a:effec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eaLnBrk="0" hangingPunct="0">
              <a:defRPr>
                <a:solidFill>
                  <a:schemeClr val="tx1"/>
                </a:solidFill>
                <a:latin typeface="Arial" panose="020B0604020202020204" pitchFamily="34" charset="0"/>
                <a:ea typeface="宋体" panose="02010600030101010101" pitchFamily="2" charset="-122"/>
              </a:defRPr>
            </a:lvl2pPr>
            <a:lvl3pPr eaLnBrk="0" hangingPunct="0">
              <a:defRPr>
                <a:solidFill>
                  <a:schemeClr val="tx1"/>
                </a:solidFill>
                <a:latin typeface="Arial" panose="020B0604020202020204" pitchFamily="34" charset="0"/>
                <a:ea typeface="宋体" panose="02010600030101010101" pitchFamily="2" charset="-122"/>
              </a:defRPr>
            </a:lvl3pPr>
            <a:lvl4pPr eaLnBrk="0" hangingPunct="0">
              <a:defRPr>
                <a:solidFill>
                  <a:schemeClr val="tx1"/>
                </a:solidFill>
                <a:latin typeface="Arial" panose="020B0604020202020204" pitchFamily="34" charset="0"/>
                <a:ea typeface="宋体" panose="02010600030101010101" pitchFamily="2" charset="-122"/>
              </a:defRPr>
            </a:lvl4pPr>
            <a:lvl5pPr eaLnBrk="0" hangingPunct="0">
              <a:defRPr>
                <a:solidFill>
                  <a:schemeClr val="tx1"/>
                </a:solidFill>
                <a:latin typeface="Arial" panose="020B0604020202020204" pitchFamily="34" charset="0"/>
                <a:ea typeface="宋体" panose="02010600030101010101" pitchFamily="2" charset="-122"/>
              </a:defRPr>
            </a:lvl5pPr>
            <a:lvl6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lnSpc>
                <a:spcPct val="80000"/>
              </a:lnSpc>
              <a:spcBef>
                <a:spcPct val="20000"/>
              </a:spcBef>
              <a:buClr>
                <a:schemeClr val="folHlink"/>
              </a:buClr>
              <a:buSzPct val="75000"/>
              <a:buFont typeface="Wingdings" panose="05000000000000000000" pitchFamily="2" charset="2"/>
              <a:buNone/>
            </a:pPr>
            <a:endParaRPr lang="zh-CN" altLang="en-US" sz="24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sp>
        <p:nvSpPr>
          <p:cNvPr id="6" name="矩形 5"/>
          <p:cNvSpPr/>
          <p:nvPr/>
        </p:nvSpPr>
        <p:spPr>
          <a:xfrm>
            <a:off x="824540" y="2547688"/>
            <a:ext cx="7663486" cy="646331"/>
          </a:xfrm>
          <a:prstGeom prst="rect">
            <a:avLst/>
          </a:prstGeom>
          <a:ln w="25400">
            <a:noFill/>
          </a:ln>
        </p:spPr>
        <p:txBody>
          <a:bodyPr wrap="square">
            <a:spAutoFit/>
          </a:bodyPr>
          <a:lstStyle/>
          <a:p>
            <a:r>
              <a:rPr lang="en-US" dirty="0">
                <a:latin typeface="微软雅黑" panose="020B0503020204020204" pitchFamily="34" charset="-122"/>
                <a:ea typeface="微软雅黑" panose="020B0503020204020204" pitchFamily="34" charset="-122"/>
              </a:rPr>
              <a:t>       已经租房签约一年，月租500元；到第五月时，租房者欲长期离开武汉，决定转租，此时市场租金上升至700元。一位同学愿意花600元租房。</a:t>
            </a:r>
          </a:p>
        </p:txBody>
      </p:sp>
      <p:sp>
        <p:nvSpPr>
          <p:cNvPr id="7" name="矩形 6"/>
          <p:cNvSpPr/>
          <p:nvPr/>
        </p:nvSpPr>
        <p:spPr>
          <a:xfrm>
            <a:off x="539552" y="4217686"/>
            <a:ext cx="4324133" cy="923330"/>
          </a:xfrm>
          <a:prstGeom prst="rect">
            <a:avLst/>
          </a:prstGeom>
          <a:ln w="25400">
            <a:noFill/>
          </a:ln>
        </p:spPr>
        <p:txBody>
          <a:bodyPr wrap="square">
            <a:spAutoFit/>
          </a:bodyPr>
          <a:lstStyle/>
          <a:p>
            <a:r>
              <a:rPr lang="en-US" dirty="0">
                <a:latin typeface="微软雅黑" panose="020B0503020204020204" pitchFamily="34" charset="-122"/>
                <a:ea typeface="微软雅黑" panose="020B0503020204020204" pitchFamily="34" charset="-122"/>
              </a:rPr>
              <a:t>(1)出租给该同学，(会计)利润为100元；</a:t>
            </a:r>
          </a:p>
          <a:p>
            <a:r>
              <a:rPr lang="en-US" dirty="0">
                <a:latin typeface="微软雅黑" panose="020B0503020204020204" pitchFamily="34" charset="-122"/>
                <a:ea typeface="微软雅黑" panose="020B0503020204020204" pitchFamily="34" charset="-122"/>
              </a:rPr>
              <a:t>(2)出租给他人，(会计)利润为200元。</a:t>
            </a:r>
          </a:p>
          <a:p>
            <a:r>
              <a:rPr lang="en-US" dirty="0">
                <a:latin typeface="微软雅黑" panose="020B0503020204020204" pitchFamily="34" charset="-122"/>
                <a:ea typeface="微软雅黑" panose="020B0503020204020204" pitchFamily="34" charset="-122"/>
              </a:rPr>
              <a:t>不租给该同学。</a:t>
            </a:r>
          </a:p>
        </p:txBody>
      </p:sp>
      <p:sp>
        <p:nvSpPr>
          <p:cNvPr id="8" name="矩形 7"/>
          <p:cNvSpPr/>
          <p:nvPr/>
        </p:nvSpPr>
        <p:spPr>
          <a:xfrm>
            <a:off x="1978944" y="3715030"/>
            <a:ext cx="1415772" cy="461665"/>
          </a:xfrm>
          <a:prstGeom prst="rect">
            <a:avLst/>
          </a:prstGeom>
          <a:ln w="25400">
            <a:noFill/>
          </a:ln>
        </p:spPr>
        <p:txBody>
          <a:bodyPr wrap="none">
            <a:spAutoFit/>
          </a:bodyPr>
          <a:lstStyle/>
          <a:p>
            <a:r>
              <a:rPr lang="en-US" sz="2400" b="1" dirty="0">
                <a:latin typeface="微软雅黑" panose="020B0503020204020204" pitchFamily="34" charset="-122"/>
                <a:ea typeface="微软雅黑" panose="020B0503020204020204" pitchFamily="34" charset="-122"/>
              </a:rPr>
              <a:t>会计师：</a:t>
            </a:r>
          </a:p>
        </p:txBody>
      </p:sp>
      <p:sp>
        <p:nvSpPr>
          <p:cNvPr id="9" name="矩形 8"/>
          <p:cNvSpPr/>
          <p:nvPr/>
        </p:nvSpPr>
        <p:spPr>
          <a:xfrm>
            <a:off x="1978944" y="2053146"/>
            <a:ext cx="5673348" cy="461665"/>
          </a:xfrm>
          <a:prstGeom prst="rect">
            <a:avLst/>
          </a:prstGeom>
          <a:ln w="25400">
            <a:noFill/>
          </a:ln>
        </p:spPr>
        <p:txBody>
          <a:bodyPr wrap="none">
            <a:spAutoFit/>
          </a:bodyPr>
          <a:lstStyle/>
          <a:p>
            <a:r>
              <a:rPr lang="en-US" sz="2400" b="1" dirty="0">
                <a:latin typeface="微软雅黑" panose="020B0503020204020204" pitchFamily="34" charset="-122"/>
                <a:ea typeface="微软雅黑" panose="020B0503020204020204" pitchFamily="34" charset="-122"/>
              </a:rPr>
              <a:t>经济学</a:t>
            </a:r>
            <a:r>
              <a:rPr lang="zh-CN" altLang="en-US" sz="2400" b="1" dirty="0">
                <a:latin typeface="微软雅黑" panose="020B0503020204020204" pitchFamily="34" charset="-122"/>
                <a:ea typeface="微软雅黑" panose="020B0503020204020204" pitchFamily="34" charset="-122"/>
              </a:rPr>
              <a:t>者</a:t>
            </a:r>
            <a:r>
              <a:rPr lang="en-US" sz="2400" b="1" dirty="0">
                <a:latin typeface="微软雅黑" panose="020B0503020204020204" pitchFamily="34" charset="-122"/>
                <a:ea typeface="微软雅黑" panose="020B0503020204020204" pitchFamily="34" charset="-122"/>
              </a:rPr>
              <a:t>和会计师在租房决策上的区别</a:t>
            </a:r>
            <a:r>
              <a:rPr lang="en-US" sz="2000" b="1" dirty="0">
                <a:latin typeface="微软雅黑" panose="020B0503020204020204" pitchFamily="34" charset="-122"/>
                <a:ea typeface="微软雅黑" panose="020B0503020204020204" pitchFamily="34" charset="-122"/>
              </a:rPr>
              <a:t>：</a:t>
            </a:r>
          </a:p>
        </p:txBody>
      </p:sp>
      <p:sp>
        <p:nvSpPr>
          <p:cNvPr id="10" name="矩形 9"/>
          <p:cNvSpPr/>
          <p:nvPr/>
        </p:nvSpPr>
        <p:spPr>
          <a:xfrm>
            <a:off x="6038609" y="3715029"/>
            <a:ext cx="1723549" cy="461665"/>
          </a:xfrm>
          <a:prstGeom prst="rect">
            <a:avLst/>
          </a:prstGeom>
          <a:ln w="25400">
            <a:noFill/>
          </a:ln>
        </p:spPr>
        <p:txBody>
          <a:bodyPr wrap="none">
            <a:spAutoFit/>
          </a:bodyPr>
          <a:lstStyle/>
          <a:p>
            <a:r>
              <a:rPr lang="en-US" sz="2400" b="1" dirty="0">
                <a:latin typeface="微软雅黑" panose="020B0503020204020204" pitchFamily="34" charset="-122"/>
                <a:ea typeface="微软雅黑" panose="020B0503020204020204" pitchFamily="34" charset="-122"/>
              </a:rPr>
              <a:t>经济学</a:t>
            </a:r>
            <a:r>
              <a:rPr lang="zh-CN" altLang="en-US" sz="2400" b="1" dirty="0">
                <a:latin typeface="微软雅黑" panose="020B0503020204020204" pitchFamily="34" charset="-122"/>
                <a:ea typeface="微软雅黑" panose="020B0503020204020204" pitchFamily="34" charset="-122"/>
              </a:rPr>
              <a:t>者</a:t>
            </a:r>
            <a:r>
              <a:rPr lang="en-US" sz="2400" b="1" dirty="0">
                <a:latin typeface="微软雅黑" panose="020B0503020204020204" pitchFamily="34" charset="-122"/>
                <a:ea typeface="微软雅黑" panose="020B0503020204020204" pitchFamily="34" charset="-122"/>
              </a:rPr>
              <a:t>：</a:t>
            </a:r>
          </a:p>
        </p:txBody>
      </p:sp>
      <p:sp>
        <p:nvSpPr>
          <p:cNvPr id="11" name="矩形 10"/>
          <p:cNvSpPr/>
          <p:nvPr/>
        </p:nvSpPr>
        <p:spPr>
          <a:xfrm>
            <a:off x="4908288" y="4217686"/>
            <a:ext cx="3984192" cy="923330"/>
          </a:xfrm>
          <a:prstGeom prst="rect">
            <a:avLst/>
          </a:prstGeom>
          <a:ln w="25400">
            <a:noFill/>
          </a:ln>
        </p:spPr>
        <p:txBody>
          <a:bodyPr wrap="square">
            <a:spAutoFit/>
          </a:bodyPr>
          <a:lstStyle/>
          <a:p>
            <a:r>
              <a:rPr lang="en-US" dirty="0">
                <a:latin typeface="微软雅黑" panose="020B0503020204020204" pitchFamily="34" charset="-122"/>
                <a:ea typeface="微软雅黑" panose="020B0503020204020204" pitchFamily="34" charset="-122"/>
              </a:rPr>
              <a:t>(1)出租的机会成本为700元</a:t>
            </a:r>
          </a:p>
          <a:p>
            <a:r>
              <a:rPr lang="en-US" dirty="0">
                <a:latin typeface="微软雅黑" panose="020B0503020204020204" pitchFamily="34" charset="-122"/>
                <a:ea typeface="微软雅黑" panose="020B0503020204020204" pitchFamily="34" charset="-122"/>
              </a:rPr>
              <a:t>(2)出租给该同学的收益为600元。</a:t>
            </a:r>
          </a:p>
          <a:p>
            <a:r>
              <a:rPr lang="en-US" dirty="0">
                <a:latin typeface="微软雅黑" panose="020B0503020204020204" pitchFamily="34" charset="-122"/>
                <a:ea typeface="微软雅黑" panose="020B0503020204020204" pitchFamily="34" charset="-122"/>
              </a:rPr>
              <a:t>经济利润为－100，不租给该同学。</a:t>
            </a:r>
          </a:p>
        </p:txBody>
      </p:sp>
      <p:sp>
        <p:nvSpPr>
          <p:cNvPr id="12" name="矩形 11">
            <a:extLst>
              <a:ext uri="{FF2B5EF4-FFF2-40B4-BE49-F238E27FC236}">
                <a16:creationId xmlns:a16="http://schemas.microsoft.com/office/drawing/2014/main" id="{704BD904-E550-4288-8FAD-E698A6ED3096}"/>
              </a:ext>
            </a:extLst>
          </p:cNvPr>
          <p:cNvSpPr/>
          <p:nvPr/>
        </p:nvSpPr>
        <p:spPr>
          <a:xfrm>
            <a:off x="580922" y="520573"/>
            <a:ext cx="319899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一、经济学中的成本</a:t>
            </a:r>
          </a:p>
        </p:txBody>
      </p:sp>
    </p:spTree>
    <p:extLst>
      <p:ext uri="{BB962C8B-B14F-4D97-AF65-F5344CB8AC3E}">
        <p14:creationId xmlns:p14="http://schemas.microsoft.com/office/powerpoint/2010/main" val="96389668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circle(in)">
                                      <p:cBhvr>
                                        <p:cTn id="14" dur="2000"/>
                                        <p:tgtEl>
                                          <p:spTgt spid="2"/>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ircle(in)">
                                      <p:cBhvr>
                                        <p:cTn id="17" dur="2000"/>
                                        <p:tgtEl>
                                          <p:spTgt spid="6"/>
                                        </p:tgtEl>
                                      </p:cBhvr>
                                    </p:animEffect>
                                  </p:childTnLst>
                                </p:cTn>
                              </p:par>
                              <p:par>
                                <p:cTn id="18" presetID="6" presetClass="entr" presetSubtype="16"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circle(in)">
                                      <p:cBhvr>
                                        <p:cTn id="20" dur="20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grpId="0" nodeType="click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circle(in)">
                                      <p:cBhvr>
                                        <p:cTn id="25" dur="2000"/>
                                        <p:tgtEl>
                                          <p:spTgt spid="3"/>
                                        </p:tgtEl>
                                      </p:cBhvr>
                                    </p:animEffect>
                                  </p:childTnLst>
                                </p:cTn>
                              </p:par>
                              <p:par>
                                <p:cTn id="26" presetID="6" presetClass="entr" presetSubtype="16"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circle(in)">
                                      <p:cBhvr>
                                        <p:cTn id="28" dur="2000"/>
                                        <p:tgtEl>
                                          <p:spTgt spid="7"/>
                                        </p:tgtEl>
                                      </p:cBhvr>
                                    </p:animEffect>
                                  </p:childTnLst>
                                </p:cTn>
                              </p:par>
                              <p:par>
                                <p:cTn id="29" presetID="6" presetClass="entr" presetSubtype="16"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circle(in)">
                                      <p:cBhvr>
                                        <p:cTn id="31" dur="20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ircle(in)">
                                      <p:cBhvr>
                                        <p:cTn id="36" dur="2000"/>
                                        <p:tgtEl>
                                          <p:spTgt spid="4"/>
                                        </p:tgtEl>
                                      </p:cBhvr>
                                    </p:animEffect>
                                  </p:childTnLst>
                                </p:cTn>
                              </p:par>
                              <p:par>
                                <p:cTn id="37" presetID="6" presetClass="entr" presetSubtype="16"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circle(in)">
                                      <p:cBhvr>
                                        <p:cTn id="39" dur="2000"/>
                                        <p:tgtEl>
                                          <p:spTgt spid="10"/>
                                        </p:tgtEl>
                                      </p:cBhvr>
                                    </p:animEffect>
                                  </p:childTnLst>
                                </p:cTn>
                              </p:par>
                              <p:par>
                                <p:cTn id="40" presetID="6" presetClass="entr" presetSubtype="16"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circle(in)">
                                      <p:cBhvr>
                                        <p:cTn id="42"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p:bldP spid="7" grpId="0"/>
      <p:bldP spid="8" grpId="0"/>
      <p:bldP spid="9" grpId="0"/>
      <p:bldP spid="10" grpId="0"/>
      <p:bldP spid="11" grpId="0"/>
      <p:bldP spid="12"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补充概念</a:t>
            </a:r>
          </a:p>
        </p:txBody>
      </p:sp>
      <p:sp>
        <p:nvSpPr>
          <p:cNvPr id="3" name="内容占位符 2"/>
          <p:cNvSpPr>
            <a:spLocks noGrp="1"/>
          </p:cNvSpPr>
          <p:nvPr>
            <p:ph idx="1"/>
          </p:nvPr>
        </p:nvSpPr>
        <p:spPr/>
        <p:txBody>
          <a:bodyPr>
            <a:normAutofit fontScale="77500" lnSpcReduction="20000"/>
          </a:bodyPr>
          <a:lstStyle/>
          <a:p>
            <a:pPr eaLnBrk="1" hangingPunct="1">
              <a:lnSpc>
                <a:spcPct val="150000"/>
              </a:lnSpc>
              <a:defRPr/>
            </a:pPr>
            <a:r>
              <a:rPr lang="zh-CN" altLang="en-US" sz="2600" dirty="0">
                <a:ea typeface="宋体" panose="02010600030101010101" pitchFamily="2" charset="-122"/>
              </a:rPr>
              <a:t>私人成本</a:t>
            </a:r>
          </a:p>
          <a:p>
            <a:pPr lvl="1" eaLnBrk="1" hangingPunct="1">
              <a:lnSpc>
                <a:spcPct val="150000"/>
              </a:lnSpc>
              <a:defRPr/>
            </a:pPr>
            <a:r>
              <a:rPr lang="zh-CN" altLang="en-US" sz="2400" dirty="0">
                <a:ea typeface="宋体" panose="02010600030101010101" pitchFamily="2" charset="-122"/>
              </a:rPr>
              <a:t>单个厂商承担的生产某种商品或提供某种服务的成本。</a:t>
            </a:r>
          </a:p>
          <a:p>
            <a:pPr lvl="1" eaLnBrk="1" hangingPunct="1">
              <a:lnSpc>
                <a:spcPct val="150000"/>
              </a:lnSpc>
              <a:defRPr/>
            </a:pPr>
            <a:r>
              <a:rPr lang="zh-CN" altLang="en-US" sz="2400" dirty="0">
                <a:ea typeface="宋体" panose="02010600030101010101" pitchFamily="2" charset="-122"/>
              </a:rPr>
              <a:t>个人行为给自身带来的不便或损失。</a:t>
            </a:r>
          </a:p>
          <a:p>
            <a:pPr eaLnBrk="1" hangingPunct="1">
              <a:lnSpc>
                <a:spcPct val="150000"/>
              </a:lnSpc>
              <a:defRPr/>
            </a:pPr>
            <a:r>
              <a:rPr lang="zh-CN" altLang="en-US" sz="2600" dirty="0">
                <a:ea typeface="宋体" panose="02010600030101010101" pitchFamily="2" charset="-122"/>
              </a:rPr>
              <a:t>外部成本</a:t>
            </a:r>
          </a:p>
          <a:p>
            <a:pPr lvl="1" eaLnBrk="1" hangingPunct="1">
              <a:lnSpc>
                <a:spcPct val="150000"/>
              </a:lnSpc>
              <a:defRPr/>
            </a:pPr>
            <a:r>
              <a:rPr lang="zh-CN" altLang="en-US" sz="2400" dirty="0">
                <a:ea typeface="宋体" panose="02010600030101010101" pitchFamily="2" charset="-122"/>
              </a:rPr>
              <a:t>单个厂商在生产过程中，实际产生但</a:t>
            </a:r>
            <a:r>
              <a:rPr lang="zh-CN" altLang="en-US" sz="3200" dirty="0">
                <a:solidFill>
                  <a:srgbClr val="C00000"/>
                </a:solidFill>
                <a:ea typeface="宋体" panose="02010600030101010101" pitchFamily="2" charset="-122"/>
              </a:rPr>
              <a:t>不</a:t>
            </a:r>
            <a:r>
              <a:rPr lang="zh-CN" altLang="en-US" sz="2400" dirty="0">
                <a:ea typeface="宋体" panose="02010600030101010101" pitchFamily="2" charset="-122"/>
              </a:rPr>
              <a:t>由自身承担的成本。</a:t>
            </a:r>
          </a:p>
          <a:p>
            <a:pPr lvl="1" eaLnBrk="1" hangingPunct="1">
              <a:lnSpc>
                <a:spcPct val="150000"/>
              </a:lnSpc>
              <a:defRPr/>
            </a:pPr>
            <a:r>
              <a:rPr lang="zh-CN" altLang="en-US" sz="2400" dirty="0">
                <a:ea typeface="宋体" panose="02010600030101010101" pitchFamily="2" charset="-122"/>
              </a:rPr>
              <a:t>个人行为给他人带来的不便或损失。</a:t>
            </a:r>
            <a:endParaRPr lang="en-US" altLang="zh-CN" sz="2400" dirty="0">
              <a:ea typeface="宋体" panose="02010600030101010101" pitchFamily="2" charset="-122"/>
            </a:endParaRPr>
          </a:p>
          <a:p>
            <a:pPr eaLnBrk="1" hangingPunct="1">
              <a:lnSpc>
                <a:spcPct val="150000"/>
              </a:lnSpc>
              <a:defRPr/>
            </a:pPr>
            <a:r>
              <a:rPr lang="zh-CN" altLang="en-US" sz="2600" dirty="0">
                <a:ea typeface="宋体" panose="02010600030101010101" pitchFamily="2" charset="-122"/>
              </a:rPr>
              <a:t>社会成本</a:t>
            </a:r>
            <a:endParaRPr lang="en-US" altLang="zh-CN" sz="2600" dirty="0">
              <a:ea typeface="宋体" panose="02010600030101010101" pitchFamily="2" charset="-122"/>
            </a:endParaRPr>
          </a:p>
          <a:p>
            <a:pPr lvl="1" eaLnBrk="1" hangingPunct="1">
              <a:lnSpc>
                <a:spcPct val="150000"/>
              </a:lnSpc>
              <a:defRPr/>
            </a:pPr>
            <a:r>
              <a:rPr lang="zh-CN" altLang="en-US" sz="2400" dirty="0">
                <a:ea typeface="宋体" panose="02010600030101010101" pitchFamily="2" charset="-122"/>
              </a:rPr>
              <a:t>生产某种产品的全部成本，包括私人成本和外部成本。</a:t>
            </a:r>
            <a:endParaRPr lang="en-US" altLang="zh-CN" sz="2400" dirty="0">
              <a:ea typeface="宋体" panose="02010600030101010101" pitchFamily="2" charset="-122"/>
            </a:endParaRPr>
          </a:p>
          <a:p>
            <a:pPr lvl="1" eaLnBrk="1" hangingPunct="1">
              <a:lnSpc>
                <a:spcPct val="150000"/>
              </a:lnSpc>
              <a:defRPr/>
            </a:pPr>
            <a:r>
              <a:rPr lang="zh-CN" altLang="en-US" sz="2400" dirty="0">
                <a:ea typeface="宋体" panose="02010600030101010101" pitchFamily="2" charset="-122"/>
              </a:rPr>
              <a:t>个人行为给总体社会带来的总成本，但是个人或厂商决策时，只会考虑私人成本，不会考虑社会成本。</a:t>
            </a:r>
          </a:p>
          <a:p>
            <a:endParaRPr lang="zh-CN" altLang="en-US" dirty="0"/>
          </a:p>
        </p:txBody>
      </p:sp>
    </p:spTree>
    <p:extLst>
      <p:ext uri="{BB962C8B-B14F-4D97-AF65-F5344CB8AC3E}">
        <p14:creationId xmlns:p14="http://schemas.microsoft.com/office/powerpoint/2010/main" val="2858211879"/>
      </p:ext>
    </p:extLst>
  </p:cSld>
  <p:clrMapOvr>
    <a:masterClrMapping/>
  </p:clrMapOvr>
  <p:transition>
    <p:random/>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noChangeArrowheads="1"/>
          </p:cNvSpPr>
          <p:nvPr>
            <p:ph type="title"/>
          </p:nvPr>
        </p:nvSpPr>
        <p:spPr/>
        <p:txBody>
          <a:bodyPr/>
          <a:lstStyle/>
          <a:p>
            <a:pPr eaLnBrk="1" hangingPunct="1"/>
            <a:r>
              <a:rPr lang="zh-CN" altLang="en-US" b="1" dirty="0">
                <a:solidFill>
                  <a:srgbClr val="C00000"/>
                </a:solidFill>
                <a:ea typeface="宋体" panose="02010600030101010101" pitchFamily="2" charset="-122"/>
              </a:rPr>
              <a:t>例题</a:t>
            </a:r>
            <a:endParaRPr lang="en-US" altLang="zh-CN" b="1" dirty="0">
              <a:solidFill>
                <a:srgbClr val="C00000"/>
              </a:solidFill>
              <a:ea typeface="宋体" panose="02010600030101010101" pitchFamily="2" charset="-122"/>
            </a:endParaRPr>
          </a:p>
        </p:txBody>
      </p:sp>
      <p:sp>
        <p:nvSpPr>
          <p:cNvPr id="22531" name="Content Placeholder 2"/>
          <p:cNvSpPr>
            <a:spLocks noGrp="1" noChangeArrowheads="1"/>
          </p:cNvSpPr>
          <p:nvPr>
            <p:ph idx="1"/>
          </p:nvPr>
        </p:nvSpPr>
        <p:spPr/>
        <p:txBody>
          <a:bodyPr>
            <a:normAutofit fontScale="92500" lnSpcReduction="20000"/>
          </a:bodyPr>
          <a:lstStyle/>
          <a:p>
            <a:pPr eaLnBrk="1" hangingPunct="1">
              <a:lnSpc>
                <a:spcPct val="150000"/>
              </a:lnSpc>
            </a:pPr>
            <a:r>
              <a:rPr lang="zh-CN" altLang="en-US" dirty="0">
                <a:solidFill>
                  <a:schemeClr val="accent5">
                    <a:lumMod val="25000"/>
                  </a:schemeClr>
                </a:solidFill>
                <a:ea typeface="宋体" panose="02010600030101010101" pitchFamily="2" charset="-122"/>
              </a:rPr>
              <a:t>假设小章放弃年薪为</a:t>
            </a:r>
            <a:r>
              <a:rPr lang="en-US" altLang="zh-CN" dirty="0">
                <a:solidFill>
                  <a:schemeClr val="accent5">
                    <a:lumMod val="25000"/>
                  </a:schemeClr>
                </a:solidFill>
                <a:ea typeface="宋体" panose="02010600030101010101" pitchFamily="2" charset="-122"/>
              </a:rPr>
              <a:t>100</a:t>
            </a:r>
            <a:r>
              <a:rPr lang="zh-CN" altLang="en-US" dirty="0">
                <a:solidFill>
                  <a:schemeClr val="accent5">
                    <a:lumMod val="25000"/>
                  </a:schemeClr>
                </a:solidFill>
                <a:ea typeface="宋体" panose="02010600030101010101" pitchFamily="2" charset="-122"/>
              </a:rPr>
              <a:t>元的工作，自己开了一家奶茶店。他自己投资</a:t>
            </a:r>
            <a:r>
              <a:rPr lang="en-US" altLang="zh-CN" dirty="0">
                <a:solidFill>
                  <a:schemeClr val="accent5">
                    <a:lumMod val="25000"/>
                  </a:schemeClr>
                </a:solidFill>
                <a:ea typeface="宋体" panose="02010600030101010101" pitchFamily="2" charset="-122"/>
              </a:rPr>
              <a:t>2000</a:t>
            </a:r>
            <a:r>
              <a:rPr lang="zh-CN" altLang="en-US" dirty="0">
                <a:solidFill>
                  <a:schemeClr val="accent5">
                    <a:lumMod val="25000"/>
                  </a:schemeClr>
                </a:solidFill>
                <a:ea typeface="宋体" panose="02010600030101010101" pitchFamily="2" charset="-122"/>
              </a:rPr>
              <a:t>元，向小李贷款</a:t>
            </a:r>
            <a:r>
              <a:rPr lang="en-US" altLang="zh-CN" dirty="0">
                <a:solidFill>
                  <a:schemeClr val="accent5">
                    <a:lumMod val="25000"/>
                  </a:schemeClr>
                </a:solidFill>
                <a:ea typeface="宋体" panose="02010600030101010101" pitchFamily="2" charset="-122"/>
              </a:rPr>
              <a:t>2000</a:t>
            </a:r>
            <a:r>
              <a:rPr lang="zh-CN" altLang="en-US" dirty="0">
                <a:solidFill>
                  <a:schemeClr val="accent5">
                    <a:lumMod val="25000"/>
                  </a:schemeClr>
                </a:solidFill>
                <a:ea typeface="宋体" panose="02010600030101010101" pitchFamily="2" charset="-122"/>
              </a:rPr>
              <a:t>元，年利率为</a:t>
            </a:r>
            <a:r>
              <a:rPr lang="en-US" altLang="zh-CN" dirty="0">
                <a:solidFill>
                  <a:schemeClr val="accent5">
                    <a:lumMod val="25000"/>
                  </a:schemeClr>
                </a:solidFill>
                <a:ea typeface="宋体" panose="02010600030101010101" pitchFamily="2" charset="-122"/>
              </a:rPr>
              <a:t>10%</a:t>
            </a:r>
            <a:r>
              <a:rPr lang="zh-CN" altLang="en-US" dirty="0">
                <a:solidFill>
                  <a:schemeClr val="accent5">
                    <a:lumMod val="25000"/>
                  </a:schemeClr>
                </a:solidFill>
                <a:ea typeface="宋体" panose="02010600030101010101" pitchFamily="2" charset="-122"/>
              </a:rPr>
              <a:t>。他花费了</a:t>
            </a:r>
            <a:r>
              <a:rPr lang="en-US" altLang="zh-CN" dirty="0">
                <a:solidFill>
                  <a:schemeClr val="accent5">
                    <a:lumMod val="25000"/>
                  </a:schemeClr>
                </a:solidFill>
                <a:ea typeface="宋体" panose="02010600030101010101" pitchFamily="2" charset="-122"/>
              </a:rPr>
              <a:t>2000</a:t>
            </a:r>
            <a:r>
              <a:rPr lang="zh-CN" altLang="en-US" dirty="0">
                <a:solidFill>
                  <a:schemeClr val="accent5">
                    <a:lumMod val="25000"/>
                  </a:schemeClr>
                </a:solidFill>
                <a:ea typeface="宋体" panose="02010600030101010101" pitchFamily="2" charset="-122"/>
              </a:rPr>
              <a:t>元用于租店面，</a:t>
            </a:r>
            <a:r>
              <a:rPr lang="en-US" altLang="zh-CN" dirty="0">
                <a:solidFill>
                  <a:schemeClr val="accent5">
                    <a:lumMod val="25000"/>
                  </a:schemeClr>
                </a:solidFill>
                <a:ea typeface="宋体" panose="02010600030101010101" pitchFamily="2" charset="-122"/>
              </a:rPr>
              <a:t>1000</a:t>
            </a:r>
            <a:r>
              <a:rPr lang="zh-CN" altLang="en-US" dirty="0">
                <a:solidFill>
                  <a:schemeClr val="accent5">
                    <a:lumMod val="25000"/>
                  </a:schemeClr>
                </a:solidFill>
                <a:ea typeface="宋体" panose="02010600030101010101" pitchFamily="2" charset="-122"/>
              </a:rPr>
              <a:t>元购买调奶茶机器，设备的使用寿命为</a:t>
            </a:r>
            <a:r>
              <a:rPr lang="en-US" altLang="zh-CN" dirty="0">
                <a:solidFill>
                  <a:schemeClr val="accent5">
                    <a:lumMod val="25000"/>
                  </a:schemeClr>
                </a:solidFill>
                <a:ea typeface="宋体" panose="02010600030101010101" pitchFamily="2" charset="-122"/>
              </a:rPr>
              <a:t>5</a:t>
            </a:r>
            <a:r>
              <a:rPr lang="zh-CN" altLang="en-US" dirty="0">
                <a:solidFill>
                  <a:schemeClr val="accent5">
                    <a:lumMod val="25000"/>
                  </a:schemeClr>
                </a:solidFill>
                <a:ea typeface="宋体" panose="02010600030101010101" pitchFamily="2" charset="-122"/>
              </a:rPr>
              <a:t>年。员工的年工资为</a:t>
            </a:r>
            <a:r>
              <a:rPr lang="en-US" altLang="zh-CN" dirty="0">
                <a:solidFill>
                  <a:schemeClr val="accent5">
                    <a:lumMod val="25000"/>
                  </a:schemeClr>
                </a:solidFill>
                <a:ea typeface="宋体" panose="02010600030101010101" pitchFamily="2" charset="-122"/>
              </a:rPr>
              <a:t>1000</a:t>
            </a:r>
            <a:r>
              <a:rPr lang="zh-CN" altLang="en-US" dirty="0">
                <a:solidFill>
                  <a:schemeClr val="accent5">
                    <a:lumMod val="25000"/>
                  </a:schemeClr>
                </a:solidFill>
                <a:ea typeface="宋体" panose="02010600030101010101" pitchFamily="2" charset="-122"/>
              </a:rPr>
              <a:t>元。该企业当年实现收益</a:t>
            </a:r>
            <a:r>
              <a:rPr lang="en-US" altLang="zh-CN" dirty="0">
                <a:solidFill>
                  <a:schemeClr val="accent5">
                    <a:lumMod val="25000"/>
                  </a:schemeClr>
                </a:solidFill>
                <a:ea typeface="宋体" panose="02010600030101010101" pitchFamily="2" charset="-122"/>
              </a:rPr>
              <a:t>3600</a:t>
            </a:r>
            <a:r>
              <a:rPr lang="zh-CN" altLang="en-US" dirty="0">
                <a:solidFill>
                  <a:schemeClr val="accent5">
                    <a:lumMod val="25000"/>
                  </a:schemeClr>
                </a:solidFill>
                <a:ea typeface="宋体" panose="02010600030101010101" pitchFamily="2" charset="-122"/>
              </a:rPr>
              <a:t>元。同时，小章还无偿将自己开发的某项奶茶秘方转让给当地政府，为当地政府节省了近</a:t>
            </a:r>
            <a:r>
              <a:rPr lang="en-US" altLang="zh-CN" dirty="0">
                <a:solidFill>
                  <a:schemeClr val="accent5">
                    <a:lumMod val="25000"/>
                  </a:schemeClr>
                </a:solidFill>
                <a:ea typeface="宋体" panose="02010600030101010101" pitchFamily="2" charset="-122"/>
              </a:rPr>
              <a:t>300</a:t>
            </a:r>
            <a:r>
              <a:rPr lang="zh-CN" altLang="en-US" dirty="0">
                <a:solidFill>
                  <a:schemeClr val="accent5">
                    <a:lumMod val="25000"/>
                  </a:schemeClr>
                </a:solidFill>
                <a:ea typeface="宋体" panose="02010600030101010101" pitchFamily="2" charset="-122"/>
              </a:rPr>
              <a:t>元的相关投入。</a:t>
            </a:r>
            <a:endParaRPr lang="en-US" altLang="zh-CN" dirty="0">
              <a:solidFill>
                <a:schemeClr val="accent5">
                  <a:lumMod val="25000"/>
                </a:schemeClr>
              </a:solidFill>
              <a:ea typeface="宋体" panose="02010600030101010101" pitchFamily="2" charset="-122"/>
            </a:endParaRPr>
          </a:p>
        </p:txBody>
      </p:sp>
    </p:spTree>
    <p:extLst>
      <p:ext uri="{BB962C8B-B14F-4D97-AF65-F5344CB8AC3E}">
        <p14:creationId xmlns:p14="http://schemas.microsoft.com/office/powerpoint/2010/main" val="4090535969"/>
      </p:ext>
    </p:extLst>
  </p:cSld>
  <p:clrMapOvr>
    <a:masterClrMapping/>
  </p:clrMapOvr>
  <p:transition>
    <p:rand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noChangeArrowheads="1"/>
          </p:cNvSpPr>
          <p:nvPr>
            <p:ph type="title"/>
          </p:nvPr>
        </p:nvSpPr>
        <p:spPr/>
        <p:txBody>
          <a:bodyPr/>
          <a:lstStyle/>
          <a:p>
            <a:pPr eaLnBrk="1" hangingPunct="1"/>
            <a:r>
              <a:rPr lang="zh-CN" altLang="en-US">
                <a:ea typeface="宋体" panose="02010600030101010101" pitchFamily="2" charset="-122"/>
              </a:rPr>
              <a:t>例题</a:t>
            </a:r>
            <a:endParaRPr lang="en-US" altLang="zh-CN">
              <a:ea typeface="宋体" panose="02010600030101010101" pitchFamily="2" charset="-122"/>
            </a:endParaRPr>
          </a:p>
        </p:txBody>
      </p:sp>
      <p:sp>
        <p:nvSpPr>
          <p:cNvPr id="23555" name="Content Placeholder 2"/>
          <p:cNvSpPr>
            <a:spLocks noGrp="1" noChangeArrowheads="1"/>
          </p:cNvSpPr>
          <p:nvPr>
            <p:ph idx="1"/>
          </p:nvPr>
        </p:nvSpPr>
        <p:spPr/>
        <p:txBody>
          <a:bodyPr>
            <a:normAutofit lnSpcReduction="10000"/>
          </a:bodyPr>
          <a:lstStyle/>
          <a:p>
            <a:pPr eaLnBrk="1" hangingPunct="1"/>
            <a:r>
              <a:rPr lang="zh-CN" altLang="en-US" dirty="0">
                <a:solidFill>
                  <a:schemeClr val="accent5">
                    <a:lumMod val="25000"/>
                  </a:schemeClr>
                </a:solidFill>
                <a:ea typeface="宋体" panose="02010600030101010101" pitchFamily="2" charset="-122"/>
              </a:rPr>
              <a:t>会计成本＝利息＋工资＋设备折旧</a:t>
            </a:r>
            <a:r>
              <a:rPr lang="en-US" altLang="zh-CN" dirty="0">
                <a:solidFill>
                  <a:schemeClr val="accent5">
                    <a:lumMod val="25000"/>
                  </a:schemeClr>
                </a:solidFill>
                <a:ea typeface="宋体" panose="02010600030101010101" pitchFamily="2" charset="-122"/>
              </a:rPr>
              <a:t>+</a:t>
            </a:r>
            <a:r>
              <a:rPr lang="zh-CN" altLang="en-US" dirty="0">
                <a:solidFill>
                  <a:schemeClr val="accent5">
                    <a:lumMod val="25000"/>
                  </a:schemeClr>
                </a:solidFill>
                <a:ea typeface="宋体" panose="02010600030101010101" pitchFamily="2" charset="-122"/>
              </a:rPr>
              <a:t>房租</a:t>
            </a:r>
            <a:endParaRPr lang="en-US" altLang="zh-CN" dirty="0">
              <a:solidFill>
                <a:schemeClr val="accent5">
                  <a:lumMod val="25000"/>
                </a:schemeClr>
              </a:solidFill>
              <a:ea typeface="宋体" panose="02010600030101010101" pitchFamily="2" charset="-122"/>
            </a:endParaRPr>
          </a:p>
          <a:p>
            <a:pPr eaLnBrk="1" hangingPunct="1">
              <a:buFont typeface="Wingdings" panose="05000000000000000000" pitchFamily="2" charset="2"/>
              <a:buNone/>
            </a:pPr>
            <a:r>
              <a:rPr lang="zh-CN" altLang="en-US" dirty="0">
                <a:solidFill>
                  <a:schemeClr val="accent5">
                    <a:lumMod val="25000"/>
                  </a:schemeClr>
                </a:solidFill>
                <a:ea typeface="宋体" panose="02010600030101010101" pitchFamily="2" charset="-122"/>
              </a:rPr>
              <a:t>          ＝</a:t>
            </a:r>
            <a:r>
              <a:rPr lang="en-US" altLang="zh-CN" dirty="0">
                <a:solidFill>
                  <a:schemeClr val="accent5">
                    <a:lumMod val="25000"/>
                  </a:schemeClr>
                </a:solidFill>
                <a:ea typeface="宋体" panose="02010600030101010101" pitchFamily="2" charset="-122"/>
              </a:rPr>
              <a:t>200+1000+200+2000</a:t>
            </a:r>
          </a:p>
          <a:p>
            <a:pPr eaLnBrk="1" hangingPunct="1">
              <a:buFont typeface="Wingdings" panose="05000000000000000000" pitchFamily="2" charset="2"/>
              <a:buNone/>
            </a:pPr>
            <a:r>
              <a:rPr lang="zh-CN" altLang="en-US" dirty="0">
                <a:solidFill>
                  <a:schemeClr val="accent5">
                    <a:lumMod val="25000"/>
                  </a:schemeClr>
                </a:solidFill>
                <a:ea typeface="宋体" panose="02010600030101010101" pitchFamily="2" charset="-122"/>
              </a:rPr>
              <a:t>          ＝</a:t>
            </a:r>
            <a:r>
              <a:rPr lang="en-US" altLang="zh-CN" dirty="0">
                <a:solidFill>
                  <a:schemeClr val="accent5">
                    <a:lumMod val="25000"/>
                  </a:schemeClr>
                </a:solidFill>
                <a:ea typeface="宋体" panose="02010600030101010101" pitchFamily="2" charset="-122"/>
              </a:rPr>
              <a:t>3400</a:t>
            </a:r>
            <a:r>
              <a:rPr lang="zh-CN" altLang="en-US" dirty="0">
                <a:solidFill>
                  <a:schemeClr val="accent5">
                    <a:lumMod val="25000"/>
                  </a:schemeClr>
                </a:solidFill>
                <a:ea typeface="宋体" panose="02010600030101010101" pitchFamily="2" charset="-122"/>
              </a:rPr>
              <a:t>（元）</a:t>
            </a:r>
            <a:endParaRPr lang="en-US" altLang="zh-CN" dirty="0">
              <a:solidFill>
                <a:schemeClr val="accent5">
                  <a:lumMod val="25000"/>
                </a:schemeClr>
              </a:solidFill>
              <a:ea typeface="宋体" panose="02010600030101010101" pitchFamily="2" charset="-122"/>
            </a:endParaRPr>
          </a:p>
          <a:p>
            <a:pPr eaLnBrk="1" hangingPunct="1"/>
            <a:r>
              <a:rPr lang="zh-CN" altLang="en-US" dirty="0">
                <a:solidFill>
                  <a:schemeClr val="accent5">
                    <a:lumMod val="25000"/>
                  </a:schemeClr>
                </a:solidFill>
                <a:ea typeface="宋体" panose="02010600030101010101" pitchFamily="2" charset="-122"/>
              </a:rPr>
              <a:t>内隐成本＝自有资本利息收入＋放弃的年薪</a:t>
            </a:r>
            <a:endParaRPr lang="en-US" altLang="zh-CN" dirty="0">
              <a:solidFill>
                <a:schemeClr val="accent5">
                  <a:lumMod val="25000"/>
                </a:schemeClr>
              </a:solidFill>
              <a:ea typeface="宋体" panose="02010600030101010101" pitchFamily="2" charset="-122"/>
            </a:endParaRPr>
          </a:p>
          <a:p>
            <a:pPr eaLnBrk="1" hangingPunct="1">
              <a:buFont typeface="Wingdings" panose="05000000000000000000" pitchFamily="2" charset="2"/>
              <a:buNone/>
            </a:pPr>
            <a:r>
              <a:rPr lang="zh-CN" altLang="en-US" dirty="0">
                <a:solidFill>
                  <a:schemeClr val="accent5">
                    <a:lumMod val="25000"/>
                  </a:schemeClr>
                </a:solidFill>
                <a:ea typeface="宋体" panose="02010600030101010101" pitchFamily="2" charset="-122"/>
              </a:rPr>
              <a:t>          ＝</a:t>
            </a:r>
            <a:r>
              <a:rPr lang="en-US" altLang="zh-CN" dirty="0">
                <a:solidFill>
                  <a:schemeClr val="accent5">
                    <a:lumMod val="25000"/>
                  </a:schemeClr>
                </a:solidFill>
                <a:ea typeface="宋体" panose="02010600030101010101" pitchFamily="2" charset="-122"/>
              </a:rPr>
              <a:t>200+100</a:t>
            </a:r>
          </a:p>
          <a:p>
            <a:pPr eaLnBrk="1" hangingPunct="1">
              <a:buFont typeface="Wingdings" panose="05000000000000000000" pitchFamily="2" charset="2"/>
              <a:buNone/>
            </a:pPr>
            <a:r>
              <a:rPr lang="en-US" altLang="zh-CN" dirty="0">
                <a:solidFill>
                  <a:schemeClr val="accent5">
                    <a:lumMod val="25000"/>
                  </a:schemeClr>
                </a:solidFill>
                <a:ea typeface="宋体" panose="02010600030101010101" pitchFamily="2" charset="-122"/>
              </a:rPr>
              <a:t>          </a:t>
            </a:r>
            <a:r>
              <a:rPr lang="zh-CN" altLang="en-US" dirty="0">
                <a:solidFill>
                  <a:schemeClr val="accent5">
                    <a:lumMod val="25000"/>
                  </a:schemeClr>
                </a:solidFill>
                <a:ea typeface="宋体" panose="02010600030101010101" pitchFamily="2" charset="-122"/>
              </a:rPr>
              <a:t>＝</a:t>
            </a:r>
            <a:r>
              <a:rPr lang="en-US" altLang="zh-CN" dirty="0">
                <a:solidFill>
                  <a:schemeClr val="accent5">
                    <a:lumMod val="25000"/>
                  </a:schemeClr>
                </a:solidFill>
                <a:ea typeface="宋体" panose="02010600030101010101" pitchFamily="2" charset="-122"/>
              </a:rPr>
              <a:t>300</a:t>
            </a:r>
            <a:r>
              <a:rPr lang="zh-CN" altLang="en-US" dirty="0">
                <a:solidFill>
                  <a:schemeClr val="accent5">
                    <a:lumMod val="25000"/>
                  </a:schemeClr>
                </a:solidFill>
                <a:ea typeface="宋体" panose="02010600030101010101" pitchFamily="2" charset="-122"/>
              </a:rPr>
              <a:t>（元）</a:t>
            </a:r>
            <a:endParaRPr lang="en-US" altLang="zh-CN" dirty="0">
              <a:solidFill>
                <a:schemeClr val="accent5">
                  <a:lumMod val="25000"/>
                </a:schemeClr>
              </a:solidFill>
              <a:ea typeface="宋体" panose="02010600030101010101" pitchFamily="2" charset="-122"/>
            </a:endParaRPr>
          </a:p>
          <a:p>
            <a:pPr eaLnBrk="1" hangingPunct="1"/>
            <a:r>
              <a:rPr lang="zh-CN" altLang="en-US" dirty="0">
                <a:solidFill>
                  <a:schemeClr val="accent5">
                    <a:lumMod val="25000"/>
                  </a:schemeClr>
                </a:solidFill>
                <a:ea typeface="宋体" panose="02010600030101010101" pitchFamily="2" charset="-122"/>
              </a:rPr>
              <a:t>私人总机会成本＝会计成本＋内隐成本</a:t>
            </a:r>
            <a:endParaRPr lang="en-US" altLang="zh-CN" dirty="0">
              <a:solidFill>
                <a:schemeClr val="accent5">
                  <a:lumMod val="25000"/>
                </a:schemeClr>
              </a:solidFill>
              <a:ea typeface="宋体" panose="02010600030101010101" pitchFamily="2" charset="-122"/>
            </a:endParaRPr>
          </a:p>
          <a:p>
            <a:pPr eaLnBrk="1" hangingPunct="1">
              <a:buFont typeface="Wingdings" panose="05000000000000000000" pitchFamily="2" charset="2"/>
              <a:buNone/>
            </a:pPr>
            <a:r>
              <a:rPr lang="en-US" altLang="zh-CN" dirty="0">
                <a:solidFill>
                  <a:schemeClr val="accent5">
                    <a:lumMod val="25000"/>
                  </a:schemeClr>
                </a:solidFill>
                <a:ea typeface="宋体" panose="02010600030101010101" pitchFamily="2" charset="-122"/>
              </a:rPr>
              <a:t>                </a:t>
            </a:r>
            <a:r>
              <a:rPr lang="zh-CN" altLang="en-US" dirty="0">
                <a:solidFill>
                  <a:schemeClr val="accent5">
                    <a:lumMod val="25000"/>
                  </a:schemeClr>
                </a:solidFill>
                <a:ea typeface="宋体" panose="02010600030101010101" pitchFamily="2" charset="-122"/>
              </a:rPr>
              <a:t>＝</a:t>
            </a:r>
            <a:r>
              <a:rPr lang="en-US" altLang="zh-CN" dirty="0">
                <a:solidFill>
                  <a:schemeClr val="accent5">
                    <a:lumMod val="25000"/>
                  </a:schemeClr>
                </a:solidFill>
                <a:ea typeface="宋体" panose="02010600030101010101" pitchFamily="2" charset="-122"/>
              </a:rPr>
              <a:t>3700</a:t>
            </a:r>
            <a:r>
              <a:rPr lang="zh-CN" altLang="en-US" dirty="0">
                <a:solidFill>
                  <a:schemeClr val="accent5">
                    <a:lumMod val="25000"/>
                  </a:schemeClr>
                </a:solidFill>
                <a:ea typeface="宋体" panose="02010600030101010101" pitchFamily="2" charset="-122"/>
              </a:rPr>
              <a:t>（元）</a:t>
            </a:r>
            <a:endParaRPr lang="en-US" altLang="zh-CN" dirty="0">
              <a:solidFill>
                <a:schemeClr val="accent5">
                  <a:lumMod val="25000"/>
                </a:schemeClr>
              </a:solidFill>
              <a:ea typeface="宋体" panose="02010600030101010101" pitchFamily="2" charset="-122"/>
            </a:endParaRPr>
          </a:p>
        </p:txBody>
      </p:sp>
    </p:spTree>
    <p:extLst>
      <p:ext uri="{BB962C8B-B14F-4D97-AF65-F5344CB8AC3E}">
        <p14:creationId xmlns:p14="http://schemas.microsoft.com/office/powerpoint/2010/main" val="4207922795"/>
      </p:ext>
    </p:extLst>
  </p:cSld>
  <p:clrMapOvr>
    <a:masterClrMapping/>
  </p:clrMapOvr>
  <p:transition>
    <p:random/>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noChangeArrowheads="1"/>
          </p:cNvSpPr>
          <p:nvPr>
            <p:ph type="title"/>
          </p:nvPr>
        </p:nvSpPr>
        <p:spPr/>
        <p:txBody>
          <a:bodyPr/>
          <a:lstStyle/>
          <a:p>
            <a:pPr eaLnBrk="1" hangingPunct="1"/>
            <a:r>
              <a:rPr lang="zh-CN" altLang="en-US">
                <a:ea typeface="宋体" panose="02010600030101010101" pitchFamily="2" charset="-122"/>
              </a:rPr>
              <a:t>例题</a:t>
            </a:r>
            <a:endParaRPr lang="en-US" altLang="zh-CN">
              <a:ea typeface="宋体" panose="02010600030101010101" pitchFamily="2" charset="-122"/>
            </a:endParaRPr>
          </a:p>
        </p:txBody>
      </p:sp>
      <p:sp>
        <p:nvSpPr>
          <p:cNvPr id="24579" name="Content Placeholder 2"/>
          <p:cNvSpPr>
            <a:spLocks noGrp="1" noChangeArrowheads="1"/>
          </p:cNvSpPr>
          <p:nvPr>
            <p:ph idx="1"/>
          </p:nvPr>
        </p:nvSpPr>
        <p:spPr>
          <a:xfrm>
            <a:off x="468313" y="1484313"/>
            <a:ext cx="8142287" cy="4687887"/>
          </a:xfrm>
        </p:spPr>
        <p:txBody>
          <a:bodyPr>
            <a:normAutofit/>
          </a:bodyPr>
          <a:lstStyle/>
          <a:p>
            <a:pPr eaLnBrk="1" hangingPunct="1"/>
            <a:r>
              <a:rPr lang="zh-CN" altLang="en-US" dirty="0">
                <a:solidFill>
                  <a:schemeClr val="accent5">
                    <a:lumMod val="25000"/>
                  </a:schemeClr>
                </a:solidFill>
                <a:ea typeface="宋体" panose="02010600030101010101" pitchFamily="2" charset="-122"/>
              </a:rPr>
              <a:t>社会成本＝私人成本＋外部成本</a:t>
            </a:r>
            <a:endParaRPr lang="en-US" altLang="zh-CN" dirty="0">
              <a:solidFill>
                <a:schemeClr val="accent5">
                  <a:lumMod val="25000"/>
                </a:schemeClr>
              </a:solidFill>
              <a:ea typeface="宋体" panose="02010600030101010101" pitchFamily="2" charset="-122"/>
            </a:endParaRPr>
          </a:p>
          <a:p>
            <a:pPr eaLnBrk="1" hangingPunct="1">
              <a:buFont typeface="Wingdings" panose="05000000000000000000" pitchFamily="2" charset="2"/>
              <a:buNone/>
            </a:pPr>
            <a:r>
              <a:rPr lang="en-US" altLang="zh-CN" dirty="0">
                <a:solidFill>
                  <a:schemeClr val="accent5">
                    <a:lumMod val="25000"/>
                  </a:schemeClr>
                </a:solidFill>
                <a:ea typeface="宋体" panose="02010600030101010101" pitchFamily="2" charset="-122"/>
              </a:rPr>
              <a:t>          </a:t>
            </a:r>
            <a:r>
              <a:rPr lang="zh-CN" altLang="en-US" dirty="0">
                <a:solidFill>
                  <a:schemeClr val="accent5">
                    <a:lumMod val="25000"/>
                  </a:schemeClr>
                </a:solidFill>
                <a:ea typeface="宋体" panose="02010600030101010101" pitchFamily="2" charset="-122"/>
              </a:rPr>
              <a:t>＝</a:t>
            </a:r>
            <a:r>
              <a:rPr lang="en-US" altLang="zh-CN" dirty="0">
                <a:solidFill>
                  <a:schemeClr val="accent5">
                    <a:lumMod val="25000"/>
                  </a:schemeClr>
                </a:solidFill>
                <a:ea typeface="宋体" panose="02010600030101010101" pitchFamily="2" charset="-122"/>
              </a:rPr>
              <a:t>3700</a:t>
            </a:r>
            <a:r>
              <a:rPr lang="zh-CN" altLang="en-US" dirty="0">
                <a:solidFill>
                  <a:schemeClr val="accent5">
                    <a:lumMod val="25000"/>
                  </a:schemeClr>
                </a:solidFill>
                <a:ea typeface="宋体" panose="02010600030101010101" pitchFamily="2" charset="-122"/>
              </a:rPr>
              <a:t>－</a:t>
            </a:r>
            <a:r>
              <a:rPr lang="en-US" altLang="zh-CN" dirty="0">
                <a:solidFill>
                  <a:schemeClr val="accent5">
                    <a:lumMod val="25000"/>
                  </a:schemeClr>
                </a:solidFill>
                <a:ea typeface="宋体" panose="02010600030101010101" pitchFamily="2" charset="-122"/>
              </a:rPr>
              <a:t>300</a:t>
            </a:r>
          </a:p>
          <a:p>
            <a:pPr eaLnBrk="1" hangingPunct="1">
              <a:buFont typeface="Wingdings" panose="05000000000000000000" pitchFamily="2" charset="2"/>
              <a:buNone/>
            </a:pPr>
            <a:r>
              <a:rPr lang="en-US" altLang="zh-CN" dirty="0">
                <a:solidFill>
                  <a:schemeClr val="accent5">
                    <a:lumMod val="25000"/>
                  </a:schemeClr>
                </a:solidFill>
                <a:ea typeface="宋体" panose="02010600030101010101" pitchFamily="2" charset="-122"/>
              </a:rPr>
              <a:t>          </a:t>
            </a:r>
            <a:r>
              <a:rPr lang="zh-CN" altLang="en-US" dirty="0">
                <a:solidFill>
                  <a:schemeClr val="accent5">
                    <a:lumMod val="25000"/>
                  </a:schemeClr>
                </a:solidFill>
                <a:ea typeface="宋体" panose="02010600030101010101" pitchFamily="2" charset="-122"/>
              </a:rPr>
              <a:t>＝</a:t>
            </a:r>
            <a:r>
              <a:rPr lang="en-US" altLang="zh-CN" dirty="0">
                <a:solidFill>
                  <a:schemeClr val="accent5">
                    <a:lumMod val="25000"/>
                  </a:schemeClr>
                </a:solidFill>
                <a:ea typeface="宋体" panose="02010600030101010101" pitchFamily="2" charset="-122"/>
              </a:rPr>
              <a:t>3400</a:t>
            </a:r>
            <a:r>
              <a:rPr lang="zh-CN" altLang="en-US" dirty="0">
                <a:solidFill>
                  <a:schemeClr val="accent5">
                    <a:lumMod val="25000"/>
                  </a:schemeClr>
                </a:solidFill>
                <a:ea typeface="宋体" panose="02010600030101010101" pitchFamily="2" charset="-122"/>
              </a:rPr>
              <a:t>（元）</a:t>
            </a:r>
            <a:endParaRPr lang="en-US" altLang="zh-CN" dirty="0">
              <a:solidFill>
                <a:schemeClr val="accent5">
                  <a:lumMod val="25000"/>
                </a:schemeClr>
              </a:solidFill>
              <a:ea typeface="宋体" panose="02010600030101010101" pitchFamily="2" charset="-122"/>
            </a:endParaRPr>
          </a:p>
          <a:p>
            <a:pPr eaLnBrk="1" hangingPunct="1"/>
            <a:r>
              <a:rPr lang="zh-CN" altLang="en-US" dirty="0">
                <a:solidFill>
                  <a:schemeClr val="accent5">
                    <a:lumMod val="25000"/>
                  </a:schemeClr>
                </a:solidFill>
                <a:ea typeface="宋体" panose="02010600030101010101" pitchFamily="2" charset="-122"/>
              </a:rPr>
              <a:t>会计利润＝收益－会计成本</a:t>
            </a:r>
            <a:endParaRPr lang="en-US" altLang="zh-CN" dirty="0">
              <a:solidFill>
                <a:schemeClr val="accent5">
                  <a:lumMod val="25000"/>
                </a:schemeClr>
              </a:solidFill>
              <a:ea typeface="宋体" panose="02010600030101010101" pitchFamily="2" charset="-122"/>
            </a:endParaRPr>
          </a:p>
          <a:p>
            <a:pPr eaLnBrk="1" hangingPunct="1">
              <a:buFont typeface="Wingdings" panose="05000000000000000000" pitchFamily="2" charset="2"/>
              <a:buNone/>
            </a:pPr>
            <a:r>
              <a:rPr lang="en-US" altLang="zh-CN" dirty="0">
                <a:solidFill>
                  <a:schemeClr val="accent5">
                    <a:lumMod val="25000"/>
                  </a:schemeClr>
                </a:solidFill>
                <a:ea typeface="宋体" panose="02010600030101010101" pitchFamily="2" charset="-122"/>
              </a:rPr>
              <a:t>          </a:t>
            </a:r>
            <a:r>
              <a:rPr lang="zh-CN" altLang="en-US" dirty="0">
                <a:solidFill>
                  <a:schemeClr val="accent5">
                    <a:lumMod val="25000"/>
                  </a:schemeClr>
                </a:solidFill>
                <a:ea typeface="宋体" panose="02010600030101010101" pitchFamily="2" charset="-122"/>
              </a:rPr>
              <a:t>＝</a:t>
            </a:r>
            <a:r>
              <a:rPr lang="en-US" altLang="zh-CN" dirty="0">
                <a:solidFill>
                  <a:schemeClr val="accent5">
                    <a:lumMod val="25000"/>
                  </a:schemeClr>
                </a:solidFill>
                <a:ea typeface="宋体" panose="02010600030101010101" pitchFamily="2" charset="-122"/>
              </a:rPr>
              <a:t>3600-3400</a:t>
            </a:r>
          </a:p>
          <a:p>
            <a:pPr eaLnBrk="1" hangingPunct="1">
              <a:buFont typeface="Wingdings" panose="05000000000000000000" pitchFamily="2" charset="2"/>
              <a:buNone/>
            </a:pPr>
            <a:r>
              <a:rPr lang="en-US" altLang="zh-CN" dirty="0">
                <a:solidFill>
                  <a:schemeClr val="accent5">
                    <a:lumMod val="25000"/>
                  </a:schemeClr>
                </a:solidFill>
                <a:ea typeface="宋体" panose="02010600030101010101" pitchFamily="2" charset="-122"/>
              </a:rPr>
              <a:t>          </a:t>
            </a:r>
            <a:r>
              <a:rPr lang="zh-CN" altLang="en-US" dirty="0">
                <a:solidFill>
                  <a:schemeClr val="accent5">
                    <a:lumMod val="25000"/>
                  </a:schemeClr>
                </a:solidFill>
                <a:ea typeface="宋体" panose="02010600030101010101" pitchFamily="2" charset="-122"/>
              </a:rPr>
              <a:t>＝</a:t>
            </a:r>
            <a:r>
              <a:rPr lang="en-US" altLang="zh-CN" dirty="0">
                <a:solidFill>
                  <a:schemeClr val="accent5">
                    <a:lumMod val="25000"/>
                  </a:schemeClr>
                </a:solidFill>
                <a:ea typeface="宋体" panose="02010600030101010101" pitchFamily="2" charset="-122"/>
              </a:rPr>
              <a:t>200</a:t>
            </a:r>
            <a:r>
              <a:rPr lang="zh-CN" altLang="en-US" dirty="0">
                <a:solidFill>
                  <a:schemeClr val="accent5">
                    <a:lumMod val="25000"/>
                  </a:schemeClr>
                </a:solidFill>
                <a:ea typeface="宋体" panose="02010600030101010101" pitchFamily="2" charset="-122"/>
              </a:rPr>
              <a:t>（元）</a:t>
            </a:r>
            <a:endParaRPr lang="en-US" altLang="zh-CN" dirty="0">
              <a:solidFill>
                <a:schemeClr val="accent5">
                  <a:lumMod val="25000"/>
                </a:schemeClr>
              </a:solidFill>
              <a:ea typeface="宋体" panose="02010600030101010101" pitchFamily="2" charset="-122"/>
            </a:endParaRPr>
          </a:p>
        </p:txBody>
      </p:sp>
    </p:spTree>
    <p:extLst>
      <p:ext uri="{BB962C8B-B14F-4D97-AF65-F5344CB8AC3E}">
        <p14:creationId xmlns:p14="http://schemas.microsoft.com/office/powerpoint/2010/main" val="3283762922"/>
      </p:ext>
    </p:extLst>
  </p:cSld>
  <p:clrMapOvr>
    <a:masterClrMapping/>
  </p:clrMapOvr>
  <p:transition>
    <p:random/>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title"/>
          </p:nvPr>
        </p:nvSpPr>
        <p:spPr/>
        <p:txBody>
          <a:bodyPr/>
          <a:lstStyle/>
          <a:p>
            <a:pPr eaLnBrk="1" hangingPunct="1"/>
            <a:r>
              <a:rPr lang="zh-CN" altLang="en-US" dirty="0">
                <a:ea typeface="宋体" panose="02010600030101010101" pitchFamily="2" charset="-122"/>
              </a:rPr>
              <a:t>例题</a:t>
            </a:r>
            <a:endParaRPr lang="en-US" altLang="zh-CN" dirty="0">
              <a:ea typeface="宋体" panose="02010600030101010101" pitchFamily="2" charset="-122"/>
            </a:endParaRPr>
          </a:p>
        </p:txBody>
      </p:sp>
      <p:sp>
        <p:nvSpPr>
          <p:cNvPr id="25603" name="Content Placeholder 2"/>
          <p:cNvSpPr>
            <a:spLocks noGrp="1" noChangeArrowheads="1"/>
          </p:cNvSpPr>
          <p:nvPr>
            <p:ph idx="1"/>
          </p:nvPr>
        </p:nvSpPr>
        <p:spPr>
          <a:xfrm>
            <a:off x="468313" y="1484313"/>
            <a:ext cx="8142287" cy="4687887"/>
          </a:xfrm>
        </p:spPr>
        <p:txBody>
          <a:bodyPr>
            <a:normAutofit fontScale="92500" lnSpcReduction="10000"/>
          </a:bodyPr>
          <a:lstStyle/>
          <a:p>
            <a:pPr eaLnBrk="1" hangingPunct="1"/>
            <a:r>
              <a:rPr lang="zh-CN" altLang="en-US" dirty="0">
                <a:solidFill>
                  <a:schemeClr val="accent5">
                    <a:lumMod val="25000"/>
                  </a:schemeClr>
                </a:solidFill>
                <a:ea typeface="宋体" panose="02010600030101010101" pitchFamily="2" charset="-122"/>
              </a:rPr>
              <a:t>经济利润＝总收益－私人总机会成本</a:t>
            </a:r>
            <a:endParaRPr lang="en-US" altLang="zh-CN" dirty="0">
              <a:solidFill>
                <a:schemeClr val="accent5">
                  <a:lumMod val="25000"/>
                </a:schemeClr>
              </a:solidFill>
              <a:ea typeface="宋体" panose="02010600030101010101" pitchFamily="2" charset="-122"/>
            </a:endParaRPr>
          </a:p>
          <a:p>
            <a:pPr eaLnBrk="1" hangingPunct="1">
              <a:buFont typeface="Wingdings" panose="05000000000000000000" pitchFamily="2" charset="2"/>
              <a:buNone/>
            </a:pPr>
            <a:r>
              <a:rPr lang="zh-CN" altLang="en-US" dirty="0">
                <a:solidFill>
                  <a:schemeClr val="accent5">
                    <a:lumMod val="25000"/>
                  </a:schemeClr>
                </a:solidFill>
                <a:ea typeface="宋体" panose="02010600030101010101" pitchFamily="2" charset="-122"/>
              </a:rPr>
              <a:t>          ＝</a:t>
            </a:r>
            <a:r>
              <a:rPr lang="en-US" altLang="zh-CN" dirty="0">
                <a:solidFill>
                  <a:schemeClr val="accent5">
                    <a:lumMod val="25000"/>
                  </a:schemeClr>
                </a:solidFill>
                <a:ea typeface="宋体" panose="02010600030101010101" pitchFamily="2" charset="-122"/>
              </a:rPr>
              <a:t>3600-3700</a:t>
            </a:r>
          </a:p>
          <a:p>
            <a:pPr eaLnBrk="1" hangingPunct="1">
              <a:buFont typeface="Wingdings" panose="05000000000000000000" pitchFamily="2" charset="2"/>
              <a:buNone/>
            </a:pPr>
            <a:r>
              <a:rPr lang="en-US" altLang="zh-CN" dirty="0">
                <a:solidFill>
                  <a:schemeClr val="accent5">
                    <a:lumMod val="25000"/>
                  </a:schemeClr>
                </a:solidFill>
                <a:ea typeface="宋体" panose="02010600030101010101" pitchFamily="2" charset="-122"/>
              </a:rPr>
              <a:t>          </a:t>
            </a:r>
            <a:r>
              <a:rPr lang="zh-CN" altLang="en-US" dirty="0">
                <a:solidFill>
                  <a:schemeClr val="accent5">
                    <a:lumMod val="25000"/>
                  </a:schemeClr>
                </a:solidFill>
                <a:ea typeface="宋体" panose="02010600030101010101" pitchFamily="2" charset="-122"/>
              </a:rPr>
              <a:t>＝－</a:t>
            </a:r>
            <a:r>
              <a:rPr lang="en-US" altLang="zh-CN" dirty="0">
                <a:solidFill>
                  <a:schemeClr val="accent5">
                    <a:lumMod val="25000"/>
                  </a:schemeClr>
                </a:solidFill>
                <a:ea typeface="宋体" panose="02010600030101010101" pitchFamily="2" charset="-122"/>
              </a:rPr>
              <a:t>100</a:t>
            </a:r>
            <a:r>
              <a:rPr lang="zh-CN" altLang="en-US" dirty="0">
                <a:solidFill>
                  <a:schemeClr val="accent5">
                    <a:lumMod val="25000"/>
                  </a:schemeClr>
                </a:solidFill>
                <a:ea typeface="宋体" panose="02010600030101010101" pitchFamily="2" charset="-122"/>
              </a:rPr>
              <a:t>（元）</a:t>
            </a:r>
            <a:endParaRPr lang="en-US" altLang="zh-CN" dirty="0">
              <a:solidFill>
                <a:schemeClr val="accent5">
                  <a:lumMod val="25000"/>
                </a:schemeClr>
              </a:solidFill>
              <a:ea typeface="宋体" panose="02010600030101010101" pitchFamily="2" charset="-122"/>
            </a:endParaRPr>
          </a:p>
          <a:p>
            <a:pPr eaLnBrk="1" hangingPunct="1"/>
            <a:r>
              <a:rPr lang="zh-CN" altLang="en-US" dirty="0">
                <a:solidFill>
                  <a:schemeClr val="accent5">
                    <a:lumMod val="25000"/>
                  </a:schemeClr>
                </a:solidFill>
                <a:ea typeface="宋体" panose="02010600030101010101" pitchFamily="2" charset="-122"/>
              </a:rPr>
              <a:t>社会总利润＝（私人）经济利润</a:t>
            </a:r>
            <a:r>
              <a:rPr lang="en-US" altLang="zh-CN" dirty="0">
                <a:solidFill>
                  <a:schemeClr val="accent5">
                    <a:lumMod val="25000"/>
                  </a:schemeClr>
                </a:solidFill>
                <a:ea typeface="宋体" panose="02010600030101010101" pitchFamily="2" charset="-122"/>
              </a:rPr>
              <a:t>+</a:t>
            </a:r>
            <a:r>
              <a:rPr lang="zh-CN" altLang="en-US" dirty="0">
                <a:solidFill>
                  <a:schemeClr val="accent5">
                    <a:lumMod val="25000"/>
                  </a:schemeClr>
                </a:solidFill>
                <a:ea typeface="宋体" panose="02010600030101010101" pitchFamily="2" charset="-122"/>
              </a:rPr>
              <a:t>外部收益</a:t>
            </a:r>
            <a:endParaRPr lang="en-US" altLang="zh-CN" dirty="0">
              <a:solidFill>
                <a:schemeClr val="accent5">
                  <a:lumMod val="25000"/>
                </a:schemeClr>
              </a:solidFill>
              <a:ea typeface="宋体" panose="02010600030101010101" pitchFamily="2" charset="-122"/>
            </a:endParaRPr>
          </a:p>
          <a:p>
            <a:pPr eaLnBrk="1" hangingPunct="1">
              <a:buFont typeface="Wingdings" panose="05000000000000000000" pitchFamily="2" charset="2"/>
              <a:buNone/>
            </a:pPr>
            <a:r>
              <a:rPr lang="en-US" altLang="zh-CN" dirty="0">
                <a:solidFill>
                  <a:schemeClr val="accent5">
                    <a:lumMod val="25000"/>
                  </a:schemeClr>
                </a:solidFill>
                <a:ea typeface="宋体" panose="02010600030101010101" pitchFamily="2" charset="-122"/>
              </a:rPr>
              <a:t>            </a:t>
            </a:r>
            <a:r>
              <a:rPr lang="zh-CN" altLang="zh-CN" dirty="0">
                <a:solidFill>
                  <a:schemeClr val="accent5">
                    <a:lumMod val="25000"/>
                  </a:schemeClr>
                </a:solidFill>
                <a:ea typeface="宋体" panose="02010600030101010101" pitchFamily="2" charset="-122"/>
              </a:rPr>
              <a:t>＝</a:t>
            </a:r>
            <a:r>
              <a:rPr lang="en-US" altLang="zh-CN" dirty="0">
                <a:solidFill>
                  <a:schemeClr val="accent5">
                    <a:lumMod val="25000"/>
                  </a:schemeClr>
                </a:solidFill>
                <a:ea typeface="宋体" panose="02010600030101010101" pitchFamily="2" charset="-122"/>
              </a:rPr>
              <a:t>-100+300</a:t>
            </a:r>
          </a:p>
          <a:p>
            <a:pPr eaLnBrk="1" hangingPunct="1">
              <a:buFont typeface="Wingdings" panose="05000000000000000000" pitchFamily="2" charset="2"/>
              <a:buNone/>
            </a:pPr>
            <a:r>
              <a:rPr lang="en-US" altLang="zh-CN" dirty="0">
                <a:solidFill>
                  <a:schemeClr val="accent5">
                    <a:lumMod val="25000"/>
                  </a:schemeClr>
                </a:solidFill>
                <a:ea typeface="宋体" panose="02010600030101010101" pitchFamily="2" charset="-122"/>
              </a:rPr>
              <a:t>            </a:t>
            </a:r>
            <a:r>
              <a:rPr lang="zh-CN" altLang="en-US" dirty="0">
                <a:solidFill>
                  <a:schemeClr val="accent5">
                    <a:lumMod val="25000"/>
                  </a:schemeClr>
                </a:solidFill>
                <a:ea typeface="宋体" panose="02010600030101010101" pitchFamily="2" charset="-122"/>
              </a:rPr>
              <a:t>＝</a:t>
            </a:r>
            <a:r>
              <a:rPr lang="en-US" altLang="ja-JP" dirty="0">
                <a:solidFill>
                  <a:schemeClr val="accent5">
                    <a:lumMod val="25000"/>
                  </a:schemeClr>
                </a:solidFill>
                <a:ea typeface="MS PGothic" panose="020B0600070205080204" pitchFamily="34" charset="-128"/>
              </a:rPr>
              <a:t>200</a:t>
            </a:r>
            <a:r>
              <a:rPr lang="zh-CN" altLang="en-US" dirty="0">
                <a:solidFill>
                  <a:schemeClr val="accent5">
                    <a:lumMod val="25000"/>
                  </a:schemeClr>
                </a:solidFill>
                <a:ea typeface="宋体" panose="02010600030101010101" pitchFamily="2" charset="-122"/>
              </a:rPr>
              <a:t>（元）</a:t>
            </a:r>
            <a:endParaRPr lang="en-US" altLang="zh-CN" dirty="0">
              <a:solidFill>
                <a:schemeClr val="accent5">
                  <a:lumMod val="25000"/>
                </a:schemeClr>
              </a:solidFill>
              <a:ea typeface="宋体" panose="02010600030101010101" pitchFamily="2" charset="-122"/>
            </a:endParaRPr>
          </a:p>
          <a:p>
            <a:pPr eaLnBrk="1" hangingPunct="1">
              <a:buFont typeface="Wingdings" panose="05000000000000000000" pitchFamily="2" charset="2"/>
              <a:buNone/>
            </a:pPr>
            <a:r>
              <a:rPr lang="zh-CN" altLang="en-US" dirty="0">
                <a:solidFill>
                  <a:schemeClr val="accent5">
                    <a:lumMod val="25000"/>
                  </a:schemeClr>
                </a:solidFill>
                <a:ea typeface="宋体" panose="02010600030101010101" pitchFamily="2" charset="-122"/>
              </a:rPr>
              <a:t>            ＝私人总收益</a:t>
            </a:r>
            <a:r>
              <a:rPr lang="en-US" altLang="zh-CN" dirty="0">
                <a:solidFill>
                  <a:schemeClr val="accent5">
                    <a:lumMod val="25000"/>
                  </a:schemeClr>
                </a:solidFill>
                <a:ea typeface="宋体" panose="02010600030101010101" pitchFamily="2" charset="-122"/>
              </a:rPr>
              <a:t>-</a:t>
            </a:r>
            <a:r>
              <a:rPr lang="zh-CN" altLang="en-US" dirty="0">
                <a:solidFill>
                  <a:schemeClr val="accent5">
                    <a:lumMod val="25000"/>
                  </a:schemeClr>
                </a:solidFill>
                <a:ea typeface="宋体" panose="02010600030101010101" pitchFamily="2" charset="-122"/>
              </a:rPr>
              <a:t>社会成本</a:t>
            </a:r>
            <a:endParaRPr lang="en-US" altLang="zh-CN" dirty="0">
              <a:solidFill>
                <a:schemeClr val="accent5">
                  <a:lumMod val="25000"/>
                </a:schemeClr>
              </a:solidFill>
              <a:ea typeface="宋体" panose="02010600030101010101" pitchFamily="2" charset="-122"/>
            </a:endParaRPr>
          </a:p>
          <a:p>
            <a:pPr eaLnBrk="1" hangingPunct="1">
              <a:buFont typeface="Wingdings" panose="05000000000000000000" pitchFamily="2" charset="2"/>
              <a:buNone/>
            </a:pPr>
            <a:r>
              <a:rPr lang="en-US" altLang="zh-CN" dirty="0">
                <a:solidFill>
                  <a:schemeClr val="accent5">
                    <a:lumMod val="25000"/>
                  </a:schemeClr>
                </a:solidFill>
                <a:ea typeface="宋体" panose="02010600030101010101" pitchFamily="2" charset="-122"/>
              </a:rPr>
              <a:t>            </a:t>
            </a:r>
            <a:r>
              <a:rPr lang="zh-CN" altLang="en-US" dirty="0">
                <a:solidFill>
                  <a:schemeClr val="accent5">
                    <a:lumMod val="25000"/>
                  </a:schemeClr>
                </a:solidFill>
                <a:ea typeface="宋体" panose="02010600030101010101" pitchFamily="2" charset="-122"/>
              </a:rPr>
              <a:t>＝</a:t>
            </a:r>
            <a:r>
              <a:rPr lang="en-US" altLang="zh-CN" dirty="0">
                <a:solidFill>
                  <a:schemeClr val="accent5">
                    <a:lumMod val="25000"/>
                  </a:schemeClr>
                </a:solidFill>
                <a:ea typeface="宋体" panose="02010600030101010101" pitchFamily="2" charset="-122"/>
              </a:rPr>
              <a:t>3600-3400</a:t>
            </a:r>
          </a:p>
          <a:p>
            <a:pPr eaLnBrk="1" hangingPunct="1">
              <a:buFont typeface="Wingdings" panose="05000000000000000000" pitchFamily="2" charset="2"/>
              <a:buNone/>
            </a:pPr>
            <a:r>
              <a:rPr lang="zh-CN" altLang="en-US" dirty="0">
                <a:solidFill>
                  <a:schemeClr val="accent5">
                    <a:lumMod val="25000"/>
                  </a:schemeClr>
                </a:solidFill>
                <a:ea typeface="宋体" panose="02010600030101010101" pitchFamily="2" charset="-122"/>
              </a:rPr>
              <a:t>            ＝</a:t>
            </a:r>
            <a:r>
              <a:rPr lang="en-US" altLang="zh-CN" dirty="0">
                <a:solidFill>
                  <a:schemeClr val="accent5">
                    <a:lumMod val="25000"/>
                  </a:schemeClr>
                </a:solidFill>
                <a:ea typeface="宋体" panose="02010600030101010101" pitchFamily="2" charset="-122"/>
              </a:rPr>
              <a:t>200</a:t>
            </a:r>
            <a:r>
              <a:rPr lang="zh-CN" altLang="en-US" dirty="0">
                <a:solidFill>
                  <a:schemeClr val="accent5">
                    <a:lumMod val="25000"/>
                  </a:schemeClr>
                </a:solidFill>
                <a:ea typeface="宋体" panose="02010600030101010101" pitchFamily="2" charset="-122"/>
              </a:rPr>
              <a:t>（元）</a:t>
            </a:r>
            <a:endParaRPr lang="en-US" altLang="zh-CN" dirty="0">
              <a:solidFill>
                <a:schemeClr val="accent5">
                  <a:lumMod val="25000"/>
                </a:schemeClr>
              </a:solidFill>
              <a:ea typeface="宋体" panose="02010600030101010101" pitchFamily="2" charset="-122"/>
            </a:endParaRPr>
          </a:p>
        </p:txBody>
      </p:sp>
    </p:spTree>
    <p:extLst>
      <p:ext uri="{BB962C8B-B14F-4D97-AF65-F5344CB8AC3E}">
        <p14:creationId xmlns:p14="http://schemas.microsoft.com/office/powerpoint/2010/main" val="743815406"/>
      </p:ext>
    </p:extLst>
  </p:cSld>
  <p:clrMapOvr>
    <a:masterClrMapping/>
  </p:clrMapOvr>
  <p:transition>
    <p:rand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Shape 2732"/>
          <p:cNvSpPr/>
          <p:nvPr/>
        </p:nvSpPr>
        <p:spPr>
          <a:xfrm>
            <a:off x="6841188" y="2848083"/>
            <a:ext cx="1820455" cy="931535"/>
          </a:xfrm>
          <a:custGeom>
            <a:avLst/>
            <a:gdLst/>
            <a:ahLst/>
            <a:cxnLst>
              <a:cxn ang="0">
                <a:pos x="wd2" y="hd2"/>
              </a:cxn>
              <a:cxn ang="5400000">
                <a:pos x="wd2" y="hd2"/>
              </a:cxn>
              <a:cxn ang="10800000">
                <a:pos x="wd2" y="hd2"/>
              </a:cxn>
              <a:cxn ang="16200000">
                <a:pos x="wd2" y="hd2"/>
              </a:cxn>
            </a:cxnLst>
            <a:rect l="0" t="0" r="r" b="b"/>
            <a:pathLst>
              <a:path w="21600" h="21600" extrusionOk="0">
                <a:moveTo>
                  <a:pt x="5547" y="4050"/>
                </a:moveTo>
                <a:cubicBezTo>
                  <a:pt x="3642" y="4050"/>
                  <a:pt x="2093" y="7079"/>
                  <a:pt x="2093" y="10800"/>
                </a:cubicBezTo>
                <a:cubicBezTo>
                  <a:pt x="2093" y="14522"/>
                  <a:pt x="3642" y="17550"/>
                  <a:pt x="5547" y="17550"/>
                </a:cubicBezTo>
                <a:lnTo>
                  <a:pt x="16053" y="17550"/>
                </a:lnTo>
                <a:cubicBezTo>
                  <a:pt x="17958" y="17550"/>
                  <a:pt x="19507" y="14522"/>
                  <a:pt x="19507" y="10800"/>
                </a:cubicBezTo>
                <a:cubicBezTo>
                  <a:pt x="19507" y="7079"/>
                  <a:pt x="17958" y="4050"/>
                  <a:pt x="16053" y="4050"/>
                </a:cubicBezTo>
                <a:cubicBezTo>
                  <a:pt x="16053" y="4050"/>
                  <a:pt x="5547" y="4050"/>
                  <a:pt x="5547" y="4050"/>
                </a:cubicBezTo>
                <a:close/>
                <a:moveTo>
                  <a:pt x="16053" y="21600"/>
                </a:moveTo>
                <a:lnTo>
                  <a:pt x="5547" y="21600"/>
                </a:lnTo>
                <a:cubicBezTo>
                  <a:pt x="2488" y="21600"/>
                  <a:pt x="0" y="16777"/>
                  <a:pt x="0" y="10800"/>
                </a:cubicBezTo>
                <a:cubicBezTo>
                  <a:pt x="0" y="4823"/>
                  <a:pt x="2488" y="0"/>
                  <a:pt x="5547" y="0"/>
                </a:cubicBezTo>
                <a:lnTo>
                  <a:pt x="16053" y="0"/>
                </a:lnTo>
                <a:cubicBezTo>
                  <a:pt x="19112" y="0"/>
                  <a:pt x="21600" y="4823"/>
                  <a:pt x="21600" y="10800"/>
                </a:cubicBezTo>
                <a:cubicBezTo>
                  <a:pt x="21600" y="16777"/>
                  <a:pt x="19112" y="21600"/>
                  <a:pt x="16053" y="21600"/>
                </a:cubicBezTo>
                <a:close/>
              </a:path>
            </a:pathLst>
          </a:custGeom>
          <a:solidFill>
            <a:srgbClr val="E5AB71"/>
          </a:solidFill>
          <a:ln w="63500">
            <a:solidFill>
              <a:srgbClr val="FFFFFF"/>
            </a:solidFill>
            <a:miter lim="400000"/>
          </a:ln>
        </p:spPr>
        <p:txBody>
          <a:bodyPr lIns="38100" tIns="38100" rIns="38100" bIns="38100" anchor="ctr"/>
          <a:lstStyle/>
          <a:p>
            <a:pPr lvl="0">
              <a:defRPr sz="3200">
                <a:solidFill>
                  <a:srgbClr val="FFFFFF"/>
                </a:solidFill>
                <a:latin typeface="Helvetica Light"/>
                <a:ea typeface="Helvetica Light"/>
                <a:cs typeface="Helvetica Light"/>
                <a:sym typeface="Helvetica Light"/>
              </a:defRPr>
            </a:pPr>
            <a:endParaRPr/>
          </a:p>
        </p:txBody>
      </p:sp>
      <p:sp>
        <p:nvSpPr>
          <p:cNvPr id="59" name="Shape 2730"/>
          <p:cNvSpPr/>
          <p:nvPr/>
        </p:nvSpPr>
        <p:spPr>
          <a:xfrm>
            <a:off x="3806682" y="2848083"/>
            <a:ext cx="1820460" cy="931535"/>
          </a:xfrm>
          <a:custGeom>
            <a:avLst/>
            <a:gdLst/>
            <a:ahLst/>
            <a:cxnLst>
              <a:cxn ang="0">
                <a:pos x="wd2" y="hd2"/>
              </a:cxn>
              <a:cxn ang="5400000">
                <a:pos x="wd2" y="hd2"/>
              </a:cxn>
              <a:cxn ang="10800000">
                <a:pos x="wd2" y="hd2"/>
              </a:cxn>
              <a:cxn ang="16200000">
                <a:pos x="wd2" y="hd2"/>
              </a:cxn>
            </a:cxnLst>
            <a:rect l="0" t="0" r="r" b="b"/>
            <a:pathLst>
              <a:path w="21600" h="21600" extrusionOk="0">
                <a:moveTo>
                  <a:pt x="5547" y="4050"/>
                </a:moveTo>
                <a:cubicBezTo>
                  <a:pt x="3642" y="4050"/>
                  <a:pt x="2093" y="7079"/>
                  <a:pt x="2093" y="10800"/>
                </a:cubicBezTo>
                <a:cubicBezTo>
                  <a:pt x="2093" y="14522"/>
                  <a:pt x="3642" y="17550"/>
                  <a:pt x="5547" y="17550"/>
                </a:cubicBezTo>
                <a:lnTo>
                  <a:pt x="16053" y="17550"/>
                </a:lnTo>
                <a:cubicBezTo>
                  <a:pt x="17958" y="17550"/>
                  <a:pt x="19507" y="14522"/>
                  <a:pt x="19507" y="10800"/>
                </a:cubicBezTo>
                <a:cubicBezTo>
                  <a:pt x="19507" y="7079"/>
                  <a:pt x="17958" y="4050"/>
                  <a:pt x="16053" y="4050"/>
                </a:cubicBezTo>
                <a:cubicBezTo>
                  <a:pt x="16053" y="4050"/>
                  <a:pt x="5547" y="4050"/>
                  <a:pt x="5547" y="4050"/>
                </a:cubicBezTo>
                <a:close/>
                <a:moveTo>
                  <a:pt x="16053" y="21600"/>
                </a:moveTo>
                <a:lnTo>
                  <a:pt x="5547" y="21600"/>
                </a:lnTo>
                <a:cubicBezTo>
                  <a:pt x="2488" y="21600"/>
                  <a:pt x="0" y="16777"/>
                  <a:pt x="0" y="10800"/>
                </a:cubicBezTo>
                <a:cubicBezTo>
                  <a:pt x="0" y="4823"/>
                  <a:pt x="2488" y="0"/>
                  <a:pt x="5547" y="0"/>
                </a:cubicBezTo>
                <a:lnTo>
                  <a:pt x="16053" y="0"/>
                </a:lnTo>
                <a:cubicBezTo>
                  <a:pt x="19112" y="0"/>
                  <a:pt x="21600" y="4823"/>
                  <a:pt x="21600" y="10800"/>
                </a:cubicBezTo>
                <a:cubicBezTo>
                  <a:pt x="21600" y="16777"/>
                  <a:pt x="19112" y="21600"/>
                  <a:pt x="16053" y="21600"/>
                </a:cubicBezTo>
                <a:close/>
              </a:path>
            </a:pathLst>
          </a:custGeom>
          <a:solidFill>
            <a:srgbClr val="AFD9E6"/>
          </a:solidFill>
          <a:ln w="63500">
            <a:solidFill>
              <a:srgbClr val="FFFFFF"/>
            </a:solidFill>
            <a:miter lim="400000"/>
          </a:ln>
        </p:spPr>
        <p:txBody>
          <a:bodyPr lIns="38100" tIns="38100" rIns="38100" bIns="38100" anchor="ctr"/>
          <a:lstStyle/>
          <a:p>
            <a:pPr lvl="0">
              <a:defRPr sz="3200">
                <a:solidFill>
                  <a:srgbClr val="FFFFFF"/>
                </a:solidFill>
                <a:latin typeface="Helvetica Light"/>
                <a:ea typeface="Helvetica Light"/>
                <a:cs typeface="Helvetica Light"/>
                <a:sym typeface="Helvetica Light"/>
              </a:defRPr>
            </a:pPr>
            <a:endParaRPr/>
          </a:p>
        </p:txBody>
      </p:sp>
      <p:sp>
        <p:nvSpPr>
          <p:cNvPr id="58" name="Shape 2729"/>
          <p:cNvSpPr/>
          <p:nvPr/>
        </p:nvSpPr>
        <p:spPr>
          <a:xfrm>
            <a:off x="788233" y="2852936"/>
            <a:ext cx="1820460" cy="931535"/>
          </a:xfrm>
          <a:custGeom>
            <a:avLst/>
            <a:gdLst/>
            <a:ahLst/>
            <a:cxnLst>
              <a:cxn ang="0">
                <a:pos x="wd2" y="hd2"/>
              </a:cxn>
              <a:cxn ang="5400000">
                <a:pos x="wd2" y="hd2"/>
              </a:cxn>
              <a:cxn ang="10800000">
                <a:pos x="wd2" y="hd2"/>
              </a:cxn>
              <a:cxn ang="16200000">
                <a:pos x="wd2" y="hd2"/>
              </a:cxn>
            </a:cxnLst>
            <a:rect l="0" t="0" r="r" b="b"/>
            <a:pathLst>
              <a:path w="21600" h="21600" extrusionOk="0">
                <a:moveTo>
                  <a:pt x="5547" y="4050"/>
                </a:moveTo>
                <a:cubicBezTo>
                  <a:pt x="3642" y="4050"/>
                  <a:pt x="2093" y="7079"/>
                  <a:pt x="2093" y="10800"/>
                </a:cubicBezTo>
                <a:cubicBezTo>
                  <a:pt x="2093" y="14522"/>
                  <a:pt x="3642" y="17550"/>
                  <a:pt x="5547" y="17550"/>
                </a:cubicBezTo>
                <a:lnTo>
                  <a:pt x="16053" y="17550"/>
                </a:lnTo>
                <a:cubicBezTo>
                  <a:pt x="17958" y="17550"/>
                  <a:pt x="19507" y="14522"/>
                  <a:pt x="19507" y="10800"/>
                </a:cubicBezTo>
                <a:cubicBezTo>
                  <a:pt x="19507" y="7079"/>
                  <a:pt x="17958" y="4050"/>
                  <a:pt x="16053" y="4050"/>
                </a:cubicBezTo>
                <a:cubicBezTo>
                  <a:pt x="16053" y="4050"/>
                  <a:pt x="5547" y="4050"/>
                  <a:pt x="5547" y="4050"/>
                </a:cubicBezTo>
                <a:close/>
                <a:moveTo>
                  <a:pt x="16053" y="21600"/>
                </a:moveTo>
                <a:lnTo>
                  <a:pt x="5547" y="21600"/>
                </a:lnTo>
                <a:cubicBezTo>
                  <a:pt x="2488" y="21600"/>
                  <a:pt x="0" y="16777"/>
                  <a:pt x="0" y="10800"/>
                </a:cubicBezTo>
                <a:cubicBezTo>
                  <a:pt x="0" y="4823"/>
                  <a:pt x="2488" y="0"/>
                  <a:pt x="5547" y="0"/>
                </a:cubicBezTo>
                <a:lnTo>
                  <a:pt x="16053" y="0"/>
                </a:lnTo>
                <a:cubicBezTo>
                  <a:pt x="19112" y="0"/>
                  <a:pt x="21600" y="4823"/>
                  <a:pt x="21600" y="10800"/>
                </a:cubicBezTo>
                <a:cubicBezTo>
                  <a:pt x="21600" y="16777"/>
                  <a:pt x="19112" y="21600"/>
                  <a:pt x="16053" y="21600"/>
                </a:cubicBezTo>
                <a:close/>
              </a:path>
            </a:pathLst>
          </a:custGeom>
          <a:solidFill>
            <a:schemeClr val="accent1"/>
          </a:solidFill>
          <a:ln w="63500">
            <a:solidFill>
              <a:srgbClr val="FFFFFF"/>
            </a:solidFill>
            <a:miter lim="400000"/>
          </a:ln>
        </p:spPr>
        <p:txBody>
          <a:bodyPr lIns="38100" tIns="38100" rIns="38100" bIns="38100" anchor="ctr"/>
          <a:lstStyle/>
          <a:p>
            <a:pPr lvl="0">
              <a:defRPr sz="3200">
                <a:solidFill>
                  <a:srgbClr val="FFFFFF"/>
                </a:solidFill>
                <a:latin typeface="Helvetica Light"/>
                <a:ea typeface="Helvetica Light"/>
                <a:cs typeface="Helvetica Light"/>
                <a:sym typeface="Helvetica Light"/>
              </a:defRPr>
            </a:pPr>
            <a:endParaRPr/>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sp>
        <p:nvSpPr>
          <p:cNvPr id="3" name="矩形 2">
            <a:extLst>
              <a:ext uri="{FF2B5EF4-FFF2-40B4-BE49-F238E27FC236}">
                <a16:creationId xmlns:a16="http://schemas.microsoft.com/office/drawing/2014/main" id="{37C083F2-0E99-4519-8938-09940A28B5F0}"/>
              </a:ext>
            </a:extLst>
          </p:cNvPr>
          <p:cNvSpPr/>
          <p:nvPr/>
        </p:nvSpPr>
        <p:spPr>
          <a:xfrm>
            <a:off x="580922" y="520573"/>
            <a:ext cx="319899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二、短期成本的概念</a:t>
            </a:r>
          </a:p>
        </p:txBody>
      </p:sp>
      <p:sp>
        <p:nvSpPr>
          <p:cNvPr id="12" name="Arc 13" descr="e7d195523061f1c0f55f9af68525816972d868573ada39bc763F3977967589A5F92C178830C92595A6CE4D0132F8C206B2B04C416AAA86B7FD80AB023F78DAEB544E2F013E11B2B95AD21703D1C90034A379EC9026EFAAF5D8D3F6EDD7215B01F6CA9944DC1B7CBBDAA69CBEB3E97B6961AD0B84AF64FBDEE7BFD789234F86D611D00A1237AD43ED849A958CA111FA04"/>
          <p:cNvSpPr/>
          <p:nvPr/>
        </p:nvSpPr>
        <p:spPr>
          <a:xfrm rot="19798898" flipH="1">
            <a:off x="662300" y="1697949"/>
            <a:ext cx="1554924" cy="1645027"/>
          </a:xfrm>
          <a:prstGeom prst="arc">
            <a:avLst>
              <a:gd name="adj1" fmla="val 17632530"/>
              <a:gd name="adj2" fmla="val 0"/>
            </a:avLst>
          </a:prstGeom>
          <a:ln>
            <a:solidFill>
              <a:schemeClr val="tx1">
                <a:lumMod val="50000"/>
                <a:lumOff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3" name="Arc 14" descr="e7d195523061f1c0f55f9af68525816972d868573ada39bc763F3977967589A5F92C178830C92595A6CE4D0132F8C206B2B04C416AAA86B7FD80AB023F78DAEB544E2F013E11B2B95AD21703D1C90034A379EC9026EFAAF5D8D3F6EDD7215B01F6CA9944DC1B7CBBDAA69CBEB3E97B6961AD0B84AF64FBDEE7BFD789234F86D611D00A1237AD43ED849A958CA111FA04"/>
          <p:cNvSpPr/>
          <p:nvPr/>
        </p:nvSpPr>
        <p:spPr>
          <a:xfrm rot="2970920" flipH="1" flipV="1">
            <a:off x="3251081" y="3733857"/>
            <a:ext cx="2659623" cy="1816540"/>
          </a:xfrm>
          <a:prstGeom prst="arc">
            <a:avLst>
              <a:gd name="adj1" fmla="val 16194353"/>
              <a:gd name="adj2" fmla="val 289974"/>
            </a:avLst>
          </a:prstGeom>
          <a:ln>
            <a:solidFill>
              <a:schemeClr val="tx1">
                <a:lumMod val="50000"/>
                <a:lumOff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4" name="Arc 17" descr="e7d195523061f1c0f55f9af68525816972d868573ada39bc763F3977967589A5F92C178830C92595A6CE4D0132F8C206B2B04C416AAA86B7FD80AB023F78DAEB544E2F013E11B2B95AD21703D1C90034A379EC9026EFAAF5D8D3F6EDD7215B01F6CA9944DC1B7CBBDAA69CBEB3E97B6961AD0B84AF64FBDEE7BFD789234F86D611D00A1237AD43ED849A958CA111FA04"/>
          <p:cNvSpPr/>
          <p:nvPr/>
        </p:nvSpPr>
        <p:spPr>
          <a:xfrm rot="21330369" flipH="1">
            <a:off x="7122109" y="1697637"/>
            <a:ext cx="1730326" cy="2071337"/>
          </a:xfrm>
          <a:prstGeom prst="arc">
            <a:avLst>
              <a:gd name="adj1" fmla="val 17687899"/>
              <a:gd name="adj2" fmla="val 201702"/>
            </a:avLst>
          </a:prstGeom>
          <a:ln>
            <a:solidFill>
              <a:schemeClr val="tx1">
                <a:lumMod val="50000"/>
                <a:lumOff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28" name="矩形 27"/>
          <p:cNvSpPr/>
          <p:nvPr/>
        </p:nvSpPr>
        <p:spPr>
          <a:xfrm>
            <a:off x="953737" y="3153414"/>
            <a:ext cx="1629549" cy="369332"/>
          </a:xfrm>
          <a:prstGeom prst="rect">
            <a:avLst/>
          </a:prstGeom>
        </p:spPr>
        <p:txBody>
          <a:bodyPr wrap="none">
            <a:spAutoFit/>
          </a:bodyPr>
          <a:lstStyle/>
          <a:p>
            <a:r>
              <a:rPr lang="en-US" b="1" dirty="0">
                <a:latin typeface="微软雅黑" panose="020B0503020204020204" pitchFamily="34" charset="-122"/>
                <a:ea typeface="微软雅黑" panose="020B0503020204020204" pitchFamily="34" charset="-122"/>
              </a:rPr>
              <a:t>短期总成本TC</a:t>
            </a:r>
          </a:p>
        </p:txBody>
      </p:sp>
      <p:sp>
        <p:nvSpPr>
          <p:cNvPr id="29" name="矩形 28"/>
          <p:cNvSpPr/>
          <p:nvPr/>
        </p:nvSpPr>
        <p:spPr>
          <a:xfrm>
            <a:off x="3953839" y="3129185"/>
            <a:ext cx="1569660" cy="369332"/>
          </a:xfrm>
          <a:prstGeom prst="rect">
            <a:avLst/>
          </a:prstGeom>
        </p:spPr>
        <p:txBody>
          <a:bodyPr wrap="none">
            <a:spAutoFit/>
          </a:bodyPr>
          <a:lstStyle/>
          <a:p>
            <a:r>
              <a:rPr lang="en-US" b="1" dirty="0">
                <a:latin typeface="微软雅黑" panose="020B0503020204020204" pitchFamily="34" charset="-122"/>
                <a:ea typeface="微软雅黑" panose="020B0503020204020204" pitchFamily="34" charset="-122"/>
              </a:rPr>
              <a:t>短期平均成本</a:t>
            </a:r>
          </a:p>
        </p:txBody>
      </p:sp>
      <p:sp>
        <p:nvSpPr>
          <p:cNvPr id="30" name="矩形 29"/>
          <p:cNvSpPr/>
          <p:nvPr/>
        </p:nvSpPr>
        <p:spPr>
          <a:xfrm>
            <a:off x="6951914" y="3129185"/>
            <a:ext cx="1569660" cy="369332"/>
          </a:xfrm>
          <a:prstGeom prst="rect">
            <a:avLst/>
          </a:prstGeom>
        </p:spPr>
        <p:txBody>
          <a:bodyPr wrap="none">
            <a:spAutoFit/>
          </a:bodyPr>
          <a:lstStyle/>
          <a:p>
            <a:r>
              <a:rPr lang="en-US" b="1" dirty="0">
                <a:latin typeface="微软雅黑" panose="020B0503020204020204" pitchFamily="34" charset="-122"/>
                <a:ea typeface="微软雅黑" panose="020B0503020204020204" pitchFamily="34" charset="-122"/>
              </a:rPr>
              <a:t>短期边际成本</a:t>
            </a:r>
          </a:p>
        </p:txBody>
      </p:sp>
      <p:sp>
        <p:nvSpPr>
          <p:cNvPr id="31" name="Shape 2733"/>
          <p:cNvSpPr/>
          <p:nvPr/>
        </p:nvSpPr>
        <p:spPr>
          <a:xfrm>
            <a:off x="5513103" y="3192558"/>
            <a:ext cx="1443816" cy="242587"/>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7060"/>
                  <a:pt x="20794" y="21600"/>
                  <a:pt x="19800" y="21600"/>
                </a:cubicBezTo>
                <a:lnTo>
                  <a:pt x="1800" y="21600"/>
                </a:lnTo>
                <a:cubicBezTo>
                  <a:pt x="806" y="21600"/>
                  <a:pt x="0" y="17060"/>
                  <a:pt x="0" y="10800"/>
                </a:cubicBezTo>
                <a:lnTo>
                  <a:pt x="0" y="10800"/>
                </a:lnTo>
                <a:cubicBezTo>
                  <a:pt x="0" y="4540"/>
                  <a:pt x="806" y="0"/>
                  <a:pt x="1800" y="0"/>
                </a:cubicBezTo>
                <a:lnTo>
                  <a:pt x="19800" y="0"/>
                </a:lnTo>
                <a:cubicBezTo>
                  <a:pt x="20794" y="0"/>
                  <a:pt x="21600" y="4540"/>
                  <a:pt x="21600" y="10800"/>
                </a:cubicBezTo>
                <a:cubicBezTo>
                  <a:pt x="21600" y="10800"/>
                  <a:pt x="21600" y="10800"/>
                  <a:pt x="21600" y="10800"/>
                </a:cubicBezTo>
                <a:close/>
              </a:path>
            </a:pathLst>
          </a:custGeom>
          <a:solidFill>
            <a:srgbClr val="85B2D2">
              <a:alpha val="50000"/>
            </a:srgbClr>
          </a:solidFill>
          <a:ln w="63500">
            <a:solidFill>
              <a:srgbClr val="FFFFFF">
                <a:alpha val="50000"/>
              </a:srgbClr>
            </a:solidFill>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32" name="矩形 31"/>
          <p:cNvSpPr/>
          <p:nvPr/>
        </p:nvSpPr>
        <p:spPr>
          <a:xfrm>
            <a:off x="674507" y="1213425"/>
            <a:ext cx="2126613" cy="738664"/>
          </a:xfrm>
          <a:prstGeom prst="rect">
            <a:avLst/>
          </a:prstGeom>
        </p:spPr>
        <p:txBody>
          <a:bodyPr wrap="square">
            <a:spAutoFit/>
          </a:bodyPr>
          <a:lstStyle/>
          <a:p>
            <a:pPr marL="285750" indent="-285750">
              <a:buFont typeface="Wingdings" panose="05000000000000000000" pitchFamily="2" charset="2"/>
              <a:buChar char="l"/>
            </a:pPr>
            <a:r>
              <a:rPr lang="en-US" sz="1400" dirty="0">
                <a:latin typeface="微软雅黑" panose="020B0503020204020204" pitchFamily="34" charset="-122"/>
                <a:ea typeface="微软雅黑" panose="020B0503020204020204" pitchFamily="34" charset="-122"/>
              </a:rPr>
              <a:t>总成本：企业为生产既定产量所需要的生产要素投入的费用。</a:t>
            </a:r>
          </a:p>
        </p:txBody>
      </p:sp>
      <mc:AlternateContent xmlns:mc="http://schemas.openxmlformats.org/markup-compatibility/2006" xmlns:a14="http://schemas.microsoft.com/office/drawing/2010/main">
        <mc:Choice Requires="a14">
          <p:sp>
            <p:nvSpPr>
              <p:cNvPr id="33" name="文本框 32"/>
              <p:cNvSpPr txBox="1"/>
              <p:nvPr/>
            </p:nvSpPr>
            <p:spPr>
              <a:xfrm>
                <a:off x="905444" y="2281120"/>
                <a:ext cx="15083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𝑻𝑪</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𝑭𝑪</m:t>
                      </m:r>
                      <m:r>
                        <a:rPr lang="en-US" b="1" i="1" smtClean="0">
                          <a:solidFill>
                            <a:schemeClr val="tx1"/>
                          </a:solidFill>
                          <a:latin typeface="Cambria Math" panose="02040503050406030204" pitchFamily="18" charset="0"/>
                        </a:rPr>
                        <m:t>+</m:t>
                      </m:r>
                      <m:r>
                        <a:rPr lang="en-US" b="1" i="1" smtClean="0">
                          <a:solidFill>
                            <a:schemeClr val="tx1"/>
                          </a:solidFill>
                          <a:latin typeface="Cambria Math" panose="02040503050406030204" pitchFamily="18" charset="0"/>
                        </a:rPr>
                        <m:t>𝑽𝑪</m:t>
                      </m:r>
                    </m:oMath>
                  </m:oMathPara>
                </a14:m>
                <a:endParaRPr lang="en-US" b="1" dirty="0">
                  <a:solidFill>
                    <a:schemeClr val="tx1"/>
                  </a:solidFill>
                </a:endParaRPr>
              </a:p>
            </p:txBody>
          </p:sp>
        </mc:Choice>
        <mc:Fallback xmlns="">
          <p:sp>
            <p:nvSpPr>
              <p:cNvPr id="33" name="文本框 32"/>
              <p:cNvSpPr txBox="1">
                <a:spLocks noRot="1" noChangeAspect="1" noMove="1" noResize="1" noEditPoints="1" noAdjustHandles="1" noChangeArrowheads="1" noChangeShapeType="1" noTextEdit="1"/>
              </p:cNvSpPr>
              <p:nvPr/>
            </p:nvSpPr>
            <p:spPr>
              <a:xfrm>
                <a:off x="905444" y="2281120"/>
                <a:ext cx="1508362" cy="276999"/>
              </a:xfrm>
              <a:prstGeom prst="rect">
                <a:avLst/>
              </a:prstGeom>
              <a:blipFill>
                <a:blip r:embed="rId2"/>
                <a:stretch>
                  <a:fillRect l="-3239" r="-3644" b="-8696"/>
                </a:stretch>
              </a:blipFill>
            </p:spPr>
            <p:txBody>
              <a:bodyPr/>
              <a:lstStyle/>
              <a:p>
                <a:r>
                  <a:rPr lang="zh-CN" altLang="en-US">
                    <a:noFill/>
                  </a:rPr>
                  <a:t> </a:t>
                </a:r>
              </a:p>
            </p:txBody>
          </p:sp>
        </mc:Fallback>
      </mc:AlternateContent>
      <p:sp>
        <p:nvSpPr>
          <p:cNvPr id="36" name="矩形 35"/>
          <p:cNvSpPr/>
          <p:nvPr/>
        </p:nvSpPr>
        <p:spPr>
          <a:xfrm>
            <a:off x="504529" y="4164049"/>
            <a:ext cx="2297095" cy="738664"/>
          </a:xfrm>
          <a:prstGeom prst="rect">
            <a:avLst/>
          </a:prstGeom>
        </p:spPr>
        <p:txBody>
          <a:bodyPr wrap="square">
            <a:spAutoFit/>
          </a:bodyPr>
          <a:lstStyle/>
          <a:p>
            <a:pPr marL="285750" indent="-285750">
              <a:buFont typeface="Wingdings" panose="05000000000000000000" pitchFamily="2" charset="2"/>
              <a:buChar char="l"/>
            </a:pPr>
            <a:r>
              <a:rPr lang="en-US" sz="1400" dirty="0">
                <a:latin typeface="微软雅黑" panose="020B0503020204020204" pitchFamily="34" charset="-122"/>
                <a:ea typeface="微软雅黑" panose="020B0503020204020204" pitchFamily="34" charset="-122"/>
              </a:rPr>
              <a:t>不变成本又称固定成本，是指不随企业产量变动而变动</a:t>
            </a:r>
            <a:r>
              <a:rPr lang="en-US" sz="1400" kern="400" spc="-150" dirty="0">
                <a:latin typeface="微软雅黑" panose="020B0503020204020204" pitchFamily="34" charset="-122"/>
                <a:ea typeface="微软雅黑" panose="020B0503020204020204" pitchFamily="34" charset="-122"/>
              </a:rPr>
              <a:t>的那部分成本。</a:t>
            </a:r>
          </a:p>
        </p:txBody>
      </p:sp>
      <mc:AlternateContent xmlns:mc="http://schemas.openxmlformats.org/markup-compatibility/2006" xmlns:a14="http://schemas.microsoft.com/office/drawing/2010/main">
        <mc:Choice Requires="a14">
          <p:sp>
            <p:nvSpPr>
              <p:cNvPr id="39" name="矩形 38"/>
              <p:cNvSpPr/>
              <p:nvPr/>
            </p:nvSpPr>
            <p:spPr>
              <a:xfrm>
                <a:off x="961069" y="3888748"/>
                <a:ext cx="1672623" cy="338554"/>
              </a:xfrm>
              <a:prstGeom prst="rect">
                <a:avLst/>
              </a:prstGeom>
            </p:spPr>
            <p:txBody>
              <a:bodyPr wrap="square">
                <a:spAutoFit/>
              </a:bodyPr>
              <a:lstStyle/>
              <a:p>
                <a:pPr marL="285750" indent="-285750">
                  <a:buFont typeface="Wingdings" panose="05000000000000000000" pitchFamily="2" charset="2"/>
                  <a:buChar char="Ø"/>
                </a:pPr>
                <a:r>
                  <a:rPr lang="zh-CN" altLang="en-US" sz="1600" b="1" dirty="0">
                    <a:solidFill>
                      <a:schemeClr val="tx1"/>
                    </a:solidFill>
                    <a:latin typeface="微软雅黑" panose="020B0503020204020204" pitchFamily="34" charset="-122"/>
                    <a:ea typeface="微软雅黑" panose="020B0503020204020204" pitchFamily="34" charset="-122"/>
                  </a:rPr>
                  <a:t>不</a:t>
                </a:r>
                <a:r>
                  <a:rPr lang="en-US" sz="1600" b="1" dirty="0">
                    <a:solidFill>
                      <a:schemeClr val="tx1"/>
                    </a:solidFill>
                    <a:latin typeface="微软雅黑" panose="020B0503020204020204" pitchFamily="34" charset="-122"/>
                    <a:ea typeface="微软雅黑" panose="020B0503020204020204" pitchFamily="34" charset="-122"/>
                  </a:rPr>
                  <a:t>变成本 </a:t>
                </a:r>
                <a14:m>
                  <m:oMath xmlns:m="http://schemas.openxmlformats.org/officeDocument/2006/math">
                    <m:r>
                      <a:rPr lang="en-US" sz="1600" b="1" i="1">
                        <a:solidFill>
                          <a:schemeClr val="tx1"/>
                        </a:solidFill>
                        <a:latin typeface="Cambria Math" panose="02040503050406030204" pitchFamily="18" charset="0"/>
                      </a:rPr>
                      <m:t>𝑭𝑪</m:t>
                    </m:r>
                  </m:oMath>
                </a14:m>
                <a:endParaRPr lang="en-US" sz="1600" b="1" dirty="0">
                  <a:solidFill>
                    <a:schemeClr val="tx1"/>
                  </a:solidFill>
                  <a:latin typeface="微软雅黑" panose="020B0503020204020204" pitchFamily="34" charset="-122"/>
                  <a:ea typeface="微软雅黑" panose="020B0503020204020204" pitchFamily="34" charset="-122"/>
                </a:endParaRPr>
              </a:p>
            </p:txBody>
          </p:sp>
        </mc:Choice>
        <mc:Fallback xmlns="">
          <p:sp>
            <p:nvSpPr>
              <p:cNvPr id="39" name="矩形 38"/>
              <p:cNvSpPr>
                <a:spLocks noRot="1" noChangeAspect="1" noMove="1" noResize="1" noEditPoints="1" noAdjustHandles="1" noChangeArrowheads="1" noChangeShapeType="1" noTextEdit="1"/>
              </p:cNvSpPr>
              <p:nvPr/>
            </p:nvSpPr>
            <p:spPr>
              <a:xfrm>
                <a:off x="961069" y="3888748"/>
                <a:ext cx="1672623" cy="338554"/>
              </a:xfrm>
              <a:prstGeom prst="rect">
                <a:avLst/>
              </a:prstGeom>
              <a:blipFill>
                <a:blip r:embed="rId3"/>
                <a:stretch>
                  <a:fillRect l="-1460" t="-5455" b="-23636"/>
                </a:stretch>
              </a:blipFill>
            </p:spPr>
            <p:txBody>
              <a:bodyPr/>
              <a:lstStyle/>
              <a:p>
                <a:r>
                  <a:rPr lang="zh-CN" altLang="en-US">
                    <a:noFill/>
                  </a:rPr>
                  <a:t> </a:t>
                </a:r>
              </a:p>
            </p:txBody>
          </p:sp>
        </mc:Fallback>
      </mc:AlternateContent>
      <p:sp>
        <p:nvSpPr>
          <p:cNvPr id="40" name="Arc 14" descr="e7d195523061f1c0f55f9af68525816972d868573ada39bc763F3977967589A5F92C178830C92595A6CE4D0132F8C206B2B04C416AAA86B7FD80AB023F78DAEB544E2F013E11B2B95AD21703D1C90034A379EC9026EFAAF5D8D3F6EDD7215B01F6CA9944DC1B7CBBDAA69CBEB3E97B6961AD0B84AF64FBDEE7BFD789234F86D611D00A1237AD43ED849A958CA111FA04"/>
          <p:cNvSpPr/>
          <p:nvPr/>
        </p:nvSpPr>
        <p:spPr>
          <a:xfrm rot="1771708" flipH="1" flipV="1">
            <a:off x="609006" y="2157508"/>
            <a:ext cx="2725941" cy="4009969"/>
          </a:xfrm>
          <a:prstGeom prst="arc">
            <a:avLst>
              <a:gd name="adj1" fmla="val 16888282"/>
              <a:gd name="adj2" fmla="val 0"/>
            </a:avLst>
          </a:prstGeom>
          <a:ln>
            <a:solidFill>
              <a:schemeClr val="tx1">
                <a:lumMod val="50000"/>
                <a:lumOff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41" name="矩形 40"/>
          <p:cNvSpPr/>
          <p:nvPr/>
        </p:nvSpPr>
        <p:spPr>
          <a:xfrm>
            <a:off x="480721" y="5514159"/>
            <a:ext cx="2633318" cy="523220"/>
          </a:xfrm>
          <a:prstGeom prst="rect">
            <a:avLst/>
          </a:prstGeom>
        </p:spPr>
        <p:txBody>
          <a:bodyPr wrap="square">
            <a:spAutoFit/>
          </a:bodyPr>
          <a:lstStyle/>
          <a:p>
            <a:pPr marL="285750" indent="-285750">
              <a:buFont typeface="Wingdings" panose="05000000000000000000" pitchFamily="2" charset="2"/>
              <a:buChar char="l"/>
            </a:pPr>
            <a:r>
              <a:rPr lang="en-US" sz="1400" dirty="0">
                <a:latin typeface="微软雅黑" panose="020B0503020204020204" pitchFamily="34" charset="-122"/>
                <a:ea typeface="微软雅黑" panose="020B0503020204020204" pitchFamily="34" charset="-122"/>
              </a:rPr>
              <a:t>可变成本是指随着企业产量变动而变动的那部分成本</a:t>
            </a:r>
            <a:r>
              <a:rPr lang="zh-CN" altLang="en-US" sz="1400" dirty="0">
                <a:latin typeface="微软雅黑" panose="020B0503020204020204" pitchFamily="34" charset="-122"/>
                <a:ea typeface="微软雅黑" panose="020B0503020204020204" pitchFamily="34" charset="-122"/>
              </a:rPr>
              <a:t>。</a:t>
            </a:r>
            <a:endParaRPr lang="en-US" sz="1400" dirty="0">
              <a:latin typeface="微软雅黑" panose="020B0503020204020204" pitchFamily="34" charset="-122"/>
              <a:ea typeface="微软雅黑" panose="020B0503020204020204" pitchFamily="34" charset="-122"/>
            </a:endParaRPr>
          </a:p>
        </p:txBody>
      </p:sp>
      <p:sp>
        <p:nvSpPr>
          <p:cNvPr id="42" name="Arc 14" descr="e7d195523061f1c0f55f9af68525816972d868573ada39bc763F3977967589A5F92C178830C92595A6CE4D0132F8C206B2B04C416AAA86B7FD80AB023F78DAEB544E2F013E11B2B95AD21703D1C90034A379EC9026EFAAF5D8D3F6EDD7215B01F6CA9944DC1B7CBBDAA69CBEB3E97B6961AD0B84AF64FBDEE7BFD789234F86D611D00A1237AD43ED849A958CA111FA04"/>
          <p:cNvSpPr/>
          <p:nvPr/>
        </p:nvSpPr>
        <p:spPr>
          <a:xfrm rot="17940530" flipV="1">
            <a:off x="1191936" y="3807404"/>
            <a:ext cx="1835365" cy="1201207"/>
          </a:xfrm>
          <a:prstGeom prst="arc">
            <a:avLst>
              <a:gd name="adj1" fmla="val 18288563"/>
              <a:gd name="adj2" fmla="val 0"/>
            </a:avLst>
          </a:prstGeom>
          <a:ln>
            <a:solidFill>
              <a:schemeClr val="tx1">
                <a:lumMod val="50000"/>
                <a:lumOff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mc:AlternateContent xmlns:mc="http://schemas.openxmlformats.org/markup-compatibility/2006" xmlns:a14="http://schemas.microsoft.com/office/drawing/2010/main">
        <mc:Choice Requires="a14">
          <p:sp>
            <p:nvSpPr>
              <p:cNvPr id="43" name="矩形 42"/>
              <p:cNvSpPr/>
              <p:nvPr/>
            </p:nvSpPr>
            <p:spPr>
              <a:xfrm>
                <a:off x="984093" y="5227111"/>
                <a:ext cx="1616148" cy="338554"/>
              </a:xfrm>
              <a:prstGeom prst="rect">
                <a:avLst/>
              </a:prstGeom>
            </p:spPr>
            <p:txBody>
              <a:bodyPr wrap="none">
                <a:spAutoFit/>
              </a:bodyPr>
              <a:lstStyle/>
              <a:p>
                <a:pPr marL="285750" indent="-285750">
                  <a:buFont typeface="Wingdings" panose="05000000000000000000" pitchFamily="2" charset="2"/>
                  <a:buChar char="Ø"/>
                </a:pPr>
                <a:r>
                  <a:rPr lang="en-US" sz="1600" b="1" dirty="0">
                    <a:solidFill>
                      <a:schemeClr val="tx1"/>
                    </a:solidFill>
                    <a:latin typeface="微软雅黑" panose="020B0503020204020204" pitchFamily="34" charset="-122"/>
                    <a:ea typeface="微软雅黑" panose="020B0503020204020204" pitchFamily="34" charset="-122"/>
                  </a:rPr>
                  <a:t>可变成本 </a:t>
                </a:r>
                <a14:m>
                  <m:oMath xmlns:m="http://schemas.openxmlformats.org/officeDocument/2006/math">
                    <m:r>
                      <a:rPr lang="en-US" sz="1600" b="1" i="1">
                        <a:solidFill>
                          <a:schemeClr val="tx1"/>
                        </a:solidFill>
                        <a:latin typeface="Cambria Math" panose="02040503050406030204" pitchFamily="18" charset="0"/>
                      </a:rPr>
                      <m:t>𝑽𝑪</m:t>
                    </m:r>
                  </m:oMath>
                </a14:m>
                <a:endParaRPr lang="en-US" sz="1600" b="1" dirty="0">
                  <a:solidFill>
                    <a:schemeClr val="tx1"/>
                  </a:solidFill>
                </a:endParaRPr>
              </a:p>
            </p:txBody>
          </p:sp>
        </mc:Choice>
        <mc:Fallback xmlns="">
          <p:sp>
            <p:nvSpPr>
              <p:cNvPr id="43" name="矩形 42"/>
              <p:cNvSpPr>
                <a:spLocks noRot="1" noChangeAspect="1" noMove="1" noResize="1" noEditPoints="1" noAdjustHandles="1" noChangeArrowheads="1" noChangeShapeType="1" noTextEdit="1"/>
              </p:cNvSpPr>
              <p:nvPr/>
            </p:nvSpPr>
            <p:spPr>
              <a:xfrm>
                <a:off x="984093" y="5227111"/>
                <a:ext cx="1616148" cy="338554"/>
              </a:xfrm>
              <a:prstGeom prst="rect">
                <a:avLst/>
              </a:prstGeom>
              <a:blipFill>
                <a:blip r:embed="rId4"/>
                <a:stretch>
                  <a:fillRect l="-1504" t="-5357" b="-21429"/>
                </a:stretch>
              </a:blipFill>
            </p:spPr>
            <p:txBody>
              <a:bodyPr/>
              <a:lstStyle/>
              <a:p>
                <a:r>
                  <a:rPr lang="zh-CN" altLang="en-US">
                    <a:noFill/>
                  </a:rPr>
                  <a:t> </a:t>
                </a:r>
              </a:p>
            </p:txBody>
          </p:sp>
        </mc:Fallback>
      </mc:AlternateContent>
      <p:sp>
        <p:nvSpPr>
          <p:cNvPr id="44" name="矩形 43"/>
          <p:cNvSpPr/>
          <p:nvPr/>
        </p:nvSpPr>
        <p:spPr>
          <a:xfrm>
            <a:off x="4673290" y="4460900"/>
            <a:ext cx="2359835" cy="523220"/>
          </a:xfrm>
          <a:prstGeom prst="rect">
            <a:avLst/>
          </a:prstGeom>
        </p:spPr>
        <p:txBody>
          <a:bodyPr wrap="square">
            <a:spAutoFit/>
          </a:bodyPr>
          <a:lstStyle/>
          <a:p>
            <a:pPr marL="285750" indent="-285750">
              <a:buFont typeface="Wingdings" panose="05000000000000000000" pitchFamily="2" charset="2"/>
              <a:buChar char="l"/>
            </a:pPr>
            <a:r>
              <a:rPr lang="en-US" sz="1400" dirty="0">
                <a:latin typeface="微软雅黑" panose="020B0503020204020204" pitchFamily="34" charset="-122"/>
                <a:ea typeface="微软雅黑" panose="020B0503020204020204" pitchFamily="34" charset="-122"/>
              </a:rPr>
              <a:t>平均总成本是指每单位产量所花费的总成本。</a:t>
            </a:r>
          </a:p>
        </p:txBody>
      </p:sp>
      <p:sp>
        <p:nvSpPr>
          <p:cNvPr id="45" name="矩形 44">
            <a:extLst>
              <a:ext uri="{FF2B5EF4-FFF2-40B4-BE49-F238E27FC236}">
                <a16:creationId xmlns:a16="http://schemas.microsoft.com/office/drawing/2014/main" id="{084955AF-1C9D-40E6-AF77-16E919D7DDCC}"/>
              </a:ext>
            </a:extLst>
          </p:cNvPr>
          <p:cNvSpPr/>
          <p:nvPr/>
        </p:nvSpPr>
        <p:spPr>
          <a:xfrm>
            <a:off x="996824" y="1984980"/>
            <a:ext cx="1123394" cy="338554"/>
          </a:xfrm>
          <a:prstGeom prst="rect">
            <a:avLst/>
          </a:prstGeom>
        </p:spPr>
        <p:txBody>
          <a:bodyPr wrap="square">
            <a:spAutoFit/>
          </a:bodyPr>
          <a:lstStyle/>
          <a:p>
            <a:pPr marL="285750" indent="-285750">
              <a:buFont typeface="Wingdings" panose="05000000000000000000" pitchFamily="2" charset="2"/>
              <a:buChar char="Ø"/>
            </a:pPr>
            <a:r>
              <a:rPr lang="en-US" sz="1600" b="1" dirty="0">
                <a:latin typeface="微软雅黑" panose="020B0503020204020204" pitchFamily="34" charset="-122"/>
                <a:ea typeface="微软雅黑" panose="020B0503020204020204" pitchFamily="34" charset="-122"/>
              </a:rPr>
              <a:t>总成本</a:t>
            </a:r>
            <a:endParaRPr lang="zh-CN" altLang="en-US" sz="1600" dirty="0">
              <a:latin typeface="微软雅黑" panose="020B0503020204020204" pitchFamily="34" charset="-122"/>
              <a:ea typeface="微软雅黑" panose="020B0503020204020204" pitchFamily="34" charset="-122"/>
            </a:endParaRPr>
          </a:p>
        </p:txBody>
      </p:sp>
      <p:sp>
        <p:nvSpPr>
          <p:cNvPr id="46" name="Arc 17" descr="e7d195523061f1c0f55f9af68525816972d868573ada39bc763F3977967589A5F92C178830C92595A6CE4D0132F8C206B2B04C416AAA86B7FD80AB023F78DAEB544E2F013E11B2B95AD21703D1C90034A379EC9026EFAAF5D8D3F6EDD7215B01F6CA9944DC1B7CBBDAA69CBEB3E97B6961AD0B84AF64FBDEE7BFD789234F86D611D00A1237AD43ED849A958CA111FA04"/>
          <p:cNvSpPr/>
          <p:nvPr/>
        </p:nvSpPr>
        <p:spPr>
          <a:xfrm rot="1055556" flipH="1">
            <a:off x="4053392" y="2047216"/>
            <a:ext cx="1730326" cy="2071337"/>
          </a:xfrm>
          <a:prstGeom prst="arc">
            <a:avLst>
              <a:gd name="adj1" fmla="val 19231979"/>
              <a:gd name="adj2" fmla="val 0"/>
            </a:avLst>
          </a:prstGeom>
          <a:ln>
            <a:solidFill>
              <a:schemeClr val="tx1">
                <a:lumMod val="50000"/>
                <a:lumOff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47" name="矩形 46"/>
          <p:cNvSpPr/>
          <p:nvPr/>
        </p:nvSpPr>
        <p:spPr>
          <a:xfrm>
            <a:off x="3702156" y="1248876"/>
            <a:ext cx="2282397" cy="523220"/>
          </a:xfrm>
          <a:prstGeom prst="rect">
            <a:avLst/>
          </a:prstGeom>
        </p:spPr>
        <p:txBody>
          <a:bodyPr wrap="square">
            <a:spAutoFit/>
          </a:bodyPr>
          <a:lstStyle/>
          <a:p>
            <a:pPr marL="285750" indent="-285750">
              <a:buFont typeface="Wingdings" panose="05000000000000000000" pitchFamily="2" charset="2"/>
              <a:buChar char="l"/>
            </a:pPr>
            <a:r>
              <a:rPr lang="en-US" sz="1400" dirty="0">
                <a:latin typeface="微软雅黑" panose="020B0503020204020204" pitchFamily="34" charset="-122"/>
                <a:ea typeface="微软雅黑" panose="020B0503020204020204" pitchFamily="34" charset="-122"/>
              </a:rPr>
              <a:t>平均总成本是指每单位产量所花费的总成本。</a:t>
            </a:r>
          </a:p>
        </p:txBody>
      </p:sp>
      <p:sp>
        <p:nvSpPr>
          <p:cNvPr id="48" name="矩形 47"/>
          <p:cNvSpPr/>
          <p:nvPr/>
        </p:nvSpPr>
        <p:spPr>
          <a:xfrm>
            <a:off x="3725424" y="1945063"/>
            <a:ext cx="1499128" cy="338554"/>
          </a:xfrm>
          <a:prstGeom prst="rect">
            <a:avLst/>
          </a:prstGeom>
        </p:spPr>
        <p:txBody>
          <a:bodyPr wrap="none">
            <a:spAutoFit/>
          </a:bodyPr>
          <a:lstStyle/>
          <a:p>
            <a:pPr marL="285750" indent="-285750">
              <a:buFont typeface="Wingdings" panose="05000000000000000000" pitchFamily="2" charset="2"/>
              <a:buChar char="Ø"/>
            </a:pPr>
            <a:r>
              <a:rPr lang="en-US" sz="1600" b="1" dirty="0">
                <a:latin typeface="微软雅黑" panose="020B0503020204020204" pitchFamily="34" charset="-122"/>
                <a:ea typeface="微软雅黑" panose="020B0503020204020204" pitchFamily="34" charset="-122"/>
              </a:rPr>
              <a:t>平均总成本</a:t>
            </a:r>
          </a:p>
        </p:txBody>
      </p:sp>
      <mc:AlternateContent xmlns:mc="http://schemas.openxmlformats.org/markup-compatibility/2006" xmlns:a14="http://schemas.microsoft.com/office/drawing/2010/main">
        <mc:Choice Requires="a14">
          <p:sp>
            <p:nvSpPr>
              <p:cNvPr id="49" name="文本框 48"/>
              <p:cNvSpPr txBox="1"/>
              <p:nvPr/>
            </p:nvSpPr>
            <p:spPr>
              <a:xfrm>
                <a:off x="5150852" y="1833526"/>
                <a:ext cx="945194" cy="5616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𝐴𝐶</m:t>
                      </m:r>
                      <m:r>
                        <a:rPr lang="en-US" i="1" smtClean="0">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i="1" smtClean="0">
                              <a:solidFill>
                                <a:schemeClr val="tx1"/>
                              </a:solidFill>
                              <a:latin typeface="Cambria Math" panose="02040503050406030204" pitchFamily="18" charset="0"/>
                            </a:rPr>
                            <m:t>𝑇𝐶</m:t>
                          </m:r>
                        </m:num>
                        <m:den>
                          <m:r>
                            <a:rPr lang="en-US" i="1" smtClean="0">
                              <a:solidFill>
                                <a:schemeClr val="tx1"/>
                              </a:solidFill>
                              <a:latin typeface="Cambria Math" panose="02040503050406030204" pitchFamily="18" charset="0"/>
                            </a:rPr>
                            <m:t>𝑄</m:t>
                          </m:r>
                        </m:den>
                      </m:f>
                    </m:oMath>
                  </m:oMathPara>
                </a14:m>
                <a:endParaRPr lang="en-US" dirty="0">
                  <a:solidFill>
                    <a:schemeClr val="tx1"/>
                  </a:solidFill>
                </a:endParaRPr>
              </a:p>
            </p:txBody>
          </p:sp>
        </mc:Choice>
        <mc:Fallback xmlns="">
          <p:sp>
            <p:nvSpPr>
              <p:cNvPr id="49" name="文本框 48"/>
              <p:cNvSpPr txBox="1">
                <a:spLocks noRot="1" noChangeAspect="1" noMove="1" noResize="1" noEditPoints="1" noAdjustHandles="1" noChangeArrowheads="1" noChangeShapeType="1" noTextEdit="1"/>
              </p:cNvSpPr>
              <p:nvPr/>
            </p:nvSpPr>
            <p:spPr>
              <a:xfrm>
                <a:off x="5150852" y="1833526"/>
                <a:ext cx="945194" cy="561629"/>
              </a:xfrm>
              <a:prstGeom prst="rect">
                <a:avLst/>
              </a:prstGeom>
              <a:blipFill>
                <a:blip r:embed="rId5"/>
                <a:stretch>
                  <a:fillRect/>
                </a:stretch>
              </a:blipFill>
            </p:spPr>
            <p:txBody>
              <a:bodyPr/>
              <a:lstStyle/>
              <a:p>
                <a:r>
                  <a:rPr lang="zh-CN" altLang="en-US">
                    <a:noFill/>
                  </a:rPr>
                  <a:t> </a:t>
                </a:r>
              </a:p>
            </p:txBody>
          </p:sp>
        </mc:Fallback>
      </mc:AlternateContent>
      <p:sp>
        <p:nvSpPr>
          <p:cNvPr id="50" name="矩形 49"/>
          <p:cNvSpPr/>
          <p:nvPr/>
        </p:nvSpPr>
        <p:spPr>
          <a:xfrm>
            <a:off x="4457121" y="4068044"/>
            <a:ext cx="1704313" cy="338554"/>
          </a:xfrm>
          <a:prstGeom prst="rect">
            <a:avLst/>
          </a:prstGeom>
        </p:spPr>
        <p:txBody>
          <a:bodyPr wrap="none">
            <a:spAutoFit/>
          </a:bodyPr>
          <a:lstStyle/>
          <a:p>
            <a:pPr marL="285750" indent="-285750">
              <a:buFont typeface="Wingdings" panose="05000000000000000000" pitchFamily="2" charset="2"/>
              <a:buChar char="Ø"/>
            </a:pPr>
            <a:r>
              <a:rPr lang="en-US" sz="1600" b="1" dirty="0">
                <a:latin typeface="微软雅黑" panose="020B0503020204020204" pitchFamily="34" charset="-122"/>
                <a:ea typeface="微软雅黑" panose="020B0503020204020204" pitchFamily="34" charset="-122"/>
              </a:rPr>
              <a:t>平均不变成本</a:t>
            </a:r>
          </a:p>
        </p:txBody>
      </p:sp>
      <mc:AlternateContent xmlns:mc="http://schemas.openxmlformats.org/markup-compatibility/2006" xmlns:a14="http://schemas.microsoft.com/office/drawing/2010/main">
        <mc:Choice Requires="a14">
          <p:sp>
            <p:nvSpPr>
              <p:cNvPr id="51" name="文本框 50"/>
              <p:cNvSpPr txBox="1"/>
              <p:nvPr/>
            </p:nvSpPr>
            <p:spPr>
              <a:xfrm>
                <a:off x="6073655" y="3955604"/>
                <a:ext cx="1086259" cy="5616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𝐴</m:t>
                      </m:r>
                      <m:r>
                        <a:rPr lang="en-US" b="0" i="1" smtClean="0">
                          <a:solidFill>
                            <a:schemeClr val="tx1"/>
                          </a:solidFill>
                          <a:latin typeface="Cambria Math" panose="02040503050406030204" pitchFamily="18" charset="0"/>
                        </a:rPr>
                        <m:t>𝐹</m:t>
                      </m:r>
                      <m:r>
                        <a:rPr lang="en-US" i="1" smtClean="0">
                          <a:solidFill>
                            <a:schemeClr val="tx1"/>
                          </a:solidFill>
                          <a:latin typeface="Cambria Math" panose="02040503050406030204" pitchFamily="18" charset="0"/>
                        </a:rPr>
                        <m:t>𝐶</m:t>
                      </m:r>
                      <m:r>
                        <a:rPr lang="en-US" i="1" smtClean="0">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𝐹</m:t>
                          </m:r>
                          <m:r>
                            <a:rPr lang="en-US" i="1" smtClean="0">
                              <a:solidFill>
                                <a:schemeClr val="tx1"/>
                              </a:solidFill>
                              <a:latin typeface="Cambria Math" panose="02040503050406030204" pitchFamily="18" charset="0"/>
                            </a:rPr>
                            <m:t>𝐶</m:t>
                          </m:r>
                        </m:num>
                        <m:den>
                          <m:r>
                            <a:rPr lang="en-US" i="1" smtClean="0">
                              <a:solidFill>
                                <a:schemeClr val="tx1"/>
                              </a:solidFill>
                              <a:latin typeface="Cambria Math" panose="02040503050406030204" pitchFamily="18" charset="0"/>
                            </a:rPr>
                            <m:t>𝑄</m:t>
                          </m:r>
                        </m:den>
                      </m:f>
                    </m:oMath>
                  </m:oMathPara>
                </a14:m>
                <a:endParaRPr lang="en-US" dirty="0">
                  <a:solidFill>
                    <a:schemeClr val="tx1"/>
                  </a:solidFill>
                </a:endParaRPr>
              </a:p>
            </p:txBody>
          </p:sp>
        </mc:Choice>
        <mc:Fallback xmlns="">
          <p:sp>
            <p:nvSpPr>
              <p:cNvPr id="51" name="文本框 50"/>
              <p:cNvSpPr txBox="1">
                <a:spLocks noRot="1" noChangeAspect="1" noMove="1" noResize="1" noEditPoints="1" noAdjustHandles="1" noChangeArrowheads="1" noChangeShapeType="1" noTextEdit="1"/>
              </p:cNvSpPr>
              <p:nvPr/>
            </p:nvSpPr>
            <p:spPr>
              <a:xfrm>
                <a:off x="6073655" y="3955604"/>
                <a:ext cx="1086259" cy="561629"/>
              </a:xfrm>
              <a:prstGeom prst="rect">
                <a:avLst/>
              </a:prstGeom>
              <a:blipFill>
                <a:blip r:embed="rId6"/>
                <a:stretch>
                  <a:fillRect/>
                </a:stretch>
              </a:blipFill>
            </p:spPr>
            <p:txBody>
              <a:bodyPr/>
              <a:lstStyle/>
              <a:p>
                <a:r>
                  <a:rPr lang="zh-CN" altLang="en-US">
                    <a:noFill/>
                  </a:rPr>
                  <a:t> </a:t>
                </a:r>
              </a:p>
            </p:txBody>
          </p:sp>
        </mc:Fallback>
      </mc:AlternateContent>
      <p:sp>
        <p:nvSpPr>
          <p:cNvPr id="52" name="Arc 14" descr="e7d195523061f1c0f55f9af68525816972d868573ada39bc763F3977967589A5F92C178830C92595A6CE4D0132F8C206B2B04C416AAA86B7FD80AB023F78DAEB544E2F013E11B2B95AD21703D1C90034A379EC9026EFAAF5D8D3F6EDD7215B01F6CA9944DC1B7CBBDAA69CBEB3E97B6961AD0B84AF64FBDEE7BFD789234F86D611D00A1237AD43ED849A958CA111FA04"/>
          <p:cNvSpPr/>
          <p:nvPr/>
        </p:nvSpPr>
        <p:spPr>
          <a:xfrm rot="19072967" flipV="1">
            <a:off x="3992089" y="3458973"/>
            <a:ext cx="2004063" cy="1789633"/>
          </a:xfrm>
          <a:prstGeom prst="arc">
            <a:avLst>
              <a:gd name="adj1" fmla="val 20103291"/>
              <a:gd name="adj2" fmla="val 425219"/>
            </a:avLst>
          </a:prstGeom>
          <a:ln>
            <a:solidFill>
              <a:schemeClr val="tx1">
                <a:lumMod val="50000"/>
                <a:lumOff val="50000"/>
              </a:schemeClr>
            </a:solidFill>
            <a:headEnd type="arrow"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53" name="矩形 52"/>
          <p:cNvSpPr/>
          <p:nvPr/>
        </p:nvSpPr>
        <p:spPr>
          <a:xfrm>
            <a:off x="3340919" y="5306200"/>
            <a:ext cx="1704313" cy="338554"/>
          </a:xfrm>
          <a:prstGeom prst="rect">
            <a:avLst/>
          </a:prstGeom>
        </p:spPr>
        <p:txBody>
          <a:bodyPr wrap="none">
            <a:spAutoFit/>
          </a:bodyPr>
          <a:lstStyle/>
          <a:p>
            <a:pPr marL="285750" indent="-285750">
              <a:buFont typeface="Wingdings" panose="05000000000000000000" pitchFamily="2" charset="2"/>
              <a:buChar char="Ø"/>
            </a:pPr>
            <a:r>
              <a:rPr lang="en-US" sz="1600" b="1" dirty="0">
                <a:latin typeface="微软雅黑" panose="020B0503020204020204" pitchFamily="34" charset="-122"/>
                <a:ea typeface="微软雅黑" panose="020B0503020204020204" pitchFamily="34" charset="-122"/>
              </a:rPr>
              <a:t>平均可变成本</a:t>
            </a:r>
          </a:p>
        </p:txBody>
      </p:sp>
      <mc:AlternateContent xmlns:mc="http://schemas.openxmlformats.org/markup-compatibility/2006" xmlns:a14="http://schemas.microsoft.com/office/drawing/2010/main">
        <mc:Choice Requires="a14">
          <p:sp>
            <p:nvSpPr>
              <p:cNvPr id="54" name="文本框 53"/>
              <p:cNvSpPr txBox="1"/>
              <p:nvPr/>
            </p:nvSpPr>
            <p:spPr>
              <a:xfrm>
                <a:off x="4972337" y="5196250"/>
                <a:ext cx="1086259" cy="56162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rPr>
                        <m:t>𝐴</m:t>
                      </m:r>
                      <m:r>
                        <a:rPr lang="en-US" b="0" i="1" smtClean="0">
                          <a:solidFill>
                            <a:schemeClr val="tx1"/>
                          </a:solidFill>
                          <a:latin typeface="Cambria Math" panose="02040503050406030204" pitchFamily="18" charset="0"/>
                        </a:rPr>
                        <m:t>𝑉</m:t>
                      </m:r>
                      <m:r>
                        <a:rPr lang="en-US" i="1" smtClean="0">
                          <a:solidFill>
                            <a:schemeClr val="tx1"/>
                          </a:solidFill>
                          <a:latin typeface="Cambria Math" panose="02040503050406030204" pitchFamily="18" charset="0"/>
                        </a:rPr>
                        <m:t>𝐶</m:t>
                      </m:r>
                      <m:r>
                        <a:rPr lang="en-US" i="1" smtClean="0">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𝑉</m:t>
                          </m:r>
                          <m:r>
                            <a:rPr lang="en-US" i="1" smtClean="0">
                              <a:solidFill>
                                <a:schemeClr val="tx1"/>
                              </a:solidFill>
                              <a:latin typeface="Cambria Math" panose="02040503050406030204" pitchFamily="18" charset="0"/>
                            </a:rPr>
                            <m:t>𝐶</m:t>
                          </m:r>
                        </m:num>
                        <m:den>
                          <m:r>
                            <a:rPr lang="en-US" i="1" smtClean="0">
                              <a:solidFill>
                                <a:schemeClr val="tx1"/>
                              </a:solidFill>
                              <a:latin typeface="Cambria Math" panose="02040503050406030204" pitchFamily="18" charset="0"/>
                            </a:rPr>
                            <m:t>𝑄</m:t>
                          </m:r>
                        </m:den>
                      </m:f>
                    </m:oMath>
                  </m:oMathPara>
                </a14:m>
                <a:endParaRPr lang="en-US" dirty="0">
                  <a:solidFill>
                    <a:schemeClr val="tx1"/>
                  </a:solidFill>
                </a:endParaRPr>
              </a:p>
            </p:txBody>
          </p:sp>
        </mc:Choice>
        <mc:Fallback xmlns="">
          <p:sp>
            <p:nvSpPr>
              <p:cNvPr id="54" name="文本框 53"/>
              <p:cNvSpPr txBox="1">
                <a:spLocks noRot="1" noChangeAspect="1" noMove="1" noResize="1" noEditPoints="1" noAdjustHandles="1" noChangeArrowheads="1" noChangeShapeType="1" noTextEdit="1"/>
              </p:cNvSpPr>
              <p:nvPr/>
            </p:nvSpPr>
            <p:spPr>
              <a:xfrm>
                <a:off x="4972337" y="5196250"/>
                <a:ext cx="1086259" cy="561629"/>
              </a:xfrm>
              <a:prstGeom prst="rect">
                <a:avLst/>
              </a:prstGeom>
              <a:blipFill>
                <a:blip r:embed="rId7"/>
                <a:stretch>
                  <a:fillRect/>
                </a:stretch>
              </a:blipFill>
            </p:spPr>
            <p:txBody>
              <a:bodyPr/>
              <a:lstStyle/>
              <a:p>
                <a:r>
                  <a:rPr lang="zh-CN" altLang="en-US">
                    <a:noFill/>
                  </a:rPr>
                  <a:t> </a:t>
                </a:r>
              </a:p>
            </p:txBody>
          </p:sp>
        </mc:Fallback>
      </mc:AlternateContent>
      <p:sp>
        <p:nvSpPr>
          <p:cNvPr id="55" name="矩形 54"/>
          <p:cNvSpPr/>
          <p:nvPr/>
        </p:nvSpPr>
        <p:spPr>
          <a:xfrm>
            <a:off x="3365546" y="5644680"/>
            <a:ext cx="2476615" cy="523220"/>
          </a:xfrm>
          <a:prstGeom prst="rect">
            <a:avLst/>
          </a:prstGeom>
        </p:spPr>
        <p:txBody>
          <a:bodyPr wrap="square">
            <a:spAutoFit/>
          </a:bodyPr>
          <a:lstStyle/>
          <a:p>
            <a:pPr marL="285750" indent="-285750">
              <a:buFont typeface="Wingdings" panose="05000000000000000000" pitchFamily="2" charset="2"/>
              <a:buChar char="l"/>
            </a:pPr>
            <a:r>
              <a:rPr lang="en-US" sz="1400" dirty="0">
                <a:latin typeface="微软雅黑" panose="020B0503020204020204" pitchFamily="34" charset="-122"/>
                <a:ea typeface="微软雅黑" panose="020B0503020204020204" pitchFamily="34" charset="-122"/>
              </a:rPr>
              <a:t>平均可变成本是指每单位产量所花费的可变成本。</a:t>
            </a:r>
          </a:p>
        </p:txBody>
      </p:sp>
      <mc:AlternateContent xmlns:mc="http://schemas.openxmlformats.org/markup-compatibility/2006" xmlns:a14="http://schemas.microsoft.com/office/drawing/2010/main">
        <mc:Choice Requires="a14">
          <p:sp>
            <p:nvSpPr>
              <p:cNvPr id="57" name="文本框 56"/>
              <p:cNvSpPr txBox="1"/>
              <p:nvPr/>
            </p:nvSpPr>
            <p:spPr>
              <a:xfrm>
                <a:off x="7016938" y="1333532"/>
                <a:ext cx="1913985" cy="56175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𝑴𝑪</m:t>
                      </m:r>
                      <m:r>
                        <a:rPr lang="en-US" b="1" i="1" smtClean="0">
                          <a:solidFill>
                            <a:schemeClr val="tx1"/>
                          </a:solidFill>
                          <a:latin typeface="Cambria Math" panose="02040503050406030204" pitchFamily="18" charset="0"/>
                        </a:rPr>
                        <m:t>=</m:t>
                      </m:r>
                      <m:f>
                        <m:fPr>
                          <m:ctrlPr>
                            <a:rPr lang="en-US" b="1" i="1" smtClean="0">
                              <a:solidFill>
                                <a:schemeClr val="tx1"/>
                              </a:solidFill>
                              <a:latin typeface="Cambria Math" panose="02040503050406030204" pitchFamily="18" charset="0"/>
                            </a:rPr>
                          </m:ctrlPr>
                        </m:fPr>
                        <m:num>
                          <m:r>
                            <a:rPr lang="en-US" b="1" i="1" smtClean="0">
                              <a:solidFill>
                                <a:schemeClr val="tx1"/>
                              </a:solidFill>
                              <a:latin typeface="Cambria Math" panose="02040503050406030204" pitchFamily="18" charset="0"/>
                            </a:rPr>
                            <m:t>𝜟</m:t>
                          </m:r>
                          <m:r>
                            <a:rPr lang="en-US" b="1" i="1" smtClean="0">
                              <a:solidFill>
                                <a:schemeClr val="tx1"/>
                              </a:solidFill>
                              <a:latin typeface="Cambria Math" panose="02040503050406030204" pitchFamily="18" charset="0"/>
                            </a:rPr>
                            <m:t>𝑻𝑪</m:t>
                          </m:r>
                        </m:num>
                        <m:den>
                          <m:r>
                            <a:rPr lang="en-US" b="1" i="1" smtClean="0">
                              <a:solidFill>
                                <a:schemeClr val="tx1"/>
                              </a:solidFill>
                              <a:latin typeface="Cambria Math" panose="02040503050406030204" pitchFamily="18" charset="0"/>
                            </a:rPr>
                            <m:t>𝜟</m:t>
                          </m:r>
                          <m:r>
                            <a:rPr lang="en-US" b="1" i="1" smtClean="0">
                              <a:solidFill>
                                <a:schemeClr val="tx1"/>
                              </a:solidFill>
                              <a:latin typeface="Cambria Math" panose="02040503050406030204" pitchFamily="18" charset="0"/>
                            </a:rPr>
                            <m:t>𝑸</m:t>
                          </m:r>
                        </m:den>
                      </m:f>
                      <m:r>
                        <a:rPr lang="en-US" b="1" i="1" smtClean="0">
                          <a:solidFill>
                            <a:schemeClr val="tx1"/>
                          </a:solidFill>
                          <a:latin typeface="Cambria Math" panose="02040503050406030204" pitchFamily="18" charset="0"/>
                        </a:rPr>
                        <m:t>=</m:t>
                      </m:r>
                      <m:f>
                        <m:fPr>
                          <m:ctrlPr>
                            <a:rPr lang="en-US" b="1" i="1" smtClean="0">
                              <a:solidFill>
                                <a:schemeClr val="tx1"/>
                              </a:solidFill>
                              <a:latin typeface="Cambria Math" panose="02040503050406030204" pitchFamily="18" charset="0"/>
                            </a:rPr>
                          </m:ctrlPr>
                        </m:fPr>
                        <m:num>
                          <m:r>
                            <a:rPr lang="en-US" b="1" i="1" smtClean="0">
                              <a:solidFill>
                                <a:schemeClr val="tx1"/>
                              </a:solidFill>
                              <a:latin typeface="Cambria Math" panose="02040503050406030204" pitchFamily="18" charset="0"/>
                            </a:rPr>
                            <m:t>𝜟</m:t>
                          </m:r>
                          <m:r>
                            <a:rPr lang="en-US" b="1" i="1" smtClean="0">
                              <a:solidFill>
                                <a:schemeClr val="tx1"/>
                              </a:solidFill>
                              <a:latin typeface="Cambria Math" panose="02040503050406030204" pitchFamily="18" charset="0"/>
                            </a:rPr>
                            <m:t>𝑽𝑪</m:t>
                          </m:r>
                        </m:num>
                        <m:den>
                          <m:r>
                            <a:rPr lang="en-US" b="1" i="1" smtClean="0">
                              <a:solidFill>
                                <a:schemeClr val="tx1"/>
                              </a:solidFill>
                              <a:latin typeface="Cambria Math" panose="02040503050406030204" pitchFamily="18" charset="0"/>
                            </a:rPr>
                            <m:t>𝜟</m:t>
                          </m:r>
                          <m:r>
                            <a:rPr lang="en-US" b="1" i="1" smtClean="0">
                              <a:solidFill>
                                <a:schemeClr val="tx1"/>
                              </a:solidFill>
                              <a:latin typeface="Cambria Math" panose="02040503050406030204" pitchFamily="18" charset="0"/>
                            </a:rPr>
                            <m:t>𝑸</m:t>
                          </m:r>
                        </m:den>
                      </m:f>
                    </m:oMath>
                  </m:oMathPara>
                </a14:m>
                <a:endParaRPr lang="en-US" b="1" dirty="0">
                  <a:solidFill>
                    <a:schemeClr val="tx1"/>
                  </a:solidFill>
                </a:endParaRPr>
              </a:p>
            </p:txBody>
          </p:sp>
        </mc:Choice>
        <mc:Fallback xmlns="">
          <p:sp>
            <p:nvSpPr>
              <p:cNvPr id="57" name="文本框 56"/>
              <p:cNvSpPr txBox="1">
                <a:spLocks noRot="1" noChangeAspect="1" noMove="1" noResize="1" noEditPoints="1" noAdjustHandles="1" noChangeArrowheads="1" noChangeShapeType="1" noTextEdit="1"/>
              </p:cNvSpPr>
              <p:nvPr/>
            </p:nvSpPr>
            <p:spPr>
              <a:xfrm>
                <a:off x="7016938" y="1333532"/>
                <a:ext cx="1913985" cy="561757"/>
              </a:xfrm>
              <a:prstGeom prst="rect">
                <a:avLst/>
              </a:prstGeom>
              <a:blipFill>
                <a:blip r:embed="rId8"/>
                <a:stretch>
                  <a:fillRect/>
                </a:stretch>
              </a:blipFill>
            </p:spPr>
            <p:txBody>
              <a:bodyPr/>
              <a:lstStyle/>
              <a:p>
                <a:r>
                  <a:rPr lang="zh-CN" altLang="en-US">
                    <a:noFill/>
                  </a:rPr>
                  <a:t> </a:t>
                </a:r>
              </a:p>
            </p:txBody>
          </p:sp>
        </mc:Fallback>
      </mc:AlternateContent>
      <p:sp>
        <p:nvSpPr>
          <p:cNvPr id="61" name="Shape 2733"/>
          <p:cNvSpPr/>
          <p:nvPr/>
        </p:nvSpPr>
        <p:spPr>
          <a:xfrm>
            <a:off x="2472150" y="3189457"/>
            <a:ext cx="1443816" cy="242587"/>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7060"/>
                  <a:pt x="20794" y="21600"/>
                  <a:pt x="19800" y="21600"/>
                </a:cubicBezTo>
                <a:lnTo>
                  <a:pt x="1800" y="21600"/>
                </a:lnTo>
                <a:cubicBezTo>
                  <a:pt x="806" y="21600"/>
                  <a:pt x="0" y="17060"/>
                  <a:pt x="0" y="10800"/>
                </a:cubicBezTo>
                <a:lnTo>
                  <a:pt x="0" y="10800"/>
                </a:lnTo>
                <a:cubicBezTo>
                  <a:pt x="0" y="4540"/>
                  <a:pt x="806" y="0"/>
                  <a:pt x="1800" y="0"/>
                </a:cubicBezTo>
                <a:lnTo>
                  <a:pt x="19800" y="0"/>
                </a:lnTo>
                <a:cubicBezTo>
                  <a:pt x="20794" y="0"/>
                  <a:pt x="21600" y="4540"/>
                  <a:pt x="21600" y="10800"/>
                </a:cubicBezTo>
                <a:cubicBezTo>
                  <a:pt x="21600" y="10800"/>
                  <a:pt x="21600" y="10800"/>
                  <a:pt x="21600" y="10800"/>
                </a:cubicBezTo>
                <a:close/>
              </a:path>
            </a:pathLst>
          </a:custGeom>
          <a:solidFill>
            <a:srgbClr val="85B2D2">
              <a:alpha val="50000"/>
            </a:srgbClr>
          </a:solidFill>
          <a:ln w="63500">
            <a:solidFill>
              <a:srgbClr val="FFFFFF">
                <a:alpha val="50000"/>
              </a:srgbClr>
            </a:solidFill>
            <a:miter lim="400000"/>
          </a:ln>
        </p:spPr>
        <p:txBody>
          <a:bodyPr lIns="0" tIns="0" rIns="0" bIns="0" anchor="ctr"/>
          <a:lstStyle/>
          <a:p>
            <a:pPr lvl="0">
              <a:defRPr sz="3200">
                <a:solidFill>
                  <a:srgbClr val="FFFFFF"/>
                </a:solidFill>
                <a:latin typeface="Helvetica Light"/>
                <a:ea typeface="Helvetica Light"/>
                <a:cs typeface="Helvetica Light"/>
                <a:sym typeface="Helvetica Light"/>
              </a:defRPr>
            </a:pPr>
            <a:endParaRPr/>
          </a:p>
        </p:txBody>
      </p:sp>
      <p:sp>
        <p:nvSpPr>
          <p:cNvPr id="4" name="线形标注 1 3"/>
          <p:cNvSpPr/>
          <p:nvPr/>
        </p:nvSpPr>
        <p:spPr bwMode="auto">
          <a:xfrm>
            <a:off x="4281468" y="395337"/>
            <a:ext cx="2762153" cy="612648"/>
          </a:xfrm>
          <a:prstGeom prst="borderCallout1">
            <a:avLst>
              <a:gd name="adj1" fmla="val 49958"/>
              <a:gd name="adj2" fmla="val -809"/>
              <a:gd name="adj3" fmla="val 44657"/>
              <a:gd name="adj4" fmla="val -1602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短期的特点就是生产要素分为可变要素和不变要素。</a:t>
            </a:r>
          </a:p>
        </p:txBody>
      </p:sp>
      <p:sp>
        <p:nvSpPr>
          <p:cNvPr id="5" name="线形标注 1 4"/>
          <p:cNvSpPr/>
          <p:nvPr/>
        </p:nvSpPr>
        <p:spPr bwMode="auto">
          <a:xfrm>
            <a:off x="7657364" y="3720807"/>
            <a:ext cx="1430124" cy="1842640"/>
          </a:xfrm>
          <a:prstGeom prst="borderCallout1">
            <a:avLst>
              <a:gd name="adj1" fmla="val 31156"/>
              <a:gd name="adj2" fmla="val -3005"/>
              <a:gd name="adj3" fmla="val -1614"/>
              <a:gd name="adj4" fmla="val -3007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4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注意边际成本可以通过对总成本求导得到，也可以对可变成本求导得到，因为总成本的改变量完全来自于可变成本。</a:t>
            </a:r>
          </a:p>
        </p:txBody>
      </p:sp>
    </p:spTree>
    <p:extLst>
      <p:ext uri="{BB962C8B-B14F-4D97-AF65-F5344CB8AC3E}">
        <p14:creationId xmlns:p14="http://schemas.microsoft.com/office/powerpoint/2010/main" val="39525202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58"/>
                                        </p:tgtEl>
                                        <p:attrNameLst>
                                          <p:attrName>style.visibility</p:attrName>
                                        </p:attrNameLst>
                                      </p:cBhvr>
                                      <p:to>
                                        <p:strVal val="visible"/>
                                      </p:to>
                                    </p:set>
                                    <p:animEffect transition="in" filter="circle(in)">
                                      <p:cBhvr>
                                        <p:cTn id="14" dur="2000"/>
                                        <p:tgtEl>
                                          <p:spTgt spid="58"/>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circle(in)">
                                      <p:cBhvr>
                                        <p:cTn id="17" dur="20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par>
                                <p:cTn id="23" presetID="22" presetClass="entr" presetSubtype="4"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down)">
                                      <p:cBhvr>
                                        <p:cTn id="25" dur="500"/>
                                        <p:tgtEl>
                                          <p:spTgt spid="33"/>
                                        </p:tgtEl>
                                      </p:cBhvr>
                                    </p:animEffect>
                                  </p:childTnLst>
                                </p:cTn>
                              </p:par>
                              <p:par>
                                <p:cTn id="26" presetID="22" presetClass="entr" presetSubtype="4" fill="hold" grpId="0" nodeType="with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ipe(down)">
                                      <p:cBhvr>
                                        <p:cTn id="28" dur="500"/>
                                        <p:tgtEl>
                                          <p:spTgt spid="45"/>
                                        </p:tgtEl>
                                      </p:cBhvr>
                                    </p:animEffect>
                                  </p:childTnLst>
                                </p:cTn>
                              </p:par>
                              <p:par>
                                <p:cTn id="29" presetID="22" presetClass="entr" presetSubtype="4"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wipe(down)">
                                      <p:cBhvr>
                                        <p:cTn id="31" dur="50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wipe(up)">
                                      <p:cBhvr>
                                        <p:cTn id="36" dur="500"/>
                                        <p:tgtEl>
                                          <p:spTgt spid="39"/>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wipe(up)">
                                      <p:cBhvr>
                                        <p:cTn id="39" dur="500"/>
                                        <p:tgtEl>
                                          <p:spTgt spid="36"/>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wipe(up)">
                                      <p:cBhvr>
                                        <p:cTn id="42" dur="500"/>
                                        <p:tgtEl>
                                          <p:spTgt spid="4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3"/>
                                        </p:tgtEl>
                                        <p:attrNameLst>
                                          <p:attrName>style.visibility</p:attrName>
                                        </p:attrNameLst>
                                      </p:cBhvr>
                                      <p:to>
                                        <p:strVal val="visible"/>
                                      </p:to>
                                    </p:set>
                                    <p:animEffect transition="in" filter="wipe(up)">
                                      <p:cBhvr>
                                        <p:cTn id="47" dur="500"/>
                                        <p:tgtEl>
                                          <p:spTgt spid="43"/>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41"/>
                                        </p:tgtEl>
                                        <p:attrNameLst>
                                          <p:attrName>style.visibility</p:attrName>
                                        </p:attrNameLst>
                                      </p:cBhvr>
                                      <p:to>
                                        <p:strVal val="visible"/>
                                      </p:to>
                                    </p:set>
                                    <p:animEffect transition="in" filter="wipe(up)">
                                      <p:cBhvr>
                                        <p:cTn id="50" dur="500"/>
                                        <p:tgtEl>
                                          <p:spTgt spid="41"/>
                                        </p:tgtEl>
                                      </p:cBhvr>
                                    </p:animEffect>
                                  </p:childTnLst>
                                </p:cTn>
                              </p:par>
                              <p:par>
                                <p:cTn id="51" presetID="22" presetClass="entr" presetSubtype="1" fill="hold" grpId="0" nodeType="withEffect">
                                  <p:stCondLst>
                                    <p:cond delay="0"/>
                                  </p:stCondLst>
                                  <p:childTnLst>
                                    <p:set>
                                      <p:cBhvr>
                                        <p:cTn id="52" dur="1" fill="hold">
                                          <p:stCondLst>
                                            <p:cond delay="0"/>
                                          </p:stCondLst>
                                        </p:cTn>
                                        <p:tgtEl>
                                          <p:spTgt spid="40"/>
                                        </p:tgtEl>
                                        <p:attrNameLst>
                                          <p:attrName>style.visibility</p:attrName>
                                        </p:attrNameLst>
                                      </p:cBhvr>
                                      <p:to>
                                        <p:strVal val="visible"/>
                                      </p:to>
                                    </p:set>
                                    <p:animEffect transition="in" filter="wipe(up)">
                                      <p:cBhvr>
                                        <p:cTn id="53" dur="500"/>
                                        <p:tgtEl>
                                          <p:spTgt spid="4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61"/>
                                        </p:tgtEl>
                                        <p:attrNameLst>
                                          <p:attrName>style.visibility</p:attrName>
                                        </p:attrNameLst>
                                      </p:cBhvr>
                                      <p:to>
                                        <p:strVal val="visible"/>
                                      </p:to>
                                    </p:set>
                                    <p:animEffect transition="in" filter="wipe(left)">
                                      <p:cBhvr>
                                        <p:cTn id="58" dur="500"/>
                                        <p:tgtEl>
                                          <p:spTgt spid="61"/>
                                        </p:tgtEl>
                                      </p:cBhvr>
                                    </p:animEffect>
                                  </p:childTnLst>
                                </p:cTn>
                              </p:par>
                            </p:childTnLst>
                          </p:cTn>
                        </p:par>
                      </p:childTnLst>
                    </p:cTn>
                  </p:par>
                  <p:par>
                    <p:cTn id="59" fill="hold">
                      <p:stCondLst>
                        <p:cond delay="indefinite"/>
                      </p:stCondLst>
                      <p:childTnLst>
                        <p:par>
                          <p:cTn id="60" fill="hold">
                            <p:stCondLst>
                              <p:cond delay="0"/>
                            </p:stCondLst>
                            <p:childTnLst>
                              <p:par>
                                <p:cTn id="61" presetID="6" presetClass="entr" presetSubtype="16" fill="hold" grpId="0" nodeType="clickEffect">
                                  <p:stCondLst>
                                    <p:cond delay="0"/>
                                  </p:stCondLst>
                                  <p:childTnLst>
                                    <p:set>
                                      <p:cBhvr>
                                        <p:cTn id="62" dur="1" fill="hold">
                                          <p:stCondLst>
                                            <p:cond delay="0"/>
                                          </p:stCondLst>
                                        </p:cTn>
                                        <p:tgtEl>
                                          <p:spTgt spid="59"/>
                                        </p:tgtEl>
                                        <p:attrNameLst>
                                          <p:attrName>style.visibility</p:attrName>
                                        </p:attrNameLst>
                                      </p:cBhvr>
                                      <p:to>
                                        <p:strVal val="visible"/>
                                      </p:to>
                                    </p:set>
                                    <p:animEffect transition="in" filter="circle(in)">
                                      <p:cBhvr>
                                        <p:cTn id="63" dur="2000"/>
                                        <p:tgtEl>
                                          <p:spTgt spid="59"/>
                                        </p:tgtEl>
                                      </p:cBhvr>
                                    </p:animEffect>
                                  </p:childTnLst>
                                </p:cTn>
                              </p:par>
                              <p:par>
                                <p:cTn id="64" presetID="6" presetClass="entr" presetSubtype="16" fill="hold" grpId="0"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circle(in)">
                                      <p:cBhvr>
                                        <p:cTn id="66" dur="2000"/>
                                        <p:tgtEl>
                                          <p:spTgt spid="29"/>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4" fill="hold" grpId="0" nodeType="clickEffect">
                                  <p:stCondLst>
                                    <p:cond delay="0"/>
                                  </p:stCondLst>
                                  <p:childTnLst>
                                    <p:set>
                                      <p:cBhvr>
                                        <p:cTn id="70" dur="1" fill="hold">
                                          <p:stCondLst>
                                            <p:cond delay="0"/>
                                          </p:stCondLst>
                                        </p:cTn>
                                        <p:tgtEl>
                                          <p:spTgt spid="48"/>
                                        </p:tgtEl>
                                        <p:attrNameLst>
                                          <p:attrName>style.visibility</p:attrName>
                                        </p:attrNameLst>
                                      </p:cBhvr>
                                      <p:to>
                                        <p:strVal val="visible"/>
                                      </p:to>
                                    </p:set>
                                    <p:animEffect transition="in" filter="wipe(down)">
                                      <p:cBhvr>
                                        <p:cTn id="71" dur="500"/>
                                        <p:tgtEl>
                                          <p:spTgt spid="48"/>
                                        </p:tgtEl>
                                      </p:cBhvr>
                                    </p:animEffect>
                                  </p:childTnLst>
                                </p:cTn>
                              </p:par>
                              <p:par>
                                <p:cTn id="72" presetID="22" presetClass="entr" presetSubtype="4" fill="hold" grpId="0" nodeType="withEffect">
                                  <p:stCondLst>
                                    <p:cond delay="0"/>
                                  </p:stCondLst>
                                  <p:childTnLst>
                                    <p:set>
                                      <p:cBhvr>
                                        <p:cTn id="73" dur="1" fill="hold">
                                          <p:stCondLst>
                                            <p:cond delay="0"/>
                                          </p:stCondLst>
                                        </p:cTn>
                                        <p:tgtEl>
                                          <p:spTgt spid="46"/>
                                        </p:tgtEl>
                                        <p:attrNameLst>
                                          <p:attrName>style.visibility</p:attrName>
                                        </p:attrNameLst>
                                      </p:cBhvr>
                                      <p:to>
                                        <p:strVal val="visible"/>
                                      </p:to>
                                    </p:set>
                                    <p:animEffect transition="in" filter="wipe(down)">
                                      <p:cBhvr>
                                        <p:cTn id="74" dur="500"/>
                                        <p:tgtEl>
                                          <p:spTgt spid="46"/>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wipe(down)">
                                      <p:cBhvr>
                                        <p:cTn id="77" dur="500"/>
                                        <p:tgtEl>
                                          <p:spTgt spid="49"/>
                                        </p:tgtEl>
                                      </p:cBhvr>
                                    </p:animEffect>
                                  </p:childTnLst>
                                </p:cTn>
                              </p:par>
                              <p:par>
                                <p:cTn id="78" presetID="22" presetClass="entr" presetSubtype="4" fill="hold" grpId="0" nodeType="withEffect">
                                  <p:stCondLst>
                                    <p:cond delay="0"/>
                                  </p:stCondLst>
                                  <p:childTnLst>
                                    <p:set>
                                      <p:cBhvr>
                                        <p:cTn id="79" dur="1" fill="hold">
                                          <p:stCondLst>
                                            <p:cond delay="0"/>
                                          </p:stCondLst>
                                        </p:cTn>
                                        <p:tgtEl>
                                          <p:spTgt spid="47"/>
                                        </p:tgtEl>
                                        <p:attrNameLst>
                                          <p:attrName>style.visibility</p:attrName>
                                        </p:attrNameLst>
                                      </p:cBhvr>
                                      <p:to>
                                        <p:strVal val="visible"/>
                                      </p:to>
                                    </p:set>
                                    <p:animEffect transition="in" filter="wipe(down)">
                                      <p:cBhvr>
                                        <p:cTn id="80" dur="500"/>
                                        <p:tgtEl>
                                          <p:spTgt spid="47"/>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grpId="0" nodeType="clickEffect">
                                  <p:stCondLst>
                                    <p:cond delay="0"/>
                                  </p:stCondLst>
                                  <p:childTnLst>
                                    <p:set>
                                      <p:cBhvr>
                                        <p:cTn id="84" dur="1" fill="hold">
                                          <p:stCondLst>
                                            <p:cond delay="0"/>
                                          </p:stCondLst>
                                        </p:cTn>
                                        <p:tgtEl>
                                          <p:spTgt spid="52"/>
                                        </p:tgtEl>
                                        <p:attrNameLst>
                                          <p:attrName>style.visibility</p:attrName>
                                        </p:attrNameLst>
                                      </p:cBhvr>
                                      <p:to>
                                        <p:strVal val="visible"/>
                                      </p:to>
                                    </p:set>
                                    <p:animEffect transition="in" filter="wipe(up)">
                                      <p:cBhvr>
                                        <p:cTn id="85" dur="500"/>
                                        <p:tgtEl>
                                          <p:spTgt spid="52"/>
                                        </p:tgtEl>
                                      </p:cBhvr>
                                    </p:animEffect>
                                  </p:childTnLst>
                                </p:cTn>
                              </p:par>
                              <p:par>
                                <p:cTn id="86" presetID="22" presetClass="entr" presetSubtype="1" fill="hold" grpId="0"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wipe(up)">
                                      <p:cBhvr>
                                        <p:cTn id="88" dur="500"/>
                                        <p:tgtEl>
                                          <p:spTgt spid="50"/>
                                        </p:tgtEl>
                                      </p:cBhvr>
                                    </p:animEffect>
                                  </p:childTnLst>
                                </p:cTn>
                              </p:par>
                              <p:par>
                                <p:cTn id="89" presetID="22" presetClass="entr" presetSubtype="1" fill="hold" grpId="0" nodeType="withEffect">
                                  <p:stCondLst>
                                    <p:cond delay="0"/>
                                  </p:stCondLst>
                                  <p:childTnLst>
                                    <p:set>
                                      <p:cBhvr>
                                        <p:cTn id="90" dur="1" fill="hold">
                                          <p:stCondLst>
                                            <p:cond delay="0"/>
                                          </p:stCondLst>
                                        </p:cTn>
                                        <p:tgtEl>
                                          <p:spTgt spid="44"/>
                                        </p:tgtEl>
                                        <p:attrNameLst>
                                          <p:attrName>style.visibility</p:attrName>
                                        </p:attrNameLst>
                                      </p:cBhvr>
                                      <p:to>
                                        <p:strVal val="visible"/>
                                      </p:to>
                                    </p:set>
                                    <p:animEffect transition="in" filter="wipe(up)">
                                      <p:cBhvr>
                                        <p:cTn id="91" dur="500"/>
                                        <p:tgtEl>
                                          <p:spTgt spid="44"/>
                                        </p:tgtEl>
                                      </p:cBhvr>
                                    </p:animEffect>
                                  </p:childTnLst>
                                </p:cTn>
                              </p:par>
                              <p:par>
                                <p:cTn id="92" presetID="22" presetClass="entr" presetSubtype="1" fill="hold" grpId="0" nodeType="withEffect">
                                  <p:stCondLst>
                                    <p:cond delay="0"/>
                                  </p:stCondLst>
                                  <p:childTnLst>
                                    <p:set>
                                      <p:cBhvr>
                                        <p:cTn id="93" dur="1" fill="hold">
                                          <p:stCondLst>
                                            <p:cond delay="0"/>
                                          </p:stCondLst>
                                        </p:cTn>
                                        <p:tgtEl>
                                          <p:spTgt spid="51"/>
                                        </p:tgtEl>
                                        <p:attrNameLst>
                                          <p:attrName>style.visibility</p:attrName>
                                        </p:attrNameLst>
                                      </p:cBhvr>
                                      <p:to>
                                        <p:strVal val="visible"/>
                                      </p:to>
                                    </p:set>
                                    <p:animEffect transition="in" filter="wipe(up)">
                                      <p:cBhvr>
                                        <p:cTn id="94" dur="500"/>
                                        <p:tgtEl>
                                          <p:spTgt spid="51"/>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1" fill="hold" grpId="0" nodeType="clickEffect">
                                  <p:stCondLst>
                                    <p:cond delay="0"/>
                                  </p:stCondLst>
                                  <p:childTnLst>
                                    <p:set>
                                      <p:cBhvr>
                                        <p:cTn id="98" dur="1" fill="hold">
                                          <p:stCondLst>
                                            <p:cond delay="0"/>
                                          </p:stCondLst>
                                        </p:cTn>
                                        <p:tgtEl>
                                          <p:spTgt spid="13"/>
                                        </p:tgtEl>
                                        <p:attrNameLst>
                                          <p:attrName>style.visibility</p:attrName>
                                        </p:attrNameLst>
                                      </p:cBhvr>
                                      <p:to>
                                        <p:strVal val="visible"/>
                                      </p:to>
                                    </p:set>
                                    <p:animEffect transition="in" filter="wipe(up)">
                                      <p:cBhvr>
                                        <p:cTn id="99" dur="500"/>
                                        <p:tgtEl>
                                          <p:spTgt spid="13"/>
                                        </p:tgtEl>
                                      </p:cBhvr>
                                    </p:animEffect>
                                  </p:childTnLst>
                                </p:cTn>
                              </p:par>
                              <p:par>
                                <p:cTn id="100" presetID="22" presetClass="entr" presetSubtype="1" fill="hold" grpId="0" nodeType="withEffect">
                                  <p:stCondLst>
                                    <p:cond delay="0"/>
                                  </p:stCondLst>
                                  <p:childTnLst>
                                    <p:set>
                                      <p:cBhvr>
                                        <p:cTn id="101" dur="1" fill="hold">
                                          <p:stCondLst>
                                            <p:cond delay="0"/>
                                          </p:stCondLst>
                                        </p:cTn>
                                        <p:tgtEl>
                                          <p:spTgt spid="55"/>
                                        </p:tgtEl>
                                        <p:attrNameLst>
                                          <p:attrName>style.visibility</p:attrName>
                                        </p:attrNameLst>
                                      </p:cBhvr>
                                      <p:to>
                                        <p:strVal val="visible"/>
                                      </p:to>
                                    </p:set>
                                    <p:animEffect transition="in" filter="wipe(up)">
                                      <p:cBhvr>
                                        <p:cTn id="102" dur="500"/>
                                        <p:tgtEl>
                                          <p:spTgt spid="55"/>
                                        </p:tgtEl>
                                      </p:cBhvr>
                                    </p:animEffect>
                                  </p:childTnLst>
                                </p:cTn>
                              </p:par>
                              <p:par>
                                <p:cTn id="103" presetID="22" presetClass="entr" presetSubtype="1" fill="hold" grpId="0" nodeType="withEffect">
                                  <p:stCondLst>
                                    <p:cond delay="0"/>
                                  </p:stCondLst>
                                  <p:childTnLst>
                                    <p:set>
                                      <p:cBhvr>
                                        <p:cTn id="104" dur="1" fill="hold">
                                          <p:stCondLst>
                                            <p:cond delay="0"/>
                                          </p:stCondLst>
                                        </p:cTn>
                                        <p:tgtEl>
                                          <p:spTgt spid="53"/>
                                        </p:tgtEl>
                                        <p:attrNameLst>
                                          <p:attrName>style.visibility</p:attrName>
                                        </p:attrNameLst>
                                      </p:cBhvr>
                                      <p:to>
                                        <p:strVal val="visible"/>
                                      </p:to>
                                    </p:set>
                                    <p:animEffect transition="in" filter="wipe(up)">
                                      <p:cBhvr>
                                        <p:cTn id="105" dur="500"/>
                                        <p:tgtEl>
                                          <p:spTgt spid="53"/>
                                        </p:tgtEl>
                                      </p:cBhvr>
                                    </p:animEffect>
                                  </p:childTnLst>
                                </p:cTn>
                              </p:par>
                              <p:par>
                                <p:cTn id="106" presetID="22" presetClass="entr" presetSubtype="1" fill="hold" grpId="0" nodeType="with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wipe(up)">
                                      <p:cBhvr>
                                        <p:cTn id="108" dur="500"/>
                                        <p:tgtEl>
                                          <p:spTgt spid="54"/>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8" fill="hold" grpId="0" nodeType="clickEffect">
                                  <p:stCondLst>
                                    <p:cond delay="0"/>
                                  </p:stCondLst>
                                  <p:childTnLst>
                                    <p:set>
                                      <p:cBhvr>
                                        <p:cTn id="112" dur="1" fill="hold">
                                          <p:stCondLst>
                                            <p:cond delay="0"/>
                                          </p:stCondLst>
                                        </p:cTn>
                                        <p:tgtEl>
                                          <p:spTgt spid="31"/>
                                        </p:tgtEl>
                                        <p:attrNameLst>
                                          <p:attrName>style.visibility</p:attrName>
                                        </p:attrNameLst>
                                      </p:cBhvr>
                                      <p:to>
                                        <p:strVal val="visible"/>
                                      </p:to>
                                    </p:set>
                                    <p:animEffect transition="in" filter="wipe(left)">
                                      <p:cBhvr>
                                        <p:cTn id="113" dur="500"/>
                                        <p:tgtEl>
                                          <p:spTgt spid="31"/>
                                        </p:tgtEl>
                                      </p:cBhvr>
                                    </p:animEffect>
                                  </p:childTnLst>
                                </p:cTn>
                              </p:par>
                            </p:childTnLst>
                          </p:cTn>
                        </p:par>
                      </p:childTnLst>
                    </p:cTn>
                  </p:par>
                  <p:par>
                    <p:cTn id="114" fill="hold">
                      <p:stCondLst>
                        <p:cond delay="indefinite"/>
                      </p:stCondLst>
                      <p:childTnLst>
                        <p:par>
                          <p:cTn id="115" fill="hold">
                            <p:stCondLst>
                              <p:cond delay="0"/>
                            </p:stCondLst>
                            <p:childTnLst>
                              <p:par>
                                <p:cTn id="116" presetID="6" presetClass="entr" presetSubtype="16" fill="hold" grpId="0" nodeType="clickEffect">
                                  <p:stCondLst>
                                    <p:cond delay="0"/>
                                  </p:stCondLst>
                                  <p:childTnLst>
                                    <p:set>
                                      <p:cBhvr>
                                        <p:cTn id="117" dur="1" fill="hold">
                                          <p:stCondLst>
                                            <p:cond delay="0"/>
                                          </p:stCondLst>
                                        </p:cTn>
                                        <p:tgtEl>
                                          <p:spTgt spid="60"/>
                                        </p:tgtEl>
                                        <p:attrNameLst>
                                          <p:attrName>style.visibility</p:attrName>
                                        </p:attrNameLst>
                                      </p:cBhvr>
                                      <p:to>
                                        <p:strVal val="visible"/>
                                      </p:to>
                                    </p:set>
                                    <p:animEffect transition="in" filter="circle(in)">
                                      <p:cBhvr>
                                        <p:cTn id="118" dur="2000"/>
                                        <p:tgtEl>
                                          <p:spTgt spid="60"/>
                                        </p:tgtEl>
                                      </p:cBhvr>
                                    </p:animEffect>
                                  </p:childTnLst>
                                </p:cTn>
                              </p:par>
                              <p:par>
                                <p:cTn id="119" presetID="6" presetClass="entr" presetSubtype="16" fill="hold" grpId="0" nodeType="withEffect">
                                  <p:stCondLst>
                                    <p:cond delay="0"/>
                                  </p:stCondLst>
                                  <p:childTnLst>
                                    <p:set>
                                      <p:cBhvr>
                                        <p:cTn id="120" dur="1" fill="hold">
                                          <p:stCondLst>
                                            <p:cond delay="0"/>
                                          </p:stCondLst>
                                        </p:cTn>
                                        <p:tgtEl>
                                          <p:spTgt spid="30"/>
                                        </p:tgtEl>
                                        <p:attrNameLst>
                                          <p:attrName>style.visibility</p:attrName>
                                        </p:attrNameLst>
                                      </p:cBhvr>
                                      <p:to>
                                        <p:strVal val="visible"/>
                                      </p:to>
                                    </p:set>
                                    <p:animEffect transition="in" filter="circle(in)">
                                      <p:cBhvr>
                                        <p:cTn id="121" dur="2000"/>
                                        <p:tgtEl>
                                          <p:spTgt spid="30"/>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4" fill="hold" grpId="0" nodeType="clickEffect">
                                  <p:stCondLst>
                                    <p:cond delay="0"/>
                                  </p:stCondLst>
                                  <p:childTnLst>
                                    <p:set>
                                      <p:cBhvr>
                                        <p:cTn id="125" dur="1" fill="hold">
                                          <p:stCondLst>
                                            <p:cond delay="0"/>
                                          </p:stCondLst>
                                        </p:cTn>
                                        <p:tgtEl>
                                          <p:spTgt spid="14"/>
                                        </p:tgtEl>
                                        <p:attrNameLst>
                                          <p:attrName>style.visibility</p:attrName>
                                        </p:attrNameLst>
                                      </p:cBhvr>
                                      <p:to>
                                        <p:strVal val="visible"/>
                                      </p:to>
                                    </p:set>
                                    <p:animEffect transition="in" filter="wipe(down)">
                                      <p:cBhvr>
                                        <p:cTn id="126" dur="500"/>
                                        <p:tgtEl>
                                          <p:spTgt spid="14"/>
                                        </p:tgtEl>
                                      </p:cBhvr>
                                    </p:animEffect>
                                  </p:childTnLst>
                                </p:cTn>
                              </p:par>
                              <p:par>
                                <p:cTn id="127" presetID="22" presetClass="entr" presetSubtype="4" fill="hold" grpId="0" nodeType="withEffect">
                                  <p:stCondLst>
                                    <p:cond delay="0"/>
                                  </p:stCondLst>
                                  <p:childTnLst>
                                    <p:set>
                                      <p:cBhvr>
                                        <p:cTn id="128" dur="1" fill="hold">
                                          <p:stCondLst>
                                            <p:cond delay="0"/>
                                          </p:stCondLst>
                                        </p:cTn>
                                        <p:tgtEl>
                                          <p:spTgt spid="57"/>
                                        </p:tgtEl>
                                        <p:attrNameLst>
                                          <p:attrName>style.visibility</p:attrName>
                                        </p:attrNameLst>
                                      </p:cBhvr>
                                      <p:to>
                                        <p:strVal val="visible"/>
                                      </p:to>
                                    </p:set>
                                    <p:animEffect transition="in" filter="wipe(down)">
                                      <p:cBhvr>
                                        <p:cTn id="129"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59" grpId="0" animBg="1"/>
      <p:bldP spid="58" grpId="0" animBg="1"/>
      <p:bldP spid="3" grpId="0" animBg="1"/>
      <p:bldP spid="12" grpId="0" animBg="1"/>
      <p:bldP spid="13" grpId="0" animBg="1"/>
      <p:bldP spid="14" grpId="0" animBg="1"/>
      <p:bldP spid="28" grpId="0"/>
      <p:bldP spid="29" grpId="0"/>
      <p:bldP spid="30" grpId="0"/>
      <p:bldP spid="31" grpId="0" animBg="1"/>
      <p:bldP spid="32" grpId="0"/>
      <p:bldP spid="33" grpId="0"/>
      <p:bldP spid="36" grpId="0"/>
      <p:bldP spid="39" grpId="0"/>
      <p:bldP spid="40" grpId="0" animBg="1"/>
      <p:bldP spid="41" grpId="0"/>
      <p:bldP spid="42" grpId="0" animBg="1"/>
      <p:bldP spid="43" grpId="0"/>
      <p:bldP spid="44" grpId="0"/>
      <p:bldP spid="45" grpId="0"/>
      <p:bldP spid="46" grpId="0" animBg="1"/>
      <p:bldP spid="47" grpId="0"/>
      <p:bldP spid="48" grpId="0"/>
      <p:bldP spid="49" grpId="0"/>
      <p:bldP spid="50" grpId="0"/>
      <p:bldP spid="51" grpId="0"/>
      <p:bldP spid="52" grpId="0" animBg="1"/>
      <p:bldP spid="53" grpId="0"/>
      <p:bldP spid="54" grpId="0"/>
      <p:bldP spid="55" grpId="0"/>
      <p:bldP spid="57" grpId="0"/>
      <p:bldP spid="6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graphicFrame>
        <p:nvGraphicFramePr>
          <p:cNvPr id="3" name="Group 2"/>
          <p:cNvGraphicFramePr>
            <a:graphicFrameLocks/>
          </p:cNvGraphicFramePr>
          <p:nvPr>
            <p:extLst>
              <p:ext uri="{D42A27DB-BD31-4B8C-83A1-F6EECF244321}">
                <p14:modId xmlns:p14="http://schemas.microsoft.com/office/powerpoint/2010/main" val="3503169896"/>
              </p:ext>
            </p:extLst>
          </p:nvPr>
        </p:nvGraphicFramePr>
        <p:xfrm>
          <a:off x="467544" y="1480702"/>
          <a:ext cx="8064895" cy="4180546"/>
        </p:xfrm>
        <a:graphic>
          <a:graphicData uri="http://schemas.openxmlformats.org/drawingml/2006/table">
            <a:tbl>
              <a:tblPr/>
              <a:tblGrid>
                <a:gridCol w="2016224">
                  <a:extLst>
                    <a:ext uri="{9D8B030D-6E8A-4147-A177-3AD203B41FA5}">
                      <a16:colId xmlns:a16="http://schemas.microsoft.com/office/drawing/2014/main" val="3425182924"/>
                    </a:ext>
                  </a:extLst>
                </a:gridCol>
                <a:gridCol w="1742416">
                  <a:extLst>
                    <a:ext uri="{9D8B030D-6E8A-4147-A177-3AD203B41FA5}">
                      <a16:colId xmlns:a16="http://schemas.microsoft.com/office/drawing/2014/main" val="1348122536"/>
                    </a:ext>
                  </a:extLst>
                </a:gridCol>
                <a:gridCol w="1722191">
                  <a:extLst>
                    <a:ext uri="{9D8B030D-6E8A-4147-A177-3AD203B41FA5}">
                      <a16:colId xmlns:a16="http://schemas.microsoft.com/office/drawing/2014/main" val="3750623637"/>
                    </a:ext>
                  </a:extLst>
                </a:gridCol>
                <a:gridCol w="2584064">
                  <a:extLst>
                    <a:ext uri="{9D8B030D-6E8A-4147-A177-3AD203B41FA5}">
                      <a16:colId xmlns:a16="http://schemas.microsoft.com/office/drawing/2014/main" val="3443840494"/>
                    </a:ext>
                  </a:extLst>
                </a:gridCol>
              </a:tblGrid>
              <a:tr h="1141510">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          </a:t>
                      </a:r>
                      <a:endParaRPr kumimoji="0" lang="en-US" altLang="zh-CN" sz="20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endParaRPr>
                    </a:p>
                  </a:txBody>
                  <a:tcPr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solidFill>
                      <a:srgbClr val="E5AB71"/>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Total</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5AB71"/>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Average</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5AB71"/>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Marginal</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5AB71"/>
                    </a:solidFill>
                  </a:tcPr>
                </a:tc>
                <a:extLst>
                  <a:ext uri="{0D108BD9-81ED-4DB2-BD59-A6C34878D82A}">
                    <a16:rowId xmlns:a16="http://schemas.microsoft.com/office/drawing/2014/main" val="3618372643"/>
                  </a:ext>
                </a:extLst>
              </a:tr>
              <a:tr h="1141510">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Fixed</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FD9E6"/>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FC</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FD9E6"/>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AFC</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FD9E6"/>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Not available</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FD9E6"/>
                    </a:solidFill>
                  </a:tcPr>
                </a:tc>
                <a:extLst>
                  <a:ext uri="{0D108BD9-81ED-4DB2-BD59-A6C34878D82A}">
                    <a16:rowId xmlns:a16="http://schemas.microsoft.com/office/drawing/2014/main" val="1612389952"/>
                  </a:ext>
                </a:extLst>
              </a:tr>
              <a:tr h="934172">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Variable</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FD9E6"/>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VC</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FD9E6"/>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AVC</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FD9E6"/>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MC</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FD9E6"/>
                    </a:solidFill>
                  </a:tcPr>
                </a:tc>
                <a:extLst>
                  <a:ext uri="{0D108BD9-81ED-4DB2-BD59-A6C34878D82A}">
                    <a16:rowId xmlns:a16="http://schemas.microsoft.com/office/drawing/2014/main" val="1556960536"/>
                  </a:ext>
                </a:extLst>
              </a:tr>
              <a:tr h="963354">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Addition</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FD9E6"/>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TC</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FD9E6"/>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ATC</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FD9E6"/>
                    </a:solidFill>
                  </a:tcPr>
                </a:tc>
                <a:tc>
                  <a:txBody>
                    <a:bodyPr/>
                    <a:lstStyle>
                      <a:lvl1pPr eaLnBrk="0" hangingPunct="0">
                        <a:spcBef>
                          <a:spcPct val="20000"/>
                        </a:spcBef>
                        <a:defRPr sz="2800" b="1">
                          <a:solidFill>
                            <a:srgbClr val="CC0000"/>
                          </a:solidFill>
                          <a:latin typeface="Arial" panose="020B0604020202020204" pitchFamily="34" charset="0"/>
                          <a:ea typeface="宋体" panose="02010600030101010101" pitchFamily="2" charset="-122"/>
                        </a:defRPr>
                      </a:lvl1pPr>
                      <a:lvl2pPr eaLnBrk="0" hangingPunct="0">
                        <a:spcBef>
                          <a:spcPct val="20000"/>
                        </a:spcBef>
                        <a:defRPr sz="2400">
                          <a:solidFill>
                            <a:schemeClr val="tx1"/>
                          </a:solidFill>
                          <a:latin typeface="Arial" panose="020B0604020202020204" pitchFamily="34" charset="0"/>
                          <a:ea typeface="宋体" panose="02010600030101010101" pitchFamily="2" charset="-122"/>
                        </a:defRPr>
                      </a:lvl2pPr>
                      <a:lvl3pPr eaLnBrk="0" hangingPunct="0">
                        <a:spcBef>
                          <a:spcPct val="20000"/>
                        </a:spcBef>
                        <a:defRPr sz="2000">
                          <a:solidFill>
                            <a:schemeClr val="tx1"/>
                          </a:solidFill>
                          <a:latin typeface="Arial" panose="020B0604020202020204" pitchFamily="34" charset="0"/>
                          <a:ea typeface="宋体" panose="02010600030101010101" pitchFamily="2" charset="-122"/>
                        </a:defRPr>
                      </a:lvl3pPr>
                      <a:lvl4pPr eaLnBrk="0" hangingPunct="0">
                        <a:spcBef>
                          <a:spcPct val="20000"/>
                        </a:spcBef>
                        <a:defRPr>
                          <a:solidFill>
                            <a:schemeClr val="tx1"/>
                          </a:solidFill>
                          <a:latin typeface="Arial" panose="020B0604020202020204" pitchFamily="34" charset="0"/>
                          <a:ea typeface="宋体" panose="02010600030101010101" pitchFamily="2" charset="-122"/>
                        </a:defRPr>
                      </a:lvl4pPr>
                      <a:lvl5pPr eaLnBrk="0" hangingPunct="0">
                        <a:spcBef>
                          <a:spcPct val="20000"/>
                        </a:spcBef>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sym typeface="Times New Roman" panose="02020603050405020304" pitchFamily="18" charset="0"/>
                        </a:rPr>
                        <a:t>MC</a:t>
                      </a:r>
                      <a:endParaRPr kumimoji="0" lang="zh-CN" altLang="en-US" sz="2800" b="1" i="0" u="none" strike="noStrike" cap="none" normalizeH="0" baseline="0" dirty="0">
                        <a:ln>
                          <a:noFill/>
                        </a:ln>
                        <a:solidFill>
                          <a:srgbClr val="CC0000"/>
                        </a:solidFill>
                        <a:effectLst/>
                        <a:latin typeface="微软雅黑" panose="020B0503020204020204" pitchFamily="34" charset="-122"/>
                        <a:ea typeface="微软雅黑" panose="020B0503020204020204" pitchFamily="34" charset="-122"/>
                      </a:endParaRPr>
                    </a:p>
                  </a:txBody>
                  <a:tcPr marT="45725" marB="4572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AFD9E6"/>
                    </a:solidFill>
                  </a:tcPr>
                </a:tc>
                <a:extLst>
                  <a:ext uri="{0D108BD9-81ED-4DB2-BD59-A6C34878D82A}">
                    <a16:rowId xmlns:a16="http://schemas.microsoft.com/office/drawing/2014/main" val="74298892"/>
                  </a:ext>
                </a:extLst>
              </a:tr>
            </a:tbl>
          </a:graphicData>
        </a:graphic>
      </p:graphicFrame>
      <p:sp>
        <p:nvSpPr>
          <p:cNvPr id="4" name="矩形 3"/>
          <p:cNvSpPr/>
          <p:nvPr/>
        </p:nvSpPr>
        <p:spPr>
          <a:xfrm>
            <a:off x="1043608" y="1509908"/>
            <a:ext cx="1584176" cy="369332"/>
          </a:xfrm>
          <a:prstGeom prst="rect">
            <a:avLst/>
          </a:prstGeom>
        </p:spPr>
        <p:txBody>
          <a:bodyPr wrap="square">
            <a:spAutoFit/>
          </a:bodyPr>
          <a:lstStyle/>
          <a:p>
            <a:r>
              <a:rPr lang="en-US" dirty="0">
                <a:latin typeface="微软雅黑" panose="020B0503020204020204" pitchFamily="34" charset="-122"/>
                <a:ea typeface="微软雅黑" panose="020B0503020204020204" pitchFamily="34" charset="-122"/>
              </a:rPr>
              <a:t>calculation</a:t>
            </a:r>
          </a:p>
        </p:txBody>
      </p:sp>
      <p:sp>
        <p:nvSpPr>
          <p:cNvPr id="5" name="矩形 4"/>
          <p:cNvSpPr/>
          <p:nvPr/>
        </p:nvSpPr>
        <p:spPr>
          <a:xfrm>
            <a:off x="457184" y="2262276"/>
            <a:ext cx="1810560" cy="369332"/>
          </a:xfrm>
          <a:prstGeom prst="rect">
            <a:avLst/>
          </a:prstGeom>
        </p:spPr>
        <p:txBody>
          <a:bodyPr wrap="square">
            <a:spAutoFit/>
          </a:bodyPr>
          <a:lstStyle/>
          <a:p>
            <a:r>
              <a:rPr lang="en-US" dirty="0">
                <a:latin typeface="微软雅黑" panose="020B0503020204020204" pitchFamily="34" charset="-122"/>
                <a:ea typeface="微软雅黑" panose="020B0503020204020204" pitchFamily="34" charset="-122"/>
              </a:rPr>
              <a:t>composition</a:t>
            </a:r>
          </a:p>
        </p:txBody>
      </p:sp>
      <p:sp>
        <p:nvSpPr>
          <p:cNvPr id="6" name="矩形 5">
            <a:extLst>
              <a:ext uri="{FF2B5EF4-FFF2-40B4-BE49-F238E27FC236}">
                <a16:creationId xmlns:a16="http://schemas.microsoft.com/office/drawing/2014/main" id="{98F94B72-14FD-4063-BDAA-6F0FDF762895}"/>
              </a:ext>
            </a:extLst>
          </p:cNvPr>
          <p:cNvSpPr/>
          <p:nvPr/>
        </p:nvSpPr>
        <p:spPr>
          <a:xfrm>
            <a:off x="580922" y="520573"/>
            <a:ext cx="319899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二、短期成本的概念</a:t>
            </a:r>
          </a:p>
        </p:txBody>
      </p:sp>
    </p:spTree>
    <p:extLst>
      <p:ext uri="{BB962C8B-B14F-4D97-AF65-F5344CB8AC3E}">
        <p14:creationId xmlns:p14="http://schemas.microsoft.com/office/powerpoint/2010/main" val="3540890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par>
                                <p:cTn id="15" presetID="22" presetClass="entr" presetSubtype="8"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9"/>
          <p:cNvSpPr/>
          <p:nvPr/>
        </p:nvSpPr>
        <p:spPr bwMode="auto">
          <a:xfrm>
            <a:off x="2539455" y="2216690"/>
            <a:ext cx="3816424" cy="4043770"/>
          </a:xfrm>
          <a:custGeom>
            <a:avLst/>
            <a:gdLst>
              <a:gd name="connsiteX0" fmla="*/ 2953 w 10000"/>
              <a:gd name="connsiteY0" fmla="*/ 1410 h 9051"/>
              <a:gd name="connsiteX1" fmla="*/ 3446 w 10000"/>
              <a:gd name="connsiteY1" fmla="*/ 1622 h 9051"/>
              <a:gd name="connsiteX2" fmla="*/ 3451 w 10000"/>
              <a:gd name="connsiteY2" fmla="*/ 1622 h 9051"/>
              <a:gd name="connsiteX3" fmla="*/ 3455 w 10000"/>
              <a:gd name="connsiteY3" fmla="*/ 1625 h 9051"/>
              <a:gd name="connsiteX4" fmla="*/ 3835 w 10000"/>
              <a:gd name="connsiteY4" fmla="*/ 1897 h 9051"/>
              <a:gd name="connsiteX5" fmla="*/ 3885 w 10000"/>
              <a:gd name="connsiteY5" fmla="*/ 1957 h 9051"/>
              <a:gd name="connsiteX6" fmla="*/ 3890 w 10000"/>
              <a:gd name="connsiteY6" fmla="*/ 1957 h 9051"/>
              <a:gd name="connsiteX7" fmla="*/ 4337 w 10000"/>
              <a:gd name="connsiteY7" fmla="*/ 2704 h 9051"/>
              <a:gd name="connsiteX8" fmla="*/ 4342 w 10000"/>
              <a:gd name="connsiteY8" fmla="*/ 2718 h 9051"/>
              <a:gd name="connsiteX9" fmla="*/ 4414 w 10000"/>
              <a:gd name="connsiteY9" fmla="*/ 2919 h 9051"/>
              <a:gd name="connsiteX10" fmla="*/ 4414 w 10000"/>
              <a:gd name="connsiteY10" fmla="*/ 2919 h 9051"/>
              <a:gd name="connsiteX11" fmla="*/ 4763 w 10000"/>
              <a:gd name="connsiteY11" fmla="*/ 4217 h 9051"/>
              <a:gd name="connsiteX12" fmla="*/ 4853 w 10000"/>
              <a:gd name="connsiteY12" fmla="*/ 4756 h 9051"/>
              <a:gd name="connsiteX13" fmla="*/ 4996 w 10000"/>
              <a:gd name="connsiteY13" fmla="*/ 0 h 9051"/>
              <a:gd name="connsiteX14" fmla="*/ 5152 w 10000"/>
              <a:gd name="connsiteY14" fmla="*/ 4756 h 9051"/>
              <a:gd name="connsiteX15" fmla="*/ 5242 w 10000"/>
              <a:gd name="connsiteY15" fmla="*/ 4217 h 9051"/>
              <a:gd name="connsiteX16" fmla="*/ 5590 w 10000"/>
              <a:gd name="connsiteY16" fmla="*/ 2919 h 9051"/>
              <a:gd name="connsiteX17" fmla="*/ 5590 w 10000"/>
              <a:gd name="connsiteY17" fmla="*/ 2919 h 9051"/>
              <a:gd name="connsiteX18" fmla="*/ 5663 w 10000"/>
              <a:gd name="connsiteY18" fmla="*/ 2718 h 9051"/>
              <a:gd name="connsiteX19" fmla="*/ 5667 w 10000"/>
              <a:gd name="connsiteY19" fmla="*/ 2704 h 9051"/>
              <a:gd name="connsiteX20" fmla="*/ 6115 w 10000"/>
              <a:gd name="connsiteY20" fmla="*/ 1957 h 9051"/>
              <a:gd name="connsiteX21" fmla="*/ 6115 w 10000"/>
              <a:gd name="connsiteY21" fmla="*/ 1957 h 9051"/>
              <a:gd name="connsiteX22" fmla="*/ 6119 w 10000"/>
              <a:gd name="connsiteY22" fmla="*/ 1953 h 9051"/>
              <a:gd name="connsiteX23" fmla="*/ 6128 w 10000"/>
              <a:gd name="connsiteY23" fmla="*/ 1939 h 9051"/>
              <a:gd name="connsiteX24" fmla="*/ 6169 w 10000"/>
              <a:gd name="connsiteY24" fmla="*/ 1897 h 9051"/>
              <a:gd name="connsiteX25" fmla="*/ 7051 w 10000"/>
              <a:gd name="connsiteY25" fmla="*/ 1410 h 9051"/>
              <a:gd name="connsiteX26" fmla="*/ 7056 w 10000"/>
              <a:gd name="connsiteY26" fmla="*/ 1410 h 9051"/>
              <a:gd name="connsiteX27" fmla="*/ 7399 w 10000"/>
              <a:gd name="connsiteY27" fmla="*/ 1361 h 9051"/>
              <a:gd name="connsiteX28" fmla="*/ 7417 w 10000"/>
              <a:gd name="connsiteY28" fmla="*/ 1361 h 9051"/>
              <a:gd name="connsiteX29" fmla="*/ 7544 w 10000"/>
              <a:gd name="connsiteY29" fmla="*/ 1354 h 9051"/>
              <a:gd name="connsiteX30" fmla="*/ 8824 w 10000"/>
              <a:gd name="connsiteY30" fmla="*/ 698 h 9051"/>
              <a:gd name="connsiteX31" fmla="*/ 7562 w 10000"/>
              <a:gd name="connsiteY31" fmla="*/ 1424 h 9051"/>
              <a:gd name="connsiteX32" fmla="*/ 7558 w 10000"/>
              <a:gd name="connsiteY32" fmla="*/ 1424 h 9051"/>
              <a:gd name="connsiteX33" fmla="*/ 7553 w 10000"/>
              <a:gd name="connsiteY33" fmla="*/ 1424 h 9051"/>
              <a:gd name="connsiteX34" fmla="*/ 7540 w 10000"/>
              <a:gd name="connsiteY34" fmla="*/ 1428 h 9051"/>
              <a:gd name="connsiteX35" fmla="*/ 7531 w 10000"/>
              <a:gd name="connsiteY35" fmla="*/ 1428 h 9051"/>
              <a:gd name="connsiteX36" fmla="*/ 7526 w 10000"/>
              <a:gd name="connsiteY36" fmla="*/ 1428 h 9051"/>
              <a:gd name="connsiteX37" fmla="*/ 7521 w 10000"/>
              <a:gd name="connsiteY37" fmla="*/ 1428 h 9051"/>
              <a:gd name="connsiteX38" fmla="*/ 7517 w 10000"/>
              <a:gd name="connsiteY38" fmla="*/ 1428 h 9051"/>
              <a:gd name="connsiteX39" fmla="*/ 7508 w 10000"/>
              <a:gd name="connsiteY39" fmla="*/ 1431 h 9051"/>
              <a:gd name="connsiteX40" fmla="*/ 7503 w 10000"/>
              <a:gd name="connsiteY40" fmla="*/ 1431 h 9051"/>
              <a:gd name="connsiteX41" fmla="*/ 7422 w 10000"/>
              <a:gd name="connsiteY41" fmla="*/ 1442 h 9051"/>
              <a:gd name="connsiteX42" fmla="*/ 6232 w 10000"/>
              <a:gd name="connsiteY42" fmla="*/ 2016 h 9051"/>
              <a:gd name="connsiteX43" fmla="*/ 5753 w 10000"/>
              <a:gd name="connsiteY43" fmla="*/ 2951 h 9051"/>
              <a:gd name="connsiteX44" fmla="*/ 5355 w 10000"/>
              <a:gd name="connsiteY44" fmla="*/ 4799 h 9051"/>
              <a:gd name="connsiteX45" fmla="*/ 6395 w 10000"/>
              <a:gd name="connsiteY45" fmla="*/ 3177 h 9051"/>
              <a:gd name="connsiteX46" fmla="*/ 6395 w 10000"/>
              <a:gd name="connsiteY46" fmla="*/ 3177 h 9051"/>
              <a:gd name="connsiteX47" fmla="*/ 6400 w 10000"/>
              <a:gd name="connsiteY47" fmla="*/ 3173 h 9051"/>
              <a:gd name="connsiteX48" fmla="*/ 6563 w 10000"/>
              <a:gd name="connsiteY48" fmla="*/ 3071 h 9051"/>
              <a:gd name="connsiteX49" fmla="*/ 7065 w 10000"/>
              <a:gd name="connsiteY49" fmla="*/ 2849 h 9051"/>
              <a:gd name="connsiteX50" fmla="*/ 7983 w 10000"/>
              <a:gd name="connsiteY50" fmla="*/ 2824 h 9051"/>
              <a:gd name="connsiteX51" fmla="*/ 7983 w 10000"/>
              <a:gd name="connsiteY51" fmla="*/ 2824 h 9051"/>
              <a:gd name="connsiteX52" fmla="*/ 8024 w 10000"/>
              <a:gd name="connsiteY52" fmla="*/ 2831 h 9051"/>
              <a:gd name="connsiteX53" fmla="*/ 10000 w 10000"/>
              <a:gd name="connsiteY53" fmla="*/ 2464 h 9051"/>
              <a:gd name="connsiteX54" fmla="*/ 8114 w 10000"/>
              <a:gd name="connsiteY54" fmla="*/ 2919 h 9051"/>
              <a:gd name="connsiteX55" fmla="*/ 8005 w 10000"/>
              <a:gd name="connsiteY55" fmla="*/ 2905 h 9051"/>
              <a:gd name="connsiteX56" fmla="*/ 7965 w 10000"/>
              <a:gd name="connsiteY56" fmla="*/ 2898 h 9051"/>
              <a:gd name="connsiteX57" fmla="*/ 7155 w 10000"/>
              <a:gd name="connsiteY57" fmla="*/ 2937 h 9051"/>
              <a:gd name="connsiteX58" fmla="*/ 6630 w 10000"/>
              <a:gd name="connsiteY58" fmla="*/ 3152 h 9051"/>
              <a:gd name="connsiteX59" fmla="*/ 6481 w 10000"/>
              <a:gd name="connsiteY59" fmla="*/ 3251 h 9051"/>
              <a:gd name="connsiteX60" fmla="*/ 5473 w 10000"/>
              <a:gd name="connsiteY60" fmla="*/ 5303 h 9051"/>
              <a:gd name="connsiteX61" fmla="*/ 5427 w 10000"/>
              <a:gd name="connsiteY61" fmla="*/ 6304 h 9051"/>
              <a:gd name="connsiteX62" fmla="*/ 6811 w 10000"/>
              <a:gd name="connsiteY62" fmla="*/ 4079 h 9051"/>
              <a:gd name="connsiteX63" fmla="*/ 6870 w 10000"/>
              <a:gd name="connsiteY63" fmla="*/ 4037 h 9051"/>
              <a:gd name="connsiteX64" fmla="*/ 6870 w 10000"/>
              <a:gd name="connsiteY64" fmla="*/ 4037 h 9051"/>
              <a:gd name="connsiteX65" fmla="*/ 9091 w 10000"/>
              <a:gd name="connsiteY65" fmla="*/ 3755 h 9051"/>
              <a:gd name="connsiteX66" fmla="*/ 6979 w 10000"/>
              <a:gd name="connsiteY66" fmla="*/ 4118 h 9051"/>
              <a:gd name="connsiteX67" fmla="*/ 6974 w 10000"/>
              <a:gd name="connsiteY67" fmla="*/ 4122 h 9051"/>
              <a:gd name="connsiteX68" fmla="*/ 6938 w 10000"/>
              <a:gd name="connsiteY68" fmla="*/ 4160 h 9051"/>
              <a:gd name="connsiteX69" fmla="*/ 5785 w 10000"/>
              <a:gd name="connsiteY69" fmla="*/ 8148 h 9051"/>
              <a:gd name="connsiteX70" fmla="*/ 6160 w 10000"/>
              <a:gd name="connsiteY70" fmla="*/ 9051 h 9051"/>
              <a:gd name="connsiteX71" fmla="*/ 3844 w 10000"/>
              <a:gd name="connsiteY71" fmla="*/ 9051 h 9051"/>
              <a:gd name="connsiteX72" fmla="*/ 4215 w 10000"/>
              <a:gd name="connsiteY72" fmla="*/ 8148 h 9051"/>
              <a:gd name="connsiteX73" fmla="*/ 3066 w 10000"/>
              <a:gd name="connsiteY73" fmla="*/ 4160 h 9051"/>
              <a:gd name="connsiteX74" fmla="*/ 3057 w 10000"/>
              <a:gd name="connsiteY74" fmla="*/ 4150 h 9051"/>
              <a:gd name="connsiteX75" fmla="*/ 3048 w 10000"/>
              <a:gd name="connsiteY75" fmla="*/ 4143 h 9051"/>
              <a:gd name="connsiteX76" fmla="*/ 3035 w 10000"/>
              <a:gd name="connsiteY76" fmla="*/ 4129 h 9051"/>
              <a:gd name="connsiteX77" fmla="*/ 3026 w 10000"/>
              <a:gd name="connsiteY77" fmla="*/ 4122 h 9051"/>
              <a:gd name="connsiteX78" fmla="*/ 3021 w 10000"/>
              <a:gd name="connsiteY78" fmla="*/ 4118 h 9051"/>
              <a:gd name="connsiteX79" fmla="*/ 914 w 10000"/>
              <a:gd name="connsiteY79" fmla="*/ 3755 h 9051"/>
              <a:gd name="connsiteX80" fmla="*/ 3130 w 10000"/>
              <a:gd name="connsiteY80" fmla="*/ 4033 h 9051"/>
              <a:gd name="connsiteX81" fmla="*/ 3130 w 10000"/>
              <a:gd name="connsiteY81" fmla="*/ 4033 h 9051"/>
              <a:gd name="connsiteX82" fmla="*/ 3134 w 10000"/>
              <a:gd name="connsiteY82" fmla="*/ 4037 h 9051"/>
              <a:gd name="connsiteX83" fmla="*/ 3134 w 10000"/>
              <a:gd name="connsiteY83" fmla="*/ 4037 h 9051"/>
              <a:gd name="connsiteX84" fmla="*/ 3180 w 10000"/>
              <a:gd name="connsiteY84" fmla="*/ 4072 h 9051"/>
              <a:gd name="connsiteX85" fmla="*/ 3180 w 10000"/>
              <a:gd name="connsiteY85" fmla="*/ 4072 h 9051"/>
              <a:gd name="connsiteX86" fmla="*/ 3189 w 10000"/>
              <a:gd name="connsiteY86" fmla="*/ 4079 h 9051"/>
              <a:gd name="connsiteX87" fmla="*/ 4573 w 10000"/>
              <a:gd name="connsiteY87" fmla="*/ 6304 h 9051"/>
              <a:gd name="connsiteX88" fmla="*/ 4532 w 10000"/>
              <a:gd name="connsiteY88" fmla="*/ 5303 h 9051"/>
              <a:gd name="connsiteX89" fmla="*/ 3523 w 10000"/>
              <a:gd name="connsiteY89" fmla="*/ 3251 h 9051"/>
              <a:gd name="connsiteX90" fmla="*/ 3370 w 10000"/>
              <a:gd name="connsiteY90" fmla="*/ 3152 h 9051"/>
              <a:gd name="connsiteX91" fmla="*/ 2845 w 10000"/>
              <a:gd name="connsiteY91" fmla="*/ 2937 h 9051"/>
              <a:gd name="connsiteX92" fmla="*/ 2035 w 10000"/>
              <a:gd name="connsiteY92" fmla="*/ 2898 h 9051"/>
              <a:gd name="connsiteX93" fmla="*/ 1999 w 10000"/>
              <a:gd name="connsiteY93" fmla="*/ 2905 h 9051"/>
              <a:gd name="connsiteX94" fmla="*/ 1891 w 10000"/>
              <a:gd name="connsiteY94" fmla="*/ 2919 h 9051"/>
              <a:gd name="connsiteX95" fmla="*/ 0 w 10000"/>
              <a:gd name="connsiteY95" fmla="*/ 2464 h 9051"/>
              <a:gd name="connsiteX96" fmla="*/ 1981 w 10000"/>
              <a:gd name="connsiteY96" fmla="*/ 2831 h 9051"/>
              <a:gd name="connsiteX97" fmla="*/ 2017 w 10000"/>
              <a:gd name="connsiteY97" fmla="*/ 2824 h 9051"/>
              <a:gd name="connsiteX98" fmla="*/ 2022 w 10000"/>
              <a:gd name="connsiteY98" fmla="*/ 2824 h 9051"/>
              <a:gd name="connsiteX99" fmla="*/ 2022 w 10000"/>
              <a:gd name="connsiteY99" fmla="*/ 2824 h 9051"/>
              <a:gd name="connsiteX100" fmla="*/ 2935 w 10000"/>
              <a:gd name="connsiteY100" fmla="*/ 2849 h 9051"/>
              <a:gd name="connsiteX101" fmla="*/ 3442 w 10000"/>
              <a:gd name="connsiteY101" fmla="*/ 3071 h 9051"/>
              <a:gd name="connsiteX102" fmla="*/ 3605 w 10000"/>
              <a:gd name="connsiteY102" fmla="*/ 3173 h 9051"/>
              <a:gd name="connsiteX103" fmla="*/ 3609 w 10000"/>
              <a:gd name="connsiteY103" fmla="*/ 3177 h 9051"/>
              <a:gd name="connsiteX104" fmla="*/ 3609 w 10000"/>
              <a:gd name="connsiteY104" fmla="*/ 3177 h 9051"/>
              <a:gd name="connsiteX105" fmla="*/ 4649 w 10000"/>
              <a:gd name="connsiteY105" fmla="*/ 4799 h 9051"/>
              <a:gd name="connsiteX106" fmla="*/ 4251 w 10000"/>
              <a:gd name="connsiteY106" fmla="*/ 2951 h 9051"/>
              <a:gd name="connsiteX107" fmla="*/ 3772 w 10000"/>
              <a:gd name="connsiteY107" fmla="*/ 2016 h 9051"/>
              <a:gd name="connsiteX108" fmla="*/ 3379 w 10000"/>
              <a:gd name="connsiteY108" fmla="*/ 1699 h 9051"/>
              <a:gd name="connsiteX109" fmla="*/ 2583 w 10000"/>
              <a:gd name="connsiteY109" fmla="*/ 1442 h 9051"/>
              <a:gd name="connsiteX110" fmla="*/ 2492 w 10000"/>
              <a:gd name="connsiteY110" fmla="*/ 1431 h 9051"/>
              <a:gd name="connsiteX111" fmla="*/ 2488 w 10000"/>
              <a:gd name="connsiteY111" fmla="*/ 1428 h 9051"/>
              <a:gd name="connsiteX112" fmla="*/ 2474 w 10000"/>
              <a:gd name="connsiteY112" fmla="*/ 1428 h 9051"/>
              <a:gd name="connsiteX113" fmla="*/ 2465 w 10000"/>
              <a:gd name="connsiteY113" fmla="*/ 1428 h 9051"/>
              <a:gd name="connsiteX114" fmla="*/ 2460 w 10000"/>
              <a:gd name="connsiteY114" fmla="*/ 1428 h 9051"/>
              <a:gd name="connsiteX115" fmla="*/ 2460 w 10000"/>
              <a:gd name="connsiteY115" fmla="*/ 1424 h 9051"/>
              <a:gd name="connsiteX116" fmla="*/ 2447 w 10000"/>
              <a:gd name="connsiteY116" fmla="*/ 1424 h 9051"/>
              <a:gd name="connsiteX117" fmla="*/ 2442 w 10000"/>
              <a:gd name="connsiteY117" fmla="*/ 1424 h 9051"/>
              <a:gd name="connsiteX118" fmla="*/ 2442 w 10000"/>
              <a:gd name="connsiteY118" fmla="*/ 1424 h 9051"/>
              <a:gd name="connsiteX119" fmla="*/ 1180 w 10000"/>
              <a:gd name="connsiteY119" fmla="*/ 698 h 9051"/>
              <a:gd name="connsiteX120" fmla="*/ 2456 w 10000"/>
              <a:gd name="connsiteY120" fmla="*/ 1354 h 9051"/>
              <a:gd name="connsiteX121" fmla="*/ 2587 w 10000"/>
              <a:gd name="connsiteY121" fmla="*/ 1361 h 9051"/>
              <a:gd name="connsiteX122" fmla="*/ 2601 w 10000"/>
              <a:gd name="connsiteY122" fmla="*/ 1361 h 9051"/>
              <a:gd name="connsiteX123" fmla="*/ 2949 w 10000"/>
              <a:gd name="connsiteY123" fmla="*/ 1410 h 9051"/>
              <a:gd name="connsiteX124" fmla="*/ 2953 w 10000"/>
              <a:gd name="connsiteY124" fmla="*/ 1410 h 9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0000" h="9051">
                <a:moveTo>
                  <a:pt x="2953" y="1410"/>
                </a:moveTo>
                <a:cubicBezTo>
                  <a:pt x="3121" y="1456"/>
                  <a:pt x="3288" y="1526"/>
                  <a:pt x="3446" y="1622"/>
                </a:cubicBezTo>
                <a:lnTo>
                  <a:pt x="3451" y="1622"/>
                </a:lnTo>
                <a:lnTo>
                  <a:pt x="3455" y="1625"/>
                </a:lnTo>
                <a:cubicBezTo>
                  <a:pt x="3582" y="1699"/>
                  <a:pt x="3709" y="1791"/>
                  <a:pt x="3835" y="1897"/>
                </a:cubicBezTo>
                <a:cubicBezTo>
                  <a:pt x="3853" y="1918"/>
                  <a:pt x="3867" y="1935"/>
                  <a:pt x="3885" y="1957"/>
                </a:cubicBezTo>
                <a:lnTo>
                  <a:pt x="3890" y="1957"/>
                </a:lnTo>
                <a:cubicBezTo>
                  <a:pt x="4102" y="2200"/>
                  <a:pt x="4251" y="2450"/>
                  <a:pt x="4337" y="2704"/>
                </a:cubicBezTo>
                <a:cubicBezTo>
                  <a:pt x="4337" y="2708"/>
                  <a:pt x="4337" y="2711"/>
                  <a:pt x="4342" y="2718"/>
                </a:cubicBezTo>
                <a:cubicBezTo>
                  <a:pt x="4365" y="2785"/>
                  <a:pt x="4387" y="2852"/>
                  <a:pt x="4414" y="2919"/>
                </a:cubicBezTo>
                <a:lnTo>
                  <a:pt x="4414" y="2919"/>
                </a:lnTo>
                <a:cubicBezTo>
                  <a:pt x="4582" y="3409"/>
                  <a:pt x="4699" y="3839"/>
                  <a:pt x="4763" y="4217"/>
                </a:cubicBezTo>
                <a:lnTo>
                  <a:pt x="4853" y="4756"/>
                </a:lnTo>
                <a:cubicBezTo>
                  <a:pt x="4901" y="3171"/>
                  <a:pt x="4948" y="1585"/>
                  <a:pt x="4996" y="0"/>
                </a:cubicBezTo>
                <a:lnTo>
                  <a:pt x="5152" y="4756"/>
                </a:lnTo>
                <a:lnTo>
                  <a:pt x="5242" y="4217"/>
                </a:lnTo>
                <a:cubicBezTo>
                  <a:pt x="5305" y="3839"/>
                  <a:pt x="5423" y="3409"/>
                  <a:pt x="5590" y="2919"/>
                </a:cubicBezTo>
                <a:lnTo>
                  <a:pt x="5590" y="2919"/>
                </a:lnTo>
                <a:cubicBezTo>
                  <a:pt x="5613" y="2852"/>
                  <a:pt x="5635" y="2785"/>
                  <a:pt x="5663" y="2718"/>
                </a:cubicBezTo>
                <a:cubicBezTo>
                  <a:pt x="5663" y="2711"/>
                  <a:pt x="5667" y="2708"/>
                  <a:pt x="5667" y="2704"/>
                </a:cubicBezTo>
                <a:cubicBezTo>
                  <a:pt x="5753" y="2450"/>
                  <a:pt x="5902" y="2200"/>
                  <a:pt x="6115" y="1957"/>
                </a:cubicBezTo>
                <a:lnTo>
                  <a:pt x="6115" y="1957"/>
                </a:lnTo>
                <a:cubicBezTo>
                  <a:pt x="6115" y="1957"/>
                  <a:pt x="6119" y="1957"/>
                  <a:pt x="6119" y="1953"/>
                </a:cubicBezTo>
                <a:cubicBezTo>
                  <a:pt x="6124" y="1949"/>
                  <a:pt x="6124" y="1946"/>
                  <a:pt x="6128" y="1939"/>
                </a:cubicBezTo>
                <a:lnTo>
                  <a:pt x="6169" y="1897"/>
                </a:lnTo>
                <a:cubicBezTo>
                  <a:pt x="6450" y="1657"/>
                  <a:pt x="6744" y="1495"/>
                  <a:pt x="7051" y="1410"/>
                </a:cubicBezTo>
                <a:lnTo>
                  <a:pt x="7056" y="1410"/>
                </a:lnTo>
                <a:cubicBezTo>
                  <a:pt x="7173" y="1378"/>
                  <a:pt x="7291" y="1361"/>
                  <a:pt x="7399" y="1361"/>
                </a:cubicBezTo>
                <a:lnTo>
                  <a:pt x="7417" y="1361"/>
                </a:lnTo>
                <a:cubicBezTo>
                  <a:pt x="7458" y="1357"/>
                  <a:pt x="7503" y="1357"/>
                  <a:pt x="7544" y="1354"/>
                </a:cubicBezTo>
                <a:cubicBezTo>
                  <a:pt x="8064" y="1315"/>
                  <a:pt x="8489" y="1096"/>
                  <a:pt x="8824" y="698"/>
                </a:cubicBezTo>
                <a:cubicBezTo>
                  <a:pt x="8598" y="1107"/>
                  <a:pt x="8177" y="1350"/>
                  <a:pt x="7562" y="1424"/>
                </a:cubicBezTo>
                <a:lnTo>
                  <a:pt x="7558" y="1424"/>
                </a:lnTo>
                <a:lnTo>
                  <a:pt x="7553" y="1424"/>
                </a:lnTo>
                <a:cubicBezTo>
                  <a:pt x="7549" y="1424"/>
                  <a:pt x="7544" y="1424"/>
                  <a:pt x="7540" y="1428"/>
                </a:cubicBezTo>
                <a:lnTo>
                  <a:pt x="7531" y="1428"/>
                </a:lnTo>
                <a:lnTo>
                  <a:pt x="7526" y="1428"/>
                </a:lnTo>
                <a:lnTo>
                  <a:pt x="7521" y="1428"/>
                </a:lnTo>
                <a:lnTo>
                  <a:pt x="7517" y="1428"/>
                </a:lnTo>
                <a:lnTo>
                  <a:pt x="7508" y="1431"/>
                </a:lnTo>
                <a:lnTo>
                  <a:pt x="7503" y="1431"/>
                </a:lnTo>
                <a:cubicBezTo>
                  <a:pt x="7476" y="1435"/>
                  <a:pt x="7449" y="1435"/>
                  <a:pt x="7422" y="1442"/>
                </a:cubicBezTo>
                <a:cubicBezTo>
                  <a:pt x="6906" y="1509"/>
                  <a:pt x="6508" y="1703"/>
                  <a:pt x="6232" y="2016"/>
                </a:cubicBezTo>
                <a:cubicBezTo>
                  <a:pt x="6047" y="2256"/>
                  <a:pt x="5889" y="2567"/>
                  <a:pt x="5753" y="2951"/>
                </a:cubicBezTo>
                <a:cubicBezTo>
                  <a:pt x="5577" y="3448"/>
                  <a:pt x="5445" y="4062"/>
                  <a:pt x="5355" y="4799"/>
                </a:cubicBezTo>
                <a:cubicBezTo>
                  <a:pt x="5522" y="4076"/>
                  <a:pt x="5871" y="3533"/>
                  <a:pt x="6395" y="3177"/>
                </a:cubicBezTo>
                <a:lnTo>
                  <a:pt x="6395" y="3177"/>
                </a:lnTo>
                <a:cubicBezTo>
                  <a:pt x="6395" y="3173"/>
                  <a:pt x="6400" y="3173"/>
                  <a:pt x="6400" y="3173"/>
                </a:cubicBezTo>
                <a:cubicBezTo>
                  <a:pt x="6450" y="3138"/>
                  <a:pt x="6504" y="3102"/>
                  <a:pt x="6563" y="3071"/>
                </a:cubicBezTo>
                <a:cubicBezTo>
                  <a:pt x="6716" y="2983"/>
                  <a:pt x="6884" y="2909"/>
                  <a:pt x="7065" y="2849"/>
                </a:cubicBezTo>
                <a:cubicBezTo>
                  <a:pt x="7295" y="2778"/>
                  <a:pt x="7603" y="2771"/>
                  <a:pt x="7983" y="2824"/>
                </a:cubicBezTo>
                <a:lnTo>
                  <a:pt x="7983" y="2824"/>
                </a:lnTo>
                <a:cubicBezTo>
                  <a:pt x="7996" y="2827"/>
                  <a:pt x="8010" y="2827"/>
                  <a:pt x="8024" y="2831"/>
                </a:cubicBezTo>
                <a:cubicBezTo>
                  <a:pt x="8797" y="2926"/>
                  <a:pt x="9457" y="2803"/>
                  <a:pt x="10000" y="2464"/>
                </a:cubicBezTo>
                <a:cubicBezTo>
                  <a:pt x="9512" y="2859"/>
                  <a:pt x="8878" y="3011"/>
                  <a:pt x="8114" y="2919"/>
                </a:cubicBezTo>
                <a:cubicBezTo>
                  <a:pt x="8078" y="2912"/>
                  <a:pt x="8042" y="2909"/>
                  <a:pt x="8005" y="2905"/>
                </a:cubicBezTo>
                <a:cubicBezTo>
                  <a:pt x="7992" y="2901"/>
                  <a:pt x="7978" y="2901"/>
                  <a:pt x="7965" y="2898"/>
                </a:cubicBezTo>
                <a:cubicBezTo>
                  <a:pt x="7635" y="2863"/>
                  <a:pt x="7363" y="2873"/>
                  <a:pt x="7155" y="2937"/>
                </a:cubicBezTo>
                <a:cubicBezTo>
                  <a:pt x="6965" y="2990"/>
                  <a:pt x="6789" y="3064"/>
                  <a:pt x="6630" y="3152"/>
                </a:cubicBezTo>
                <a:cubicBezTo>
                  <a:pt x="6581" y="3184"/>
                  <a:pt x="6526" y="3215"/>
                  <a:pt x="6481" y="3251"/>
                </a:cubicBezTo>
                <a:cubicBezTo>
                  <a:pt x="5889" y="3656"/>
                  <a:pt x="5550" y="4340"/>
                  <a:pt x="5473" y="5303"/>
                </a:cubicBezTo>
                <a:cubicBezTo>
                  <a:pt x="5400" y="5662"/>
                  <a:pt x="5387" y="5997"/>
                  <a:pt x="5427" y="6304"/>
                </a:cubicBezTo>
                <a:cubicBezTo>
                  <a:pt x="5717" y="5324"/>
                  <a:pt x="6178" y="4583"/>
                  <a:pt x="6811" y="4079"/>
                </a:cubicBezTo>
                <a:cubicBezTo>
                  <a:pt x="6829" y="4065"/>
                  <a:pt x="6852" y="4051"/>
                  <a:pt x="6870" y="4037"/>
                </a:cubicBezTo>
                <a:lnTo>
                  <a:pt x="6870" y="4037"/>
                </a:lnTo>
                <a:cubicBezTo>
                  <a:pt x="7494" y="3571"/>
                  <a:pt x="8236" y="3476"/>
                  <a:pt x="9091" y="3755"/>
                </a:cubicBezTo>
                <a:cubicBezTo>
                  <a:pt x="8204" y="3547"/>
                  <a:pt x="7499" y="3670"/>
                  <a:pt x="6979" y="4118"/>
                </a:cubicBezTo>
                <a:cubicBezTo>
                  <a:pt x="6979" y="4122"/>
                  <a:pt x="6979" y="4122"/>
                  <a:pt x="6974" y="4122"/>
                </a:cubicBezTo>
                <a:cubicBezTo>
                  <a:pt x="6961" y="4136"/>
                  <a:pt x="6947" y="4146"/>
                  <a:pt x="6938" y="4160"/>
                </a:cubicBezTo>
                <a:cubicBezTo>
                  <a:pt x="5699" y="5313"/>
                  <a:pt x="5319" y="6643"/>
                  <a:pt x="5785" y="8148"/>
                </a:cubicBezTo>
                <a:cubicBezTo>
                  <a:pt x="5880" y="8445"/>
                  <a:pt x="6002" y="8744"/>
                  <a:pt x="6160" y="9051"/>
                </a:cubicBezTo>
                <a:lnTo>
                  <a:pt x="3844" y="9051"/>
                </a:lnTo>
                <a:cubicBezTo>
                  <a:pt x="4003" y="8744"/>
                  <a:pt x="4125" y="8445"/>
                  <a:pt x="4215" y="8148"/>
                </a:cubicBezTo>
                <a:cubicBezTo>
                  <a:pt x="4686" y="6643"/>
                  <a:pt x="4301" y="5313"/>
                  <a:pt x="3066" y="4160"/>
                </a:cubicBezTo>
                <a:lnTo>
                  <a:pt x="3057" y="4150"/>
                </a:lnTo>
                <a:cubicBezTo>
                  <a:pt x="3053" y="4146"/>
                  <a:pt x="3053" y="4143"/>
                  <a:pt x="3048" y="4143"/>
                </a:cubicBezTo>
                <a:lnTo>
                  <a:pt x="3035" y="4129"/>
                </a:lnTo>
                <a:cubicBezTo>
                  <a:pt x="3030" y="4125"/>
                  <a:pt x="3030" y="4125"/>
                  <a:pt x="3026" y="4122"/>
                </a:cubicBezTo>
                <a:lnTo>
                  <a:pt x="3021" y="4118"/>
                </a:lnTo>
                <a:cubicBezTo>
                  <a:pt x="2506" y="3670"/>
                  <a:pt x="1800" y="3547"/>
                  <a:pt x="914" y="3755"/>
                </a:cubicBezTo>
                <a:cubicBezTo>
                  <a:pt x="1768" y="3480"/>
                  <a:pt x="2506" y="3571"/>
                  <a:pt x="3130" y="4033"/>
                </a:cubicBezTo>
                <a:lnTo>
                  <a:pt x="3130" y="4033"/>
                </a:lnTo>
                <a:lnTo>
                  <a:pt x="3134" y="4037"/>
                </a:lnTo>
                <a:lnTo>
                  <a:pt x="3134" y="4037"/>
                </a:lnTo>
                <a:cubicBezTo>
                  <a:pt x="3148" y="4047"/>
                  <a:pt x="3161" y="4062"/>
                  <a:pt x="3180" y="4072"/>
                </a:cubicBezTo>
                <a:lnTo>
                  <a:pt x="3180" y="4072"/>
                </a:lnTo>
                <a:cubicBezTo>
                  <a:pt x="3184" y="4076"/>
                  <a:pt x="3184" y="4079"/>
                  <a:pt x="3189" y="4079"/>
                </a:cubicBezTo>
                <a:cubicBezTo>
                  <a:pt x="3826" y="4583"/>
                  <a:pt x="4288" y="5324"/>
                  <a:pt x="4573" y="6304"/>
                </a:cubicBezTo>
                <a:cubicBezTo>
                  <a:pt x="4618" y="5997"/>
                  <a:pt x="4604" y="5662"/>
                  <a:pt x="4532" y="5303"/>
                </a:cubicBezTo>
                <a:cubicBezTo>
                  <a:pt x="4450" y="4340"/>
                  <a:pt x="4116" y="3656"/>
                  <a:pt x="3523" y="3251"/>
                </a:cubicBezTo>
                <a:cubicBezTo>
                  <a:pt x="3474" y="3215"/>
                  <a:pt x="3424" y="3184"/>
                  <a:pt x="3370" y="3152"/>
                </a:cubicBezTo>
                <a:cubicBezTo>
                  <a:pt x="3211" y="3064"/>
                  <a:pt x="3039" y="2990"/>
                  <a:pt x="2845" y="2937"/>
                </a:cubicBezTo>
                <a:cubicBezTo>
                  <a:pt x="2637" y="2873"/>
                  <a:pt x="2365" y="2863"/>
                  <a:pt x="2035" y="2898"/>
                </a:cubicBezTo>
                <a:cubicBezTo>
                  <a:pt x="2022" y="2901"/>
                  <a:pt x="2013" y="2901"/>
                  <a:pt x="1999" y="2905"/>
                </a:cubicBezTo>
                <a:cubicBezTo>
                  <a:pt x="1963" y="2909"/>
                  <a:pt x="1927" y="2912"/>
                  <a:pt x="1891" y="2919"/>
                </a:cubicBezTo>
                <a:cubicBezTo>
                  <a:pt x="1122" y="3011"/>
                  <a:pt x="493" y="2859"/>
                  <a:pt x="0" y="2464"/>
                </a:cubicBezTo>
                <a:cubicBezTo>
                  <a:pt x="543" y="2803"/>
                  <a:pt x="1203" y="2926"/>
                  <a:pt x="1981" y="2831"/>
                </a:cubicBezTo>
                <a:cubicBezTo>
                  <a:pt x="1995" y="2827"/>
                  <a:pt x="2008" y="2827"/>
                  <a:pt x="2017" y="2824"/>
                </a:cubicBezTo>
                <a:lnTo>
                  <a:pt x="2022" y="2824"/>
                </a:lnTo>
                <a:lnTo>
                  <a:pt x="2022" y="2824"/>
                </a:lnTo>
                <a:cubicBezTo>
                  <a:pt x="2402" y="2771"/>
                  <a:pt x="2705" y="2778"/>
                  <a:pt x="2935" y="2849"/>
                </a:cubicBezTo>
                <a:cubicBezTo>
                  <a:pt x="3121" y="2909"/>
                  <a:pt x="3288" y="2983"/>
                  <a:pt x="3442" y="3071"/>
                </a:cubicBezTo>
                <a:cubicBezTo>
                  <a:pt x="3501" y="3102"/>
                  <a:pt x="3555" y="3138"/>
                  <a:pt x="3605" y="3173"/>
                </a:cubicBezTo>
                <a:cubicBezTo>
                  <a:pt x="3605" y="3173"/>
                  <a:pt x="3609" y="3173"/>
                  <a:pt x="3609" y="3177"/>
                </a:cubicBezTo>
                <a:lnTo>
                  <a:pt x="3609" y="3177"/>
                </a:lnTo>
                <a:cubicBezTo>
                  <a:pt x="4134" y="3533"/>
                  <a:pt x="4478" y="4076"/>
                  <a:pt x="4649" y="4799"/>
                </a:cubicBezTo>
                <a:cubicBezTo>
                  <a:pt x="4559" y="4062"/>
                  <a:pt x="4423" y="3448"/>
                  <a:pt x="4251" y="2951"/>
                </a:cubicBezTo>
                <a:cubicBezTo>
                  <a:pt x="4116" y="2567"/>
                  <a:pt x="3957" y="2256"/>
                  <a:pt x="3772" y="2016"/>
                </a:cubicBezTo>
                <a:cubicBezTo>
                  <a:pt x="3659" y="1890"/>
                  <a:pt x="3528" y="1784"/>
                  <a:pt x="3379" y="1699"/>
                </a:cubicBezTo>
                <a:cubicBezTo>
                  <a:pt x="3157" y="1569"/>
                  <a:pt x="2890" y="1480"/>
                  <a:pt x="2583" y="1442"/>
                </a:cubicBezTo>
                <a:cubicBezTo>
                  <a:pt x="2551" y="1435"/>
                  <a:pt x="2524" y="1431"/>
                  <a:pt x="2492" y="1431"/>
                </a:cubicBezTo>
                <a:lnTo>
                  <a:pt x="2488" y="1428"/>
                </a:lnTo>
                <a:lnTo>
                  <a:pt x="2474" y="1428"/>
                </a:lnTo>
                <a:lnTo>
                  <a:pt x="2465" y="1428"/>
                </a:lnTo>
                <a:lnTo>
                  <a:pt x="2460" y="1428"/>
                </a:lnTo>
                <a:lnTo>
                  <a:pt x="2460" y="1424"/>
                </a:lnTo>
                <a:lnTo>
                  <a:pt x="2447" y="1424"/>
                </a:lnTo>
                <a:lnTo>
                  <a:pt x="2442" y="1424"/>
                </a:lnTo>
                <a:lnTo>
                  <a:pt x="2442" y="1424"/>
                </a:lnTo>
                <a:cubicBezTo>
                  <a:pt x="1823" y="1350"/>
                  <a:pt x="1407" y="1107"/>
                  <a:pt x="1180" y="698"/>
                </a:cubicBezTo>
                <a:cubicBezTo>
                  <a:pt x="1511" y="1096"/>
                  <a:pt x="1940" y="1315"/>
                  <a:pt x="2456" y="1354"/>
                </a:cubicBezTo>
                <a:cubicBezTo>
                  <a:pt x="2501" y="1357"/>
                  <a:pt x="2542" y="1357"/>
                  <a:pt x="2587" y="1361"/>
                </a:cubicBezTo>
                <a:lnTo>
                  <a:pt x="2601" y="1361"/>
                </a:lnTo>
                <a:cubicBezTo>
                  <a:pt x="2714" y="1361"/>
                  <a:pt x="2827" y="1378"/>
                  <a:pt x="2949" y="1410"/>
                </a:cubicBezTo>
                <a:lnTo>
                  <a:pt x="2953" y="1410"/>
                </a:lnTo>
                <a:close/>
              </a:path>
            </a:pathLst>
          </a:custGeom>
          <a:solidFill>
            <a:srgbClr val="E5AB71"/>
          </a:solidFill>
          <a:ln w="9525">
            <a:noFill/>
            <a:round/>
          </a:ln>
        </p:spPr>
        <p:txBody>
          <a:bodyPr vert="horz" wrap="square" lIns="121920" tIns="60960" rIns="121920" bIns="60960" numCol="1" anchor="t" anchorCtr="0" compatLnSpc="1"/>
          <a:lstStyle/>
          <a:p>
            <a:endParaRPr lang="en-US" sz="2665"/>
          </a:p>
        </p:txBody>
      </p:sp>
      <p:sp>
        <p:nvSpPr>
          <p:cNvPr id="3" name="Teardrop 34"/>
          <p:cNvSpPr/>
          <p:nvPr/>
        </p:nvSpPr>
        <p:spPr>
          <a:xfrm>
            <a:off x="3779912" y="1290054"/>
            <a:ext cx="1296144" cy="1296140"/>
          </a:xfrm>
          <a:prstGeom prst="teardrop">
            <a:avLst/>
          </a:prstGeom>
          <a:solidFill>
            <a:schemeClr val="bg1"/>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5335" dirty="0">
              <a:solidFill>
                <a:schemeClr val="tx1"/>
              </a:solidFill>
            </a:endParaRPr>
          </a:p>
        </p:txBody>
      </p:sp>
      <p:sp>
        <p:nvSpPr>
          <p:cNvPr id="4" name="Teardrop 35"/>
          <p:cNvSpPr/>
          <p:nvPr/>
        </p:nvSpPr>
        <p:spPr>
          <a:xfrm flipH="1">
            <a:off x="5459279" y="1447384"/>
            <a:ext cx="1138815" cy="1138810"/>
          </a:xfrm>
          <a:prstGeom prst="teardrop">
            <a:avLst/>
          </a:prstGeom>
          <a:noFill/>
          <a:ln w="38100">
            <a:solidFill>
              <a:srgbClr val="E5AB7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265" dirty="0">
              <a:solidFill>
                <a:schemeClr val="tx1"/>
              </a:solidFill>
            </a:endParaRPr>
          </a:p>
        </p:txBody>
      </p:sp>
      <p:sp>
        <p:nvSpPr>
          <p:cNvPr id="5" name="Teardrop 36"/>
          <p:cNvSpPr/>
          <p:nvPr/>
        </p:nvSpPr>
        <p:spPr>
          <a:xfrm>
            <a:off x="1226989" y="2576654"/>
            <a:ext cx="1351831" cy="1351827"/>
          </a:xfrm>
          <a:prstGeom prst="teardrop">
            <a:avLst/>
          </a:prstGeom>
          <a:solidFill>
            <a:schemeClr val="bg1"/>
          </a:solidFill>
          <a:ln w="38100">
            <a:solidFill>
              <a:srgbClr val="E5AB7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3335" dirty="0">
              <a:solidFill>
                <a:schemeClr val="tx1"/>
              </a:solidFill>
              <a:latin typeface="FontAwesome" pitchFamily="2" charset="0"/>
            </a:endParaRPr>
          </a:p>
        </p:txBody>
      </p:sp>
      <p:sp>
        <p:nvSpPr>
          <p:cNvPr id="6" name="Teardrop 37"/>
          <p:cNvSpPr/>
          <p:nvPr/>
        </p:nvSpPr>
        <p:spPr>
          <a:xfrm>
            <a:off x="2286128" y="1425508"/>
            <a:ext cx="1151721" cy="1151716"/>
          </a:xfrm>
          <a:prstGeom prst="teardrop">
            <a:avLst/>
          </a:prstGeom>
          <a:noFill/>
          <a:ln w="38100">
            <a:solidFill>
              <a:srgbClr val="C3C9D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735" dirty="0">
              <a:solidFill>
                <a:schemeClr val="tx1"/>
              </a:solidFill>
            </a:endParaRPr>
          </a:p>
        </p:txBody>
      </p:sp>
      <p:sp>
        <p:nvSpPr>
          <p:cNvPr id="7" name="Teardrop 38"/>
          <p:cNvSpPr/>
          <p:nvPr/>
        </p:nvSpPr>
        <p:spPr>
          <a:xfrm flipH="1">
            <a:off x="6300192" y="2602277"/>
            <a:ext cx="1476599" cy="1476594"/>
          </a:xfrm>
          <a:prstGeom prst="teardrop">
            <a:avLst/>
          </a:prstGeom>
          <a:solidFill>
            <a:schemeClr val="bg1"/>
          </a:solidFill>
          <a:ln w="38100">
            <a:solidFill>
              <a:srgbClr val="C3C9D7"/>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endParaRPr lang="en-US" sz="3200" dirty="0">
              <a:solidFill>
                <a:schemeClr val="tx1"/>
              </a:solidFill>
              <a:latin typeface="FontAwesome" pitchFamily="2" charset="0"/>
            </a:endParaRPr>
          </a:p>
        </p:txBody>
      </p:sp>
      <p:sp>
        <p:nvSpPr>
          <p:cNvPr id="8" name="Teardrop 39"/>
          <p:cNvSpPr/>
          <p:nvPr/>
        </p:nvSpPr>
        <p:spPr>
          <a:xfrm>
            <a:off x="1988961" y="3851927"/>
            <a:ext cx="1305270" cy="1305265"/>
          </a:xfrm>
          <a:prstGeom prst="teardrop">
            <a:avLst/>
          </a:prstGeom>
          <a:solidFill>
            <a:schemeClr val="bg1"/>
          </a:solidFill>
          <a:ln w="38100">
            <a:solidFill>
              <a:srgbClr val="85B2D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p>
            <a:pPr algn="ctr"/>
            <a:endParaRPr lang="en-US" sz="2665" dirty="0">
              <a:solidFill>
                <a:schemeClr val="tx1"/>
              </a:solidFill>
              <a:latin typeface="FontAwesome" pitchFamily="2" charset="0"/>
            </a:endParaRPr>
          </a:p>
        </p:txBody>
      </p:sp>
      <p:sp>
        <p:nvSpPr>
          <p:cNvPr id="9" name="Teardrop 40"/>
          <p:cNvSpPr/>
          <p:nvPr/>
        </p:nvSpPr>
        <p:spPr>
          <a:xfrm flipH="1">
            <a:off x="5343982" y="3851927"/>
            <a:ext cx="1215816" cy="1215811"/>
          </a:xfrm>
          <a:prstGeom prst="teardrop">
            <a:avLst/>
          </a:prstGeom>
          <a:solidFill>
            <a:schemeClr val="bg1"/>
          </a:solidFill>
          <a:ln w="38100">
            <a:solidFill>
              <a:srgbClr val="85B2D2"/>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lstStyle/>
          <a:p>
            <a:pPr algn="ctr"/>
            <a:endParaRPr lang="en-US" sz="2665" dirty="0">
              <a:solidFill>
                <a:schemeClr val="tx1"/>
              </a:solidFill>
              <a:latin typeface="FontAwesome" pitchFamily="2" charset="0"/>
            </a:endParaRPr>
          </a:p>
        </p:txBody>
      </p:sp>
      <p:sp>
        <p:nvSpPr>
          <p:cNvPr id="33" name="矩形 32">
            <a:extLst>
              <a:ext uri="{FF2B5EF4-FFF2-40B4-BE49-F238E27FC236}">
                <a16:creationId xmlns:a16="http://schemas.microsoft.com/office/drawing/2014/main" id="{084955AF-1C9D-40E6-AF77-16E919D7DDCC}"/>
              </a:ext>
            </a:extLst>
          </p:cNvPr>
          <p:cNvSpPr/>
          <p:nvPr/>
        </p:nvSpPr>
        <p:spPr>
          <a:xfrm>
            <a:off x="3795447" y="1584181"/>
            <a:ext cx="1265073" cy="707886"/>
          </a:xfrm>
          <a:prstGeom prst="rect">
            <a:avLst/>
          </a:prstGeom>
        </p:spPr>
        <p:txBody>
          <a:bodyPr wrap="square">
            <a:spAutoFit/>
          </a:bodyPr>
          <a:lstStyle/>
          <a:p>
            <a:pPr algn="ctr">
              <a:buClr>
                <a:srgbClr val="85B2D2"/>
              </a:buClr>
            </a:pPr>
            <a:r>
              <a:rPr lang="en-US" altLang="zh-CN" sz="2000" b="1" dirty="0">
                <a:latin typeface="微软雅黑" panose="020B0503020204020204" pitchFamily="34" charset="-122"/>
                <a:ea typeface="微软雅黑" panose="020B0503020204020204" pitchFamily="34" charset="-122"/>
              </a:rPr>
              <a:t>1.</a:t>
            </a:r>
            <a:r>
              <a:rPr lang="en-US" sz="2000" b="1" dirty="0">
                <a:latin typeface="微软雅黑" panose="020B0503020204020204" pitchFamily="34" charset="-122"/>
                <a:ea typeface="微软雅黑" panose="020B0503020204020204" pitchFamily="34" charset="-122"/>
              </a:rPr>
              <a:t>不变成本曲线</a:t>
            </a:r>
          </a:p>
        </p:txBody>
      </p:sp>
      <p:sp>
        <p:nvSpPr>
          <p:cNvPr id="34" name="矩形 33"/>
          <p:cNvSpPr/>
          <p:nvPr/>
        </p:nvSpPr>
        <p:spPr>
          <a:xfrm>
            <a:off x="2275746" y="1643660"/>
            <a:ext cx="1227993" cy="707886"/>
          </a:xfrm>
          <a:prstGeom prst="rect">
            <a:avLst/>
          </a:prstGeom>
        </p:spPr>
        <p:txBody>
          <a:bodyPr wrap="square">
            <a:spAutoFit/>
          </a:bodyPr>
          <a:lstStyle/>
          <a:p>
            <a:pPr algn="ctr"/>
            <a:r>
              <a:rPr lang="en-US" altLang="zh-CN" sz="2000" b="1" dirty="0">
                <a:latin typeface="微软雅黑" panose="020B0503020204020204" pitchFamily="34" charset="-122"/>
                <a:ea typeface="微软雅黑" panose="020B0503020204020204" pitchFamily="34" charset="-122"/>
              </a:rPr>
              <a:t>2.</a:t>
            </a:r>
            <a:r>
              <a:rPr lang="en-US" sz="2000" b="1" dirty="0">
                <a:latin typeface="微软雅黑" panose="020B0503020204020204" pitchFamily="34" charset="-122"/>
                <a:ea typeface="微软雅黑" panose="020B0503020204020204" pitchFamily="34" charset="-122"/>
              </a:rPr>
              <a:t>可变成本曲线</a:t>
            </a:r>
          </a:p>
        </p:txBody>
      </p:sp>
      <p:sp>
        <p:nvSpPr>
          <p:cNvPr id="35" name="矩形 34"/>
          <p:cNvSpPr/>
          <p:nvPr/>
        </p:nvSpPr>
        <p:spPr>
          <a:xfrm>
            <a:off x="5353798" y="1693389"/>
            <a:ext cx="1349775" cy="707886"/>
          </a:xfrm>
          <a:prstGeom prst="rect">
            <a:avLst/>
          </a:prstGeom>
        </p:spPr>
        <p:txBody>
          <a:bodyPr wrap="square">
            <a:spAutoFit/>
          </a:bodyPr>
          <a:lstStyle/>
          <a:p>
            <a:pPr algn="ctr"/>
            <a:r>
              <a:rPr lang="en-US" altLang="zh-CN" sz="2000" b="1" dirty="0">
                <a:latin typeface="微软雅黑" panose="020B0503020204020204" pitchFamily="34" charset="-122"/>
                <a:ea typeface="微软雅黑" panose="020B0503020204020204" pitchFamily="34" charset="-122"/>
              </a:rPr>
              <a:t>3.</a:t>
            </a:r>
            <a:r>
              <a:rPr lang="en-US" sz="2000" b="1" dirty="0">
                <a:latin typeface="微软雅黑" panose="020B0503020204020204" pitchFamily="34" charset="-122"/>
                <a:ea typeface="微软雅黑" panose="020B0503020204020204" pitchFamily="34" charset="-122"/>
              </a:rPr>
              <a:t>总成本曲线</a:t>
            </a:r>
          </a:p>
        </p:txBody>
      </p:sp>
      <p:sp>
        <p:nvSpPr>
          <p:cNvPr id="36" name="矩形 35"/>
          <p:cNvSpPr/>
          <p:nvPr/>
        </p:nvSpPr>
        <p:spPr>
          <a:xfrm>
            <a:off x="1203719" y="2928883"/>
            <a:ext cx="1447711" cy="707886"/>
          </a:xfrm>
          <a:prstGeom prst="rect">
            <a:avLst/>
          </a:prstGeom>
        </p:spPr>
        <p:txBody>
          <a:bodyPr wrap="square">
            <a:spAutoFit/>
          </a:bodyPr>
          <a:lstStyle/>
          <a:p>
            <a:pPr algn="ctr"/>
            <a:r>
              <a:rPr lang="en-US" altLang="zh-CN" sz="2000" b="1" dirty="0">
                <a:latin typeface="微软雅黑" panose="020B0503020204020204" pitchFamily="34" charset="-122"/>
                <a:ea typeface="微软雅黑" panose="020B0503020204020204" pitchFamily="34" charset="-122"/>
              </a:rPr>
              <a:t>4.</a:t>
            </a:r>
            <a:r>
              <a:rPr lang="en-US" sz="2000" b="1" dirty="0">
                <a:latin typeface="微软雅黑" panose="020B0503020204020204" pitchFamily="34" charset="-122"/>
                <a:ea typeface="微软雅黑" panose="020B0503020204020204" pitchFamily="34" charset="-122"/>
              </a:rPr>
              <a:t>平均不变成本曲线</a:t>
            </a:r>
          </a:p>
        </p:txBody>
      </p:sp>
      <p:sp>
        <p:nvSpPr>
          <p:cNvPr id="37" name="矩形 36"/>
          <p:cNvSpPr/>
          <p:nvPr/>
        </p:nvSpPr>
        <p:spPr>
          <a:xfrm>
            <a:off x="6300192" y="3031051"/>
            <a:ext cx="1476599" cy="707886"/>
          </a:xfrm>
          <a:prstGeom prst="rect">
            <a:avLst/>
          </a:prstGeom>
        </p:spPr>
        <p:txBody>
          <a:bodyPr wrap="square">
            <a:spAutoFit/>
          </a:bodyPr>
          <a:lstStyle/>
          <a:p>
            <a:pPr algn="ctr"/>
            <a:r>
              <a:rPr lang="en-US" altLang="zh-CN" sz="2000" b="1" dirty="0">
                <a:latin typeface="微软雅黑" panose="020B0503020204020204" pitchFamily="34" charset="-122"/>
                <a:ea typeface="微软雅黑" panose="020B0503020204020204" pitchFamily="34" charset="-122"/>
              </a:rPr>
              <a:t>5.</a:t>
            </a:r>
            <a:r>
              <a:rPr lang="en-US" sz="2000" b="1" dirty="0">
                <a:latin typeface="微软雅黑" panose="020B0503020204020204" pitchFamily="34" charset="-122"/>
                <a:ea typeface="微软雅黑" panose="020B0503020204020204" pitchFamily="34" charset="-122"/>
              </a:rPr>
              <a:t>平均可变成本曲线</a:t>
            </a:r>
          </a:p>
        </p:txBody>
      </p:sp>
      <p:sp>
        <p:nvSpPr>
          <p:cNvPr id="38" name="矩形 37"/>
          <p:cNvSpPr/>
          <p:nvPr/>
        </p:nvSpPr>
        <p:spPr>
          <a:xfrm>
            <a:off x="2009141" y="4203586"/>
            <a:ext cx="1254334" cy="707886"/>
          </a:xfrm>
          <a:prstGeom prst="rect">
            <a:avLst/>
          </a:prstGeom>
        </p:spPr>
        <p:txBody>
          <a:bodyPr wrap="square">
            <a:spAutoFit/>
          </a:bodyPr>
          <a:lstStyle/>
          <a:p>
            <a:pPr algn="ctr"/>
            <a:r>
              <a:rPr lang="en-US" altLang="zh-CN" sz="2000" b="1" dirty="0">
                <a:latin typeface="微软雅黑" panose="020B0503020204020204" pitchFamily="34" charset="-122"/>
                <a:ea typeface="微软雅黑" panose="020B0503020204020204" pitchFamily="34" charset="-122"/>
              </a:rPr>
              <a:t>6.</a:t>
            </a:r>
            <a:r>
              <a:rPr lang="en-US" sz="2000" b="1" dirty="0">
                <a:latin typeface="微软雅黑" panose="020B0503020204020204" pitchFamily="34" charset="-122"/>
                <a:ea typeface="微软雅黑" panose="020B0503020204020204" pitchFamily="34" charset="-122"/>
              </a:rPr>
              <a:t>平均成本曲线</a:t>
            </a:r>
          </a:p>
        </p:txBody>
      </p:sp>
      <p:sp>
        <p:nvSpPr>
          <p:cNvPr id="39" name="矩形 38"/>
          <p:cNvSpPr/>
          <p:nvPr/>
        </p:nvSpPr>
        <p:spPr>
          <a:xfrm>
            <a:off x="5348535" y="4166040"/>
            <a:ext cx="1194556" cy="707886"/>
          </a:xfrm>
          <a:prstGeom prst="rect">
            <a:avLst/>
          </a:prstGeom>
        </p:spPr>
        <p:txBody>
          <a:bodyPr wrap="square">
            <a:spAutoFit/>
          </a:bodyPr>
          <a:lstStyle/>
          <a:p>
            <a:pPr algn="ctr"/>
            <a:r>
              <a:rPr lang="en-US" altLang="zh-CN" sz="2000" b="1" dirty="0">
                <a:latin typeface="微软雅黑" panose="020B0503020204020204" pitchFamily="34" charset="-122"/>
                <a:ea typeface="微软雅黑" panose="020B0503020204020204" pitchFamily="34" charset="-122"/>
              </a:rPr>
              <a:t>7.</a:t>
            </a:r>
            <a:r>
              <a:rPr lang="en-US" sz="2000" b="1" dirty="0">
                <a:latin typeface="微软雅黑" panose="020B0503020204020204" pitchFamily="34" charset="-122"/>
                <a:ea typeface="微软雅黑" panose="020B0503020204020204" pitchFamily="34" charset="-122"/>
              </a:rPr>
              <a:t>边际成本曲线</a:t>
            </a:r>
          </a:p>
        </p:txBody>
      </p:sp>
      <p:sp>
        <p:nvSpPr>
          <p:cNvPr id="40" name="矩形 39">
            <a:extLst>
              <a:ext uri="{FF2B5EF4-FFF2-40B4-BE49-F238E27FC236}">
                <a16:creationId xmlns:a16="http://schemas.microsoft.com/office/drawing/2014/main" id="{37C083F2-0E99-4519-8938-09940A28B5F0}"/>
              </a:ext>
            </a:extLst>
          </p:cNvPr>
          <p:cNvSpPr/>
          <p:nvPr/>
        </p:nvSpPr>
        <p:spPr>
          <a:xfrm>
            <a:off x="580922" y="520573"/>
            <a:ext cx="2910958"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三、短期成本曲线</a:t>
            </a:r>
          </a:p>
        </p:txBody>
      </p:sp>
      <p:sp>
        <p:nvSpPr>
          <p:cNvPr id="41" name="矩形 40">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spTree>
    <p:extLst>
      <p:ext uri="{BB962C8B-B14F-4D97-AF65-F5344CB8AC3E}">
        <p14:creationId xmlns:p14="http://schemas.microsoft.com/office/powerpoint/2010/main" val="354539570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p:cTn id="7" dur="500" fill="hold"/>
                                        <p:tgtEl>
                                          <p:spTgt spid="40"/>
                                        </p:tgtEl>
                                        <p:attrNameLst>
                                          <p:attrName>ppt_w</p:attrName>
                                        </p:attrNameLst>
                                      </p:cBhvr>
                                      <p:tavLst>
                                        <p:tav tm="0">
                                          <p:val>
                                            <p:fltVal val="0"/>
                                          </p:val>
                                        </p:tav>
                                        <p:tav tm="100000">
                                          <p:val>
                                            <p:strVal val="#ppt_w"/>
                                          </p:val>
                                        </p:tav>
                                      </p:tavLst>
                                    </p:anim>
                                    <p:anim calcmode="lin" valueType="num">
                                      <p:cBhvr>
                                        <p:cTn id="8" dur="500" fill="hold"/>
                                        <p:tgtEl>
                                          <p:spTgt spid="40"/>
                                        </p:tgtEl>
                                        <p:attrNameLst>
                                          <p:attrName>ppt_h</p:attrName>
                                        </p:attrNameLst>
                                      </p:cBhvr>
                                      <p:tavLst>
                                        <p:tav tm="0">
                                          <p:val>
                                            <p:fltVal val="0"/>
                                          </p:val>
                                        </p:tav>
                                        <p:tav tm="100000">
                                          <p:val>
                                            <p:strVal val="#ppt_h"/>
                                          </p:val>
                                        </p:tav>
                                      </p:tavLst>
                                    </p:anim>
                                    <p:animEffect transition="in" filter="fade">
                                      <p:cBhvr>
                                        <p:cTn id="9" dur="500"/>
                                        <p:tgtEl>
                                          <p:spTgt spid="40"/>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 calcmode="lin" valueType="num">
                                      <p:cBhvr>
                                        <p:cTn id="21" dur="500" fill="hold"/>
                                        <p:tgtEl>
                                          <p:spTgt spid="3"/>
                                        </p:tgtEl>
                                        <p:attrNameLst>
                                          <p:attrName>ppt_w</p:attrName>
                                        </p:attrNameLst>
                                      </p:cBhvr>
                                      <p:tavLst>
                                        <p:tav tm="0">
                                          <p:val>
                                            <p:fltVal val="0"/>
                                          </p:val>
                                        </p:tav>
                                        <p:tav tm="100000">
                                          <p:val>
                                            <p:strVal val="#ppt_w"/>
                                          </p:val>
                                        </p:tav>
                                      </p:tavLst>
                                    </p:anim>
                                    <p:anim calcmode="lin" valueType="num">
                                      <p:cBhvr>
                                        <p:cTn id="22" dur="500" fill="hold"/>
                                        <p:tgtEl>
                                          <p:spTgt spid="3"/>
                                        </p:tgtEl>
                                        <p:attrNameLst>
                                          <p:attrName>ppt_h</p:attrName>
                                        </p:attrNameLst>
                                      </p:cBhvr>
                                      <p:tavLst>
                                        <p:tav tm="0">
                                          <p:val>
                                            <p:fltVal val="0"/>
                                          </p:val>
                                        </p:tav>
                                        <p:tav tm="100000">
                                          <p:val>
                                            <p:strVal val="#ppt_h"/>
                                          </p:val>
                                        </p:tav>
                                      </p:tavLst>
                                    </p:anim>
                                    <p:animEffect transition="in" filter="fade">
                                      <p:cBhvr>
                                        <p:cTn id="23" dur="500"/>
                                        <p:tgtEl>
                                          <p:spTgt spid="3"/>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33"/>
                                        </p:tgtEl>
                                        <p:attrNameLst>
                                          <p:attrName>style.visibility</p:attrName>
                                        </p:attrNameLst>
                                      </p:cBhvr>
                                      <p:to>
                                        <p:strVal val="visible"/>
                                      </p:to>
                                    </p:set>
                                    <p:anim calcmode="lin" valueType="num">
                                      <p:cBhvr>
                                        <p:cTn id="26" dur="500" fill="hold"/>
                                        <p:tgtEl>
                                          <p:spTgt spid="33"/>
                                        </p:tgtEl>
                                        <p:attrNameLst>
                                          <p:attrName>ppt_w</p:attrName>
                                        </p:attrNameLst>
                                      </p:cBhvr>
                                      <p:tavLst>
                                        <p:tav tm="0">
                                          <p:val>
                                            <p:fltVal val="0"/>
                                          </p:val>
                                        </p:tav>
                                        <p:tav tm="100000">
                                          <p:val>
                                            <p:strVal val="#ppt_w"/>
                                          </p:val>
                                        </p:tav>
                                      </p:tavLst>
                                    </p:anim>
                                    <p:anim calcmode="lin" valueType="num">
                                      <p:cBhvr>
                                        <p:cTn id="27" dur="500" fill="hold"/>
                                        <p:tgtEl>
                                          <p:spTgt spid="33"/>
                                        </p:tgtEl>
                                        <p:attrNameLst>
                                          <p:attrName>ppt_h</p:attrName>
                                        </p:attrNameLst>
                                      </p:cBhvr>
                                      <p:tavLst>
                                        <p:tav tm="0">
                                          <p:val>
                                            <p:fltVal val="0"/>
                                          </p:val>
                                        </p:tav>
                                        <p:tav tm="100000">
                                          <p:val>
                                            <p:strVal val="#ppt_h"/>
                                          </p:val>
                                        </p:tav>
                                      </p:tavLst>
                                    </p:anim>
                                    <p:animEffect transition="in" filter="fade">
                                      <p:cBhvr>
                                        <p:cTn id="28" dur="500"/>
                                        <p:tgtEl>
                                          <p:spTgt spid="33"/>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p:cTn id="33" dur="500" fill="hold"/>
                                        <p:tgtEl>
                                          <p:spTgt spid="6"/>
                                        </p:tgtEl>
                                        <p:attrNameLst>
                                          <p:attrName>ppt_w</p:attrName>
                                        </p:attrNameLst>
                                      </p:cBhvr>
                                      <p:tavLst>
                                        <p:tav tm="0">
                                          <p:val>
                                            <p:fltVal val="0"/>
                                          </p:val>
                                        </p:tav>
                                        <p:tav tm="100000">
                                          <p:val>
                                            <p:strVal val="#ppt_w"/>
                                          </p:val>
                                        </p:tav>
                                      </p:tavLst>
                                    </p:anim>
                                    <p:anim calcmode="lin" valueType="num">
                                      <p:cBhvr>
                                        <p:cTn id="34" dur="500" fill="hold"/>
                                        <p:tgtEl>
                                          <p:spTgt spid="6"/>
                                        </p:tgtEl>
                                        <p:attrNameLst>
                                          <p:attrName>ppt_h</p:attrName>
                                        </p:attrNameLst>
                                      </p:cBhvr>
                                      <p:tavLst>
                                        <p:tav tm="0">
                                          <p:val>
                                            <p:fltVal val="0"/>
                                          </p:val>
                                        </p:tav>
                                        <p:tav tm="100000">
                                          <p:val>
                                            <p:strVal val="#ppt_h"/>
                                          </p:val>
                                        </p:tav>
                                      </p:tavLst>
                                    </p:anim>
                                    <p:animEffect transition="in" filter="fade">
                                      <p:cBhvr>
                                        <p:cTn id="35" dur="500"/>
                                        <p:tgtEl>
                                          <p:spTgt spid="6"/>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34"/>
                                        </p:tgtEl>
                                        <p:attrNameLst>
                                          <p:attrName>style.visibility</p:attrName>
                                        </p:attrNameLst>
                                      </p:cBhvr>
                                      <p:to>
                                        <p:strVal val="visible"/>
                                      </p:to>
                                    </p:set>
                                    <p:anim calcmode="lin" valueType="num">
                                      <p:cBhvr>
                                        <p:cTn id="38" dur="500" fill="hold"/>
                                        <p:tgtEl>
                                          <p:spTgt spid="34"/>
                                        </p:tgtEl>
                                        <p:attrNameLst>
                                          <p:attrName>ppt_w</p:attrName>
                                        </p:attrNameLst>
                                      </p:cBhvr>
                                      <p:tavLst>
                                        <p:tav tm="0">
                                          <p:val>
                                            <p:fltVal val="0"/>
                                          </p:val>
                                        </p:tav>
                                        <p:tav tm="100000">
                                          <p:val>
                                            <p:strVal val="#ppt_w"/>
                                          </p:val>
                                        </p:tav>
                                      </p:tavLst>
                                    </p:anim>
                                    <p:anim calcmode="lin" valueType="num">
                                      <p:cBhvr>
                                        <p:cTn id="39" dur="500" fill="hold"/>
                                        <p:tgtEl>
                                          <p:spTgt spid="34"/>
                                        </p:tgtEl>
                                        <p:attrNameLst>
                                          <p:attrName>ppt_h</p:attrName>
                                        </p:attrNameLst>
                                      </p:cBhvr>
                                      <p:tavLst>
                                        <p:tav tm="0">
                                          <p:val>
                                            <p:fltVal val="0"/>
                                          </p:val>
                                        </p:tav>
                                        <p:tav tm="100000">
                                          <p:val>
                                            <p:strVal val="#ppt_h"/>
                                          </p:val>
                                        </p:tav>
                                      </p:tavLst>
                                    </p:anim>
                                    <p:animEffect transition="in" filter="fade">
                                      <p:cBhvr>
                                        <p:cTn id="40" dur="500"/>
                                        <p:tgtEl>
                                          <p:spTgt spid="34"/>
                                        </p:tgtEl>
                                      </p:cBhvr>
                                    </p:animEffect>
                                  </p:childTnLst>
                                </p:cTn>
                              </p:par>
                            </p:childTnLst>
                          </p:cTn>
                        </p:par>
                      </p:childTnLst>
                    </p:cTn>
                  </p:par>
                  <p:par>
                    <p:cTn id="41" fill="hold">
                      <p:stCondLst>
                        <p:cond delay="indefinite"/>
                      </p:stCondLst>
                      <p:childTnLst>
                        <p:par>
                          <p:cTn id="42" fill="hold">
                            <p:stCondLst>
                              <p:cond delay="0"/>
                            </p:stCondLst>
                            <p:childTnLst>
                              <p:par>
                                <p:cTn id="43" presetID="53" presetClass="entr" presetSubtype="16" fill="hold" grpId="0" nodeType="clickEffect">
                                  <p:stCondLst>
                                    <p:cond delay="0"/>
                                  </p:stCondLst>
                                  <p:childTnLst>
                                    <p:set>
                                      <p:cBhvr>
                                        <p:cTn id="44" dur="1" fill="hold">
                                          <p:stCondLst>
                                            <p:cond delay="0"/>
                                          </p:stCondLst>
                                        </p:cTn>
                                        <p:tgtEl>
                                          <p:spTgt spid="4"/>
                                        </p:tgtEl>
                                        <p:attrNameLst>
                                          <p:attrName>style.visibility</p:attrName>
                                        </p:attrNameLst>
                                      </p:cBhvr>
                                      <p:to>
                                        <p:strVal val="visible"/>
                                      </p:to>
                                    </p:set>
                                    <p:anim calcmode="lin" valueType="num">
                                      <p:cBhvr>
                                        <p:cTn id="45" dur="500" fill="hold"/>
                                        <p:tgtEl>
                                          <p:spTgt spid="4"/>
                                        </p:tgtEl>
                                        <p:attrNameLst>
                                          <p:attrName>ppt_w</p:attrName>
                                        </p:attrNameLst>
                                      </p:cBhvr>
                                      <p:tavLst>
                                        <p:tav tm="0">
                                          <p:val>
                                            <p:fltVal val="0"/>
                                          </p:val>
                                        </p:tav>
                                        <p:tav tm="100000">
                                          <p:val>
                                            <p:strVal val="#ppt_w"/>
                                          </p:val>
                                        </p:tav>
                                      </p:tavLst>
                                    </p:anim>
                                    <p:anim calcmode="lin" valueType="num">
                                      <p:cBhvr>
                                        <p:cTn id="46" dur="500" fill="hold"/>
                                        <p:tgtEl>
                                          <p:spTgt spid="4"/>
                                        </p:tgtEl>
                                        <p:attrNameLst>
                                          <p:attrName>ppt_h</p:attrName>
                                        </p:attrNameLst>
                                      </p:cBhvr>
                                      <p:tavLst>
                                        <p:tav tm="0">
                                          <p:val>
                                            <p:fltVal val="0"/>
                                          </p:val>
                                        </p:tav>
                                        <p:tav tm="100000">
                                          <p:val>
                                            <p:strVal val="#ppt_h"/>
                                          </p:val>
                                        </p:tav>
                                      </p:tavLst>
                                    </p:anim>
                                    <p:animEffect transition="in" filter="fade">
                                      <p:cBhvr>
                                        <p:cTn id="47" dur="500"/>
                                        <p:tgtEl>
                                          <p:spTgt spid="4"/>
                                        </p:tgtEl>
                                      </p:cBhvr>
                                    </p:animEffect>
                                  </p:childTnLst>
                                </p:cTn>
                              </p:par>
                              <p:par>
                                <p:cTn id="48" presetID="53" presetClass="entr" presetSubtype="16" fill="hold" grpId="0" nodeType="withEffect">
                                  <p:stCondLst>
                                    <p:cond delay="0"/>
                                  </p:stCondLst>
                                  <p:childTnLst>
                                    <p:set>
                                      <p:cBhvr>
                                        <p:cTn id="49" dur="1" fill="hold">
                                          <p:stCondLst>
                                            <p:cond delay="0"/>
                                          </p:stCondLst>
                                        </p:cTn>
                                        <p:tgtEl>
                                          <p:spTgt spid="35"/>
                                        </p:tgtEl>
                                        <p:attrNameLst>
                                          <p:attrName>style.visibility</p:attrName>
                                        </p:attrNameLst>
                                      </p:cBhvr>
                                      <p:to>
                                        <p:strVal val="visible"/>
                                      </p:to>
                                    </p:set>
                                    <p:anim calcmode="lin" valueType="num">
                                      <p:cBhvr>
                                        <p:cTn id="50" dur="500" fill="hold"/>
                                        <p:tgtEl>
                                          <p:spTgt spid="35"/>
                                        </p:tgtEl>
                                        <p:attrNameLst>
                                          <p:attrName>ppt_w</p:attrName>
                                        </p:attrNameLst>
                                      </p:cBhvr>
                                      <p:tavLst>
                                        <p:tav tm="0">
                                          <p:val>
                                            <p:fltVal val="0"/>
                                          </p:val>
                                        </p:tav>
                                        <p:tav tm="100000">
                                          <p:val>
                                            <p:strVal val="#ppt_w"/>
                                          </p:val>
                                        </p:tav>
                                      </p:tavLst>
                                    </p:anim>
                                    <p:anim calcmode="lin" valueType="num">
                                      <p:cBhvr>
                                        <p:cTn id="51" dur="500" fill="hold"/>
                                        <p:tgtEl>
                                          <p:spTgt spid="35"/>
                                        </p:tgtEl>
                                        <p:attrNameLst>
                                          <p:attrName>ppt_h</p:attrName>
                                        </p:attrNameLst>
                                      </p:cBhvr>
                                      <p:tavLst>
                                        <p:tav tm="0">
                                          <p:val>
                                            <p:fltVal val="0"/>
                                          </p:val>
                                        </p:tav>
                                        <p:tav tm="100000">
                                          <p:val>
                                            <p:strVal val="#ppt_h"/>
                                          </p:val>
                                        </p:tav>
                                      </p:tavLst>
                                    </p:anim>
                                    <p:animEffect transition="in" filter="fade">
                                      <p:cBhvr>
                                        <p:cTn id="52" dur="500"/>
                                        <p:tgtEl>
                                          <p:spTgt spid="35"/>
                                        </p:tgtEl>
                                      </p:cBhvr>
                                    </p:animEffect>
                                  </p:childTnLst>
                                </p:cTn>
                              </p:par>
                            </p:childTnLst>
                          </p:cTn>
                        </p:par>
                      </p:childTnLst>
                    </p:cTn>
                  </p:par>
                  <p:par>
                    <p:cTn id="53" fill="hold">
                      <p:stCondLst>
                        <p:cond delay="indefinite"/>
                      </p:stCondLst>
                      <p:childTnLst>
                        <p:par>
                          <p:cTn id="54" fill="hold">
                            <p:stCondLst>
                              <p:cond delay="0"/>
                            </p:stCondLst>
                            <p:childTnLst>
                              <p:par>
                                <p:cTn id="55" presetID="53" presetClass="entr" presetSubtype="16" fill="hold" grpId="0" nodeType="clickEffect">
                                  <p:stCondLst>
                                    <p:cond delay="0"/>
                                  </p:stCondLst>
                                  <p:childTnLst>
                                    <p:set>
                                      <p:cBhvr>
                                        <p:cTn id="56" dur="1" fill="hold">
                                          <p:stCondLst>
                                            <p:cond delay="0"/>
                                          </p:stCondLst>
                                        </p:cTn>
                                        <p:tgtEl>
                                          <p:spTgt spid="5"/>
                                        </p:tgtEl>
                                        <p:attrNameLst>
                                          <p:attrName>style.visibility</p:attrName>
                                        </p:attrNameLst>
                                      </p:cBhvr>
                                      <p:to>
                                        <p:strVal val="visible"/>
                                      </p:to>
                                    </p:set>
                                    <p:anim calcmode="lin" valueType="num">
                                      <p:cBhvr>
                                        <p:cTn id="57" dur="500" fill="hold"/>
                                        <p:tgtEl>
                                          <p:spTgt spid="5"/>
                                        </p:tgtEl>
                                        <p:attrNameLst>
                                          <p:attrName>ppt_w</p:attrName>
                                        </p:attrNameLst>
                                      </p:cBhvr>
                                      <p:tavLst>
                                        <p:tav tm="0">
                                          <p:val>
                                            <p:fltVal val="0"/>
                                          </p:val>
                                        </p:tav>
                                        <p:tav tm="100000">
                                          <p:val>
                                            <p:strVal val="#ppt_w"/>
                                          </p:val>
                                        </p:tav>
                                      </p:tavLst>
                                    </p:anim>
                                    <p:anim calcmode="lin" valueType="num">
                                      <p:cBhvr>
                                        <p:cTn id="58" dur="500" fill="hold"/>
                                        <p:tgtEl>
                                          <p:spTgt spid="5"/>
                                        </p:tgtEl>
                                        <p:attrNameLst>
                                          <p:attrName>ppt_h</p:attrName>
                                        </p:attrNameLst>
                                      </p:cBhvr>
                                      <p:tavLst>
                                        <p:tav tm="0">
                                          <p:val>
                                            <p:fltVal val="0"/>
                                          </p:val>
                                        </p:tav>
                                        <p:tav tm="100000">
                                          <p:val>
                                            <p:strVal val="#ppt_h"/>
                                          </p:val>
                                        </p:tav>
                                      </p:tavLst>
                                    </p:anim>
                                    <p:animEffect transition="in" filter="fade">
                                      <p:cBhvr>
                                        <p:cTn id="59" dur="500"/>
                                        <p:tgtEl>
                                          <p:spTgt spid="5"/>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36"/>
                                        </p:tgtEl>
                                        <p:attrNameLst>
                                          <p:attrName>style.visibility</p:attrName>
                                        </p:attrNameLst>
                                      </p:cBhvr>
                                      <p:to>
                                        <p:strVal val="visible"/>
                                      </p:to>
                                    </p:set>
                                    <p:anim calcmode="lin" valueType="num">
                                      <p:cBhvr>
                                        <p:cTn id="62" dur="500" fill="hold"/>
                                        <p:tgtEl>
                                          <p:spTgt spid="36"/>
                                        </p:tgtEl>
                                        <p:attrNameLst>
                                          <p:attrName>ppt_w</p:attrName>
                                        </p:attrNameLst>
                                      </p:cBhvr>
                                      <p:tavLst>
                                        <p:tav tm="0">
                                          <p:val>
                                            <p:fltVal val="0"/>
                                          </p:val>
                                        </p:tav>
                                        <p:tav tm="100000">
                                          <p:val>
                                            <p:strVal val="#ppt_w"/>
                                          </p:val>
                                        </p:tav>
                                      </p:tavLst>
                                    </p:anim>
                                    <p:anim calcmode="lin" valueType="num">
                                      <p:cBhvr>
                                        <p:cTn id="63" dur="500" fill="hold"/>
                                        <p:tgtEl>
                                          <p:spTgt spid="36"/>
                                        </p:tgtEl>
                                        <p:attrNameLst>
                                          <p:attrName>ppt_h</p:attrName>
                                        </p:attrNameLst>
                                      </p:cBhvr>
                                      <p:tavLst>
                                        <p:tav tm="0">
                                          <p:val>
                                            <p:fltVal val="0"/>
                                          </p:val>
                                        </p:tav>
                                        <p:tav tm="100000">
                                          <p:val>
                                            <p:strVal val="#ppt_h"/>
                                          </p:val>
                                        </p:tav>
                                      </p:tavLst>
                                    </p:anim>
                                    <p:animEffect transition="in" filter="fade">
                                      <p:cBhvr>
                                        <p:cTn id="64" dur="500"/>
                                        <p:tgtEl>
                                          <p:spTgt spid="36"/>
                                        </p:tgtEl>
                                      </p:cBhvr>
                                    </p:animEffect>
                                  </p:childTnLst>
                                </p:cTn>
                              </p:par>
                            </p:childTnLst>
                          </p:cTn>
                        </p:par>
                      </p:childTnLst>
                    </p:cTn>
                  </p:par>
                  <p:par>
                    <p:cTn id="65" fill="hold">
                      <p:stCondLst>
                        <p:cond delay="indefinite"/>
                      </p:stCondLst>
                      <p:childTnLst>
                        <p:par>
                          <p:cTn id="66" fill="hold">
                            <p:stCondLst>
                              <p:cond delay="0"/>
                            </p:stCondLst>
                            <p:childTnLst>
                              <p:par>
                                <p:cTn id="67" presetID="53" presetClass="entr" presetSubtype="16" fill="hold" grpId="0" nodeType="clickEffect">
                                  <p:stCondLst>
                                    <p:cond delay="0"/>
                                  </p:stCondLst>
                                  <p:childTnLst>
                                    <p:set>
                                      <p:cBhvr>
                                        <p:cTn id="68" dur="1" fill="hold">
                                          <p:stCondLst>
                                            <p:cond delay="0"/>
                                          </p:stCondLst>
                                        </p:cTn>
                                        <p:tgtEl>
                                          <p:spTgt spid="7"/>
                                        </p:tgtEl>
                                        <p:attrNameLst>
                                          <p:attrName>style.visibility</p:attrName>
                                        </p:attrNameLst>
                                      </p:cBhvr>
                                      <p:to>
                                        <p:strVal val="visible"/>
                                      </p:to>
                                    </p:set>
                                    <p:anim calcmode="lin" valueType="num">
                                      <p:cBhvr>
                                        <p:cTn id="69" dur="500" fill="hold"/>
                                        <p:tgtEl>
                                          <p:spTgt spid="7"/>
                                        </p:tgtEl>
                                        <p:attrNameLst>
                                          <p:attrName>ppt_w</p:attrName>
                                        </p:attrNameLst>
                                      </p:cBhvr>
                                      <p:tavLst>
                                        <p:tav tm="0">
                                          <p:val>
                                            <p:fltVal val="0"/>
                                          </p:val>
                                        </p:tav>
                                        <p:tav tm="100000">
                                          <p:val>
                                            <p:strVal val="#ppt_w"/>
                                          </p:val>
                                        </p:tav>
                                      </p:tavLst>
                                    </p:anim>
                                    <p:anim calcmode="lin" valueType="num">
                                      <p:cBhvr>
                                        <p:cTn id="70" dur="500" fill="hold"/>
                                        <p:tgtEl>
                                          <p:spTgt spid="7"/>
                                        </p:tgtEl>
                                        <p:attrNameLst>
                                          <p:attrName>ppt_h</p:attrName>
                                        </p:attrNameLst>
                                      </p:cBhvr>
                                      <p:tavLst>
                                        <p:tav tm="0">
                                          <p:val>
                                            <p:fltVal val="0"/>
                                          </p:val>
                                        </p:tav>
                                        <p:tav tm="100000">
                                          <p:val>
                                            <p:strVal val="#ppt_h"/>
                                          </p:val>
                                        </p:tav>
                                      </p:tavLst>
                                    </p:anim>
                                    <p:animEffect transition="in" filter="fade">
                                      <p:cBhvr>
                                        <p:cTn id="71" dur="500"/>
                                        <p:tgtEl>
                                          <p:spTgt spid="7"/>
                                        </p:tgtEl>
                                      </p:cBhvr>
                                    </p:animEffect>
                                  </p:childTnLst>
                                </p:cTn>
                              </p:par>
                              <p:par>
                                <p:cTn id="72" presetID="53" presetClass="entr" presetSubtype="16" fill="hold" grpId="0" nodeType="withEffect">
                                  <p:stCondLst>
                                    <p:cond delay="0"/>
                                  </p:stCondLst>
                                  <p:childTnLst>
                                    <p:set>
                                      <p:cBhvr>
                                        <p:cTn id="73" dur="1" fill="hold">
                                          <p:stCondLst>
                                            <p:cond delay="0"/>
                                          </p:stCondLst>
                                        </p:cTn>
                                        <p:tgtEl>
                                          <p:spTgt spid="37"/>
                                        </p:tgtEl>
                                        <p:attrNameLst>
                                          <p:attrName>style.visibility</p:attrName>
                                        </p:attrNameLst>
                                      </p:cBhvr>
                                      <p:to>
                                        <p:strVal val="visible"/>
                                      </p:to>
                                    </p:set>
                                    <p:anim calcmode="lin" valueType="num">
                                      <p:cBhvr>
                                        <p:cTn id="74" dur="500" fill="hold"/>
                                        <p:tgtEl>
                                          <p:spTgt spid="37"/>
                                        </p:tgtEl>
                                        <p:attrNameLst>
                                          <p:attrName>ppt_w</p:attrName>
                                        </p:attrNameLst>
                                      </p:cBhvr>
                                      <p:tavLst>
                                        <p:tav tm="0">
                                          <p:val>
                                            <p:fltVal val="0"/>
                                          </p:val>
                                        </p:tav>
                                        <p:tav tm="100000">
                                          <p:val>
                                            <p:strVal val="#ppt_w"/>
                                          </p:val>
                                        </p:tav>
                                      </p:tavLst>
                                    </p:anim>
                                    <p:anim calcmode="lin" valueType="num">
                                      <p:cBhvr>
                                        <p:cTn id="75" dur="500" fill="hold"/>
                                        <p:tgtEl>
                                          <p:spTgt spid="37"/>
                                        </p:tgtEl>
                                        <p:attrNameLst>
                                          <p:attrName>ppt_h</p:attrName>
                                        </p:attrNameLst>
                                      </p:cBhvr>
                                      <p:tavLst>
                                        <p:tav tm="0">
                                          <p:val>
                                            <p:fltVal val="0"/>
                                          </p:val>
                                        </p:tav>
                                        <p:tav tm="100000">
                                          <p:val>
                                            <p:strVal val="#ppt_h"/>
                                          </p:val>
                                        </p:tav>
                                      </p:tavLst>
                                    </p:anim>
                                    <p:animEffect transition="in" filter="fade">
                                      <p:cBhvr>
                                        <p:cTn id="76" dur="500"/>
                                        <p:tgtEl>
                                          <p:spTgt spid="37"/>
                                        </p:tgtEl>
                                      </p:cBhvr>
                                    </p:animEffect>
                                  </p:childTnLst>
                                </p:cTn>
                              </p:par>
                            </p:childTnLst>
                          </p:cTn>
                        </p:par>
                      </p:childTnLst>
                    </p:cTn>
                  </p:par>
                  <p:par>
                    <p:cTn id="77" fill="hold">
                      <p:stCondLst>
                        <p:cond delay="indefinite"/>
                      </p:stCondLst>
                      <p:childTnLst>
                        <p:par>
                          <p:cTn id="78" fill="hold">
                            <p:stCondLst>
                              <p:cond delay="0"/>
                            </p:stCondLst>
                            <p:childTnLst>
                              <p:par>
                                <p:cTn id="79" presetID="53" presetClass="entr" presetSubtype="16" fill="hold" grpId="0" nodeType="clickEffect">
                                  <p:stCondLst>
                                    <p:cond delay="0"/>
                                  </p:stCondLst>
                                  <p:childTnLst>
                                    <p:set>
                                      <p:cBhvr>
                                        <p:cTn id="80" dur="1" fill="hold">
                                          <p:stCondLst>
                                            <p:cond delay="0"/>
                                          </p:stCondLst>
                                        </p:cTn>
                                        <p:tgtEl>
                                          <p:spTgt spid="8"/>
                                        </p:tgtEl>
                                        <p:attrNameLst>
                                          <p:attrName>style.visibility</p:attrName>
                                        </p:attrNameLst>
                                      </p:cBhvr>
                                      <p:to>
                                        <p:strVal val="visible"/>
                                      </p:to>
                                    </p:set>
                                    <p:anim calcmode="lin" valueType="num">
                                      <p:cBhvr>
                                        <p:cTn id="81" dur="500" fill="hold"/>
                                        <p:tgtEl>
                                          <p:spTgt spid="8"/>
                                        </p:tgtEl>
                                        <p:attrNameLst>
                                          <p:attrName>ppt_w</p:attrName>
                                        </p:attrNameLst>
                                      </p:cBhvr>
                                      <p:tavLst>
                                        <p:tav tm="0">
                                          <p:val>
                                            <p:fltVal val="0"/>
                                          </p:val>
                                        </p:tav>
                                        <p:tav tm="100000">
                                          <p:val>
                                            <p:strVal val="#ppt_w"/>
                                          </p:val>
                                        </p:tav>
                                      </p:tavLst>
                                    </p:anim>
                                    <p:anim calcmode="lin" valueType="num">
                                      <p:cBhvr>
                                        <p:cTn id="82" dur="500" fill="hold"/>
                                        <p:tgtEl>
                                          <p:spTgt spid="8"/>
                                        </p:tgtEl>
                                        <p:attrNameLst>
                                          <p:attrName>ppt_h</p:attrName>
                                        </p:attrNameLst>
                                      </p:cBhvr>
                                      <p:tavLst>
                                        <p:tav tm="0">
                                          <p:val>
                                            <p:fltVal val="0"/>
                                          </p:val>
                                        </p:tav>
                                        <p:tav tm="100000">
                                          <p:val>
                                            <p:strVal val="#ppt_h"/>
                                          </p:val>
                                        </p:tav>
                                      </p:tavLst>
                                    </p:anim>
                                    <p:animEffect transition="in" filter="fade">
                                      <p:cBhvr>
                                        <p:cTn id="83" dur="500"/>
                                        <p:tgtEl>
                                          <p:spTgt spid="8"/>
                                        </p:tgtEl>
                                      </p:cBhvr>
                                    </p:animEffect>
                                  </p:childTnLst>
                                </p:cTn>
                              </p:par>
                              <p:par>
                                <p:cTn id="84" presetID="53" presetClass="entr" presetSubtype="16"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 calcmode="lin" valueType="num">
                                      <p:cBhvr>
                                        <p:cTn id="86" dur="500" fill="hold"/>
                                        <p:tgtEl>
                                          <p:spTgt spid="38"/>
                                        </p:tgtEl>
                                        <p:attrNameLst>
                                          <p:attrName>ppt_w</p:attrName>
                                        </p:attrNameLst>
                                      </p:cBhvr>
                                      <p:tavLst>
                                        <p:tav tm="0">
                                          <p:val>
                                            <p:fltVal val="0"/>
                                          </p:val>
                                        </p:tav>
                                        <p:tav tm="100000">
                                          <p:val>
                                            <p:strVal val="#ppt_w"/>
                                          </p:val>
                                        </p:tav>
                                      </p:tavLst>
                                    </p:anim>
                                    <p:anim calcmode="lin" valueType="num">
                                      <p:cBhvr>
                                        <p:cTn id="87" dur="500" fill="hold"/>
                                        <p:tgtEl>
                                          <p:spTgt spid="38"/>
                                        </p:tgtEl>
                                        <p:attrNameLst>
                                          <p:attrName>ppt_h</p:attrName>
                                        </p:attrNameLst>
                                      </p:cBhvr>
                                      <p:tavLst>
                                        <p:tav tm="0">
                                          <p:val>
                                            <p:fltVal val="0"/>
                                          </p:val>
                                        </p:tav>
                                        <p:tav tm="100000">
                                          <p:val>
                                            <p:strVal val="#ppt_h"/>
                                          </p:val>
                                        </p:tav>
                                      </p:tavLst>
                                    </p:anim>
                                    <p:animEffect transition="in" filter="fade">
                                      <p:cBhvr>
                                        <p:cTn id="88" dur="500"/>
                                        <p:tgtEl>
                                          <p:spTgt spid="38"/>
                                        </p:tgtEl>
                                      </p:cBhvr>
                                    </p:animEffect>
                                  </p:childTnLst>
                                </p:cTn>
                              </p:par>
                            </p:childTnLst>
                          </p:cTn>
                        </p:par>
                      </p:childTnLst>
                    </p:cTn>
                  </p:par>
                  <p:par>
                    <p:cTn id="89" fill="hold">
                      <p:stCondLst>
                        <p:cond delay="indefinite"/>
                      </p:stCondLst>
                      <p:childTnLst>
                        <p:par>
                          <p:cTn id="90" fill="hold">
                            <p:stCondLst>
                              <p:cond delay="0"/>
                            </p:stCondLst>
                            <p:childTnLst>
                              <p:par>
                                <p:cTn id="91" presetID="53" presetClass="entr" presetSubtype="16" fill="hold" grpId="0" nodeType="clickEffect">
                                  <p:stCondLst>
                                    <p:cond delay="0"/>
                                  </p:stCondLst>
                                  <p:childTnLst>
                                    <p:set>
                                      <p:cBhvr>
                                        <p:cTn id="92" dur="1" fill="hold">
                                          <p:stCondLst>
                                            <p:cond delay="0"/>
                                          </p:stCondLst>
                                        </p:cTn>
                                        <p:tgtEl>
                                          <p:spTgt spid="9"/>
                                        </p:tgtEl>
                                        <p:attrNameLst>
                                          <p:attrName>style.visibility</p:attrName>
                                        </p:attrNameLst>
                                      </p:cBhvr>
                                      <p:to>
                                        <p:strVal val="visible"/>
                                      </p:to>
                                    </p:set>
                                    <p:anim calcmode="lin" valueType="num">
                                      <p:cBhvr>
                                        <p:cTn id="93" dur="500" fill="hold"/>
                                        <p:tgtEl>
                                          <p:spTgt spid="9"/>
                                        </p:tgtEl>
                                        <p:attrNameLst>
                                          <p:attrName>ppt_w</p:attrName>
                                        </p:attrNameLst>
                                      </p:cBhvr>
                                      <p:tavLst>
                                        <p:tav tm="0">
                                          <p:val>
                                            <p:fltVal val="0"/>
                                          </p:val>
                                        </p:tav>
                                        <p:tav tm="100000">
                                          <p:val>
                                            <p:strVal val="#ppt_w"/>
                                          </p:val>
                                        </p:tav>
                                      </p:tavLst>
                                    </p:anim>
                                    <p:anim calcmode="lin" valueType="num">
                                      <p:cBhvr>
                                        <p:cTn id="94" dur="500" fill="hold"/>
                                        <p:tgtEl>
                                          <p:spTgt spid="9"/>
                                        </p:tgtEl>
                                        <p:attrNameLst>
                                          <p:attrName>ppt_h</p:attrName>
                                        </p:attrNameLst>
                                      </p:cBhvr>
                                      <p:tavLst>
                                        <p:tav tm="0">
                                          <p:val>
                                            <p:fltVal val="0"/>
                                          </p:val>
                                        </p:tav>
                                        <p:tav tm="100000">
                                          <p:val>
                                            <p:strVal val="#ppt_h"/>
                                          </p:val>
                                        </p:tav>
                                      </p:tavLst>
                                    </p:anim>
                                    <p:animEffect transition="in" filter="fade">
                                      <p:cBhvr>
                                        <p:cTn id="95" dur="500"/>
                                        <p:tgtEl>
                                          <p:spTgt spid="9"/>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39"/>
                                        </p:tgtEl>
                                        <p:attrNameLst>
                                          <p:attrName>style.visibility</p:attrName>
                                        </p:attrNameLst>
                                      </p:cBhvr>
                                      <p:to>
                                        <p:strVal val="visible"/>
                                      </p:to>
                                    </p:set>
                                    <p:anim calcmode="lin" valueType="num">
                                      <p:cBhvr>
                                        <p:cTn id="98" dur="500" fill="hold"/>
                                        <p:tgtEl>
                                          <p:spTgt spid="39"/>
                                        </p:tgtEl>
                                        <p:attrNameLst>
                                          <p:attrName>ppt_w</p:attrName>
                                        </p:attrNameLst>
                                      </p:cBhvr>
                                      <p:tavLst>
                                        <p:tav tm="0">
                                          <p:val>
                                            <p:fltVal val="0"/>
                                          </p:val>
                                        </p:tav>
                                        <p:tav tm="100000">
                                          <p:val>
                                            <p:strVal val="#ppt_w"/>
                                          </p:val>
                                        </p:tav>
                                      </p:tavLst>
                                    </p:anim>
                                    <p:anim calcmode="lin" valueType="num">
                                      <p:cBhvr>
                                        <p:cTn id="99" dur="500" fill="hold"/>
                                        <p:tgtEl>
                                          <p:spTgt spid="39"/>
                                        </p:tgtEl>
                                        <p:attrNameLst>
                                          <p:attrName>ppt_h</p:attrName>
                                        </p:attrNameLst>
                                      </p:cBhvr>
                                      <p:tavLst>
                                        <p:tav tm="0">
                                          <p:val>
                                            <p:fltVal val="0"/>
                                          </p:val>
                                        </p:tav>
                                        <p:tav tm="100000">
                                          <p:val>
                                            <p:strVal val="#ppt_h"/>
                                          </p:val>
                                        </p:tav>
                                      </p:tavLst>
                                    </p:anim>
                                    <p:animEffect transition="in" filter="fade">
                                      <p:cBhvr>
                                        <p:cTn id="10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33" grpId="0"/>
      <p:bldP spid="34" grpId="0"/>
      <p:bldP spid="35" grpId="0"/>
      <p:bldP spid="36" grpId="0"/>
      <p:bldP spid="37" grpId="0"/>
      <p:bldP spid="38" grpId="0"/>
      <p:bldP spid="39" grpId="0"/>
      <p:bldP spid="4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圆角 32">
            <a:extLst>
              <a:ext uri="{FF2B5EF4-FFF2-40B4-BE49-F238E27FC236}">
                <a16:creationId xmlns:a16="http://schemas.microsoft.com/office/drawing/2014/main" id="{D51BC511-339C-426E-86A9-555516D26CD8}"/>
              </a:ext>
            </a:extLst>
          </p:cNvPr>
          <p:cNvSpPr/>
          <p:nvPr/>
        </p:nvSpPr>
        <p:spPr>
          <a:xfrm>
            <a:off x="657960" y="1465080"/>
            <a:ext cx="5426207"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sp>
        <p:nvSpPr>
          <p:cNvPr id="15" name="矩形 14">
            <a:extLst>
              <a:ext uri="{FF2B5EF4-FFF2-40B4-BE49-F238E27FC236}">
                <a16:creationId xmlns:a16="http://schemas.microsoft.com/office/drawing/2014/main" id="{4E1C1893-AB90-4458-A5F7-957881641DB7}"/>
              </a:ext>
            </a:extLst>
          </p:cNvPr>
          <p:cNvSpPr/>
          <p:nvPr/>
        </p:nvSpPr>
        <p:spPr>
          <a:xfrm>
            <a:off x="657961" y="1493257"/>
            <a:ext cx="5544616"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en-US" sz="2000" dirty="0">
                <a:latin typeface="微软雅黑" panose="020B0503020204020204" pitchFamily="34" charset="-122"/>
                <a:ea typeface="微软雅黑" panose="020B0503020204020204" pitchFamily="34" charset="-122"/>
              </a:rPr>
              <a:t>不变成本曲线、可变成本曲线、总成本曲线</a:t>
            </a:r>
          </a:p>
        </p:txBody>
      </p:sp>
      <p:grpSp>
        <p:nvGrpSpPr>
          <p:cNvPr id="16" name="组合 24"/>
          <p:cNvGrpSpPr>
            <a:grpSpLocks/>
          </p:cNvGrpSpPr>
          <p:nvPr/>
        </p:nvGrpSpPr>
        <p:grpSpPr bwMode="auto">
          <a:xfrm>
            <a:off x="4932040" y="3212976"/>
            <a:ext cx="3600400" cy="2898776"/>
            <a:chOff x="0" y="0"/>
            <a:chExt cx="3902467" cy="3141681"/>
          </a:xfrm>
        </p:grpSpPr>
        <p:grpSp>
          <p:nvGrpSpPr>
            <p:cNvPr id="17" name="组合 4"/>
            <p:cNvGrpSpPr>
              <a:grpSpLocks/>
            </p:cNvGrpSpPr>
            <p:nvPr/>
          </p:nvGrpSpPr>
          <p:grpSpPr bwMode="auto">
            <a:xfrm>
              <a:off x="0" y="0"/>
              <a:ext cx="3902467" cy="3141681"/>
              <a:chOff x="0" y="0"/>
              <a:chExt cx="2096128" cy="2390158"/>
            </a:xfrm>
          </p:grpSpPr>
          <p:cxnSp>
            <p:nvCxnSpPr>
              <p:cNvPr id="24" name="直接箭头连接符 5"/>
              <p:cNvCxnSpPr>
                <a:cxnSpLocks noChangeShapeType="1"/>
              </p:cNvCxnSpPr>
              <p:nvPr/>
            </p:nvCxnSpPr>
            <p:spPr bwMode="auto">
              <a:xfrm flipV="1">
                <a:off x="256686" y="2119620"/>
                <a:ext cx="1839442" cy="22948"/>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25" name="直接箭头连接符 6"/>
              <p:cNvCxnSpPr>
                <a:cxnSpLocks noChangeShapeType="1"/>
              </p:cNvCxnSpPr>
              <p:nvPr/>
            </p:nvCxnSpPr>
            <p:spPr bwMode="auto">
              <a:xfrm rot="5400000" flipH="1" flipV="1">
                <a:off x="-813745" y="1070431"/>
                <a:ext cx="2142567" cy="1706"/>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26" name="Object 7"/>
              <p:cNvGraphicFramePr>
                <a:graphicFrameLocks noChangeAspect="1"/>
              </p:cNvGraphicFramePr>
              <p:nvPr/>
            </p:nvGraphicFramePr>
            <p:xfrm>
              <a:off x="0" y="2142557"/>
              <a:ext cx="154330" cy="188410"/>
            </p:xfrm>
            <a:graphic>
              <a:graphicData uri="http://schemas.openxmlformats.org/presentationml/2006/ole">
                <mc:AlternateContent xmlns:mc="http://schemas.openxmlformats.org/markup-compatibility/2006">
                  <mc:Choice xmlns:v="urn:schemas-microsoft-com:vml" Requires="v">
                    <p:oleObj spid="_x0000_s98978" r:id="rId3" imgW="153248" imgH="178737" progId="">
                      <p:embed/>
                    </p:oleObj>
                  </mc:Choice>
                  <mc:Fallback>
                    <p:oleObj r:id="rId3" imgW="153248" imgH="178737" progId="">
                      <p:embed/>
                      <p:pic>
                        <p:nvPicPr>
                          <p:cNvPr id="5530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142557"/>
                            <a:ext cx="154330" cy="1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 name="Object 8"/>
              <p:cNvGraphicFramePr>
                <a:graphicFrameLocks noChangeAspect="1"/>
              </p:cNvGraphicFramePr>
              <p:nvPr/>
            </p:nvGraphicFramePr>
            <p:xfrm>
              <a:off x="29944" y="48312"/>
              <a:ext cx="153179" cy="188410"/>
            </p:xfrm>
            <a:graphic>
              <a:graphicData uri="http://schemas.openxmlformats.org/presentationml/2006/ole">
                <mc:AlternateContent xmlns:mc="http://schemas.openxmlformats.org/markup-compatibility/2006">
                  <mc:Choice xmlns:v="urn:schemas-microsoft-com:vml" Requires="v">
                    <p:oleObj spid="_x0000_s98979" r:id="rId5" imgW="153248" imgH="178737" progId="">
                      <p:embed/>
                    </p:oleObj>
                  </mc:Choice>
                  <mc:Fallback>
                    <p:oleObj r:id="rId5" imgW="153248" imgH="178737" progId="">
                      <p:embed/>
                      <p:pic>
                        <p:nvPicPr>
                          <p:cNvPr id="55304"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44" y="48312"/>
                            <a:ext cx="153179" cy="1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9"/>
              <p:cNvGraphicFramePr>
                <a:graphicFrameLocks noChangeAspect="1"/>
              </p:cNvGraphicFramePr>
              <p:nvPr/>
            </p:nvGraphicFramePr>
            <p:xfrm>
              <a:off x="1888818" y="2173971"/>
              <a:ext cx="154330" cy="216187"/>
            </p:xfrm>
            <a:graphic>
              <a:graphicData uri="http://schemas.openxmlformats.org/presentationml/2006/ole">
                <mc:AlternateContent xmlns:mc="http://schemas.openxmlformats.org/markup-compatibility/2006">
                  <mc:Choice xmlns:v="urn:schemas-microsoft-com:vml" Requires="v">
                    <p:oleObj spid="_x0000_s98980" r:id="rId7" imgW="153381" imgH="204403" progId="">
                      <p:embed/>
                    </p:oleObj>
                  </mc:Choice>
                  <mc:Fallback>
                    <p:oleObj r:id="rId7" imgW="153381" imgH="204403" progId="">
                      <p:embed/>
                      <p:pic>
                        <p:nvPicPr>
                          <p:cNvPr id="55305"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88818" y="2173971"/>
                            <a:ext cx="154330" cy="21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cxnSp>
          <p:nvCxnSpPr>
            <p:cNvPr id="18" name="直接连接符 11"/>
            <p:cNvCxnSpPr>
              <a:cxnSpLocks noChangeShapeType="1"/>
            </p:cNvCxnSpPr>
            <p:nvPr/>
          </p:nvCxnSpPr>
          <p:spPr bwMode="auto">
            <a:xfrm flipV="1">
              <a:off x="525515" y="1928824"/>
              <a:ext cx="2618051" cy="71438"/>
            </a:xfrm>
            <a:prstGeom prst="line">
              <a:avLst/>
            </a:prstGeom>
            <a:noFill/>
            <a:ln w="38100" cmpd="sng">
              <a:solidFill>
                <a:srgbClr val="00B0F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sp>
          <p:nvSpPr>
            <p:cNvPr id="19" name="任意多边形 14"/>
            <p:cNvSpPr>
              <a:spLocks noChangeArrowheads="1"/>
            </p:cNvSpPr>
            <p:nvPr/>
          </p:nvSpPr>
          <p:spPr bwMode="auto">
            <a:xfrm>
              <a:off x="492174" y="1046168"/>
              <a:ext cx="2457697" cy="1771661"/>
            </a:xfrm>
            <a:custGeom>
              <a:avLst/>
              <a:gdLst>
                <a:gd name="T0" fmla="*/ 0 w 1828800"/>
                <a:gd name="T1" fmla="*/ 1771661 h 1590261"/>
                <a:gd name="T2" fmla="*/ 454139 w 1828800"/>
                <a:gd name="T3" fmla="*/ 1173726 h 1590261"/>
                <a:gd name="T4" fmla="*/ 2110413 w 1828800"/>
                <a:gd name="T5" fmla="*/ 575790 h 1590261"/>
                <a:gd name="T6" fmla="*/ 2457697 w 1828800"/>
                <a:gd name="T7" fmla="*/ 0 h 1590261"/>
                <a:gd name="T8" fmla="*/ 0 60000 65536"/>
                <a:gd name="T9" fmla="*/ 0 60000 65536"/>
                <a:gd name="T10" fmla="*/ 0 60000 65536"/>
                <a:gd name="T11" fmla="*/ 0 60000 65536"/>
                <a:gd name="T12" fmla="*/ 0 w 1828800"/>
                <a:gd name="T13" fmla="*/ 0 h 1590261"/>
                <a:gd name="T14" fmla="*/ 1828800 w 1828800"/>
                <a:gd name="T15" fmla="*/ 1590261 h 1590261"/>
              </a:gdLst>
              <a:ahLst/>
              <a:cxnLst>
                <a:cxn ang="T8">
                  <a:pos x="T0" y="T1"/>
                </a:cxn>
                <a:cxn ang="T9">
                  <a:pos x="T2" y="T3"/>
                </a:cxn>
                <a:cxn ang="T10">
                  <a:pos x="T4" y="T5"/>
                </a:cxn>
                <a:cxn ang="T11">
                  <a:pos x="T6" y="T7"/>
                </a:cxn>
              </a:cxnLst>
              <a:rect l="T12" t="T13" r="T14" b="T15"/>
              <a:pathLst>
                <a:path w="1828800" h="1590261">
                  <a:moveTo>
                    <a:pt x="0" y="1590261"/>
                  </a:moveTo>
                  <a:cubicBezTo>
                    <a:pt x="38100" y="1411356"/>
                    <a:pt x="76200" y="1232452"/>
                    <a:pt x="337930" y="1053548"/>
                  </a:cubicBezTo>
                  <a:cubicBezTo>
                    <a:pt x="599660" y="874644"/>
                    <a:pt x="1321904" y="692426"/>
                    <a:pt x="1570382" y="516835"/>
                  </a:cubicBezTo>
                  <a:cubicBezTo>
                    <a:pt x="1818860" y="341244"/>
                    <a:pt x="1823830" y="170622"/>
                    <a:pt x="1828800" y="0"/>
                  </a:cubicBezTo>
                </a:path>
              </a:pathLst>
            </a:custGeom>
            <a:noFill/>
            <a:ln w="38100" cmpd="sng">
              <a:solidFill>
                <a:srgbClr val="8CC705"/>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0" name="任意多边形 15"/>
            <p:cNvSpPr>
              <a:spLocks noChangeArrowheads="1"/>
            </p:cNvSpPr>
            <p:nvPr/>
          </p:nvSpPr>
          <p:spPr bwMode="auto">
            <a:xfrm>
              <a:off x="492174" y="254002"/>
              <a:ext cx="2457697" cy="1771661"/>
            </a:xfrm>
            <a:custGeom>
              <a:avLst/>
              <a:gdLst>
                <a:gd name="T0" fmla="*/ 0 w 1828800"/>
                <a:gd name="T1" fmla="*/ 1771661 h 1590261"/>
                <a:gd name="T2" fmla="*/ 454139 w 1828800"/>
                <a:gd name="T3" fmla="*/ 1173726 h 1590261"/>
                <a:gd name="T4" fmla="*/ 2110413 w 1828800"/>
                <a:gd name="T5" fmla="*/ 575790 h 1590261"/>
                <a:gd name="T6" fmla="*/ 2457697 w 1828800"/>
                <a:gd name="T7" fmla="*/ 0 h 1590261"/>
                <a:gd name="T8" fmla="*/ 0 60000 65536"/>
                <a:gd name="T9" fmla="*/ 0 60000 65536"/>
                <a:gd name="T10" fmla="*/ 0 60000 65536"/>
                <a:gd name="T11" fmla="*/ 0 60000 65536"/>
                <a:gd name="T12" fmla="*/ 0 w 1828800"/>
                <a:gd name="T13" fmla="*/ 0 h 1590261"/>
                <a:gd name="T14" fmla="*/ 1828800 w 1828800"/>
                <a:gd name="T15" fmla="*/ 1590261 h 1590261"/>
              </a:gdLst>
              <a:ahLst/>
              <a:cxnLst>
                <a:cxn ang="T8">
                  <a:pos x="T0" y="T1"/>
                </a:cxn>
                <a:cxn ang="T9">
                  <a:pos x="T2" y="T3"/>
                </a:cxn>
                <a:cxn ang="T10">
                  <a:pos x="T4" y="T5"/>
                </a:cxn>
                <a:cxn ang="T11">
                  <a:pos x="T6" y="T7"/>
                </a:cxn>
              </a:cxnLst>
              <a:rect l="T12" t="T13" r="T14" b="T15"/>
              <a:pathLst>
                <a:path w="1828800" h="1590261">
                  <a:moveTo>
                    <a:pt x="0" y="1590261"/>
                  </a:moveTo>
                  <a:cubicBezTo>
                    <a:pt x="38100" y="1411356"/>
                    <a:pt x="76200" y="1232452"/>
                    <a:pt x="337930" y="1053548"/>
                  </a:cubicBezTo>
                  <a:cubicBezTo>
                    <a:pt x="599660" y="874644"/>
                    <a:pt x="1321904" y="692426"/>
                    <a:pt x="1570382" y="516835"/>
                  </a:cubicBezTo>
                  <a:cubicBezTo>
                    <a:pt x="1818860" y="341244"/>
                    <a:pt x="1823830" y="170622"/>
                    <a:pt x="1828800" y="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21" name="Object 13"/>
            <p:cNvGraphicFramePr>
              <a:graphicFrameLocks noChangeAspect="1"/>
            </p:cNvGraphicFramePr>
            <p:nvPr/>
          </p:nvGraphicFramePr>
          <p:xfrm>
            <a:off x="3034057" y="142876"/>
            <a:ext cx="456717" cy="247650"/>
          </p:xfrm>
          <a:graphic>
            <a:graphicData uri="http://schemas.openxmlformats.org/presentationml/2006/ole">
              <mc:AlternateContent xmlns:mc="http://schemas.openxmlformats.org/markup-compatibility/2006">
                <mc:Choice xmlns:v="urn:schemas-microsoft-com:vml" Requires="v">
                  <p:oleObj spid="_x0000_s98981" r:id="rId9" imgW="242142" imgH="178504" progId="">
                    <p:embed/>
                  </p:oleObj>
                </mc:Choice>
                <mc:Fallback>
                  <p:oleObj r:id="rId9" imgW="242142" imgH="178504" progId="">
                    <p:embed/>
                    <p:pic>
                      <p:nvPicPr>
                        <p:cNvPr id="55309"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34057" y="142876"/>
                          <a:ext cx="456717"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Object 14"/>
            <p:cNvGraphicFramePr>
              <a:graphicFrameLocks noChangeAspect="1"/>
            </p:cNvGraphicFramePr>
            <p:nvPr/>
          </p:nvGraphicFramePr>
          <p:xfrm>
            <a:off x="3034057" y="1000132"/>
            <a:ext cx="456717" cy="247650"/>
          </p:xfrm>
          <a:graphic>
            <a:graphicData uri="http://schemas.openxmlformats.org/presentationml/2006/ole">
              <mc:AlternateContent xmlns:mc="http://schemas.openxmlformats.org/markup-compatibility/2006">
                <mc:Choice xmlns:v="urn:schemas-microsoft-com:vml" Requires="v">
                  <p:oleObj spid="_x0000_s98982" r:id="rId11" imgW="242142" imgH="178504" progId="">
                    <p:embed/>
                  </p:oleObj>
                </mc:Choice>
                <mc:Fallback>
                  <p:oleObj r:id="rId11" imgW="242142" imgH="178504" progId="">
                    <p:embed/>
                    <p:pic>
                      <p:nvPicPr>
                        <p:cNvPr id="5531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34057" y="1000132"/>
                          <a:ext cx="456717"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3" name="Object 15"/>
            <p:cNvGraphicFramePr>
              <a:graphicFrameLocks noChangeAspect="1"/>
            </p:cNvGraphicFramePr>
            <p:nvPr/>
          </p:nvGraphicFramePr>
          <p:xfrm>
            <a:off x="3286148" y="1857388"/>
            <a:ext cx="480303" cy="247650"/>
          </p:xfrm>
          <a:graphic>
            <a:graphicData uri="http://schemas.openxmlformats.org/presentationml/2006/ole">
              <mc:AlternateContent xmlns:mc="http://schemas.openxmlformats.org/markup-compatibility/2006">
                <mc:Choice xmlns:v="urn:schemas-microsoft-com:vml" Requires="v">
                  <p:oleObj spid="_x0000_s98983" r:id="rId13" imgW="254869" imgH="178504" progId="">
                    <p:embed/>
                  </p:oleObj>
                </mc:Choice>
                <mc:Fallback>
                  <p:oleObj r:id="rId13" imgW="254869" imgH="178504" progId="">
                    <p:embed/>
                    <p:pic>
                      <p:nvPicPr>
                        <p:cNvPr id="55311"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86148" y="1857388"/>
                          <a:ext cx="480303"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9" name="矩形 28"/>
          <p:cNvSpPr/>
          <p:nvPr/>
        </p:nvSpPr>
        <p:spPr>
          <a:xfrm>
            <a:off x="680921" y="2440641"/>
            <a:ext cx="5760640" cy="369332"/>
          </a:xfrm>
          <a:prstGeom prst="rect">
            <a:avLst/>
          </a:prstGeom>
        </p:spPr>
        <p:txBody>
          <a:bodyPr wrap="square">
            <a:spAutoFit/>
          </a:bodyPr>
          <a:lstStyle/>
          <a:p>
            <a:pPr marL="342900" indent="-34290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不变成本曲线FC是一条平行于产量轴的直线</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30" name="矩形 29"/>
          <p:cNvSpPr/>
          <p:nvPr/>
        </p:nvSpPr>
        <p:spPr>
          <a:xfrm>
            <a:off x="680921" y="3351770"/>
            <a:ext cx="3519319" cy="646331"/>
          </a:xfrm>
          <a:prstGeom prst="rect">
            <a:avLst/>
          </a:prstGeom>
        </p:spPr>
        <p:txBody>
          <a:bodyPr wrap="square">
            <a:spAutoFit/>
          </a:bodyPr>
          <a:lstStyle/>
          <a:p>
            <a:pPr marL="342900" indent="-34290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可变成本曲线VC是从原点出发的一条向右上方倾斜的曲线</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31" name="矩形 30"/>
          <p:cNvSpPr/>
          <p:nvPr/>
        </p:nvSpPr>
        <p:spPr>
          <a:xfrm>
            <a:off x="676217" y="4570675"/>
            <a:ext cx="3070071" cy="369332"/>
          </a:xfrm>
          <a:prstGeom prst="rect">
            <a:avLst/>
          </a:prstGeom>
        </p:spPr>
        <p:txBody>
          <a:bodyPr wrap="none">
            <a:spAutoFit/>
          </a:bodyPr>
          <a:lstStyle/>
          <a:p>
            <a:pPr marL="342900" indent="-34290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两者相加为总成本曲线</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D6C2ADFE-85F6-4759-BD3C-81B2AD9D4D8F}"/>
              </a:ext>
            </a:extLst>
          </p:cNvPr>
          <p:cNvSpPr/>
          <p:nvPr/>
        </p:nvSpPr>
        <p:spPr>
          <a:xfrm>
            <a:off x="580922" y="520573"/>
            <a:ext cx="2910958"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三、短期成本曲线</a:t>
            </a:r>
          </a:p>
        </p:txBody>
      </p:sp>
      <p:sp>
        <p:nvSpPr>
          <p:cNvPr id="2" name="标注: 线形 1">
            <a:extLst>
              <a:ext uri="{FF2B5EF4-FFF2-40B4-BE49-F238E27FC236}">
                <a16:creationId xmlns:a16="http://schemas.microsoft.com/office/drawing/2014/main" id="{059E7EA4-F354-45BB-BA0C-F15A1E2CDE69}"/>
              </a:ext>
            </a:extLst>
          </p:cNvPr>
          <p:cNvSpPr/>
          <p:nvPr/>
        </p:nvSpPr>
        <p:spPr bwMode="auto">
          <a:xfrm>
            <a:off x="1775408" y="5445223"/>
            <a:ext cx="2211738" cy="1206901"/>
          </a:xfrm>
          <a:prstGeom prst="borderCallout1">
            <a:avLst>
              <a:gd name="adj1" fmla="val 18750"/>
              <a:gd name="adj2" fmla="val -8333"/>
              <a:gd name="adj3" fmla="val -57971"/>
              <a:gd name="adj4" fmla="val -42255"/>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lang="zh-CN" altLang="en-US" dirty="0"/>
              <a:t>总成本曲线和变动成本曲线不是直线，其变动率取决于边际成本大小。</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41242141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Effect transition="in" filter="fade">
                                      <p:cBhvr>
                                        <p:cTn id="9" dur="500"/>
                                        <p:tgtEl>
                                          <p:spTgt spid="3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3"/>
                                        </p:tgtEl>
                                        <p:attrNameLst>
                                          <p:attrName>style.visibility</p:attrName>
                                        </p:attrNameLst>
                                      </p:cBhvr>
                                      <p:to>
                                        <p:strVal val="visible"/>
                                      </p:to>
                                    </p:set>
                                    <p:anim calcmode="lin" valueType="num">
                                      <p:cBhvr>
                                        <p:cTn id="14" dur="500" fill="hold"/>
                                        <p:tgtEl>
                                          <p:spTgt spid="33"/>
                                        </p:tgtEl>
                                        <p:attrNameLst>
                                          <p:attrName>ppt_w</p:attrName>
                                        </p:attrNameLst>
                                      </p:cBhvr>
                                      <p:tavLst>
                                        <p:tav tm="0">
                                          <p:val>
                                            <p:fltVal val="0"/>
                                          </p:val>
                                        </p:tav>
                                        <p:tav tm="100000">
                                          <p:val>
                                            <p:strVal val="#ppt_w"/>
                                          </p:val>
                                        </p:tav>
                                      </p:tavLst>
                                    </p:anim>
                                    <p:anim calcmode="lin" valueType="num">
                                      <p:cBhvr>
                                        <p:cTn id="15" dur="500" fill="hold"/>
                                        <p:tgtEl>
                                          <p:spTgt spid="33"/>
                                        </p:tgtEl>
                                        <p:attrNameLst>
                                          <p:attrName>ppt_h</p:attrName>
                                        </p:attrNameLst>
                                      </p:cBhvr>
                                      <p:tavLst>
                                        <p:tav tm="0">
                                          <p:val>
                                            <p:fltVal val="0"/>
                                          </p:val>
                                        </p:tav>
                                        <p:tav tm="100000">
                                          <p:val>
                                            <p:strVal val="#ppt_h"/>
                                          </p:val>
                                        </p:tav>
                                      </p:tavLst>
                                    </p:anim>
                                    <p:animEffect transition="in" filter="fade">
                                      <p:cBhvr>
                                        <p:cTn id="16" dur="500"/>
                                        <p:tgtEl>
                                          <p:spTgt spid="33"/>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16"/>
                                        </p:tgtEl>
                                        <p:attrNameLst>
                                          <p:attrName>style.visibility</p:attrName>
                                        </p:attrNameLst>
                                      </p:cBhvr>
                                      <p:to>
                                        <p:strVal val="visible"/>
                                      </p:to>
                                    </p:set>
                                    <p:anim calcmode="lin" valueType="num">
                                      <p:cBhvr additive="base">
                                        <p:cTn id="26" dur="500" fill="hold"/>
                                        <p:tgtEl>
                                          <p:spTgt spid="16"/>
                                        </p:tgtEl>
                                        <p:attrNameLst>
                                          <p:attrName>ppt_x</p:attrName>
                                        </p:attrNameLst>
                                      </p:cBhvr>
                                      <p:tavLst>
                                        <p:tav tm="0">
                                          <p:val>
                                            <p:strVal val="#ppt_x"/>
                                          </p:val>
                                        </p:tav>
                                        <p:tav tm="100000">
                                          <p:val>
                                            <p:strVal val="#ppt_x"/>
                                          </p:val>
                                        </p:tav>
                                      </p:tavLst>
                                    </p:anim>
                                    <p:anim calcmode="lin" valueType="num">
                                      <p:cBhvr additive="base">
                                        <p:cTn id="27"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grpId="0" nodeType="click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1000"/>
                                        <p:tgtEl>
                                          <p:spTgt spid="29"/>
                                        </p:tgtEl>
                                      </p:cBhvr>
                                    </p:animEffect>
                                    <p:anim calcmode="lin" valueType="num">
                                      <p:cBhvr>
                                        <p:cTn id="33" dur="1000" fill="hold"/>
                                        <p:tgtEl>
                                          <p:spTgt spid="29"/>
                                        </p:tgtEl>
                                        <p:attrNameLst>
                                          <p:attrName>ppt_x</p:attrName>
                                        </p:attrNameLst>
                                      </p:cBhvr>
                                      <p:tavLst>
                                        <p:tav tm="0">
                                          <p:val>
                                            <p:strVal val="#ppt_x"/>
                                          </p:val>
                                        </p:tav>
                                        <p:tav tm="100000">
                                          <p:val>
                                            <p:strVal val="#ppt_x"/>
                                          </p:val>
                                        </p:tav>
                                      </p:tavLst>
                                    </p:anim>
                                    <p:anim calcmode="lin" valueType="num">
                                      <p:cBhvr>
                                        <p:cTn id="34"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grpId="0"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1000"/>
                                        <p:tgtEl>
                                          <p:spTgt spid="30"/>
                                        </p:tgtEl>
                                      </p:cBhvr>
                                    </p:animEffect>
                                    <p:anim calcmode="lin" valueType="num">
                                      <p:cBhvr>
                                        <p:cTn id="40" dur="1000" fill="hold"/>
                                        <p:tgtEl>
                                          <p:spTgt spid="30"/>
                                        </p:tgtEl>
                                        <p:attrNameLst>
                                          <p:attrName>ppt_x</p:attrName>
                                        </p:attrNameLst>
                                      </p:cBhvr>
                                      <p:tavLst>
                                        <p:tav tm="0">
                                          <p:val>
                                            <p:strVal val="#ppt_x"/>
                                          </p:val>
                                        </p:tav>
                                        <p:tav tm="100000">
                                          <p:val>
                                            <p:strVal val="#ppt_x"/>
                                          </p:val>
                                        </p:tav>
                                      </p:tavLst>
                                    </p:anim>
                                    <p:anim calcmode="lin" valueType="num">
                                      <p:cBhvr>
                                        <p:cTn id="41"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fade">
                                      <p:cBhvr>
                                        <p:cTn id="46" dur="1000"/>
                                        <p:tgtEl>
                                          <p:spTgt spid="31"/>
                                        </p:tgtEl>
                                      </p:cBhvr>
                                    </p:animEffect>
                                    <p:anim calcmode="lin" valueType="num">
                                      <p:cBhvr>
                                        <p:cTn id="47" dur="1000" fill="hold"/>
                                        <p:tgtEl>
                                          <p:spTgt spid="31"/>
                                        </p:tgtEl>
                                        <p:attrNameLst>
                                          <p:attrName>ppt_x</p:attrName>
                                        </p:attrNameLst>
                                      </p:cBhvr>
                                      <p:tavLst>
                                        <p:tav tm="0">
                                          <p:val>
                                            <p:strVal val="#ppt_x"/>
                                          </p:val>
                                        </p:tav>
                                        <p:tav tm="100000">
                                          <p:val>
                                            <p:strVal val="#ppt_x"/>
                                          </p:val>
                                        </p:tav>
                                      </p:tavLst>
                                    </p:anim>
                                    <p:anim calcmode="lin" valueType="num">
                                      <p:cBhvr>
                                        <p:cTn id="48"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15" grpId="0"/>
      <p:bldP spid="29" grpId="0"/>
      <p:bldP spid="30" grpId="0"/>
      <p:bldP spid="31" grpId="0"/>
      <p:bldP spid="32"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圆角 24">
            <a:extLst>
              <a:ext uri="{FF2B5EF4-FFF2-40B4-BE49-F238E27FC236}">
                <a16:creationId xmlns:a16="http://schemas.microsoft.com/office/drawing/2014/main" id="{2B3ED8CC-9825-4357-9B26-1E69406FF32E}"/>
              </a:ext>
            </a:extLst>
          </p:cNvPr>
          <p:cNvSpPr/>
          <p:nvPr/>
        </p:nvSpPr>
        <p:spPr>
          <a:xfrm>
            <a:off x="558737" y="1391450"/>
            <a:ext cx="5653028"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sp>
        <p:nvSpPr>
          <p:cNvPr id="3" name="矩形 2">
            <a:extLst>
              <a:ext uri="{FF2B5EF4-FFF2-40B4-BE49-F238E27FC236}">
                <a16:creationId xmlns:a16="http://schemas.microsoft.com/office/drawing/2014/main" id="{4E1C1893-AB90-4458-A5F7-957881641DB7}"/>
              </a:ext>
            </a:extLst>
          </p:cNvPr>
          <p:cNvSpPr/>
          <p:nvPr/>
        </p:nvSpPr>
        <p:spPr>
          <a:xfrm>
            <a:off x="605806" y="1418160"/>
            <a:ext cx="5832648"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平均不变成本、平均可变成本、平均成本曲线</a:t>
            </a:r>
          </a:p>
        </p:txBody>
      </p:sp>
      <p:grpSp>
        <p:nvGrpSpPr>
          <p:cNvPr id="4" name="组合 20"/>
          <p:cNvGrpSpPr>
            <a:grpSpLocks/>
          </p:cNvGrpSpPr>
          <p:nvPr/>
        </p:nvGrpSpPr>
        <p:grpSpPr bwMode="auto">
          <a:xfrm>
            <a:off x="4932040" y="1556792"/>
            <a:ext cx="4968552" cy="4318067"/>
            <a:chOff x="0" y="0"/>
            <a:chExt cx="5824550" cy="5067297"/>
          </a:xfrm>
        </p:grpSpPr>
        <p:grpSp>
          <p:nvGrpSpPr>
            <p:cNvPr id="5" name="组合 19"/>
            <p:cNvGrpSpPr>
              <a:grpSpLocks/>
            </p:cNvGrpSpPr>
            <p:nvPr/>
          </p:nvGrpSpPr>
          <p:grpSpPr bwMode="auto">
            <a:xfrm>
              <a:off x="0" y="0"/>
              <a:ext cx="5824550" cy="5067297"/>
              <a:chOff x="0" y="0"/>
              <a:chExt cx="5824550" cy="5067297"/>
            </a:xfrm>
          </p:grpSpPr>
          <p:grpSp>
            <p:nvGrpSpPr>
              <p:cNvPr id="7" name="组合 4"/>
              <p:cNvGrpSpPr>
                <a:grpSpLocks/>
              </p:cNvGrpSpPr>
              <p:nvPr/>
            </p:nvGrpSpPr>
            <p:grpSpPr bwMode="auto">
              <a:xfrm>
                <a:off x="0" y="1854197"/>
                <a:ext cx="3857625" cy="3213100"/>
                <a:chOff x="0" y="0"/>
                <a:chExt cx="2072056" cy="2444508"/>
              </a:xfrm>
            </p:grpSpPr>
            <p:cxnSp>
              <p:nvCxnSpPr>
                <p:cNvPr id="15" name="直接箭头连接符 5"/>
                <p:cNvCxnSpPr>
                  <a:cxnSpLocks noChangeShapeType="1"/>
                </p:cNvCxnSpPr>
                <p:nvPr/>
              </p:nvCxnSpPr>
              <p:spPr bwMode="auto">
                <a:xfrm>
                  <a:off x="256662" y="2142568"/>
                  <a:ext cx="1815398" cy="31402"/>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16" name="直接箭头连接符 6"/>
                <p:cNvCxnSpPr>
                  <a:cxnSpLocks noChangeShapeType="1"/>
                </p:cNvCxnSpPr>
                <p:nvPr/>
              </p:nvCxnSpPr>
              <p:spPr bwMode="auto">
                <a:xfrm rot="5400000" flipH="1" flipV="1">
                  <a:off x="-813768" y="1070428"/>
                  <a:ext cx="2142566" cy="1705"/>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17" name="Object 8"/>
                <p:cNvGraphicFramePr>
                  <a:graphicFrameLocks noChangeAspect="1"/>
                </p:cNvGraphicFramePr>
                <p:nvPr/>
              </p:nvGraphicFramePr>
              <p:xfrm>
                <a:off x="0" y="2142557"/>
                <a:ext cx="154330" cy="188410"/>
              </p:xfrm>
              <a:graphic>
                <a:graphicData uri="http://schemas.openxmlformats.org/presentationml/2006/ole">
                  <mc:AlternateContent xmlns:mc="http://schemas.openxmlformats.org/markup-compatibility/2006">
                    <mc:Choice xmlns:v="urn:schemas-microsoft-com:vml" Requires="v">
                      <p:oleObj spid="_x0000_s100135" r:id="rId3" imgW="153248" imgH="178737" progId="">
                        <p:embed/>
                      </p:oleObj>
                    </mc:Choice>
                    <mc:Fallback>
                      <p:oleObj r:id="rId3" imgW="153248" imgH="178737" progId="">
                        <p:embed/>
                        <p:pic>
                          <p:nvPicPr>
                            <p:cNvPr id="56328"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142557"/>
                              <a:ext cx="154330" cy="1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9"/>
                <p:cNvGraphicFramePr>
                  <a:graphicFrameLocks noChangeAspect="1"/>
                </p:cNvGraphicFramePr>
                <p:nvPr/>
              </p:nvGraphicFramePr>
              <p:xfrm>
                <a:off x="29944" y="48312"/>
                <a:ext cx="153179" cy="188410"/>
              </p:xfrm>
              <a:graphic>
                <a:graphicData uri="http://schemas.openxmlformats.org/presentationml/2006/ole">
                  <mc:AlternateContent xmlns:mc="http://schemas.openxmlformats.org/markup-compatibility/2006">
                    <mc:Choice xmlns:v="urn:schemas-microsoft-com:vml" Requires="v">
                      <p:oleObj spid="_x0000_s100136" r:id="rId5" imgW="153248" imgH="178737" progId="">
                        <p:embed/>
                      </p:oleObj>
                    </mc:Choice>
                    <mc:Fallback>
                      <p:oleObj r:id="rId5" imgW="153248" imgH="178737" progId="">
                        <p:embed/>
                        <p:pic>
                          <p:nvPicPr>
                            <p:cNvPr id="56329"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44" y="48312"/>
                              <a:ext cx="153179" cy="1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10"/>
                <p:cNvGraphicFramePr>
                  <a:graphicFrameLocks noChangeAspect="1"/>
                </p:cNvGraphicFramePr>
                <p:nvPr/>
              </p:nvGraphicFramePr>
              <p:xfrm>
                <a:off x="1880199" y="2228321"/>
                <a:ext cx="154330" cy="216187"/>
              </p:xfrm>
              <a:graphic>
                <a:graphicData uri="http://schemas.openxmlformats.org/presentationml/2006/ole">
                  <mc:AlternateContent xmlns:mc="http://schemas.openxmlformats.org/markup-compatibility/2006">
                    <mc:Choice xmlns:v="urn:schemas-microsoft-com:vml" Requires="v">
                      <p:oleObj spid="_x0000_s100137" r:id="rId7" imgW="153381" imgH="204403" progId="">
                        <p:embed/>
                      </p:oleObj>
                    </mc:Choice>
                    <mc:Fallback>
                      <p:oleObj r:id="rId7" imgW="153381" imgH="204403" progId="">
                        <p:embed/>
                        <p:pic>
                          <p:nvPicPr>
                            <p:cNvPr id="5633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80199" y="2228321"/>
                              <a:ext cx="154330" cy="21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8" name="弧形 10"/>
              <p:cNvSpPr>
                <a:spLocks noChangeArrowheads="1"/>
              </p:cNvSpPr>
              <p:nvPr/>
            </p:nvSpPr>
            <p:spPr bwMode="auto">
              <a:xfrm rot="10634110">
                <a:off x="747714" y="0"/>
                <a:ext cx="5076836" cy="4479922"/>
              </a:xfrm>
              <a:custGeom>
                <a:avLst/>
                <a:gdLst>
                  <a:gd name="T0" fmla="*/ 2996665 w 5076836"/>
                  <a:gd name="T1" fmla="*/ 36802 h 4479922"/>
                  <a:gd name="T2" fmla="*/ 2538418 w 5076836"/>
                  <a:gd name="T3" fmla="*/ 2239961 h 4479922"/>
                  <a:gd name="T4" fmla="*/ 5076836 w 5076836"/>
                  <a:gd name="T5" fmla="*/ 2239961 h 4479922"/>
                  <a:gd name="T6" fmla="*/ 11796480 60000 65536"/>
                  <a:gd name="T7" fmla="*/ 11796480 60000 65536"/>
                  <a:gd name="T8" fmla="*/ 5898240 60000 65536"/>
                  <a:gd name="T9" fmla="*/ 2996665 w 5076836"/>
                  <a:gd name="T10" fmla="*/ 36802 h 4479922"/>
                  <a:gd name="T11" fmla="*/ 5076836 w 5076836"/>
                  <a:gd name="T12" fmla="*/ 2239961 h 4479922"/>
                </a:gdLst>
                <a:ahLst/>
                <a:cxnLst>
                  <a:cxn ang="T6">
                    <a:pos x="T0" y="T1"/>
                  </a:cxn>
                  <a:cxn ang="T7">
                    <a:pos x="T2" y="T3"/>
                  </a:cxn>
                  <a:cxn ang="T8">
                    <a:pos x="T4" y="T5"/>
                  </a:cxn>
                </a:cxnLst>
                <a:rect l="T9" t="T10" r="T11" b="T12"/>
                <a:pathLst>
                  <a:path w="5076836" h="4479922" stroke="0">
                    <a:moveTo>
                      <a:pt x="2996665" y="36802"/>
                    </a:moveTo>
                    <a:lnTo>
                      <a:pt x="2996665" y="36801"/>
                    </a:lnTo>
                    <a:cubicBezTo>
                      <a:pt x="4201723" y="231973"/>
                      <a:pt x="5076836" y="1158826"/>
                      <a:pt x="5076836" y="2239961"/>
                    </a:cubicBezTo>
                    <a:cubicBezTo>
                      <a:pt x="5076836" y="2239962"/>
                      <a:pt x="5076835" y="2239964"/>
                      <a:pt x="5076835" y="2239966"/>
                    </a:cubicBezTo>
                    <a:lnTo>
                      <a:pt x="2538418" y="2239961"/>
                    </a:lnTo>
                    <a:close/>
                  </a:path>
                  <a:path w="5076836" h="4479922" fill="none">
                    <a:moveTo>
                      <a:pt x="2996665" y="36802"/>
                    </a:moveTo>
                    <a:lnTo>
                      <a:pt x="2996665" y="36801"/>
                    </a:lnTo>
                    <a:cubicBezTo>
                      <a:pt x="4201723" y="231973"/>
                      <a:pt x="5076836" y="1158826"/>
                      <a:pt x="5076836" y="2239961"/>
                    </a:cubicBezTo>
                    <a:cubicBezTo>
                      <a:pt x="5076836" y="2239962"/>
                      <a:pt x="5076835" y="2239964"/>
                      <a:pt x="5076835" y="2239966"/>
                    </a:cubicBezTo>
                  </a:path>
                </a:pathLst>
              </a:custGeom>
              <a:noFill/>
              <a:ln w="38100" cmpd="sng">
                <a:solidFill>
                  <a:srgbClr val="00B0F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9" name="任意多边形 13"/>
              <p:cNvSpPr>
                <a:spLocks noChangeArrowheads="1"/>
              </p:cNvSpPr>
              <p:nvPr/>
            </p:nvSpPr>
            <p:spPr bwMode="auto">
              <a:xfrm rot="20465037">
                <a:off x="1328740" y="2528886"/>
                <a:ext cx="1843092" cy="1008062"/>
              </a:xfrm>
              <a:custGeom>
                <a:avLst/>
                <a:gdLst>
                  <a:gd name="T0" fmla="*/ 0 w 2228850"/>
                  <a:gd name="T1" fmla="*/ 0 h 1009650"/>
                  <a:gd name="T2" fmla="*/ 441082 w 2228850"/>
                  <a:gd name="T3" fmla="*/ 893942 h 1009650"/>
                  <a:gd name="T4" fmla="*/ 1843092 w 2228850"/>
                  <a:gd name="T5" fmla="*/ 684721 h 1009650"/>
                  <a:gd name="T6" fmla="*/ 0 60000 65536"/>
                  <a:gd name="T7" fmla="*/ 0 60000 65536"/>
                  <a:gd name="T8" fmla="*/ 0 60000 65536"/>
                  <a:gd name="T9" fmla="*/ 0 w 2228850"/>
                  <a:gd name="T10" fmla="*/ 0 h 1009650"/>
                  <a:gd name="T11" fmla="*/ 2228850 w 2228850"/>
                  <a:gd name="T12" fmla="*/ 1009650 h 1009650"/>
                </a:gdLst>
                <a:ahLst/>
                <a:cxnLst>
                  <a:cxn ang="T6">
                    <a:pos x="T0" y="T1"/>
                  </a:cxn>
                  <a:cxn ang="T7">
                    <a:pos x="T2" y="T3"/>
                  </a:cxn>
                  <a:cxn ang="T8">
                    <a:pos x="T4" y="T5"/>
                  </a:cxn>
                </a:cxnLst>
                <a:rect l="T9" t="T10" r="T11" b="T12"/>
                <a:pathLst>
                  <a:path w="2228850" h="1009650">
                    <a:moveTo>
                      <a:pt x="0" y="0"/>
                    </a:moveTo>
                    <a:cubicBezTo>
                      <a:pt x="80962" y="390525"/>
                      <a:pt x="161925" y="781050"/>
                      <a:pt x="533400" y="895350"/>
                    </a:cubicBezTo>
                    <a:cubicBezTo>
                      <a:pt x="904875" y="1009650"/>
                      <a:pt x="1566862" y="847725"/>
                      <a:pt x="2228850" y="685800"/>
                    </a:cubicBezTo>
                  </a:path>
                </a:pathLst>
              </a:custGeom>
              <a:noFill/>
              <a:ln w="38100" cmpd="sng">
                <a:solidFill>
                  <a:srgbClr val="8CC705"/>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0" name="任意多边形 14"/>
              <p:cNvSpPr>
                <a:spLocks noChangeArrowheads="1"/>
              </p:cNvSpPr>
              <p:nvPr/>
            </p:nvSpPr>
            <p:spPr bwMode="auto">
              <a:xfrm rot="19742933">
                <a:off x="1549403" y="1865311"/>
                <a:ext cx="1473203" cy="1152524"/>
              </a:xfrm>
              <a:custGeom>
                <a:avLst/>
                <a:gdLst>
                  <a:gd name="T0" fmla="*/ 0 w 1409700"/>
                  <a:gd name="T1" fmla="*/ 0 h 863600"/>
                  <a:gd name="T2" fmla="*/ 338439 w 1409700"/>
                  <a:gd name="T3" fmla="*/ 966086 h 863600"/>
                  <a:gd name="T4" fmla="*/ 1473203 w 1409700"/>
                  <a:gd name="T5" fmla="*/ 1118626 h 863600"/>
                  <a:gd name="T6" fmla="*/ 1473203 w 1409700"/>
                  <a:gd name="T7" fmla="*/ 1118626 h 863600"/>
                  <a:gd name="T8" fmla="*/ 0 60000 65536"/>
                  <a:gd name="T9" fmla="*/ 0 60000 65536"/>
                  <a:gd name="T10" fmla="*/ 0 60000 65536"/>
                  <a:gd name="T11" fmla="*/ 0 60000 65536"/>
                  <a:gd name="T12" fmla="*/ 0 w 1409700"/>
                  <a:gd name="T13" fmla="*/ 0 h 863600"/>
                  <a:gd name="T14" fmla="*/ 1409700 w 1409700"/>
                  <a:gd name="T15" fmla="*/ 863600 h 863600"/>
                </a:gdLst>
                <a:ahLst/>
                <a:cxnLst>
                  <a:cxn ang="T8">
                    <a:pos x="T0" y="T1"/>
                  </a:cxn>
                  <a:cxn ang="T9">
                    <a:pos x="T2" y="T3"/>
                  </a:cxn>
                  <a:cxn ang="T10">
                    <a:pos x="T4" y="T5"/>
                  </a:cxn>
                  <a:cxn ang="T11">
                    <a:pos x="T6" y="T7"/>
                  </a:cxn>
                </a:cxnLst>
                <a:rect l="T12" t="T13" r="T14" b="T15"/>
                <a:pathLst>
                  <a:path w="1409700" h="863600">
                    <a:moveTo>
                      <a:pt x="0" y="0"/>
                    </a:moveTo>
                    <a:cubicBezTo>
                      <a:pt x="44450" y="292100"/>
                      <a:pt x="88900" y="584200"/>
                      <a:pt x="323850" y="723900"/>
                    </a:cubicBezTo>
                    <a:cubicBezTo>
                      <a:pt x="558800" y="863600"/>
                      <a:pt x="1409700" y="838200"/>
                      <a:pt x="1409700" y="83820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11" name="直接连接符 18"/>
              <p:cNvCxnSpPr>
                <a:cxnSpLocks noChangeShapeType="1"/>
              </p:cNvCxnSpPr>
              <p:nvPr/>
            </p:nvCxnSpPr>
            <p:spPr bwMode="auto">
              <a:xfrm>
                <a:off x="2158254" y="2994129"/>
                <a:ext cx="2139" cy="1676279"/>
              </a:xfrm>
              <a:prstGeom prst="line">
                <a:avLst/>
              </a:prstGeom>
              <a:noFill/>
              <a:ln w="12700" cmpd="sng">
                <a:solidFill>
                  <a:schemeClr val="tx1"/>
                </a:solidFill>
                <a:prstDash val="lgDash"/>
                <a:round/>
                <a:headEnd/>
                <a:tailEnd/>
              </a:ln>
              <a:extLst>
                <a:ext uri="{909E8E84-426E-40DD-AFC4-6F175D3DCCD1}">
                  <a14:hiddenFill xmlns:a14="http://schemas.microsoft.com/office/drawing/2010/main">
                    <a:noFill/>
                  </a14:hiddenFill>
                </a:ext>
              </a:extLst>
            </p:spPr>
          </p:cxnSp>
          <p:graphicFrame>
            <p:nvGraphicFramePr>
              <p:cNvPr id="12" name="Object 15"/>
              <p:cNvGraphicFramePr>
                <a:graphicFrameLocks noChangeAspect="1"/>
              </p:cNvGraphicFramePr>
              <p:nvPr/>
            </p:nvGraphicFramePr>
            <p:xfrm>
              <a:off x="3214700" y="2282825"/>
              <a:ext cx="373063" cy="249237"/>
            </p:xfrm>
            <a:graphic>
              <a:graphicData uri="http://schemas.openxmlformats.org/presentationml/2006/ole">
                <mc:AlternateContent xmlns:mc="http://schemas.openxmlformats.org/markup-compatibility/2006">
                  <mc:Choice xmlns:v="urn:schemas-microsoft-com:vml" Requires="v">
                    <p:oleObj spid="_x0000_s100138" r:id="rId9" imgW="267597" imgH="178504" progId="">
                      <p:embed/>
                    </p:oleObj>
                  </mc:Choice>
                  <mc:Fallback>
                    <p:oleObj r:id="rId9" imgW="267597" imgH="178504" progId="">
                      <p:embed/>
                      <p:pic>
                        <p:nvPicPr>
                          <p:cNvPr id="56335"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14700" y="2282825"/>
                            <a:ext cx="373063" cy="24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16"/>
              <p:cNvGraphicFramePr>
                <a:graphicFrameLocks noChangeAspect="1"/>
              </p:cNvGraphicFramePr>
              <p:nvPr/>
            </p:nvGraphicFramePr>
            <p:xfrm>
              <a:off x="3214700" y="2854325"/>
              <a:ext cx="498475" cy="249237"/>
            </p:xfrm>
            <a:graphic>
              <a:graphicData uri="http://schemas.openxmlformats.org/presentationml/2006/ole">
                <mc:AlternateContent xmlns:mc="http://schemas.openxmlformats.org/markup-compatibility/2006">
                  <mc:Choice xmlns:v="urn:schemas-microsoft-com:vml" Requires="v">
                    <p:oleObj spid="_x0000_s100139" r:id="rId11" imgW="356226" imgH="178271" progId="">
                      <p:embed/>
                    </p:oleObj>
                  </mc:Choice>
                  <mc:Fallback>
                    <p:oleObj r:id="rId11" imgW="356226" imgH="178271" progId="">
                      <p:embed/>
                      <p:pic>
                        <p:nvPicPr>
                          <p:cNvPr id="56336"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14700" y="2854325"/>
                            <a:ext cx="498475" cy="24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17"/>
              <p:cNvGraphicFramePr>
                <a:graphicFrameLocks noChangeAspect="1"/>
              </p:cNvGraphicFramePr>
              <p:nvPr/>
            </p:nvGraphicFramePr>
            <p:xfrm>
              <a:off x="1500200" y="3068637"/>
              <a:ext cx="498475" cy="249238"/>
            </p:xfrm>
            <a:graphic>
              <a:graphicData uri="http://schemas.openxmlformats.org/presentationml/2006/ole">
                <mc:AlternateContent xmlns:mc="http://schemas.openxmlformats.org/markup-compatibility/2006">
                  <mc:Choice xmlns:v="urn:schemas-microsoft-com:vml" Requires="v">
                    <p:oleObj spid="_x0000_s100140" r:id="rId13" imgW="356226" imgH="178271" progId="">
                      <p:embed/>
                    </p:oleObj>
                  </mc:Choice>
                  <mc:Fallback>
                    <p:oleObj r:id="rId13" imgW="356226" imgH="178271" progId="">
                      <p:embed/>
                      <p:pic>
                        <p:nvPicPr>
                          <p:cNvPr id="56337"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00200" y="3068637"/>
                            <a:ext cx="498475"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6" name="Object 18"/>
            <p:cNvGraphicFramePr>
              <a:graphicFrameLocks noChangeAspect="1"/>
            </p:cNvGraphicFramePr>
            <p:nvPr/>
          </p:nvGraphicFramePr>
          <p:xfrm>
            <a:off x="2928950" y="4354512"/>
            <a:ext cx="498475" cy="249238"/>
          </p:xfrm>
          <a:graphic>
            <a:graphicData uri="http://schemas.openxmlformats.org/presentationml/2006/ole">
              <mc:AlternateContent xmlns:mc="http://schemas.openxmlformats.org/markup-compatibility/2006">
                <mc:Choice xmlns:v="urn:schemas-microsoft-com:vml" Requires="v">
                  <p:oleObj spid="_x0000_s100141" r:id="rId15" imgW="356226" imgH="178271" progId="">
                    <p:embed/>
                  </p:oleObj>
                </mc:Choice>
                <mc:Fallback>
                  <p:oleObj r:id="rId15" imgW="356226" imgH="178271" progId="">
                    <p:embed/>
                    <p:pic>
                      <p:nvPicPr>
                        <p:cNvPr id="56338"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28950" y="4354512"/>
                          <a:ext cx="498475"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1" name="矩形 20"/>
          <p:cNvSpPr/>
          <p:nvPr/>
        </p:nvSpPr>
        <p:spPr>
          <a:xfrm>
            <a:off x="552339" y="2348880"/>
            <a:ext cx="4019661" cy="1200329"/>
          </a:xfrm>
          <a:prstGeom prst="rect">
            <a:avLst/>
          </a:prstGeom>
        </p:spPr>
        <p:txBody>
          <a:bodyPr wrap="square">
            <a:spAutoFit/>
          </a:bodyPr>
          <a:lstStyle/>
          <a:p>
            <a:pPr marL="342900" indent="-34290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随着产量的逐渐增加，平均不变成本曲线AFC递减，平均可变成本曲线AVC以及平均成本曲线AC则都呈现出先递减后增加的U形形状</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22" name="矩形 21"/>
          <p:cNvSpPr/>
          <p:nvPr/>
        </p:nvSpPr>
        <p:spPr>
          <a:xfrm>
            <a:off x="457216" y="4453104"/>
            <a:ext cx="4124518" cy="369332"/>
          </a:xfrm>
          <a:prstGeom prst="rect">
            <a:avLst/>
          </a:prstGeom>
        </p:spPr>
        <p:txBody>
          <a:bodyPr wrap="square">
            <a:spAutoFit/>
          </a:bodyPr>
          <a:lstStyle/>
          <a:p>
            <a:pPr marL="342900" indent="-34290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AFC持续递减</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23" name="矩形 22"/>
          <p:cNvSpPr/>
          <p:nvPr/>
        </p:nvSpPr>
        <p:spPr>
          <a:xfrm>
            <a:off x="415884" y="5099047"/>
            <a:ext cx="3142014" cy="369332"/>
          </a:xfrm>
          <a:prstGeom prst="rect">
            <a:avLst/>
          </a:prstGeom>
        </p:spPr>
        <p:txBody>
          <a:bodyPr wrap="none">
            <a:spAutoFit/>
          </a:bodyPr>
          <a:lstStyle/>
          <a:p>
            <a:pPr marL="342900" indent="-34290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AVC先于AC达到最低点</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24" name="矩形 23">
            <a:extLst>
              <a:ext uri="{FF2B5EF4-FFF2-40B4-BE49-F238E27FC236}">
                <a16:creationId xmlns:a16="http://schemas.microsoft.com/office/drawing/2014/main" id="{D02C1391-8836-402B-8F63-4377AC3E3177}"/>
              </a:ext>
            </a:extLst>
          </p:cNvPr>
          <p:cNvSpPr/>
          <p:nvPr/>
        </p:nvSpPr>
        <p:spPr>
          <a:xfrm>
            <a:off x="580922" y="520573"/>
            <a:ext cx="2910958"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三、短期成本曲线</a:t>
            </a:r>
          </a:p>
        </p:txBody>
      </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4EA5BAF0-A443-40B6-9035-0F97EBB6EE09}"/>
                  </a:ext>
                </a:extLst>
              </p:cNvPr>
              <p:cNvSpPr txBox="1"/>
              <p:nvPr/>
            </p:nvSpPr>
            <p:spPr>
              <a:xfrm>
                <a:off x="959857" y="3714041"/>
                <a:ext cx="2827330" cy="427233"/>
              </a:xfrm>
              <a:prstGeom prst="rect">
                <a:avLst/>
              </a:prstGeom>
              <a:noFill/>
            </p:spPr>
            <p:txBody>
              <a:bodyPr wrap="square" lIns="0" tIns="0" rIns="0" bIns="0" rtlCol="0">
                <a:spAutoFit/>
              </a:bodyPr>
              <a:lstStyle/>
              <a:p>
                <a14:m>
                  <m:oMath xmlns:m="http://schemas.openxmlformats.org/officeDocument/2006/math">
                    <m:r>
                      <a:rPr lang="en-US" i="1" smtClean="0">
                        <a:solidFill>
                          <a:schemeClr val="tx1"/>
                        </a:solidFill>
                        <a:latin typeface="Cambria Math" panose="02040503050406030204" pitchFamily="18" charset="0"/>
                      </a:rPr>
                      <m:t>𝐴</m:t>
                    </m:r>
                    <m:r>
                      <a:rPr lang="en-US" b="0" i="1" smtClean="0">
                        <a:solidFill>
                          <a:schemeClr val="tx1"/>
                        </a:solidFill>
                        <a:latin typeface="Cambria Math" panose="02040503050406030204" pitchFamily="18" charset="0"/>
                      </a:rPr>
                      <m:t>𝑉</m:t>
                    </m:r>
                    <m:r>
                      <a:rPr lang="en-US" i="1" smtClean="0">
                        <a:solidFill>
                          <a:schemeClr val="tx1"/>
                        </a:solidFill>
                        <a:latin typeface="Cambria Math" panose="02040503050406030204" pitchFamily="18" charset="0"/>
                      </a:rPr>
                      <m:t>𝐶</m:t>
                    </m:r>
                    <m:r>
                      <a:rPr lang="en-US" i="1" smtClean="0">
                        <a:solidFill>
                          <a:schemeClr val="tx1"/>
                        </a:solidFill>
                        <a:latin typeface="Cambria Math" panose="02040503050406030204" pitchFamily="18" charset="0"/>
                      </a:rPr>
                      <m:t>=</m:t>
                    </m:r>
                    <m:f>
                      <m:fPr>
                        <m:ctrlPr>
                          <a:rPr lang="en-US" i="1" smtClean="0">
                            <a:solidFill>
                              <a:schemeClr val="tx1"/>
                            </a:solidFill>
                            <a:latin typeface="Cambria Math" panose="02040503050406030204" pitchFamily="18" charset="0"/>
                          </a:rPr>
                        </m:ctrlPr>
                      </m:fPr>
                      <m:num>
                        <m:r>
                          <a:rPr lang="en-US" b="0" i="1" smtClean="0">
                            <a:solidFill>
                              <a:schemeClr val="tx1"/>
                            </a:solidFill>
                            <a:latin typeface="Cambria Math" panose="02040503050406030204" pitchFamily="18" charset="0"/>
                          </a:rPr>
                          <m:t>𝑉</m:t>
                        </m:r>
                        <m:r>
                          <a:rPr lang="en-US" i="1" smtClean="0">
                            <a:solidFill>
                              <a:schemeClr val="tx1"/>
                            </a:solidFill>
                            <a:latin typeface="Cambria Math" panose="02040503050406030204" pitchFamily="18" charset="0"/>
                          </a:rPr>
                          <m:t>𝐶</m:t>
                        </m:r>
                      </m:num>
                      <m:den>
                        <m:r>
                          <a:rPr lang="en-US" i="1" smtClean="0">
                            <a:solidFill>
                              <a:schemeClr val="tx1"/>
                            </a:solidFill>
                            <a:latin typeface="Cambria Math" panose="02040503050406030204" pitchFamily="18" charset="0"/>
                          </a:rPr>
                          <m:t>𝑄</m:t>
                        </m:r>
                      </m:den>
                    </m:f>
                  </m:oMath>
                </a14:m>
                <a:r>
                  <a:rPr lang="en-US" altLang="zh-CN" dirty="0"/>
                  <a:t> </a:t>
                </a:r>
                <a14:m>
                  <m:oMath xmlns:m="http://schemas.openxmlformats.org/officeDocument/2006/math">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𝑊𝐿</m:t>
                        </m:r>
                      </m:num>
                      <m:den>
                        <m:r>
                          <a:rPr lang="en-US" altLang="zh-CN" i="1">
                            <a:latin typeface="Cambria Math" panose="02040503050406030204" pitchFamily="18" charset="0"/>
                          </a:rPr>
                          <m:t>𝑄</m:t>
                        </m:r>
                      </m:den>
                    </m:f>
                  </m:oMath>
                </a14:m>
                <a:r>
                  <a:rPr lang="en-US" altLang="zh-CN" dirty="0"/>
                  <a:t> </a:t>
                </a:r>
                <a14:m>
                  <m:oMath xmlns:m="http://schemas.openxmlformats.org/officeDocument/2006/math">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𝑊</m:t>
                        </m:r>
                      </m:num>
                      <m:den>
                        <m:r>
                          <a:rPr lang="en-US" altLang="zh-CN" i="1">
                            <a:latin typeface="Cambria Math" panose="02040503050406030204" pitchFamily="18" charset="0"/>
                          </a:rPr>
                          <m:t>𝑄</m:t>
                        </m:r>
                        <m:r>
                          <a:rPr lang="en-US" altLang="zh-CN" b="0" i="1" smtClean="0">
                            <a:latin typeface="Cambria Math" panose="02040503050406030204" pitchFamily="18" charset="0"/>
                          </a:rPr>
                          <m:t>/</m:t>
                        </m:r>
                        <m:r>
                          <a:rPr lang="en-US" altLang="zh-CN" b="0" i="1" smtClean="0">
                            <a:latin typeface="Cambria Math" panose="02040503050406030204" pitchFamily="18" charset="0"/>
                          </a:rPr>
                          <m:t>𝐿</m:t>
                        </m:r>
                      </m:den>
                    </m:f>
                  </m:oMath>
                </a14:m>
                <a:r>
                  <a:rPr lang="en-US" altLang="zh-CN" dirty="0"/>
                  <a:t> </a:t>
                </a:r>
                <a14:m>
                  <m:oMath xmlns:m="http://schemas.openxmlformats.org/officeDocument/2006/math">
                    <m:r>
                      <a:rPr lang="en-US" altLang="zh-CN" i="1">
                        <a:latin typeface="Cambria Math" panose="02040503050406030204" pitchFamily="18" charset="0"/>
                      </a:rPr>
                      <m:t>=</m:t>
                    </m:r>
                    <m:f>
                      <m:fPr>
                        <m:ctrlPr>
                          <a:rPr lang="en-US" altLang="zh-CN" i="1">
                            <a:latin typeface="Cambria Math" panose="02040503050406030204" pitchFamily="18" charset="0"/>
                          </a:rPr>
                        </m:ctrlPr>
                      </m:fPr>
                      <m:num>
                        <m:r>
                          <a:rPr lang="en-US" altLang="zh-CN" b="0" i="1" smtClean="0">
                            <a:latin typeface="Cambria Math" panose="02040503050406030204" pitchFamily="18" charset="0"/>
                          </a:rPr>
                          <m:t>𝑊</m:t>
                        </m:r>
                      </m:num>
                      <m:den>
                        <m:r>
                          <a:rPr lang="en-US" altLang="zh-CN" b="0" i="1" smtClean="0">
                            <a:latin typeface="Cambria Math" panose="02040503050406030204" pitchFamily="18" charset="0"/>
                          </a:rPr>
                          <m:t>𝐴𝑃</m:t>
                        </m:r>
                      </m:den>
                    </m:f>
                  </m:oMath>
                </a14:m>
                <a:endParaRPr lang="en-US" dirty="0">
                  <a:solidFill>
                    <a:schemeClr val="tx1"/>
                  </a:solidFill>
                </a:endParaRPr>
              </a:p>
            </p:txBody>
          </p:sp>
        </mc:Choice>
        <mc:Fallback xmlns="">
          <p:sp>
            <p:nvSpPr>
              <p:cNvPr id="26" name="文本框 25">
                <a:extLst>
                  <a:ext uri="{FF2B5EF4-FFF2-40B4-BE49-F238E27FC236}">
                    <a16:creationId xmlns:a16="http://schemas.microsoft.com/office/drawing/2014/main" id="{4EA5BAF0-A443-40B6-9035-0F97EBB6EE09}"/>
                  </a:ext>
                </a:extLst>
              </p:cNvPr>
              <p:cNvSpPr txBox="1">
                <a:spLocks noRot="1" noChangeAspect="1" noMove="1" noResize="1" noEditPoints="1" noAdjustHandles="1" noChangeArrowheads="1" noChangeShapeType="1" noTextEdit="1"/>
              </p:cNvSpPr>
              <p:nvPr/>
            </p:nvSpPr>
            <p:spPr>
              <a:xfrm>
                <a:off x="959857" y="3714041"/>
                <a:ext cx="2827330" cy="427233"/>
              </a:xfrm>
              <a:prstGeom prst="rect">
                <a:avLst/>
              </a:prstGeom>
              <a:blipFill>
                <a:blip r:embed="rId16"/>
                <a:stretch>
                  <a:fillRect l="-2802" b="-20000"/>
                </a:stretch>
              </a:blipFill>
            </p:spPr>
            <p:txBody>
              <a:bodyPr/>
              <a:lstStyle/>
              <a:p>
                <a:r>
                  <a:rPr lang="zh-CN" altLang="en-US">
                    <a:noFill/>
                  </a:rPr>
                  <a:t> </a:t>
                </a:r>
              </a:p>
            </p:txBody>
          </p:sp>
        </mc:Fallback>
      </mc:AlternateContent>
      <p:sp>
        <p:nvSpPr>
          <p:cNvPr id="27" name="标注: 线形 26">
            <a:extLst>
              <a:ext uri="{FF2B5EF4-FFF2-40B4-BE49-F238E27FC236}">
                <a16:creationId xmlns:a16="http://schemas.microsoft.com/office/drawing/2014/main" id="{E61859ED-1192-43B9-BF98-F7A616A61DA4}"/>
              </a:ext>
            </a:extLst>
          </p:cNvPr>
          <p:cNvSpPr/>
          <p:nvPr/>
        </p:nvSpPr>
        <p:spPr bwMode="auto">
          <a:xfrm>
            <a:off x="6344017" y="2243105"/>
            <a:ext cx="2404447" cy="1065691"/>
          </a:xfrm>
          <a:prstGeom prst="borderCallout1">
            <a:avLst>
              <a:gd name="adj1" fmla="val 51977"/>
              <a:gd name="adj2" fmla="val -5328"/>
              <a:gd name="adj3" fmla="val 93573"/>
              <a:gd name="adj4" fmla="val -8315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lang="zh-CN" altLang="en-US" sz="1600" dirty="0"/>
              <a:t>回忆前面，由于边际报酬递减规律，随着劳动投入增加，平均产量线是先上升后下降的倒</a:t>
            </a:r>
            <a:r>
              <a:rPr lang="en-US" altLang="zh-CN" sz="1600" dirty="0"/>
              <a:t>U</a:t>
            </a:r>
            <a:r>
              <a:rPr lang="zh-CN" altLang="en-US" sz="1600" dirty="0"/>
              <a:t>型</a:t>
            </a:r>
            <a:endParaRPr kumimoji="0" lang="zh-CN" altLang="en-US" sz="16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cxnSp>
        <p:nvCxnSpPr>
          <p:cNvPr id="29" name="直接连接符 28">
            <a:extLst>
              <a:ext uri="{FF2B5EF4-FFF2-40B4-BE49-F238E27FC236}">
                <a16:creationId xmlns:a16="http://schemas.microsoft.com/office/drawing/2014/main" id="{67561466-8E1B-4568-8E59-12632A1237A7}"/>
              </a:ext>
            </a:extLst>
          </p:cNvPr>
          <p:cNvCxnSpPr>
            <a:stCxn id="9" idx="1"/>
          </p:cNvCxnSpPr>
          <p:nvPr/>
        </p:nvCxnSpPr>
        <p:spPr bwMode="auto">
          <a:xfrm>
            <a:off x="6509617" y="4608435"/>
            <a:ext cx="6599" cy="928217"/>
          </a:xfrm>
          <a:prstGeom prst="line">
            <a:avLst/>
          </a:prstGeom>
          <a:solidFill>
            <a:schemeClr val="accent1"/>
          </a:solidFill>
          <a:ln w="12700" cap="flat" cmpd="sng" algn="ctr">
            <a:solidFill>
              <a:schemeClr val="tx1"/>
            </a:solidFill>
            <a:prstDash val="lg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pic>
        <p:nvPicPr>
          <p:cNvPr id="31" name="图片 30">
            <a:extLst>
              <a:ext uri="{FF2B5EF4-FFF2-40B4-BE49-F238E27FC236}">
                <a16:creationId xmlns:a16="http://schemas.microsoft.com/office/drawing/2014/main" id="{16FCB7AB-14F4-4484-83F0-8CDD50284EEC}"/>
              </a:ext>
            </a:extLst>
          </p:cNvPr>
          <p:cNvPicPr>
            <a:picLocks noChangeAspect="1"/>
          </p:cNvPicPr>
          <p:nvPr/>
        </p:nvPicPr>
        <p:blipFill>
          <a:blip r:embed="rId17"/>
          <a:stretch>
            <a:fillRect/>
          </a:stretch>
        </p:blipFill>
        <p:spPr>
          <a:xfrm>
            <a:off x="6534797" y="417891"/>
            <a:ext cx="2069651" cy="1714964"/>
          </a:xfrm>
          <a:prstGeom prst="rect">
            <a:avLst/>
          </a:prstGeom>
        </p:spPr>
      </p:pic>
    </p:spTree>
    <p:extLst>
      <p:ext uri="{BB962C8B-B14F-4D97-AF65-F5344CB8AC3E}">
        <p14:creationId xmlns:p14="http://schemas.microsoft.com/office/powerpoint/2010/main" val="62299801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500" fill="hold"/>
                                        <p:tgtEl>
                                          <p:spTgt spid="24"/>
                                        </p:tgtEl>
                                        <p:attrNameLst>
                                          <p:attrName>ppt_w</p:attrName>
                                        </p:attrNameLst>
                                      </p:cBhvr>
                                      <p:tavLst>
                                        <p:tav tm="0">
                                          <p:val>
                                            <p:fltVal val="0"/>
                                          </p:val>
                                        </p:tav>
                                        <p:tav tm="100000">
                                          <p:val>
                                            <p:strVal val="#ppt_w"/>
                                          </p:val>
                                        </p:tav>
                                      </p:tavLst>
                                    </p:anim>
                                    <p:anim calcmode="lin" valueType="num">
                                      <p:cBhvr>
                                        <p:cTn id="8" dur="500" fill="hold"/>
                                        <p:tgtEl>
                                          <p:spTgt spid="24"/>
                                        </p:tgtEl>
                                        <p:attrNameLst>
                                          <p:attrName>ppt_h</p:attrName>
                                        </p:attrNameLst>
                                      </p:cBhvr>
                                      <p:tavLst>
                                        <p:tav tm="0">
                                          <p:val>
                                            <p:fltVal val="0"/>
                                          </p:val>
                                        </p:tav>
                                        <p:tav tm="100000">
                                          <p:val>
                                            <p:strVal val="#ppt_h"/>
                                          </p:val>
                                        </p:tav>
                                      </p:tavLst>
                                    </p:anim>
                                    <p:animEffect transition="in" filter="fade">
                                      <p:cBhvr>
                                        <p:cTn id="9" dur="500"/>
                                        <p:tgtEl>
                                          <p:spTgt spid="2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fltVal val="0"/>
                                          </p:val>
                                        </p:tav>
                                        <p:tav tm="100000">
                                          <p:val>
                                            <p:strVal val="#ppt_w"/>
                                          </p:val>
                                        </p:tav>
                                      </p:tavLst>
                                    </p:anim>
                                    <p:anim calcmode="lin" valueType="num">
                                      <p:cBhvr>
                                        <p:cTn id="15" dur="500" fill="hold"/>
                                        <p:tgtEl>
                                          <p:spTgt spid="25"/>
                                        </p:tgtEl>
                                        <p:attrNameLst>
                                          <p:attrName>ppt_h</p:attrName>
                                        </p:attrNameLst>
                                      </p:cBhvr>
                                      <p:tavLst>
                                        <p:tav tm="0">
                                          <p:val>
                                            <p:fltVal val="0"/>
                                          </p:val>
                                        </p:tav>
                                        <p:tav tm="100000">
                                          <p:val>
                                            <p:strVal val="#ppt_h"/>
                                          </p:val>
                                        </p:tav>
                                      </p:tavLst>
                                    </p:anim>
                                    <p:animEffect transition="in" filter="fade">
                                      <p:cBhvr>
                                        <p:cTn id="16" dur="500"/>
                                        <p:tgtEl>
                                          <p:spTgt spid="25"/>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wipe(down)">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down)">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wipe(down)">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23">
                                            <p:txEl>
                                              <p:pRg st="0" end="0"/>
                                            </p:txEl>
                                          </p:spTgt>
                                        </p:tgtEl>
                                        <p:attrNameLst>
                                          <p:attrName>style.visibility</p:attrName>
                                        </p:attrNameLst>
                                      </p:cBhvr>
                                      <p:to>
                                        <p:strVal val="visible"/>
                                      </p:to>
                                    </p:set>
                                    <p:animEffect transition="in" filter="wipe(down)">
                                      <p:cBhvr>
                                        <p:cTn id="41" dur="500"/>
                                        <p:tgtEl>
                                          <p:spTgt spid="23">
                                            <p:txEl>
                                              <p:pRg st="0" end="0"/>
                                            </p:txEl>
                                          </p:spTgt>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ipe(up)">
                                      <p:cBhvr>
                                        <p:cTn id="44"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 grpId="0"/>
      <p:bldP spid="21" grpId="0"/>
      <p:bldP spid="22" grpId="0"/>
      <p:bldP spid="24" grpId="0" animBg="1"/>
      <p:bldP spid="2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圆角 14">
            <a:extLst>
              <a:ext uri="{FF2B5EF4-FFF2-40B4-BE49-F238E27FC236}">
                <a16:creationId xmlns:a16="http://schemas.microsoft.com/office/drawing/2014/main" id="{C2E6E0E7-BB02-47F5-9C77-C77E1076A25C}"/>
              </a:ext>
            </a:extLst>
          </p:cNvPr>
          <p:cNvSpPr/>
          <p:nvPr/>
        </p:nvSpPr>
        <p:spPr>
          <a:xfrm>
            <a:off x="721635" y="1286699"/>
            <a:ext cx="2141127"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sp>
        <p:nvSpPr>
          <p:cNvPr id="3" name="矩形 2">
            <a:extLst>
              <a:ext uri="{FF2B5EF4-FFF2-40B4-BE49-F238E27FC236}">
                <a16:creationId xmlns:a16="http://schemas.microsoft.com/office/drawing/2014/main" id="{4E1C1893-AB90-4458-A5F7-957881641DB7}"/>
              </a:ext>
            </a:extLst>
          </p:cNvPr>
          <p:cNvSpPr/>
          <p:nvPr/>
        </p:nvSpPr>
        <p:spPr>
          <a:xfrm>
            <a:off x="721635" y="1318657"/>
            <a:ext cx="2141127"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边际成本曲线</a:t>
            </a:r>
          </a:p>
        </p:txBody>
      </p:sp>
      <p:grpSp>
        <p:nvGrpSpPr>
          <p:cNvPr id="4" name="组合 14"/>
          <p:cNvGrpSpPr>
            <a:grpSpLocks/>
          </p:cNvGrpSpPr>
          <p:nvPr/>
        </p:nvGrpSpPr>
        <p:grpSpPr bwMode="auto">
          <a:xfrm>
            <a:off x="4731419" y="2571678"/>
            <a:ext cx="3857625" cy="3518493"/>
            <a:chOff x="0" y="78785"/>
            <a:chExt cx="3857651" cy="3518652"/>
          </a:xfrm>
        </p:grpSpPr>
        <p:grpSp>
          <p:nvGrpSpPr>
            <p:cNvPr id="5" name="组合 4"/>
            <p:cNvGrpSpPr>
              <a:grpSpLocks/>
            </p:cNvGrpSpPr>
            <p:nvPr/>
          </p:nvGrpSpPr>
          <p:grpSpPr bwMode="auto">
            <a:xfrm>
              <a:off x="0" y="384317"/>
              <a:ext cx="3857651" cy="3213120"/>
              <a:chOff x="0" y="0"/>
              <a:chExt cx="2072056" cy="2444508"/>
            </a:xfrm>
          </p:grpSpPr>
          <p:cxnSp>
            <p:nvCxnSpPr>
              <p:cNvPr id="8" name="直接箭头连接符 5"/>
              <p:cNvCxnSpPr>
                <a:cxnSpLocks noChangeShapeType="1"/>
              </p:cNvCxnSpPr>
              <p:nvPr/>
            </p:nvCxnSpPr>
            <p:spPr bwMode="auto">
              <a:xfrm>
                <a:off x="256662" y="2142556"/>
                <a:ext cx="1815394" cy="31403"/>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9" name="直接箭头连接符 6"/>
              <p:cNvCxnSpPr>
                <a:cxnSpLocks noChangeShapeType="1"/>
              </p:cNvCxnSpPr>
              <p:nvPr/>
            </p:nvCxnSpPr>
            <p:spPr bwMode="auto">
              <a:xfrm rot="5400000" flipH="1" flipV="1">
                <a:off x="-813815" y="1070378"/>
                <a:ext cx="2142651" cy="1705"/>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10" name="Object 7"/>
              <p:cNvGraphicFramePr>
                <a:graphicFrameLocks noChangeAspect="1"/>
              </p:cNvGraphicFramePr>
              <p:nvPr/>
            </p:nvGraphicFramePr>
            <p:xfrm>
              <a:off x="0" y="2142557"/>
              <a:ext cx="154330" cy="188410"/>
            </p:xfrm>
            <a:graphic>
              <a:graphicData uri="http://schemas.openxmlformats.org/presentationml/2006/ole">
                <mc:AlternateContent xmlns:mc="http://schemas.openxmlformats.org/markup-compatibility/2006">
                  <mc:Choice xmlns:v="urn:schemas-microsoft-com:vml" Requires="v">
                    <p:oleObj spid="_x0000_s100814" r:id="rId3" imgW="153248" imgH="178737" progId="">
                      <p:embed/>
                    </p:oleObj>
                  </mc:Choice>
                  <mc:Fallback>
                    <p:oleObj r:id="rId3" imgW="153248" imgH="178737" progId="">
                      <p:embed/>
                      <p:pic>
                        <p:nvPicPr>
                          <p:cNvPr id="57351"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142557"/>
                            <a:ext cx="154330" cy="1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8"/>
              <p:cNvGraphicFramePr>
                <a:graphicFrameLocks noChangeAspect="1"/>
              </p:cNvGraphicFramePr>
              <p:nvPr/>
            </p:nvGraphicFramePr>
            <p:xfrm>
              <a:off x="29944" y="48312"/>
              <a:ext cx="153179" cy="188410"/>
            </p:xfrm>
            <a:graphic>
              <a:graphicData uri="http://schemas.openxmlformats.org/presentationml/2006/ole">
                <mc:AlternateContent xmlns:mc="http://schemas.openxmlformats.org/markup-compatibility/2006">
                  <mc:Choice xmlns:v="urn:schemas-microsoft-com:vml" Requires="v">
                    <p:oleObj spid="_x0000_s100815" r:id="rId5" imgW="153248" imgH="178737" progId="">
                      <p:embed/>
                    </p:oleObj>
                  </mc:Choice>
                  <mc:Fallback>
                    <p:oleObj r:id="rId5" imgW="153248" imgH="178737" progId="">
                      <p:embed/>
                      <p:pic>
                        <p:nvPicPr>
                          <p:cNvPr id="57352"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944" y="48312"/>
                            <a:ext cx="153179" cy="1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2" name="Object 9"/>
              <p:cNvGraphicFramePr>
                <a:graphicFrameLocks noChangeAspect="1"/>
              </p:cNvGraphicFramePr>
              <p:nvPr/>
            </p:nvGraphicFramePr>
            <p:xfrm>
              <a:off x="1880199" y="2228321"/>
              <a:ext cx="154330" cy="216187"/>
            </p:xfrm>
            <a:graphic>
              <a:graphicData uri="http://schemas.openxmlformats.org/presentationml/2006/ole">
                <mc:AlternateContent xmlns:mc="http://schemas.openxmlformats.org/markup-compatibility/2006">
                  <mc:Choice xmlns:v="urn:schemas-microsoft-com:vml" Requires="v">
                    <p:oleObj spid="_x0000_s100816" r:id="rId7" imgW="153381" imgH="204403" progId="">
                      <p:embed/>
                    </p:oleObj>
                  </mc:Choice>
                  <mc:Fallback>
                    <p:oleObj r:id="rId7" imgW="153381" imgH="204403" progId="">
                      <p:embed/>
                      <p:pic>
                        <p:nvPicPr>
                          <p:cNvPr id="57353"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80199" y="2228321"/>
                            <a:ext cx="154330" cy="21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6" name="弧形 12"/>
            <p:cNvSpPr>
              <a:spLocks noChangeArrowheads="1"/>
            </p:cNvSpPr>
            <p:nvPr/>
          </p:nvSpPr>
          <p:spPr bwMode="auto">
            <a:xfrm rot="6314009">
              <a:off x="786981" y="233048"/>
              <a:ext cx="2322530" cy="2014004"/>
            </a:xfrm>
            <a:custGeom>
              <a:avLst/>
              <a:gdLst>
                <a:gd name="T0" fmla="*/ 796787 w 2467086"/>
                <a:gd name="T1" fmla="*/ 60778 h 1876438"/>
                <a:gd name="T2" fmla="*/ 1233543 w 2467086"/>
                <a:gd name="T3" fmla="*/ 938219 h 1876438"/>
                <a:gd name="T4" fmla="*/ 1822634 w 2467086"/>
                <a:gd name="T5" fmla="*/ 1762537 h 1876438"/>
                <a:gd name="T6" fmla="*/ 11796480 60000 65536"/>
                <a:gd name="T7" fmla="*/ 11796480 60000 65536"/>
                <a:gd name="T8" fmla="*/ 11796480 60000 65536"/>
                <a:gd name="T9" fmla="*/ 796787 w 2467086"/>
                <a:gd name="T10" fmla="*/ 0 h 1876438"/>
                <a:gd name="T11" fmla="*/ 2467086 w 2467086"/>
                <a:gd name="T12" fmla="*/ 1762537 h 1876438"/>
              </a:gdLst>
              <a:ahLst/>
              <a:cxnLst>
                <a:cxn ang="T6">
                  <a:pos x="T0" y="T1"/>
                </a:cxn>
                <a:cxn ang="T7">
                  <a:pos x="T2" y="T3"/>
                </a:cxn>
                <a:cxn ang="T8">
                  <a:pos x="T4" y="T5"/>
                </a:cxn>
              </a:cxnLst>
              <a:rect l="T9" t="T10" r="T11" b="T12"/>
              <a:pathLst>
                <a:path w="2467086" h="1876438" stroke="0">
                  <a:moveTo>
                    <a:pt x="796787" y="60778"/>
                  </a:moveTo>
                  <a:lnTo>
                    <a:pt x="796786" y="60777"/>
                  </a:lnTo>
                  <a:cubicBezTo>
                    <a:pt x="936340" y="20592"/>
                    <a:pt x="1084322" y="0"/>
                    <a:pt x="1233543" y="0"/>
                  </a:cubicBezTo>
                  <a:cubicBezTo>
                    <a:pt x="1914809" y="0"/>
                    <a:pt x="2467086" y="420054"/>
                    <a:pt x="2467086" y="938219"/>
                  </a:cubicBezTo>
                  <a:cubicBezTo>
                    <a:pt x="2467086" y="1282050"/>
                    <a:pt x="2219811" y="1598338"/>
                    <a:pt x="1822631" y="1762538"/>
                  </a:cubicBezTo>
                  <a:lnTo>
                    <a:pt x="1233543" y="938219"/>
                  </a:lnTo>
                  <a:close/>
                </a:path>
                <a:path w="2467086" h="1876438" fill="none">
                  <a:moveTo>
                    <a:pt x="796787" y="60778"/>
                  </a:moveTo>
                  <a:lnTo>
                    <a:pt x="796786" y="60777"/>
                  </a:lnTo>
                  <a:cubicBezTo>
                    <a:pt x="936340" y="20592"/>
                    <a:pt x="1084322" y="0"/>
                    <a:pt x="1233543" y="0"/>
                  </a:cubicBezTo>
                  <a:cubicBezTo>
                    <a:pt x="1914809" y="0"/>
                    <a:pt x="2467086" y="420054"/>
                    <a:pt x="2467086" y="938219"/>
                  </a:cubicBezTo>
                  <a:cubicBezTo>
                    <a:pt x="2467086" y="1282050"/>
                    <a:pt x="2219811" y="1598338"/>
                    <a:pt x="1822631" y="1762538"/>
                  </a:cubicBezTo>
                </a:path>
              </a:pathLst>
            </a:custGeom>
            <a:noFill/>
            <a:ln w="38100" cmpd="sng">
              <a:solidFill>
                <a:srgbClr val="FF99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7" name="Object 11"/>
            <p:cNvGraphicFramePr>
              <a:graphicFrameLocks noChangeAspect="1"/>
            </p:cNvGraphicFramePr>
            <p:nvPr/>
          </p:nvGraphicFramePr>
          <p:xfrm>
            <a:off x="2643206" y="670069"/>
            <a:ext cx="406400" cy="247650"/>
          </p:xfrm>
          <a:graphic>
            <a:graphicData uri="http://schemas.openxmlformats.org/presentationml/2006/ole">
              <mc:AlternateContent xmlns:mc="http://schemas.openxmlformats.org/markup-compatibility/2006">
                <mc:Choice xmlns:v="urn:schemas-microsoft-com:vml" Requires="v">
                  <p:oleObj spid="_x0000_s100817" r:id="rId9" imgW="292798" imgH="178349" progId="">
                    <p:embed/>
                  </p:oleObj>
                </mc:Choice>
                <mc:Fallback>
                  <p:oleObj r:id="rId9" imgW="292798" imgH="178349" progId="">
                    <p:embed/>
                    <p:pic>
                      <p:nvPicPr>
                        <p:cNvPr id="57355"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43206" y="670069"/>
                          <a:ext cx="4064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3" name="矩形 12"/>
          <p:cNvSpPr/>
          <p:nvPr/>
        </p:nvSpPr>
        <p:spPr>
          <a:xfrm>
            <a:off x="660779" y="1974626"/>
            <a:ext cx="5408087" cy="458908"/>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边际成本曲线</a:t>
            </a:r>
            <a:r>
              <a:rPr lang="en-US" sz="1700" dirty="0">
                <a:latin typeface="微软雅黑" panose="020B0503020204020204" pitchFamily="34" charset="-122"/>
                <a:ea typeface="微软雅黑" panose="020B0503020204020204" pitchFamily="34" charset="-122"/>
              </a:rPr>
              <a:t>MC呈现先递减后递增的U形。</a:t>
            </a:r>
          </a:p>
        </p:txBody>
      </p:sp>
      <p:sp>
        <p:nvSpPr>
          <p:cNvPr id="14" name="矩形 13">
            <a:extLst>
              <a:ext uri="{FF2B5EF4-FFF2-40B4-BE49-F238E27FC236}">
                <a16:creationId xmlns:a16="http://schemas.microsoft.com/office/drawing/2014/main" id="{A826E788-D1C2-45BF-9961-2D0C3C206713}"/>
              </a:ext>
            </a:extLst>
          </p:cNvPr>
          <p:cNvSpPr/>
          <p:nvPr/>
        </p:nvSpPr>
        <p:spPr>
          <a:xfrm>
            <a:off x="580922" y="520573"/>
            <a:ext cx="2910958"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三、短期成本曲线</a:t>
            </a:r>
          </a:p>
        </p:txBody>
      </p:sp>
      <p:pic>
        <p:nvPicPr>
          <p:cNvPr id="19" name="图片 18">
            <a:extLst>
              <a:ext uri="{FF2B5EF4-FFF2-40B4-BE49-F238E27FC236}">
                <a16:creationId xmlns:a16="http://schemas.microsoft.com/office/drawing/2014/main" id="{26D9A450-9288-4F3A-8164-BCBA6E792B07}"/>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10095" y="4581128"/>
            <a:ext cx="1681172" cy="1850470"/>
          </a:xfrm>
          <a:prstGeom prst="rect">
            <a:avLst/>
          </a:prstGeom>
        </p:spPr>
      </p:pic>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A0176005-D8EF-4F5A-B3F1-28FACAA4CF94}"/>
                  </a:ext>
                </a:extLst>
              </p:cNvPr>
              <p:cNvSpPr txBox="1"/>
              <p:nvPr/>
            </p:nvSpPr>
            <p:spPr>
              <a:xfrm>
                <a:off x="899592" y="3024891"/>
                <a:ext cx="3605077" cy="482440"/>
              </a:xfrm>
              <a:prstGeom prst="rect">
                <a:avLst/>
              </a:prstGeom>
              <a:noFill/>
            </p:spPr>
            <p:txBody>
              <a:bodyPr wrap="square" lIns="0" tIns="0" rIns="0" bIns="0" rtlCol="0">
                <a:spAutoFit/>
              </a:bodyPr>
              <a:lstStyle/>
              <a:p>
                <a14:m>
                  <m:oMath xmlns:m="http://schemas.openxmlformats.org/officeDocument/2006/math">
                    <m:r>
                      <a:rPr lang="en-US" sz="2000" b="0" i="1" smtClean="0">
                        <a:solidFill>
                          <a:schemeClr val="tx1"/>
                        </a:solidFill>
                        <a:latin typeface="Cambria Math" panose="02040503050406030204" pitchFamily="18" charset="0"/>
                      </a:rPr>
                      <m:t>𝑀𝐶</m:t>
                    </m:r>
                    <m:r>
                      <a:rPr lang="en-US" sz="2000" i="1" smtClean="0">
                        <a:solidFill>
                          <a:schemeClr val="tx1"/>
                        </a:solidFill>
                        <a:latin typeface="Cambria Math" panose="02040503050406030204" pitchFamily="18" charset="0"/>
                      </a:rPr>
                      <m:t>=</m:t>
                    </m:r>
                    <m:f>
                      <m:fPr>
                        <m:ctrlPr>
                          <a:rPr lang="en-US" sz="2000" i="1" smtClean="0">
                            <a:solidFill>
                              <a:schemeClr val="tx1"/>
                            </a:solidFill>
                            <a:latin typeface="Cambria Math" panose="02040503050406030204" pitchFamily="18" charset="0"/>
                          </a:rPr>
                        </m:ctrlPr>
                      </m:fPr>
                      <m:num>
                        <m:r>
                          <a:rPr lang="el-GR" sz="2000" i="1">
                            <a:latin typeface="Cambria Math" panose="02040503050406030204" pitchFamily="18" charset="0"/>
                          </a:rPr>
                          <m:t>𝛥</m:t>
                        </m:r>
                        <m:r>
                          <a:rPr lang="en-US" sz="2000" b="0" i="1" smtClean="0">
                            <a:latin typeface="Cambria Math" panose="02040503050406030204" pitchFamily="18" charset="0"/>
                          </a:rPr>
                          <m:t>𝑉</m:t>
                        </m:r>
                        <m:r>
                          <a:rPr lang="en-US" sz="2000" i="1" smtClean="0">
                            <a:solidFill>
                              <a:schemeClr val="tx1"/>
                            </a:solidFill>
                            <a:latin typeface="Cambria Math" panose="02040503050406030204" pitchFamily="18" charset="0"/>
                          </a:rPr>
                          <m:t>𝐶</m:t>
                        </m:r>
                      </m:num>
                      <m:den>
                        <m:r>
                          <a:rPr lang="el-GR" sz="2000" i="1">
                            <a:latin typeface="Cambria Math" panose="02040503050406030204" pitchFamily="18" charset="0"/>
                          </a:rPr>
                          <m:t>𝛥</m:t>
                        </m:r>
                        <m:r>
                          <a:rPr lang="en-US" sz="2000" i="1" smtClean="0">
                            <a:solidFill>
                              <a:schemeClr val="tx1"/>
                            </a:solidFill>
                            <a:latin typeface="Cambria Math" panose="02040503050406030204" pitchFamily="18" charset="0"/>
                          </a:rPr>
                          <m:t>𝑄</m:t>
                        </m:r>
                      </m:den>
                    </m:f>
                  </m:oMath>
                </a14:m>
                <a:r>
                  <a:rPr lang="en-US" altLang="zh-CN" sz="2000" dirty="0"/>
                  <a:t> </a:t>
                </a:r>
                <a14:m>
                  <m:oMath xmlns:m="http://schemas.openxmlformats.org/officeDocument/2006/math">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l-GR" altLang="zh-CN" sz="2000" i="1">
                            <a:latin typeface="Cambria Math" panose="02040503050406030204" pitchFamily="18" charset="0"/>
                          </a:rPr>
                          <m:t>𝛥</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𝑊𝐿</m:t>
                        </m:r>
                        <m:r>
                          <a:rPr lang="en-US" altLang="zh-CN" sz="2000" b="0" i="1" smtClean="0">
                            <a:latin typeface="Cambria Math" panose="02040503050406030204" pitchFamily="18" charset="0"/>
                          </a:rPr>
                          <m:t>)</m:t>
                        </m:r>
                      </m:num>
                      <m:den>
                        <m:r>
                          <a:rPr lang="el-GR" altLang="zh-CN" sz="2000" i="1">
                            <a:latin typeface="Cambria Math" panose="02040503050406030204" pitchFamily="18" charset="0"/>
                          </a:rPr>
                          <m:t>𝛥</m:t>
                        </m:r>
                        <m:r>
                          <a:rPr lang="en-US" altLang="zh-CN" sz="2000" i="1">
                            <a:latin typeface="Cambria Math" panose="02040503050406030204" pitchFamily="18" charset="0"/>
                          </a:rPr>
                          <m:t>𝑄</m:t>
                        </m:r>
                      </m:den>
                    </m:f>
                  </m:oMath>
                </a14:m>
                <a:r>
                  <a:rPr lang="en-US" altLang="zh-CN" sz="2000" dirty="0"/>
                  <a:t> </a:t>
                </a:r>
                <a14:m>
                  <m:oMath xmlns:m="http://schemas.openxmlformats.org/officeDocument/2006/math">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𝑊</m:t>
                        </m:r>
                      </m:num>
                      <m:den>
                        <m:r>
                          <a:rPr lang="el-GR" altLang="zh-CN" sz="2000" i="1">
                            <a:latin typeface="Cambria Math" panose="02040503050406030204" pitchFamily="18" charset="0"/>
                          </a:rPr>
                          <m:t>𝛥</m:t>
                        </m:r>
                        <m:r>
                          <a:rPr lang="en-US" altLang="zh-CN" sz="2000" i="1">
                            <a:latin typeface="Cambria Math" panose="02040503050406030204" pitchFamily="18" charset="0"/>
                          </a:rPr>
                          <m:t>𝑄</m:t>
                        </m:r>
                        <m:r>
                          <a:rPr lang="en-US" altLang="zh-CN" sz="2000" b="0" i="1" smtClean="0">
                            <a:latin typeface="Cambria Math" panose="02040503050406030204" pitchFamily="18" charset="0"/>
                          </a:rPr>
                          <m:t>/</m:t>
                        </m:r>
                        <m:r>
                          <a:rPr lang="el-GR" altLang="zh-CN" sz="2000" i="1">
                            <a:latin typeface="Cambria Math" panose="02040503050406030204" pitchFamily="18" charset="0"/>
                          </a:rPr>
                          <m:t>𝛥</m:t>
                        </m:r>
                        <m:r>
                          <a:rPr lang="en-US" altLang="zh-CN" sz="2000" b="0" i="1" smtClean="0">
                            <a:latin typeface="Cambria Math" panose="02040503050406030204" pitchFamily="18" charset="0"/>
                          </a:rPr>
                          <m:t>𝐿</m:t>
                        </m:r>
                      </m:den>
                    </m:f>
                  </m:oMath>
                </a14:m>
                <a:r>
                  <a:rPr lang="en-US" altLang="zh-CN" sz="2000" dirty="0"/>
                  <a:t> </a:t>
                </a:r>
                <a14:m>
                  <m:oMath xmlns:m="http://schemas.openxmlformats.org/officeDocument/2006/math">
                    <m:r>
                      <a:rPr lang="en-US" altLang="zh-CN" sz="2000" i="1">
                        <a:latin typeface="Cambria Math" panose="02040503050406030204" pitchFamily="18" charset="0"/>
                      </a:rPr>
                      <m:t>=</m:t>
                    </m:r>
                    <m:f>
                      <m:fPr>
                        <m:ctrlPr>
                          <a:rPr lang="en-US" altLang="zh-CN" sz="2000" i="1">
                            <a:latin typeface="Cambria Math" panose="02040503050406030204" pitchFamily="18" charset="0"/>
                          </a:rPr>
                        </m:ctrlPr>
                      </m:fPr>
                      <m:num>
                        <m:r>
                          <a:rPr lang="en-US" altLang="zh-CN" sz="2000" b="0" i="1" smtClean="0">
                            <a:latin typeface="Cambria Math" panose="02040503050406030204" pitchFamily="18" charset="0"/>
                          </a:rPr>
                          <m:t>𝑊</m:t>
                        </m:r>
                      </m:num>
                      <m:den>
                        <m:r>
                          <a:rPr lang="en-US" altLang="zh-CN" sz="2000" b="0" i="1" smtClean="0">
                            <a:latin typeface="Cambria Math" panose="02040503050406030204" pitchFamily="18" charset="0"/>
                          </a:rPr>
                          <m:t>𝑀𝑃</m:t>
                        </m:r>
                      </m:den>
                    </m:f>
                  </m:oMath>
                </a14:m>
                <a:endParaRPr lang="en-US" sz="2000" dirty="0">
                  <a:solidFill>
                    <a:schemeClr val="tx1"/>
                  </a:solidFill>
                </a:endParaRPr>
              </a:p>
            </p:txBody>
          </p:sp>
        </mc:Choice>
        <mc:Fallback xmlns="">
          <p:sp>
            <p:nvSpPr>
              <p:cNvPr id="17" name="文本框 16">
                <a:extLst>
                  <a:ext uri="{FF2B5EF4-FFF2-40B4-BE49-F238E27FC236}">
                    <a16:creationId xmlns:a16="http://schemas.microsoft.com/office/drawing/2014/main" id="{A0176005-D8EF-4F5A-B3F1-28FACAA4CF94}"/>
                  </a:ext>
                </a:extLst>
              </p:cNvPr>
              <p:cNvSpPr txBox="1">
                <a:spLocks noRot="1" noChangeAspect="1" noMove="1" noResize="1" noEditPoints="1" noAdjustHandles="1" noChangeArrowheads="1" noChangeShapeType="1" noTextEdit="1"/>
              </p:cNvSpPr>
              <p:nvPr/>
            </p:nvSpPr>
            <p:spPr>
              <a:xfrm>
                <a:off x="899592" y="3024891"/>
                <a:ext cx="3605077" cy="482440"/>
              </a:xfrm>
              <a:prstGeom prst="rect">
                <a:avLst/>
              </a:prstGeom>
              <a:blipFill>
                <a:blip r:embed="rId12"/>
                <a:stretch>
                  <a:fillRect/>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DD089B35-354A-427B-B1B4-B8438C0BF75A}"/>
              </a:ext>
            </a:extLst>
          </p:cNvPr>
          <p:cNvPicPr>
            <a:picLocks noChangeAspect="1"/>
          </p:cNvPicPr>
          <p:nvPr/>
        </p:nvPicPr>
        <p:blipFill>
          <a:blip r:embed="rId13"/>
          <a:stretch>
            <a:fillRect/>
          </a:stretch>
        </p:blipFill>
        <p:spPr>
          <a:xfrm>
            <a:off x="6169364" y="764704"/>
            <a:ext cx="2069651" cy="1714964"/>
          </a:xfrm>
          <a:prstGeom prst="rect">
            <a:avLst/>
          </a:prstGeom>
        </p:spPr>
      </p:pic>
      <p:sp>
        <p:nvSpPr>
          <p:cNvPr id="16" name="标注: 线形 15">
            <a:extLst>
              <a:ext uri="{FF2B5EF4-FFF2-40B4-BE49-F238E27FC236}">
                <a16:creationId xmlns:a16="http://schemas.microsoft.com/office/drawing/2014/main" id="{C1A51B53-C3F9-4F0A-9031-3AF95B85264C}"/>
              </a:ext>
            </a:extLst>
          </p:cNvPr>
          <p:cNvSpPr/>
          <p:nvPr/>
        </p:nvSpPr>
        <p:spPr bwMode="auto">
          <a:xfrm>
            <a:off x="2486943" y="4653136"/>
            <a:ext cx="2150714" cy="1512168"/>
          </a:xfrm>
          <a:prstGeom prst="borderCallout1">
            <a:avLst>
              <a:gd name="adj1" fmla="val 18750"/>
              <a:gd name="adj2" fmla="val -8333"/>
              <a:gd name="adj3" fmla="val -27410"/>
              <a:gd name="adj4" fmla="val -5794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由边际成本曲线的形状特点，也就知道前面总成本曲线和总变动成本曲线的形状了。</a:t>
            </a:r>
          </a:p>
        </p:txBody>
      </p:sp>
    </p:spTree>
    <p:extLst>
      <p:ext uri="{BB962C8B-B14F-4D97-AF65-F5344CB8AC3E}">
        <p14:creationId xmlns:p14="http://schemas.microsoft.com/office/powerpoint/2010/main" val="293073522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par>
                                <p:cTn id="10" presetID="53" presetClass="entr" presetSubtype="16" fill="hold" nodeType="withEffect">
                                  <p:stCondLst>
                                    <p:cond delay="0"/>
                                  </p:stCondLst>
                                  <p:childTnLst>
                                    <p:set>
                                      <p:cBhvr>
                                        <p:cTn id="11" dur="1" fill="hold">
                                          <p:stCondLst>
                                            <p:cond delay="0"/>
                                          </p:stCondLst>
                                        </p:cTn>
                                        <p:tgtEl>
                                          <p:spTgt spid="19"/>
                                        </p:tgtEl>
                                        <p:attrNameLst>
                                          <p:attrName>style.visibility</p:attrName>
                                        </p:attrNameLst>
                                      </p:cBhvr>
                                      <p:to>
                                        <p:strVal val="visible"/>
                                      </p:to>
                                    </p:set>
                                    <p:anim calcmode="lin" valueType="num">
                                      <p:cBhvr>
                                        <p:cTn id="12" dur="500" fill="hold"/>
                                        <p:tgtEl>
                                          <p:spTgt spid="19"/>
                                        </p:tgtEl>
                                        <p:attrNameLst>
                                          <p:attrName>ppt_w</p:attrName>
                                        </p:attrNameLst>
                                      </p:cBhvr>
                                      <p:tavLst>
                                        <p:tav tm="0">
                                          <p:val>
                                            <p:fltVal val="0"/>
                                          </p:val>
                                        </p:tav>
                                        <p:tav tm="100000">
                                          <p:val>
                                            <p:strVal val="#ppt_w"/>
                                          </p:val>
                                        </p:tav>
                                      </p:tavLst>
                                    </p:anim>
                                    <p:anim calcmode="lin" valueType="num">
                                      <p:cBhvr>
                                        <p:cTn id="13" dur="500" fill="hold"/>
                                        <p:tgtEl>
                                          <p:spTgt spid="19"/>
                                        </p:tgtEl>
                                        <p:attrNameLst>
                                          <p:attrName>ppt_h</p:attrName>
                                        </p:attrNameLst>
                                      </p:cBhvr>
                                      <p:tavLst>
                                        <p:tav tm="0">
                                          <p:val>
                                            <p:fltVal val="0"/>
                                          </p:val>
                                        </p:tav>
                                        <p:tav tm="100000">
                                          <p:val>
                                            <p:strVal val="#ppt_h"/>
                                          </p:val>
                                        </p:tav>
                                      </p:tavLst>
                                    </p:anim>
                                    <p:animEffect transition="in" filter="fade">
                                      <p:cBhvr>
                                        <p:cTn id="14" dur="500"/>
                                        <p:tgtEl>
                                          <p:spTgt spid="19"/>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 calcmode="lin" valueType="num">
                                      <p:cBhvr>
                                        <p:cTn id="19" dur="500" fill="hold"/>
                                        <p:tgtEl>
                                          <p:spTgt spid="15"/>
                                        </p:tgtEl>
                                        <p:attrNameLst>
                                          <p:attrName>ppt_w</p:attrName>
                                        </p:attrNameLst>
                                      </p:cBhvr>
                                      <p:tavLst>
                                        <p:tav tm="0">
                                          <p:val>
                                            <p:fltVal val="0"/>
                                          </p:val>
                                        </p:tav>
                                        <p:tav tm="100000">
                                          <p:val>
                                            <p:strVal val="#ppt_w"/>
                                          </p:val>
                                        </p:tav>
                                      </p:tavLst>
                                    </p:anim>
                                    <p:anim calcmode="lin" valueType="num">
                                      <p:cBhvr>
                                        <p:cTn id="20" dur="500" fill="hold"/>
                                        <p:tgtEl>
                                          <p:spTgt spid="15"/>
                                        </p:tgtEl>
                                        <p:attrNameLst>
                                          <p:attrName>ppt_h</p:attrName>
                                        </p:attrNameLst>
                                      </p:cBhvr>
                                      <p:tavLst>
                                        <p:tav tm="0">
                                          <p:val>
                                            <p:fltVal val="0"/>
                                          </p:val>
                                        </p:tav>
                                        <p:tav tm="100000">
                                          <p:val>
                                            <p:strVal val="#ppt_h"/>
                                          </p:val>
                                        </p:tav>
                                      </p:tavLst>
                                    </p:anim>
                                    <p:animEffect transition="in" filter="fade">
                                      <p:cBhvr>
                                        <p:cTn id="21" dur="500"/>
                                        <p:tgtEl>
                                          <p:spTgt spid="15"/>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ipe(down)">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ircle(in)">
                                      <p:cBhvr>
                                        <p:cTn id="36" dur="2000"/>
                                        <p:tgtEl>
                                          <p:spTgt spid="4"/>
                                        </p:tgtEl>
                                      </p:cBhvr>
                                    </p:animEffect>
                                  </p:childTnLst>
                                </p:cTn>
                              </p:par>
                              <p:par>
                                <p:cTn id="37" presetID="22" presetClass="entr" presetSubtype="1"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up)">
                                      <p:cBhvr>
                                        <p:cTn id="3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3" grpId="0"/>
      <p:bldP spid="13" grpId="0"/>
      <p:bldP spid="14" grpId="0" animBg="1"/>
      <p:bldP spid="17"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箭头连接符 11">
            <a:extLst>
              <a:ext uri="{FF2B5EF4-FFF2-40B4-BE49-F238E27FC236}">
                <a16:creationId xmlns:a16="http://schemas.microsoft.com/office/drawing/2014/main" id="{2C969436-4869-475F-9311-2837248341B6}"/>
              </a:ext>
            </a:extLst>
          </p:cNvPr>
          <p:cNvCxnSpPr>
            <a:cxnSpLocks/>
          </p:cNvCxnSpPr>
          <p:nvPr/>
        </p:nvCxnSpPr>
        <p:spPr>
          <a:xfrm flipH="1">
            <a:off x="2936152" y="2657897"/>
            <a:ext cx="610973" cy="0"/>
          </a:xfrm>
          <a:prstGeom prst="straightConnector1">
            <a:avLst/>
          </a:prstGeom>
          <a:noFill/>
          <a:ln w="9525" cap="flat" cmpd="sng" algn="ctr">
            <a:solidFill>
              <a:srgbClr val="314865"/>
            </a:solidFill>
            <a:prstDash val="solid"/>
            <a:tailEnd type="arrow"/>
          </a:ln>
          <a:effectLst/>
        </p:spPr>
      </p:cxnSp>
      <p:cxnSp>
        <p:nvCxnSpPr>
          <p:cNvPr id="8" name="直接箭头连接符 7">
            <a:extLst>
              <a:ext uri="{FF2B5EF4-FFF2-40B4-BE49-F238E27FC236}">
                <a16:creationId xmlns:a16="http://schemas.microsoft.com/office/drawing/2014/main" id="{DD97E049-C19F-40BD-A1A0-FB32FFF1922A}"/>
              </a:ext>
            </a:extLst>
          </p:cNvPr>
          <p:cNvCxnSpPr>
            <a:cxnSpLocks/>
          </p:cNvCxnSpPr>
          <p:nvPr/>
        </p:nvCxnSpPr>
        <p:spPr>
          <a:xfrm>
            <a:off x="5076708" y="2214797"/>
            <a:ext cx="886368" cy="0"/>
          </a:xfrm>
          <a:prstGeom prst="straightConnector1">
            <a:avLst/>
          </a:prstGeom>
          <a:noFill/>
          <a:ln w="9525" cap="flat" cmpd="sng" algn="ctr">
            <a:solidFill>
              <a:srgbClr val="314865"/>
            </a:solidFill>
            <a:prstDash val="solid"/>
            <a:tailEnd type="arrow"/>
          </a:ln>
          <a:effectLst/>
        </p:spPr>
      </p:cxnSp>
      <p:sp>
        <p:nvSpPr>
          <p:cNvPr id="2" name="矩形 1">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sp>
        <p:nvSpPr>
          <p:cNvPr id="3" name="矩形 2">
            <a:extLst>
              <a:ext uri="{FF2B5EF4-FFF2-40B4-BE49-F238E27FC236}">
                <a16:creationId xmlns:a16="http://schemas.microsoft.com/office/drawing/2014/main" id="{37C083F2-0E99-4519-8938-09940A28B5F0}"/>
              </a:ext>
            </a:extLst>
          </p:cNvPr>
          <p:cNvSpPr/>
          <p:nvPr/>
        </p:nvSpPr>
        <p:spPr>
          <a:xfrm>
            <a:off x="580922" y="520573"/>
            <a:ext cx="449513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四、短期成本曲线之间的关系</a:t>
            </a:r>
          </a:p>
        </p:txBody>
      </p:sp>
      <p:sp>
        <p:nvSpPr>
          <p:cNvPr id="5" name="Oval 98">
            <a:extLst>
              <a:ext uri="{FF2B5EF4-FFF2-40B4-BE49-F238E27FC236}">
                <a16:creationId xmlns:a16="http://schemas.microsoft.com/office/drawing/2014/main" id="{C1A18BAC-6224-48A1-B5D4-80B26534124A}"/>
              </a:ext>
            </a:extLst>
          </p:cNvPr>
          <p:cNvSpPr>
            <a:spLocks noChangeArrowheads="1"/>
          </p:cNvSpPr>
          <p:nvPr/>
        </p:nvSpPr>
        <p:spPr bwMode="auto">
          <a:xfrm>
            <a:off x="3355989" y="1804254"/>
            <a:ext cx="1078690" cy="1067574"/>
          </a:xfrm>
          <a:prstGeom prst="ellipse">
            <a:avLst/>
          </a:prstGeom>
          <a:solidFill>
            <a:srgbClr val="7F7F7F"/>
          </a:solidFill>
          <a:ln w="25400">
            <a:noFill/>
          </a:ln>
        </p:spPr>
        <p:txBody>
          <a:bodyPr vert="horz" wrap="square" lIns="109541" tIns="54770" rIns="109541" bIns="54770" numCol="1" anchor="t" anchorCtr="0" compatLnSpc="1">
            <a:prstTxWarp prst="textNoShape">
              <a:avLst/>
            </a:prstTxWarp>
          </a:bodyPr>
          <a:lstStyle/>
          <a:p>
            <a:pPr defTabSz="1095415">
              <a:lnSpc>
                <a:spcPct val="130000"/>
              </a:lnSpc>
              <a:defRPr/>
            </a:pPr>
            <a:endParaRPr lang="zh-CN" altLang="en-US" sz="2167" kern="0" dirty="0">
              <a:latin typeface="字魂59号-创粗黑" panose="00000500000000000000" pitchFamily="2" charset="-122"/>
              <a:ea typeface="字魂59号-创粗黑" panose="00000500000000000000" pitchFamily="2" charset="-122"/>
              <a:cs typeface="+mn-ea"/>
              <a:sym typeface="+mn-lt"/>
            </a:endParaRPr>
          </a:p>
        </p:txBody>
      </p:sp>
      <p:sp>
        <p:nvSpPr>
          <p:cNvPr id="6" name="Oval 100">
            <a:extLst>
              <a:ext uri="{FF2B5EF4-FFF2-40B4-BE49-F238E27FC236}">
                <a16:creationId xmlns:a16="http://schemas.microsoft.com/office/drawing/2014/main" id="{3E699241-0C15-4AE3-95E5-723088D927BD}"/>
              </a:ext>
            </a:extLst>
          </p:cNvPr>
          <p:cNvSpPr>
            <a:spLocks noChangeArrowheads="1"/>
          </p:cNvSpPr>
          <p:nvPr/>
        </p:nvSpPr>
        <p:spPr bwMode="auto">
          <a:xfrm>
            <a:off x="4313250" y="1916832"/>
            <a:ext cx="1340508" cy="1328211"/>
          </a:xfrm>
          <a:prstGeom prst="ellipse">
            <a:avLst/>
          </a:prstGeom>
          <a:solidFill>
            <a:srgbClr val="85B2D2"/>
          </a:solidFill>
          <a:ln w="19050">
            <a:solidFill>
              <a:schemeClr val="bg1"/>
            </a:solidFill>
          </a:ln>
        </p:spPr>
        <p:txBody>
          <a:bodyPr vert="horz" wrap="square" lIns="109541" tIns="54770" rIns="109541" bIns="54770" numCol="1" anchor="t" anchorCtr="0" compatLnSpc="1">
            <a:prstTxWarp prst="textNoShape">
              <a:avLst/>
            </a:prstTxWarp>
          </a:bodyPr>
          <a:lstStyle/>
          <a:p>
            <a:pPr defTabSz="1095415">
              <a:lnSpc>
                <a:spcPct val="130000"/>
              </a:lnSpc>
              <a:defRPr/>
            </a:pPr>
            <a:endParaRPr lang="zh-CN" altLang="en-US" sz="2167" kern="0" dirty="0">
              <a:latin typeface="字魂59号-创粗黑" panose="00000500000000000000" pitchFamily="2" charset="-122"/>
              <a:ea typeface="字魂59号-创粗黑" panose="00000500000000000000" pitchFamily="2" charset="-122"/>
              <a:cs typeface="+mn-ea"/>
              <a:sym typeface="+mn-lt"/>
            </a:endParaRPr>
          </a:p>
        </p:txBody>
      </p:sp>
      <p:cxnSp>
        <p:nvCxnSpPr>
          <p:cNvPr id="10" name="直接箭头连接符 9">
            <a:extLst>
              <a:ext uri="{FF2B5EF4-FFF2-40B4-BE49-F238E27FC236}">
                <a16:creationId xmlns:a16="http://schemas.microsoft.com/office/drawing/2014/main" id="{9BEB3895-1F24-4370-A0E0-0481AEBA6409}"/>
              </a:ext>
            </a:extLst>
          </p:cNvPr>
          <p:cNvCxnSpPr>
            <a:cxnSpLocks/>
          </p:cNvCxnSpPr>
          <p:nvPr/>
        </p:nvCxnSpPr>
        <p:spPr>
          <a:xfrm>
            <a:off x="4086198" y="3596180"/>
            <a:ext cx="0" cy="598891"/>
          </a:xfrm>
          <a:prstGeom prst="straightConnector1">
            <a:avLst/>
          </a:prstGeom>
          <a:noFill/>
          <a:ln w="9525" cap="flat" cmpd="sng" algn="ctr">
            <a:solidFill>
              <a:srgbClr val="314865"/>
            </a:solidFill>
            <a:prstDash val="solid"/>
            <a:tailEnd type="arrow"/>
          </a:ln>
          <a:effectLst/>
        </p:spPr>
      </p:cxnSp>
      <p:sp>
        <p:nvSpPr>
          <p:cNvPr id="20" name="Freeform 26"/>
          <p:cNvSpPr>
            <a:spLocks noEditPoints="1"/>
          </p:cNvSpPr>
          <p:nvPr/>
        </p:nvSpPr>
        <p:spPr bwMode="auto">
          <a:xfrm>
            <a:off x="3626733" y="2026520"/>
            <a:ext cx="561415" cy="544488"/>
          </a:xfrm>
          <a:custGeom>
            <a:avLst/>
            <a:gdLst>
              <a:gd name="T0" fmla="*/ 1084115605 w 263"/>
              <a:gd name="T1" fmla="*/ 0 h 256"/>
              <a:gd name="T2" fmla="*/ 640089175 w 263"/>
              <a:gd name="T3" fmla="*/ 309626112 h 256"/>
              <a:gd name="T4" fmla="*/ 640089175 w 263"/>
              <a:gd name="T5" fmla="*/ 315358909 h 256"/>
              <a:gd name="T6" fmla="*/ 161463720 w 263"/>
              <a:gd name="T7" fmla="*/ 791267262 h 256"/>
              <a:gd name="T8" fmla="*/ 5765703 w 263"/>
              <a:gd name="T9" fmla="*/ 1261440423 h 256"/>
              <a:gd name="T10" fmla="*/ 161463720 w 263"/>
              <a:gd name="T11" fmla="*/ 1467857033 h 256"/>
              <a:gd name="T12" fmla="*/ 605490150 w 263"/>
              <a:gd name="T13" fmla="*/ 1358914734 h 256"/>
              <a:gd name="T14" fmla="*/ 1389743531 w 263"/>
              <a:gd name="T15" fmla="*/ 602051438 h 256"/>
              <a:gd name="T16" fmla="*/ 738120547 w 263"/>
              <a:gd name="T17" fmla="*/ 1089425385 h 256"/>
              <a:gd name="T18" fmla="*/ 1141782249 w 263"/>
              <a:gd name="T19" fmla="*/ 538978698 h 256"/>
              <a:gd name="T20" fmla="*/ 1095649414 w 263"/>
              <a:gd name="T21" fmla="*/ 768331285 h 256"/>
              <a:gd name="T22" fmla="*/ 738120547 w 263"/>
              <a:gd name="T23" fmla="*/ 1123826956 h 256"/>
              <a:gd name="T24" fmla="*/ 680456306 w 263"/>
              <a:gd name="T25" fmla="*/ 928878335 h 256"/>
              <a:gd name="T26" fmla="*/ 524758290 w 263"/>
              <a:gd name="T27" fmla="*/ 779799273 h 256"/>
              <a:gd name="T28" fmla="*/ 1061047987 w 263"/>
              <a:gd name="T29" fmla="*/ 412835613 h 256"/>
              <a:gd name="T30" fmla="*/ 680456306 w 263"/>
              <a:gd name="T31" fmla="*/ 928878335 h 256"/>
              <a:gd name="T32" fmla="*/ 351760761 w 263"/>
              <a:gd name="T33" fmla="*/ 733929713 h 256"/>
              <a:gd name="T34" fmla="*/ 916883780 w 263"/>
              <a:gd name="T35" fmla="*/ 326826897 h 256"/>
              <a:gd name="T36" fmla="*/ 190297041 w 263"/>
              <a:gd name="T37" fmla="*/ 1370382722 h 256"/>
              <a:gd name="T38" fmla="*/ 92265669 w 263"/>
              <a:gd name="T39" fmla="*/ 1307309983 h 256"/>
              <a:gd name="T40" fmla="*/ 144164207 w 263"/>
              <a:gd name="T41" fmla="*/ 1106626171 h 256"/>
              <a:gd name="T42" fmla="*/ 363294570 w 263"/>
              <a:gd name="T43" fmla="*/ 1324510769 h 256"/>
              <a:gd name="T44" fmla="*/ 409427405 w 263"/>
              <a:gd name="T45" fmla="*/ 1313045174 h 256"/>
              <a:gd name="T46" fmla="*/ 155698016 w 263"/>
              <a:gd name="T47" fmla="*/ 1060756611 h 256"/>
              <a:gd name="T48" fmla="*/ 224896067 w 263"/>
              <a:gd name="T49" fmla="*/ 860072798 h 256"/>
              <a:gd name="T50" fmla="*/ 593956340 w 263"/>
              <a:gd name="T51" fmla="*/ 1261440423 h 256"/>
              <a:gd name="T52" fmla="*/ 409427405 w 263"/>
              <a:gd name="T53" fmla="*/ 1313045174 h 256"/>
              <a:gd name="T54" fmla="*/ 1245579325 w 263"/>
              <a:gd name="T55" fmla="*/ 619252223 h 256"/>
              <a:gd name="T56" fmla="*/ 1130248439 w 263"/>
              <a:gd name="T57" fmla="*/ 344030077 h 256"/>
              <a:gd name="T58" fmla="*/ 934185695 w 263"/>
              <a:gd name="T59" fmla="*/ 149079062 h 256"/>
              <a:gd name="T60" fmla="*/ 1291712159 w 263"/>
              <a:gd name="T61" fmla="*/ 183483027 h 256"/>
              <a:gd name="T62" fmla="*/ 1326311184 w 263"/>
              <a:gd name="T63" fmla="*/ 538978698 h 25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63" h="256">
                <a:moveTo>
                  <a:pt x="235" y="21"/>
                </a:moveTo>
                <a:cubicBezTo>
                  <a:pt x="222" y="8"/>
                  <a:pt x="205" y="0"/>
                  <a:pt x="188" y="0"/>
                </a:cubicBezTo>
                <a:cubicBezTo>
                  <a:pt x="173" y="0"/>
                  <a:pt x="160" y="5"/>
                  <a:pt x="150" y="15"/>
                </a:cubicBezTo>
                <a:cubicBezTo>
                  <a:pt x="111" y="54"/>
                  <a:pt x="111" y="54"/>
                  <a:pt x="111" y="54"/>
                </a:cubicBezTo>
                <a:cubicBezTo>
                  <a:pt x="111" y="54"/>
                  <a:pt x="111" y="54"/>
                  <a:pt x="111" y="55"/>
                </a:cubicBezTo>
                <a:cubicBezTo>
                  <a:pt x="111" y="55"/>
                  <a:pt x="111" y="55"/>
                  <a:pt x="111" y="55"/>
                </a:cubicBezTo>
                <a:cubicBezTo>
                  <a:pt x="111" y="55"/>
                  <a:pt x="111" y="55"/>
                  <a:pt x="111" y="55"/>
                </a:cubicBezTo>
                <a:cubicBezTo>
                  <a:pt x="28" y="138"/>
                  <a:pt x="28" y="138"/>
                  <a:pt x="28" y="138"/>
                </a:cubicBezTo>
                <a:cubicBezTo>
                  <a:pt x="24" y="142"/>
                  <a:pt x="22" y="147"/>
                  <a:pt x="20" y="152"/>
                </a:cubicBezTo>
                <a:cubicBezTo>
                  <a:pt x="1" y="220"/>
                  <a:pt x="1" y="220"/>
                  <a:pt x="1" y="220"/>
                </a:cubicBezTo>
                <a:cubicBezTo>
                  <a:pt x="1" y="220"/>
                  <a:pt x="0" y="225"/>
                  <a:pt x="0" y="228"/>
                </a:cubicBezTo>
                <a:cubicBezTo>
                  <a:pt x="0" y="243"/>
                  <a:pt x="13" y="256"/>
                  <a:pt x="28" y="256"/>
                </a:cubicBezTo>
                <a:cubicBezTo>
                  <a:pt x="31" y="256"/>
                  <a:pt x="37" y="255"/>
                  <a:pt x="37" y="255"/>
                </a:cubicBezTo>
                <a:cubicBezTo>
                  <a:pt x="105" y="237"/>
                  <a:pt x="105" y="237"/>
                  <a:pt x="105" y="237"/>
                </a:cubicBezTo>
                <a:cubicBezTo>
                  <a:pt x="110" y="235"/>
                  <a:pt x="115" y="232"/>
                  <a:pt x="119" y="229"/>
                </a:cubicBezTo>
                <a:cubicBezTo>
                  <a:pt x="241" y="105"/>
                  <a:pt x="241" y="105"/>
                  <a:pt x="241" y="105"/>
                </a:cubicBezTo>
                <a:cubicBezTo>
                  <a:pt x="263" y="83"/>
                  <a:pt x="261" y="46"/>
                  <a:pt x="235" y="21"/>
                </a:cubicBezTo>
                <a:close/>
                <a:moveTo>
                  <a:pt x="128" y="190"/>
                </a:moveTo>
                <a:cubicBezTo>
                  <a:pt x="127" y="183"/>
                  <a:pt x="125" y="176"/>
                  <a:pt x="122" y="169"/>
                </a:cubicBezTo>
                <a:cubicBezTo>
                  <a:pt x="198" y="94"/>
                  <a:pt x="198" y="94"/>
                  <a:pt x="198" y="94"/>
                </a:cubicBezTo>
                <a:cubicBezTo>
                  <a:pt x="203" y="108"/>
                  <a:pt x="200" y="124"/>
                  <a:pt x="190" y="134"/>
                </a:cubicBezTo>
                <a:cubicBezTo>
                  <a:pt x="190" y="134"/>
                  <a:pt x="190" y="134"/>
                  <a:pt x="190" y="134"/>
                </a:cubicBezTo>
                <a:cubicBezTo>
                  <a:pt x="190" y="134"/>
                  <a:pt x="190" y="134"/>
                  <a:pt x="190" y="134"/>
                </a:cubicBezTo>
                <a:cubicBezTo>
                  <a:pt x="128" y="196"/>
                  <a:pt x="128" y="196"/>
                  <a:pt x="128" y="196"/>
                </a:cubicBezTo>
                <a:cubicBezTo>
                  <a:pt x="128" y="194"/>
                  <a:pt x="128" y="192"/>
                  <a:pt x="128" y="190"/>
                </a:cubicBezTo>
                <a:close/>
                <a:moveTo>
                  <a:pt x="118" y="162"/>
                </a:moveTo>
                <a:cubicBezTo>
                  <a:pt x="115" y="157"/>
                  <a:pt x="112" y="152"/>
                  <a:pt x="108" y="148"/>
                </a:cubicBezTo>
                <a:cubicBezTo>
                  <a:pt x="103" y="143"/>
                  <a:pt x="97" y="140"/>
                  <a:pt x="91" y="136"/>
                </a:cubicBezTo>
                <a:cubicBezTo>
                  <a:pt x="168" y="60"/>
                  <a:pt x="168" y="60"/>
                  <a:pt x="168" y="60"/>
                </a:cubicBezTo>
                <a:cubicBezTo>
                  <a:pt x="174" y="63"/>
                  <a:pt x="179" y="66"/>
                  <a:pt x="184" y="72"/>
                </a:cubicBezTo>
                <a:cubicBezTo>
                  <a:pt x="189" y="76"/>
                  <a:pt x="192" y="81"/>
                  <a:pt x="195" y="86"/>
                </a:cubicBezTo>
                <a:lnTo>
                  <a:pt x="118" y="162"/>
                </a:lnTo>
                <a:close/>
                <a:moveTo>
                  <a:pt x="84" y="133"/>
                </a:moveTo>
                <a:cubicBezTo>
                  <a:pt x="76" y="130"/>
                  <a:pt x="69" y="128"/>
                  <a:pt x="61" y="128"/>
                </a:cubicBezTo>
                <a:cubicBezTo>
                  <a:pt x="123" y="66"/>
                  <a:pt x="123" y="66"/>
                  <a:pt x="123" y="66"/>
                </a:cubicBezTo>
                <a:cubicBezTo>
                  <a:pt x="132" y="56"/>
                  <a:pt x="146" y="54"/>
                  <a:pt x="159" y="57"/>
                </a:cubicBezTo>
                <a:lnTo>
                  <a:pt x="84" y="133"/>
                </a:lnTo>
                <a:close/>
                <a:moveTo>
                  <a:pt x="33" y="239"/>
                </a:moveTo>
                <a:cubicBezTo>
                  <a:pt x="32" y="239"/>
                  <a:pt x="30" y="240"/>
                  <a:pt x="28" y="240"/>
                </a:cubicBezTo>
                <a:cubicBezTo>
                  <a:pt x="21" y="240"/>
                  <a:pt x="16" y="235"/>
                  <a:pt x="16" y="228"/>
                </a:cubicBezTo>
                <a:cubicBezTo>
                  <a:pt x="16" y="227"/>
                  <a:pt x="17" y="224"/>
                  <a:pt x="17" y="224"/>
                </a:cubicBezTo>
                <a:cubicBezTo>
                  <a:pt x="25" y="193"/>
                  <a:pt x="25" y="193"/>
                  <a:pt x="25" y="193"/>
                </a:cubicBezTo>
                <a:cubicBezTo>
                  <a:pt x="34" y="193"/>
                  <a:pt x="44" y="196"/>
                  <a:pt x="52" y="204"/>
                </a:cubicBezTo>
                <a:cubicBezTo>
                  <a:pt x="60" y="212"/>
                  <a:pt x="64" y="222"/>
                  <a:pt x="63" y="231"/>
                </a:cubicBezTo>
                <a:lnTo>
                  <a:pt x="33" y="239"/>
                </a:lnTo>
                <a:close/>
                <a:moveTo>
                  <a:pt x="71" y="229"/>
                </a:moveTo>
                <a:cubicBezTo>
                  <a:pt x="71" y="218"/>
                  <a:pt x="66" y="207"/>
                  <a:pt x="58" y="198"/>
                </a:cubicBezTo>
                <a:cubicBezTo>
                  <a:pt x="49" y="190"/>
                  <a:pt x="38" y="185"/>
                  <a:pt x="27" y="185"/>
                </a:cubicBezTo>
                <a:cubicBezTo>
                  <a:pt x="35" y="156"/>
                  <a:pt x="35" y="156"/>
                  <a:pt x="35" y="156"/>
                </a:cubicBezTo>
                <a:cubicBezTo>
                  <a:pt x="36" y="154"/>
                  <a:pt x="37" y="152"/>
                  <a:pt x="39" y="150"/>
                </a:cubicBezTo>
                <a:cubicBezTo>
                  <a:pt x="55" y="139"/>
                  <a:pt x="79" y="142"/>
                  <a:pt x="96" y="160"/>
                </a:cubicBezTo>
                <a:cubicBezTo>
                  <a:pt x="115" y="178"/>
                  <a:pt x="117" y="204"/>
                  <a:pt x="103" y="220"/>
                </a:cubicBezTo>
                <a:cubicBezTo>
                  <a:pt x="103" y="221"/>
                  <a:pt x="102" y="221"/>
                  <a:pt x="101" y="221"/>
                </a:cubicBezTo>
                <a:lnTo>
                  <a:pt x="71" y="229"/>
                </a:lnTo>
                <a:close/>
                <a:moveTo>
                  <a:pt x="230" y="94"/>
                </a:moveTo>
                <a:cubicBezTo>
                  <a:pt x="216" y="108"/>
                  <a:pt x="216" y="108"/>
                  <a:pt x="216" y="108"/>
                </a:cubicBezTo>
                <a:cubicBezTo>
                  <a:pt x="216" y="106"/>
                  <a:pt x="216" y="104"/>
                  <a:pt x="216" y="102"/>
                </a:cubicBezTo>
                <a:cubicBezTo>
                  <a:pt x="215" y="87"/>
                  <a:pt x="207" y="72"/>
                  <a:pt x="196" y="60"/>
                </a:cubicBezTo>
                <a:cubicBezTo>
                  <a:pt x="183" y="47"/>
                  <a:pt x="165" y="40"/>
                  <a:pt x="148" y="40"/>
                </a:cubicBezTo>
                <a:cubicBezTo>
                  <a:pt x="162" y="26"/>
                  <a:pt x="162" y="26"/>
                  <a:pt x="162" y="26"/>
                </a:cubicBezTo>
                <a:cubicBezTo>
                  <a:pt x="168" y="20"/>
                  <a:pt x="177" y="16"/>
                  <a:pt x="188" y="16"/>
                </a:cubicBezTo>
                <a:cubicBezTo>
                  <a:pt x="200" y="16"/>
                  <a:pt x="214" y="22"/>
                  <a:pt x="224" y="32"/>
                </a:cubicBezTo>
                <a:cubicBezTo>
                  <a:pt x="233" y="41"/>
                  <a:pt x="239" y="53"/>
                  <a:pt x="240" y="65"/>
                </a:cubicBezTo>
                <a:cubicBezTo>
                  <a:pt x="241" y="76"/>
                  <a:pt x="237" y="87"/>
                  <a:pt x="230" y="9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1" name="Group 79"/>
          <p:cNvGrpSpPr/>
          <p:nvPr/>
        </p:nvGrpSpPr>
        <p:grpSpPr>
          <a:xfrm>
            <a:off x="4662552" y="2178204"/>
            <a:ext cx="641904" cy="703554"/>
            <a:chOff x="6980238" y="-342900"/>
            <a:chExt cx="1150937" cy="1311275"/>
          </a:xfrm>
          <a:solidFill>
            <a:schemeClr val="bg1"/>
          </a:solidFill>
        </p:grpSpPr>
        <p:sp>
          <p:nvSpPr>
            <p:cNvPr id="22" name="Freeform 30"/>
            <p:cNvSpPr>
              <a:spLocks noEditPoints="1"/>
            </p:cNvSpPr>
            <p:nvPr/>
          </p:nvSpPr>
          <p:spPr bwMode="auto">
            <a:xfrm>
              <a:off x="6980238" y="-342900"/>
              <a:ext cx="1150937" cy="1311275"/>
            </a:xfrm>
            <a:custGeom>
              <a:avLst/>
              <a:gdLst>
                <a:gd name="T0" fmla="*/ 152 w 304"/>
                <a:gd name="T1" fmla="*/ 0 h 347"/>
                <a:gd name="T2" fmla="*/ 0 w 304"/>
                <a:gd name="T3" fmla="*/ 71 h 347"/>
                <a:gd name="T4" fmla="*/ 0 w 304"/>
                <a:gd name="T5" fmla="*/ 277 h 347"/>
                <a:gd name="T6" fmla="*/ 152 w 304"/>
                <a:gd name="T7" fmla="*/ 347 h 347"/>
                <a:gd name="T8" fmla="*/ 304 w 304"/>
                <a:gd name="T9" fmla="*/ 277 h 347"/>
                <a:gd name="T10" fmla="*/ 304 w 304"/>
                <a:gd name="T11" fmla="*/ 71 h 347"/>
                <a:gd name="T12" fmla="*/ 152 w 304"/>
                <a:gd name="T13" fmla="*/ 0 h 347"/>
                <a:gd name="T14" fmla="*/ 282 w 304"/>
                <a:gd name="T15" fmla="*/ 277 h 347"/>
                <a:gd name="T16" fmla="*/ 152 w 304"/>
                <a:gd name="T17" fmla="*/ 326 h 347"/>
                <a:gd name="T18" fmla="*/ 22 w 304"/>
                <a:gd name="T19" fmla="*/ 277 h 347"/>
                <a:gd name="T20" fmla="*/ 22 w 304"/>
                <a:gd name="T21" fmla="*/ 236 h 347"/>
                <a:gd name="T22" fmla="*/ 152 w 304"/>
                <a:gd name="T23" fmla="*/ 271 h 347"/>
                <a:gd name="T24" fmla="*/ 282 w 304"/>
                <a:gd name="T25" fmla="*/ 236 h 347"/>
                <a:gd name="T26" fmla="*/ 282 w 304"/>
                <a:gd name="T27" fmla="*/ 277 h 347"/>
                <a:gd name="T28" fmla="*/ 282 w 304"/>
                <a:gd name="T29" fmla="*/ 212 h 347"/>
                <a:gd name="T30" fmla="*/ 282 w 304"/>
                <a:gd name="T31" fmla="*/ 212 h 347"/>
                <a:gd name="T32" fmla="*/ 282 w 304"/>
                <a:gd name="T33" fmla="*/ 212 h 347"/>
                <a:gd name="T34" fmla="*/ 152 w 304"/>
                <a:gd name="T35" fmla="*/ 261 h 347"/>
                <a:gd name="T36" fmla="*/ 22 w 304"/>
                <a:gd name="T37" fmla="*/ 212 h 347"/>
                <a:gd name="T38" fmla="*/ 22 w 304"/>
                <a:gd name="T39" fmla="*/ 212 h 347"/>
                <a:gd name="T40" fmla="*/ 22 w 304"/>
                <a:gd name="T41" fmla="*/ 212 h 347"/>
                <a:gd name="T42" fmla="*/ 22 w 304"/>
                <a:gd name="T43" fmla="*/ 171 h 347"/>
                <a:gd name="T44" fmla="*/ 152 w 304"/>
                <a:gd name="T45" fmla="*/ 206 h 347"/>
                <a:gd name="T46" fmla="*/ 282 w 304"/>
                <a:gd name="T47" fmla="*/ 171 h 347"/>
                <a:gd name="T48" fmla="*/ 282 w 304"/>
                <a:gd name="T49" fmla="*/ 212 h 347"/>
                <a:gd name="T50" fmla="*/ 282 w 304"/>
                <a:gd name="T51" fmla="*/ 147 h 347"/>
                <a:gd name="T52" fmla="*/ 282 w 304"/>
                <a:gd name="T53" fmla="*/ 147 h 347"/>
                <a:gd name="T54" fmla="*/ 282 w 304"/>
                <a:gd name="T55" fmla="*/ 147 h 347"/>
                <a:gd name="T56" fmla="*/ 152 w 304"/>
                <a:gd name="T57" fmla="*/ 195 h 347"/>
                <a:gd name="T58" fmla="*/ 22 w 304"/>
                <a:gd name="T59" fmla="*/ 147 h 347"/>
                <a:gd name="T60" fmla="*/ 22 w 304"/>
                <a:gd name="T61" fmla="*/ 147 h 347"/>
                <a:gd name="T62" fmla="*/ 22 w 304"/>
                <a:gd name="T63" fmla="*/ 147 h 347"/>
                <a:gd name="T64" fmla="*/ 22 w 304"/>
                <a:gd name="T65" fmla="*/ 109 h 347"/>
                <a:gd name="T66" fmla="*/ 152 w 304"/>
                <a:gd name="T67" fmla="*/ 141 h 347"/>
                <a:gd name="T68" fmla="*/ 282 w 304"/>
                <a:gd name="T69" fmla="*/ 109 h 347"/>
                <a:gd name="T70" fmla="*/ 282 w 304"/>
                <a:gd name="T71" fmla="*/ 147 h 347"/>
                <a:gd name="T72" fmla="*/ 152 w 304"/>
                <a:gd name="T73" fmla="*/ 119 h 347"/>
                <a:gd name="T74" fmla="*/ 22 w 304"/>
                <a:gd name="T75" fmla="*/ 71 h 347"/>
                <a:gd name="T76" fmla="*/ 152 w 304"/>
                <a:gd name="T77" fmla="*/ 22 h 347"/>
                <a:gd name="T78" fmla="*/ 282 w 304"/>
                <a:gd name="T79" fmla="*/ 71 h 347"/>
                <a:gd name="T80" fmla="*/ 152 w 304"/>
                <a:gd name="T81" fmla="*/ 11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04" h="347">
                  <a:moveTo>
                    <a:pt x="152" y="0"/>
                  </a:moveTo>
                  <a:cubicBezTo>
                    <a:pt x="79" y="0"/>
                    <a:pt x="0" y="22"/>
                    <a:pt x="0" y="71"/>
                  </a:cubicBezTo>
                  <a:cubicBezTo>
                    <a:pt x="0" y="277"/>
                    <a:pt x="0" y="277"/>
                    <a:pt x="0" y="277"/>
                  </a:cubicBezTo>
                  <a:cubicBezTo>
                    <a:pt x="0" y="325"/>
                    <a:pt x="79" y="347"/>
                    <a:pt x="152" y="347"/>
                  </a:cubicBezTo>
                  <a:cubicBezTo>
                    <a:pt x="225" y="347"/>
                    <a:pt x="304" y="325"/>
                    <a:pt x="304" y="277"/>
                  </a:cubicBezTo>
                  <a:cubicBezTo>
                    <a:pt x="304" y="71"/>
                    <a:pt x="304" y="71"/>
                    <a:pt x="304" y="71"/>
                  </a:cubicBezTo>
                  <a:cubicBezTo>
                    <a:pt x="304" y="22"/>
                    <a:pt x="225" y="0"/>
                    <a:pt x="152" y="0"/>
                  </a:cubicBezTo>
                  <a:close/>
                  <a:moveTo>
                    <a:pt x="282" y="277"/>
                  </a:moveTo>
                  <a:cubicBezTo>
                    <a:pt x="282" y="304"/>
                    <a:pt x="224" y="326"/>
                    <a:pt x="152" y="326"/>
                  </a:cubicBezTo>
                  <a:cubicBezTo>
                    <a:pt x="80" y="326"/>
                    <a:pt x="22" y="304"/>
                    <a:pt x="22" y="277"/>
                  </a:cubicBezTo>
                  <a:cubicBezTo>
                    <a:pt x="22" y="236"/>
                    <a:pt x="22" y="236"/>
                    <a:pt x="22" y="236"/>
                  </a:cubicBezTo>
                  <a:cubicBezTo>
                    <a:pt x="44" y="259"/>
                    <a:pt x="98" y="271"/>
                    <a:pt x="152" y="271"/>
                  </a:cubicBezTo>
                  <a:cubicBezTo>
                    <a:pt x="206" y="271"/>
                    <a:pt x="260" y="259"/>
                    <a:pt x="282" y="236"/>
                  </a:cubicBezTo>
                  <a:lnTo>
                    <a:pt x="282" y="277"/>
                  </a:lnTo>
                  <a:close/>
                  <a:moveTo>
                    <a:pt x="282" y="212"/>
                  </a:moveTo>
                  <a:cubicBezTo>
                    <a:pt x="282" y="212"/>
                    <a:pt x="282" y="212"/>
                    <a:pt x="282" y="212"/>
                  </a:cubicBezTo>
                  <a:cubicBezTo>
                    <a:pt x="282" y="212"/>
                    <a:pt x="282" y="212"/>
                    <a:pt x="282" y="212"/>
                  </a:cubicBezTo>
                  <a:cubicBezTo>
                    <a:pt x="282" y="239"/>
                    <a:pt x="224" y="261"/>
                    <a:pt x="152" y="261"/>
                  </a:cubicBezTo>
                  <a:cubicBezTo>
                    <a:pt x="80" y="261"/>
                    <a:pt x="22" y="239"/>
                    <a:pt x="22" y="212"/>
                  </a:cubicBezTo>
                  <a:cubicBezTo>
                    <a:pt x="22" y="212"/>
                    <a:pt x="22" y="212"/>
                    <a:pt x="22" y="212"/>
                  </a:cubicBezTo>
                  <a:cubicBezTo>
                    <a:pt x="22" y="212"/>
                    <a:pt x="22" y="212"/>
                    <a:pt x="22" y="212"/>
                  </a:cubicBezTo>
                  <a:cubicBezTo>
                    <a:pt x="22" y="171"/>
                    <a:pt x="22" y="171"/>
                    <a:pt x="22" y="171"/>
                  </a:cubicBezTo>
                  <a:cubicBezTo>
                    <a:pt x="44" y="194"/>
                    <a:pt x="98" y="206"/>
                    <a:pt x="152" y="206"/>
                  </a:cubicBezTo>
                  <a:cubicBezTo>
                    <a:pt x="206" y="206"/>
                    <a:pt x="260" y="194"/>
                    <a:pt x="282" y="171"/>
                  </a:cubicBezTo>
                  <a:lnTo>
                    <a:pt x="282" y="212"/>
                  </a:lnTo>
                  <a:close/>
                  <a:moveTo>
                    <a:pt x="282" y="147"/>
                  </a:moveTo>
                  <a:cubicBezTo>
                    <a:pt x="282" y="147"/>
                    <a:pt x="282" y="147"/>
                    <a:pt x="282" y="147"/>
                  </a:cubicBezTo>
                  <a:cubicBezTo>
                    <a:pt x="282" y="147"/>
                    <a:pt x="282" y="147"/>
                    <a:pt x="282" y="147"/>
                  </a:cubicBezTo>
                  <a:cubicBezTo>
                    <a:pt x="282" y="174"/>
                    <a:pt x="224" y="195"/>
                    <a:pt x="152" y="195"/>
                  </a:cubicBezTo>
                  <a:cubicBezTo>
                    <a:pt x="80" y="195"/>
                    <a:pt x="22" y="174"/>
                    <a:pt x="22" y="147"/>
                  </a:cubicBezTo>
                  <a:cubicBezTo>
                    <a:pt x="22" y="147"/>
                    <a:pt x="22" y="147"/>
                    <a:pt x="22" y="147"/>
                  </a:cubicBezTo>
                  <a:cubicBezTo>
                    <a:pt x="22" y="147"/>
                    <a:pt x="22" y="147"/>
                    <a:pt x="22" y="147"/>
                  </a:cubicBezTo>
                  <a:cubicBezTo>
                    <a:pt x="22" y="109"/>
                    <a:pt x="22" y="109"/>
                    <a:pt x="22" y="109"/>
                  </a:cubicBezTo>
                  <a:cubicBezTo>
                    <a:pt x="50" y="131"/>
                    <a:pt x="102" y="141"/>
                    <a:pt x="152" y="141"/>
                  </a:cubicBezTo>
                  <a:cubicBezTo>
                    <a:pt x="202" y="141"/>
                    <a:pt x="254" y="131"/>
                    <a:pt x="282" y="109"/>
                  </a:cubicBezTo>
                  <a:lnTo>
                    <a:pt x="282" y="147"/>
                  </a:lnTo>
                  <a:close/>
                  <a:moveTo>
                    <a:pt x="152" y="119"/>
                  </a:moveTo>
                  <a:cubicBezTo>
                    <a:pt x="80" y="119"/>
                    <a:pt x="22" y="98"/>
                    <a:pt x="22" y="71"/>
                  </a:cubicBezTo>
                  <a:cubicBezTo>
                    <a:pt x="22" y="44"/>
                    <a:pt x="80" y="22"/>
                    <a:pt x="152" y="22"/>
                  </a:cubicBezTo>
                  <a:cubicBezTo>
                    <a:pt x="224" y="22"/>
                    <a:pt x="282" y="44"/>
                    <a:pt x="282" y="71"/>
                  </a:cubicBezTo>
                  <a:cubicBezTo>
                    <a:pt x="282" y="98"/>
                    <a:pt x="224" y="119"/>
                    <a:pt x="152" y="119"/>
                  </a:cubicBez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mn-lt"/>
              </a:endParaRPr>
            </a:p>
          </p:txBody>
        </p:sp>
        <p:sp>
          <p:nvSpPr>
            <p:cNvPr id="23" name="Oval 31"/>
            <p:cNvSpPr>
              <a:spLocks noChangeArrowheads="1"/>
            </p:cNvSpPr>
            <p:nvPr/>
          </p:nvSpPr>
          <p:spPr bwMode="auto">
            <a:xfrm>
              <a:off x="7885113" y="681038"/>
              <a:ext cx="82550" cy="84138"/>
            </a:xfrm>
            <a:prstGeom prst="ellipse">
              <a:avLst/>
            </a:prstGeom>
            <a:grpFill/>
            <a:ln>
              <a:noFill/>
            </a:ln>
            <a:extLst>
              <a:ext uri="{91240B29-F687-4f45-9708-019B960494DF}"/>
            </a:extLst>
          </p:spPr>
          <p:txBody>
            <a:bodyPr/>
            <a:lstStyle/>
            <a:p>
              <a:pPr eaLnBrk="1" fontAlgn="auto" hangingPunct="1">
                <a:spcBef>
                  <a:spcPts val="0"/>
                </a:spcBef>
                <a:spcAft>
                  <a:spcPts val="0"/>
                </a:spcAft>
                <a:defRPr/>
              </a:pPr>
              <a:endParaRPr lang="id-ID">
                <a:latin typeface="+mn-lt"/>
              </a:endParaRPr>
            </a:p>
          </p:txBody>
        </p:sp>
        <p:sp>
          <p:nvSpPr>
            <p:cNvPr id="24" name="Oval 32"/>
            <p:cNvSpPr>
              <a:spLocks noChangeArrowheads="1"/>
            </p:cNvSpPr>
            <p:nvPr/>
          </p:nvSpPr>
          <p:spPr bwMode="auto">
            <a:xfrm>
              <a:off x="7885113" y="434975"/>
              <a:ext cx="82550" cy="84138"/>
            </a:xfrm>
            <a:prstGeom prst="ellipse">
              <a:avLst/>
            </a:prstGeom>
            <a:grpFill/>
            <a:ln>
              <a:noFill/>
            </a:ln>
            <a:extLst>
              <a:ext uri="{91240B29-F687-4f45-9708-019B960494DF}"/>
            </a:extLst>
          </p:spPr>
          <p:txBody>
            <a:bodyPr/>
            <a:lstStyle/>
            <a:p>
              <a:pPr eaLnBrk="1" fontAlgn="auto" hangingPunct="1">
                <a:spcBef>
                  <a:spcPts val="0"/>
                </a:spcBef>
                <a:spcAft>
                  <a:spcPts val="0"/>
                </a:spcAft>
                <a:defRPr/>
              </a:pPr>
              <a:endParaRPr lang="id-ID">
                <a:latin typeface="+mn-lt"/>
              </a:endParaRPr>
            </a:p>
          </p:txBody>
        </p:sp>
        <p:sp>
          <p:nvSpPr>
            <p:cNvPr id="25" name="Oval 33"/>
            <p:cNvSpPr>
              <a:spLocks noChangeArrowheads="1"/>
            </p:cNvSpPr>
            <p:nvPr/>
          </p:nvSpPr>
          <p:spPr bwMode="auto">
            <a:xfrm>
              <a:off x="7885113" y="190500"/>
              <a:ext cx="82550" cy="82550"/>
            </a:xfrm>
            <a:prstGeom prst="ellipse">
              <a:avLst/>
            </a:prstGeom>
            <a:grpFill/>
            <a:ln>
              <a:noFill/>
            </a:ln>
            <a:extLst>
              <a:ext uri="{91240B29-F687-4f45-9708-019B960494DF}"/>
            </a:extLst>
          </p:spPr>
          <p:txBody>
            <a:bodyPr/>
            <a:lstStyle/>
            <a:p>
              <a:pPr eaLnBrk="1" fontAlgn="auto" hangingPunct="1">
                <a:spcBef>
                  <a:spcPts val="0"/>
                </a:spcBef>
                <a:spcAft>
                  <a:spcPts val="0"/>
                </a:spcAft>
                <a:defRPr/>
              </a:pPr>
              <a:endParaRPr lang="id-ID">
                <a:latin typeface="+mn-lt"/>
              </a:endParaRPr>
            </a:p>
          </p:txBody>
        </p:sp>
      </p:grpSp>
      <p:sp>
        <p:nvSpPr>
          <p:cNvPr id="7" name="Oval 101">
            <a:extLst>
              <a:ext uri="{FF2B5EF4-FFF2-40B4-BE49-F238E27FC236}">
                <a16:creationId xmlns:a16="http://schemas.microsoft.com/office/drawing/2014/main" id="{987F0D9C-91E2-4639-BD65-6683111B760B}"/>
              </a:ext>
            </a:extLst>
          </p:cNvPr>
          <p:cNvSpPr>
            <a:spLocks noChangeArrowheads="1"/>
          </p:cNvSpPr>
          <p:nvPr/>
        </p:nvSpPr>
        <p:spPr bwMode="auto">
          <a:xfrm>
            <a:off x="3574845" y="2612713"/>
            <a:ext cx="1122676" cy="1121786"/>
          </a:xfrm>
          <a:prstGeom prst="ellipse">
            <a:avLst/>
          </a:prstGeom>
          <a:solidFill>
            <a:srgbClr val="AFD9E6"/>
          </a:solidFill>
          <a:ln w="19050">
            <a:solidFill>
              <a:schemeClr val="bg1"/>
            </a:solidFill>
          </a:ln>
        </p:spPr>
        <p:txBody>
          <a:bodyPr vert="horz" wrap="square" lIns="109541" tIns="54770" rIns="109541" bIns="54770" numCol="1" anchor="t" anchorCtr="0" compatLnSpc="1">
            <a:prstTxWarp prst="textNoShape">
              <a:avLst/>
            </a:prstTxWarp>
          </a:bodyPr>
          <a:lstStyle/>
          <a:p>
            <a:pPr>
              <a:lnSpc>
                <a:spcPct val="130000"/>
              </a:lnSpc>
            </a:pPr>
            <a:endParaRPr lang="zh-CN" altLang="en-US" sz="2167" dirty="0">
              <a:latin typeface="微软雅黑" panose="020B0503020204020204" pitchFamily="34" charset="-122"/>
              <a:ea typeface="微软雅黑" panose="020B0503020204020204" pitchFamily="34" charset="-122"/>
              <a:cs typeface="+mn-ea"/>
              <a:sym typeface="+mn-lt"/>
            </a:endParaRPr>
          </a:p>
        </p:txBody>
      </p:sp>
      <p:grpSp>
        <p:nvGrpSpPr>
          <p:cNvPr id="26" name="Group 64"/>
          <p:cNvGrpSpPr/>
          <p:nvPr/>
        </p:nvGrpSpPr>
        <p:grpSpPr>
          <a:xfrm>
            <a:off x="3863809" y="2829403"/>
            <a:ext cx="579922" cy="578584"/>
            <a:chOff x="6294438" y="-201613"/>
            <a:chExt cx="687387" cy="685801"/>
          </a:xfrm>
          <a:solidFill>
            <a:schemeClr val="bg1"/>
          </a:solidFill>
        </p:grpSpPr>
        <p:sp>
          <p:nvSpPr>
            <p:cNvPr id="27" name="Freeform 10"/>
            <p:cNvSpPr>
              <a:spLocks noEditPoints="1"/>
            </p:cNvSpPr>
            <p:nvPr/>
          </p:nvSpPr>
          <p:spPr bwMode="auto">
            <a:xfrm>
              <a:off x="6294438" y="-201613"/>
              <a:ext cx="687387" cy="685801"/>
            </a:xfrm>
            <a:custGeom>
              <a:avLst/>
              <a:gdLst>
                <a:gd name="T0" fmla="*/ 163 w 180"/>
                <a:gd name="T1" fmla="*/ 0 h 180"/>
                <a:gd name="T2" fmla="*/ 39 w 180"/>
                <a:gd name="T3" fmla="*/ 0 h 180"/>
                <a:gd name="T4" fmla="*/ 23 w 180"/>
                <a:gd name="T5" fmla="*/ 17 h 180"/>
                <a:gd name="T6" fmla="*/ 23 w 180"/>
                <a:gd name="T7" fmla="*/ 28 h 180"/>
                <a:gd name="T8" fmla="*/ 17 w 180"/>
                <a:gd name="T9" fmla="*/ 28 h 180"/>
                <a:gd name="T10" fmla="*/ 0 w 180"/>
                <a:gd name="T11" fmla="*/ 45 h 180"/>
                <a:gd name="T12" fmla="*/ 0 w 180"/>
                <a:gd name="T13" fmla="*/ 158 h 180"/>
                <a:gd name="T14" fmla="*/ 23 w 180"/>
                <a:gd name="T15" fmla="*/ 180 h 180"/>
                <a:gd name="T16" fmla="*/ 158 w 180"/>
                <a:gd name="T17" fmla="*/ 180 h 180"/>
                <a:gd name="T18" fmla="*/ 180 w 180"/>
                <a:gd name="T19" fmla="*/ 158 h 180"/>
                <a:gd name="T20" fmla="*/ 180 w 180"/>
                <a:gd name="T21" fmla="*/ 17 h 180"/>
                <a:gd name="T22" fmla="*/ 163 w 180"/>
                <a:gd name="T23" fmla="*/ 0 h 180"/>
                <a:gd name="T24" fmla="*/ 169 w 180"/>
                <a:gd name="T25" fmla="*/ 158 h 180"/>
                <a:gd name="T26" fmla="*/ 158 w 180"/>
                <a:gd name="T27" fmla="*/ 169 h 180"/>
                <a:gd name="T28" fmla="*/ 23 w 180"/>
                <a:gd name="T29" fmla="*/ 169 h 180"/>
                <a:gd name="T30" fmla="*/ 11 w 180"/>
                <a:gd name="T31" fmla="*/ 158 h 180"/>
                <a:gd name="T32" fmla="*/ 11 w 180"/>
                <a:gd name="T33" fmla="*/ 45 h 180"/>
                <a:gd name="T34" fmla="*/ 17 w 180"/>
                <a:gd name="T35" fmla="*/ 39 h 180"/>
                <a:gd name="T36" fmla="*/ 23 w 180"/>
                <a:gd name="T37" fmla="*/ 39 h 180"/>
                <a:gd name="T38" fmla="*/ 23 w 180"/>
                <a:gd name="T39" fmla="*/ 152 h 180"/>
                <a:gd name="T40" fmla="*/ 28 w 180"/>
                <a:gd name="T41" fmla="*/ 158 h 180"/>
                <a:gd name="T42" fmla="*/ 34 w 180"/>
                <a:gd name="T43" fmla="*/ 152 h 180"/>
                <a:gd name="T44" fmla="*/ 34 w 180"/>
                <a:gd name="T45" fmla="*/ 17 h 180"/>
                <a:gd name="T46" fmla="*/ 39 w 180"/>
                <a:gd name="T47" fmla="*/ 11 h 180"/>
                <a:gd name="T48" fmla="*/ 163 w 180"/>
                <a:gd name="T49" fmla="*/ 11 h 180"/>
                <a:gd name="T50" fmla="*/ 169 w 180"/>
                <a:gd name="T51" fmla="*/ 17 h 180"/>
                <a:gd name="T52" fmla="*/ 169 w 180"/>
                <a:gd name="T53" fmla="*/ 158 h 1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80" h="180">
                  <a:moveTo>
                    <a:pt x="163" y="0"/>
                  </a:moveTo>
                  <a:cubicBezTo>
                    <a:pt x="39" y="0"/>
                    <a:pt x="39" y="0"/>
                    <a:pt x="39" y="0"/>
                  </a:cubicBezTo>
                  <a:cubicBezTo>
                    <a:pt x="30" y="0"/>
                    <a:pt x="23" y="8"/>
                    <a:pt x="23" y="17"/>
                  </a:cubicBezTo>
                  <a:cubicBezTo>
                    <a:pt x="23" y="28"/>
                    <a:pt x="23" y="28"/>
                    <a:pt x="23" y="28"/>
                  </a:cubicBezTo>
                  <a:cubicBezTo>
                    <a:pt x="17" y="28"/>
                    <a:pt x="17" y="28"/>
                    <a:pt x="17" y="28"/>
                  </a:cubicBezTo>
                  <a:cubicBezTo>
                    <a:pt x="8" y="28"/>
                    <a:pt x="0" y="36"/>
                    <a:pt x="0" y="45"/>
                  </a:cubicBezTo>
                  <a:cubicBezTo>
                    <a:pt x="0" y="158"/>
                    <a:pt x="0" y="158"/>
                    <a:pt x="0" y="158"/>
                  </a:cubicBezTo>
                  <a:cubicBezTo>
                    <a:pt x="0" y="170"/>
                    <a:pt x="10" y="180"/>
                    <a:pt x="23" y="180"/>
                  </a:cubicBezTo>
                  <a:cubicBezTo>
                    <a:pt x="158" y="180"/>
                    <a:pt x="158" y="180"/>
                    <a:pt x="158" y="180"/>
                  </a:cubicBezTo>
                  <a:cubicBezTo>
                    <a:pt x="170" y="180"/>
                    <a:pt x="180" y="170"/>
                    <a:pt x="180" y="158"/>
                  </a:cubicBezTo>
                  <a:cubicBezTo>
                    <a:pt x="180" y="17"/>
                    <a:pt x="180" y="17"/>
                    <a:pt x="180" y="17"/>
                  </a:cubicBezTo>
                  <a:cubicBezTo>
                    <a:pt x="180" y="8"/>
                    <a:pt x="172" y="0"/>
                    <a:pt x="163" y="0"/>
                  </a:cubicBezTo>
                  <a:close/>
                  <a:moveTo>
                    <a:pt x="169" y="158"/>
                  </a:moveTo>
                  <a:cubicBezTo>
                    <a:pt x="169" y="164"/>
                    <a:pt x="164" y="169"/>
                    <a:pt x="158" y="169"/>
                  </a:cubicBezTo>
                  <a:cubicBezTo>
                    <a:pt x="23" y="169"/>
                    <a:pt x="23" y="169"/>
                    <a:pt x="23" y="169"/>
                  </a:cubicBezTo>
                  <a:cubicBezTo>
                    <a:pt x="16" y="169"/>
                    <a:pt x="11" y="164"/>
                    <a:pt x="11" y="158"/>
                  </a:cubicBezTo>
                  <a:cubicBezTo>
                    <a:pt x="11" y="45"/>
                    <a:pt x="11" y="45"/>
                    <a:pt x="11" y="45"/>
                  </a:cubicBezTo>
                  <a:cubicBezTo>
                    <a:pt x="11" y="42"/>
                    <a:pt x="14" y="39"/>
                    <a:pt x="17" y="39"/>
                  </a:cubicBezTo>
                  <a:cubicBezTo>
                    <a:pt x="23" y="39"/>
                    <a:pt x="23" y="39"/>
                    <a:pt x="23" y="39"/>
                  </a:cubicBezTo>
                  <a:cubicBezTo>
                    <a:pt x="23" y="152"/>
                    <a:pt x="23" y="152"/>
                    <a:pt x="23" y="152"/>
                  </a:cubicBezTo>
                  <a:cubicBezTo>
                    <a:pt x="23" y="155"/>
                    <a:pt x="25" y="158"/>
                    <a:pt x="28" y="158"/>
                  </a:cubicBezTo>
                  <a:cubicBezTo>
                    <a:pt x="31" y="158"/>
                    <a:pt x="34" y="155"/>
                    <a:pt x="34" y="152"/>
                  </a:cubicBezTo>
                  <a:cubicBezTo>
                    <a:pt x="34" y="17"/>
                    <a:pt x="34" y="17"/>
                    <a:pt x="34" y="17"/>
                  </a:cubicBezTo>
                  <a:cubicBezTo>
                    <a:pt x="34" y="14"/>
                    <a:pt x="36" y="11"/>
                    <a:pt x="39" y="11"/>
                  </a:cubicBezTo>
                  <a:cubicBezTo>
                    <a:pt x="163" y="11"/>
                    <a:pt x="163" y="11"/>
                    <a:pt x="163" y="11"/>
                  </a:cubicBezTo>
                  <a:cubicBezTo>
                    <a:pt x="166" y="11"/>
                    <a:pt x="169" y="14"/>
                    <a:pt x="169" y="17"/>
                  </a:cubicBezTo>
                  <a:lnTo>
                    <a:pt x="169" y="158"/>
                  </a:ln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28" name="Freeform 11"/>
            <p:cNvSpPr>
              <a:spLocks/>
            </p:cNvSpPr>
            <p:nvPr/>
          </p:nvSpPr>
          <p:spPr bwMode="auto">
            <a:xfrm>
              <a:off x="6702425" y="58737"/>
              <a:ext cx="192087" cy="19050"/>
            </a:xfrm>
            <a:custGeom>
              <a:avLst/>
              <a:gdLst>
                <a:gd name="T0" fmla="*/ 3 w 50"/>
                <a:gd name="T1" fmla="*/ 5 h 5"/>
                <a:gd name="T2" fmla="*/ 48 w 50"/>
                <a:gd name="T3" fmla="*/ 5 h 5"/>
                <a:gd name="T4" fmla="*/ 50 w 50"/>
                <a:gd name="T5" fmla="*/ 2 h 5"/>
                <a:gd name="T6" fmla="*/ 48 w 50"/>
                <a:gd name="T7" fmla="*/ 0 h 5"/>
                <a:gd name="T8" fmla="*/ 3 w 50"/>
                <a:gd name="T9" fmla="*/ 0 h 5"/>
                <a:gd name="T10" fmla="*/ 0 w 50"/>
                <a:gd name="T11" fmla="*/ 2 h 5"/>
                <a:gd name="T12" fmla="*/ 3 w 5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50" h="5">
                  <a:moveTo>
                    <a:pt x="3" y="5"/>
                  </a:moveTo>
                  <a:cubicBezTo>
                    <a:pt x="48" y="5"/>
                    <a:pt x="48" y="5"/>
                    <a:pt x="48" y="5"/>
                  </a:cubicBezTo>
                  <a:cubicBezTo>
                    <a:pt x="49" y="5"/>
                    <a:pt x="50" y="4"/>
                    <a:pt x="50" y="2"/>
                  </a:cubicBezTo>
                  <a:cubicBezTo>
                    <a:pt x="50" y="1"/>
                    <a:pt x="49" y="0"/>
                    <a:pt x="48" y="0"/>
                  </a:cubicBezTo>
                  <a:cubicBezTo>
                    <a:pt x="3" y="0"/>
                    <a:pt x="3" y="0"/>
                    <a:pt x="3" y="0"/>
                  </a:cubicBezTo>
                  <a:cubicBezTo>
                    <a:pt x="1" y="0"/>
                    <a:pt x="0" y="1"/>
                    <a:pt x="0" y="2"/>
                  </a:cubicBezTo>
                  <a:cubicBezTo>
                    <a:pt x="0" y="4"/>
                    <a:pt x="1" y="5"/>
                    <a:pt x="3" y="5"/>
                  </a:cubicBez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29" name="Freeform 12"/>
            <p:cNvSpPr>
              <a:spLocks/>
            </p:cNvSpPr>
            <p:nvPr/>
          </p:nvSpPr>
          <p:spPr bwMode="auto">
            <a:xfrm>
              <a:off x="6702425" y="-6350"/>
              <a:ext cx="192087" cy="19050"/>
            </a:xfrm>
            <a:custGeom>
              <a:avLst/>
              <a:gdLst>
                <a:gd name="T0" fmla="*/ 3 w 50"/>
                <a:gd name="T1" fmla="*/ 5 h 5"/>
                <a:gd name="T2" fmla="*/ 48 w 50"/>
                <a:gd name="T3" fmla="*/ 5 h 5"/>
                <a:gd name="T4" fmla="*/ 50 w 50"/>
                <a:gd name="T5" fmla="*/ 2 h 5"/>
                <a:gd name="T6" fmla="*/ 48 w 50"/>
                <a:gd name="T7" fmla="*/ 0 h 5"/>
                <a:gd name="T8" fmla="*/ 3 w 50"/>
                <a:gd name="T9" fmla="*/ 0 h 5"/>
                <a:gd name="T10" fmla="*/ 0 w 50"/>
                <a:gd name="T11" fmla="*/ 2 h 5"/>
                <a:gd name="T12" fmla="*/ 3 w 5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50" h="5">
                  <a:moveTo>
                    <a:pt x="3" y="5"/>
                  </a:moveTo>
                  <a:cubicBezTo>
                    <a:pt x="48" y="5"/>
                    <a:pt x="48" y="5"/>
                    <a:pt x="48" y="5"/>
                  </a:cubicBezTo>
                  <a:cubicBezTo>
                    <a:pt x="49" y="5"/>
                    <a:pt x="50" y="4"/>
                    <a:pt x="50" y="2"/>
                  </a:cubicBezTo>
                  <a:cubicBezTo>
                    <a:pt x="50" y="1"/>
                    <a:pt x="49" y="0"/>
                    <a:pt x="48" y="0"/>
                  </a:cubicBezTo>
                  <a:cubicBezTo>
                    <a:pt x="3" y="0"/>
                    <a:pt x="3" y="0"/>
                    <a:pt x="3" y="0"/>
                  </a:cubicBezTo>
                  <a:cubicBezTo>
                    <a:pt x="1" y="0"/>
                    <a:pt x="0" y="1"/>
                    <a:pt x="0" y="2"/>
                  </a:cubicBezTo>
                  <a:cubicBezTo>
                    <a:pt x="0" y="4"/>
                    <a:pt x="1" y="5"/>
                    <a:pt x="3" y="5"/>
                  </a:cubicBez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30" name="Freeform 13"/>
            <p:cNvSpPr>
              <a:spLocks/>
            </p:cNvSpPr>
            <p:nvPr/>
          </p:nvSpPr>
          <p:spPr bwMode="auto">
            <a:xfrm>
              <a:off x="6702425" y="-71438"/>
              <a:ext cx="192087" cy="19050"/>
            </a:xfrm>
            <a:custGeom>
              <a:avLst/>
              <a:gdLst>
                <a:gd name="T0" fmla="*/ 3 w 50"/>
                <a:gd name="T1" fmla="*/ 5 h 5"/>
                <a:gd name="T2" fmla="*/ 48 w 50"/>
                <a:gd name="T3" fmla="*/ 5 h 5"/>
                <a:gd name="T4" fmla="*/ 50 w 50"/>
                <a:gd name="T5" fmla="*/ 3 h 5"/>
                <a:gd name="T6" fmla="*/ 48 w 50"/>
                <a:gd name="T7" fmla="*/ 0 h 5"/>
                <a:gd name="T8" fmla="*/ 3 w 50"/>
                <a:gd name="T9" fmla="*/ 0 h 5"/>
                <a:gd name="T10" fmla="*/ 0 w 50"/>
                <a:gd name="T11" fmla="*/ 3 h 5"/>
                <a:gd name="T12" fmla="*/ 3 w 50"/>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50" h="5">
                  <a:moveTo>
                    <a:pt x="3" y="5"/>
                  </a:moveTo>
                  <a:cubicBezTo>
                    <a:pt x="48" y="5"/>
                    <a:pt x="48" y="5"/>
                    <a:pt x="48" y="5"/>
                  </a:cubicBezTo>
                  <a:cubicBezTo>
                    <a:pt x="49" y="5"/>
                    <a:pt x="50" y="4"/>
                    <a:pt x="50" y="3"/>
                  </a:cubicBezTo>
                  <a:cubicBezTo>
                    <a:pt x="50" y="1"/>
                    <a:pt x="49" y="0"/>
                    <a:pt x="48" y="0"/>
                  </a:cubicBezTo>
                  <a:cubicBezTo>
                    <a:pt x="3" y="0"/>
                    <a:pt x="3" y="0"/>
                    <a:pt x="3" y="0"/>
                  </a:cubicBezTo>
                  <a:cubicBezTo>
                    <a:pt x="1" y="0"/>
                    <a:pt x="0" y="1"/>
                    <a:pt x="0" y="3"/>
                  </a:cubicBezTo>
                  <a:cubicBezTo>
                    <a:pt x="0" y="4"/>
                    <a:pt x="1" y="5"/>
                    <a:pt x="3" y="5"/>
                  </a:cubicBez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31" name="Freeform 14"/>
            <p:cNvSpPr>
              <a:spLocks/>
            </p:cNvSpPr>
            <p:nvPr/>
          </p:nvSpPr>
          <p:spPr bwMode="auto">
            <a:xfrm>
              <a:off x="6465888" y="377825"/>
              <a:ext cx="195262" cy="23813"/>
            </a:xfrm>
            <a:custGeom>
              <a:avLst/>
              <a:gdLst>
                <a:gd name="T0" fmla="*/ 48 w 51"/>
                <a:gd name="T1" fmla="*/ 0 h 6"/>
                <a:gd name="T2" fmla="*/ 3 w 51"/>
                <a:gd name="T3" fmla="*/ 0 h 6"/>
                <a:gd name="T4" fmla="*/ 0 w 51"/>
                <a:gd name="T5" fmla="*/ 3 h 6"/>
                <a:gd name="T6" fmla="*/ 3 w 51"/>
                <a:gd name="T7" fmla="*/ 6 h 6"/>
                <a:gd name="T8" fmla="*/ 48 w 51"/>
                <a:gd name="T9" fmla="*/ 6 h 6"/>
                <a:gd name="T10" fmla="*/ 51 w 51"/>
                <a:gd name="T11" fmla="*/ 3 h 6"/>
                <a:gd name="T12" fmla="*/ 48 w 51"/>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1" h="6">
                  <a:moveTo>
                    <a:pt x="48" y="0"/>
                  </a:moveTo>
                  <a:cubicBezTo>
                    <a:pt x="3" y="0"/>
                    <a:pt x="3" y="0"/>
                    <a:pt x="3" y="0"/>
                  </a:cubicBezTo>
                  <a:cubicBezTo>
                    <a:pt x="1" y="0"/>
                    <a:pt x="0" y="1"/>
                    <a:pt x="0" y="3"/>
                  </a:cubicBezTo>
                  <a:cubicBezTo>
                    <a:pt x="0" y="4"/>
                    <a:pt x="1" y="6"/>
                    <a:pt x="3" y="6"/>
                  </a:cubicBezTo>
                  <a:cubicBezTo>
                    <a:pt x="48" y="6"/>
                    <a:pt x="48" y="6"/>
                    <a:pt x="48" y="6"/>
                  </a:cubicBezTo>
                  <a:cubicBezTo>
                    <a:pt x="49" y="6"/>
                    <a:pt x="51" y="4"/>
                    <a:pt x="51" y="3"/>
                  </a:cubicBezTo>
                  <a:cubicBezTo>
                    <a:pt x="51" y="1"/>
                    <a:pt x="49" y="0"/>
                    <a:pt x="48" y="0"/>
                  </a:cubicBez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32" name="Freeform 15"/>
            <p:cNvSpPr>
              <a:spLocks/>
            </p:cNvSpPr>
            <p:nvPr/>
          </p:nvSpPr>
          <p:spPr bwMode="auto">
            <a:xfrm>
              <a:off x="6465888" y="312738"/>
              <a:ext cx="195262" cy="23813"/>
            </a:xfrm>
            <a:custGeom>
              <a:avLst/>
              <a:gdLst>
                <a:gd name="T0" fmla="*/ 48 w 51"/>
                <a:gd name="T1" fmla="*/ 0 h 6"/>
                <a:gd name="T2" fmla="*/ 3 w 51"/>
                <a:gd name="T3" fmla="*/ 0 h 6"/>
                <a:gd name="T4" fmla="*/ 0 w 51"/>
                <a:gd name="T5" fmla="*/ 3 h 6"/>
                <a:gd name="T6" fmla="*/ 3 w 51"/>
                <a:gd name="T7" fmla="*/ 6 h 6"/>
                <a:gd name="T8" fmla="*/ 48 w 51"/>
                <a:gd name="T9" fmla="*/ 6 h 6"/>
                <a:gd name="T10" fmla="*/ 51 w 51"/>
                <a:gd name="T11" fmla="*/ 3 h 6"/>
                <a:gd name="T12" fmla="*/ 48 w 51"/>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1" h="6">
                  <a:moveTo>
                    <a:pt x="48" y="0"/>
                  </a:moveTo>
                  <a:cubicBezTo>
                    <a:pt x="3" y="0"/>
                    <a:pt x="3" y="0"/>
                    <a:pt x="3" y="0"/>
                  </a:cubicBezTo>
                  <a:cubicBezTo>
                    <a:pt x="1" y="0"/>
                    <a:pt x="0" y="1"/>
                    <a:pt x="0" y="3"/>
                  </a:cubicBezTo>
                  <a:cubicBezTo>
                    <a:pt x="0" y="4"/>
                    <a:pt x="1" y="6"/>
                    <a:pt x="3" y="6"/>
                  </a:cubicBezTo>
                  <a:cubicBezTo>
                    <a:pt x="48" y="6"/>
                    <a:pt x="48" y="6"/>
                    <a:pt x="48" y="6"/>
                  </a:cubicBezTo>
                  <a:cubicBezTo>
                    <a:pt x="49" y="6"/>
                    <a:pt x="51" y="4"/>
                    <a:pt x="51" y="3"/>
                  </a:cubicBezTo>
                  <a:cubicBezTo>
                    <a:pt x="51" y="1"/>
                    <a:pt x="49" y="0"/>
                    <a:pt x="48" y="0"/>
                  </a:cubicBez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33" name="Freeform 16"/>
            <p:cNvSpPr>
              <a:spLocks/>
            </p:cNvSpPr>
            <p:nvPr/>
          </p:nvSpPr>
          <p:spPr bwMode="auto">
            <a:xfrm>
              <a:off x="6465888" y="249238"/>
              <a:ext cx="195262" cy="22225"/>
            </a:xfrm>
            <a:custGeom>
              <a:avLst/>
              <a:gdLst>
                <a:gd name="T0" fmla="*/ 48 w 51"/>
                <a:gd name="T1" fmla="*/ 0 h 6"/>
                <a:gd name="T2" fmla="*/ 3 w 51"/>
                <a:gd name="T3" fmla="*/ 0 h 6"/>
                <a:gd name="T4" fmla="*/ 0 w 51"/>
                <a:gd name="T5" fmla="*/ 3 h 6"/>
                <a:gd name="T6" fmla="*/ 3 w 51"/>
                <a:gd name="T7" fmla="*/ 6 h 6"/>
                <a:gd name="T8" fmla="*/ 48 w 51"/>
                <a:gd name="T9" fmla="*/ 6 h 6"/>
                <a:gd name="T10" fmla="*/ 51 w 51"/>
                <a:gd name="T11" fmla="*/ 3 h 6"/>
                <a:gd name="T12" fmla="*/ 48 w 51"/>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1" h="6">
                  <a:moveTo>
                    <a:pt x="48" y="0"/>
                  </a:moveTo>
                  <a:cubicBezTo>
                    <a:pt x="3" y="0"/>
                    <a:pt x="3" y="0"/>
                    <a:pt x="3" y="0"/>
                  </a:cubicBezTo>
                  <a:cubicBezTo>
                    <a:pt x="1" y="0"/>
                    <a:pt x="0" y="1"/>
                    <a:pt x="0" y="3"/>
                  </a:cubicBezTo>
                  <a:cubicBezTo>
                    <a:pt x="0" y="5"/>
                    <a:pt x="1" y="6"/>
                    <a:pt x="3" y="6"/>
                  </a:cubicBezTo>
                  <a:cubicBezTo>
                    <a:pt x="48" y="6"/>
                    <a:pt x="48" y="6"/>
                    <a:pt x="48" y="6"/>
                  </a:cubicBezTo>
                  <a:cubicBezTo>
                    <a:pt x="49" y="6"/>
                    <a:pt x="51" y="5"/>
                    <a:pt x="51" y="3"/>
                  </a:cubicBezTo>
                  <a:cubicBezTo>
                    <a:pt x="51" y="1"/>
                    <a:pt x="49" y="0"/>
                    <a:pt x="48" y="0"/>
                  </a:cubicBez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34" name="Freeform 17"/>
            <p:cNvSpPr>
              <a:spLocks/>
            </p:cNvSpPr>
            <p:nvPr/>
          </p:nvSpPr>
          <p:spPr bwMode="auto">
            <a:xfrm>
              <a:off x="6702425" y="377825"/>
              <a:ext cx="195262" cy="23813"/>
            </a:xfrm>
            <a:custGeom>
              <a:avLst/>
              <a:gdLst>
                <a:gd name="T0" fmla="*/ 48 w 51"/>
                <a:gd name="T1" fmla="*/ 0 h 6"/>
                <a:gd name="T2" fmla="*/ 3 w 51"/>
                <a:gd name="T3" fmla="*/ 0 h 6"/>
                <a:gd name="T4" fmla="*/ 0 w 51"/>
                <a:gd name="T5" fmla="*/ 3 h 6"/>
                <a:gd name="T6" fmla="*/ 3 w 51"/>
                <a:gd name="T7" fmla="*/ 6 h 6"/>
                <a:gd name="T8" fmla="*/ 48 w 51"/>
                <a:gd name="T9" fmla="*/ 6 h 6"/>
                <a:gd name="T10" fmla="*/ 51 w 51"/>
                <a:gd name="T11" fmla="*/ 3 h 6"/>
                <a:gd name="T12" fmla="*/ 48 w 51"/>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1" h="6">
                  <a:moveTo>
                    <a:pt x="48" y="0"/>
                  </a:moveTo>
                  <a:cubicBezTo>
                    <a:pt x="3" y="0"/>
                    <a:pt x="3" y="0"/>
                    <a:pt x="3" y="0"/>
                  </a:cubicBezTo>
                  <a:cubicBezTo>
                    <a:pt x="1" y="0"/>
                    <a:pt x="0" y="1"/>
                    <a:pt x="0" y="3"/>
                  </a:cubicBezTo>
                  <a:cubicBezTo>
                    <a:pt x="0" y="4"/>
                    <a:pt x="1" y="6"/>
                    <a:pt x="3" y="6"/>
                  </a:cubicBezTo>
                  <a:cubicBezTo>
                    <a:pt x="48" y="6"/>
                    <a:pt x="48" y="6"/>
                    <a:pt x="48" y="6"/>
                  </a:cubicBezTo>
                  <a:cubicBezTo>
                    <a:pt x="49" y="6"/>
                    <a:pt x="51" y="4"/>
                    <a:pt x="51" y="3"/>
                  </a:cubicBezTo>
                  <a:cubicBezTo>
                    <a:pt x="51" y="1"/>
                    <a:pt x="49" y="0"/>
                    <a:pt x="48" y="0"/>
                  </a:cubicBez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35" name="Freeform 18"/>
            <p:cNvSpPr>
              <a:spLocks/>
            </p:cNvSpPr>
            <p:nvPr/>
          </p:nvSpPr>
          <p:spPr bwMode="auto">
            <a:xfrm>
              <a:off x="6702425" y="312738"/>
              <a:ext cx="195262" cy="23813"/>
            </a:xfrm>
            <a:custGeom>
              <a:avLst/>
              <a:gdLst>
                <a:gd name="T0" fmla="*/ 48 w 51"/>
                <a:gd name="T1" fmla="*/ 0 h 6"/>
                <a:gd name="T2" fmla="*/ 3 w 51"/>
                <a:gd name="T3" fmla="*/ 0 h 6"/>
                <a:gd name="T4" fmla="*/ 0 w 51"/>
                <a:gd name="T5" fmla="*/ 3 h 6"/>
                <a:gd name="T6" fmla="*/ 3 w 51"/>
                <a:gd name="T7" fmla="*/ 6 h 6"/>
                <a:gd name="T8" fmla="*/ 48 w 51"/>
                <a:gd name="T9" fmla="*/ 6 h 6"/>
                <a:gd name="T10" fmla="*/ 51 w 51"/>
                <a:gd name="T11" fmla="*/ 3 h 6"/>
                <a:gd name="T12" fmla="*/ 48 w 51"/>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1" h="6">
                  <a:moveTo>
                    <a:pt x="48" y="0"/>
                  </a:moveTo>
                  <a:cubicBezTo>
                    <a:pt x="3" y="0"/>
                    <a:pt x="3" y="0"/>
                    <a:pt x="3" y="0"/>
                  </a:cubicBezTo>
                  <a:cubicBezTo>
                    <a:pt x="1" y="0"/>
                    <a:pt x="0" y="1"/>
                    <a:pt x="0" y="3"/>
                  </a:cubicBezTo>
                  <a:cubicBezTo>
                    <a:pt x="0" y="4"/>
                    <a:pt x="1" y="6"/>
                    <a:pt x="3" y="6"/>
                  </a:cubicBezTo>
                  <a:cubicBezTo>
                    <a:pt x="48" y="6"/>
                    <a:pt x="48" y="6"/>
                    <a:pt x="48" y="6"/>
                  </a:cubicBezTo>
                  <a:cubicBezTo>
                    <a:pt x="49" y="6"/>
                    <a:pt x="51" y="4"/>
                    <a:pt x="51" y="3"/>
                  </a:cubicBezTo>
                  <a:cubicBezTo>
                    <a:pt x="51" y="1"/>
                    <a:pt x="49" y="0"/>
                    <a:pt x="48" y="0"/>
                  </a:cubicBez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36" name="Freeform 19"/>
            <p:cNvSpPr>
              <a:spLocks/>
            </p:cNvSpPr>
            <p:nvPr/>
          </p:nvSpPr>
          <p:spPr bwMode="auto">
            <a:xfrm>
              <a:off x="6702425" y="249238"/>
              <a:ext cx="195262" cy="22225"/>
            </a:xfrm>
            <a:custGeom>
              <a:avLst/>
              <a:gdLst>
                <a:gd name="T0" fmla="*/ 48 w 51"/>
                <a:gd name="T1" fmla="*/ 0 h 6"/>
                <a:gd name="T2" fmla="*/ 3 w 51"/>
                <a:gd name="T3" fmla="*/ 0 h 6"/>
                <a:gd name="T4" fmla="*/ 0 w 51"/>
                <a:gd name="T5" fmla="*/ 3 h 6"/>
                <a:gd name="T6" fmla="*/ 3 w 51"/>
                <a:gd name="T7" fmla="*/ 6 h 6"/>
                <a:gd name="T8" fmla="*/ 48 w 51"/>
                <a:gd name="T9" fmla="*/ 6 h 6"/>
                <a:gd name="T10" fmla="*/ 51 w 51"/>
                <a:gd name="T11" fmla="*/ 3 h 6"/>
                <a:gd name="T12" fmla="*/ 48 w 51"/>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51" h="6">
                  <a:moveTo>
                    <a:pt x="48" y="0"/>
                  </a:moveTo>
                  <a:cubicBezTo>
                    <a:pt x="3" y="0"/>
                    <a:pt x="3" y="0"/>
                    <a:pt x="3" y="0"/>
                  </a:cubicBezTo>
                  <a:cubicBezTo>
                    <a:pt x="1" y="0"/>
                    <a:pt x="0" y="1"/>
                    <a:pt x="0" y="3"/>
                  </a:cubicBezTo>
                  <a:cubicBezTo>
                    <a:pt x="0" y="5"/>
                    <a:pt x="1" y="6"/>
                    <a:pt x="3" y="6"/>
                  </a:cubicBezTo>
                  <a:cubicBezTo>
                    <a:pt x="48" y="6"/>
                    <a:pt x="48" y="6"/>
                    <a:pt x="48" y="6"/>
                  </a:cubicBezTo>
                  <a:cubicBezTo>
                    <a:pt x="49" y="6"/>
                    <a:pt x="51" y="5"/>
                    <a:pt x="51" y="3"/>
                  </a:cubicBezTo>
                  <a:cubicBezTo>
                    <a:pt x="51" y="1"/>
                    <a:pt x="49" y="0"/>
                    <a:pt x="48" y="0"/>
                  </a:cubicBez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37" name="Freeform 20"/>
            <p:cNvSpPr>
              <a:spLocks/>
            </p:cNvSpPr>
            <p:nvPr/>
          </p:nvSpPr>
          <p:spPr bwMode="auto">
            <a:xfrm>
              <a:off x="6465888" y="119062"/>
              <a:ext cx="431800" cy="22225"/>
            </a:xfrm>
            <a:custGeom>
              <a:avLst/>
              <a:gdLst>
                <a:gd name="T0" fmla="*/ 110 w 113"/>
                <a:gd name="T1" fmla="*/ 0 h 6"/>
                <a:gd name="T2" fmla="*/ 3 w 113"/>
                <a:gd name="T3" fmla="*/ 0 h 6"/>
                <a:gd name="T4" fmla="*/ 0 w 113"/>
                <a:gd name="T5" fmla="*/ 3 h 6"/>
                <a:gd name="T6" fmla="*/ 3 w 113"/>
                <a:gd name="T7" fmla="*/ 6 h 6"/>
                <a:gd name="T8" fmla="*/ 110 w 113"/>
                <a:gd name="T9" fmla="*/ 6 h 6"/>
                <a:gd name="T10" fmla="*/ 113 w 113"/>
                <a:gd name="T11" fmla="*/ 3 h 6"/>
                <a:gd name="T12" fmla="*/ 110 w 113"/>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13" h="6">
                  <a:moveTo>
                    <a:pt x="110" y="0"/>
                  </a:moveTo>
                  <a:cubicBezTo>
                    <a:pt x="3" y="0"/>
                    <a:pt x="3" y="0"/>
                    <a:pt x="3" y="0"/>
                  </a:cubicBezTo>
                  <a:cubicBezTo>
                    <a:pt x="1" y="0"/>
                    <a:pt x="0" y="2"/>
                    <a:pt x="0" y="3"/>
                  </a:cubicBezTo>
                  <a:cubicBezTo>
                    <a:pt x="0" y="5"/>
                    <a:pt x="1" y="6"/>
                    <a:pt x="3" y="6"/>
                  </a:cubicBezTo>
                  <a:cubicBezTo>
                    <a:pt x="110" y="6"/>
                    <a:pt x="110" y="6"/>
                    <a:pt x="110" y="6"/>
                  </a:cubicBezTo>
                  <a:cubicBezTo>
                    <a:pt x="111" y="6"/>
                    <a:pt x="113" y="5"/>
                    <a:pt x="113" y="3"/>
                  </a:cubicBezTo>
                  <a:cubicBezTo>
                    <a:pt x="113" y="2"/>
                    <a:pt x="111" y="0"/>
                    <a:pt x="110" y="0"/>
                  </a:cubicBez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38" name="Freeform 21"/>
            <p:cNvSpPr>
              <a:spLocks/>
            </p:cNvSpPr>
            <p:nvPr/>
          </p:nvSpPr>
          <p:spPr bwMode="auto">
            <a:xfrm>
              <a:off x="6465888" y="184150"/>
              <a:ext cx="431800" cy="22225"/>
            </a:xfrm>
            <a:custGeom>
              <a:avLst/>
              <a:gdLst>
                <a:gd name="T0" fmla="*/ 110 w 113"/>
                <a:gd name="T1" fmla="*/ 0 h 6"/>
                <a:gd name="T2" fmla="*/ 3 w 113"/>
                <a:gd name="T3" fmla="*/ 0 h 6"/>
                <a:gd name="T4" fmla="*/ 0 w 113"/>
                <a:gd name="T5" fmla="*/ 3 h 6"/>
                <a:gd name="T6" fmla="*/ 3 w 113"/>
                <a:gd name="T7" fmla="*/ 6 h 6"/>
                <a:gd name="T8" fmla="*/ 110 w 113"/>
                <a:gd name="T9" fmla="*/ 6 h 6"/>
                <a:gd name="T10" fmla="*/ 113 w 113"/>
                <a:gd name="T11" fmla="*/ 3 h 6"/>
                <a:gd name="T12" fmla="*/ 110 w 113"/>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113" h="6">
                  <a:moveTo>
                    <a:pt x="110" y="0"/>
                  </a:moveTo>
                  <a:cubicBezTo>
                    <a:pt x="3" y="0"/>
                    <a:pt x="3" y="0"/>
                    <a:pt x="3" y="0"/>
                  </a:cubicBezTo>
                  <a:cubicBezTo>
                    <a:pt x="1" y="0"/>
                    <a:pt x="0" y="2"/>
                    <a:pt x="0" y="3"/>
                  </a:cubicBezTo>
                  <a:cubicBezTo>
                    <a:pt x="0" y="5"/>
                    <a:pt x="1" y="6"/>
                    <a:pt x="3" y="6"/>
                  </a:cubicBezTo>
                  <a:cubicBezTo>
                    <a:pt x="110" y="6"/>
                    <a:pt x="110" y="6"/>
                    <a:pt x="110" y="6"/>
                  </a:cubicBezTo>
                  <a:cubicBezTo>
                    <a:pt x="111" y="6"/>
                    <a:pt x="113" y="5"/>
                    <a:pt x="113" y="3"/>
                  </a:cubicBezTo>
                  <a:cubicBezTo>
                    <a:pt x="113" y="2"/>
                    <a:pt x="111" y="0"/>
                    <a:pt x="110" y="0"/>
                  </a:cubicBez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39" name="Freeform 22"/>
            <p:cNvSpPr>
              <a:spLocks noEditPoints="1"/>
            </p:cNvSpPr>
            <p:nvPr/>
          </p:nvSpPr>
          <p:spPr bwMode="auto">
            <a:xfrm>
              <a:off x="6465888" y="-112713"/>
              <a:ext cx="195262" cy="190500"/>
            </a:xfrm>
            <a:custGeom>
              <a:avLst/>
              <a:gdLst>
                <a:gd name="T0" fmla="*/ 6 w 51"/>
                <a:gd name="T1" fmla="*/ 50 h 50"/>
                <a:gd name="T2" fmla="*/ 45 w 51"/>
                <a:gd name="T3" fmla="*/ 50 h 50"/>
                <a:gd name="T4" fmla="*/ 51 w 51"/>
                <a:gd name="T5" fmla="*/ 44 h 50"/>
                <a:gd name="T6" fmla="*/ 51 w 51"/>
                <a:gd name="T7" fmla="*/ 5 h 50"/>
                <a:gd name="T8" fmla="*/ 45 w 51"/>
                <a:gd name="T9" fmla="*/ 0 h 50"/>
                <a:gd name="T10" fmla="*/ 6 w 51"/>
                <a:gd name="T11" fmla="*/ 0 h 50"/>
                <a:gd name="T12" fmla="*/ 0 w 51"/>
                <a:gd name="T13" fmla="*/ 5 h 50"/>
                <a:gd name="T14" fmla="*/ 0 w 51"/>
                <a:gd name="T15" fmla="*/ 44 h 50"/>
                <a:gd name="T16" fmla="*/ 6 w 51"/>
                <a:gd name="T17" fmla="*/ 50 h 50"/>
                <a:gd name="T18" fmla="*/ 11 w 51"/>
                <a:gd name="T19" fmla="*/ 11 h 50"/>
                <a:gd name="T20" fmla="*/ 39 w 51"/>
                <a:gd name="T21" fmla="*/ 11 h 50"/>
                <a:gd name="T22" fmla="*/ 39 w 51"/>
                <a:gd name="T23" fmla="*/ 39 h 50"/>
                <a:gd name="T24" fmla="*/ 11 w 51"/>
                <a:gd name="T25" fmla="*/ 39 h 50"/>
                <a:gd name="T26" fmla="*/ 11 w 51"/>
                <a:gd name="T27" fmla="*/ 11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 h="50">
                  <a:moveTo>
                    <a:pt x="6" y="50"/>
                  </a:moveTo>
                  <a:cubicBezTo>
                    <a:pt x="45" y="50"/>
                    <a:pt x="45" y="50"/>
                    <a:pt x="45" y="50"/>
                  </a:cubicBezTo>
                  <a:cubicBezTo>
                    <a:pt x="48" y="50"/>
                    <a:pt x="51" y="48"/>
                    <a:pt x="51" y="44"/>
                  </a:cubicBezTo>
                  <a:cubicBezTo>
                    <a:pt x="51" y="5"/>
                    <a:pt x="51" y="5"/>
                    <a:pt x="51" y="5"/>
                  </a:cubicBezTo>
                  <a:cubicBezTo>
                    <a:pt x="51" y="2"/>
                    <a:pt x="48" y="0"/>
                    <a:pt x="45" y="0"/>
                  </a:cubicBezTo>
                  <a:cubicBezTo>
                    <a:pt x="6" y="0"/>
                    <a:pt x="6" y="0"/>
                    <a:pt x="6" y="0"/>
                  </a:cubicBezTo>
                  <a:cubicBezTo>
                    <a:pt x="3" y="0"/>
                    <a:pt x="0" y="2"/>
                    <a:pt x="0" y="5"/>
                  </a:cubicBezTo>
                  <a:cubicBezTo>
                    <a:pt x="0" y="44"/>
                    <a:pt x="0" y="44"/>
                    <a:pt x="0" y="44"/>
                  </a:cubicBezTo>
                  <a:cubicBezTo>
                    <a:pt x="0" y="48"/>
                    <a:pt x="3" y="50"/>
                    <a:pt x="6" y="50"/>
                  </a:cubicBezTo>
                  <a:close/>
                  <a:moveTo>
                    <a:pt x="11" y="11"/>
                  </a:moveTo>
                  <a:cubicBezTo>
                    <a:pt x="39" y="11"/>
                    <a:pt x="39" y="11"/>
                    <a:pt x="39" y="11"/>
                  </a:cubicBezTo>
                  <a:cubicBezTo>
                    <a:pt x="39" y="39"/>
                    <a:pt x="39" y="39"/>
                    <a:pt x="39" y="39"/>
                  </a:cubicBezTo>
                  <a:cubicBezTo>
                    <a:pt x="11" y="39"/>
                    <a:pt x="11" y="39"/>
                    <a:pt x="11" y="39"/>
                  </a:cubicBezTo>
                  <a:lnTo>
                    <a:pt x="11" y="11"/>
                  </a:ln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grpSp>
      <p:sp>
        <p:nvSpPr>
          <p:cNvPr id="40" name="矩形 39">
            <a:extLst>
              <a:ext uri="{FF2B5EF4-FFF2-40B4-BE49-F238E27FC236}">
                <a16:creationId xmlns:a16="http://schemas.microsoft.com/office/drawing/2014/main" id="{084955AF-1C9D-40E6-AF77-16E919D7DDCC}"/>
              </a:ext>
            </a:extLst>
          </p:cNvPr>
          <p:cNvSpPr/>
          <p:nvPr/>
        </p:nvSpPr>
        <p:spPr>
          <a:xfrm>
            <a:off x="587668" y="2274173"/>
            <a:ext cx="2333908" cy="1015663"/>
          </a:xfrm>
          <a:prstGeom prst="rect">
            <a:avLst/>
          </a:prstGeom>
        </p:spPr>
        <p:txBody>
          <a:bodyPr wrap="square">
            <a:spAutoFit/>
          </a:bodyPr>
          <a:lstStyle/>
          <a:p>
            <a:pPr marL="285750" indent="-285750">
              <a:buFont typeface="Wingdings" panose="05000000000000000000" pitchFamily="2" charset="2"/>
              <a:buChar char="u"/>
            </a:pPr>
            <a:r>
              <a:rPr lang="en-US" sz="2000" dirty="0">
                <a:latin typeface="微软雅黑" panose="020B0503020204020204" pitchFamily="34" charset="-122"/>
                <a:ea typeface="微软雅黑" panose="020B0503020204020204" pitchFamily="34" charset="-122"/>
              </a:rPr>
              <a:t>边际成本是总成本和可变成本的改变率</a:t>
            </a:r>
            <a:r>
              <a:rPr lang="zh-CN" altLang="en-US" sz="2000" dirty="0">
                <a:latin typeface="微软雅黑" panose="020B0503020204020204" pitchFamily="34" charset="-122"/>
                <a:ea typeface="微软雅黑" panose="020B0503020204020204" pitchFamily="34" charset="-122"/>
              </a:rPr>
              <a:t>。</a:t>
            </a:r>
            <a:endParaRPr lang="en-US" sz="2000" dirty="0">
              <a:latin typeface="微软雅黑" panose="020B0503020204020204" pitchFamily="34" charset="-122"/>
              <a:ea typeface="微软雅黑" panose="020B0503020204020204" pitchFamily="34" charset="-122"/>
            </a:endParaRPr>
          </a:p>
        </p:txBody>
      </p:sp>
      <p:sp>
        <p:nvSpPr>
          <p:cNvPr id="43" name="矩形 42">
            <a:extLst>
              <a:ext uri="{FF2B5EF4-FFF2-40B4-BE49-F238E27FC236}">
                <a16:creationId xmlns:a16="http://schemas.microsoft.com/office/drawing/2014/main" id="{084955AF-1C9D-40E6-AF77-16E919D7DDCC}"/>
              </a:ext>
            </a:extLst>
          </p:cNvPr>
          <p:cNvSpPr/>
          <p:nvPr/>
        </p:nvSpPr>
        <p:spPr>
          <a:xfrm>
            <a:off x="2500747" y="4325939"/>
            <a:ext cx="3344886" cy="1323439"/>
          </a:xfrm>
          <a:prstGeom prst="rect">
            <a:avLst/>
          </a:prstGeom>
        </p:spPr>
        <p:txBody>
          <a:bodyPr wrap="square">
            <a:spAutoFit/>
          </a:bodyPr>
          <a:lstStyle/>
          <a:p>
            <a:pPr marL="285750" indent="-285750">
              <a:buFont typeface="Wingdings" panose="05000000000000000000" pitchFamily="2" charset="2"/>
              <a:buChar char="u"/>
            </a:pPr>
            <a:r>
              <a:rPr lang="en-US" sz="2000" dirty="0">
                <a:latin typeface="微软雅黑" panose="020B0503020204020204" pitchFamily="34" charset="-122"/>
                <a:ea typeface="微软雅黑" panose="020B0503020204020204" pitchFamily="34" charset="-122"/>
              </a:rPr>
              <a:t>边际成本曲线与平均成本曲线和平均可变成本曲线相交，且分别交于它们的最低点</a:t>
            </a:r>
            <a:r>
              <a:rPr lang="zh-CN" altLang="en-US" sz="2000" dirty="0">
                <a:latin typeface="微软雅黑" panose="020B0503020204020204" pitchFamily="34" charset="-122"/>
                <a:ea typeface="微软雅黑" panose="020B0503020204020204" pitchFamily="34" charset="-122"/>
              </a:rPr>
              <a:t>。</a:t>
            </a:r>
            <a:endParaRPr lang="en-US" sz="2000" dirty="0">
              <a:latin typeface="微软雅黑" panose="020B0503020204020204" pitchFamily="34" charset="-122"/>
              <a:ea typeface="微软雅黑" panose="020B0503020204020204" pitchFamily="34" charset="-122"/>
            </a:endParaRPr>
          </a:p>
        </p:txBody>
      </p:sp>
      <p:sp>
        <p:nvSpPr>
          <p:cNvPr id="45" name="矩形 44">
            <a:extLst>
              <a:ext uri="{FF2B5EF4-FFF2-40B4-BE49-F238E27FC236}">
                <a16:creationId xmlns:a16="http://schemas.microsoft.com/office/drawing/2014/main" id="{084955AF-1C9D-40E6-AF77-16E919D7DDCC}"/>
              </a:ext>
            </a:extLst>
          </p:cNvPr>
          <p:cNvSpPr/>
          <p:nvPr/>
        </p:nvSpPr>
        <p:spPr>
          <a:xfrm>
            <a:off x="5898934" y="2044573"/>
            <a:ext cx="3082520" cy="1015663"/>
          </a:xfrm>
          <a:prstGeom prst="rect">
            <a:avLst/>
          </a:prstGeom>
        </p:spPr>
        <p:txBody>
          <a:bodyPr wrap="square">
            <a:spAutoFit/>
          </a:bodyPr>
          <a:lstStyle/>
          <a:p>
            <a:pPr marL="285750" indent="-285750">
              <a:buFont typeface="Wingdings" panose="05000000000000000000" pitchFamily="2" charset="2"/>
              <a:buChar char="u"/>
            </a:pPr>
            <a:r>
              <a:rPr lang="en-US" sz="2000" dirty="0">
                <a:latin typeface="微软雅黑" panose="020B0503020204020204" pitchFamily="34" charset="-122"/>
                <a:ea typeface="微软雅黑" panose="020B0503020204020204" pitchFamily="34" charset="-122"/>
              </a:rPr>
              <a:t>边际成本和平均成本的关系类似于边际产量与平均产量之间的关系</a:t>
            </a:r>
            <a:r>
              <a:rPr lang="zh-CN" altLang="en-US" sz="2000" dirty="0">
                <a:latin typeface="微软雅黑" panose="020B0503020204020204" pitchFamily="34" charset="-122"/>
                <a:ea typeface="微软雅黑" panose="020B0503020204020204" pitchFamily="34" charset="-122"/>
              </a:rPr>
              <a:t>。</a:t>
            </a:r>
            <a:endParaRPr lang="en-US" sz="2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1868214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Effect transition="in" filter="wipe(right)">
                                      <p:cBhvr>
                                        <p:cTn id="14" dur="500"/>
                                        <p:tgtEl>
                                          <p:spTgt spid="20"/>
                                        </p:tgtEl>
                                      </p:cBhvr>
                                    </p:animEffect>
                                  </p:childTnLst>
                                </p:cTn>
                              </p:par>
                              <p:par>
                                <p:cTn id="15" presetID="22" presetClass="entr" presetSubtype="2"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right)">
                                      <p:cBhvr>
                                        <p:cTn id="17" dur="500"/>
                                        <p:tgtEl>
                                          <p:spTgt spid="5"/>
                                        </p:tgtEl>
                                      </p:cBhvr>
                                    </p:animEffect>
                                  </p:childTnLst>
                                </p:cTn>
                              </p:par>
                              <p:par>
                                <p:cTn id="18" presetID="22" presetClass="entr" presetSubtype="2"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right)">
                                      <p:cBhvr>
                                        <p:cTn id="20" dur="500"/>
                                        <p:tgtEl>
                                          <p:spTgt spid="12"/>
                                        </p:tgtEl>
                                      </p:cBhvr>
                                    </p:animEffect>
                                  </p:childTnLst>
                                </p:cTn>
                              </p:par>
                              <p:par>
                                <p:cTn id="21" presetID="22" presetClass="entr" presetSubtype="2"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right)">
                                      <p:cBhvr>
                                        <p:cTn id="23" dur="500"/>
                                        <p:tgtEl>
                                          <p:spTgt spid="4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wipe(up)">
                                      <p:cBhvr>
                                        <p:cTn id="28" dur="500"/>
                                        <p:tgtEl>
                                          <p:spTgt spid="26"/>
                                        </p:tgtEl>
                                      </p:cBhvr>
                                    </p:animEffect>
                                  </p:childTnLst>
                                </p:cTn>
                              </p:par>
                              <p:par>
                                <p:cTn id="29" presetID="22" presetClass="entr" presetSubtype="1"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wipe(up)">
                                      <p:cBhvr>
                                        <p:cTn id="31" dur="500"/>
                                        <p:tgtEl>
                                          <p:spTgt spid="7"/>
                                        </p:tgtEl>
                                      </p:cBhvr>
                                    </p:animEffect>
                                  </p:childTnLst>
                                </p:cTn>
                              </p:par>
                              <p:par>
                                <p:cTn id="32" presetID="22" presetClass="entr" presetSubtype="1"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up)">
                                      <p:cBhvr>
                                        <p:cTn id="34" dur="500"/>
                                        <p:tgtEl>
                                          <p:spTgt spid="10"/>
                                        </p:tgtEl>
                                      </p:cBhvr>
                                    </p:animEffect>
                                  </p:childTnLst>
                                </p:cTn>
                              </p:par>
                              <p:par>
                                <p:cTn id="35" presetID="22" presetClass="entr" presetSubtype="1" fill="hold" grpId="0" nodeType="withEffect">
                                  <p:stCondLst>
                                    <p:cond delay="0"/>
                                  </p:stCondLst>
                                  <p:childTnLst>
                                    <p:set>
                                      <p:cBhvr>
                                        <p:cTn id="36" dur="1" fill="hold">
                                          <p:stCondLst>
                                            <p:cond delay="0"/>
                                          </p:stCondLst>
                                        </p:cTn>
                                        <p:tgtEl>
                                          <p:spTgt spid="43"/>
                                        </p:tgtEl>
                                        <p:attrNameLst>
                                          <p:attrName>style.visibility</p:attrName>
                                        </p:attrNameLst>
                                      </p:cBhvr>
                                      <p:to>
                                        <p:strVal val="visible"/>
                                      </p:to>
                                    </p:set>
                                    <p:animEffect transition="in" filter="wipe(up)">
                                      <p:cBhvr>
                                        <p:cTn id="37" dur="500"/>
                                        <p:tgtEl>
                                          <p:spTgt spid="4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wipe(left)">
                                      <p:cBhvr>
                                        <p:cTn id="42" dur="500"/>
                                        <p:tgtEl>
                                          <p:spTgt spid="21"/>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wipe(left)">
                                      <p:cBhvr>
                                        <p:cTn id="45" dur="500"/>
                                        <p:tgtEl>
                                          <p:spTgt spid="6"/>
                                        </p:tgtEl>
                                      </p:cBhvr>
                                    </p:animEffect>
                                  </p:childTnLst>
                                </p:cTn>
                              </p:par>
                              <p:par>
                                <p:cTn id="46" presetID="22" presetClass="entr" presetSubtype="8" fill="hold" nodeType="with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left)">
                                      <p:cBhvr>
                                        <p:cTn id="48" dur="500"/>
                                        <p:tgtEl>
                                          <p:spTgt spid="8"/>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animEffect transition="in" filter="wipe(left)">
                                      <p:cBhvr>
                                        <p:cTn id="51"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20" grpId="0" animBg="1"/>
      <p:bldP spid="7" grpId="0" animBg="1"/>
      <p:bldP spid="40" grpId="0"/>
      <p:bldP spid="43" grpId="0"/>
      <p:bldP spid="4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圆角 34">
            <a:extLst>
              <a:ext uri="{FF2B5EF4-FFF2-40B4-BE49-F238E27FC236}">
                <a16:creationId xmlns:a16="http://schemas.microsoft.com/office/drawing/2014/main" id="{3FC43CEB-DB83-4C58-A7EF-7428BF829852}"/>
              </a:ext>
            </a:extLst>
          </p:cNvPr>
          <p:cNvSpPr/>
          <p:nvPr/>
        </p:nvSpPr>
        <p:spPr>
          <a:xfrm>
            <a:off x="580921" y="1531061"/>
            <a:ext cx="4953467"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sp>
        <p:nvSpPr>
          <p:cNvPr id="4" name="矩形 3">
            <a:extLst>
              <a:ext uri="{FF2B5EF4-FFF2-40B4-BE49-F238E27FC236}">
                <a16:creationId xmlns:a16="http://schemas.microsoft.com/office/drawing/2014/main" id="{4E1C1893-AB90-4458-A5F7-957881641DB7}"/>
              </a:ext>
            </a:extLst>
          </p:cNvPr>
          <p:cNvSpPr/>
          <p:nvPr/>
        </p:nvSpPr>
        <p:spPr>
          <a:xfrm>
            <a:off x="569016" y="1556792"/>
            <a:ext cx="4968552"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en-US" sz="2000" dirty="0">
                <a:latin typeface="微软雅黑" panose="020B0503020204020204" pitchFamily="34" charset="-122"/>
                <a:ea typeface="微软雅黑" panose="020B0503020204020204" pitchFamily="34" charset="-122"/>
              </a:rPr>
              <a:t>边际成本是总成本和可变成本的改变率</a:t>
            </a:r>
            <a:endParaRPr lang="zh-CN" altLang="en-US" sz="2000" dirty="0">
              <a:latin typeface="微软雅黑" panose="020B0503020204020204" pitchFamily="34" charset="-122"/>
              <a:ea typeface="微软雅黑" panose="020B0503020204020204" pitchFamily="34" charset="-122"/>
            </a:endParaRPr>
          </a:p>
        </p:txBody>
      </p:sp>
      <p:grpSp>
        <p:nvGrpSpPr>
          <p:cNvPr id="5" name="组合 32"/>
          <p:cNvGrpSpPr>
            <a:grpSpLocks/>
          </p:cNvGrpSpPr>
          <p:nvPr/>
        </p:nvGrpSpPr>
        <p:grpSpPr bwMode="auto">
          <a:xfrm>
            <a:off x="5849089" y="1196752"/>
            <a:ext cx="2571750" cy="4749800"/>
            <a:chOff x="0" y="0"/>
            <a:chExt cx="2571750" cy="4749800"/>
          </a:xfrm>
        </p:grpSpPr>
        <p:grpSp>
          <p:nvGrpSpPr>
            <p:cNvPr id="6" name="组合 28"/>
            <p:cNvGrpSpPr>
              <a:grpSpLocks/>
            </p:cNvGrpSpPr>
            <p:nvPr/>
          </p:nvGrpSpPr>
          <p:grpSpPr bwMode="auto">
            <a:xfrm>
              <a:off x="0" y="0"/>
              <a:ext cx="2571750" cy="4749800"/>
              <a:chOff x="0" y="0"/>
              <a:chExt cx="2571750" cy="4749800"/>
            </a:xfrm>
          </p:grpSpPr>
          <p:grpSp>
            <p:nvGrpSpPr>
              <p:cNvPr id="9" name="组合 18"/>
              <p:cNvGrpSpPr>
                <a:grpSpLocks/>
              </p:cNvGrpSpPr>
              <p:nvPr/>
            </p:nvGrpSpPr>
            <p:grpSpPr bwMode="auto">
              <a:xfrm>
                <a:off x="0" y="2071688"/>
                <a:ext cx="2527300" cy="2678112"/>
                <a:chOff x="0" y="0"/>
                <a:chExt cx="3899263" cy="3709362"/>
              </a:xfrm>
            </p:grpSpPr>
            <p:grpSp>
              <p:nvGrpSpPr>
                <p:cNvPr id="23" name="组合 4"/>
                <p:cNvGrpSpPr>
                  <a:grpSpLocks/>
                </p:cNvGrpSpPr>
                <p:nvPr/>
              </p:nvGrpSpPr>
              <p:grpSpPr bwMode="auto">
                <a:xfrm>
                  <a:off x="0" y="384350"/>
                  <a:ext cx="3899263" cy="3325012"/>
                  <a:chOff x="0" y="0"/>
                  <a:chExt cx="2094407" cy="2529615"/>
                </a:xfrm>
              </p:grpSpPr>
              <p:cxnSp>
                <p:nvCxnSpPr>
                  <p:cNvPr id="26" name="直接箭头连接符 22"/>
                  <p:cNvCxnSpPr>
                    <a:cxnSpLocks noChangeShapeType="1"/>
                  </p:cNvCxnSpPr>
                  <p:nvPr/>
                </p:nvCxnSpPr>
                <p:spPr bwMode="auto">
                  <a:xfrm>
                    <a:off x="256538" y="2143197"/>
                    <a:ext cx="1815504" cy="30111"/>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27" name="直接箭头连接符 23"/>
                  <p:cNvCxnSpPr>
                    <a:cxnSpLocks noChangeShapeType="1"/>
                  </p:cNvCxnSpPr>
                  <p:nvPr/>
                </p:nvCxnSpPr>
                <p:spPr bwMode="auto">
                  <a:xfrm rot="5400000" flipH="1" flipV="1">
                    <a:off x="-813578" y="1070445"/>
                    <a:ext cx="2142864" cy="2631"/>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28" name="Object 9"/>
                  <p:cNvGraphicFramePr>
                    <a:graphicFrameLocks noChangeAspect="1"/>
                  </p:cNvGraphicFramePr>
                  <p:nvPr/>
                </p:nvGraphicFramePr>
                <p:xfrm>
                  <a:off x="0" y="2143198"/>
                  <a:ext cx="176288" cy="260958"/>
                </p:xfrm>
                <a:graphic>
                  <a:graphicData uri="http://schemas.openxmlformats.org/presentationml/2006/ole">
                    <mc:AlternateContent xmlns:mc="http://schemas.openxmlformats.org/markup-compatibility/2006">
                      <mc:Choice xmlns:v="urn:schemas-microsoft-com:vml" Requires="v">
                        <p:oleObj spid="_x0000_s126140" r:id="rId3" imgW="153248" imgH="178737" progId="">
                          <p:embed/>
                        </p:oleObj>
                      </mc:Choice>
                      <mc:Fallback>
                        <p:oleObj r:id="rId3" imgW="153248" imgH="178737" progId="">
                          <p:embed/>
                          <p:pic>
                            <p:nvPicPr>
                              <p:cNvPr id="59401"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143198"/>
                                <a:ext cx="176288" cy="260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10"/>
                  <p:cNvGraphicFramePr>
                    <a:graphicFrameLocks noChangeAspect="1"/>
                  </p:cNvGraphicFramePr>
                  <p:nvPr/>
                </p:nvGraphicFramePr>
                <p:xfrm>
                  <a:off x="30258" y="48846"/>
                  <a:ext cx="176288" cy="260958"/>
                </p:xfrm>
                <a:graphic>
                  <a:graphicData uri="http://schemas.openxmlformats.org/presentationml/2006/ole">
                    <mc:AlternateContent xmlns:mc="http://schemas.openxmlformats.org/markup-compatibility/2006">
                      <mc:Choice xmlns:v="urn:schemas-microsoft-com:vml" Requires="v">
                        <p:oleObj spid="_x0000_s126141" r:id="rId5" imgW="153248" imgH="178737" progId="">
                          <p:embed/>
                        </p:oleObj>
                      </mc:Choice>
                      <mc:Fallback>
                        <p:oleObj r:id="rId5" imgW="153248" imgH="178737" progId="">
                          <p:embed/>
                          <p:pic>
                            <p:nvPicPr>
                              <p:cNvPr id="59402"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58" y="48846"/>
                                <a:ext cx="176288" cy="2609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 name="Object 11"/>
                  <p:cNvGraphicFramePr>
                    <a:graphicFrameLocks noChangeAspect="1"/>
                  </p:cNvGraphicFramePr>
                  <p:nvPr/>
                </p:nvGraphicFramePr>
                <p:xfrm>
                  <a:off x="1879967" y="2228510"/>
                  <a:ext cx="214440" cy="301105"/>
                </p:xfrm>
                <a:graphic>
                  <a:graphicData uri="http://schemas.openxmlformats.org/presentationml/2006/ole">
                    <mc:AlternateContent xmlns:mc="http://schemas.openxmlformats.org/markup-compatibility/2006">
                      <mc:Choice xmlns:v="urn:schemas-microsoft-com:vml" Requires="v">
                        <p:oleObj spid="_x0000_s126142" r:id="rId7" imgW="153381" imgH="204403" progId="">
                          <p:embed/>
                        </p:oleObj>
                      </mc:Choice>
                      <mc:Fallback>
                        <p:oleObj r:id="rId7" imgW="153381" imgH="204403" progId="">
                          <p:embed/>
                          <p:pic>
                            <p:nvPicPr>
                              <p:cNvPr id="59403"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79967" y="2228510"/>
                                <a:ext cx="214440" cy="301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4" name="弧形 20"/>
                <p:cNvSpPr>
                  <a:spLocks noChangeArrowheads="1"/>
                </p:cNvSpPr>
                <p:nvPr/>
              </p:nvSpPr>
              <p:spPr bwMode="auto">
                <a:xfrm rot="6314009">
                  <a:off x="686713" y="295446"/>
                  <a:ext cx="2467045" cy="1876153"/>
                </a:xfrm>
                <a:custGeom>
                  <a:avLst/>
                  <a:gdLst>
                    <a:gd name="T0" fmla="*/ 796825 w 2467045"/>
                    <a:gd name="T1" fmla="*/ 60753 h 1876153"/>
                    <a:gd name="T2" fmla="*/ 1233523 w 2467045"/>
                    <a:gd name="T3" fmla="*/ 938077 h 1876153"/>
                    <a:gd name="T4" fmla="*/ 1822542 w 2467045"/>
                    <a:gd name="T5" fmla="*/ 1762295 h 1876153"/>
                    <a:gd name="T6" fmla="*/ 11796480 60000 65536"/>
                    <a:gd name="T7" fmla="*/ 11796480 60000 65536"/>
                    <a:gd name="T8" fmla="*/ 11796480 60000 65536"/>
                    <a:gd name="T9" fmla="*/ 796825 w 2467045"/>
                    <a:gd name="T10" fmla="*/ 0 h 1876153"/>
                    <a:gd name="T11" fmla="*/ 2467045 w 2467045"/>
                    <a:gd name="T12" fmla="*/ 1762295 h 1876153"/>
                  </a:gdLst>
                  <a:ahLst/>
                  <a:cxnLst>
                    <a:cxn ang="T6">
                      <a:pos x="T0" y="T1"/>
                    </a:cxn>
                    <a:cxn ang="T7">
                      <a:pos x="T2" y="T3"/>
                    </a:cxn>
                    <a:cxn ang="T8">
                      <a:pos x="T4" y="T5"/>
                    </a:cxn>
                  </a:cxnLst>
                  <a:rect l="T9" t="T10" r="T11" b="T12"/>
                  <a:pathLst>
                    <a:path w="2467045" h="1876153" stroke="0">
                      <a:moveTo>
                        <a:pt x="796825" y="60753"/>
                      </a:moveTo>
                      <a:lnTo>
                        <a:pt x="796824" y="60752"/>
                      </a:lnTo>
                      <a:cubicBezTo>
                        <a:pt x="936361" y="20583"/>
                        <a:pt x="1084322" y="-1"/>
                        <a:pt x="1233522" y="-1"/>
                      </a:cubicBezTo>
                      <a:cubicBezTo>
                        <a:pt x="1914777" y="-1"/>
                        <a:pt x="2467045" y="419990"/>
                        <a:pt x="2467045" y="938076"/>
                      </a:cubicBezTo>
                      <a:cubicBezTo>
                        <a:pt x="2467045" y="1281874"/>
                        <a:pt x="2219747" y="1598129"/>
                        <a:pt x="1822539" y="1762295"/>
                      </a:cubicBezTo>
                      <a:lnTo>
                        <a:pt x="1233523" y="938077"/>
                      </a:lnTo>
                      <a:close/>
                    </a:path>
                    <a:path w="2467045" h="1876153" fill="none">
                      <a:moveTo>
                        <a:pt x="796825" y="60753"/>
                      </a:moveTo>
                      <a:lnTo>
                        <a:pt x="796824" y="60752"/>
                      </a:lnTo>
                      <a:cubicBezTo>
                        <a:pt x="936361" y="20583"/>
                        <a:pt x="1084322" y="-1"/>
                        <a:pt x="1233522" y="-1"/>
                      </a:cubicBezTo>
                      <a:cubicBezTo>
                        <a:pt x="1914777" y="-1"/>
                        <a:pt x="2467045" y="419990"/>
                        <a:pt x="2467045" y="938076"/>
                      </a:cubicBezTo>
                      <a:cubicBezTo>
                        <a:pt x="2467045" y="1281874"/>
                        <a:pt x="2219747" y="1598129"/>
                        <a:pt x="1822539" y="1762295"/>
                      </a:cubicBezTo>
                    </a:path>
                  </a:pathLst>
                </a:custGeom>
                <a:noFill/>
                <a:ln w="38100" cmpd="sng">
                  <a:solidFill>
                    <a:srgbClr val="FF99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25" name="Object 13"/>
                <p:cNvGraphicFramePr>
                  <a:graphicFrameLocks noChangeAspect="1"/>
                </p:cNvGraphicFramePr>
                <p:nvPr/>
              </p:nvGraphicFramePr>
              <p:xfrm>
                <a:off x="2642777" y="670632"/>
                <a:ext cx="629467" cy="343011"/>
              </p:xfrm>
              <a:graphic>
                <a:graphicData uri="http://schemas.openxmlformats.org/presentationml/2006/ole">
                  <mc:AlternateContent xmlns:mc="http://schemas.openxmlformats.org/markup-compatibility/2006">
                    <mc:Choice xmlns:v="urn:schemas-microsoft-com:vml" Requires="v">
                      <p:oleObj spid="_x0000_s126143" r:id="rId9" imgW="292798" imgH="178349" progId="">
                        <p:embed/>
                      </p:oleObj>
                    </mc:Choice>
                    <mc:Fallback>
                      <p:oleObj r:id="rId9" imgW="292798" imgH="178349" progId="">
                        <p:embed/>
                        <p:pic>
                          <p:nvPicPr>
                            <p:cNvPr id="59405"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42777" y="670632"/>
                              <a:ext cx="629467" cy="343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 name="组合 27"/>
              <p:cNvGrpSpPr>
                <a:grpSpLocks/>
              </p:cNvGrpSpPr>
              <p:nvPr/>
            </p:nvGrpSpPr>
            <p:grpSpPr bwMode="auto">
              <a:xfrm>
                <a:off x="0" y="0"/>
                <a:ext cx="2571750" cy="2363788"/>
                <a:chOff x="0" y="0"/>
                <a:chExt cx="3902482" cy="3248529"/>
              </a:xfrm>
            </p:grpSpPr>
            <p:grpSp>
              <p:nvGrpSpPr>
                <p:cNvPr id="11" name="组合 4"/>
                <p:cNvGrpSpPr>
                  <a:grpSpLocks/>
                </p:cNvGrpSpPr>
                <p:nvPr/>
              </p:nvGrpSpPr>
              <p:grpSpPr bwMode="auto">
                <a:xfrm>
                  <a:off x="0" y="0"/>
                  <a:ext cx="3902482" cy="3248529"/>
                  <a:chOff x="0" y="0"/>
                  <a:chExt cx="2096136" cy="2471417"/>
                </a:xfrm>
              </p:grpSpPr>
              <p:cxnSp>
                <p:nvCxnSpPr>
                  <p:cNvPr id="18" name="直接箭头连接符 35"/>
                  <p:cNvCxnSpPr>
                    <a:cxnSpLocks noChangeShapeType="1"/>
                  </p:cNvCxnSpPr>
                  <p:nvPr/>
                </p:nvCxnSpPr>
                <p:spPr bwMode="auto">
                  <a:xfrm flipV="1">
                    <a:off x="257488" y="2119543"/>
                    <a:ext cx="1838648" cy="23237"/>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19" name="直接箭头连接符 36"/>
                  <p:cNvCxnSpPr>
                    <a:cxnSpLocks noChangeShapeType="1"/>
                  </p:cNvCxnSpPr>
                  <p:nvPr/>
                </p:nvCxnSpPr>
                <p:spPr bwMode="auto">
                  <a:xfrm rot="5400000" flipH="1" flipV="1">
                    <a:off x="-813255" y="1070743"/>
                    <a:ext cx="2142780" cy="1294"/>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20" name="Object 18"/>
                  <p:cNvGraphicFramePr>
                    <a:graphicFrameLocks noChangeAspect="1"/>
                  </p:cNvGraphicFramePr>
                  <p:nvPr/>
                </p:nvGraphicFramePr>
                <p:xfrm>
                  <a:off x="0" y="2142776"/>
                  <a:ext cx="173382" cy="258929"/>
                </p:xfrm>
                <a:graphic>
                  <a:graphicData uri="http://schemas.openxmlformats.org/presentationml/2006/ole">
                    <mc:AlternateContent xmlns:mc="http://schemas.openxmlformats.org/markup-compatibility/2006">
                      <mc:Choice xmlns:v="urn:schemas-microsoft-com:vml" Requires="v">
                        <p:oleObj spid="_x0000_s126144" r:id="rId11" imgW="153248" imgH="178737" progId="">
                          <p:embed/>
                        </p:oleObj>
                      </mc:Choice>
                      <mc:Fallback>
                        <p:oleObj r:id="rId11" imgW="153248" imgH="178737" progId="">
                          <p:embed/>
                          <p:pic>
                            <p:nvPicPr>
                              <p:cNvPr id="5941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142776"/>
                                <a:ext cx="173382" cy="258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19"/>
                  <p:cNvGraphicFramePr>
                    <a:graphicFrameLocks noChangeAspect="1"/>
                  </p:cNvGraphicFramePr>
                  <p:nvPr/>
                </p:nvGraphicFramePr>
                <p:xfrm>
                  <a:off x="29760" y="48109"/>
                  <a:ext cx="210906" cy="258929"/>
                </p:xfrm>
                <a:graphic>
                  <a:graphicData uri="http://schemas.openxmlformats.org/presentationml/2006/ole">
                    <mc:AlternateContent xmlns:mc="http://schemas.openxmlformats.org/markup-compatibility/2006">
                      <mc:Choice xmlns:v="urn:schemas-microsoft-com:vml" Requires="v">
                        <p:oleObj spid="_x0000_s126145" r:id="rId12" imgW="153248" imgH="178737" progId="">
                          <p:embed/>
                        </p:oleObj>
                      </mc:Choice>
                      <mc:Fallback>
                        <p:oleObj r:id="rId12" imgW="153248" imgH="178737" progId="">
                          <p:embed/>
                          <p:pic>
                            <p:nvPicPr>
                              <p:cNvPr id="59411"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60" y="48109"/>
                                <a:ext cx="210906" cy="258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2" name="Object 20"/>
                  <p:cNvGraphicFramePr>
                    <a:graphicFrameLocks noChangeAspect="1"/>
                  </p:cNvGraphicFramePr>
                  <p:nvPr/>
                </p:nvGraphicFramePr>
                <p:xfrm>
                  <a:off x="1889090" y="2174312"/>
                  <a:ext cx="173382" cy="297105"/>
                </p:xfrm>
                <a:graphic>
                  <a:graphicData uri="http://schemas.openxmlformats.org/presentationml/2006/ole">
                    <mc:AlternateContent xmlns:mc="http://schemas.openxmlformats.org/markup-compatibility/2006">
                      <mc:Choice xmlns:v="urn:schemas-microsoft-com:vml" Requires="v">
                        <p:oleObj spid="_x0000_s126146" r:id="rId13" imgW="153381" imgH="204403" progId="">
                          <p:embed/>
                        </p:oleObj>
                      </mc:Choice>
                      <mc:Fallback>
                        <p:oleObj r:id="rId13" imgW="153381" imgH="204403" progId="">
                          <p:embed/>
                          <p:pic>
                            <p:nvPicPr>
                              <p:cNvPr id="59412"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89090" y="2174312"/>
                                <a:ext cx="173382" cy="2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cxnSp>
              <p:nvCxnSpPr>
                <p:cNvPr id="12" name="直接连接符 29"/>
                <p:cNvCxnSpPr>
                  <a:cxnSpLocks noChangeShapeType="1"/>
                </p:cNvCxnSpPr>
                <p:nvPr/>
              </p:nvCxnSpPr>
              <p:spPr bwMode="auto">
                <a:xfrm flipV="1">
                  <a:off x="525149" y="1928609"/>
                  <a:ext cx="2618516" cy="71996"/>
                </a:xfrm>
                <a:prstGeom prst="line">
                  <a:avLst/>
                </a:prstGeom>
                <a:noFill/>
                <a:ln w="38100" cmpd="sng">
                  <a:solidFill>
                    <a:srgbClr val="00B0F0"/>
                  </a:solidFill>
                  <a:round/>
                  <a:headEnd/>
                  <a:tailEnd/>
                </a:ln>
                <a:effectLst>
                  <a:outerShdw dist="23000" dir="5400000" algn="ctr" rotWithShape="0">
                    <a:srgbClr val="000000">
                      <a:alpha val="31000"/>
                    </a:srgbClr>
                  </a:outerShdw>
                </a:effectLst>
                <a:extLst>
                  <a:ext uri="{909E8E84-426E-40DD-AFC4-6F175D3DCCD1}">
                    <a14:hiddenFill xmlns:a14="http://schemas.microsoft.com/office/drawing/2010/main">
                      <a:noFill/>
                    </a14:hiddenFill>
                  </a:ext>
                </a:extLst>
              </p:spPr>
            </p:cxnSp>
            <p:sp>
              <p:nvSpPr>
                <p:cNvPr id="13" name="任意多边形 30"/>
                <p:cNvSpPr>
                  <a:spLocks noChangeArrowheads="1"/>
                </p:cNvSpPr>
                <p:nvPr/>
              </p:nvSpPr>
              <p:spPr bwMode="auto">
                <a:xfrm>
                  <a:off x="491424" y="1045028"/>
                  <a:ext cx="2459526" cy="1773709"/>
                </a:xfrm>
                <a:custGeom>
                  <a:avLst/>
                  <a:gdLst>
                    <a:gd name="T0" fmla="*/ 0 w 1828800"/>
                    <a:gd name="T1" fmla="*/ 1773709 h 1590261"/>
                    <a:gd name="T2" fmla="*/ 454477 w 1828800"/>
                    <a:gd name="T3" fmla="*/ 1175082 h 1590261"/>
                    <a:gd name="T4" fmla="*/ 2111984 w 1828800"/>
                    <a:gd name="T5" fmla="*/ 576456 h 1590261"/>
                    <a:gd name="T6" fmla="*/ 2459526 w 1828800"/>
                    <a:gd name="T7" fmla="*/ 0 h 1590261"/>
                    <a:gd name="T8" fmla="*/ 0 60000 65536"/>
                    <a:gd name="T9" fmla="*/ 0 60000 65536"/>
                    <a:gd name="T10" fmla="*/ 0 60000 65536"/>
                    <a:gd name="T11" fmla="*/ 0 60000 65536"/>
                    <a:gd name="T12" fmla="*/ 0 w 1828800"/>
                    <a:gd name="T13" fmla="*/ 0 h 1590261"/>
                    <a:gd name="T14" fmla="*/ 1828800 w 1828800"/>
                    <a:gd name="T15" fmla="*/ 1590261 h 1590261"/>
                  </a:gdLst>
                  <a:ahLst/>
                  <a:cxnLst>
                    <a:cxn ang="T8">
                      <a:pos x="T0" y="T1"/>
                    </a:cxn>
                    <a:cxn ang="T9">
                      <a:pos x="T2" y="T3"/>
                    </a:cxn>
                    <a:cxn ang="T10">
                      <a:pos x="T4" y="T5"/>
                    </a:cxn>
                    <a:cxn ang="T11">
                      <a:pos x="T6" y="T7"/>
                    </a:cxn>
                  </a:cxnLst>
                  <a:rect l="T12" t="T13" r="T14" b="T15"/>
                  <a:pathLst>
                    <a:path w="1828800" h="1590261">
                      <a:moveTo>
                        <a:pt x="0" y="1590261"/>
                      </a:moveTo>
                      <a:cubicBezTo>
                        <a:pt x="38100" y="1411356"/>
                        <a:pt x="76200" y="1232452"/>
                        <a:pt x="337930" y="1053548"/>
                      </a:cubicBezTo>
                      <a:cubicBezTo>
                        <a:pt x="599660" y="874644"/>
                        <a:pt x="1321904" y="692426"/>
                        <a:pt x="1570382" y="516835"/>
                      </a:cubicBezTo>
                      <a:cubicBezTo>
                        <a:pt x="1818860" y="341244"/>
                        <a:pt x="1823830" y="170622"/>
                        <a:pt x="1828800" y="0"/>
                      </a:cubicBezTo>
                    </a:path>
                  </a:pathLst>
                </a:custGeom>
                <a:noFill/>
                <a:ln w="38100" cmpd="sng">
                  <a:solidFill>
                    <a:srgbClr val="8CC705"/>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4" name="任意多边形 31"/>
                <p:cNvSpPr>
                  <a:spLocks noChangeArrowheads="1"/>
                </p:cNvSpPr>
                <p:nvPr/>
              </p:nvSpPr>
              <p:spPr bwMode="auto">
                <a:xfrm>
                  <a:off x="491424" y="253075"/>
                  <a:ext cx="2459526" cy="1773710"/>
                </a:xfrm>
                <a:custGeom>
                  <a:avLst/>
                  <a:gdLst>
                    <a:gd name="T0" fmla="*/ 0 w 1828800"/>
                    <a:gd name="T1" fmla="*/ 1773710 h 1590261"/>
                    <a:gd name="T2" fmla="*/ 454477 w 1828800"/>
                    <a:gd name="T3" fmla="*/ 1175083 h 1590261"/>
                    <a:gd name="T4" fmla="*/ 2111984 w 1828800"/>
                    <a:gd name="T5" fmla="*/ 576456 h 1590261"/>
                    <a:gd name="T6" fmla="*/ 2459526 w 1828800"/>
                    <a:gd name="T7" fmla="*/ 0 h 1590261"/>
                    <a:gd name="T8" fmla="*/ 0 60000 65536"/>
                    <a:gd name="T9" fmla="*/ 0 60000 65536"/>
                    <a:gd name="T10" fmla="*/ 0 60000 65536"/>
                    <a:gd name="T11" fmla="*/ 0 60000 65536"/>
                    <a:gd name="T12" fmla="*/ 0 w 1828800"/>
                    <a:gd name="T13" fmla="*/ 0 h 1590261"/>
                    <a:gd name="T14" fmla="*/ 1828800 w 1828800"/>
                    <a:gd name="T15" fmla="*/ 1590261 h 1590261"/>
                  </a:gdLst>
                  <a:ahLst/>
                  <a:cxnLst>
                    <a:cxn ang="T8">
                      <a:pos x="T0" y="T1"/>
                    </a:cxn>
                    <a:cxn ang="T9">
                      <a:pos x="T2" y="T3"/>
                    </a:cxn>
                    <a:cxn ang="T10">
                      <a:pos x="T4" y="T5"/>
                    </a:cxn>
                    <a:cxn ang="T11">
                      <a:pos x="T6" y="T7"/>
                    </a:cxn>
                  </a:cxnLst>
                  <a:rect l="T12" t="T13" r="T14" b="T15"/>
                  <a:pathLst>
                    <a:path w="1828800" h="1590261">
                      <a:moveTo>
                        <a:pt x="0" y="1590261"/>
                      </a:moveTo>
                      <a:cubicBezTo>
                        <a:pt x="38100" y="1411356"/>
                        <a:pt x="76200" y="1232452"/>
                        <a:pt x="337930" y="1053548"/>
                      </a:cubicBezTo>
                      <a:cubicBezTo>
                        <a:pt x="599660" y="874644"/>
                        <a:pt x="1321904" y="692426"/>
                        <a:pt x="1570382" y="516835"/>
                      </a:cubicBezTo>
                      <a:cubicBezTo>
                        <a:pt x="1818860" y="341244"/>
                        <a:pt x="1823830" y="170622"/>
                        <a:pt x="1828800" y="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15" name="Object 24"/>
                <p:cNvGraphicFramePr>
                  <a:graphicFrameLocks noChangeAspect="1"/>
                </p:cNvGraphicFramePr>
                <p:nvPr/>
              </p:nvGraphicFramePr>
              <p:xfrm>
                <a:off x="3035232" y="141777"/>
                <a:ext cx="513098" cy="340346"/>
              </p:xfrm>
              <a:graphic>
                <a:graphicData uri="http://schemas.openxmlformats.org/presentationml/2006/ole">
                  <mc:AlternateContent xmlns:mc="http://schemas.openxmlformats.org/markup-compatibility/2006">
                    <mc:Choice xmlns:v="urn:schemas-microsoft-com:vml" Requires="v">
                      <p:oleObj spid="_x0000_s126147" r:id="rId14" imgW="242142" imgH="178504" progId="">
                        <p:embed/>
                      </p:oleObj>
                    </mc:Choice>
                    <mc:Fallback>
                      <p:oleObj r:id="rId14" imgW="242142" imgH="178504" progId="">
                        <p:embed/>
                        <p:pic>
                          <p:nvPicPr>
                            <p:cNvPr id="59416" name="Object 2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35232" y="141777"/>
                              <a:ext cx="513098" cy="340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25"/>
                <p:cNvGraphicFramePr>
                  <a:graphicFrameLocks noChangeAspect="1"/>
                </p:cNvGraphicFramePr>
                <p:nvPr/>
              </p:nvGraphicFramePr>
              <p:xfrm>
                <a:off x="3035232" y="999188"/>
                <a:ext cx="513098" cy="340346"/>
              </p:xfrm>
              <a:graphic>
                <a:graphicData uri="http://schemas.openxmlformats.org/presentationml/2006/ole">
                  <mc:AlternateContent xmlns:mc="http://schemas.openxmlformats.org/markup-compatibility/2006">
                    <mc:Choice xmlns:v="urn:schemas-microsoft-com:vml" Requires="v">
                      <p:oleObj spid="_x0000_s126148" r:id="rId16" imgW="242142" imgH="178504" progId="">
                        <p:embed/>
                      </p:oleObj>
                    </mc:Choice>
                    <mc:Fallback>
                      <p:oleObj r:id="rId16" imgW="242142" imgH="178504" progId="">
                        <p:embed/>
                        <p:pic>
                          <p:nvPicPr>
                            <p:cNvPr id="59417" name="Object 2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35232" y="999188"/>
                              <a:ext cx="513098" cy="340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26"/>
                <p:cNvGraphicFramePr>
                  <a:graphicFrameLocks noChangeAspect="1"/>
                </p:cNvGraphicFramePr>
                <p:nvPr/>
              </p:nvGraphicFramePr>
              <p:xfrm>
                <a:off x="3285759" y="1856600"/>
                <a:ext cx="539597" cy="340346"/>
              </p:xfrm>
              <a:graphic>
                <a:graphicData uri="http://schemas.openxmlformats.org/presentationml/2006/ole">
                  <mc:AlternateContent xmlns:mc="http://schemas.openxmlformats.org/markup-compatibility/2006">
                    <mc:Choice xmlns:v="urn:schemas-microsoft-com:vml" Requires="v">
                      <p:oleObj spid="_x0000_s126149" r:id="rId18" imgW="254869" imgH="178504" progId="">
                        <p:embed/>
                      </p:oleObj>
                    </mc:Choice>
                    <mc:Fallback>
                      <p:oleObj r:id="rId18" imgW="254869" imgH="178504" progId="">
                        <p:embed/>
                        <p:pic>
                          <p:nvPicPr>
                            <p:cNvPr id="59418" name="Object 2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285759" y="1856600"/>
                              <a:ext cx="539597" cy="340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cxnSp>
          <p:nvCxnSpPr>
            <p:cNvPr id="7" name="直接连接符 41"/>
            <p:cNvCxnSpPr>
              <a:cxnSpLocks noChangeShapeType="1"/>
            </p:cNvCxnSpPr>
            <p:nvPr/>
          </p:nvCxnSpPr>
          <p:spPr bwMode="auto">
            <a:xfrm rot="5400000">
              <a:off x="-678657" y="2678903"/>
              <a:ext cx="3502025" cy="1588"/>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graphicFrame>
          <p:nvGraphicFramePr>
            <p:cNvPr id="8" name="Object 28"/>
            <p:cNvGraphicFramePr>
              <a:graphicFrameLocks noChangeAspect="1"/>
            </p:cNvGraphicFramePr>
            <p:nvPr/>
          </p:nvGraphicFramePr>
          <p:xfrm>
            <a:off x="928687" y="4429125"/>
            <a:ext cx="266700" cy="320675"/>
          </p:xfrm>
          <a:graphic>
            <a:graphicData uri="http://schemas.openxmlformats.org/presentationml/2006/ole">
              <mc:AlternateContent xmlns:mc="http://schemas.openxmlformats.org/markup-compatibility/2006">
                <mc:Choice xmlns:v="urn:schemas-microsoft-com:vml" Requires="v">
                  <p:oleObj spid="_x0000_s126150" r:id="rId20" imgW="191481" imgH="229714" progId="">
                    <p:embed/>
                  </p:oleObj>
                </mc:Choice>
                <mc:Fallback>
                  <p:oleObj r:id="rId20" imgW="191481" imgH="229714" progId="">
                    <p:embed/>
                    <p:pic>
                      <p:nvPicPr>
                        <p:cNvPr id="59420" name="Object 2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28687" y="4429125"/>
                          <a:ext cx="2667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1" name="矩形 30"/>
          <p:cNvSpPr/>
          <p:nvPr/>
        </p:nvSpPr>
        <p:spPr>
          <a:xfrm>
            <a:off x="722092" y="2441521"/>
            <a:ext cx="4572000" cy="646331"/>
          </a:xfrm>
          <a:prstGeom prst="rect">
            <a:avLst/>
          </a:prstGeom>
        </p:spPr>
        <p:txBody>
          <a:bodyPr>
            <a:spAutoFit/>
          </a:bodyPr>
          <a:lstStyle/>
          <a:p>
            <a:pPr marL="342900" indent="-34290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在边际成本递减的阶段，总成本增加的速度递减，即总成本曲线越来越平缓</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32" name="矩形 31"/>
          <p:cNvSpPr/>
          <p:nvPr/>
        </p:nvSpPr>
        <p:spPr>
          <a:xfrm>
            <a:off x="722092" y="3648245"/>
            <a:ext cx="4662400" cy="646331"/>
          </a:xfrm>
          <a:prstGeom prst="rect">
            <a:avLst/>
          </a:prstGeom>
        </p:spPr>
        <p:txBody>
          <a:bodyPr wrap="square">
            <a:spAutoFit/>
          </a:bodyPr>
          <a:lstStyle/>
          <a:p>
            <a:pPr marL="342900" indent="-34290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在边际成本递增阶段，总成本增加的速度越来越快，即总成本曲线越来越陡峭。</a:t>
            </a:r>
          </a:p>
        </p:txBody>
      </p:sp>
      <p:sp>
        <p:nvSpPr>
          <p:cNvPr id="33" name="矩形 32"/>
          <p:cNvSpPr/>
          <p:nvPr/>
        </p:nvSpPr>
        <p:spPr>
          <a:xfrm>
            <a:off x="723161" y="4854969"/>
            <a:ext cx="2839239" cy="369332"/>
          </a:xfrm>
          <a:prstGeom prst="rect">
            <a:avLst/>
          </a:prstGeom>
        </p:spPr>
        <p:txBody>
          <a:bodyPr wrap="none">
            <a:spAutoFit/>
          </a:bodyPr>
          <a:lstStyle/>
          <a:p>
            <a:pPr marL="342900" indent="-34290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可变成本的分析类似。</a:t>
            </a:r>
          </a:p>
        </p:txBody>
      </p:sp>
      <p:sp>
        <p:nvSpPr>
          <p:cNvPr id="34" name="矩形 33">
            <a:extLst>
              <a:ext uri="{FF2B5EF4-FFF2-40B4-BE49-F238E27FC236}">
                <a16:creationId xmlns:a16="http://schemas.microsoft.com/office/drawing/2014/main" id="{C392236A-33E4-4132-B40D-7DEC526FDB3F}"/>
              </a:ext>
            </a:extLst>
          </p:cNvPr>
          <p:cNvSpPr/>
          <p:nvPr/>
        </p:nvSpPr>
        <p:spPr>
          <a:xfrm>
            <a:off x="580922" y="520573"/>
            <a:ext cx="449513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四、短期成本曲线之间的关系</a:t>
            </a:r>
          </a:p>
        </p:txBody>
      </p:sp>
    </p:spTree>
    <p:extLst>
      <p:ext uri="{BB962C8B-B14F-4D97-AF65-F5344CB8AC3E}">
        <p14:creationId xmlns:p14="http://schemas.microsoft.com/office/powerpoint/2010/main" val="139845127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 calcmode="lin" valueType="num">
                                      <p:cBhvr>
                                        <p:cTn id="7" dur="500" fill="hold"/>
                                        <p:tgtEl>
                                          <p:spTgt spid="34"/>
                                        </p:tgtEl>
                                        <p:attrNameLst>
                                          <p:attrName>ppt_w</p:attrName>
                                        </p:attrNameLst>
                                      </p:cBhvr>
                                      <p:tavLst>
                                        <p:tav tm="0">
                                          <p:val>
                                            <p:fltVal val="0"/>
                                          </p:val>
                                        </p:tav>
                                        <p:tav tm="100000">
                                          <p:val>
                                            <p:strVal val="#ppt_w"/>
                                          </p:val>
                                        </p:tav>
                                      </p:tavLst>
                                    </p:anim>
                                    <p:anim calcmode="lin" valueType="num">
                                      <p:cBhvr>
                                        <p:cTn id="8" dur="500" fill="hold"/>
                                        <p:tgtEl>
                                          <p:spTgt spid="34"/>
                                        </p:tgtEl>
                                        <p:attrNameLst>
                                          <p:attrName>ppt_h</p:attrName>
                                        </p:attrNameLst>
                                      </p:cBhvr>
                                      <p:tavLst>
                                        <p:tav tm="0">
                                          <p:val>
                                            <p:fltVal val="0"/>
                                          </p:val>
                                        </p:tav>
                                        <p:tav tm="100000">
                                          <p:val>
                                            <p:strVal val="#ppt_h"/>
                                          </p:val>
                                        </p:tav>
                                      </p:tavLst>
                                    </p:anim>
                                    <p:animEffect transition="in" filter="fade">
                                      <p:cBhvr>
                                        <p:cTn id="9" dur="500"/>
                                        <p:tgtEl>
                                          <p:spTgt spid="3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5"/>
                                        </p:tgtEl>
                                        <p:attrNameLst>
                                          <p:attrName>style.visibility</p:attrName>
                                        </p:attrNameLst>
                                      </p:cBhvr>
                                      <p:to>
                                        <p:strVal val="visible"/>
                                      </p:to>
                                    </p:set>
                                    <p:anim calcmode="lin" valueType="num">
                                      <p:cBhvr>
                                        <p:cTn id="14" dur="500" fill="hold"/>
                                        <p:tgtEl>
                                          <p:spTgt spid="35"/>
                                        </p:tgtEl>
                                        <p:attrNameLst>
                                          <p:attrName>ppt_w</p:attrName>
                                        </p:attrNameLst>
                                      </p:cBhvr>
                                      <p:tavLst>
                                        <p:tav tm="0">
                                          <p:val>
                                            <p:fltVal val="0"/>
                                          </p:val>
                                        </p:tav>
                                        <p:tav tm="100000">
                                          <p:val>
                                            <p:strVal val="#ppt_w"/>
                                          </p:val>
                                        </p:tav>
                                      </p:tavLst>
                                    </p:anim>
                                    <p:anim calcmode="lin" valueType="num">
                                      <p:cBhvr>
                                        <p:cTn id="15" dur="500" fill="hold"/>
                                        <p:tgtEl>
                                          <p:spTgt spid="35"/>
                                        </p:tgtEl>
                                        <p:attrNameLst>
                                          <p:attrName>ppt_h</p:attrName>
                                        </p:attrNameLst>
                                      </p:cBhvr>
                                      <p:tavLst>
                                        <p:tav tm="0">
                                          <p:val>
                                            <p:fltVal val="0"/>
                                          </p:val>
                                        </p:tav>
                                        <p:tav tm="100000">
                                          <p:val>
                                            <p:strVal val="#ppt_h"/>
                                          </p:val>
                                        </p:tav>
                                      </p:tavLst>
                                    </p:anim>
                                    <p:animEffect transition="in" filter="fade">
                                      <p:cBhvr>
                                        <p:cTn id="16" dur="500"/>
                                        <p:tgtEl>
                                          <p:spTgt spid="35"/>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3"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strips(upRight)">
                                      <p:cBhvr>
                                        <p:cTn id="26" dur="500"/>
                                        <p:tgtEl>
                                          <p:spTgt spid="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wipe(down)">
                                      <p:cBhvr>
                                        <p:cTn id="31" dur="500"/>
                                        <p:tgtEl>
                                          <p:spTgt spid="3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wipe(down)">
                                      <p:cBhvr>
                                        <p:cTn id="36" dur="500"/>
                                        <p:tgtEl>
                                          <p:spTgt spid="3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33"/>
                                        </p:tgtEl>
                                        <p:attrNameLst>
                                          <p:attrName>style.visibility</p:attrName>
                                        </p:attrNameLst>
                                      </p:cBhvr>
                                      <p:to>
                                        <p:strVal val="visible"/>
                                      </p:to>
                                    </p:set>
                                    <p:animEffect transition="in" filter="wipe(down)">
                                      <p:cBhvr>
                                        <p:cTn id="4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4" grpId="0"/>
      <p:bldP spid="31" grpId="0"/>
      <p:bldP spid="32" grpId="0"/>
      <p:bldP spid="33" grpId="0"/>
      <p:bldP spid="34"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圆角 28">
            <a:extLst>
              <a:ext uri="{FF2B5EF4-FFF2-40B4-BE49-F238E27FC236}">
                <a16:creationId xmlns:a16="http://schemas.microsoft.com/office/drawing/2014/main" id="{E8389A8C-8D71-4C0F-AE54-72EE1BAA1EDC}"/>
              </a:ext>
            </a:extLst>
          </p:cNvPr>
          <p:cNvSpPr/>
          <p:nvPr/>
        </p:nvSpPr>
        <p:spPr>
          <a:xfrm>
            <a:off x="557017" y="1725625"/>
            <a:ext cx="5330657" cy="71806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sp>
        <p:nvSpPr>
          <p:cNvPr id="3" name="矩形 2">
            <a:extLst>
              <a:ext uri="{FF2B5EF4-FFF2-40B4-BE49-F238E27FC236}">
                <a16:creationId xmlns:a16="http://schemas.microsoft.com/office/drawing/2014/main" id="{4E1C1893-AB90-4458-A5F7-957881641DB7}"/>
              </a:ext>
            </a:extLst>
          </p:cNvPr>
          <p:cNvSpPr/>
          <p:nvPr/>
        </p:nvSpPr>
        <p:spPr>
          <a:xfrm>
            <a:off x="576082" y="1735800"/>
            <a:ext cx="5213735" cy="707886"/>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边际成本曲线与平均成本曲线和平均可变成本曲线相交，且先后交于它们的最低点。</a:t>
            </a:r>
          </a:p>
        </p:txBody>
      </p:sp>
      <p:grpSp>
        <p:nvGrpSpPr>
          <p:cNvPr id="13" name="组合 4"/>
          <p:cNvGrpSpPr>
            <a:grpSpLocks/>
          </p:cNvGrpSpPr>
          <p:nvPr/>
        </p:nvGrpSpPr>
        <p:grpSpPr bwMode="auto">
          <a:xfrm>
            <a:off x="602701" y="1374924"/>
            <a:ext cx="4237037" cy="4498975"/>
            <a:chOff x="0" y="0"/>
            <a:chExt cx="4236534" cy="4499005"/>
          </a:xfrm>
        </p:grpSpPr>
        <p:grpSp>
          <p:nvGrpSpPr>
            <p:cNvPr id="14" name="组合 4"/>
            <p:cNvGrpSpPr>
              <a:grpSpLocks/>
            </p:cNvGrpSpPr>
            <p:nvPr/>
          </p:nvGrpSpPr>
          <p:grpSpPr bwMode="auto">
            <a:xfrm>
              <a:off x="0" y="1785952"/>
              <a:ext cx="4236534" cy="2713053"/>
              <a:chOff x="0" y="0"/>
              <a:chExt cx="2275565" cy="2064047"/>
            </a:xfrm>
          </p:grpSpPr>
          <p:cxnSp>
            <p:nvCxnSpPr>
              <p:cNvPr id="17" name="直接箭头连接符 8"/>
              <p:cNvCxnSpPr>
                <a:cxnSpLocks noChangeShapeType="1"/>
              </p:cNvCxnSpPr>
              <p:nvPr/>
            </p:nvCxnSpPr>
            <p:spPr bwMode="auto">
              <a:xfrm>
                <a:off x="230200" y="1793510"/>
                <a:ext cx="2045365" cy="18116"/>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18" name="直接箭头连接符 9"/>
              <p:cNvCxnSpPr>
                <a:cxnSpLocks noChangeShapeType="1"/>
              </p:cNvCxnSpPr>
              <p:nvPr/>
            </p:nvCxnSpPr>
            <p:spPr bwMode="auto">
              <a:xfrm rot="16200000" flipV="1">
                <a:off x="-666557" y="896754"/>
                <a:ext cx="1793513" cy="0"/>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19" name="Object 7"/>
              <p:cNvGraphicFramePr>
                <a:graphicFrameLocks noChangeAspect="1"/>
              </p:cNvGraphicFramePr>
              <p:nvPr/>
            </p:nvGraphicFramePr>
            <p:xfrm>
              <a:off x="38372" y="1793511"/>
              <a:ext cx="154330" cy="188410"/>
            </p:xfrm>
            <a:graphic>
              <a:graphicData uri="http://schemas.openxmlformats.org/presentationml/2006/ole">
                <mc:AlternateContent xmlns:mc="http://schemas.openxmlformats.org/markup-compatibility/2006">
                  <mc:Choice xmlns:v="urn:schemas-microsoft-com:vml" Requires="v">
                    <p:oleObj spid="_x0000_s103062" r:id="rId3" imgW="153248" imgH="178737" progId="">
                      <p:embed/>
                    </p:oleObj>
                  </mc:Choice>
                  <mc:Fallback>
                    <p:oleObj r:id="rId3" imgW="153248" imgH="178737" progId="">
                      <p:embed/>
                      <p:pic>
                        <p:nvPicPr>
                          <p:cNvPr id="60423"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72" y="1793511"/>
                            <a:ext cx="154330" cy="1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0" name="Object 8"/>
              <p:cNvGraphicFramePr>
                <a:graphicFrameLocks noChangeAspect="1"/>
              </p:cNvGraphicFramePr>
              <p:nvPr/>
            </p:nvGraphicFramePr>
            <p:xfrm>
              <a:off x="0" y="108696"/>
              <a:ext cx="153179" cy="188410"/>
            </p:xfrm>
            <a:graphic>
              <a:graphicData uri="http://schemas.openxmlformats.org/presentationml/2006/ole">
                <mc:AlternateContent xmlns:mc="http://schemas.openxmlformats.org/markup-compatibility/2006">
                  <mc:Choice xmlns:v="urn:schemas-microsoft-com:vml" Requires="v">
                    <p:oleObj spid="_x0000_s103063" r:id="rId5" imgW="153248" imgH="178737" progId="">
                      <p:embed/>
                    </p:oleObj>
                  </mc:Choice>
                  <mc:Fallback>
                    <p:oleObj r:id="rId5" imgW="153248" imgH="178737" progId="">
                      <p:embed/>
                      <p:pic>
                        <p:nvPicPr>
                          <p:cNvPr id="60424"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108696"/>
                            <a:ext cx="153179" cy="1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1" name="Object 9"/>
              <p:cNvGraphicFramePr>
                <a:graphicFrameLocks noChangeAspect="1"/>
              </p:cNvGraphicFramePr>
              <p:nvPr/>
            </p:nvGraphicFramePr>
            <p:xfrm>
              <a:off x="2110428" y="1847860"/>
              <a:ext cx="154330" cy="216187"/>
            </p:xfrm>
            <a:graphic>
              <a:graphicData uri="http://schemas.openxmlformats.org/presentationml/2006/ole">
                <mc:AlternateContent xmlns:mc="http://schemas.openxmlformats.org/markup-compatibility/2006">
                  <mc:Choice xmlns:v="urn:schemas-microsoft-com:vml" Requires="v">
                    <p:oleObj spid="_x0000_s103064" r:id="rId7" imgW="153381" imgH="204403" progId="">
                      <p:embed/>
                    </p:oleObj>
                  </mc:Choice>
                  <mc:Fallback>
                    <p:oleObj r:id="rId7" imgW="153381" imgH="204403" progId="">
                      <p:embed/>
                      <p:pic>
                        <p:nvPicPr>
                          <p:cNvPr id="60425"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10428" y="1847860"/>
                            <a:ext cx="154330" cy="216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5" name="弧形 6"/>
            <p:cNvSpPr>
              <a:spLocks noChangeArrowheads="1"/>
            </p:cNvSpPr>
            <p:nvPr/>
          </p:nvSpPr>
          <p:spPr bwMode="auto">
            <a:xfrm rot="6826562">
              <a:off x="156112" y="618496"/>
              <a:ext cx="3805262" cy="2568270"/>
            </a:xfrm>
            <a:custGeom>
              <a:avLst/>
              <a:gdLst>
                <a:gd name="T0" fmla="*/ 1542333 w 3805262"/>
                <a:gd name="T1" fmla="*/ 23235 h 2568270"/>
                <a:gd name="T2" fmla="*/ 1902631 w 3805262"/>
                <a:gd name="T3" fmla="*/ 1284135 h 2568270"/>
                <a:gd name="T4" fmla="*/ 3288269 w 3805262"/>
                <a:gd name="T5" fmla="*/ 2164134 h 2568270"/>
                <a:gd name="T6" fmla="*/ 11796480 60000 65536"/>
                <a:gd name="T7" fmla="*/ 11796480 60000 65536"/>
                <a:gd name="T8" fmla="*/ 5898240 60000 65536"/>
                <a:gd name="T9" fmla="*/ 1542333 w 3805262"/>
                <a:gd name="T10" fmla="*/ 0 h 2568270"/>
                <a:gd name="T11" fmla="*/ 3805262 w 3805262"/>
                <a:gd name="T12" fmla="*/ 2164134 h 2568270"/>
              </a:gdLst>
              <a:ahLst/>
              <a:cxnLst>
                <a:cxn ang="T6">
                  <a:pos x="T0" y="T1"/>
                </a:cxn>
                <a:cxn ang="T7">
                  <a:pos x="T2" y="T3"/>
                </a:cxn>
                <a:cxn ang="T8">
                  <a:pos x="T4" y="T5"/>
                </a:cxn>
              </a:cxnLst>
              <a:rect l="T9" t="T10" r="T11" b="T12"/>
              <a:pathLst>
                <a:path w="3805262" h="2568270" stroke="0">
                  <a:moveTo>
                    <a:pt x="1542333" y="23235"/>
                  </a:moveTo>
                  <a:lnTo>
                    <a:pt x="1542332" y="23234"/>
                  </a:lnTo>
                  <a:cubicBezTo>
                    <a:pt x="1661065" y="7780"/>
                    <a:pt x="1781710" y="0"/>
                    <a:pt x="1902631" y="0"/>
                  </a:cubicBezTo>
                  <a:cubicBezTo>
                    <a:pt x="2953425" y="0"/>
                    <a:pt x="3805262" y="574926"/>
                    <a:pt x="3805262" y="1284135"/>
                  </a:cubicBezTo>
                  <a:cubicBezTo>
                    <a:pt x="3805262" y="1611201"/>
                    <a:pt x="3620353" y="1925942"/>
                    <a:pt x="3288266" y="2164136"/>
                  </a:cubicBezTo>
                  <a:lnTo>
                    <a:pt x="1902631" y="1284135"/>
                  </a:lnTo>
                  <a:close/>
                </a:path>
                <a:path w="3805262" h="2568270" fill="none">
                  <a:moveTo>
                    <a:pt x="1542333" y="23235"/>
                  </a:moveTo>
                  <a:lnTo>
                    <a:pt x="1542332" y="23234"/>
                  </a:lnTo>
                  <a:cubicBezTo>
                    <a:pt x="1661065" y="7780"/>
                    <a:pt x="1781710" y="0"/>
                    <a:pt x="1902631" y="0"/>
                  </a:cubicBezTo>
                  <a:cubicBezTo>
                    <a:pt x="2953425" y="0"/>
                    <a:pt x="3805262" y="574926"/>
                    <a:pt x="3805262" y="1284135"/>
                  </a:cubicBezTo>
                  <a:cubicBezTo>
                    <a:pt x="3805262" y="1611201"/>
                    <a:pt x="3620353" y="1925942"/>
                    <a:pt x="3288266" y="2164136"/>
                  </a:cubicBezTo>
                </a:path>
              </a:pathLst>
            </a:custGeom>
            <a:noFill/>
            <a:ln w="38100" cmpd="sng">
              <a:solidFill>
                <a:srgbClr val="FF99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16" name="Object 11"/>
            <p:cNvGraphicFramePr>
              <a:graphicFrameLocks noChangeAspect="1"/>
            </p:cNvGraphicFramePr>
            <p:nvPr/>
          </p:nvGraphicFramePr>
          <p:xfrm>
            <a:off x="3143273" y="1785950"/>
            <a:ext cx="406400" cy="247650"/>
          </p:xfrm>
          <a:graphic>
            <a:graphicData uri="http://schemas.openxmlformats.org/presentationml/2006/ole">
              <mc:AlternateContent xmlns:mc="http://schemas.openxmlformats.org/markup-compatibility/2006">
                <mc:Choice xmlns:v="urn:schemas-microsoft-com:vml" Requires="v">
                  <p:oleObj spid="_x0000_s103065" r:id="rId9" imgW="292798" imgH="178349" progId="">
                    <p:embed/>
                  </p:oleObj>
                </mc:Choice>
                <mc:Fallback>
                  <p:oleObj r:id="rId9" imgW="292798" imgH="178349" progId="">
                    <p:embed/>
                    <p:pic>
                      <p:nvPicPr>
                        <p:cNvPr id="60427"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43273" y="1785950"/>
                          <a:ext cx="406400"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2" name="组合 17"/>
          <p:cNvGrpSpPr>
            <a:grpSpLocks/>
          </p:cNvGrpSpPr>
          <p:nvPr/>
        </p:nvGrpSpPr>
        <p:grpSpPr bwMode="auto">
          <a:xfrm>
            <a:off x="1445663" y="1844824"/>
            <a:ext cx="3184525" cy="2203450"/>
            <a:chOff x="0" y="0"/>
            <a:chExt cx="3184525" cy="2203450"/>
          </a:xfrm>
        </p:grpSpPr>
        <p:sp>
          <p:nvSpPr>
            <p:cNvPr id="23" name="弧形 14"/>
            <p:cNvSpPr>
              <a:spLocks noChangeArrowheads="1"/>
            </p:cNvSpPr>
            <p:nvPr/>
          </p:nvSpPr>
          <p:spPr bwMode="auto">
            <a:xfrm rot="7354769">
              <a:off x="490538" y="-490538"/>
              <a:ext cx="2203450" cy="3184525"/>
            </a:xfrm>
            <a:custGeom>
              <a:avLst/>
              <a:gdLst>
                <a:gd name="T0" fmla="*/ 1209761 w 2203450"/>
                <a:gd name="T1" fmla="*/ 7674 h 3184525"/>
                <a:gd name="T2" fmla="*/ 1101725 w 2203450"/>
                <a:gd name="T3" fmla="*/ 1592263 h 3184525"/>
                <a:gd name="T4" fmla="*/ 2171332 w 2203450"/>
                <a:gd name="T5" fmla="*/ 1973927 h 3184525"/>
                <a:gd name="T6" fmla="*/ 11796480 60000 65536"/>
                <a:gd name="T7" fmla="*/ 11796480 60000 65536"/>
                <a:gd name="T8" fmla="*/ 5898240 60000 65536"/>
                <a:gd name="T9" fmla="*/ 1209761 w 2203450"/>
                <a:gd name="T10" fmla="*/ 7674 h 3184525"/>
                <a:gd name="T11" fmla="*/ 2203450 w 2203450"/>
                <a:gd name="T12" fmla="*/ 1973927 h 3184525"/>
              </a:gdLst>
              <a:ahLst/>
              <a:cxnLst>
                <a:cxn ang="T6">
                  <a:pos x="T0" y="T1"/>
                </a:cxn>
                <a:cxn ang="T7">
                  <a:pos x="T2" y="T3"/>
                </a:cxn>
                <a:cxn ang="T8">
                  <a:pos x="T4" y="T5"/>
                </a:cxn>
              </a:cxnLst>
              <a:rect l="T9" t="T10" r="T11" b="T12"/>
              <a:pathLst>
                <a:path w="2203450" h="3184525" stroke="0">
                  <a:moveTo>
                    <a:pt x="1209761" y="7674"/>
                  </a:moveTo>
                  <a:lnTo>
                    <a:pt x="1209760" y="7674"/>
                  </a:lnTo>
                  <a:cubicBezTo>
                    <a:pt x="1773654" y="87977"/>
                    <a:pt x="2203450" y="773351"/>
                    <a:pt x="2203450" y="1592263"/>
                  </a:cubicBezTo>
                  <a:cubicBezTo>
                    <a:pt x="2203450" y="1720893"/>
                    <a:pt x="2192665" y="1849049"/>
                    <a:pt x="2171331" y="1973930"/>
                  </a:cubicBezTo>
                  <a:lnTo>
                    <a:pt x="1101725" y="1592263"/>
                  </a:lnTo>
                  <a:close/>
                </a:path>
                <a:path w="2203450" h="3184525" fill="none">
                  <a:moveTo>
                    <a:pt x="1209761" y="7674"/>
                  </a:moveTo>
                  <a:lnTo>
                    <a:pt x="1209760" y="7674"/>
                  </a:lnTo>
                  <a:cubicBezTo>
                    <a:pt x="1773654" y="87977"/>
                    <a:pt x="2203450" y="773351"/>
                    <a:pt x="2203450" y="1592263"/>
                  </a:cubicBezTo>
                  <a:cubicBezTo>
                    <a:pt x="2203450" y="1720893"/>
                    <a:pt x="2192665" y="1849049"/>
                    <a:pt x="2171331" y="197393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24" name="Object 14"/>
            <p:cNvGraphicFramePr>
              <a:graphicFrameLocks noChangeAspect="1"/>
            </p:cNvGraphicFramePr>
            <p:nvPr/>
          </p:nvGraphicFramePr>
          <p:xfrm>
            <a:off x="2728913" y="1816100"/>
            <a:ext cx="373062" cy="249237"/>
          </p:xfrm>
          <a:graphic>
            <a:graphicData uri="http://schemas.openxmlformats.org/presentationml/2006/ole">
              <mc:AlternateContent xmlns:mc="http://schemas.openxmlformats.org/markup-compatibility/2006">
                <mc:Choice xmlns:v="urn:schemas-microsoft-com:vml" Requires="v">
                  <p:oleObj spid="_x0000_s103066" r:id="rId11" imgW="267597" imgH="178504" progId="">
                    <p:embed/>
                  </p:oleObj>
                </mc:Choice>
                <mc:Fallback>
                  <p:oleObj r:id="rId11" imgW="267597" imgH="178504" progId="">
                    <p:embed/>
                    <p:pic>
                      <p:nvPicPr>
                        <p:cNvPr id="6043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28913" y="1816100"/>
                          <a:ext cx="373062" cy="24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5" name="组合 18"/>
          <p:cNvGrpSpPr>
            <a:grpSpLocks/>
          </p:cNvGrpSpPr>
          <p:nvPr/>
        </p:nvGrpSpPr>
        <p:grpSpPr bwMode="auto">
          <a:xfrm>
            <a:off x="1523451" y="905024"/>
            <a:ext cx="3514725" cy="3911600"/>
            <a:chOff x="0" y="0"/>
            <a:chExt cx="3514725" cy="3911600"/>
          </a:xfrm>
        </p:grpSpPr>
        <p:sp>
          <p:nvSpPr>
            <p:cNvPr id="26" name="弧形 13"/>
            <p:cNvSpPr>
              <a:spLocks noChangeArrowheads="1"/>
            </p:cNvSpPr>
            <p:nvPr/>
          </p:nvSpPr>
          <p:spPr bwMode="auto">
            <a:xfrm rot="7833686">
              <a:off x="-198437" y="198433"/>
              <a:ext cx="3911600" cy="3514725"/>
            </a:xfrm>
            <a:custGeom>
              <a:avLst/>
              <a:gdLst>
                <a:gd name="T0" fmla="*/ 2298659 w 3911600"/>
                <a:gd name="T1" fmla="*/ 27214 h 3514725"/>
                <a:gd name="T2" fmla="*/ 1955800 w 3911600"/>
                <a:gd name="T3" fmla="*/ 1757363 h 3514725"/>
                <a:gd name="T4" fmla="*/ 3803202 w 3911600"/>
                <a:gd name="T5" fmla="*/ 2334290 h 3514725"/>
                <a:gd name="T6" fmla="*/ 11796480 60000 65536"/>
                <a:gd name="T7" fmla="*/ 11796480 60000 65536"/>
                <a:gd name="T8" fmla="*/ 5898240 60000 65536"/>
                <a:gd name="T9" fmla="*/ 2298659 w 3911600"/>
                <a:gd name="T10" fmla="*/ 27214 h 3514725"/>
                <a:gd name="T11" fmla="*/ 3911600 w 3911600"/>
                <a:gd name="T12" fmla="*/ 2334290 h 3514725"/>
              </a:gdLst>
              <a:ahLst/>
              <a:cxnLst>
                <a:cxn ang="T6">
                  <a:pos x="T0" y="T1"/>
                </a:cxn>
                <a:cxn ang="T7">
                  <a:pos x="T2" y="T3"/>
                </a:cxn>
                <a:cxn ang="T8">
                  <a:pos x="T4" y="T5"/>
                </a:cxn>
              </a:cxnLst>
              <a:rect l="T9" t="T10" r="T11" b="T12"/>
              <a:pathLst>
                <a:path w="3911600" h="3514725" stroke="0">
                  <a:moveTo>
                    <a:pt x="2298659" y="27214"/>
                  </a:moveTo>
                  <a:lnTo>
                    <a:pt x="2298659" y="27213"/>
                  </a:lnTo>
                  <a:cubicBezTo>
                    <a:pt x="3231876" y="176523"/>
                    <a:pt x="3911600" y="905641"/>
                    <a:pt x="3911600" y="1757363"/>
                  </a:cubicBezTo>
                  <a:cubicBezTo>
                    <a:pt x="3911600" y="1953765"/>
                    <a:pt x="3874959" y="2148778"/>
                    <a:pt x="3803200" y="2334294"/>
                  </a:cubicBezTo>
                  <a:lnTo>
                    <a:pt x="1955800" y="1757363"/>
                  </a:lnTo>
                  <a:close/>
                </a:path>
                <a:path w="3911600" h="3514725" fill="none">
                  <a:moveTo>
                    <a:pt x="2298659" y="27214"/>
                  </a:moveTo>
                  <a:lnTo>
                    <a:pt x="2298659" y="27213"/>
                  </a:lnTo>
                  <a:cubicBezTo>
                    <a:pt x="3231876" y="176523"/>
                    <a:pt x="3911600" y="905641"/>
                    <a:pt x="3911600" y="1757363"/>
                  </a:cubicBezTo>
                  <a:cubicBezTo>
                    <a:pt x="3911600" y="1953765"/>
                    <a:pt x="3874959" y="2148778"/>
                    <a:pt x="3803200" y="2334294"/>
                  </a:cubicBezTo>
                </a:path>
              </a:pathLst>
            </a:custGeom>
            <a:noFill/>
            <a:ln w="38100" cmpd="sng">
              <a:solidFill>
                <a:srgbClr val="8CC705"/>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27" name="Object 17"/>
            <p:cNvGraphicFramePr>
              <a:graphicFrameLocks noChangeAspect="1"/>
            </p:cNvGraphicFramePr>
            <p:nvPr/>
          </p:nvGraphicFramePr>
          <p:xfrm>
            <a:off x="2722562" y="3041650"/>
            <a:ext cx="498475" cy="249237"/>
          </p:xfrm>
          <a:graphic>
            <a:graphicData uri="http://schemas.openxmlformats.org/presentationml/2006/ole">
              <mc:AlternateContent xmlns:mc="http://schemas.openxmlformats.org/markup-compatibility/2006">
                <mc:Choice xmlns:v="urn:schemas-microsoft-com:vml" Requires="v">
                  <p:oleObj spid="_x0000_s103067" r:id="rId13" imgW="356226" imgH="178271" progId="">
                    <p:embed/>
                  </p:oleObj>
                </mc:Choice>
                <mc:Fallback>
                  <p:oleObj r:id="rId13" imgW="356226" imgH="178271" progId="">
                    <p:embed/>
                    <p:pic>
                      <p:nvPicPr>
                        <p:cNvPr id="60433"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22562" y="3041650"/>
                          <a:ext cx="498475" cy="249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8" name="矩形 27">
            <a:extLst>
              <a:ext uri="{FF2B5EF4-FFF2-40B4-BE49-F238E27FC236}">
                <a16:creationId xmlns:a16="http://schemas.microsoft.com/office/drawing/2014/main" id="{DDC29836-A63B-45C4-8EE5-271337DC9DB4}"/>
              </a:ext>
            </a:extLst>
          </p:cNvPr>
          <p:cNvSpPr/>
          <p:nvPr/>
        </p:nvSpPr>
        <p:spPr>
          <a:xfrm>
            <a:off x="580922" y="520573"/>
            <a:ext cx="449513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四、短期成本曲线之间的关系</a:t>
            </a:r>
          </a:p>
        </p:txBody>
      </p:sp>
      <p:pic>
        <p:nvPicPr>
          <p:cNvPr id="30" name="图片 29">
            <a:extLst>
              <a:ext uri="{FF2B5EF4-FFF2-40B4-BE49-F238E27FC236}">
                <a16:creationId xmlns:a16="http://schemas.microsoft.com/office/drawing/2014/main" id="{D677C91A-88F3-4C0D-9A5B-A44533CFD3F1}"/>
              </a:ext>
            </a:extLst>
          </p:cNvPr>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4987673" y="2564904"/>
            <a:ext cx="2935446" cy="3674211"/>
          </a:xfrm>
          <a:prstGeom prst="rect">
            <a:avLst/>
          </a:prstGeom>
        </p:spPr>
      </p:pic>
    </p:spTree>
    <p:extLst>
      <p:ext uri="{BB962C8B-B14F-4D97-AF65-F5344CB8AC3E}">
        <p14:creationId xmlns:p14="http://schemas.microsoft.com/office/powerpoint/2010/main" val="415001563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p:cTn id="7" dur="500" fill="hold"/>
                                        <p:tgtEl>
                                          <p:spTgt spid="28"/>
                                        </p:tgtEl>
                                        <p:attrNameLst>
                                          <p:attrName>ppt_w</p:attrName>
                                        </p:attrNameLst>
                                      </p:cBhvr>
                                      <p:tavLst>
                                        <p:tav tm="0">
                                          <p:val>
                                            <p:fltVal val="0"/>
                                          </p:val>
                                        </p:tav>
                                        <p:tav tm="100000">
                                          <p:val>
                                            <p:strVal val="#ppt_w"/>
                                          </p:val>
                                        </p:tav>
                                      </p:tavLst>
                                    </p:anim>
                                    <p:anim calcmode="lin" valueType="num">
                                      <p:cBhvr>
                                        <p:cTn id="8" dur="500" fill="hold"/>
                                        <p:tgtEl>
                                          <p:spTgt spid="28"/>
                                        </p:tgtEl>
                                        <p:attrNameLst>
                                          <p:attrName>ppt_h</p:attrName>
                                        </p:attrNameLst>
                                      </p:cBhvr>
                                      <p:tavLst>
                                        <p:tav tm="0">
                                          <p:val>
                                            <p:fltVal val="0"/>
                                          </p:val>
                                        </p:tav>
                                        <p:tav tm="100000">
                                          <p:val>
                                            <p:strVal val="#ppt_h"/>
                                          </p:val>
                                        </p:tav>
                                      </p:tavLst>
                                    </p:anim>
                                    <p:animEffect transition="in" filter="fade">
                                      <p:cBhvr>
                                        <p:cTn id="9" dur="500"/>
                                        <p:tgtEl>
                                          <p:spTgt spid="28"/>
                                        </p:tgtEl>
                                      </p:cBhvr>
                                    </p:animEffect>
                                  </p:childTnLst>
                                </p:cTn>
                              </p:par>
                              <p:par>
                                <p:cTn id="10" presetID="53" presetClass="entr" presetSubtype="16" fill="hold" nodeType="withEffect">
                                  <p:stCondLst>
                                    <p:cond delay="0"/>
                                  </p:stCondLst>
                                  <p:childTnLst>
                                    <p:set>
                                      <p:cBhvr>
                                        <p:cTn id="11" dur="1" fill="hold">
                                          <p:stCondLst>
                                            <p:cond delay="0"/>
                                          </p:stCondLst>
                                        </p:cTn>
                                        <p:tgtEl>
                                          <p:spTgt spid="30"/>
                                        </p:tgtEl>
                                        <p:attrNameLst>
                                          <p:attrName>style.visibility</p:attrName>
                                        </p:attrNameLst>
                                      </p:cBhvr>
                                      <p:to>
                                        <p:strVal val="visible"/>
                                      </p:to>
                                    </p:set>
                                    <p:anim calcmode="lin" valueType="num">
                                      <p:cBhvr>
                                        <p:cTn id="12" dur="500" fill="hold"/>
                                        <p:tgtEl>
                                          <p:spTgt spid="30"/>
                                        </p:tgtEl>
                                        <p:attrNameLst>
                                          <p:attrName>ppt_w</p:attrName>
                                        </p:attrNameLst>
                                      </p:cBhvr>
                                      <p:tavLst>
                                        <p:tav tm="0">
                                          <p:val>
                                            <p:fltVal val="0"/>
                                          </p:val>
                                        </p:tav>
                                        <p:tav tm="100000">
                                          <p:val>
                                            <p:strVal val="#ppt_w"/>
                                          </p:val>
                                        </p:tav>
                                      </p:tavLst>
                                    </p:anim>
                                    <p:anim calcmode="lin" valueType="num">
                                      <p:cBhvr>
                                        <p:cTn id="13" dur="500" fill="hold"/>
                                        <p:tgtEl>
                                          <p:spTgt spid="30"/>
                                        </p:tgtEl>
                                        <p:attrNameLst>
                                          <p:attrName>ppt_h</p:attrName>
                                        </p:attrNameLst>
                                      </p:cBhvr>
                                      <p:tavLst>
                                        <p:tav tm="0">
                                          <p:val>
                                            <p:fltVal val="0"/>
                                          </p:val>
                                        </p:tav>
                                        <p:tav tm="100000">
                                          <p:val>
                                            <p:strVal val="#ppt_h"/>
                                          </p:val>
                                        </p:tav>
                                      </p:tavLst>
                                    </p:anim>
                                    <p:animEffect transition="in" filter="fade">
                                      <p:cBhvr>
                                        <p:cTn id="14" dur="500"/>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29"/>
                                        </p:tgtEl>
                                        <p:attrNameLst>
                                          <p:attrName>style.visibility</p:attrName>
                                        </p:attrNameLst>
                                      </p:cBhvr>
                                      <p:to>
                                        <p:strVal val="visible"/>
                                      </p:to>
                                    </p:set>
                                    <p:anim calcmode="lin" valueType="num">
                                      <p:cBhvr>
                                        <p:cTn id="19" dur="500" fill="hold"/>
                                        <p:tgtEl>
                                          <p:spTgt spid="29"/>
                                        </p:tgtEl>
                                        <p:attrNameLst>
                                          <p:attrName>ppt_w</p:attrName>
                                        </p:attrNameLst>
                                      </p:cBhvr>
                                      <p:tavLst>
                                        <p:tav tm="0">
                                          <p:val>
                                            <p:fltVal val="0"/>
                                          </p:val>
                                        </p:tav>
                                        <p:tav tm="100000">
                                          <p:val>
                                            <p:strVal val="#ppt_w"/>
                                          </p:val>
                                        </p:tav>
                                      </p:tavLst>
                                    </p:anim>
                                    <p:anim calcmode="lin" valueType="num">
                                      <p:cBhvr>
                                        <p:cTn id="20" dur="500" fill="hold"/>
                                        <p:tgtEl>
                                          <p:spTgt spid="29"/>
                                        </p:tgtEl>
                                        <p:attrNameLst>
                                          <p:attrName>ppt_h</p:attrName>
                                        </p:attrNameLst>
                                      </p:cBhvr>
                                      <p:tavLst>
                                        <p:tav tm="0">
                                          <p:val>
                                            <p:fltVal val="0"/>
                                          </p:val>
                                        </p:tav>
                                        <p:tav tm="100000">
                                          <p:val>
                                            <p:strVal val="#ppt_h"/>
                                          </p:val>
                                        </p:tav>
                                      </p:tavLst>
                                    </p:anim>
                                    <p:animEffect transition="in" filter="fade">
                                      <p:cBhvr>
                                        <p:cTn id="21" dur="500"/>
                                        <p:tgtEl>
                                          <p:spTgt spid="29"/>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4"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wheel(4)">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8" presetClass="entr" presetSubtype="6"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strips(downRight)">
                                      <p:cBhvr>
                                        <p:cTn id="36" dur="500"/>
                                        <p:tgtEl>
                                          <p:spTgt spid="22"/>
                                        </p:tgtEl>
                                      </p:cBhvr>
                                    </p:animEffect>
                                  </p:childTnLst>
                                </p:cTn>
                              </p:par>
                            </p:childTnLst>
                          </p:cTn>
                        </p:par>
                      </p:childTnLst>
                    </p:cTn>
                  </p:par>
                  <p:par>
                    <p:cTn id="37" fill="hold">
                      <p:stCondLst>
                        <p:cond delay="indefinite"/>
                      </p:stCondLst>
                      <p:childTnLst>
                        <p:par>
                          <p:cTn id="38" fill="hold">
                            <p:stCondLst>
                              <p:cond delay="0"/>
                            </p:stCondLst>
                            <p:childTnLst>
                              <p:par>
                                <p:cTn id="39" presetID="18" presetClass="entr" presetSubtype="6" fill="hold"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strips(downRight)">
                                      <p:cBhvr>
                                        <p:cTn id="4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 grpId="0"/>
      <p:bldP spid="28"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圆角 36">
            <a:extLst>
              <a:ext uri="{FF2B5EF4-FFF2-40B4-BE49-F238E27FC236}">
                <a16:creationId xmlns:a16="http://schemas.microsoft.com/office/drawing/2014/main" id="{815D4F59-C080-4484-963A-346295888C54}"/>
              </a:ext>
            </a:extLst>
          </p:cNvPr>
          <p:cNvSpPr/>
          <p:nvPr/>
        </p:nvSpPr>
        <p:spPr>
          <a:xfrm>
            <a:off x="699709" y="1588067"/>
            <a:ext cx="4461796" cy="738310"/>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4E1C1893-AB90-4458-A5F7-957881641DB7}"/>
              </a:ext>
            </a:extLst>
          </p:cNvPr>
          <p:cNvSpPr/>
          <p:nvPr/>
        </p:nvSpPr>
        <p:spPr>
          <a:xfrm>
            <a:off x="760006" y="1588294"/>
            <a:ext cx="4378457" cy="707886"/>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边际成本和平均成本的关系类似于边际产量与平均产量之间的关系。</a:t>
            </a:r>
          </a:p>
        </p:txBody>
      </p:sp>
      <p:grpSp>
        <p:nvGrpSpPr>
          <p:cNvPr id="3" name="组合 35"/>
          <p:cNvGrpSpPr>
            <a:grpSpLocks/>
          </p:cNvGrpSpPr>
          <p:nvPr/>
        </p:nvGrpSpPr>
        <p:grpSpPr bwMode="auto">
          <a:xfrm>
            <a:off x="614267" y="3123306"/>
            <a:ext cx="3571875" cy="2392363"/>
            <a:chOff x="0" y="0"/>
            <a:chExt cx="3571875" cy="2392363"/>
          </a:xfrm>
        </p:grpSpPr>
        <p:grpSp>
          <p:nvGrpSpPr>
            <p:cNvPr id="4" name="组合 34"/>
            <p:cNvGrpSpPr>
              <a:grpSpLocks/>
            </p:cNvGrpSpPr>
            <p:nvPr/>
          </p:nvGrpSpPr>
          <p:grpSpPr bwMode="auto">
            <a:xfrm>
              <a:off x="71437" y="0"/>
              <a:ext cx="3500438" cy="2392363"/>
              <a:chOff x="0" y="0"/>
              <a:chExt cx="3500437" cy="2392380"/>
            </a:xfrm>
          </p:grpSpPr>
          <p:grpSp>
            <p:nvGrpSpPr>
              <p:cNvPr id="6" name="组合 4"/>
              <p:cNvGrpSpPr>
                <a:grpSpLocks/>
              </p:cNvGrpSpPr>
              <p:nvPr/>
            </p:nvGrpSpPr>
            <p:grpSpPr bwMode="auto">
              <a:xfrm>
                <a:off x="0" y="0"/>
                <a:ext cx="3500437" cy="2392380"/>
                <a:chOff x="0" y="0"/>
                <a:chExt cx="3957016" cy="3304084"/>
              </a:xfrm>
            </p:grpSpPr>
            <p:cxnSp>
              <p:nvCxnSpPr>
                <p:cNvPr id="9" name="直接箭头连接符 5"/>
                <p:cNvCxnSpPr>
                  <a:cxnSpLocks noChangeShapeType="1"/>
                </p:cNvCxnSpPr>
                <p:nvPr/>
              </p:nvCxnSpPr>
              <p:spPr bwMode="auto">
                <a:xfrm>
                  <a:off x="285336" y="2615642"/>
                  <a:ext cx="3671680" cy="48235"/>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10" name="直接箭头连接符 6"/>
                <p:cNvCxnSpPr>
                  <a:cxnSpLocks noChangeShapeType="1"/>
                </p:cNvCxnSpPr>
                <p:nvPr/>
              </p:nvCxnSpPr>
              <p:spPr bwMode="auto">
                <a:xfrm rot="5400000" flipH="1" flipV="1">
                  <a:off x="-1003641" y="1288974"/>
                  <a:ext cx="2615642" cy="37685"/>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sp>
              <p:nvSpPr>
                <p:cNvPr id="11" name="任意多边形 9"/>
                <p:cNvSpPr>
                  <a:spLocks noChangeArrowheads="1"/>
                </p:cNvSpPr>
                <p:nvPr/>
              </p:nvSpPr>
              <p:spPr bwMode="auto">
                <a:xfrm>
                  <a:off x="285336" y="1401002"/>
                  <a:ext cx="2928730" cy="1429504"/>
                </a:xfrm>
                <a:custGeom>
                  <a:avLst/>
                  <a:gdLst>
                    <a:gd name="T0" fmla="*/ 0 w 2838450"/>
                    <a:gd name="T1" fmla="*/ 1189027 h 1019175"/>
                    <a:gd name="T2" fmla="*/ 1041763 w 2838450"/>
                    <a:gd name="T3" fmla="*/ 40080 h 1019175"/>
                    <a:gd name="T4" fmla="*/ 2928730 w 2838450"/>
                    <a:gd name="T5" fmla="*/ 1429504 h 1019175"/>
                    <a:gd name="T6" fmla="*/ 0 60000 65536"/>
                    <a:gd name="T7" fmla="*/ 0 60000 65536"/>
                    <a:gd name="T8" fmla="*/ 0 60000 65536"/>
                    <a:gd name="T9" fmla="*/ 0 w 2838450"/>
                    <a:gd name="T10" fmla="*/ 0 h 1019175"/>
                    <a:gd name="T11" fmla="*/ 2838450 w 2838450"/>
                    <a:gd name="T12" fmla="*/ 1019175 h 1019175"/>
                  </a:gdLst>
                  <a:ahLst/>
                  <a:cxnLst>
                    <a:cxn ang="T6">
                      <a:pos x="T0" y="T1"/>
                    </a:cxn>
                    <a:cxn ang="T7">
                      <a:pos x="T2" y="T3"/>
                    </a:cxn>
                    <a:cxn ang="T8">
                      <a:pos x="T4" y="T5"/>
                    </a:cxn>
                  </a:cxnLst>
                  <a:rect l="T9" t="T10" r="T11" b="T12"/>
                  <a:pathLst>
                    <a:path w="2838450" h="1019175">
                      <a:moveTo>
                        <a:pt x="0" y="847725"/>
                      </a:moveTo>
                      <a:cubicBezTo>
                        <a:pt x="268287" y="423862"/>
                        <a:pt x="536575" y="0"/>
                        <a:pt x="1009650" y="28575"/>
                      </a:cubicBezTo>
                      <a:cubicBezTo>
                        <a:pt x="1482725" y="57150"/>
                        <a:pt x="2160587" y="538162"/>
                        <a:pt x="2838450" y="1019175"/>
                      </a:cubicBezTo>
                    </a:path>
                  </a:pathLst>
                </a:custGeom>
                <a:noFill/>
                <a:ln w="38100" cmpd="sng">
                  <a:solidFill>
                    <a:srgbClr val="FF99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2" name="任意多边形 10"/>
                <p:cNvSpPr>
                  <a:spLocks noChangeArrowheads="1"/>
                </p:cNvSpPr>
                <p:nvPr/>
              </p:nvSpPr>
              <p:spPr bwMode="auto">
                <a:xfrm>
                  <a:off x="290720" y="1753992"/>
                  <a:ext cx="3020253" cy="811222"/>
                </a:xfrm>
                <a:custGeom>
                  <a:avLst/>
                  <a:gdLst>
                    <a:gd name="T0" fmla="*/ 0 w 3181350"/>
                    <a:gd name="T1" fmla="*/ 811222 h 857250"/>
                    <a:gd name="T2" fmla="*/ 1609596 w 3181350"/>
                    <a:gd name="T3" fmla="*/ 18027 h 857250"/>
                    <a:gd name="T4" fmla="*/ 3020253 w 3181350"/>
                    <a:gd name="T5" fmla="*/ 703059 h 857250"/>
                    <a:gd name="T6" fmla="*/ 3020253 w 3181350"/>
                    <a:gd name="T7" fmla="*/ 703059 h 857250"/>
                    <a:gd name="T8" fmla="*/ 0 60000 65536"/>
                    <a:gd name="T9" fmla="*/ 0 60000 65536"/>
                    <a:gd name="T10" fmla="*/ 0 60000 65536"/>
                    <a:gd name="T11" fmla="*/ 0 60000 65536"/>
                    <a:gd name="T12" fmla="*/ 0 w 3181350"/>
                    <a:gd name="T13" fmla="*/ 0 h 857250"/>
                    <a:gd name="T14" fmla="*/ 3181350 w 3181350"/>
                    <a:gd name="T15" fmla="*/ 857250 h 857250"/>
                  </a:gdLst>
                  <a:ahLst/>
                  <a:cxnLst>
                    <a:cxn ang="T8">
                      <a:pos x="T0" y="T1"/>
                    </a:cxn>
                    <a:cxn ang="T9">
                      <a:pos x="T2" y="T3"/>
                    </a:cxn>
                    <a:cxn ang="T10">
                      <a:pos x="T4" y="T5"/>
                    </a:cxn>
                    <a:cxn ang="T11">
                      <a:pos x="T6" y="T7"/>
                    </a:cxn>
                  </a:cxnLst>
                  <a:rect l="T12" t="T13" r="T14" b="T15"/>
                  <a:pathLst>
                    <a:path w="3181350" h="857250">
                      <a:moveTo>
                        <a:pt x="0" y="857250"/>
                      </a:moveTo>
                      <a:cubicBezTo>
                        <a:pt x="582612" y="447675"/>
                        <a:pt x="1165225" y="38100"/>
                        <a:pt x="1695450" y="19050"/>
                      </a:cubicBezTo>
                      <a:cubicBezTo>
                        <a:pt x="2225675" y="0"/>
                        <a:pt x="3181350" y="742950"/>
                        <a:pt x="3181350" y="74295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13" name="Object 10"/>
                <p:cNvGraphicFramePr>
                  <a:graphicFrameLocks noChangeAspect="1"/>
                </p:cNvGraphicFramePr>
                <p:nvPr/>
              </p:nvGraphicFramePr>
              <p:xfrm>
                <a:off x="0" y="43849"/>
                <a:ext cx="292515" cy="390260"/>
              </p:xfrm>
              <a:graphic>
                <a:graphicData uri="http://schemas.openxmlformats.org/presentationml/2006/ole">
                  <mc:AlternateContent xmlns:mc="http://schemas.openxmlformats.org/markup-compatibility/2006">
                    <mc:Choice xmlns:v="urn:schemas-microsoft-com:vml" Requires="v">
                      <p:oleObj spid="_x0000_s122346" r:id="rId3" imgW="153381" imgH="204403" progId="">
                        <p:embed/>
                      </p:oleObj>
                    </mc:Choice>
                    <mc:Fallback>
                      <p:oleObj r:id="rId3" imgW="153381" imgH="204403" progId="">
                        <p:embed/>
                        <p:pic>
                          <p:nvPicPr>
                            <p:cNvPr id="6145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43849"/>
                              <a:ext cx="292515" cy="390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11"/>
                <p:cNvGraphicFramePr>
                  <a:graphicFrameLocks noChangeAspect="1"/>
                </p:cNvGraphicFramePr>
                <p:nvPr/>
              </p:nvGraphicFramePr>
              <p:xfrm>
                <a:off x="0" y="2687973"/>
                <a:ext cx="240472" cy="342026"/>
              </p:xfrm>
              <a:graphic>
                <a:graphicData uri="http://schemas.openxmlformats.org/presentationml/2006/ole">
                  <mc:AlternateContent xmlns:mc="http://schemas.openxmlformats.org/markup-compatibility/2006">
                    <mc:Choice xmlns:v="urn:schemas-microsoft-com:vml" Requires="v">
                      <p:oleObj spid="_x0000_s122347" r:id="rId5" imgW="153248" imgH="178737" progId="">
                        <p:embed/>
                      </p:oleObj>
                    </mc:Choice>
                    <mc:Fallback>
                      <p:oleObj r:id="rId5" imgW="153248" imgH="178737" progId="">
                        <p:embed/>
                        <p:pic>
                          <p:nvPicPr>
                            <p:cNvPr id="61451"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687973"/>
                              <a:ext cx="240472" cy="342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12"/>
                <p:cNvGraphicFramePr>
                  <a:graphicFrameLocks noChangeAspect="1"/>
                </p:cNvGraphicFramePr>
                <p:nvPr/>
              </p:nvGraphicFramePr>
              <p:xfrm>
                <a:off x="3714750" y="2762517"/>
                <a:ext cx="220732" cy="317908"/>
              </p:xfrm>
              <a:graphic>
                <a:graphicData uri="http://schemas.openxmlformats.org/presentationml/2006/ole">
                  <mc:AlternateContent xmlns:mc="http://schemas.openxmlformats.org/markup-compatibility/2006">
                    <mc:Choice xmlns:v="urn:schemas-microsoft-com:vml" Requires="v">
                      <p:oleObj spid="_x0000_s122348" r:id="rId7" imgW="140565" imgH="166064" progId="">
                        <p:embed/>
                      </p:oleObj>
                    </mc:Choice>
                    <mc:Fallback>
                      <p:oleObj r:id="rId7" imgW="140565" imgH="166064" progId="">
                        <p:embed/>
                        <p:pic>
                          <p:nvPicPr>
                            <p:cNvPr id="61452"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14750" y="2762517"/>
                              <a:ext cx="220732" cy="317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13"/>
                <p:cNvGraphicFramePr>
                  <a:graphicFrameLocks noChangeAspect="1"/>
                </p:cNvGraphicFramePr>
                <p:nvPr/>
              </p:nvGraphicFramePr>
              <p:xfrm>
                <a:off x="1857376" y="2687973"/>
                <a:ext cx="260211" cy="442880"/>
              </p:xfrm>
              <a:graphic>
                <a:graphicData uri="http://schemas.openxmlformats.org/presentationml/2006/ole">
                  <mc:AlternateContent xmlns:mc="http://schemas.openxmlformats.org/markup-compatibility/2006">
                    <mc:Choice xmlns:v="urn:schemas-microsoft-com:vml" Requires="v">
                      <p:oleObj spid="_x0000_s122349" r:id="rId9" imgW="165848" imgH="229514" progId="">
                        <p:embed/>
                      </p:oleObj>
                    </mc:Choice>
                    <mc:Fallback>
                      <p:oleObj r:id="rId9" imgW="165848" imgH="229514" progId="">
                        <p:embed/>
                        <p:pic>
                          <p:nvPicPr>
                            <p:cNvPr id="61453"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57376" y="2687973"/>
                              <a:ext cx="260211" cy="442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14"/>
                <p:cNvGraphicFramePr>
                  <a:graphicFrameLocks noChangeAspect="1"/>
                </p:cNvGraphicFramePr>
                <p:nvPr/>
              </p:nvGraphicFramePr>
              <p:xfrm>
                <a:off x="2785165" y="2687973"/>
                <a:ext cx="279952" cy="442880"/>
              </p:xfrm>
              <a:graphic>
                <a:graphicData uri="http://schemas.openxmlformats.org/presentationml/2006/ole">
                  <mc:AlternateContent xmlns:mc="http://schemas.openxmlformats.org/markup-compatibility/2006">
                    <mc:Choice xmlns:v="urn:schemas-microsoft-com:vml" Requires="v">
                      <p:oleObj spid="_x0000_s122350" r:id="rId11" imgW="178504" imgH="229414" progId="">
                        <p:embed/>
                      </p:oleObj>
                    </mc:Choice>
                    <mc:Fallback>
                      <p:oleObj r:id="rId11" imgW="178504" imgH="229414" progId="">
                        <p:embed/>
                        <p:pic>
                          <p:nvPicPr>
                            <p:cNvPr id="61454"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85165" y="2687973"/>
                              <a:ext cx="279952" cy="442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15"/>
                <p:cNvGraphicFramePr>
                  <a:graphicFrameLocks noChangeAspect="1"/>
                </p:cNvGraphicFramePr>
                <p:nvPr/>
              </p:nvGraphicFramePr>
              <p:xfrm>
                <a:off x="3149457" y="2861204"/>
                <a:ext cx="482738" cy="442880"/>
              </p:xfrm>
              <a:graphic>
                <a:graphicData uri="http://schemas.openxmlformats.org/presentationml/2006/ole">
                  <mc:AlternateContent xmlns:mc="http://schemas.openxmlformats.org/markup-compatibility/2006">
                    <mc:Choice xmlns:v="urn:schemas-microsoft-com:vml" Requires="v">
                      <p:oleObj spid="_x0000_s122351" r:id="rId13" imgW="305647" imgH="229315" progId="">
                        <p:embed/>
                      </p:oleObj>
                    </mc:Choice>
                    <mc:Fallback>
                      <p:oleObj r:id="rId13" imgW="305647" imgH="229315" progId="">
                        <p:embed/>
                        <p:pic>
                          <p:nvPicPr>
                            <p:cNvPr id="61455"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9457" y="2861204"/>
                              <a:ext cx="482738" cy="442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9" name="Object 16"/>
                <p:cNvGraphicFramePr>
                  <a:graphicFrameLocks noChangeAspect="1"/>
                </p:cNvGraphicFramePr>
                <p:nvPr/>
              </p:nvGraphicFramePr>
              <p:xfrm>
                <a:off x="3310996" y="2071902"/>
                <a:ext cx="441463" cy="442880"/>
              </p:xfrm>
              <a:graphic>
                <a:graphicData uri="http://schemas.openxmlformats.org/presentationml/2006/ole">
                  <mc:AlternateContent xmlns:mc="http://schemas.openxmlformats.org/markup-compatibility/2006">
                    <mc:Choice xmlns:v="urn:schemas-microsoft-com:vml" Requires="v">
                      <p:oleObj spid="_x0000_s122352" r:id="rId15" imgW="280813" imgH="229813" progId="">
                        <p:embed/>
                      </p:oleObj>
                    </mc:Choice>
                    <mc:Fallback>
                      <p:oleObj r:id="rId15" imgW="280813" imgH="229813" progId="">
                        <p:embed/>
                        <p:pic>
                          <p:nvPicPr>
                            <p:cNvPr id="61456"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10996" y="2071902"/>
                              <a:ext cx="441463" cy="442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cxnSp>
            <p:nvCxnSpPr>
              <p:cNvPr id="7" name="直接连接符 16"/>
              <p:cNvCxnSpPr>
                <a:cxnSpLocks noChangeShapeType="1"/>
                <a:stCxn id="12" idx="1"/>
              </p:cNvCxnSpPr>
              <p:nvPr/>
            </p:nvCxnSpPr>
            <p:spPr bwMode="auto">
              <a:xfrm flipH="1">
                <a:off x="214313" y="1282709"/>
                <a:ext cx="1466850" cy="3175"/>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cxnSp>
            <p:nvCxnSpPr>
              <p:cNvPr id="8" name="直接连接符 18"/>
              <p:cNvCxnSpPr>
                <a:cxnSpLocks noChangeShapeType="1"/>
                <a:stCxn id="12" idx="1"/>
              </p:cNvCxnSpPr>
              <p:nvPr/>
            </p:nvCxnSpPr>
            <p:spPr bwMode="auto">
              <a:xfrm>
                <a:off x="1681163" y="1282709"/>
                <a:ext cx="33337" cy="646118"/>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grpSp>
        <p:graphicFrame>
          <p:nvGraphicFramePr>
            <p:cNvPr id="5" name="Object 19"/>
            <p:cNvGraphicFramePr>
              <a:graphicFrameLocks noChangeAspect="1"/>
            </p:cNvGraphicFramePr>
            <p:nvPr/>
          </p:nvGraphicFramePr>
          <p:xfrm>
            <a:off x="0" y="1143000"/>
            <a:ext cx="249237" cy="320675"/>
          </p:xfrm>
          <a:graphic>
            <a:graphicData uri="http://schemas.openxmlformats.org/presentationml/2006/ole">
              <mc:AlternateContent xmlns:mc="http://schemas.openxmlformats.org/markup-compatibility/2006">
                <mc:Choice xmlns:v="urn:schemas-microsoft-com:vml" Requires="v">
                  <p:oleObj spid="_x0000_s122353" r:id="rId17" imgW="178504" imgH="229414" progId="">
                    <p:embed/>
                  </p:oleObj>
                </mc:Choice>
                <mc:Fallback>
                  <p:oleObj r:id="rId17" imgW="178504" imgH="229414" progId="">
                    <p:embed/>
                    <p:pic>
                      <p:nvPicPr>
                        <p:cNvPr id="61459"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0" y="1143000"/>
                          <a:ext cx="2492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0" name="组合 34"/>
          <p:cNvGrpSpPr>
            <a:grpSpLocks/>
          </p:cNvGrpSpPr>
          <p:nvPr/>
        </p:nvGrpSpPr>
        <p:grpSpPr bwMode="auto">
          <a:xfrm>
            <a:off x="5032102" y="1412776"/>
            <a:ext cx="3211512" cy="3963987"/>
            <a:chOff x="0" y="0"/>
            <a:chExt cx="3211512" cy="3963987"/>
          </a:xfrm>
        </p:grpSpPr>
        <p:grpSp>
          <p:nvGrpSpPr>
            <p:cNvPr id="21" name="组合 32"/>
            <p:cNvGrpSpPr>
              <a:grpSpLocks/>
            </p:cNvGrpSpPr>
            <p:nvPr/>
          </p:nvGrpSpPr>
          <p:grpSpPr bwMode="auto">
            <a:xfrm>
              <a:off x="0" y="0"/>
              <a:ext cx="3211512" cy="3927475"/>
              <a:chOff x="0" y="0"/>
              <a:chExt cx="4637380" cy="5174102"/>
            </a:xfrm>
          </p:grpSpPr>
          <p:grpSp>
            <p:nvGrpSpPr>
              <p:cNvPr id="23" name="组合 4"/>
              <p:cNvGrpSpPr>
                <a:grpSpLocks/>
              </p:cNvGrpSpPr>
              <p:nvPr/>
            </p:nvGrpSpPr>
            <p:grpSpPr bwMode="auto">
              <a:xfrm>
                <a:off x="0" y="541670"/>
                <a:ext cx="4237037" cy="4632432"/>
                <a:chOff x="0" y="0"/>
                <a:chExt cx="4236534" cy="4632463"/>
              </a:xfrm>
            </p:grpSpPr>
            <p:grpSp>
              <p:nvGrpSpPr>
                <p:cNvPr id="27" name="组合 4"/>
                <p:cNvGrpSpPr>
                  <a:grpSpLocks/>
                </p:cNvGrpSpPr>
                <p:nvPr/>
              </p:nvGrpSpPr>
              <p:grpSpPr bwMode="auto">
                <a:xfrm>
                  <a:off x="0" y="1785894"/>
                  <a:ext cx="4236534" cy="2846569"/>
                  <a:chOff x="0" y="0"/>
                  <a:chExt cx="2275565" cy="2165649"/>
                </a:xfrm>
              </p:grpSpPr>
              <p:cxnSp>
                <p:nvCxnSpPr>
                  <p:cNvPr id="30" name="直接箭头连接符 23"/>
                  <p:cNvCxnSpPr>
                    <a:cxnSpLocks noChangeShapeType="1"/>
                  </p:cNvCxnSpPr>
                  <p:nvPr/>
                </p:nvCxnSpPr>
                <p:spPr bwMode="auto">
                  <a:xfrm>
                    <a:off x="230221" y="1793326"/>
                    <a:ext cx="2044907" cy="19094"/>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31" name="直接箭头连接符 24"/>
                  <p:cNvCxnSpPr>
                    <a:cxnSpLocks noChangeShapeType="1"/>
                  </p:cNvCxnSpPr>
                  <p:nvPr/>
                </p:nvCxnSpPr>
                <p:spPr bwMode="auto">
                  <a:xfrm rot="16200000" flipV="1">
                    <a:off x="-666379" y="896722"/>
                    <a:ext cx="1793199" cy="0"/>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32" name="Object 26"/>
                  <p:cNvGraphicFramePr>
                    <a:graphicFrameLocks noChangeAspect="1"/>
                  </p:cNvGraphicFramePr>
                  <p:nvPr/>
                </p:nvGraphicFramePr>
                <p:xfrm>
                  <a:off x="38164" y="1793309"/>
                  <a:ext cx="164970" cy="248214"/>
                </p:xfrm>
                <a:graphic>
                  <a:graphicData uri="http://schemas.openxmlformats.org/presentationml/2006/ole">
                    <mc:AlternateContent xmlns:mc="http://schemas.openxmlformats.org/markup-compatibility/2006">
                      <mc:Choice xmlns:v="urn:schemas-microsoft-com:vml" Requires="v">
                        <p:oleObj spid="_x0000_s122354" r:id="rId19" imgW="153248" imgH="178737" progId="">
                          <p:embed/>
                        </p:oleObj>
                      </mc:Choice>
                      <mc:Fallback>
                        <p:oleObj r:id="rId19" imgW="153248" imgH="178737" progId="">
                          <p:embed/>
                          <p:pic>
                            <p:nvPicPr>
                              <p:cNvPr id="61466" name="Object 2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8164" y="1793309"/>
                                <a:ext cx="164970" cy="248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3" name="Object 27"/>
                  <p:cNvGraphicFramePr>
                    <a:graphicFrameLocks noChangeAspect="1"/>
                  </p:cNvGraphicFramePr>
                  <p:nvPr/>
                </p:nvGraphicFramePr>
                <p:xfrm>
                  <a:off x="0" y="108318"/>
                  <a:ext cx="164970" cy="248214"/>
                </p:xfrm>
                <a:graphic>
                  <a:graphicData uri="http://schemas.openxmlformats.org/presentationml/2006/ole">
                    <mc:AlternateContent xmlns:mc="http://schemas.openxmlformats.org/markup-compatibility/2006">
                      <mc:Choice xmlns:v="urn:schemas-microsoft-com:vml" Requires="v">
                        <p:oleObj spid="_x0000_s122355" r:id="rId21" imgW="153248" imgH="178737" progId="">
                          <p:embed/>
                        </p:oleObj>
                      </mc:Choice>
                      <mc:Fallback>
                        <p:oleObj r:id="rId21" imgW="153248" imgH="178737" progId="">
                          <p:embed/>
                          <p:pic>
                            <p:nvPicPr>
                              <p:cNvPr id="61467" name="Object 27"/>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0" y="108318"/>
                                <a:ext cx="164970" cy="2482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4" name="Object 28"/>
                  <p:cNvGraphicFramePr>
                    <a:graphicFrameLocks noChangeAspect="1"/>
                  </p:cNvGraphicFramePr>
                  <p:nvPr/>
                </p:nvGraphicFramePr>
                <p:xfrm>
                  <a:off x="2105234" y="1880839"/>
                  <a:ext cx="164970" cy="284810"/>
                </p:xfrm>
                <a:graphic>
                  <a:graphicData uri="http://schemas.openxmlformats.org/presentationml/2006/ole">
                    <mc:AlternateContent xmlns:mc="http://schemas.openxmlformats.org/markup-compatibility/2006">
                      <mc:Choice xmlns:v="urn:schemas-microsoft-com:vml" Requires="v">
                        <p:oleObj spid="_x0000_s122356" r:id="rId23" imgW="153381" imgH="204403" progId="">
                          <p:embed/>
                        </p:oleObj>
                      </mc:Choice>
                      <mc:Fallback>
                        <p:oleObj r:id="rId23" imgW="153381" imgH="204403" progId="">
                          <p:embed/>
                          <p:pic>
                            <p:nvPicPr>
                              <p:cNvPr id="61468" name="Object 2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105234" y="1880839"/>
                                <a:ext cx="164970" cy="284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8" name="弧形 21"/>
                <p:cNvSpPr>
                  <a:spLocks noChangeArrowheads="1"/>
                </p:cNvSpPr>
                <p:nvPr/>
              </p:nvSpPr>
              <p:spPr bwMode="auto">
                <a:xfrm rot="6826562">
                  <a:off x="156128" y="618582"/>
                  <a:ext cx="3804267" cy="2567103"/>
                </a:xfrm>
                <a:custGeom>
                  <a:avLst/>
                  <a:gdLst>
                    <a:gd name="T0" fmla="*/ 1541996 w 3804267"/>
                    <a:gd name="T1" fmla="*/ 23216 h 2567103"/>
                    <a:gd name="T2" fmla="*/ 1902134 w 3804267"/>
                    <a:gd name="T3" fmla="*/ 1283552 h 2567103"/>
                    <a:gd name="T4" fmla="*/ 3287283 w 3804267"/>
                    <a:gd name="T5" fmla="*/ 2163241 h 2567103"/>
                    <a:gd name="T6" fmla="*/ 11796480 60000 65536"/>
                    <a:gd name="T7" fmla="*/ 11796480 60000 65536"/>
                    <a:gd name="T8" fmla="*/ 5898240 60000 65536"/>
                    <a:gd name="T9" fmla="*/ 1541996 w 3804267"/>
                    <a:gd name="T10" fmla="*/ 0 h 2567103"/>
                    <a:gd name="T11" fmla="*/ 3804267 w 3804267"/>
                    <a:gd name="T12" fmla="*/ 2163241 h 2567103"/>
                  </a:gdLst>
                  <a:ahLst/>
                  <a:cxnLst>
                    <a:cxn ang="T6">
                      <a:pos x="T0" y="T1"/>
                    </a:cxn>
                    <a:cxn ang="T7">
                      <a:pos x="T2" y="T3"/>
                    </a:cxn>
                    <a:cxn ang="T8">
                      <a:pos x="T4" y="T5"/>
                    </a:cxn>
                  </a:cxnLst>
                  <a:rect l="T9" t="T10" r="T11" b="T12"/>
                  <a:pathLst>
                    <a:path w="3804267" h="2567103" stroke="0">
                      <a:moveTo>
                        <a:pt x="1541996" y="23216"/>
                      </a:moveTo>
                      <a:lnTo>
                        <a:pt x="1541995" y="23215"/>
                      </a:lnTo>
                      <a:cubicBezTo>
                        <a:pt x="1660675" y="7773"/>
                        <a:pt x="1781266" y="0"/>
                        <a:pt x="1902133" y="0"/>
                      </a:cubicBezTo>
                      <a:cubicBezTo>
                        <a:pt x="2952652" y="0"/>
                        <a:pt x="3804267" y="574665"/>
                        <a:pt x="3804267" y="1283552"/>
                      </a:cubicBezTo>
                      <a:cubicBezTo>
                        <a:pt x="3804267" y="1610512"/>
                        <a:pt x="3619358" y="1925148"/>
                        <a:pt x="3287280" y="2163243"/>
                      </a:cubicBezTo>
                      <a:lnTo>
                        <a:pt x="1902134" y="1283552"/>
                      </a:lnTo>
                      <a:close/>
                    </a:path>
                    <a:path w="3804267" h="2567103" fill="none">
                      <a:moveTo>
                        <a:pt x="1541996" y="23216"/>
                      </a:moveTo>
                      <a:lnTo>
                        <a:pt x="1541995" y="23215"/>
                      </a:lnTo>
                      <a:cubicBezTo>
                        <a:pt x="1660675" y="7773"/>
                        <a:pt x="1781266" y="0"/>
                        <a:pt x="1902133" y="0"/>
                      </a:cubicBezTo>
                      <a:cubicBezTo>
                        <a:pt x="2952652" y="0"/>
                        <a:pt x="3804267" y="574665"/>
                        <a:pt x="3804267" y="1283552"/>
                      </a:cubicBezTo>
                      <a:cubicBezTo>
                        <a:pt x="3804267" y="1610512"/>
                        <a:pt x="3619358" y="1925148"/>
                        <a:pt x="3287280" y="2163243"/>
                      </a:cubicBezTo>
                    </a:path>
                  </a:pathLst>
                </a:custGeom>
                <a:noFill/>
                <a:ln w="38100" cmpd="sng">
                  <a:solidFill>
                    <a:srgbClr val="FF99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29" name="Object 30"/>
                <p:cNvGraphicFramePr>
                  <a:graphicFrameLocks noChangeAspect="1"/>
                </p:cNvGraphicFramePr>
                <p:nvPr/>
              </p:nvGraphicFramePr>
              <p:xfrm>
                <a:off x="3197421" y="1717044"/>
                <a:ext cx="540922" cy="328348"/>
              </p:xfrm>
              <a:graphic>
                <a:graphicData uri="http://schemas.openxmlformats.org/presentationml/2006/ole">
                  <mc:AlternateContent xmlns:mc="http://schemas.openxmlformats.org/markup-compatibility/2006">
                    <mc:Choice xmlns:v="urn:schemas-microsoft-com:vml" Requires="v">
                      <p:oleObj spid="_x0000_s122357" r:id="rId25" imgW="292798" imgH="178349" progId="">
                        <p:embed/>
                      </p:oleObj>
                    </mc:Choice>
                    <mc:Fallback>
                      <p:oleObj r:id="rId25" imgW="292798" imgH="178349" progId="">
                        <p:embed/>
                        <p:pic>
                          <p:nvPicPr>
                            <p:cNvPr id="61470" name="Object 3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197421" y="1717044"/>
                              <a:ext cx="540922" cy="328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4" name="弧形 28"/>
              <p:cNvSpPr>
                <a:spLocks noChangeArrowheads="1"/>
              </p:cNvSpPr>
              <p:nvPr/>
            </p:nvSpPr>
            <p:spPr bwMode="auto">
              <a:xfrm rot="7833686">
                <a:off x="723131" y="198377"/>
                <a:ext cx="3910902" cy="3514139"/>
              </a:xfrm>
              <a:custGeom>
                <a:avLst/>
                <a:gdLst>
                  <a:gd name="T0" fmla="*/ 2298253 w 3910902"/>
                  <a:gd name="T1" fmla="*/ 27210 h 3514139"/>
                  <a:gd name="T2" fmla="*/ 1955451 w 3910902"/>
                  <a:gd name="T3" fmla="*/ 1757070 h 3514139"/>
                  <a:gd name="T4" fmla="*/ 3802526 w 3910902"/>
                  <a:gd name="T5" fmla="*/ 2333895 h 3514139"/>
                  <a:gd name="T6" fmla="*/ 11796480 60000 65536"/>
                  <a:gd name="T7" fmla="*/ 11796480 60000 65536"/>
                  <a:gd name="T8" fmla="*/ 5898240 60000 65536"/>
                  <a:gd name="T9" fmla="*/ 2298253 w 3910902"/>
                  <a:gd name="T10" fmla="*/ 27210 h 3514139"/>
                  <a:gd name="T11" fmla="*/ 3910902 w 3910902"/>
                  <a:gd name="T12" fmla="*/ 2333895 h 3514139"/>
                </a:gdLst>
                <a:ahLst/>
                <a:cxnLst>
                  <a:cxn ang="T6">
                    <a:pos x="T0" y="T1"/>
                  </a:cxn>
                  <a:cxn ang="T7">
                    <a:pos x="T2" y="T3"/>
                  </a:cxn>
                  <a:cxn ang="T8">
                    <a:pos x="T4" y="T5"/>
                  </a:cxn>
                </a:cxnLst>
                <a:rect l="T9" t="T10" r="T11" b="T12"/>
                <a:pathLst>
                  <a:path w="3910902" h="3514139" stroke="0">
                    <a:moveTo>
                      <a:pt x="2298253" y="27210"/>
                    </a:moveTo>
                    <a:lnTo>
                      <a:pt x="2298253" y="27209"/>
                    </a:lnTo>
                    <a:cubicBezTo>
                      <a:pt x="3231301" y="176496"/>
                      <a:pt x="3910902" y="905491"/>
                      <a:pt x="3910902" y="1757070"/>
                    </a:cubicBezTo>
                    <a:cubicBezTo>
                      <a:pt x="3910902" y="1953437"/>
                      <a:pt x="3874268" y="2148415"/>
                      <a:pt x="3802524" y="2333899"/>
                    </a:cubicBezTo>
                    <a:lnTo>
                      <a:pt x="1955451" y="1757070"/>
                    </a:lnTo>
                    <a:close/>
                  </a:path>
                  <a:path w="3910902" h="3514139" fill="none">
                    <a:moveTo>
                      <a:pt x="2298253" y="27210"/>
                    </a:moveTo>
                    <a:lnTo>
                      <a:pt x="2298253" y="27209"/>
                    </a:lnTo>
                    <a:cubicBezTo>
                      <a:pt x="3231301" y="176496"/>
                      <a:pt x="3910902" y="905491"/>
                      <a:pt x="3910902" y="1757070"/>
                    </a:cubicBezTo>
                    <a:cubicBezTo>
                      <a:pt x="3910902" y="1953437"/>
                      <a:pt x="3874268" y="2148415"/>
                      <a:pt x="3802524" y="2333899"/>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25" name="直接连接符 30"/>
              <p:cNvCxnSpPr>
                <a:cxnSpLocks noChangeShapeType="1"/>
              </p:cNvCxnSpPr>
              <p:nvPr/>
            </p:nvCxnSpPr>
            <p:spPr bwMode="auto">
              <a:xfrm rot="5400000">
                <a:off x="2214318" y="4258073"/>
                <a:ext cx="857470" cy="0"/>
              </a:xfrm>
              <a:prstGeom prst="line">
                <a:avLst/>
              </a:prstGeom>
              <a:noFill/>
              <a:ln w="9525" cmpd="sng">
                <a:solidFill>
                  <a:srgbClr val="A6A6A6"/>
                </a:solidFill>
                <a:prstDash val="lgDash"/>
                <a:round/>
                <a:headEnd/>
                <a:tailEnd/>
              </a:ln>
              <a:extLst>
                <a:ext uri="{909E8E84-426E-40DD-AFC4-6F175D3DCCD1}">
                  <a14:hiddenFill xmlns:a14="http://schemas.microsoft.com/office/drawing/2010/main">
                    <a:noFill/>
                  </a14:hiddenFill>
                </a:ext>
              </a:extLst>
            </p:spPr>
          </p:cxnSp>
          <p:graphicFrame>
            <p:nvGraphicFramePr>
              <p:cNvPr id="26" name="Object 33"/>
              <p:cNvGraphicFramePr>
                <a:graphicFrameLocks noChangeAspect="1"/>
              </p:cNvGraphicFramePr>
              <p:nvPr/>
            </p:nvGraphicFramePr>
            <p:xfrm>
              <a:off x="3919885" y="3011604"/>
              <a:ext cx="717495" cy="326255"/>
            </p:xfrm>
            <a:graphic>
              <a:graphicData uri="http://schemas.openxmlformats.org/presentationml/2006/ole">
                <mc:AlternateContent xmlns:mc="http://schemas.openxmlformats.org/markup-compatibility/2006">
                  <mc:Choice xmlns:v="urn:schemas-microsoft-com:vml" Requires="v">
                    <p:oleObj spid="_x0000_s122358" r:id="rId27" imgW="356226" imgH="178271" progId="">
                      <p:embed/>
                    </p:oleObj>
                  </mc:Choice>
                  <mc:Fallback>
                    <p:oleObj r:id="rId27" imgW="356226" imgH="178271" progId="">
                      <p:embed/>
                      <p:pic>
                        <p:nvPicPr>
                          <p:cNvPr id="61473" name="Object 3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919885" y="3011604"/>
                            <a:ext cx="717495" cy="326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2" name="Object 34"/>
            <p:cNvGraphicFramePr>
              <a:graphicFrameLocks noChangeAspect="1"/>
            </p:cNvGraphicFramePr>
            <p:nvPr/>
          </p:nvGraphicFramePr>
          <p:xfrm>
            <a:off x="1714500" y="3643312"/>
            <a:ext cx="249237" cy="320675"/>
          </p:xfrm>
          <a:graphic>
            <a:graphicData uri="http://schemas.openxmlformats.org/presentationml/2006/ole">
              <mc:AlternateContent xmlns:mc="http://schemas.openxmlformats.org/markup-compatibility/2006">
                <mc:Choice xmlns:v="urn:schemas-microsoft-com:vml" Requires="v">
                  <p:oleObj spid="_x0000_s122359" r:id="rId29" imgW="178504" imgH="229414" progId="">
                    <p:embed/>
                  </p:oleObj>
                </mc:Choice>
                <mc:Fallback>
                  <p:oleObj r:id="rId29" imgW="178504" imgH="229414" progId="">
                    <p:embed/>
                    <p:pic>
                      <p:nvPicPr>
                        <p:cNvPr id="61474" name="Object 34"/>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714500" y="3643312"/>
                          <a:ext cx="24923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5" name="矩形 34">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sp>
        <p:nvSpPr>
          <p:cNvPr id="36" name="矩形 35">
            <a:extLst>
              <a:ext uri="{FF2B5EF4-FFF2-40B4-BE49-F238E27FC236}">
                <a16:creationId xmlns:a16="http://schemas.microsoft.com/office/drawing/2014/main" id="{45C40535-268A-48DF-95C6-194D15FDB418}"/>
              </a:ext>
            </a:extLst>
          </p:cNvPr>
          <p:cNvSpPr/>
          <p:nvPr/>
        </p:nvSpPr>
        <p:spPr>
          <a:xfrm>
            <a:off x="580922" y="520573"/>
            <a:ext cx="4495134"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四、短期成本曲线之间的关系</a:t>
            </a:r>
          </a:p>
        </p:txBody>
      </p:sp>
    </p:spTree>
    <p:extLst>
      <p:ext uri="{BB962C8B-B14F-4D97-AF65-F5344CB8AC3E}">
        <p14:creationId xmlns:p14="http://schemas.microsoft.com/office/powerpoint/2010/main" val="132639482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animEffect transition="in" filter="fade">
                                      <p:cBhvr>
                                        <p:cTn id="9" dur="500"/>
                                        <p:tgtEl>
                                          <p:spTgt spid="3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7"/>
                                        </p:tgtEl>
                                        <p:attrNameLst>
                                          <p:attrName>style.visibility</p:attrName>
                                        </p:attrNameLst>
                                      </p:cBhvr>
                                      <p:to>
                                        <p:strVal val="visible"/>
                                      </p:to>
                                    </p:set>
                                    <p:anim calcmode="lin" valueType="num">
                                      <p:cBhvr>
                                        <p:cTn id="14" dur="500" fill="hold"/>
                                        <p:tgtEl>
                                          <p:spTgt spid="37"/>
                                        </p:tgtEl>
                                        <p:attrNameLst>
                                          <p:attrName>ppt_w</p:attrName>
                                        </p:attrNameLst>
                                      </p:cBhvr>
                                      <p:tavLst>
                                        <p:tav tm="0">
                                          <p:val>
                                            <p:fltVal val="0"/>
                                          </p:val>
                                        </p:tav>
                                        <p:tav tm="100000">
                                          <p:val>
                                            <p:strVal val="#ppt_w"/>
                                          </p:val>
                                        </p:tav>
                                      </p:tavLst>
                                    </p:anim>
                                    <p:anim calcmode="lin" valueType="num">
                                      <p:cBhvr>
                                        <p:cTn id="15" dur="500" fill="hold"/>
                                        <p:tgtEl>
                                          <p:spTgt spid="37"/>
                                        </p:tgtEl>
                                        <p:attrNameLst>
                                          <p:attrName>ppt_h</p:attrName>
                                        </p:attrNameLst>
                                      </p:cBhvr>
                                      <p:tavLst>
                                        <p:tav tm="0">
                                          <p:val>
                                            <p:fltVal val="0"/>
                                          </p:val>
                                        </p:tav>
                                        <p:tav tm="100000">
                                          <p:val>
                                            <p:strVal val="#ppt_h"/>
                                          </p:val>
                                        </p:tav>
                                      </p:tavLst>
                                    </p:anim>
                                    <p:animEffect transition="in" filter="fade">
                                      <p:cBhvr>
                                        <p:cTn id="16" dur="500"/>
                                        <p:tgtEl>
                                          <p:spTgt spid="37"/>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1" presetClass="entr" presetSubtype="4"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heel(4)">
                                      <p:cBhvr>
                                        <p:cTn id="26" dur="10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4" fill="hold"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heel(4)">
                                      <p:cBhvr>
                                        <p:cTn id="31"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2" grpId="0"/>
      <p:bldP spid="36"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18812AA-FFAC-4F7F-AD00-CCFD49B80D20}"/>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sp>
        <p:nvSpPr>
          <p:cNvPr id="3" name="矩形 2">
            <a:extLst>
              <a:ext uri="{FF2B5EF4-FFF2-40B4-BE49-F238E27FC236}">
                <a16:creationId xmlns:a16="http://schemas.microsoft.com/office/drawing/2014/main" id="{37C083F2-0E99-4519-8938-09940A28B5F0}"/>
              </a:ext>
            </a:extLst>
          </p:cNvPr>
          <p:cNvSpPr/>
          <p:nvPr/>
        </p:nvSpPr>
        <p:spPr>
          <a:xfrm>
            <a:off x="580922" y="520573"/>
            <a:ext cx="384706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小结：短期成本变化规律</a:t>
            </a:r>
          </a:p>
        </p:txBody>
      </p:sp>
      <p:sp>
        <p:nvSpPr>
          <p:cNvPr id="4" name="矩形 3"/>
          <p:cNvSpPr/>
          <p:nvPr/>
        </p:nvSpPr>
        <p:spPr>
          <a:xfrm>
            <a:off x="3599892" y="1834500"/>
            <a:ext cx="5076564" cy="708335"/>
          </a:xfrm>
          <a:prstGeom prst="rect">
            <a:avLst/>
          </a:prstGeom>
          <a:noFill/>
        </p:spPr>
        <p:txBody>
          <a:bodyPr wrap="square">
            <a:spAutoFit/>
          </a:bodyPr>
          <a:lstStyle/>
          <a:p>
            <a:pPr>
              <a:lnSpc>
                <a:spcPts val="2500"/>
              </a:lnSpc>
            </a:pPr>
            <a:r>
              <a:rPr lang="en-US" dirty="0">
                <a:latin typeface="微软雅黑" panose="020B0503020204020204" pitchFamily="34" charset="-122"/>
                <a:ea typeface="微软雅黑" panose="020B0503020204020204" pitchFamily="34" charset="-122"/>
              </a:rPr>
              <a:t>1.总成本随着产出而增加，它的增长率先递减再递增。它始终大于零，即便是在产出为零处。</a:t>
            </a:r>
          </a:p>
        </p:txBody>
      </p:sp>
      <p:sp>
        <p:nvSpPr>
          <p:cNvPr id="5" name="矩形 4"/>
          <p:cNvSpPr/>
          <p:nvPr/>
        </p:nvSpPr>
        <p:spPr>
          <a:xfrm>
            <a:off x="3599892" y="2841253"/>
            <a:ext cx="5004556" cy="708335"/>
          </a:xfrm>
          <a:prstGeom prst="rect">
            <a:avLst/>
          </a:prstGeom>
          <a:noFill/>
        </p:spPr>
        <p:txBody>
          <a:bodyPr wrap="square">
            <a:spAutoFit/>
          </a:bodyPr>
          <a:lstStyle/>
          <a:p>
            <a:pPr>
              <a:lnSpc>
                <a:spcPts val="2500"/>
              </a:lnSpc>
            </a:pPr>
            <a:r>
              <a:rPr lang="en-US" dirty="0">
                <a:latin typeface="微软雅黑" panose="020B0503020204020204" pitchFamily="34" charset="-122"/>
                <a:ea typeface="微软雅黑" panose="020B0503020204020204" pitchFamily="34" charset="-122"/>
              </a:rPr>
              <a:t>2.随着产出增加, </a:t>
            </a:r>
            <a:r>
              <a:rPr lang="zh-CN" altLang="en-US" dirty="0">
                <a:latin typeface="微软雅黑" panose="020B0503020204020204" pitchFamily="34" charset="-122"/>
                <a:ea typeface="微软雅黑" panose="020B0503020204020204" pitchFamily="34" charset="-122"/>
              </a:rPr>
              <a:t>平均</a:t>
            </a:r>
            <a:r>
              <a:rPr lang="en-US" dirty="0">
                <a:latin typeface="微软雅黑" panose="020B0503020204020204" pitchFamily="34" charset="-122"/>
                <a:ea typeface="微软雅黑" panose="020B0503020204020204" pitchFamily="34" charset="-122"/>
              </a:rPr>
              <a:t>成本</a:t>
            </a:r>
            <a:r>
              <a:rPr lang="zh-CN" altLang="en-US" dirty="0">
                <a:latin typeface="微软雅黑" panose="020B0503020204020204" pitchFamily="34" charset="-122"/>
                <a:ea typeface="微软雅黑" panose="020B0503020204020204" pitchFamily="34" charset="-122"/>
              </a:rPr>
              <a:t>、平均</a:t>
            </a:r>
            <a:r>
              <a:rPr lang="en-US" dirty="0">
                <a:latin typeface="微软雅黑" panose="020B0503020204020204" pitchFamily="34" charset="-122"/>
                <a:ea typeface="微软雅黑" panose="020B0503020204020204" pitchFamily="34" charset="-122"/>
              </a:rPr>
              <a:t>可变成本和边际成本都是先递减再递增。</a:t>
            </a:r>
          </a:p>
        </p:txBody>
      </p:sp>
      <p:sp>
        <p:nvSpPr>
          <p:cNvPr id="6" name="矩形 5"/>
          <p:cNvSpPr/>
          <p:nvPr/>
        </p:nvSpPr>
        <p:spPr>
          <a:xfrm>
            <a:off x="3599892" y="3807655"/>
            <a:ext cx="5076564" cy="1349537"/>
          </a:xfrm>
          <a:prstGeom prst="rect">
            <a:avLst/>
          </a:prstGeom>
          <a:noFill/>
        </p:spPr>
        <p:txBody>
          <a:bodyPr wrap="square">
            <a:spAutoFit/>
          </a:bodyPr>
          <a:lstStyle/>
          <a:p>
            <a:pPr>
              <a:lnSpc>
                <a:spcPts val="2500"/>
              </a:lnSpc>
            </a:pPr>
            <a:r>
              <a:rPr lang="en-US"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平均</a:t>
            </a:r>
            <a:r>
              <a:rPr lang="en-US" dirty="0">
                <a:latin typeface="微软雅黑" panose="020B0503020204020204" pitchFamily="34" charset="-122"/>
                <a:ea typeface="微软雅黑" panose="020B0503020204020204" pitchFamily="34" charset="-122"/>
              </a:rPr>
              <a:t>成本和边际成本的关系: 当边际成本小于</a:t>
            </a:r>
            <a:r>
              <a:rPr lang="zh-CN" altLang="en-US" dirty="0">
                <a:latin typeface="微软雅黑" panose="020B0503020204020204" pitchFamily="34" charset="-122"/>
                <a:ea typeface="微软雅黑" panose="020B0503020204020204" pitchFamily="34" charset="-122"/>
              </a:rPr>
              <a:t>平均</a:t>
            </a:r>
            <a:r>
              <a:rPr lang="en-US" dirty="0">
                <a:latin typeface="微软雅黑" panose="020B0503020204020204" pitchFamily="34" charset="-122"/>
                <a:ea typeface="微软雅黑" panose="020B0503020204020204" pitchFamily="34" charset="-122"/>
              </a:rPr>
              <a:t>成本, </a:t>
            </a:r>
            <a:r>
              <a:rPr lang="zh-CN" altLang="en-US" dirty="0">
                <a:latin typeface="微软雅黑" panose="020B0503020204020204" pitchFamily="34" charset="-122"/>
                <a:ea typeface="微软雅黑" panose="020B0503020204020204" pitchFamily="34" charset="-122"/>
              </a:rPr>
              <a:t>平均</a:t>
            </a:r>
            <a:r>
              <a:rPr lang="en-US" dirty="0">
                <a:latin typeface="微软雅黑" panose="020B0503020204020204" pitchFamily="34" charset="-122"/>
                <a:ea typeface="微软雅黑" panose="020B0503020204020204" pitchFamily="34" charset="-122"/>
              </a:rPr>
              <a:t>成本下降; 当边际成本大于</a:t>
            </a:r>
            <a:r>
              <a:rPr lang="zh-CN" altLang="en-US" dirty="0">
                <a:latin typeface="微软雅黑" panose="020B0503020204020204" pitchFamily="34" charset="-122"/>
                <a:ea typeface="微软雅黑" panose="020B0503020204020204" pitchFamily="34" charset="-122"/>
              </a:rPr>
              <a:t>平均</a:t>
            </a:r>
            <a:r>
              <a:rPr lang="en-US" dirty="0">
                <a:latin typeface="微软雅黑" panose="020B0503020204020204" pitchFamily="34" charset="-122"/>
                <a:ea typeface="微软雅黑" panose="020B0503020204020204" pitchFamily="34" charset="-122"/>
              </a:rPr>
              <a:t>成本, </a:t>
            </a:r>
            <a:r>
              <a:rPr lang="zh-CN" altLang="en-US" dirty="0">
                <a:latin typeface="微软雅黑" panose="020B0503020204020204" pitchFamily="34" charset="-122"/>
                <a:ea typeface="微软雅黑" panose="020B0503020204020204" pitchFamily="34" charset="-122"/>
              </a:rPr>
              <a:t>平均</a:t>
            </a:r>
            <a:r>
              <a:rPr lang="en-US" dirty="0">
                <a:latin typeface="微软雅黑" panose="020B0503020204020204" pitchFamily="34" charset="-122"/>
                <a:ea typeface="微软雅黑" panose="020B0503020204020204" pitchFamily="34" charset="-122"/>
              </a:rPr>
              <a:t>成本上升; 当边际成本等于</a:t>
            </a:r>
            <a:r>
              <a:rPr lang="zh-CN" altLang="en-US" dirty="0">
                <a:latin typeface="微软雅黑" panose="020B0503020204020204" pitchFamily="34" charset="-122"/>
                <a:ea typeface="微软雅黑" panose="020B0503020204020204" pitchFamily="34" charset="-122"/>
              </a:rPr>
              <a:t>平均</a:t>
            </a:r>
            <a:r>
              <a:rPr lang="en-US" dirty="0">
                <a:latin typeface="微软雅黑" panose="020B0503020204020204" pitchFamily="34" charset="-122"/>
                <a:ea typeface="微软雅黑" panose="020B0503020204020204" pitchFamily="34" charset="-122"/>
              </a:rPr>
              <a:t>成本, </a:t>
            </a:r>
            <a:r>
              <a:rPr lang="zh-CN" altLang="en-US" dirty="0">
                <a:latin typeface="微软雅黑" panose="020B0503020204020204" pitchFamily="34" charset="-122"/>
                <a:ea typeface="微软雅黑" panose="020B0503020204020204" pitchFamily="34" charset="-122"/>
              </a:rPr>
              <a:t>平均</a:t>
            </a:r>
            <a:r>
              <a:rPr lang="en-US" dirty="0">
                <a:latin typeface="微软雅黑" panose="020B0503020204020204" pitchFamily="34" charset="-122"/>
                <a:ea typeface="微软雅黑" panose="020B0503020204020204" pitchFamily="34" charset="-122"/>
              </a:rPr>
              <a:t>成本达到最小值点。</a:t>
            </a:r>
          </a:p>
        </p:txBody>
      </p:sp>
      <p:pic>
        <p:nvPicPr>
          <p:cNvPr id="11" name="图片 10">
            <a:extLst>
              <a:ext uri="{FF2B5EF4-FFF2-40B4-BE49-F238E27FC236}">
                <a16:creationId xmlns:a16="http://schemas.microsoft.com/office/drawing/2014/main" id="{FE57958D-764D-4D04-B5C4-E36E12C10A4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6947" y="3212976"/>
            <a:ext cx="1800200" cy="2290925"/>
          </a:xfrm>
          <a:prstGeom prst="rect">
            <a:avLst/>
          </a:prstGeom>
        </p:spPr>
      </p:pic>
    </p:spTree>
    <p:extLst>
      <p:ext uri="{BB962C8B-B14F-4D97-AF65-F5344CB8AC3E}">
        <p14:creationId xmlns:p14="http://schemas.microsoft.com/office/powerpoint/2010/main" val="354853817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1+#ppt_w/2"/>
                                          </p:val>
                                        </p:tav>
                                        <p:tav tm="100000">
                                          <p:val>
                                            <p:strVal val="#ppt_x"/>
                                          </p:val>
                                        </p:tav>
                                      </p:tavLst>
                                    </p:anim>
                                    <p:anim calcmode="lin" valueType="num">
                                      <p:cBhvr additive="base">
                                        <p:cTn id="20"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1+#ppt_w/2"/>
                                          </p:val>
                                        </p:tav>
                                        <p:tav tm="100000">
                                          <p:val>
                                            <p:strVal val="#ppt_x"/>
                                          </p:val>
                                        </p:tav>
                                      </p:tavLst>
                                    </p:anim>
                                    <p:anim calcmode="lin" valueType="num">
                                      <p:cBhvr additive="base">
                                        <p:cTn id="26"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anim calcmode="lin" valueType="num">
                                      <p:cBhvr additive="base">
                                        <p:cTn id="31" dur="500" fill="hold"/>
                                        <p:tgtEl>
                                          <p:spTgt spid="6"/>
                                        </p:tgtEl>
                                        <p:attrNameLst>
                                          <p:attrName>ppt_x</p:attrName>
                                        </p:attrNameLst>
                                      </p:cBhvr>
                                      <p:tavLst>
                                        <p:tav tm="0">
                                          <p:val>
                                            <p:strVal val="1+#ppt_w/2"/>
                                          </p:val>
                                        </p:tav>
                                        <p:tav tm="100000">
                                          <p:val>
                                            <p:strVal val="#ppt_x"/>
                                          </p:val>
                                        </p:tav>
                                      </p:tavLst>
                                    </p:anim>
                                    <p:anim calcmode="lin" valueType="num">
                                      <p:cBhvr additive="base">
                                        <p:cTn id="32"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E2C2311-5BA6-4354-8029-616BF4006424}"/>
              </a:ext>
            </a:extLst>
          </p:cNvPr>
          <p:cNvSpPr/>
          <p:nvPr/>
        </p:nvSpPr>
        <p:spPr>
          <a:xfrm>
            <a:off x="539552" y="3909628"/>
            <a:ext cx="4085818" cy="1670137"/>
          </a:xfrm>
          <a:prstGeom prst="rect">
            <a:avLst/>
          </a:prstGeom>
          <a:noFill/>
        </p:spPr>
        <p:txBody>
          <a:bodyPr wrap="square">
            <a:spAutoFit/>
          </a:bodyPr>
          <a:lstStyle/>
          <a:p>
            <a:pPr>
              <a:lnSpc>
                <a:spcPts val="2500"/>
              </a:lnSpc>
            </a:pPr>
            <a:r>
              <a:rPr lang="en-US" dirty="0">
                <a:latin typeface="微软雅黑" panose="020B0503020204020204" pitchFamily="34" charset="-122"/>
                <a:ea typeface="微软雅黑" panose="020B0503020204020204" pitchFamily="34" charset="-122"/>
              </a:rPr>
              <a:t>6. 边际成本和总成本之间的关系: 下降的边际成本对应凹的总成本曲线, 表示总成本的增加速率越来越小; 增加的边际成本对应凸的总成本曲线, 表示总成本的增加速率越来越大。</a:t>
            </a:r>
          </a:p>
        </p:txBody>
      </p:sp>
      <p:sp>
        <p:nvSpPr>
          <p:cNvPr id="3" name="矩形 2">
            <a:extLst>
              <a:ext uri="{FF2B5EF4-FFF2-40B4-BE49-F238E27FC236}">
                <a16:creationId xmlns:a16="http://schemas.microsoft.com/office/drawing/2014/main" id="{C1100180-57A7-47D3-94DF-5AE860E85B94}"/>
              </a:ext>
            </a:extLst>
          </p:cNvPr>
          <p:cNvSpPr/>
          <p:nvPr/>
        </p:nvSpPr>
        <p:spPr>
          <a:xfrm>
            <a:off x="539552" y="1634672"/>
            <a:ext cx="4063086" cy="708335"/>
          </a:xfrm>
          <a:prstGeom prst="rect">
            <a:avLst/>
          </a:prstGeom>
          <a:noFill/>
        </p:spPr>
        <p:txBody>
          <a:bodyPr wrap="square">
            <a:spAutoFit/>
          </a:bodyPr>
          <a:lstStyle/>
          <a:p>
            <a:pPr>
              <a:lnSpc>
                <a:spcPts val="2500"/>
              </a:lnSpc>
            </a:pPr>
            <a:r>
              <a:rPr lang="en-US" dirty="0">
                <a:latin typeface="微软雅黑" panose="020B0503020204020204" pitchFamily="34" charset="-122"/>
                <a:ea typeface="微软雅黑" panose="020B0503020204020204" pitchFamily="34" charset="-122"/>
              </a:rPr>
              <a:t>4. </a:t>
            </a:r>
            <a:r>
              <a:rPr lang="zh-CN" altLang="en-US" dirty="0">
                <a:latin typeface="微软雅黑" panose="020B0503020204020204" pitchFamily="34" charset="-122"/>
                <a:ea typeface="微软雅黑" panose="020B0503020204020204" pitchFamily="34" charset="-122"/>
              </a:rPr>
              <a:t>平均</a:t>
            </a:r>
            <a:r>
              <a:rPr lang="en-US" dirty="0">
                <a:latin typeface="微软雅黑" panose="020B0503020204020204" pitchFamily="34" charset="-122"/>
                <a:ea typeface="微软雅黑" panose="020B0503020204020204" pitchFamily="34" charset="-122"/>
              </a:rPr>
              <a:t>可变成本和边际成本的关系: </a:t>
            </a:r>
            <a:r>
              <a:rPr lang="en-US" dirty="0" err="1">
                <a:latin typeface="微软雅黑" panose="020B0503020204020204" pitchFamily="34" charset="-122"/>
                <a:ea typeface="微软雅黑" panose="020B0503020204020204" pitchFamily="34" charset="-122"/>
              </a:rPr>
              <a:t>类似于</a:t>
            </a:r>
            <a:r>
              <a:rPr lang="zh-CN" altLang="en-US" dirty="0">
                <a:latin typeface="微软雅黑" panose="020B0503020204020204" pitchFamily="34" charset="-122"/>
                <a:ea typeface="微软雅黑" panose="020B0503020204020204" pitchFamily="34" charset="-122"/>
              </a:rPr>
              <a:t>平均</a:t>
            </a:r>
            <a:r>
              <a:rPr lang="en-US" dirty="0">
                <a:latin typeface="微软雅黑" panose="020B0503020204020204" pitchFamily="34" charset="-122"/>
                <a:ea typeface="微软雅黑" panose="020B0503020204020204" pitchFamily="34" charset="-122"/>
              </a:rPr>
              <a:t>成本和边际成本。</a:t>
            </a:r>
          </a:p>
        </p:txBody>
      </p:sp>
      <p:sp>
        <p:nvSpPr>
          <p:cNvPr id="4" name="矩形 3">
            <a:extLst>
              <a:ext uri="{FF2B5EF4-FFF2-40B4-BE49-F238E27FC236}">
                <a16:creationId xmlns:a16="http://schemas.microsoft.com/office/drawing/2014/main" id="{C9171E65-3AF9-4F1D-B889-7E68DD4B6B67}"/>
              </a:ext>
            </a:extLst>
          </p:cNvPr>
          <p:cNvSpPr/>
          <p:nvPr/>
        </p:nvSpPr>
        <p:spPr>
          <a:xfrm>
            <a:off x="562284" y="2772150"/>
            <a:ext cx="4063086" cy="708335"/>
          </a:xfrm>
          <a:prstGeom prst="rect">
            <a:avLst/>
          </a:prstGeom>
          <a:noFill/>
        </p:spPr>
        <p:txBody>
          <a:bodyPr wrap="square">
            <a:spAutoFit/>
          </a:bodyPr>
          <a:lstStyle/>
          <a:p>
            <a:pPr>
              <a:lnSpc>
                <a:spcPts val="2500"/>
              </a:lnSpc>
            </a:pPr>
            <a:r>
              <a:rPr lang="en-US" dirty="0">
                <a:latin typeface="微软雅黑" panose="020B0503020204020204" pitchFamily="34" charset="-122"/>
                <a:ea typeface="微软雅黑" panose="020B0503020204020204" pitchFamily="34" charset="-122"/>
              </a:rPr>
              <a:t>5. </a:t>
            </a:r>
            <a:r>
              <a:rPr lang="zh-CN" altLang="en-US" dirty="0">
                <a:latin typeface="微软雅黑" panose="020B0503020204020204" pitchFamily="34" charset="-122"/>
                <a:ea typeface="微软雅黑" panose="020B0503020204020204" pitchFamily="34" charset="-122"/>
              </a:rPr>
              <a:t>平均</a:t>
            </a:r>
            <a:r>
              <a:rPr lang="en-US" dirty="0">
                <a:latin typeface="微软雅黑" panose="020B0503020204020204" pitchFamily="34" charset="-122"/>
                <a:ea typeface="微软雅黑" panose="020B0503020204020204" pitchFamily="34" charset="-122"/>
              </a:rPr>
              <a:t>可变成本和</a:t>
            </a:r>
            <a:r>
              <a:rPr lang="zh-CN" altLang="en-US" dirty="0">
                <a:latin typeface="微软雅黑" panose="020B0503020204020204" pitchFamily="34" charset="-122"/>
                <a:ea typeface="微软雅黑" panose="020B0503020204020204" pitchFamily="34" charset="-122"/>
              </a:rPr>
              <a:t>平均</a:t>
            </a:r>
            <a:r>
              <a:rPr lang="en-US" dirty="0">
                <a:latin typeface="微软雅黑" panose="020B0503020204020204" pitchFamily="34" charset="-122"/>
                <a:ea typeface="微软雅黑" panose="020B0503020204020204" pitchFamily="34" charset="-122"/>
              </a:rPr>
              <a:t>成本的关系: 两条曲线之间的距离会越来越小。</a:t>
            </a:r>
          </a:p>
        </p:txBody>
      </p:sp>
      <p:sp>
        <p:nvSpPr>
          <p:cNvPr id="5" name="矩形 4">
            <a:extLst>
              <a:ext uri="{FF2B5EF4-FFF2-40B4-BE49-F238E27FC236}">
                <a16:creationId xmlns:a16="http://schemas.microsoft.com/office/drawing/2014/main" id="{4AA61213-8D67-4FC9-8507-DC7DF1142070}"/>
              </a:ext>
            </a:extLst>
          </p:cNvPr>
          <p:cNvSpPr/>
          <p:nvPr/>
        </p:nvSpPr>
        <p:spPr>
          <a:xfrm>
            <a:off x="580922" y="520573"/>
            <a:ext cx="384706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小结：短期成本变化规律</a:t>
            </a:r>
          </a:p>
        </p:txBody>
      </p:sp>
      <p:sp>
        <p:nvSpPr>
          <p:cNvPr id="6" name="矩形 5">
            <a:extLst>
              <a:ext uri="{FF2B5EF4-FFF2-40B4-BE49-F238E27FC236}">
                <a16:creationId xmlns:a16="http://schemas.microsoft.com/office/drawing/2014/main" id="{051E6FA5-4D68-43B3-B8D5-1A3CB86C16B2}"/>
              </a:ext>
            </a:extLst>
          </p:cNvPr>
          <p:cNvSpPr/>
          <p:nvPr/>
        </p:nvSpPr>
        <p:spPr>
          <a:xfrm>
            <a:off x="6660232" y="0"/>
            <a:ext cx="2400016"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第五节  短期成本函数</a:t>
            </a:r>
          </a:p>
        </p:txBody>
      </p:sp>
      <p:pic>
        <p:nvPicPr>
          <p:cNvPr id="8" name="图片 7">
            <a:extLst>
              <a:ext uri="{FF2B5EF4-FFF2-40B4-BE49-F238E27FC236}">
                <a16:creationId xmlns:a16="http://schemas.microsoft.com/office/drawing/2014/main" id="{10EE3BB1-EE48-4A6D-BEAD-8B60DB03E2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56176" y="1916832"/>
            <a:ext cx="2500662" cy="3348214"/>
          </a:xfrm>
          <a:prstGeom prst="rect">
            <a:avLst/>
          </a:prstGeom>
        </p:spPr>
      </p:pic>
    </p:spTree>
    <p:extLst>
      <p:ext uri="{BB962C8B-B14F-4D97-AF65-F5344CB8AC3E}">
        <p14:creationId xmlns:p14="http://schemas.microsoft.com/office/powerpoint/2010/main" val="100371280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0-#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anim calcmode="lin" valueType="num">
                                      <p:cBhvr additive="base">
                                        <p:cTn id="31" dur="500" fill="hold"/>
                                        <p:tgtEl>
                                          <p:spTgt spid="2"/>
                                        </p:tgtEl>
                                        <p:attrNameLst>
                                          <p:attrName>ppt_x</p:attrName>
                                        </p:attrNameLst>
                                      </p:cBhvr>
                                      <p:tavLst>
                                        <p:tav tm="0">
                                          <p:val>
                                            <p:strVal val="0-#ppt_w/2"/>
                                          </p:val>
                                        </p:tav>
                                        <p:tav tm="100000">
                                          <p:val>
                                            <p:strVal val="#ppt_x"/>
                                          </p:val>
                                        </p:tav>
                                      </p:tavLst>
                                    </p:anim>
                                    <p:anim calcmode="lin" valueType="num">
                                      <p:cBhvr additive="base">
                                        <p:cTn id="32"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C1A1CB6-6F67-4A29-97E1-C084E72DB251}"/>
              </a:ext>
            </a:extLst>
          </p:cNvPr>
          <p:cNvSpPr/>
          <p:nvPr/>
        </p:nvSpPr>
        <p:spPr>
          <a:xfrm>
            <a:off x="2655070" y="2030421"/>
            <a:ext cx="1741403" cy="1751811"/>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C5BF1486-A46E-4CC3-9BB4-8BCD4722BC1D}"/>
              </a:ext>
            </a:extLst>
          </p:cNvPr>
          <p:cNvSpPr/>
          <p:nvPr/>
        </p:nvSpPr>
        <p:spPr>
          <a:xfrm>
            <a:off x="4686751" y="2030421"/>
            <a:ext cx="1728951" cy="1751811"/>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454629F1-807D-4FE4-94C6-90602021F17E}"/>
              </a:ext>
            </a:extLst>
          </p:cNvPr>
          <p:cNvSpPr/>
          <p:nvPr/>
        </p:nvSpPr>
        <p:spPr>
          <a:xfrm>
            <a:off x="1666039" y="4127743"/>
            <a:ext cx="1728951" cy="1751811"/>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9169ADDF-356F-47D4-8107-1AE756304634}"/>
              </a:ext>
            </a:extLst>
          </p:cNvPr>
          <p:cNvSpPr txBox="1"/>
          <p:nvPr/>
        </p:nvSpPr>
        <p:spPr>
          <a:xfrm>
            <a:off x="1966734" y="942250"/>
            <a:ext cx="5210531" cy="646331"/>
          </a:xfrm>
          <a:prstGeom prst="rect">
            <a:avLst/>
          </a:prstGeom>
          <a:noFill/>
        </p:spPr>
        <p:txBody>
          <a:bodyPr wrap="square" rtlCol="0">
            <a:spAutoFit/>
          </a:bodyPr>
          <a:lstStyle/>
          <a:p>
            <a:pPr algn="ctr"/>
            <a:r>
              <a:rPr lang="zh-CN" altLang="en-US" sz="3600" b="1" dirty="0">
                <a:solidFill>
                  <a:srgbClr val="262626"/>
                </a:solidFill>
                <a:latin typeface="微软雅黑" panose="020B0503020204020204" pitchFamily="34" charset="-122"/>
                <a:ea typeface="微软雅黑" panose="020B0503020204020204" pitchFamily="34" charset="-122"/>
              </a:rPr>
              <a:t>第六节	长期成本函数</a:t>
            </a:r>
          </a:p>
        </p:txBody>
      </p:sp>
      <p:sp>
        <p:nvSpPr>
          <p:cNvPr id="6" name="文本框 5">
            <a:extLst>
              <a:ext uri="{FF2B5EF4-FFF2-40B4-BE49-F238E27FC236}">
                <a16:creationId xmlns:a16="http://schemas.microsoft.com/office/drawing/2014/main" id="{5F0D8D25-557A-4BE8-A0E4-27DA6FDA04A4}"/>
              </a:ext>
            </a:extLst>
          </p:cNvPr>
          <p:cNvSpPr txBox="1"/>
          <p:nvPr/>
        </p:nvSpPr>
        <p:spPr>
          <a:xfrm>
            <a:off x="2805430" y="2401851"/>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01</a:t>
            </a:r>
          </a:p>
        </p:txBody>
      </p:sp>
      <p:sp>
        <p:nvSpPr>
          <p:cNvPr id="7" name="文本框 6">
            <a:extLst>
              <a:ext uri="{FF2B5EF4-FFF2-40B4-BE49-F238E27FC236}">
                <a16:creationId xmlns:a16="http://schemas.microsoft.com/office/drawing/2014/main" id="{C4FB2C07-21BF-4A7C-ABD9-4FD30A23551C}"/>
              </a:ext>
            </a:extLst>
          </p:cNvPr>
          <p:cNvSpPr txBox="1"/>
          <p:nvPr/>
        </p:nvSpPr>
        <p:spPr>
          <a:xfrm>
            <a:off x="2452370" y="3047011"/>
            <a:ext cx="2119630" cy="369332"/>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长期成本的概念</a:t>
            </a:r>
            <a:endParaRPr lang="zh-CN" altLang="en-US" b="1" dirty="0">
              <a:solidFill>
                <a:srgbClr val="262626"/>
              </a:solidFill>
              <a:latin typeface="微软雅黑" panose="020B0503020204020204" pitchFamily="34" charset="-122"/>
              <a:ea typeface="微软雅黑" panose="020B0503020204020204" pitchFamily="34" charset="-122"/>
              <a:sym typeface="+mn-ea"/>
            </a:endParaRPr>
          </a:p>
        </p:txBody>
      </p:sp>
      <p:sp>
        <p:nvSpPr>
          <p:cNvPr id="8" name="文本框 7">
            <a:extLst>
              <a:ext uri="{FF2B5EF4-FFF2-40B4-BE49-F238E27FC236}">
                <a16:creationId xmlns:a16="http://schemas.microsoft.com/office/drawing/2014/main" id="{AE261F38-CBB9-4BD6-91C4-31028AD7B9C1}"/>
              </a:ext>
            </a:extLst>
          </p:cNvPr>
          <p:cNvSpPr txBox="1"/>
          <p:nvPr/>
        </p:nvSpPr>
        <p:spPr>
          <a:xfrm>
            <a:off x="4853052" y="2401851"/>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02</a:t>
            </a:r>
          </a:p>
        </p:txBody>
      </p:sp>
      <p:sp>
        <p:nvSpPr>
          <p:cNvPr id="9" name="文本框 8">
            <a:extLst>
              <a:ext uri="{FF2B5EF4-FFF2-40B4-BE49-F238E27FC236}">
                <a16:creationId xmlns:a16="http://schemas.microsoft.com/office/drawing/2014/main" id="{9925C777-1086-4456-AA76-341D61D59CDA}"/>
              </a:ext>
            </a:extLst>
          </p:cNvPr>
          <p:cNvSpPr txBox="1"/>
          <p:nvPr/>
        </p:nvSpPr>
        <p:spPr>
          <a:xfrm>
            <a:off x="4499992" y="3047011"/>
            <a:ext cx="2119630" cy="369332"/>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长期总成本曲线</a:t>
            </a:r>
          </a:p>
        </p:txBody>
      </p:sp>
      <p:sp>
        <p:nvSpPr>
          <p:cNvPr id="10" name="文本框 9">
            <a:extLst>
              <a:ext uri="{FF2B5EF4-FFF2-40B4-BE49-F238E27FC236}">
                <a16:creationId xmlns:a16="http://schemas.microsoft.com/office/drawing/2014/main" id="{760853F3-C20F-4708-A13C-A1F541934E98}"/>
              </a:ext>
            </a:extLst>
          </p:cNvPr>
          <p:cNvSpPr txBox="1"/>
          <p:nvPr/>
        </p:nvSpPr>
        <p:spPr>
          <a:xfrm>
            <a:off x="1786587" y="4361480"/>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03</a:t>
            </a:r>
          </a:p>
        </p:txBody>
      </p:sp>
      <p:sp>
        <p:nvSpPr>
          <p:cNvPr id="11" name="文本框 10">
            <a:extLst>
              <a:ext uri="{FF2B5EF4-FFF2-40B4-BE49-F238E27FC236}">
                <a16:creationId xmlns:a16="http://schemas.microsoft.com/office/drawing/2014/main" id="{1EE95BF8-F7DF-4E29-BDB9-C5407ED16188}"/>
              </a:ext>
            </a:extLst>
          </p:cNvPr>
          <p:cNvSpPr txBox="1"/>
          <p:nvPr/>
        </p:nvSpPr>
        <p:spPr>
          <a:xfrm>
            <a:off x="1442155" y="5006640"/>
            <a:ext cx="2119630" cy="646331"/>
          </a:xfrm>
          <a:prstGeom prst="rect">
            <a:avLst/>
          </a:prstGeom>
          <a:noFill/>
        </p:spPr>
        <p:txBody>
          <a:bodyPr wrap="square" rtlCol="0">
            <a:spAutoFit/>
          </a:bodyPr>
          <a:lstStyle/>
          <a:p>
            <a:pPr algn="ctr" fontAlgn="auto">
              <a:lnSpc>
                <a:spcPct val="100000"/>
              </a:lnSpc>
            </a:pPr>
            <a:r>
              <a:rPr lang="zh-CN" altLang="en-US" b="1" dirty="0">
                <a:latin typeface="微软雅黑" panose="020B0503020204020204" pitchFamily="34" charset="-122"/>
                <a:ea typeface="微软雅黑" panose="020B0503020204020204" pitchFamily="34" charset="-122"/>
              </a:rPr>
              <a:t>长期平均</a:t>
            </a:r>
            <a:endParaRPr lang="en-US" altLang="zh-CN" b="1" dirty="0">
              <a:latin typeface="微软雅黑" panose="020B0503020204020204" pitchFamily="34" charset="-122"/>
              <a:ea typeface="微软雅黑" panose="020B0503020204020204" pitchFamily="34" charset="-122"/>
            </a:endParaRPr>
          </a:p>
          <a:p>
            <a:pPr algn="ctr" fontAlgn="auto">
              <a:lnSpc>
                <a:spcPct val="100000"/>
              </a:lnSpc>
            </a:pPr>
            <a:r>
              <a:rPr lang="zh-CN" altLang="en-US" b="1" dirty="0">
                <a:latin typeface="微软雅黑" panose="020B0503020204020204" pitchFamily="34" charset="-122"/>
                <a:ea typeface="微软雅黑" panose="020B0503020204020204" pitchFamily="34" charset="-122"/>
              </a:rPr>
              <a:t>成本曲线</a:t>
            </a:r>
          </a:p>
        </p:txBody>
      </p:sp>
      <p:sp>
        <p:nvSpPr>
          <p:cNvPr id="12" name="矩形 11">
            <a:extLst>
              <a:ext uri="{FF2B5EF4-FFF2-40B4-BE49-F238E27FC236}">
                <a16:creationId xmlns:a16="http://schemas.microsoft.com/office/drawing/2014/main" id="{C2EF70BD-C9FE-476B-B134-8A77B33FDD03}"/>
              </a:ext>
            </a:extLst>
          </p:cNvPr>
          <p:cNvSpPr/>
          <p:nvPr/>
        </p:nvSpPr>
        <p:spPr>
          <a:xfrm>
            <a:off x="3666535" y="4125461"/>
            <a:ext cx="1728951" cy="1751811"/>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B638D211-3318-41E4-BE15-4AFC019ED858}"/>
              </a:ext>
            </a:extLst>
          </p:cNvPr>
          <p:cNvSpPr txBox="1"/>
          <p:nvPr/>
        </p:nvSpPr>
        <p:spPr>
          <a:xfrm>
            <a:off x="3823222" y="4293096"/>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04</a:t>
            </a:r>
          </a:p>
        </p:txBody>
      </p:sp>
      <p:sp>
        <p:nvSpPr>
          <p:cNvPr id="14" name="文本框 13">
            <a:extLst>
              <a:ext uri="{FF2B5EF4-FFF2-40B4-BE49-F238E27FC236}">
                <a16:creationId xmlns:a16="http://schemas.microsoft.com/office/drawing/2014/main" id="{EAE4DD18-2A82-473C-A0F9-EBC9755B67EF}"/>
              </a:ext>
            </a:extLst>
          </p:cNvPr>
          <p:cNvSpPr txBox="1"/>
          <p:nvPr/>
        </p:nvSpPr>
        <p:spPr>
          <a:xfrm>
            <a:off x="3726824" y="4859209"/>
            <a:ext cx="1667876" cy="923330"/>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规模经济和长期平均成本曲线的形状</a:t>
            </a:r>
          </a:p>
        </p:txBody>
      </p:sp>
      <p:sp>
        <p:nvSpPr>
          <p:cNvPr id="15" name="矩形 14">
            <a:extLst>
              <a:ext uri="{FF2B5EF4-FFF2-40B4-BE49-F238E27FC236}">
                <a16:creationId xmlns:a16="http://schemas.microsoft.com/office/drawing/2014/main" id="{5DD0B692-B6AA-4524-B4D5-BDB4886DCC9F}"/>
              </a:ext>
            </a:extLst>
          </p:cNvPr>
          <p:cNvSpPr/>
          <p:nvPr/>
        </p:nvSpPr>
        <p:spPr>
          <a:xfrm>
            <a:off x="5663563" y="4125461"/>
            <a:ext cx="1728951" cy="1751811"/>
          </a:xfrm>
          <a:prstGeom prst="rect">
            <a:avLst/>
          </a:prstGeom>
          <a:noFill/>
          <a:ln w="19050">
            <a:solidFill>
              <a:srgbClr val="2626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F8F8CDF0-7147-4842-BE7C-D328C571C796}"/>
              </a:ext>
            </a:extLst>
          </p:cNvPr>
          <p:cNvSpPr txBox="1"/>
          <p:nvPr/>
        </p:nvSpPr>
        <p:spPr>
          <a:xfrm>
            <a:off x="5781376" y="4361480"/>
            <a:ext cx="1414145" cy="645160"/>
          </a:xfrm>
          <a:prstGeom prst="rect">
            <a:avLst/>
          </a:prstGeom>
          <a:noFill/>
        </p:spPr>
        <p:txBody>
          <a:bodyPr wrap="square" rtlCol="0">
            <a:spAutoFit/>
          </a:bodyPr>
          <a:lstStyle/>
          <a:p>
            <a:pPr algn="ctr"/>
            <a:r>
              <a:rPr lang="en-US" altLang="zh-CN" sz="3600" b="1" dirty="0">
                <a:solidFill>
                  <a:srgbClr val="262626"/>
                </a:solidFill>
                <a:latin typeface="微软雅黑" panose="020B0503020204020204" pitchFamily="34" charset="-122"/>
                <a:ea typeface="微软雅黑" panose="020B0503020204020204" pitchFamily="34" charset="-122"/>
              </a:rPr>
              <a:t>05</a:t>
            </a:r>
          </a:p>
        </p:txBody>
      </p:sp>
      <p:sp>
        <p:nvSpPr>
          <p:cNvPr id="17" name="文本框 16">
            <a:extLst>
              <a:ext uri="{FF2B5EF4-FFF2-40B4-BE49-F238E27FC236}">
                <a16:creationId xmlns:a16="http://schemas.microsoft.com/office/drawing/2014/main" id="{E6B0EFE6-6E43-4C22-B89B-6AA500587615}"/>
              </a:ext>
            </a:extLst>
          </p:cNvPr>
          <p:cNvSpPr txBox="1"/>
          <p:nvPr/>
        </p:nvSpPr>
        <p:spPr>
          <a:xfrm>
            <a:off x="5958327" y="5006640"/>
            <a:ext cx="1134075" cy="646331"/>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长期边际成本曲线</a:t>
            </a:r>
          </a:p>
        </p:txBody>
      </p:sp>
    </p:spTree>
    <p:extLst>
      <p:ext uri="{BB962C8B-B14F-4D97-AF65-F5344CB8AC3E}">
        <p14:creationId xmlns:p14="http://schemas.microsoft.com/office/powerpoint/2010/main" val="357315481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1"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500" fill="hold"/>
                                        <p:tgtEl>
                                          <p:spTgt spid="2"/>
                                        </p:tgtEl>
                                        <p:attrNameLst>
                                          <p:attrName>ppt_w</p:attrName>
                                        </p:attrNameLst>
                                      </p:cBhvr>
                                      <p:tavLst>
                                        <p:tav tm="0">
                                          <p:val>
                                            <p:fltVal val="0"/>
                                          </p:val>
                                        </p:tav>
                                        <p:tav tm="100000">
                                          <p:val>
                                            <p:strVal val="#ppt_w"/>
                                          </p:val>
                                        </p:tav>
                                      </p:tavLst>
                                    </p:anim>
                                    <p:anim calcmode="lin" valueType="num">
                                      <p:cBhvr>
                                        <p:cTn id="15" dur="500" fill="hold"/>
                                        <p:tgtEl>
                                          <p:spTgt spid="2"/>
                                        </p:tgtEl>
                                        <p:attrNameLst>
                                          <p:attrName>ppt_h</p:attrName>
                                        </p:attrNameLst>
                                      </p:cBhvr>
                                      <p:tavLst>
                                        <p:tav tm="0">
                                          <p:val>
                                            <p:fltVal val="0"/>
                                          </p:val>
                                        </p:tav>
                                        <p:tav tm="100000">
                                          <p:val>
                                            <p:strVal val="#ppt_h"/>
                                          </p:val>
                                        </p:tav>
                                      </p:tavLst>
                                    </p:anim>
                                    <p:animEffect transition="in" filter="fade">
                                      <p:cBhvr>
                                        <p:cTn id="16" dur="500"/>
                                        <p:tgtEl>
                                          <p:spTgt spid="2"/>
                                        </p:tgtEl>
                                      </p:cBhvr>
                                    </p:animEffect>
                                  </p:childTnLst>
                                </p:cTn>
                              </p:par>
                              <p:par>
                                <p:cTn id="17" presetID="53" presetClass="entr" presetSubtype="16" fill="hold" grpId="1"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animEffect transition="in" filter="fade">
                                      <p:cBhvr>
                                        <p:cTn id="21" dur="500"/>
                                        <p:tgtEl>
                                          <p:spTgt spid="6"/>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ppt_w</p:attrName>
                                        </p:attrNameLst>
                                      </p:cBhvr>
                                      <p:tavLst>
                                        <p:tav tm="0">
                                          <p:val>
                                            <p:fltVal val="0"/>
                                          </p:val>
                                        </p:tav>
                                        <p:tav tm="100000">
                                          <p:val>
                                            <p:strVal val="#ppt_w"/>
                                          </p:val>
                                        </p:tav>
                                      </p:tavLst>
                                    </p:anim>
                                    <p:anim calcmode="lin" valueType="num">
                                      <p:cBhvr>
                                        <p:cTn id="25" dur="500" fill="hold"/>
                                        <p:tgtEl>
                                          <p:spTgt spid="7"/>
                                        </p:tgtEl>
                                        <p:attrNameLst>
                                          <p:attrName>ppt_h</p:attrName>
                                        </p:attrNameLst>
                                      </p:cBhvr>
                                      <p:tavLst>
                                        <p:tav tm="0">
                                          <p:val>
                                            <p:fltVal val="0"/>
                                          </p:val>
                                        </p:tav>
                                        <p:tav tm="100000">
                                          <p:val>
                                            <p:strVal val="#ppt_h"/>
                                          </p:val>
                                        </p:tav>
                                      </p:tavLst>
                                    </p:anim>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53" presetClass="entr" presetSubtype="16" fill="hold" grpId="1"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fltVal val="0"/>
                                          </p:val>
                                        </p:tav>
                                        <p:tav tm="100000">
                                          <p:val>
                                            <p:strVal val="#ppt_w"/>
                                          </p:val>
                                        </p:tav>
                                      </p:tavLst>
                                    </p:anim>
                                    <p:anim calcmode="lin" valueType="num">
                                      <p:cBhvr>
                                        <p:cTn id="32" dur="500" fill="hold"/>
                                        <p:tgtEl>
                                          <p:spTgt spid="3"/>
                                        </p:tgtEl>
                                        <p:attrNameLst>
                                          <p:attrName>ppt_h</p:attrName>
                                        </p:attrNameLst>
                                      </p:cBhvr>
                                      <p:tavLst>
                                        <p:tav tm="0">
                                          <p:val>
                                            <p:fltVal val="0"/>
                                          </p:val>
                                        </p:tav>
                                        <p:tav tm="100000">
                                          <p:val>
                                            <p:strVal val="#ppt_h"/>
                                          </p:val>
                                        </p:tav>
                                      </p:tavLst>
                                    </p:anim>
                                    <p:animEffect transition="in" filter="fade">
                                      <p:cBhvr>
                                        <p:cTn id="33" dur="500"/>
                                        <p:tgtEl>
                                          <p:spTgt spid="3"/>
                                        </p:tgtEl>
                                      </p:cBhvr>
                                    </p:animEffect>
                                  </p:childTnLst>
                                </p:cTn>
                              </p:par>
                              <p:par>
                                <p:cTn id="34" presetID="53" presetClass="entr" presetSubtype="16" fill="hold" grpId="1"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 calcmode="lin" valueType="num">
                                      <p:cBhvr>
                                        <p:cTn id="41" dur="500" fill="hold"/>
                                        <p:tgtEl>
                                          <p:spTgt spid="9"/>
                                        </p:tgtEl>
                                        <p:attrNameLst>
                                          <p:attrName>ppt_w</p:attrName>
                                        </p:attrNameLst>
                                      </p:cBhvr>
                                      <p:tavLst>
                                        <p:tav tm="0">
                                          <p:val>
                                            <p:fltVal val="0"/>
                                          </p:val>
                                        </p:tav>
                                        <p:tav tm="100000">
                                          <p:val>
                                            <p:strVal val="#ppt_w"/>
                                          </p:val>
                                        </p:tav>
                                      </p:tavLst>
                                    </p:anim>
                                    <p:anim calcmode="lin" valueType="num">
                                      <p:cBhvr>
                                        <p:cTn id="42" dur="500" fill="hold"/>
                                        <p:tgtEl>
                                          <p:spTgt spid="9"/>
                                        </p:tgtEl>
                                        <p:attrNameLst>
                                          <p:attrName>ppt_h</p:attrName>
                                        </p:attrNameLst>
                                      </p:cBhvr>
                                      <p:tavLst>
                                        <p:tav tm="0">
                                          <p:val>
                                            <p:fltVal val="0"/>
                                          </p:val>
                                        </p:tav>
                                        <p:tav tm="100000">
                                          <p:val>
                                            <p:strVal val="#ppt_h"/>
                                          </p:val>
                                        </p:tav>
                                      </p:tavLst>
                                    </p:anim>
                                    <p:animEffect transition="in" filter="fade">
                                      <p:cBhvr>
                                        <p:cTn id="43" dur="5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1" nodeType="click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p:cTn id="48" dur="500" fill="hold"/>
                                        <p:tgtEl>
                                          <p:spTgt spid="4"/>
                                        </p:tgtEl>
                                        <p:attrNameLst>
                                          <p:attrName>ppt_w</p:attrName>
                                        </p:attrNameLst>
                                      </p:cBhvr>
                                      <p:tavLst>
                                        <p:tav tm="0">
                                          <p:val>
                                            <p:fltVal val="0"/>
                                          </p:val>
                                        </p:tav>
                                        <p:tav tm="100000">
                                          <p:val>
                                            <p:strVal val="#ppt_w"/>
                                          </p:val>
                                        </p:tav>
                                      </p:tavLst>
                                    </p:anim>
                                    <p:anim calcmode="lin" valueType="num">
                                      <p:cBhvr>
                                        <p:cTn id="49" dur="500" fill="hold"/>
                                        <p:tgtEl>
                                          <p:spTgt spid="4"/>
                                        </p:tgtEl>
                                        <p:attrNameLst>
                                          <p:attrName>ppt_h</p:attrName>
                                        </p:attrNameLst>
                                      </p:cBhvr>
                                      <p:tavLst>
                                        <p:tav tm="0">
                                          <p:val>
                                            <p:fltVal val="0"/>
                                          </p:val>
                                        </p:tav>
                                        <p:tav tm="100000">
                                          <p:val>
                                            <p:strVal val="#ppt_h"/>
                                          </p:val>
                                        </p:tav>
                                      </p:tavLst>
                                    </p:anim>
                                    <p:animEffect transition="in" filter="fade">
                                      <p:cBhvr>
                                        <p:cTn id="50" dur="500"/>
                                        <p:tgtEl>
                                          <p:spTgt spid="4"/>
                                        </p:tgtEl>
                                      </p:cBhvr>
                                    </p:animEffect>
                                  </p:childTnLst>
                                </p:cTn>
                              </p:par>
                              <p:par>
                                <p:cTn id="51" presetID="53" presetClass="entr" presetSubtype="16" fill="hold" grpId="1" nodeType="withEffect">
                                  <p:stCondLst>
                                    <p:cond delay="0"/>
                                  </p:stCondLst>
                                  <p:childTnLst>
                                    <p:set>
                                      <p:cBhvr>
                                        <p:cTn id="52" dur="1" fill="hold">
                                          <p:stCondLst>
                                            <p:cond delay="0"/>
                                          </p:stCondLst>
                                        </p:cTn>
                                        <p:tgtEl>
                                          <p:spTgt spid="10"/>
                                        </p:tgtEl>
                                        <p:attrNameLst>
                                          <p:attrName>style.visibility</p:attrName>
                                        </p:attrNameLst>
                                      </p:cBhvr>
                                      <p:to>
                                        <p:strVal val="visible"/>
                                      </p:to>
                                    </p:set>
                                    <p:anim calcmode="lin" valueType="num">
                                      <p:cBhvr>
                                        <p:cTn id="53" dur="500" fill="hold"/>
                                        <p:tgtEl>
                                          <p:spTgt spid="10"/>
                                        </p:tgtEl>
                                        <p:attrNameLst>
                                          <p:attrName>ppt_w</p:attrName>
                                        </p:attrNameLst>
                                      </p:cBhvr>
                                      <p:tavLst>
                                        <p:tav tm="0">
                                          <p:val>
                                            <p:fltVal val="0"/>
                                          </p:val>
                                        </p:tav>
                                        <p:tav tm="100000">
                                          <p:val>
                                            <p:strVal val="#ppt_w"/>
                                          </p:val>
                                        </p:tav>
                                      </p:tavLst>
                                    </p:anim>
                                    <p:anim calcmode="lin" valueType="num">
                                      <p:cBhvr>
                                        <p:cTn id="54" dur="500" fill="hold"/>
                                        <p:tgtEl>
                                          <p:spTgt spid="10"/>
                                        </p:tgtEl>
                                        <p:attrNameLst>
                                          <p:attrName>ppt_h</p:attrName>
                                        </p:attrNameLst>
                                      </p:cBhvr>
                                      <p:tavLst>
                                        <p:tav tm="0">
                                          <p:val>
                                            <p:fltVal val="0"/>
                                          </p:val>
                                        </p:tav>
                                        <p:tav tm="100000">
                                          <p:val>
                                            <p:strVal val="#ppt_h"/>
                                          </p:val>
                                        </p:tav>
                                      </p:tavLst>
                                    </p:anim>
                                    <p:animEffect transition="in" filter="fade">
                                      <p:cBhvr>
                                        <p:cTn id="55" dur="500"/>
                                        <p:tgtEl>
                                          <p:spTgt spid="10"/>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 calcmode="lin" valueType="num">
                                      <p:cBhvr>
                                        <p:cTn id="58" dur="500" fill="hold"/>
                                        <p:tgtEl>
                                          <p:spTgt spid="11"/>
                                        </p:tgtEl>
                                        <p:attrNameLst>
                                          <p:attrName>ppt_w</p:attrName>
                                        </p:attrNameLst>
                                      </p:cBhvr>
                                      <p:tavLst>
                                        <p:tav tm="0">
                                          <p:val>
                                            <p:fltVal val="0"/>
                                          </p:val>
                                        </p:tav>
                                        <p:tav tm="100000">
                                          <p:val>
                                            <p:strVal val="#ppt_w"/>
                                          </p:val>
                                        </p:tav>
                                      </p:tavLst>
                                    </p:anim>
                                    <p:anim calcmode="lin" valueType="num">
                                      <p:cBhvr>
                                        <p:cTn id="59" dur="500" fill="hold"/>
                                        <p:tgtEl>
                                          <p:spTgt spid="11"/>
                                        </p:tgtEl>
                                        <p:attrNameLst>
                                          <p:attrName>ppt_h</p:attrName>
                                        </p:attrNameLst>
                                      </p:cBhvr>
                                      <p:tavLst>
                                        <p:tav tm="0">
                                          <p:val>
                                            <p:fltVal val="0"/>
                                          </p:val>
                                        </p:tav>
                                        <p:tav tm="100000">
                                          <p:val>
                                            <p:strVal val="#ppt_h"/>
                                          </p:val>
                                        </p:tav>
                                      </p:tavLst>
                                    </p:anim>
                                    <p:animEffect transition="in" filter="fade">
                                      <p:cBhvr>
                                        <p:cTn id="60" dur="500"/>
                                        <p:tgtEl>
                                          <p:spTgt spid="11"/>
                                        </p:tgtEl>
                                      </p:cBhvr>
                                    </p:animEffect>
                                  </p:childTnLst>
                                </p:cTn>
                              </p:par>
                            </p:childTnLst>
                          </p:cTn>
                        </p:par>
                      </p:childTnLst>
                    </p:cTn>
                  </p:par>
                  <p:par>
                    <p:cTn id="61" fill="hold">
                      <p:stCondLst>
                        <p:cond delay="indefinite"/>
                      </p:stCondLst>
                      <p:childTnLst>
                        <p:par>
                          <p:cTn id="62" fill="hold">
                            <p:stCondLst>
                              <p:cond delay="0"/>
                            </p:stCondLst>
                            <p:childTnLst>
                              <p:par>
                                <p:cTn id="63" presetID="53" presetClass="entr" presetSubtype="16" fill="hold" grpId="1" nodeType="clickEffect">
                                  <p:stCondLst>
                                    <p:cond delay="0"/>
                                  </p:stCondLst>
                                  <p:childTnLst>
                                    <p:set>
                                      <p:cBhvr>
                                        <p:cTn id="64" dur="1" fill="hold">
                                          <p:stCondLst>
                                            <p:cond delay="0"/>
                                          </p:stCondLst>
                                        </p:cTn>
                                        <p:tgtEl>
                                          <p:spTgt spid="12"/>
                                        </p:tgtEl>
                                        <p:attrNameLst>
                                          <p:attrName>style.visibility</p:attrName>
                                        </p:attrNameLst>
                                      </p:cBhvr>
                                      <p:to>
                                        <p:strVal val="visible"/>
                                      </p:to>
                                    </p:set>
                                    <p:anim calcmode="lin" valueType="num">
                                      <p:cBhvr>
                                        <p:cTn id="65" dur="500" fill="hold"/>
                                        <p:tgtEl>
                                          <p:spTgt spid="12"/>
                                        </p:tgtEl>
                                        <p:attrNameLst>
                                          <p:attrName>ppt_w</p:attrName>
                                        </p:attrNameLst>
                                      </p:cBhvr>
                                      <p:tavLst>
                                        <p:tav tm="0">
                                          <p:val>
                                            <p:fltVal val="0"/>
                                          </p:val>
                                        </p:tav>
                                        <p:tav tm="100000">
                                          <p:val>
                                            <p:strVal val="#ppt_w"/>
                                          </p:val>
                                        </p:tav>
                                      </p:tavLst>
                                    </p:anim>
                                    <p:anim calcmode="lin" valueType="num">
                                      <p:cBhvr>
                                        <p:cTn id="66" dur="500" fill="hold"/>
                                        <p:tgtEl>
                                          <p:spTgt spid="12"/>
                                        </p:tgtEl>
                                        <p:attrNameLst>
                                          <p:attrName>ppt_h</p:attrName>
                                        </p:attrNameLst>
                                      </p:cBhvr>
                                      <p:tavLst>
                                        <p:tav tm="0">
                                          <p:val>
                                            <p:fltVal val="0"/>
                                          </p:val>
                                        </p:tav>
                                        <p:tav tm="100000">
                                          <p:val>
                                            <p:strVal val="#ppt_h"/>
                                          </p:val>
                                        </p:tav>
                                      </p:tavLst>
                                    </p:anim>
                                    <p:animEffect transition="in" filter="fade">
                                      <p:cBhvr>
                                        <p:cTn id="67" dur="500"/>
                                        <p:tgtEl>
                                          <p:spTgt spid="12"/>
                                        </p:tgtEl>
                                      </p:cBhvr>
                                    </p:animEffect>
                                  </p:childTnLst>
                                </p:cTn>
                              </p:par>
                              <p:par>
                                <p:cTn id="68" presetID="53" presetClass="entr" presetSubtype="16" fill="hold" grpId="1" nodeType="withEffect">
                                  <p:stCondLst>
                                    <p:cond delay="0"/>
                                  </p:stCondLst>
                                  <p:childTnLst>
                                    <p:set>
                                      <p:cBhvr>
                                        <p:cTn id="69" dur="1" fill="hold">
                                          <p:stCondLst>
                                            <p:cond delay="0"/>
                                          </p:stCondLst>
                                        </p:cTn>
                                        <p:tgtEl>
                                          <p:spTgt spid="13"/>
                                        </p:tgtEl>
                                        <p:attrNameLst>
                                          <p:attrName>style.visibility</p:attrName>
                                        </p:attrNameLst>
                                      </p:cBhvr>
                                      <p:to>
                                        <p:strVal val="visible"/>
                                      </p:to>
                                    </p:set>
                                    <p:anim calcmode="lin" valueType="num">
                                      <p:cBhvr>
                                        <p:cTn id="70" dur="500" fill="hold"/>
                                        <p:tgtEl>
                                          <p:spTgt spid="13"/>
                                        </p:tgtEl>
                                        <p:attrNameLst>
                                          <p:attrName>ppt_w</p:attrName>
                                        </p:attrNameLst>
                                      </p:cBhvr>
                                      <p:tavLst>
                                        <p:tav tm="0">
                                          <p:val>
                                            <p:fltVal val="0"/>
                                          </p:val>
                                        </p:tav>
                                        <p:tav tm="100000">
                                          <p:val>
                                            <p:strVal val="#ppt_w"/>
                                          </p:val>
                                        </p:tav>
                                      </p:tavLst>
                                    </p:anim>
                                    <p:anim calcmode="lin" valueType="num">
                                      <p:cBhvr>
                                        <p:cTn id="71" dur="500" fill="hold"/>
                                        <p:tgtEl>
                                          <p:spTgt spid="13"/>
                                        </p:tgtEl>
                                        <p:attrNameLst>
                                          <p:attrName>ppt_h</p:attrName>
                                        </p:attrNameLst>
                                      </p:cBhvr>
                                      <p:tavLst>
                                        <p:tav tm="0">
                                          <p:val>
                                            <p:fltVal val="0"/>
                                          </p:val>
                                        </p:tav>
                                        <p:tav tm="100000">
                                          <p:val>
                                            <p:strVal val="#ppt_h"/>
                                          </p:val>
                                        </p:tav>
                                      </p:tavLst>
                                    </p:anim>
                                    <p:animEffect transition="in" filter="fade">
                                      <p:cBhvr>
                                        <p:cTn id="72" dur="500"/>
                                        <p:tgtEl>
                                          <p:spTgt spid="13"/>
                                        </p:tgtEl>
                                      </p:cBhvr>
                                    </p:animEffect>
                                  </p:childTnLst>
                                </p:cTn>
                              </p:par>
                              <p:par>
                                <p:cTn id="73" presetID="53" presetClass="entr" presetSubtype="16" fill="hold" grpId="0" nodeType="withEffect">
                                  <p:stCondLst>
                                    <p:cond delay="0"/>
                                  </p:stCondLst>
                                  <p:childTnLst>
                                    <p:set>
                                      <p:cBhvr>
                                        <p:cTn id="74" dur="1" fill="hold">
                                          <p:stCondLst>
                                            <p:cond delay="0"/>
                                          </p:stCondLst>
                                        </p:cTn>
                                        <p:tgtEl>
                                          <p:spTgt spid="14"/>
                                        </p:tgtEl>
                                        <p:attrNameLst>
                                          <p:attrName>style.visibility</p:attrName>
                                        </p:attrNameLst>
                                      </p:cBhvr>
                                      <p:to>
                                        <p:strVal val="visible"/>
                                      </p:to>
                                    </p:set>
                                    <p:anim calcmode="lin" valueType="num">
                                      <p:cBhvr>
                                        <p:cTn id="75" dur="500" fill="hold"/>
                                        <p:tgtEl>
                                          <p:spTgt spid="14"/>
                                        </p:tgtEl>
                                        <p:attrNameLst>
                                          <p:attrName>ppt_w</p:attrName>
                                        </p:attrNameLst>
                                      </p:cBhvr>
                                      <p:tavLst>
                                        <p:tav tm="0">
                                          <p:val>
                                            <p:fltVal val="0"/>
                                          </p:val>
                                        </p:tav>
                                        <p:tav tm="100000">
                                          <p:val>
                                            <p:strVal val="#ppt_w"/>
                                          </p:val>
                                        </p:tav>
                                      </p:tavLst>
                                    </p:anim>
                                    <p:anim calcmode="lin" valueType="num">
                                      <p:cBhvr>
                                        <p:cTn id="76" dur="500" fill="hold"/>
                                        <p:tgtEl>
                                          <p:spTgt spid="14"/>
                                        </p:tgtEl>
                                        <p:attrNameLst>
                                          <p:attrName>ppt_h</p:attrName>
                                        </p:attrNameLst>
                                      </p:cBhvr>
                                      <p:tavLst>
                                        <p:tav tm="0">
                                          <p:val>
                                            <p:fltVal val="0"/>
                                          </p:val>
                                        </p:tav>
                                        <p:tav tm="100000">
                                          <p:val>
                                            <p:strVal val="#ppt_h"/>
                                          </p:val>
                                        </p:tav>
                                      </p:tavLst>
                                    </p:anim>
                                    <p:animEffect transition="in" filter="fade">
                                      <p:cBhvr>
                                        <p:cTn id="77" dur="500"/>
                                        <p:tgtEl>
                                          <p:spTgt spid="14"/>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16" fill="hold" grpId="1" nodeType="clickEffect">
                                  <p:stCondLst>
                                    <p:cond delay="0"/>
                                  </p:stCondLst>
                                  <p:childTnLst>
                                    <p:set>
                                      <p:cBhvr>
                                        <p:cTn id="81" dur="1" fill="hold">
                                          <p:stCondLst>
                                            <p:cond delay="0"/>
                                          </p:stCondLst>
                                        </p:cTn>
                                        <p:tgtEl>
                                          <p:spTgt spid="15"/>
                                        </p:tgtEl>
                                        <p:attrNameLst>
                                          <p:attrName>style.visibility</p:attrName>
                                        </p:attrNameLst>
                                      </p:cBhvr>
                                      <p:to>
                                        <p:strVal val="visible"/>
                                      </p:to>
                                    </p:set>
                                    <p:anim calcmode="lin" valueType="num">
                                      <p:cBhvr>
                                        <p:cTn id="82" dur="500" fill="hold"/>
                                        <p:tgtEl>
                                          <p:spTgt spid="15"/>
                                        </p:tgtEl>
                                        <p:attrNameLst>
                                          <p:attrName>ppt_w</p:attrName>
                                        </p:attrNameLst>
                                      </p:cBhvr>
                                      <p:tavLst>
                                        <p:tav tm="0">
                                          <p:val>
                                            <p:fltVal val="0"/>
                                          </p:val>
                                        </p:tav>
                                        <p:tav tm="100000">
                                          <p:val>
                                            <p:strVal val="#ppt_w"/>
                                          </p:val>
                                        </p:tav>
                                      </p:tavLst>
                                    </p:anim>
                                    <p:anim calcmode="lin" valueType="num">
                                      <p:cBhvr>
                                        <p:cTn id="83" dur="500" fill="hold"/>
                                        <p:tgtEl>
                                          <p:spTgt spid="15"/>
                                        </p:tgtEl>
                                        <p:attrNameLst>
                                          <p:attrName>ppt_h</p:attrName>
                                        </p:attrNameLst>
                                      </p:cBhvr>
                                      <p:tavLst>
                                        <p:tav tm="0">
                                          <p:val>
                                            <p:fltVal val="0"/>
                                          </p:val>
                                        </p:tav>
                                        <p:tav tm="100000">
                                          <p:val>
                                            <p:strVal val="#ppt_h"/>
                                          </p:val>
                                        </p:tav>
                                      </p:tavLst>
                                    </p:anim>
                                    <p:animEffect transition="in" filter="fade">
                                      <p:cBhvr>
                                        <p:cTn id="84" dur="500"/>
                                        <p:tgtEl>
                                          <p:spTgt spid="15"/>
                                        </p:tgtEl>
                                      </p:cBhvr>
                                    </p:animEffect>
                                  </p:childTnLst>
                                </p:cTn>
                              </p:par>
                              <p:par>
                                <p:cTn id="85" presetID="53" presetClass="entr" presetSubtype="16" fill="hold" grpId="1" nodeType="withEffect">
                                  <p:stCondLst>
                                    <p:cond delay="0"/>
                                  </p:stCondLst>
                                  <p:childTnLst>
                                    <p:set>
                                      <p:cBhvr>
                                        <p:cTn id="86" dur="1" fill="hold">
                                          <p:stCondLst>
                                            <p:cond delay="0"/>
                                          </p:stCondLst>
                                        </p:cTn>
                                        <p:tgtEl>
                                          <p:spTgt spid="16"/>
                                        </p:tgtEl>
                                        <p:attrNameLst>
                                          <p:attrName>style.visibility</p:attrName>
                                        </p:attrNameLst>
                                      </p:cBhvr>
                                      <p:to>
                                        <p:strVal val="visible"/>
                                      </p:to>
                                    </p:set>
                                    <p:anim calcmode="lin" valueType="num">
                                      <p:cBhvr>
                                        <p:cTn id="87" dur="500" fill="hold"/>
                                        <p:tgtEl>
                                          <p:spTgt spid="16"/>
                                        </p:tgtEl>
                                        <p:attrNameLst>
                                          <p:attrName>ppt_w</p:attrName>
                                        </p:attrNameLst>
                                      </p:cBhvr>
                                      <p:tavLst>
                                        <p:tav tm="0">
                                          <p:val>
                                            <p:fltVal val="0"/>
                                          </p:val>
                                        </p:tav>
                                        <p:tav tm="100000">
                                          <p:val>
                                            <p:strVal val="#ppt_w"/>
                                          </p:val>
                                        </p:tav>
                                      </p:tavLst>
                                    </p:anim>
                                    <p:anim calcmode="lin" valueType="num">
                                      <p:cBhvr>
                                        <p:cTn id="88" dur="500" fill="hold"/>
                                        <p:tgtEl>
                                          <p:spTgt spid="16"/>
                                        </p:tgtEl>
                                        <p:attrNameLst>
                                          <p:attrName>ppt_h</p:attrName>
                                        </p:attrNameLst>
                                      </p:cBhvr>
                                      <p:tavLst>
                                        <p:tav tm="0">
                                          <p:val>
                                            <p:fltVal val="0"/>
                                          </p:val>
                                        </p:tav>
                                        <p:tav tm="100000">
                                          <p:val>
                                            <p:strVal val="#ppt_h"/>
                                          </p:val>
                                        </p:tav>
                                      </p:tavLst>
                                    </p:anim>
                                    <p:animEffect transition="in" filter="fade">
                                      <p:cBhvr>
                                        <p:cTn id="89" dur="500"/>
                                        <p:tgtEl>
                                          <p:spTgt spid="16"/>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17"/>
                                        </p:tgtEl>
                                        <p:attrNameLst>
                                          <p:attrName>style.visibility</p:attrName>
                                        </p:attrNameLst>
                                      </p:cBhvr>
                                      <p:to>
                                        <p:strVal val="visible"/>
                                      </p:to>
                                    </p:set>
                                    <p:anim calcmode="lin" valueType="num">
                                      <p:cBhvr>
                                        <p:cTn id="92" dur="500" fill="hold"/>
                                        <p:tgtEl>
                                          <p:spTgt spid="17"/>
                                        </p:tgtEl>
                                        <p:attrNameLst>
                                          <p:attrName>ppt_w</p:attrName>
                                        </p:attrNameLst>
                                      </p:cBhvr>
                                      <p:tavLst>
                                        <p:tav tm="0">
                                          <p:val>
                                            <p:fltVal val="0"/>
                                          </p:val>
                                        </p:tav>
                                        <p:tav tm="100000">
                                          <p:val>
                                            <p:strVal val="#ppt_w"/>
                                          </p:val>
                                        </p:tav>
                                      </p:tavLst>
                                    </p:anim>
                                    <p:anim calcmode="lin" valueType="num">
                                      <p:cBhvr>
                                        <p:cTn id="93" dur="500" fill="hold"/>
                                        <p:tgtEl>
                                          <p:spTgt spid="17"/>
                                        </p:tgtEl>
                                        <p:attrNameLst>
                                          <p:attrName>ppt_h</p:attrName>
                                        </p:attrNameLst>
                                      </p:cBhvr>
                                      <p:tavLst>
                                        <p:tav tm="0">
                                          <p:val>
                                            <p:fltVal val="0"/>
                                          </p:val>
                                        </p:tav>
                                        <p:tav tm="100000">
                                          <p:val>
                                            <p:strVal val="#ppt_h"/>
                                          </p:val>
                                        </p:tav>
                                      </p:tavLst>
                                    </p:anim>
                                    <p:animEffect transition="in" filter="fade">
                                      <p:cBhvr>
                                        <p:cTn id="9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3" grpId="0" animBg="1"/>
      <p:bldP spid="3" grpId="1" animBg="1"/>
      <p:bldP spid="4" grpId="0" animBg="1"/>
      <p:bldP spid="4" grpId="1" animBg="1"/>
      <p:bldP spid="5" grpId="0"/>
      <p:bldP spid="6" grpId="0"/>
      <p:bldP spid="6" grpId="1"/>
      <p:bldP spid="7" grpId="0"/>
      <p:bldP spid="8" grpId="0"/>
      <p:bldP spid="8" grpId="1"/>
      <p:bldP spid="9" grpId="0"/>
      <p:bldP spid="10" grpId="0"/>
      <p:bldP spid="10" grpId="1"/>
      <p:bldP spid="11" grpId="0"/>
      <p:bldP spid="12" grpId="0" animBg="1"/>
      <p:bldP spid="12" grpId="1" animBg="1"/>
      <p:bldP spid="13" grpId="0"/>
      <p:bldP spid="13" grpId="1"/>
      <p:bldP spid="14" grpId="0"/>
      <p:bldP spid="15" grpId="0" animBg="1"/>
      <p:bldP spid="15" grpId="1" animBg="1"/>
      <p:bldP spid="16" grpId="0"/>
      <p:bldP spid="16" grpId="1"/>
      <p:bldP spid="17"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圆角 15">
            <a:extLst>
              <a:ext uri="{FF2B5EF4-FFF2-40B4-BE49-F238E27FC236}">
                <a16:creationId xmlns:a16="http://schemas.microsoft.com/office/drawing/2014/main" id="{54F17814-1650-4141-90E4-235F1F0A059C}"/>
              </a:ext>
            </a:extLst>
          </p:cNvPr>
          <p:cNvSpPr/>
          <p:nvPr/>
        </p:nvSpPr>
        <p:spPr>
          <a:xfrm>
            <a:off x="609886" y="1395765"/>
            <a:ext cx="2521954"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89829EDC-1666-4451-95B0-E1DA75E5696B}"/>
              </a:ext>
            </a:extLst>
          </p:cNvPr>
          <p:cNvSpPr/>
          <p:nvPr/>
        </p:nvSpPr>
        <p:spPr>
          <a:xfrm>
            <a:off x="683569" y="1412776"/>
            <a:ext cx="2376264" cy="400110"/>
          </a:xfrm>
          <a:prstGeom prst="rect">
            <a:avLst/>
          </a:prstGeom>
          <a:noFill/>
          <a:effectLst>
            <a:outerShdw blurRad="63500" sx="102000" sy="102000" algn="ctr" rotWithShape="0">
              <a:prstClr val="black">
                <a:alpha val="40000"/>
              </a:prstClr>
            </a:outerShdw>
          </a:effectLst>
        </p:spPr>
        <p:txBody>
          <a:bodyPr wrap="square">
            <a:spAutoFit/>
          </a:bodyPr>
          <a:lstStyle/>
          <a:p>
            <a:pPr>
              <a:defRPr/>
            </a:pPr>
            <a:endParaRPr lang="zh-CN" altLang="en-US" sz="20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37C083F2-0E99-4519-8938-09940A28B5F0}"/>
              </a:ext>
            </a:extLst>
          </p:cNvPr>
          <p:cNvSpPr/>
          <p:nvPr/>
        </p:nvSpPr>
        <p:spPr>
          <a:xfrm>
            <a:off x="580922" y="520573"/>
            <a:ext cx="312698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一、长期成本的概念</a:t>
            </a:r>
          </a:p>
        </p:txBody>
      </p:sp>
      <p:sp>
        <p:nvSpPr>
          <p:cNvPr id="4" name="矩形 3">
            <a:extLst>
              <a:ext uri="{FF2B5EF4-FFF2-40B4-BE49-F238E27FC236}">
                <a16:creationId xmlns:a16="http://schemas.microsoft.com/office/drawing/2014/main" id="{084955AF-1C9D-40E6-AF77-16E919D7DDCC}"/>
              </a:ext>
            </a:extLst>
          </p:cNvPr>
          <p:cNvSpPr/>
          <p:nvPr/>
        </p:nvSpPr>
        <p:spPr>
          <a:xfrm>
            <a:off x="683568" y="1416673"/>
            <a:ext cx="2664296" cy="400110"/>
          </a:xfrm>
          <a:prstGeom prst="rect">
            <a:avLst/>
          </a:prstGeom>
        </p:spPr>
        <p:txBody>
          <a:bodyPr wrap="square">
            <a:spAutoFit/>
          </a:bodyPr>
          <a:lstStyle/>
          <a:p>
            <a:pPr marL="285750" indent="-285750">
              <a:buFont typeface="Wingdings" panose="05000000000000000000" pitchFamily="2" charset="2"/>
              <a:buChar char="u"/>
            </a:pPr>
            <a:r>
              <a:rPr lang="en-US" sz="2000" dirty="0">
                <a:latin typeface="微软雅黑" panose="020B0503020204020204" pitchFamily="34" charset="-122"/>
                <a:ea typeface="微软雅黑" panose="020B0503020204020204" pitchFamily="34" charset="-122"/>
              </a:rPr>
              <a:t>长期成本的种类</a:t>
            </a:r>
          </a:p>
        </p:txBody>
      </p:sp>
      <p:sp>
        <p:nvSpPr>
          <p:cNvPr id="5" name="矩形 4"/>
          <p:cNvSpPr/>
          <p:nvPr/>
        </p:nvSpPr>
        <p:spPr>
          <a:xfrm>
            <a:off x="746020" y="2074496"/>
            <a:ext cx="2790056" cy="369332"/>
          </a:xfrm>
          <a:prstGeom prst="rect">
            <a:avLst/>
          </a:prstGeom>
        </p:spPr>
        <p:txBody>
          <a:bodyPr wrap="square">
            <a:spAutoFit/>
          </a:bodyPr>
          <a:lstStyle/>
          <a:p>
            <a:pPr marL="285750" indent="-28575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长期总成本：LTC</a:t>
            </a:r>
          </a:p>
        </p:txBody>
      </p:sp>
      <p:sp>
        <p:nvSpPr>
          <p:cNvPr id="6" name="矩形 5"/>
          <p:cNvSpPr/>
          <p:nvPr/>
        </p:nvSpPr>
        <p:spPr>
          <a:xfrm>
            <a:off x="748585" y="3220342"/>
            <a:ext cx="2296591" cy="369332"/>
          </a:xfrm>
          <a:prstGeom prst="rect">
            <a:avLst/>
          </a:prstGeom>
        </p:spPr>
        <p:txBody>
          <a:bodyPr wrap="none">
            <a:spAutoFit/>
          </a:bodyPr>
          <a:lstStyle/>
          <a:p>
            <a:pPr marL="285750" indent="-28575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长期平均成本LAC</a:t>
            </a:r>
          </a:p>
        </p:txBody>
      </p:sp>
      <p:sp>
        <p:nvSpPr>
          <p:cNvPr id="7" name="TextBox 110"/>
          <p:cNvSpPr txBox="1">
            <a:spLocks noChangeArrowheads="1"/>
          </p:cNvSpPr>
          <p:nvPr/>
        </p:nvSpPr>
        <p:spPr bwMode="auto">
          <a:xfrm>
            <a:off x="672769" y="3648400"/>
            <a:ext cx="411525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indent="-285750" eaLnBrk="1" hangingPunct="1">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长期平均成本是指从长期来看，企业平均每单位产量所花费的总成本。</a:t>
            </a:r>
          </a:p>
        </p:txBody>
      </p:sp>
      <p:sp>
        <p:nvSpPr>
          <p:cNvPr id="8" name="TextBox 110"/>
          <p:cNvSpPr txBox="1">
            <a:spLocks noChangeArrowheads="1"/>
          </p:cNvSpPr>
          <p:nvPr/>
        </p:nvSpPr>
        <p:spPr bwMode="auto">
          <a:xfrm>
            <a:off x="676886" y="2502554"/>
            <a:ext cx="418314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marL="285750" indent="-285750" eaLnBrk="1" hangingPunct="1">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长期总成本是指企业在长期中生产一定产量水平时通过改变生产规模所能达到的最低成本。</a:t>
            </a:r>
          </a:p>
        </p:txBody>
      </p:sp>
      <mc:AlternateContent xmlns:mc="http://schemas.openxmlformats.org/markup-compatibility/2006" xmlns:a14="http://schemas.microsoft.com/office/drawing/2010/main">
        <mc:Choice Requires="a14">
          <p:sp>
            <p:nvSpPr>
              <p:cNvPr id="9" name="矩形 8"/>
              <p:cNvSpPr/>
              <p:nvPr/>
            </p:nvSpPr>
            <p:spPr>
              <a:xfrm>
                <a:off x="5522785" y="1900325"/>
                <a:ext cx="2059345" cy="966098"/>
              </a:xfrm>
              <a:prstGeom prst="rect">
                <a:avLst/>
              </a:prstGeom>
              <a:solidFill>
                <a:srgbClr val="E5AB71"/>
              </a:solidFill>
              <a:ln w="38100">
                <a:solidFill>
                  <a:srgbClr val="C3C9D7"/>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1" i="1" smtClean="0">
                          <a:solidFill>
                            <a:schemeClr val="tx1"/>
                          </a:solidFill>
                          <a:latin typeface="Cambria Math" panose="02040503050406030204" pitchFamily="18" charset="0"/>
                        </a:rPr>
                        <m:t>𝑳𝑨𝑪</m:t>
                      </m:r>
                      <m:r>
                        <a:rPr lang="en-US" altLang="zh-CN" sz="2800" b="1" i="1" smtClean="0">
                          <a:solidFill>
                            <a:schemeClr val="tx1"/>
                          </a:solidFill>
                          <a:latin typeface="Cambria Math" panose="02040503050406030204" pitchFamily="18" charset="0"/>
                        </a:rPr>
                        <m:t>=</m:t>
                      </m:r>
                      <m:f>
                        <m:fPr>
                          <m:ctrlPr>
                            <a:rPr lang="en-US" altLang="zh-CN" sz="2800" b="1" i="1">
                              <a:solidFill>
                                <a:schemeClr val="tx1"/>
                              </a:solidFill>
                              <a:latin typeface="Cambria Math" panose="02040503050406030204" pitchFamily="18" charset="0"/>
                            </a:rPr>
                          </m:ctrlPr>
                        </m:fPr>
                        <m:num>
                          <m:r>
                            <a:rPr lang="en-US" altLang="zh-CN" sz="2800" b="1" i="1">
                              <a:solidFill>
                                <a:schemeClr val="tx1"/>
                              </a:solidFill>
                              <a:latin typeface="Cambria Math" panose="02040503050406030204" pitchFamily="18" charset="0"/>
                            </a:rPr>
                            <m:t>𝑳𝑻𝑪</m:t>
                          </m:r>
                        </m:num>
                        <m:den>
                          <m:r>
                            <a:rPr lang="en-US" altLang="zh-CN" sz="2800" b="1" i="1">
                              <a:solidFill>
                                <a:schemeClr val="tx1"/>
                              </a:solidFill>
                              <a:latin typeface="Cambria Math" panose="02040503050406030204" pitchFamily="18" charset="0"/>
                            </a:rPr>
                            <m:t>𝑸</m:t>
                          </m:r>
                        </m:den>
                      </m:f>
                    </m:oMath>
                  </m:oMathPara>
                </a14:m>
                <a:endParaRPr lang="en-US" sz="2800" b="1" dirty="0">
                  <a:solidFill>
                    <a:schemeClr val="tx1"/>
                  </a:solidFill>
                </a:endParaRPr>
              </a:p>
            </p:txBody>
          </p:sp>
        </mc:Choice>
        <mc:Fallback xmlns="">
          <p:sp>
            <p:nvSpPr>
              <p:cNvPr id="9" name="矩形 8"/>
              <p:cNvSpPr>
                <a:spLocks noRot="1" noChangeAspect="1" noMove="1" noResize="1" noEditPoints="1" noAdjustHandles="1" noChangeArrowheads="1" noChangeShapeType="1" noTextEdit="1"/>
              </p:cNvSpPr>
              <p:nvPr/>
            </p:nvSpPr>
            <p:spPr>
              <a:xfrm>
                <a:off x="5522785" y="1900325"/>
                <a:ext cx="2059345" cy="966098"/>
              </a:xfrm>
              <a:prstGeom prst="rect">
                <a:avLst/>
              </a:prstGeom>
              <a:blipFill>
                <a:blip r:embed="rId2"/>
                <a:stretch>
                  <a:fillRect/>
                </a:stretch>
              </a:blipFill>
              <a:ln w="38100">
                <a:solidFill>
                  <a:srgbClr val="C3C9D7"/>
                </a:solidFill>
              </a:ln>
            </p:spPr>
            <p:txBody>
              <a:bodyPr/>
              <a:lstStyle/>
              <a:p>
                <a:r>
                  <a:rPr lang="zh-CN" altLang="en-US">
                    <a:noFill/>
                  </a:rPr>
                  <a:t> </a:t>
                </a:r>
              </a:p>
            </p:txBody>
          </p:sp>
        </mc:Fallback>
      </mc:AlternateContent>
      <p:sp>
        <p:nvSpPr>
          <p:cNvPr id="11" name="矩形 10"/>
          <p:cNvSpPr/>
          <p:nvPr/>
        </p:nvSpPr>
        <p:spPr>
          <a:xfrm>
            <a:off x="743320" y="4510057"/>
            <a:ext cx="2356735" cy="369332"/>
          </a:xfrm>
          <a:prstGeom prst="rect">
            <a:avLst/>
          </a:prstGeom>
        </p:spPr>
        <p:txBody>
          <a:bodyPr wrap="none">
            <a:spAutoFit/>
          </a:bodyPr>
          <a:lstStyle/>
          <a:p>
            <a:pPr marL="285750" indent="-28575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长期边际成本LMC</a:t>
            </a:r>
          </a:p>
        </p:txBody>
      </p:sp>
      <p:sp>
        <p:nvSpPr>
          <p:cNvPr id="12" name="矩形 11"/>
          <p:cNvSpPr/>
          <p:nvPr/>
        </p:nvSpPr>
        <p:spPr>
          <a:xfrm>
            <a:off x="676886" y="4973462"/>
            <a:ext cx="3967122" cy="523220"/>
          </a:xfrm>
          <a:prstGeom prst="rect">
            <a:avLst/>
          </a:prstGeom>
        </p:spPr>
        <p:txBody>
          <a:bodyPr wrap="square">
            <a:spAutoFit/>
          </a:bodyPr>
          <a:lstStyle/>
          <a:p>
            <a:pPr marL="285750" indent="-285750">
              <a:buFont typeface="Wingdings" panose="05000000000000000000" pitchFamily="2" charset="2"/>
              <a:buChar char="l"/>
            </a:pPr>
            <a:r>
              <a:rPr lang="en-US" sz="1400" dirty="0">
                <a:latin typeface="微软雅黑" panose="020B0503020204020204" pitchFamily="34" charset="-122"/>
                <a:ea typeface="微软雅黑" panose="020B0503020204020204" pitchFamily="34" charset="-122"/>
              </a:rPr>
              <a:t>长期边际成本是指从长期来看，企业每增加1单位产量所增加的总成本</a:t>
            </a:r>
            <a:r>
              <a:rPr lang="zh-CN" altLang="en-US" sz="1400" dirty="0">
                <a:latin typeface="微软雅黑" panose="020B0503020204020204" pitchFamily="34" charset="-122"/>
                <a:ea typeface="微软雅黑" panose="020B0503020204020204" pitchFamily="34" charset="-122"/>
              </a:rPr>
              <a:t>。</a:t>
            </a:r>
            <a:endParaRPr lang="en-US" sz="1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13" name="矩形 12"/>
              <p:cNvSpPr/>
              <p:nvPr/>
            </p:nvSpPr>
            <p:spPr>
              <a:xfrm>
                <a:off x="5364088" y="4407118"/>
                <a:ext cx="2376741" cy="966098"/>
              </a:xfrm>
              <a:prstGeom prst="rect">
                <a:avLst/>
              </a:prstGeom>
              <a:solidFill>
                <a:srgbClr val="E5AB71"/>
              </a:solidFill>
              <a:ln w="38100">
                <a:solidFill>
                  <a:srgbClr val="C3C9D7"/>
                </a:solidFill>
              </a:ln>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1" i="1" smtClean="0">
                          <a:solidFill>
                            <a:schemeClr val="tx1"/>
                          </a:solidFill>
                          <a:latin typeface="Cambria Math" panose="02040503050406030204" pitchFamily="18" charset="0"/>
                        </a:rPr>
                        <m:t>𝑳𝑴</m:t>
                      </m:r>
                      <m:r>
                        <a:rPr lang="en-US" altLang="zh-CN" sz="2800" b="1" i="1">
                          <a:solidFill>
                            <a:schemeClr val="tx1"/>
                          </a:solidFill>
                          <a:latin typeface="Cambria Math" panose="02040503050406030204" pitchFamily="18" charset="0"/>
                        </a:rPr>
                        <m:t>𝑪</m:t>
                      </m:r>
                      <m:r>
                        <a:rPr lang="en-US" altLang="zh-CN" sz="2800" b="1" i="1">
                          <a:solidFill>
                            <a:schemeClr val="tx1"/>
                          </a:solidFill>
                          <a:latin typeface="Cambria Math" panose="02040503050406030204" pitchFamily="18" charset="0"/>
                        </a:rPr>
                        <m:t>=</m:t>
                      </m:r>
                      <m:f>
                        <m:fPr>
                          <m:ctrlPr>
                            <a:rPr lang="en-US" altLang="zh-CN" sz="2800" b="1" i="1">
                              <a:solidFill>
                                <a:schemeClr val="tx1"/>
                              </a:solidFill>
                              <a:latin typeface="Cambria Math" panose="02040503050406030204" pitchFamily="18" charset="0"/>
                            </a:rPr>
                          </m:ctrlPr>
                        </m:fPr>
                        <m:num>
                          <m:r>
                            <a:rPr lang="en-US" altLang="zh-CN" sz="2800" b="1" i="1">
                              <a:solidFill>
                                <a:schemeClr val="tx1"/>
                              </a:solidFill>
                              <a:latin typeface="Cambria Math" panose="02040503050406030204" pitchFamily="18" charset="0"/>
                              <a:ea typeface="Cambria Math" panose="02040503050406030204" pitchFamily="18" charset="0"/>
                            </a:rPr>
                            <m:t>∆</m:t>
                          </m:r>
                          <m:r>
                            <a:rPr lang="en-US" altLang="zh-CN" sz="2800" b="1" i="1">
                              <a:solidFill>
                                <a:schemeClr val="tx1"/>
                              </a:solidFill>
                              <a:latin typeface="Cambria Math" panose="02040503050406030204" pitchFamily="18" charset="0"/>
                            </a:rPr>
                            <m:t>𝑳𝑻𝑪</m:t>
                          </m:r>
                        </m:num>
                        <m:den>
                          <m:r>
                            <a:rPr lang="en-US" altLang="zh-CN" sz="2800" b="1" i="1">
                              <a:solidFill>
                                <a:schemeClr val="tx1"/>
                              </a:solidFill>
                              <a:latin typeface="Cambria Math" panose="02040503050406030204" pitchFamily="18" charset="0"/>
                              <a:ea typeface="Cambria Math" panose="02040503050406030204" pitchFamily="18" charset="0"/>
                            </a:rPr>
                            <m:t>∆</m:t>
                          </m:r>
                          <m:r>
                            <a:rPr lang="en-US" altLang="zh-CN" sz="2800" b="1" i="1">
                              <a:solidFill>
                                <a:schemeClr val="tx1"/>
                              </a:solidFill>
                              <a:latin typeface="Cambria Math" panose="02040503050406030204" pitchFamily="18" charset="0"/>
                            </a:rPr>
                            <m:t>𝑸</m:t>
                          </m:r>
                        </m:den>
                      </m:f>
                    </m:oMath>
                  </m:oMathPara>
                </a14:m>
                <a:endParaRPr lang="en-US" sz="2800" b="1" dirty="0">
                  <a:solidFill>
                    <a:schemeClr val="tx1"/>
                  </a:solidFill>
                </a:endParaRPr>
              </a:p>
            </p:txBody>
          </p:sp>
        </mc:Choice>
        <mc:Fallback xmlns="">
          <p:sp>
            <p:nvSpPr>
              <p:cNvPr id="13" name="矩形 12"/>
              <p:cNvSpPr>
                <a:spLocks noRot="1" noChangeAspect="1" noMove="1" noResize="1" noEditPoints="1" noAdjustHandles="1" noChangeArrowheads="1" noChangeShapeType="1" noTextEdit="1"/>
              </p:cNvSpPr>
              <p:nvPr/>
            </p:nvSpPr>
            <p:spPr>
              <a:xfrm>
                <a:off x="5364088" y="4407118"/>
                <a:ext cx="2376741" cy="966098"/>
              </a:xfrm>
              <a:prstGeom prst="rect">
                <a:avLst/>
              </a:prstGeom>
              <a:blipFill>
                <a:blip r:embed="rId3"/>
                <a:stretch>
                  <a:fillRect/>
                </a:stretch>
              </a:blipFill>
              <a:ln w="38100">
                <a:solidFill>
                  <a:srgbClr val="C3C9D7"/>
                </a:solidFill>
              </a:ln>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3" name="标注: 线形 2">
            <a:extLst>
              <a:ext uri="{FF2B5EF4-FFF2-40B4-BE49-F238E27FC236}">
                <a16:creationId xmlns:a16="http://schemas.microsoft.com/office/drawing/2014/main" id="{C49B1220-663E-485F-A507-36E4098CBD01}"/>
              </a:ext>
            </a:extLst>
          </p:cNvPr>
          <p:cNvSpPr/>
          <p:nvPr/>
        </p:nvSpPr>
        <p:spPr bwMode="auto">
          <a:xfrm>
            <a:off x="4067944" y="692696"/>
            <a:ext cx="2521954" cy="864096"/>
          </a:xfrm>
          <a:prstGeom prst="borderCallout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长期所有要素都可变，没有可变成本与不变成本的区分</a:t>
            </a:r>
          </a:p>
        </p:txBody>
      </p:sp>
    </p:spTree>
    <p:extLst>
      <p:ext uri="{BB962C8B-B14F-4D97-AF65-F5344CB8AC3E}">
        <p14:creationId xmlns:p14="http://schemas.microsoft.com/office/powerpoint/2010/main" val="76506098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1000"/>
                                        <p:tgtEl>
                                          <p:spTgt spid="16"/>
                                        </p:tgtEl>
                                      </p:cBhvr>
                                    </p:animEffect>
                                    <p:anim calcmode="lin" valueType="num">
                                      <p:cBhvr>
                                        <p:cTn id="15" dur="1000" fill="hold"/>
                                        <p:tgtEl>
                                          <p:spTgt spid="16"/>
                                        </p:tgtEl>
                                        <p:attrNameLst>
                                          <p:attrName>ppt_x</p:attrName>
                                        </p:attrNameLst>
                                      </p:cBhvr>
                                      <p:tavLst>
                                        <p:tav tm="0">
                                          <p:val>
                                            <p:strVal val="#ppt_x"/>
                                          </p:val>
                                        </p:tav>
                                        <p:tav tm="100000">
                                          <p:val>
                                            <p:strVal val="#ppt_x"/>
                                          </p:val>
                                        </p:tav>
                                      </p:tavLst>
                                    </p:anim>
                                    <p:anim calcmode="lin" valueType="num">
                                      <p:cBhvr>
                                        <p:cTn id="16" dur="1000" fill="hold"/>
                                        <p:tgtEl>
                                          <p:spTgt spid="16"/>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nodePh="1">
                                  <p:stCondLst>
                                    <p:cond delay="0"/>
                                  </p:stCondLst>
                                  <p:endCondLst>
                                    <p:cond evt="begin" delay="0">
                                      <p:tn val="17"/>
                                    </p:cond>
                                  </p:endCondLst>
                                  <p:childTnLst>
                                    <p:set>
                                      <p:cBhvr>
                                        <p:cTn id="18" dur="1" fill="hold">
                                          <p:stCondLst>
                                            <p:cond delay="0"/>
                                          </p:stCondLst>
                                        </p:cTn>
                                        <p:tgtEl>
                                          <p:spTgt spid="15"/>
                                        </p:tgtEl>
                                        <p:attrNameLst>
                                          <p:attrName>style.visibility</p:attrName>
                                        </p:attrNameLst>
                                      </p:cBhvr>
                                      <p:to>
                                        <p:strVal val="visible"/>
                                      </p:to>
                                    </p:set>
                                    <p:animEffect transition="in" filter="fade">
                                      <p:cBhvr>
                                        <p:cTn id="19" dur="1000"/>
                                        <p:tgtEl>
                                          <p:spTgt spid="15"/>
                                        </p:tgtEl>
                                      </p:cBhvr>
                                    </p:animEffect>
                                    <p:anim calcmode="lin" valueType="num">
                                      <p:cBhvr>
                                        <p:cTn id="20" dur="1000" fill="hold"/>
                                        <p:tgtEl>
                                          <p:spTgt spid="15"/>
                                        </p:tgtEl>
                                        <p:attrNameLst>
                                          <p:attrName>ppt_x</p:attrName>
                                        </p:attrNameLst>
                                      </p:cBhvr>
                                      <p:tavLst>
                                        <p:tav tm="0">
                                          <p:val>
                                            <p:strVal val="#ppt_x"/>
                                          </p:val>
                                        </p:tav>
                                        <p:tav tm="100000">
                                          <p:val>
                                            <p:strVal val="#ppt_x"/>
                                          </p:val>
                                        </p:tav>
                                      </p:tavLst>
                                    </p:anim>
                                    <p:anim calcmode="lin" valueType="num">
                                      <p:cBhvr>
                                        <p:cTn id="21" dur="1000" fill="hold"/>
                                        <p:tgtEl>
                                          <p:spTgt spid="1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wipe(down)">
                                      <p:cBhvr>
                                        <p:cTn id="36" dur="5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down)">
                                      <p:cBhvr>
                                        <p:cTn id="41" dur="500"/>
                                        <p:tgtEl>
                                          <p:spTgt spid="9"/>
                                        </p:tgtEl>
                                      </p:cBhvr>
                                    </p:animEffect>
                                  </p:childTnLst>
                                </p:cTn>
                              </p:par>
                            </p:childTnLst>
                          </p:cTn>
                        </p:par>
                      </p:childTnLst>
                    </p:cTn>
                  </p:par>
                  <p:par>
                    <p:cTn id="42" fill="hold">
                      <p:stCondLst>
                        <p:cond delay="indefinite"/>
                      </p:stCondLst>
                      <p:childTnLst>
                        <p:par>
                          <p:cTn id="43" fill="hold">
                            <p:stCondLst>
                              <p:cond delay="0"/>
                            </p:stCondLst>
                            <p:childTnLst>
                              <p:par>
                                <p:cTn id="44" presetID="16" presetClass="entr" presetSubtype="21" fill="hold" grpId="0"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barn(inVertical)">
                                      <p:cBhvr>
                                        <p:cTn id="46" dur="500"/>
                                        <p:tgtEl>
                                          <p:spTgt spid="6"/>
                                        </p:tgtEl>
                                      </p:cBhvr>
                                    </p:animEffect>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barn(inVertical)">
                                      <p:cBhvr>
                                        <p:cTn id="51" dur="500"/>
                                        <p:tgtEl>
                                          <p:spTgt spid="7"/>
                                        </p:tgtEl>
                                      </p:cBhvr>
                                    </p:animEffect>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1000"/>
                                        <p:tgtEl>
                                          <p:spTgt spid="11"/>
                                        </p:tgtEl>
                                      </p:cBhvr>
                                    </p:animEffect>
                                    <p:anim calcmode="lin" valueType="num">
                                      <p:cBhvr>
                                        <p:cTn id="57" dur="1000" fill="hold"/>
                                        <p:tgtEl>
                                          <p:spTgt spid="11"/>
                                        </p:tgtEl>
                                        <p:attrNameLst>
                                          <p:attrName>ppt_x</p:attrName>
                                        </p:attrNameLst>
                                      </p:cBhvr>
                                      <p:tavLst>
                                        <p:tav tm="0">
                                          <p:val>
                                            <p:strVal val="#ppt_x"/>
                                          </p:val>
                                        </p:tav>
                                        <p:tav tm="100000">
                                          <p:val>
                                            <p:strVal val="#ppt_x"/>
                                          </p:val>
                                        </p:tav>
                                      </p:tavLst>
                                    </p:anim>
                                    <p:anim calcmode="lin" valueType="num">
                                      <p:cBhvr>
                                        <p:cTn id="58"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fade">
                                      <p:cBhvr>
                                        <p:cTn id="63" dur="1000"/>
                                        <p:tgtEl>
                                          <p:spTgt spid="12"/>
                                        </p:tgtEl>
                                      </p:cBhvr>
                                    </p:animEffect>
                                    <p:anim calcmode="lin" valueType="num">
                                      <p:cBhvr>
                                        <p:cTn id="64" dur="1000" fill="hold"/>
                                        <p:tgtEl>
                                          <p:spTgt spid="12"/>
                                        </p:tgtEl>
                                        <p:attrNameLst>
                                          <p:attrName>ppt_x</p:attrName>
                                        </p:attrNameLst>
                                      </p:cBhvr>
                                      <p:tavLst>
                                        <p:tav tm="0">
                                          <p:val>
                                            <p:strVal val="#ppt_x"/>
                                          </p:val>
                                        </p:tav>
                                        <p:tav tm="100000">
                                          <p:val>
                                            <p:strVal val="#ppt_x"/>
                                          </p:val>
                                        </p:tav>
                                      </p:tavLst>
                                    </p:anim>
                                    <p:anim calcmode="lin" valueType="num">
                                      <p:cBhvr>
                                        <p:cTn id="6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fade">
                                      <p:cBhvr>
                                        <p:cTn id="70" dur="1000"/>
                                        <p:tgtEl>
                                          <p:spTgt spid="13"/>
                                        </p:tgtEl>
                                      </p:cBhvr>
                                    </p:animEffect>
                                    <p:anim calcmode="lin" valueType="num">
                                      <p:cBhvr>
                                        <p:cTn id="71" dur="1000" fill="hold"/>
                                        <p:tgtEl>
                                          <p:spTgt spid="13"/>
                                        </p:tgtEl>
                                        <p:attrNameLst>
                                          <p:attrName>ppt_x</p:attrName>
                                        </p:attrNameLst>
                                      </p:cBhvr>
                                      <p:tavLst>
                                        <p:tav tm="0">
                                          <p:val>
                                            <p:strVal val="#ppt_x"/>
                                          </p:val>
                                        </p:tav>
                                        <p:tav tm="100000">
                                          <p:val>
                                            <p:strVal val="#ppt_x"/>
                                          </p:val>
                                        </p:tav>
                                      </p:tavLst>
                                    </p:anim>
                                    <p:anim calcmode="lin" valueType="num">
                                      <p:cBhvr>
                                        <p:cTn id="7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5" grpId="0"/>
      <p:bldP spid="2" grpId="0" animBg="1"/>
      <p:bldP spid="4" grpId="0"/>
      <p:bldP spid="5" grpId="0"/>
      <p:bldP spid="6" grpId="0"/>
      <p:bldP spid="7" grpId="0"/>
      <p:bldP spid="8" grpId="0"/>
      <p:bldP spid="9" grpId="0" animBg="1"/>
      <p:bldP spid="11" grpId="0"/>
      <p:bldP spid="12" grpId="0"/>
      <p:bldP spid="13"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圆角 27">
            <a:extLst>
              <a:ext uri="{FF2B5EF4-FFF2-40B4-BE49-F238E27FC236}">
                <a16:creationId xmlns:a16="http://schemas.microsoft.com/office/drawing/2014/main" id="{BE883DC0-91F8-4B55-8A66-F15ADE5779C0}"/>
              </a:ext>
            </a:extLst>
          </p:cNvPr>
          <p:cNvSpPr/>
          <p:nvPr/>
        </p:nvSpPr>
        <p:spPr>
          <a:xfrm>
            <a:off x="905894" y="1520426"/>
            <a:ext cx="5322289"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37C083F2-0E99-4519-8938-09940A28B5F0}"/>
              </a:ext>
            </a:extLst>
          </p:cNvPr>
          <p:cNvSpPr/>
          <p:nvPr/>
        </p:nvSpPr>
        <p:spPr>
          <a:xfrm>
            <a:off x="580922" y="520573"/>
            <a:ext cx="312698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二、长期总成本曲线</a:t>
            </a:r>
          </a:p>
        </p:txBody>
      </p:sp>
      <p:sp>
        <p:nvSpPr>
          <p:cNvPr id="4" name="矩形 3"/>
          <p:cNvSpPr/>
          <p:nvPr/>
        </p:nvSpPr>
        <p:spPr>
          <a:xfrm>
            <a:off x="3010758" y="3167657"/>
            <a:ext cx="2540633" cy="923330"/>
          </a:xfrm>
          <a:prstGeom prst="rect">
            <a:avLst/>
          </a:prstGeom>
        </p:spPr>
        <p:txBody>
          <a:bodyPr wrap="square">
            <a:spAutoFit/>
          </a:bodyPr>
          <a:lstStyle/>
          <a:p>
            <a:r>
              <a:rPr lang="en-US" dirty="0">
                <a:latin typeface="微软雅黑" panose="020B0503020204020204" pitchFamily="34" charset="-122"/>
                <a:ea typeface="微软雅黑" panose="020B0503020204020204" pitchFamily="34" charset="-122"/>
              </a:rPr>
              <a:t>长期总成本曲线是各种不同短期总成本曲线中最低那一条的连线</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5" name="矩形 4"/>
          <p:cNvSpPr/>
          <p:nvPr/>
        </p:nvSpPr>
        <p:spPr>
          <a:xfrm>
            <a:off x="2881805" y="4578283"/>
            <a:ext cx="2996556" cy="646331"/>
          </a:xfrm>
          <a:prstGeom prst="rect">
            <a:avLst/>
          </a:prstGeom>
        </p:spPr>
        <p:txBody>
          <a:bodyPr wrap="square">
            <a:spAutoFit/>
          </a:bodyPr>
          <a:lstStyle/>
          <a:p>
            <a:r>
              <a:rPr lang="en-US" dirty="0">
                <a:latin typeface="微软雅黑" panose="020B0503020204020204" pitchFamily="34" charset="-122"/>
                <a:ea typeface="微软雅黑" panose="020B0503020204020204" pitchFamily="34" charset="-122"/>
              </a:rPr>
              <a:t>长期总成本曲线是无数条短期总成本曲线的包络线</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084955AF-1C9D-40E6-AF77-16E919D7DDCC}"/>
              </a:ext>
            </a:extLst>
          </p:cNvPr>
          <p:cNvSpPr/>
          <p:nvPr/>
        </p:nvSpPr>
        <p:spPr>
          <a:xfrm>
            <a:off x="1034205" y="1551514"/>
            <a:ext cx="5193979" cy="400110"/>
          </a:xfrm>
          <a:prstGeom prst="rect">
            <a:avLst/>
          </a:prstGeom>
          <a:noFill/>
        </p:spPr>
        <p:txBody>
          <a:bodyPr wrap="square">
            <a:spAutoFit/>
          </a:bodyPr>
          <a:lstStyle/>
          <a:p>
            <a:pPr marL="285750" indent="-285750">
              <a:buFont typeface="Wingdings" panose="05000000000000000000" pitchFamily="2" charset="2"/>
              <a:buChar char="u"/>
            </a:pPr>
            <a:r>
              <a:rPr lang="en-US" sz="2000" dirty="0">
                <a:latin typeface="微软雅黑" panose="020B0503020204020204" pitchFamily="34" charset="-122"/>
                <a:ea typeface="微软雅黑" panose="020B0503020204020204" pitchFamily="34" charset="-122"/>
              </a:rPr>
              <a:t>长期总成本曲线与短期总成本曲线的关系</a:t>
            </a:r>
          </a:p>
        </p:txBody>
      </p:sp>
      <p:grpSp>
        <p:nvGrpSpPr>
          <p:cNvPr id="7" name="组合 6"/>
          <p:cNvGrpSpPr/>
          <p:nvPr/>
        </p:nvGrpSpPr>
        <p:grpSpPr>
          <a:xfrm>
            <a:off x="5868144" y="4005064"/>
            <a:ext cx="2141952" cy="1854438"/>
            <a:chOff x="6444726" y="2641303"/>
            <a:chExt cx="2141952" cy="1854438"/>
          </a:xfrm>
        </p:grpSpPr>
        <p:sp>
          <p:nvSpPr>
            <p:cNvPr id="9" name="Freeform: Shape 16"/>
            <p:cNvSpPr/>
            <p:nvPr/>
          </p:nvSpPr>
          <p:spPr>
            <a:xfrm rot="5400000" flipH="1">
              <a:off x="6507801" y="3304427"/>
              <a:ext cx="145987" cy="251702"/>
            </a:xfrm>
            <a:custGeom>
              <a:avLst/>
              <a:gdLst>
                <a:gd name="connsiteX0" fmla="*/ 194649 w 194649"/>
                <a:gd name="connsiteY0" fmla="*/ 335602 h 335602"/>
                <a:gd name="connsiteX1" fmla="*/ 0 w 194649"/>
                <a:gd name="connsiteY1" fmla="*/ 335602 h 335602"/>
                <a:gd name="connsiteX2" fmla="*/ 0 w 194649"/>
                <a:gd name="connsiteY2" fmla="*/ 0 h 335602"/>
              </a:gdLst>
              <a:ahLst/>
              <a:cxnLst>
                <a:cxn ang="0">
                  <a:pos x="connsiteX0" y="connsiteY0"/>
                </a:cxn>
                <a:cxn ang="0">
                  <a:pos x="connsiteX1" y="connsiteY1"/>
                </a:cxn>
                <a:cxn ang="0">
                  <a:pos x="connsiteX2" y="connsiteY2"/>
                </a:cxn>
              </a:cxnLst>
              <a:rect l="l" t="t" r="r" b="b"/>
              <a:pathLst>
                <a:path w="194649" h="335602">
                  <a:moveTo>
                    <a:pt x="194649" y="335602"/>
                  </a:moveTo>
                  <a:lnTo>
                    <a:pt x="0" y="335602"/>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solidFill>
              </a:endParaRPr>
            </a:p>
          </p:txBody>
        </p:sp>
        <p:sp>
          <p:nvSpPr>
            <p:cNvPr id="10" name="Freeform: Shape 13"/>
            <p:cNvSpPr/>
            <p:nvPr/>
          </p:nvSpPr>
          <p:spPr>
            <a:xfrm rot="5400000" flipH="1">
              <a:off x="6497583" y="3442671"/>
              <a:ext cx="145988" cy="251702"/>
            </a:xfrm>
            <a:custGeom>
              <a:avLst/>
              <a:gdLst>
                <a:gd name="connsiteX0" fmla="*/ 194651 w 194651"/>
                <a:gd name="connsiteY0" fmla="*/ 1 h 335603"/>
                <a:gd name="connsiteX1" fmla="*/ 194651 w 194651"/>
                <a:gd name="connsiteY1" fmla="*/ 335603 h 335603"/>
                <a:gd name="connsiteX2" fmla="*/ 0 w 194651"/>
                <a:gd name="connsiteY2" fmla="*/ 335603 h 335603"/>
                <a:gd name="connsiteX3" fmla="*/ 194650 w 194651"/>
                <a:gd name="connsiteY3" fmla="*/ 0 h 335603"/>
              </a:gdLst>
              <a:ahLst/>
              <a:cxnLst>
                <a:cxn ang="0">
                  <a:pos x="connsiteX0" y="connsiteY0"/>
                </a:cxn>
                <a:cxn ang="0">
                  <a:pos x="connsiteX1" y="connsiteY1"/>
                </a:cxn>
                <a:cxn ang="0">
                  <a:pos x="connsiteX2" y="connsiteY2"/>
                </a:cxn>
                <a:cxn ang="0">
                  <a:pos x="connsiteX3" y="connsiteY3"/>
                </a:cxn>
              </a:cxnLst>
              <a:rect l="l" t="t" r="r" b="b"/>
              <a:pathLst>
                <a:path w="194651" h="335603">
                  <a:moveTo>
                    <a:pt x="194651" y="1"/>
                  </a:moveTo>
                  <a:lnTo>
                    <a:pt x="194651" y="335603"/>
                  </a:lnTo>
                  <a:lnTo>
                    <a:pt x="0" y="335603"/>
                  </a:lnTo>
                  <a:lnTo>
                    <a:pt x="194650" y="0"/>
                  </a:lnTo>
                  <a:close/>
                </a:path>
              </a:pathLst>
            </a:cu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solidFill>
              </a:endParaRPr>
            </a:p>
          </p:txBody>
        </p:sp>
        <p:grpSp>
          <p:nvGrpSpPr>
            <p:cNvPr id="12" name="Group 24"/>
            <p:cNvGrpSpPr/>
            <p:nvPr/>
          </p:nvGrpSpPr>
          <p:grpSpPr>
            <a:xfrm>
              <a:off x="6732240" y="2641303"/>
              <a:ext cx="1854438" cy="1854438"/>
              <a:chOff x="484285" y="1616468"/>
              <a:chExt cx="2472584" cy="2472584"/>
            </a:xfrm>
          </p:grpSpPr>
          <p:sp>
            <p:nvSpPr>
              <p:cNvPr id="17" name="Freeform: Shape 25"/>
              <p:cNvSpPr>
                <a:spLocks/>
              </p:cNvSpPr>
              <p:nvPr/>
            </p:nvSpPr>
            <p:spPr bwMode="auto">
              <a:xfrm rot="4026370">
                <a:off x="484285" y="1616468"/>
                <a:ext cx="2472584" cy="2472584"/>
              </a:xfrm>
              <a:custGeom>
                <a:avLst/>
                <a:gdLst>
                  <a:gd name="T0" fmla="*/ 2147483647 w 2622"/>
                  <a:gd name="T1" fmla="*/ 2147483647 h 2622"/>
                  <a:gd name="T2" fmla="*/ 2147483647 w 2622"/>
                  <a:gd name="T3" fmla="*/ 2147483647 h 2622"/>
                  <a:gd name="T4" fmla="*/ 2147483647 w 2622"/>
                  <a:gd name="T5" fmla="*/ 2147483647 h 2622"/>
                  <a:gd name="T6" fmla="*/ 2147483647 w 2622"/>
                  <a:gd name="T7" fmla="*/ 2147483647 h 2622"/>
                  <a:gd name="T8" fmla="*/ 2147483647 w 2622"/>
                  <a:gd name="T9" fmla="*/ 2147483647 h 2622"/>
                  <a:gd name="T10" fmla="*/ 2147483647 w 2622"/>
                  <a:gd name="T11" fmla="*/ 2147483647 h 2622"/>
                  <a:gd name="T12" fmla="*/ 2147483647 w 2622"/>
                  <a:gd name="T13" fmla="*/ 2147483647 h 2622"/>
                  <a:gd name="T14" fmla="*/ 2147483647 w 2622"/>
                  <a:gd name="T15" fmla="*/ 2147483647 h 2622"/>
                  <a:gd name="T16" fmla="*/ 2147483647 w 2622"/>
                  <a:gd name="T17" fmla="*/ 2147483647 h 2622"/>
                  <a:gd name="T18" fmla="*/ 2147483647 w 2622"/>
                  <a:gd name="T19" fmla="*/ 2147483647 h 2622"/>
                  <a:gd name="T20" fmla="*/ 2147483647 w 2622"/>
                  <a:gd name="T21" fmla="*/ 2147483647 h 2622"/>
                  <a:gd name="T22" fmla="*/ 2147483647 w 2622"/>
                  <a:gd name="T23" fmla="*/ 2147483647 h 2622"/>
                  <a:gd name="T24" fmla="*/ 2147483647 w 2622"/>
                  <a:gd name="T25" fmla="*/ 2147483647 h 2622"/>
                  <a:gd name="T26" fmla="*/ 2147483647 w 2622"/>
                  <a:gd name="T27" fmla="*/ 2147483647 h 2622"/>
                  <a:gd name="T28" fmla="*/ 2147483647 w 2622"/>
                  <a:gd name="T29" fmla="*/ 2147483647 h 2622"/>
                  <a:gd name="T30" fmla="*/ 2147483647 w 2622"/>
                  <a:gd name="T31" fmla="*/ 2147483647 h 2622"/>
                  <a:gd name="T32" fmla="*/ 2147483647 w 2622"/>
                  <a:gd name="T33" fmla="*/ 2147483647 h 2622"/>
                  <a:gd name="T34" fmla="*/ 2147483647 w 2622"/>
                  <a:gd name="T35" fmla="*/ 2147483647 h 2622"/>
                  <a:gd name="T36" fmla="*/ 2147483647 w 2622"/>
                  <a:gd name="T37" fmla="*/ 2147483647 h 2622"/>
                  <a:gd name="T38" fmla="*/ 2147483647 w 2622"/>
                  <a:gd name="T39" fmla="*/ 2147483647 h 2622"/>
                  <a:gd name="T40" fmla="*/ 2147483647 w 2622"/>
                  <a:gd name="T41" fmla="*/ 2147483647 h 2622"/>
                  <a:gd name="T42" fmla="*/ 2147483647 w 2622"/>
                  <a:gd name="T43" fmla="*/ 2147483647 h 2622"/>
                  <a:gd name="T44" fmla="*/ 2147483647 w 2622"/>
                  <a:gd name="T45" fmla="*/ 2147483647 h 2622"/>
                  <a:gd name="T46" fmla="*/ 2147483647 w 2622"/>
                  <a:gd name="T47" fmla="*/ 2147483647 h 2622"/>
                  <a:gd name="T48" fmla="*/ 2147483647 w 2622"/>
                  <a:gd name="T49" fmla="*/ 2147483647 h 2622"/>
                  <a:gd name="T50" fmla="*/ 2147483647 w 2622"/>
                  <a:gd name="T51" fmla="*/ 2147483647 h 2622"/>
                  <a:gd name="T52" fmla="*/ 2147483647 w 2622"/>
                  <a:gd name="T53" fmla="*/ 2147483647 h 2622"/>
                  <a:gd name="T54" fmla="*/ 2147483647 w 2622"/>
                  <a:gd name="T55" fmla="*/ 2147483647 h 2622"/>
                  <a:gd name="T56" fmla="*/ 2147483647 w 2622"/>
                  <a:gd name="T57" fmla="*/ 2147483647 h 2622"/>
                  <a:gd name="T58" fmla="*/ 2147483647 w 2622"/>
                  <a:gd name="T59" fmla="*/ 2147483647 h 2622"/>
                  <a:gd name="T60" fmla="*/ 2147483647 w 2622"/>
                  <a:gd name="T61" fmla="*/ 2147483647 h 2622"/>
                  <a:gd name="T62" fmla="*/ 2147483647 w 2622"/>
                  <a:gd name="T63" fmla="*/ 2147483647 h 2622"/>
                  <a:gd name="T64" fmla="*/ 2147483647 w 2622"/>
                  <a:gd name="T65" fmla="*/ 2147483647 h 2622"/>
                  <a:gd name="T66" fmla="*/ 2147483647 w 2622"/>
                  <a:gd name="T67" fmla="*/ 2147483647 h 2622"/>
                  <a:gd name="T68" fmla="*/ 2147483647 w 2622"/>
                  <a:gd name="T69" fmla="*/ 2147483647 h 2622"/>
                  <a:gd name="T70" fmla="*/ 2147483647 w 2622"/>
                  <a:gd name="T71" fmla="*/ 2147483647 h 2622"/>
                  <a:gd name="T72" fmla="*/ 2147483647 w 2622"/>
                  <a:gd name="T73" fmla="*/ 2147483647 h 2622"/>
                  <a:gd name="T74" fmla="*/ 2147483647 w 2622"/>
                  <a:gd name="T75" fmla="*/ 2147483647 h 2622"/>
                  <a:gd name="T76" fmla="*/ 2147483647 w 2622"/>
                  <a:gd name="T77" fmla="*/ 2147483647 h 2622"/>
                  <a:gd name="T78" fmla="*/ 2147483647 w 2622"/>
                  <a:gd name="T79" fmla="*/ 2147483647 h 2622"/>
                  <a:gd name="T80" fmla="*/ 2147483647 w 2622"/>
                  <a:gd name="T81" fmla="*/ 2147483647 h 2622"/>
                  <a:gd name="T82" fmla="*/ 2147483647 w 2622"/>
                  <a:gd name="T83" fmla="*/ 2147483647 h 2622"/>
                  <a:gd name="T84" fmla="*/ 2147483647 w 2622"/>
                  <a:gd name="T85" fmla="*/ 2147483647 h 2622"/>
                  <a:gd name="T86" fmla="*/ 2147483647 w 2622"/>
                  <a:gd name="T87" fmla="*/ 2147483647 h 2622"/>
                  <a:gd name="T88" fmla="*/ 2147483647 w 2622"/>
                  <a:gd name="T89" fmla="*/ 2147483647 h 2622"/>
                  <a:gd name="T90" fmla="*/ 2147483647 w 2622"/>
                  <a:gd name="T91" fmla="*/ 2147483647 h 2622"/>
                  <a:gd name="T92" fmla="*/ 2147483647 w 2622"/>
                  <a:gd name="T93" fmla="*/ 2147483647 h 2622"/>
                  <a:gd name="T94" fmla="*/ 2147483647 w 2622"/>
                  <a:gd name="T95" fmla="*/ 2147483647 h 2622"/>
                  <a:gd name="T96" fmla="*/ 2147483647 w 2622"/>
                  <a:gd name="T97" fmla="*/ 2147483647 h 2622"/>
                  <a:gd name="T98" fmla="*/ 2147483647 w 2622"/>
                  <a:gd name="T99" fmla="*/ 2147483647 h 2622"/>
                  <a:gd name="T100" fmla="*/ 2147483647 w 2622"/>
                  <a:gd name="T101" fmla="*/ 2147483647 h 2622"/>
                  <a:gd name="T102" fmla="*/ 2147483647 w 2622"/>
                  <a:gd name="T103" fmla="*/ 2147483647 h 2622"/>
                  <a:gd name="T104" fmla="*/ 2147483647 w 2622"/>
                  <a:gd name="T105" fmla="*/ 2147483647 h 2622"/>
                  <a:gd name="T106" fmla="*/ 2147483647 w 2622"/>
                  <a:gd name="T107" fmla="*/ 2147483647 h 26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622"/>
                  <a:gd name="T163" fmla="*/ 0 h 2622"/>
                  <a:gd name="T164" fmla="*/ 2622 w 2622"/>
                  <a:gd name="T165" fmla="*/ 2622 h 26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622" h="2622">
                    <a:moveTo>
                      <a:pt x="2622" y="1382"/>
                    </a:moveTo>
                    <a:lnTo>
                      <a:pt x="2622" y="1240"/>
                    </a:lnTo>
                    <a:lnTo>
                      <a:pt x="2520" y="1240"/>
                    </a:lnTo>
                    <a:lnTo>
                      <a:pt x="2516" y="1196"/>
                    </a:lnTo>
                    <a:lnTo>
                      <a:pt x="2512" y="1152"/>
                    </a:lnTo>
                    <a:lnTo>
                      <a:pt x="2506" y="1110"/>
                    </a:lnTo>
                    <a:lnTo>
                      <a:pt x="2498" y="1068"/>
                    </a:lnTo>
                    <a:lnTo>
                      <a:pt x="2596" y="1040"/>
                    </a:lnTo>
                    <a:lnTo>
                      <a:pt x="2560" y="904"/>
                    </a:lnTo>
                    <a:lnTo>
                      <a:pt x="2460" y="930"/>
                    </a:lnTo>
                    <a:lnTo>
                      <a:pt x="2446" y="888"/>
                    </a:lnTo>
                    <a:lnTo>
                      <a:pt x="2430" y="848"/>
                    </a:lnTo>
                    <a:lnTo>
                      <a:pt x="2412" y="808"/>
                    </a:lnTo>
                    <a:lnTo>
                      <a:pt x="2394" y="768"/>
                    </a:lnTo>
                    <a:lnTo>
                      <a:pt x="2482" y="718"/>
                    </a:lnTo>
                    <a:lnTo>
                      <a:pt x="2412" y="594"/>
                    </a:lnTo>
                    <a:lnTo>
                      <a:pt x="2322" y="646"/>
                    </a:lnTo>
                    <a:lnTo>
                      <a:pt x="2298" y="610"/>
                    </a:lnTo>
                    <a:lnTo>
                      <a:pt x="2272" y="574"/>
                    </a:lnTo>
                    <a:lnTo>
                      <a:pt x="2244" y="540"/>
                    </a:lnTo>
                    <a:lnTo>
                      <a:pt x="2216" y="508"/>
                    </a:lnTo>
                    <a:lnTo>
                      <a:pt x="2290" y="434"/>
                    </a:lnTo>
                    <a:lnTo>
                      <a:pt x="2188" y="334"/>
                    </a:lnTo>
                    <a:lnTo>
                      <a:pt x="2116" y="406"/>
                    </a:lnTo>
                    <a:lnTo>
                      <a:pt x="2082" y="378"/>
                    </a:lnTo>
                    <a:lnTo>
                      <a:pt x="2048" y="352"/>
                    </a:lnTo>
                    <a:lnTo>
                      <a:pt x="2014" y="326"/>
                    </a:lnTo>
                    <a:lnTo>
                      <a:pt x="1978" y="300"/>
                    </a:lnTo>
                    <a:lnTo>
                      <a:pt x="2028" y="212"/>
                    </a:lnTo>
                    <a:lnTo>
                      <a:pt x="1906" y="140"/>
                    </a:lnTo>
                    <a:lnTo>
                      <a:pt x="1854" y="230"/>
                    </a:lnTo>
                    <a:lnTo>
                      <a:pt x="1816" y="210"/>
                    </a:lnTo>
                    <a:lnTo>
                      <a:pt x="1776" y="194"/>
                    </a:lnTo>
                    <a:lnTo>
                      <a:pt x="1734" y="178"/>
                    </a:lnTo>
                    <a:lnTo>
                      <a:pt x="1694" y="162"/>
                    </a:lnTo>
                    <a:lnTo>
                      <a:pt x="1720" y="64"/>
                    </a:lnTo>
                    <a:lnTo>
                      <a:pt x="1582" y="26"/>
                    </a:lnTo>
                    <a:lnTo>
                      <a:pt x="1556" y="126"/>
                    </a:lnTo>
                    <a:lnTo>
                      <a:pt x="1514" y="118"/>
                    </a:lnTo>
                    <a:lnTo>
                      <a:pt x="1470" y="112"/>
                    </a:lnTo>
                    <a:lnTo>
                      <a:pt x="1426" y="106"/>
                    </a:lnTo>
                    <a:lnTo>
                      <a:pt x="1382" y="104"/>
                    </a:lnTo>
                    <a:lnTo>
                      <a:pt x="1382" y="0"/>
                    </a:lnTo>
                    <a:lnTo>
                      <a:pt x="1240" y="0"/>
                    </a:lnTo>
                    <a:lnTo>
                      <a:pt x="1240" y="104"/>
                    </a:lnTo>
                    <a:lnTo>
                      <a:pt x="1196" y="106"/>
                    </a:lnTo>
                    <a:lnTo>
                      <a:pt x="1154" y="112"/>
                    </a:lnTo>
                    <a:lnTo>
                      <a:pt x="1110" y="118"/>
                    </a:lnTo>
                    <a:lnTo>
                      <a:pt x="1068" y="126"/>
                    </a:lnTo>
                    <a:lnTo>
                      <a:pt x="1042" y="26"/>
                    </a:lnTo>
                    <a:lnTo>
                      <a:pt x="904" y="64"/>
                    </a:lnTo>
                    <a:lnTo>
                      <a:pt x="930" y="162"/>
                    </a:lnTo>
                    <a:lnTo>
                      <a:pt x="890" y="178"/>
                    </a:lnTo>
                    <a:lnTo>
                      <a:pt x="848" y="194"/>
                    </a:lnTo>
                    <a:lnTo>
                      <a:pt x="808" y="210"/>
                    </a:lnTo>
                    <a:lnTo>
                      <a:pt x="770" y="230"/>
                    </a:lnTo>
                    <a:lnTo>
                      <a:pt x="718" y="140"/>
                    </a:lnTo>
                    <a:lnTo>
                      <a:pt x="594" y="212"/>
                    </a:lnTo>
                    <a:lnTo>
                      <a:pt x="646" y="300"/>
                    </a:lnTo>
                    <a:lnTo>
                      <a:pt x="610" y="326"/>
                    </a:lnTo>
                    <a:lnTo>
                      <a:pt x="576" y="352"/>
                    </a:lnTo>
                    <a:lnTo>
                      <a:pt x="542" y="378"/>
                    </a:lnTo>
                    <a:lnTo>
                      <a:pt x="508" y="406"/>
                    </a:lnTo>
                    <a:lnTo>
                      <a:pt x="436" y="334"/>
                    </a:lnTo>
                    <a:lnTo>
                      <a:pt x="334" y="434"/>
                    </a:lnTo>
                    <a:lnTo>
                      <a:pt x="408" y="508"/>
                    </a:lnTo>
                    <a:lnTo>
                      <a:pt x="378" y="540"/>
                    </a:lnTo>
                    <a:lnTo>
                      <a:pt x="352" y="574"/>
                    </a:lnTo>
                    <a:lnTo>
                      <a:pt x="326" y="610"/>
                    </a:lnTo>
                    <a:lnTo>
                      <a:pt x="302" y="646"/>
                    </a:lnTo>
                    <a:lnTo>
                      <a:pt x="212" y="594"/>
                    </a:lnTo>
                    <a:lnTo>
                      <a:pt x="140" y="718"/>
                    </a:lnTo>
                    <a:lnTo>
                      <a:pt x="230" y="768"/>
                    </a:lnTo>
                    <a:lnTo>
                      <a:pt x="212" y="808"/>
                    </a:lnTo>
                    <a:lnTo>
                      <a:pt x="194" y="848"/>
                    </a:lnTo>
                    <a:lnTo>
                      <a:pt x="178" y="888"/>
                    </a:lnTo>
                    <a:lnTo>
                      <a:pt x="164" y="930"/>
                    </a:lnTo>
                    <a:lnTo>
                      <a:pt x="64" y="904"/>
                    </a:lnTo>
                    <a:lnTo>
                      <a:pt x="26" y="1040"/>
                    </a:lnTo>
                    <a:lnTo>
                      <a:pt x="126" y="1068"/>
                    </a:lnTo>
                    <a:lnTo>
                      <a:pt x="118" y="1110"/>
                    </a:lnTo>
                    <a:lnTo>
                      <a:pt x="112" y="1152"/>
                    </a:lnTo>
                    <a:lnTo>
                      <a:pt x="108" y="1196"/>
                    </a:lnTo>
                    <a:lnTo>
                      <a:pt x="104" y="1240"/>
                    </a:lnTo>
                    <a:lnTo>
                      <a:pt x="0" y="1240"/>
                    </a:lnTo>
                    <a:lnTo>
                      <a:pt x="0" y="1382"/>
                    </a:lnTo>
                    <a:lnTo>
                      <a:pt x="104" y="1382"/>
                    </a:lnTo>
                    <a:lnTo>
                      <a:pt x="108" y="1426"/>
                    </a:lnTo>
                    <a:lnTo>
                      <a:pt x="112" y="1470"/>
                    </a:lnTo>
                    <a:lnTo>
                      <a:pt x="118" y="1512"/>
                    </a:lnTo>
                    <a:lnTo>
                      <a:pt x="126" y="1556"/>
                    </a:lnTo>
                    <a:lnTo>
                      <a:pt x="26" y="1582"/>
                    </a:lnTo>
                    <a:lnTo>
                      <a:pt x="64" y="1720"/>
                    </a:lnTo>
                    <a:lnTo>
                      <a:pt x="164" y="1692"/>
                    </a:lnTo>
                    <a:lnTo>
                      <a:pt x="178" y="1734"/>
                    </a:lnTo>
                    <a:lnTo>
                      <a:pt x="194" y="1774"/>
                    </a:lnTo>
                    <a:lnTo>
                      <a:pt x="212" y="1814"/>
                    </a:lnTo>
                    <a:lnTo>
                      <a:pt x="230" y="1854"/>
                    </a:lnTo>
                    <a:lnTo>
                      <a:pt x="140" y="1906"/>
                    </a:lnTo>
                    <a:lnTo>
                      <a:pt x="212" y="2028"/>
                    </a:lnTo>
                    <a:lnTo>
                      <a:pt x="302" y="1978"/>
                    </a:lnTo>
                    <a:lnTo>
                      <a:pt x="326" y="2014"/>
                    </a:lnTo>
                    <a:lnTo>
                      <a:pt x="352" y="2048"/>
                    </a:lnTo>
                    <a:lnTo>
                      <a:pt x="378" y="2082"/>
                    </a:lnTo>
                    <a:lnTo>
                      <a:pt x="408" y="2116"/>
                    </a:lnTo>
                    <a:lnTo>
                      <a:pt x="334" y="2188"/>
                    </a:lnTo>
                    <a:lnTo>
                      <a:pt x="436" y="2288"/>
                    </a:lnTo>
                    <a:lnTo>
                      <a:pt x="508" y="2216"/>
                    </a:lnTo>
                    <a:lnTo>
                      <a:pt x="542" y="2244"/>
                    </a:lnTo>
                    <a:lnTo>
                      <a:pt x="576" y="2272"/>
                    </a:lnTo>
                    <a:lnTo>
                      <a:pt x="610" y="2298"/>
                    </a:lnTo>
                    <a:lnTo>
                      <a:pt x="646" y="2322"/>
                    </a:lnTo>
                    <a:lnTo>
                      <a:pt x="594" y="2412"/>
                    </a:lnTo>
                    <a:lnTo>
                      <a:pt x="718" y="2482"/>
                    </a:lnTo>
                    <a:lnTo>
                      <a:pt x="770" y="2394"/>
                    </a:lnTo>
                    <a:lnTo>
                      <a:pt x="808" y="2412"/>
                    </a:lnTo>
                    <a:lnTo>
                      <a:pt x="848" y="2430"/>
                    </a:lnTo>
                    <a:lnTo>
                      <a:pt x="890" y="2446"/>
                    </a:lnTo>
                    <a:lnTo>
                      <a:pt x="930" y="2460"/>
                    </a:lnTo>
                    <a:lnTo>
                      <a:pt x="904" y="2560"/>
                    </a:lnTo>
                    <a:lnTo>
                      <a:pt x="1042" y="2596"/>
                    </a:lnTo>
                    <a:lnTo>
                      <a:pt x="1068" y="2498"/>
                    </a:lnTo>
                    <a:lnTo>
                      <a:pt x="1110" y="2504"/>
                    </a:lnTo>
                    <a:lnTo>
                      <a:pt x="1154" y="2512"/>
                    </a:lnTo>
                    <a:lnTo>
                      <a:pt x="1196" y="2516"/>
                    </a:lnTo>
                    <a:lnTo>
                      <a:pt x="1240" y="2520"/>
                    </a:lnTo>
                    <a:lnTo>
                      <a:pt x="1240" y="2622"/>
                    </a:lnTo>
                    <a:lnTo>
                      <a:pt x="1382" y="2622"/>
                    </a:lnTo>
                    <a:lnTo>
                      <a:pt x="1382" y="2520"/>
                    </a:lnTo>
                    <a:lnTo>
                      <a:pt x="1426" y="2516"/>
                    </a:lnTo>
                    <a:lnTo>
                      <a:pt x="1470" y="2512"/>
                    </a:lnTo>
                    <a:lnTo>
                      <a:pt x="1514" y="2504"/>
                    </a:lnTo>
                    <a:lnTo>
                      <a:pt x="1556" y="2498"/>
                    </a:lnTo>
                    <a:lnTo>
                      <a:pt x="1582" y="2596"/>
                    </a:lnTo>
                    <a:lnTo>
                      <a:pt x="1720" y="2560"/>
                    </a:lnTo>
                    <a:lnTo>
                      <a:pt x="1694" y="2460"/>
                    </a:lnTo>
                    <a:lnTo>
                      <a:pt x="1734" y="2446"/>
                    </a:lnTo>
                    <a:lnTo>
                      <a:pt x="1776" y="2430"/>
                    </a:lnTo>
                    <a:lnTo>
                      <a:pt x="1816" y="2412"/>
                    </a:lnTo>
                    <a:lnTo>
                      <a:pt x="1854" y="2394"/>
                    </a:lnTo>
                    <a:lnTo>
                      <a:pt x="1906" y="2482"/>
                    </a:lnTo>
                    <a:lnTo>
                      <a:pt x="2028" y="2412"/>
                    </a:lnTo>
                    <a:lnTo>
                      <a:pt x="1978" y="2322"/>
                    </a:lnTo>
                    <a:lnTo>
                      <a:pt x="2014" y="2298"/>
                    </a:lnTo>
                    <a:lnTo>
                      <a:pt x="2048" y="2272"/>
                    </a:lnTo>
                    <a:lnTo>
                      <a:pt x="2082" y="2244"/>
                    </a:lnTo>
                    <a:lnTo>
                      <a:pt x="2116" y="2216"/>
                    </a:lnTo>
                    <a:lnTo>
                      <a:pt x="2188" y="2288"/>
                    </a:lnTo>
                    <a:lnTo>
                      <a:pt x="2290" y="2188"/>
                    </a:lnTo>
                    <a:lnTo>
                      <a:pt x="2216" y="2116"/>
                    </a:lnTo>
                    <a:lnTo>
                      <a:pt x="2244" y="2082"/>
                    </a:lnTo>
                    <a:lnTo>
                      <a:pt x="2272" y="2048"/>
                    </a:lnTo>
                    <a:lnTo>
                      <a:pt x="2298" y="2014"/>
                    </a:lnTo>
                    <a:lnTo>
                      <a:pt x="2322" y="1978"/>
                    </a:lnTo>
                    <a:lnTo>
                      <a:pt x="2412" y="2028"/>
                    </a:lnTo>
                    <a:lnTo>
                      <a:pt x="2482" y="1906"/>
                    </a:lnTo>
                    <a:lnTo>
                      <a:pt x="2394" y="1854"/>
                    </a:lnTo>
                    <a:lnTo>
                      <a:pt x="2412" y="1814"/>
                    </a:lnTo>
                    <a:lnTo>
                      <a:pt x="2430" y="1774"/>
                    </a:lnTo>
                    <a:lnTo>
                      <a:pt x="2446" y="1734"/>
                    </a:lnTo>
                    <a:lnTo>
                      <a:pt x="2460" y="1692"/>
                    </a:lnTo>
                    <a:lnTo>
                      <a:pt x="2560" y="1720"/>
                    </a:lnTo>
                    <a:lnTo>
                      <a:pt x="2596" y="1582"/>
                    </a:lnTo>
                    <a:lnTo>
                      <a:pt x="2498" y="1556"/>
                    </a:lnTo>
                    <a:lnTo>
                      <a:pt x="2506" y="1512"/>
                    </a:lnTo>
                    <a:lnTo>
                      <a:pt x="2512" y="1470"/>
                    </a:lnTo>
                    <a:lnTo>
                      <a:pt x="2516" y="1426"/>
                    </a:lnTo>
                    <a:lnTo>
                      <a:pt x="2520" y="1382"/>
                    </a:lnTo>
                    <a:lnTo>
                      <a:pt x="2622" y="1382"/>
                    </a:lnTo>
                    <a:close/>
                    <a:moveTo>
                      <a:pt x="1312" y="2420"/>
                    </a:moveTo>
                    <a:lnTo>
                      <a:pt x="1312" y="2420"/>
                    </a:lnTo>
                    <a:lnTo>
                      <a:pt x="1254" y="2420"/>
                    </a:lnTo>
                    <a:lnTo>
                      <a:pt x="1198" y="2416"/>
                    </a:lnTo>
                    <a:lnTo>
                      <a:pt x="1142" y="2408"/>
                    </a:lnTo>
                    <a:lnTo>
                      <a:pt x="1088" y="2398"/>
                    </a:lnTo>
                    <a:lnTo>
                      <a:pt x="1034" y="2386"/>
                    </a:lnTo>
                    <a:lnTo>
                      <a:pt x="982" y="2370"/>
                    </a:lnTo>
                    <a:lnTo>
                      <a:pt x="930" y="2354"/>
                    </a:lnTo>
                    <a:lnTo>
                      <a:pt x="880" y="2334"/>
                    </a:lnTo>
                    <a:lnTo>
                      <a:pt x="830" y="2312"/>
                    </a:lnTo>
                    <a:lnTo>
                      <a:pt x="782" y="2286"/>
                    </a:lnTo>
                    <a:lnTo>
                      <a:pt x="736" y="2260"/>
                    </a:lnTo>
                    <a:lnTo>
                      <a:pt x="692" y="2232"/>
                    </a:lnTo>
                    <a:lnTo>
                      <a:pt x="648" y="2200"/>
                    </a:lnTo>
                    <a:lnTo>
                      <a:pt x="606" y="2168"/>
                    </a:lnTo>
                    <a:lnTo>
                      <a:pt x="566" y="2132"/>
                    </a:lnTo>
                    <a:lnTo>
                      <a:pt x="528" y="2096"/>
                    </a:lnTo>
                    <a:lnTo>
                      <a:pt x="490" y="2058"/>
                    </a:lnTo>
                    <a:lnTo>
                      <a:pt x="456" y="2018"/>
                    </a:lnTo>
                    <a:lnTo>
                      <a:pt x="422" y="1976"/>
                    </a:lnTo>
                    <a:lnTo>
                      <a:pt x="392" y="1932"/>
                    </a:lnTo>
                    <a:lnTo>
                      <a:pt x="362" y="1886"/>
                    </a:lnTo>
                    <a:lnTo>
                      <a:pt x="336" y="1840"/>
                    </a:lnTo>
                    <a:lnTo>
                      <a:pt x="312" y="1792"/>
                    </a:lnTo>
                    <a:lnTo>
                      <a:pt x="290" y="1744"/>
                    </a:lnTo>
                    <a:lnTo>
                      <a:pt x="270" y="1692"/>
                    </a:lnTo>
                    <a:lnTo>
                      <a:pt x="252" y="1642"/>
                    </a:lnTo>
                    <a:lnTo>
                      <a:pt x="238" y="1588"/>
                    </a:lnTo>
                    <a:lnTo>
                      <a:pt x="224" y="1534"/>
                    </a:lnTo>
                    <a:lnTo>
                      <a:pt x="216" y="1480"/>
                    </a:lnTo>
                    <a:lnTo>
                      <a:pt x="208" y="1424"/>
                    </a:lnTo>
                    <a:lnTo>
                      <a:pt x="204" y="1368"/>
                    </a:lnTo>
                    <a:lnTo>
                      <a:pt x="202" y="1312"/>
                    </a:lnTo>
                    <a:lnTo>
                      <a:pt x="204" y="1254"/>
                    </a:lnTo>
                    <a:lnTo>
                      <a:pt x="208" y="1198"/>
                    </a:lnTo>
                    <a:lnTo>
                      <a:pt x="216" y="1142"/>
                    </a:lnTo>
                    <a:lnTo>
                      <a:pt x="224" y="1088"/>
                    </a:lnTo>
                    <a:lnTo>
                      <a:pt x="238" y="1034"/>
                    </a:lnTo>
                    <a:lnTo>
                      <a:pt x="252" y="982"/>
                    </a:lnTo>
                    <a:lnTo>
                      <a:pt x="270" y="930"/>
                    </a:lnTo>
                    <a:lnTo>
                      <a:pt x="290" y="880"/>
                    </a:lnTo>
                    <a:lnTo>
                      <a:pt x="312" y="830"/>
                    </a:lnTo>
                    <a:lnTo>
                      <a:pt x="336" y="782"/>
                    </a:lnTo>
                    <a:lnTo>
                      <a:pt x="362" y="736"/>
                    </a:lnTo>
                    <a:lnTo>
                      <a:pt x="392" y="692"/>
                    </a:lnTo>
                    <a:lnTo>
                      <a:pt x="422" y="648"/>
                    </a:lnTo>
                    <a:lnTo>
                      <a:pt x="456" y="606"/>
                    </a:lnTo>
                    <a:lnTo>
                      <a:pt x="490" y="566"/>
                    </a:lnTo>
                    <a:lnTo>
                      <a:pt x="528" y="526"/>
                    </a:lnTo>
                    <a:lnTo>
                      <a:pt x="566" y="490"/>
                    </a:lnTo>
                    <a:lnTo>
                      <a:pt x="606" y="456"/>
                    </a:lnTo>
                    <a:lnTo>
                      <a:pt x="648" y="422"/>
                    </a:lnTo>
                    <a:lnTo>
                      <a:pt x="692" y="392"/>
                    </a:lnTo>
                    <a:lnTo>
                      <a:pt x="736" y="362"/>
                    </a:lnTo>
                    <a:lnTo>
                      <a:pt x="782" y="336"/>
                    </a:lnTo>
                    <a:lnTo>
                      <a:pt x="830" y="312"/>
                    </a:lnTo>
                    <a:lnTo>
                      <a:pt x="880" y="290"/>
                    </a:lnTo>
                    <a:lnTo>
                      <a:pt x="930" y="270"/>
                    </a:lnTo>
                    <a:lnTo>
                      <a:pt x="982" y="252"/>
                    </a:lnTo>
                    <a:lnTo>
                      <a:pt x="1034" y="236"/>
                    </a:lnTo>
                    <a:lnTo>
                      <a:pt x="1088" y="224"/>
                    </a:lnTo>
                    <a:lnTo>
                      <a:pt x="1142" y="214"/>
                    </a:lnTo>
                    <a:lnTo>
                      <a:pt x="1198" y="208"/>
                    </a:lnTo>
                    <a:lnTo>
                      <a:pt x="1254" y="204"/>
                    </a:lnTo>
                    <a:lnTo>
                      <a:pt x="1312" y="202"/>
                    </a:lnTo>
                    <a:lnTo>
                      <a:pt x="1368" y="204"/>
                    </a:lnTo>
                    <a:lnTo>
                      <a:pt x="1426" y="208"/>
                    </a:lnTo>
                    <a:lnTo>
                      <a:pt x="1480" y="214"/>
                    </a:lnTo>
                    <a:lnTo>
                      <a:pt x="1536" y="224"/>
                    </a:lnTo>
                    <a:lnTo>
                      <a:pt x="1588" y="236"/>
                    </a:lnTo>
                    <a:lnTo>
                      <a:pt x="1642" y="252"/>
                    </a:lnTo>
                    <a:lnTo>
                      <a:pt x="1694" y="270"/>
                    </a:lnTo>
                    <a:lnTo>
                      <a:pt x="1744" y="290"/>
                    </a:lnTo>
                    <a:lnTo>
                      <a:pt x="1792" y="312"/>
                    </a:lnTo>
                    <a:lnTo>
                      <a:pt x="1840" y="336"/>
                    </a:lnTo>
                    <a:lnTo>
                      <a:pt x="1886" y="362"/>
                    </a:lnTo>
                    <a:lnTo>
                      <a:pt x="1932" y="392"/>
                    </a:lnTo>
                    <a:lnTo>
                      <a:pt x="1976" y="422"/>
                    </a:lnTo>
                    <a:lnTo>
                      <a:pt x="2018" y="456"/>
                    </a:lnTo>
                    <a:lnTo>
                      <a:pt x="2058" y="490"/>
                    </a:lnTo>
                    <a:lnTo>
                      <a:pt x="2096" y="526"/>
                    </a:lnTo>
                    <a:lnTo>
                      <a:pt x="2132" y="566"/>
                    </a:lnTo>
                    <a:lnTo>
                      <a:pt x="2168" y="606"/>
                    </a:lnTo>
                    <a:lnTo>
                      <a:pt x="2200" y="648"/>
                    </a:lnTo>
                    <a:lnTo>
                      <a:pt x="2232" y="692"/>
                    </a:lnTo>
                    <a:lnTo>
                      <a:pt x="2260" y="736"/>
                    </a:lnTo>
                    <a:lnTo>
                      <a:pt x="2288" y="782"/>
                    </a:lnTo>
                    <a:lnTo>
                      <a:pt x="2312" y="830"/>
                    </a:lnTo>
                    <a:lnTo>
                      <a:pt x="2334" y="880"/>
                    </a:lnTo>
                    <a:lnTo>
                      <a:pt x="2354" y="930"/>
                    </a:lnTo>
                    <a:lnTo>
                      <a:pt x="2372" y="982"/>
                    </a:lnTo>
                    <a:lnTo>
                      <a:pt x="2386" y="1034"/>
                    </a:lnTo>
                    <a:lnTo>
                      <a:pt x="2398" y="1088"/>
                    </a:lnTo>
                    <a:lnTo>
                      <a:pt x="2408" y="1142"/>
                    </a:lnTo>
                    <a:lnTo>
                      <a:pt x="2416" y="1198"/>
                    </a:lnTo>
                    <a:lnTo>
                      <a:pt x="2420" y="1254"/>
                    </a:lnTo>
                    <a:lnTo>
                      <a:pt x="2422" y="1312"/>
                    </a:lnTo>
                    <a:lnTo>
                      <a:pt x="2420" y="1368"/>
                    </a:lnTo>
                    <a:lnTo>
                      <a:pt x="2416" y="1424"/>
                    </a:lnTo>
                    <a:lnTo>
                      <a:pt x="2408" y="1480"/>
                    </a:lnTo>
                    <a:lnTo>
                      <a:pt x="2398" y="1534"/>
                    </a:lnTo>
                    <a:lnTo>
                      <a:pt x="2386" y="1588"/>
                    </a:lnTo>
                    <a:lnTo>
                      <a:pt x="2372" y="1642"/>
                    </a:lnTo>
                    <a:lnTo>
                      <a:pt x="2354" y="1692"/>
                    </a:lnTo>
                    <a:lnTo>
                      <a:pt x="2334" y="1744"/>
                    </a:lnTo>
                    <a:lnTo>
                      <a:pt x="2312" y="1792"/>
                    </a:lnTo>
                    <a:lnTo>
                      <a:pt x="2288" y="1840"/>
                    </a:lnTo>
                    <a:lnTo>
                      <a:pt x="2260" y="1886"/>
                    </a:lnTo>
                    <a:lnTo>
                      <a:pt x="2232" y="1932"/>
                    </a:lnTo>
                    <a:lnTo>
                      <a:pt x="2200" y="1976"/>
                    </a:lnTo>
                    <a:lnTo>
                      <a:pt x="2168" y="2018"/>
                    </a:lnTo>
                    <a:lnTo>
                      <a:pt x="2132" y="2058"/>
                    </a:lnTo>
                    <a:lnTo>
                      <a:pt x="2096" y="2096"/>
                    </a:lnTo>
                    <a:lnTo>
                      <a:pt x="2058" y="2132"/>
                    </a:lnTo>
                    <a:lnTo>
                      <a:pt x="2018" y="2168"/>
                    </a:lnTo>
                    <a:lnTo>
                      <a:pt x="1976" y="2200"/>
                    </a:lnTo>
                    <a:lnTo>
                      <a:pt x="1932" y="2232"/>
                    </a:lnTo>
                    <a:lnTo>
                      <a:pt x="1886" y="2260"/>
                    </a:lnTo>
                    <a:lnTo>
                      <a:pt x="1840" y="2286"/>
                    </a:lnTo>
                    <a:lnTo>
                      <a:pt x="1792" y="2312"/>
                    </a:lnTo>
                    <a:lnTo>
                      <a:pt x="1744" y="2334"/>
                    </a:lnTo>
                    <a:lnTo>
                      <a:pt x="1694" y="2354"/>
                    </a:lnTo>
                    <a:lnTo>
                      <a:pt x="1642" y="2370"/>
                    </a:lnTo>
                    <a:lnTo>
                      <a:pt x="1588" y="2386"/>
                    </a:lnTo>
                    <a:lnTo>
                      <a:pt x="1536" y="2398"/>
                    </a:lnTo>
                    <a:lnTo>
                      <a:pt x="1480" y="2408"/>
                    </a:lnTo>
                    <a:lnTo>
                      <a:pt x="1426" y="2416"/>
                    </a:lnTo>
                    <a:lnTo>
                      <a:pt x="1368" y="2420"/>
                    </a:lnTo>
                    <a:lnTo>
                      <a:pt x="1312" y="2420"/>
                    </a:lnTo>
                    <a:close/>
                  </a:path>
                </a:pathLst>
              </a:custGeom>
              <a:solidFill>
                <a:srgbClr val="AFD9E6"/>
              </a:solidFill>
              <a:ln>
                <a:noFill/>
              </a:ln>
              <a:extLst>
                <a:ext uri="{91240B29-F687-4F45-9708-019B960494DF}">
                  <a14:hiddenLine xmlns:a14="http://schemas.microsoft.com/office/drawing/2010/main" w="19050" cap="rnd">
                    <a:solidFill>
                      <a:srgbClr val="000000"/>
                    </a:solidFill>
                    <a:prstDash val="sysDot"/>
                    <a:round/>
                    <a:headEnd/>
                    <a:tailEnd/>
                  </a14:hiddenLine>
                </a:ext>
              </a:extLst>
            </p:spPr>
            <p:txBody>
              <a:bodyPr anchor="ctr"/>
              <a:lstStyle/>
              <a:p>
                <a:pPr algn="ctr"/>
                <a:endParaRPr/>
              </a:p>
            </p:txBody>
          </p:sp>
          <p:sp>
            <p:nvSpPr>
              <p:cNvPr id="18" name="Oval 26"/>
              <p:cNvSpPr>
                <a:spLocks/>
              </p:cNvSpPr>
              <p:nvPr/>
            </p:nvSpPr>
            <p:spPr bwMode="auto">
              <a:xfrm rot="4026370">
                <a:off x="749260" y="1881297"/>
                <a:ext cx="1943725" cy="1942581"/>
              </a:xfrm>
              <a:prstGeom prst="ellipse">
                <a:avLst/>
              </a:prstGeom>
              <a:solidFill>
                <a:srgbClr val="AFD9E6"/>
              </a:solidFill>
              <a:ln>
                <a:noFill/>
              </a:ln>
              <a:extLst>
                <a:ext uri="{91240B29-F687-4F45-9708-019B960494DF}">
                  <a14:hiddenLine xmlns:a14="http://schemas.microsoft.com/office/drawing/2010/main" w="19050" algn="ctr">
                    <a:solidFill>
                      <a:srgbClr val="000000"/>
                    </a:solidFill>
                    <a:round/>
                    <a:headEnd/>
                    <a:tailEnd/>
                  </a14:hiddenLine>
                </a:ext>
              </a:extLst>
            </p:spPr>
            <p:txBody>
              <a:bodyPr anchor="ctr"/>
              <a:lstStyle/>
              <a:p>
                <a:pPr algn="ctr"/>
                <a:endParaRPr/>
              </a:p>
            </p:txBody>
          </p:sp>
        </p:grpSp>
        <p:sp>
          <p:nvSpPr>
            <p:cNvPr id="13" name="Freeform: Shape 41"/>
            <p:cNvSpPr>
              <a:spLocks/>
            </p:cNvSpPr>
            <p:nvPr/>
          </p:nvSpPr>
          <p:spPr bwMode="auto">
            <a:xfrm>
              <a:off x="7295603" y="3214522"/>
              <a:ext cx="727713" cy="707740"/>
            </a:xfrm>
            <a:custGeom>
              <a:avLst/>
              <a:gdLst>
                <a:gd name="T0" fmla="*/ 580 w 814"/>
                <a:gd name="T1" fmla="*/ 0 h 792"/>
                <a:gd name="T2" fmla="*/ 344 w 814"/>
                <a:gd name="T3" fmla="*/ 168 h 792"/>
                <a:gd name="T4" fmla="*/ 343 w 814"/>
                <a:gd name="T5" fmla="*/ 169 h 792"/>
                <a:gd name="T6" fmla="*/ 87 w 814"/>
                <a:gd name="T7" fmla="*/ 427 h 792"/>
                <a:gd name="T8" fmla="*/ 4 w 814"/>
                <a:gd name="T9" fmla="*/ 680 h 792"/>
                <a:gd name="T10" fmla="*/ 87 w 814"/>
                <a:gd name="T11" fmla="*/ 792 h 792"/>
                <a:gd name="T12" fmla="*/ 325 w 814"/>
                <a:gd name="T13" fmla="*/ 732 h 792"/>
                <a:gd name="T14" fmla="*/ 745 w 814"/>
                <a:gd name="T15" fmla="*/ 326 h 792"/>
                <a:gd name="T16" fmla="*/ 396 w 814"/>
                <a:gd name="T17" fmla="*/ 589 h 792"/>
                <a:gd name="T18" fmla="*/ 613 w 814"/>
                <a:gd name="T19" fmla="*/ 290 h 792"/>
                <a:gd name="T20" fmla="*/ 588 w 814"/>
                <a:gd name="T21" fmla="*/ 414 h 792"/>
                <a:gd name="T22" fmla="*/ 397 w 814"/>
                <a:gd name="T23" fmla="*/ 607 h 792"/>
                <a:gd name="T24" fmla="*/ 366 w 814"/>
                <a:gd name="T25" fmla="*/ 501 h 792"/>
                <a:gd name="T26" fmla="*/ 283 w 814"/>
                <a:gd name="T27" fmla="*/ 422 h 792"/>
                <a:gd name="T28" fmla="*/ 571 w 814"/>
                <a:gd name="T29" fmla="*/ 221 h 792"/>
                <a:gd name="T30" fmla="*/ 366 w 814"/>
                <a:gd name="T31" fmla="*/ 501 h 792"/>
                <a:gd name="T32" fmla="*/ 189 w 814"/>
                <a:gd name="T33" fmla="*/ 395 h 792"/>
                <a:gd name="T34" fmla="*/ 493 w 814"/>
                <a:gd name="T35" fmla="*/ 177 h 792"/>
                <a:gd name="T36" fmla="*/ 103 w 814"/>
                <a:gd name="T37" fmla="*/ 739 h 792"/>
                <a:gd name="T38" fmla="*/ 50 w 814"/>
                <a:gd name="T39" fmla="*/ 705 h 792"/>
                <a:gd name="T40" fmla="*/ 78 w 814"/>
                <a:gd name="T41" fmla="*/ 597 h 792"/>
                <a:gd name="T42" fmla="*/ 195 w 814"/>
                <a:gd name="T43" fmla="*/ 715 h 792"/>
                <a:gd name="T44" fmla="*/ 220 w 814"/>
                <a:gd name="T45" fmla="*/ 709 h 792"/>
                <a:gd name="T46" fmla="*/ 85 w 814"/>
                <a:gd name="T47" fmla="*/ 572 h 792"/>
                <a:gd name="T48" fmla="*/ 119 w 814"/>
                <a:gd name="T49" fmla="*/ 466 h 792"/>
                <a:gd name="T50" fmla="*/ 320 w 814"/>
                <a:gd name="T51" fmla="*/ 681 h 792"/>
                <a:gd name="T52" fmla="*/ 220 w 814"/>
                <a:gd name="T53" fmla="*/ 709 h 792"/>
                <a:gd name="T54" fmla="*/ 668 w 814"/>
                <a:gd name="T55" fmla="*/ 333 h 792"/>
                <a:gd name="T56" fmla="*/ 606 w 814"/>
                <a:gd name="T57" fmla="*/ 186 h 792"/>
                <a:gd name="T58" fmla="*/ 500 w 814"/>
                <a:gd name="T59" fmla="*/ 81 h 792"/>
                <a:gd name="T60" fmla="*/ 693 w 814"/>
                <a:gd name="T61" fmla="*/ 99 h 792"/>
                <a:gd name="T62" fmla="*/ 710 w 814"/>
                <a:gd name="T63" fmla="*/ 291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14" h="792">
                  <a:moveTo>
                    <a:pt x="728" y="64"/>
                  </a:moveTo>
                  <a:cubicBezTo>
                    <a:pt x="687" y="23"/>
                    <a:pt x="633" y="0"/>
                    <a:pt x="580" y="0"/>
                  </a:cubicBezTo>
                  <a:cubicBezTo>
                    <a:pt x="536" y="0"/>
                    <a:pt x="495" y="17"/>
                    <a:pt x="465" y="46"/>
                  </a:cubicBezTo>
                  <a:cubicBezTo>
                    <a:pt x="344" y="168"/>
                    <a:pt x="344" y="168"/>
                    <a:pt x="344" y="168"/>
                  </a:cubicBezTo>
                  <a:cubicBezTo>
                    <a:pt x="344" y="168"/>
                    <a:pt x="344" y="168"/>
                    <a:pt x="343" y="169"/>
                  </a:cubicBezTo>
                  <a:cubicBezTo>
                    <a:pt x="343" y="169"/>
                    <a:pt x="343" y="169"/>
                    <a:pt x="343" y="169"/>
                  </a:cubicBezTo>
                  <a:cubicBezTo>
                    <a:pt x="343" y="169"/>
                    <a:pt x="343" y="169"/>
                    <a:pt x="343" y="169"/>
                  </a:cubicBezTo>
                  <a:cubicBezTo>
                    <a:pt x="87" y="427"/>
                    <a:pt x="87" y="427"/>
                    <a:pt x="87" y="427"/>
                  </a:cubicBezTo>
                  <a:cubicBezTo>
                    <a:pt x="75" y="439"/>
                    <a:pt x="67" y="453"/>
                    <a:pt x="62" y="469"/>
                  </a:cubicBezTo>
                  <a:cubicBezTo>
                    <a:pt x="4" y="680"/>
                    <a:pt x="4" y="680"/>
                    <a:pt x="4" y="680"/>
                  </a:cubicBezTo>
                  <a:cubicBezTo>
                    <a:pt x="4" y="680"/>
                    <a:pt x="0" y="697"/>
                    <a:pt x="0" y="705"/>
                  </a:cubicBezTo>
                  <a:cubicBezTo>
                    <a:pt x="0" y="753"/>
                    <a:pt x="39" y="792"/>
                    <a:pt x="87" y="792"/>
                  </a:cubicBezTo>
                  <a:cubicBezTo>
                    <a:pt x="96" y="792"/>
                    <a:pt x="115" y="787"/>
                    <a:pt x="115" y="787"/>
                  </a:cubicBezTo>
                  <a:cubicBezTo>
                    <a:pt x="325" y="732"/>
                    <a:pt x="325" y="732"/>
                    <a:pt x="325" y="732"/>
                  </a:cubicBezTo>
                  <a:cubicBezTo>
                    <a:pt x="341" y="727"/>
                    <a:pt x="356" y="719"/>
                    <a:pt x="367" y="707"/>
                  </a:cubicBezTo>
                  <a:cubicBezTo>
                    <a:pt x="745" y="326"/>
                    <a:pt x="745" y="326"/>
                    <a:pt x="745" y="326"/>
                  </a:cubicBezTo>
                  <a:cubicBezTo>
                    <a:pt x="814" y="258"/>
                    <a:pt x="806" y="142"/>
                    <a:pt x="728" y="64"/>
                  </a:cubicBezTo>
                  <a:close/>
                  <a:moveTo>
                    <a:pt x="396" y="589"/>
                  </a:moveTo>
                  <a:cubicBezTo>
                    <a:pt x="394" y="567"/>
                    <a:pt x="388" y="545"/>
                    <a:pt x="379" y="524"/>
                  </a:cubicBezTo>
                  <a:cubicBezTo>
                    <a:pt x="613" y="290"/>
                    <a:pt x="613" y="290"/>
                    <a:pt x="613" y="290"/>
                  </a:cubicBezTo>
                  <a:cubicBezTo>
                    <a:pt x="627" y="335"/>
                    <a:pt x="620" y="382"/>
                    <a:pt x="588" y="414"/>
                  </a:cubicBezTo>
                  <a:cubicBezTo>
                    <a:pt x="588" y="414"/>
                    <a:pt x="588" y="414"/>
                    <a:pt x="588" y="414"/>
                  </a:cubicBezTo>
                  <a:cubicBezTo>
                    <a:pt x="588" y="415"/>
                    <a:pt x="588" y="415"/>
                    <a:pt x="588" y="415"/>
                  </a:cubicBezTo>
                  <a:cubicBezTo>
                    <a:pt x="397" y="607"/>
                    <a:pt x="397" y="607"/>
                    <a:pt x="397" y="607"/>
                  </a:cubicBezTo>
                  <a:cubicBezTo>
                    <a:pt x="397" y="601"/>
                    <a:pt x="397" y="595"/>
                    <a:pt x="396" y="589"/>
                  </a:cubicBezTo>
                  <a:close/>
                  <a:moveTo>
                    <a:pt x="366" y="501"/>
                  </a:moveTo>
                  <a:cubicBezTo>
                    <a:pt x="357" y="486"/>
                    <a:pt x="346" y="472"/>
                    <a:pt x="333" y="459"/>
                  </a:cubicBezTo>
                  <a:cubicBezTo>
                    <a:pt x="318" y="443"/>
                    <a:pt x="301" y="432"/>
                    <a:pt x="283" y="422"/>
                  </a:cubicBezTo>
                  <a:cubicBezTo>
                    <a:pt x="519" y="186"/>
                    <a:pt x="519" y="186"/>
                    <a:pt x="519" y="186"/>
                  </a:cubicBezTo>
                  <a:cubicBezTo>
                    <a:pt x="537" y="194"/>
                    <a:pt x="555" y="206"/>
                    <a:pt x="571" y="221"/>
                  </a:cubicBezTo>
                  <a:cubicBezTo>
                    <a:pt x="584" y="235"/>
                    <a:pt x="594" y="250"/>
                    <a:pt x="602" y="265"/>
                  </a:cubicBezTo>
                  <a:lnTo>
                    <a:pt x="366" y="501"/>
                  </a:lnTo>
                  <a:close/>
                  <a:moveTo>
                    <a:pt x="260" y="410"/>
                  </a:moveTo>
                  <a:cubicBezTo>
                    <a:pt x="237" y="401"/>
                    <a:pt x="213" y="395"/>
                    <a:pt x="189" y="395"/>
                  </a:cubicBezTo>
                  <a:cubicBezTo>
                    <a:pt x="379" y="203"/>
                    <a:pt x="379" y="203"/>
                    <a:pt x="379" y="203"/>
                  </a:cubicBezTo>
                  <a:cubicBezTo>
                    <a:pt x="408" y="175"/>
                    <a:pt x="451" y="166"/>
                    <a:pt x="493" y="177"/>
                  </a:cubicBezTo>
                  <a:lnTo>
                    <a:pt x="260" y="410"/>
                  </a:lnTo>
                  <a:close/>
                  <a:moveTo>
                    <a:pt x="103" y="739"/>
                  </a:moveTo>
                  <a:cubicBezTo>
                    <a:pt x="100" y="740"/>
                    <a:pt x="92" y="742"/>
                    <a:pt x="86" y="743"/>
                  </a:cubicBezTo>
                  <a:cubicBezTo>
                    <a:pt x="66" y="742"/>
                    <a:pt x="50" y="726"/>
                    <a:pt x="50" y="705"/>
                  </a:cubicBezTo>
                  <a:cubicBezTo>
                    <a:pt x="50" y="701"/>
                    <a:pt x="51" y="694"/>
                    <a:pt x="52" y="691"/>
                  </a:cubicBezTo>
                  <a:cubicBezTo>
                    <a:pt x="78" y="597"/>
                    <a:pt x="78" y="597"/>
                    <a:pt x="78" y="597"/>
                  </a:cubicBezTo>
                  <a:cubicBezTo>
                    <a:pt x="106" y="596"/>
                    <a:pt x="137" y="607"/>
                    <a:pt x="161" y="631"/>
                  </a:cubicBezTo>
                  <a:cubicBezTo>
                    <a:pt x="185" y="656"/>
                    <a:pt x="196" y="687"/>
                    <a:pt x="195" y="715"/>
                  </a:cubicBezTo>
                  <a:lnTo>
                    <a:pt x="103" y="739"/>
                  </a:lnTo>
                  <a:close/>
                  <a:moveTo>
                    <a:pt x="220" y="709"/>
                  </a:moveTo>
                  <a:cubicBezTo>
                    <a:pt x="219" y="676"/>
                    <a:pt x="206" y="641"/>
                    <a:pt x="178" y="614"/>
                  </a:cubicBezTo>
                  <a:cubicBezTo>
                    <a:pt x="152" y="588"/>
                    <a:pt x="119" y="573"/>
                    <a:pt x="85" y="572"/>
                  </a:cubicBezTo>
                  <a:cubicBezTo>
                    <a:pt x="110" y="482"/>
                    <a:pt x="110" y="482"/>
                    <a:pt x="110" y="482"/>
                  </a:cubicBezTo>
                  <a:cubicBezTo>
                    <a:pt x="111" y="477"/>
                    <a:pt x="115" y="471"/>
                    <a:pt x="119" y="466"/>
                  </a:cubicBezTo>
                  <a:cubicBezTo>
                    <a:pt x="169" y="430"/>
                    <a:pt x="245" y="440"/>
                    <a:pt x="298" y="494"/>
                  </a:cubicBezTo>
                  <a:cubicBezTo>
                    <a:pt x="355" y="550"/>
                    <a:pt x="363" y="632"/>
                    <a:pt x="320" y="681"/>
                  </a:cubicBezTo>
                  <a:cubicBezTo>
                    <a:pt x="317" y="682"/>
                    <a:pt x="314" y="684"/>
                    <a:pt x="311" y="685"/>
                  </a:cubicBezTo>
                  <a:lnTo>
                    <a:pt x="220" y="709"/>
                  </a:lnTo>
                  <a:close/>
                  <a:moveTo>
                    <a:pt x="710" y="291"/>
                  </a:moveTo>
                  <a:cubicBezTo>
                    <a:pt x="668" y="333"/>
                    <a:pt x="668" y="333"/>
                    <a:pt x="668" y="333"/>
                  </a:cubicBezTo>
                  <a:cubicBezTo>
                    <a:pt x="668" y="328"/>
                    <a:pt x="669" y="322"/>
                    <a:pt x="669" y="317"/>
                  </a:cubicBezTo>
                  <a:cubicBezTo>
                    <a:pt x="664" y="269"/>
                    <a:pt x="642" y="223"/>
                    <a:pt x="606" y="186"/>
                  </a:cubicBezTo>
                  <a:cubicBezTo>
                    <a:pt x="565" y="146"/>
                    <a:pt x="512" y="123"/>
                    <a:pt x="459" y="123"/>
                  </a:cubicBezTo>
                  <a:cubicBezTo>
                    <a:pt x="500" y="81"/>
                    <a:pt x="500" y="81"/>
                    <a:pt x="500" y="81"/>
                  </a:cubicBezTo>
                  <a:cubicBezTo>
                    <a:pt x="520" y="61"/>
                    <a:pt x="549" y="50"/>
                    <a:pt x="580" y="50"/>
                  </a:cubicBezTo>
                  <a:cubicBezTo>
                    <a:pt x="620" y="50"/>
                    <a:pt x="661" y="68"/>
                    <a:pt x="693" y="99"/>
                  </a:cubicBezTo>
                  <a:cubicBezTo>
                    <a:pt x="722" y="128"/>
                    <a:pt x="740" y="165"/>
                    <a:pt x="742" y="202"/>
                  </a:cubicBezTo>
                  <a:cubicBezTo>
                    <a:pt x="745" y="237"/>
                    <a:pt x="733" y="268"/>
                    <a:pt x="710" y="291"/>
                  </a:cubicBezTo>
                  <a:close/>
                </a:path>
              </a:pathLst>
            </a:custGeom>
            <a:solidFill>
              <a:schemeClr val="bg1"/>
            </a:solidFill>
            <a:ln>
              <a:noFill/>
            </a:ln>
          </p:spPr>
          <p:txBody>
            <a:bodyPr anchor="ctr"/>
            <a:lstStyle/>
            <a:p>
              <a:pPr algn="ctr"/>
              <a:endParaRPr/>
            </a:p>
          </p:txBody>
        </p:sp>
      </p:grpSp>
      <p:grpSp>
        <p:nvGrpSpPr>
          <p:cNvPr id="19" name="组合 18"/>
          <p:cNvGrpSpPr/>
          <p:nvPr/>
        </p:nvGrpSpPr>
        <p:grpSpPr>
          <a:xfrm>
            <a:off x="830343" y="2612958"/>
            <a:ext cx="2131735" cy="1854438"/>
            <a:chOff x="557322" y="951570"/>
            <a:chExt cx="2131735" cy="1854438"/>
          </a:xfrm>
        </p:grpSpPr>
        <p:sp>
          <p:nvSpPr>
            <p:cNvPr id="21" name="Freeform: Shape 9"/>
            <p:cNvSpPr/>
            <p:nvPr/>
          </p:nvSpPr>
          <p:spPr>
            <a:xfrm rot="16200000">
              <a:off x="2490212" y="1720137"/>
              <a:ext cx="145987" cy="251702"/>
            </a:xfrm>
            <a:custGeom>
              <a:avLst/>
              <a:gdLst>
                <a:gd name="connsiteX0" fmla="*/ 194649 w 194649"/>
                <a:gd name="connsiteY0" fmla="*/ 335602 h 335602"/>
                <a:gd name="connsiteX1" fmla="*/ 0 w 194649"/>
                <a:gd name="connsiteY1" fmla="*/ 335602 h 335602"/>
                <a:gd name="connsiteX2" fmla="*/ 0 w 194649"/>
                <a:gd name="connsiteY2" fmla="*/ 0 h 335602"/>
              </a:gdLst>
              <a:ahLst/>
              <a:cxnLst>
                <a:cxn ang="0">
                  <a:pos x="connsiteX0" y="connsiteY0"/>
                </a:cxn>
                <a:cxn ang="0">
                  <a:pos x="connsiteX1" y="connsiteY1"/>
                </a:cxn>
                <a:cxn ang="0">
                  <a:pos x="connsiteX2" y="connsiteY2"/>
                </a:cxn>
              </a:cxnLst>
              <a:rect l="l" t="t" r="r" b="b"/>
              <a:pathLst>
                <a:path w="194649" h="335602">
                  <a:moveTo>
                    <a:pt x="194649" y="335602"/>
                  </a:moveTo>
                  <a:lnTo>
                    <a:pt x="0" y="335602"/>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solidFill>
              </a:endParaRPr>
            </a:p>
          </p:txBody>
        </p:sp>
        <p:sp>
          <p:nvSpPr>
            <p:cNvPr id="22" name="Freeform: Shape 6"/>
            <p:cNvSpPr/>
            <p:nvPr/>
          </p:nvSpPr>
          <p:spPr>
            <a:xfrm rot="16200000">
              <a:off x="2493229" y="1866927"/>
              <a:ext cx="143773" cy="247883"/>
            </a:xfrm>
            <a:custGeom>
              <a:avLst/>
              <a:gdLst>
                <a:gd name="connsiteX0" fmla="*/ 194651 w 194651"/>
                <a:gd name="connsiteY0" fmla="*/ 1 h 335603"/>
                <a:gd name="connsiteX1" fmla="*/ 194651 w 194651"/>
                <a:gd name="connsiteY1" fmla="*/ 335603 h 335603"/>
                <a:gd name="connsiteX2" fmla="*/ 0 w 194651"/>
                <a:gd name="connsiteY2" fmla="*/ 335603 h 335603"/>
                <a:gd name="connsiteX3" fmla="*/ 194650 w 194651"/>
                <a:gd name="connsiteY3" fmla="*/ 0 h 335603"/>
              </a:gdLst>
              <a:ahLst/>
              <a:cxnLst>
                <a:cxn ang="0">
                  <a:pos x="connsiteX0" y="connsiteY0"/>
                </a:cxn>
                <a:cxn ang="0">
                  <a:pos x="connsiteX1" y="connsiteY1"/>
                </a:cxn>
                <a:cxn ang="0">
                  <a:pos x="connsiteX2" y="connsiteY2"/>
                </a:cxn>
                <a:cxn ang="0">
                  <a:pos x="connsiteX3" y="connsiteY3"/>
                </a:cxn>
              </a:cxnLst>
              <a:rect l="l" t="t" r="r" b="b"/>
              <a:pathLst>
                <a:path w="194651" h="335603">
                  <a:moveTo>
                    <a:pt x="194651" y="1"/>
                  </a:moveTo>
                  <a:lnTo>
                    <a:pt x="194651" y="335603"/>
                  </a:lnTo>
                  <a:lnTo>
                    <a:pt x="0" y="335603"/>
                  </a:lnTo>
                  <a:lnTo>
                    <a:pt x="194650" y="0"/>
                  </a:lnTo>
                  <a:close/>
                </a:path>
              </a:pathLst>
            </a:custGeom>
            <a:solidFill>
              <a:srgbClr val="85B2D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solidFill>
              </a:endParaRPr>
            </a:p>
          </p:txBody>
        </p:sp>
        <p:grpSp>
          <p:nvGrpSpPr>
            <p:cNvPr id="24" name="Group 21"/>
            <p:cNvGrpSpPr/>
            <p:nvPr/>
          </p:nvGrpSpPr>
          <p:grpSpPr>
            <a:xfrm>
              <a:off x="557322" y="951570"/>
              <a:ext cx="1854438" cy="1854438"/>
              <a:chOff x="484285" y="1616468"/>
              <a:chExt cx="2472584" cy="2472584"/>
            </a:xfrm>
          </p:grpSpPr>
          <p:sp>
            <p:nvSpPr>
              <p:cNvPr id="36" name="Freeform: Shape 22"/>
              <p:cNvSpPr>
                <a:spLocks/>
              </p:cNvSpPr>
              <p:nvPr/>
            </p:nvSpPr>
            <p:spPr bwMode="auto">
              <a:xfrm rot="4026370">
                <a:off x="484285" y="1616468"/>
                <a:ext cx="2472584" cy="2472584"/>
              </a:xfrm>
              <a:custGeom>
                <a:avLst/>
                <a:gdLst>
                  <a:gd name="T0" fmla="*/ 2147483647 w 2622"/>
                  <a:gd name="T1" fmla="*/ 2147483647 h 2622"/>
                  <a:gd name="T2" fmla="*/ 2147483647 w 2622"/>
                  <a:gd name="T3" fmla="*/ 2147483647 h 2622"/>
                  <a:gd name="T4" fmla="*/ 2147483647 w 2622"/>
                  <a:gd name="T5" fmla="*/ 2147483647 h 2622"/>
                  <a:gd name="T6" fmla="*/ 2147483647 w 2622"/>
                  <a:gd name="T7" fmla="*/ 2147483647 h 2622"/>
                  <a:gd name="T8" fmla="*/ 2147483647 w 2622"/>
                  <a:gd name="T9" fmla="*/ 2147483647 h 2622"/>
                  <a:gd name="T10" fmla="*/ 2147483647 w 2622"/>
                  <a:gd name="T11" fmla="*/ 2147483647 h 2622"/>
                  <a:gd name="T12" fmla="*/ 2147483647 w 2622"/>
                  <a:gd name="T13" fmla="*/ 2147483647 h 2622"/>
                  <a:gd name="T14" fmla="*/ 2147483647 w 2622"/>
                  <a:gd name="T15" fmla="*/ 2147483647 h 2622"/>
                  <a:gd name="T16" fmla="*/ 2147483647 w 2622"/>
                  <a:gd name="T17" fmla="*/ 2147483647 h 2622"/>
                  <a:gd name="T18" fmla="*/ 2147483647 w 2622"/>
                  <a:gd name="T19" fmla="*/ 2147483647 h 2622"/>
                  <a:gd name="T20" fmla="*/ 2147483647 w 2622"/>
                  <a:gd name="T21" fmla="*/ 2147483647 h 2622"/>
                  <a:gd name="T22" fmla="*/ 2147483647 w 2622"/>
                  <a:gd name="T23" fmla="*/ 2147483647 h 2622"/>
                  <a:gd name="T24" fmla="*/ 2147483647 w 2622"/>
                  <a:gd name="T25" fmla="*/ 2147483647 h 2622"/>
                  <a:gd name="T26" fmla="*/ 2147483647 w 2622"/>
                  <a:gd name="T27" fmla="*/ 2147483647 h 2622"/>
                  <a:gd name="T28" fmla="*/ 2147483647 w 2622"/>
                  <a:gd name="T29" fmla="*/ 2147483647 h 2622"/>
                  <a:gd name="T30" fmla="*/ 2147483647 w 2622"/>
                  <a:gd name="T31" fmla="*/ 2147483647 h 2622"/>
                  <a:gd name="T32" fmla="*/ 2147483647 w 2622"/>
                  <a:gd name="T33" fmla="*/ 2147483647 h 2622"/>
                  <a:gd name="T34" fmla="*/ 2147483647 w 2622"/>
                  <a:gd name="T35" fmla="*/ 2147483647 h 2622"/>
                  <a:gd name="T36" fmla="*/ 2147483647 w 2622"/>
                  <a:gd name="T37" fmla="*/ 2147483647 h 2622"/>
                  <a:gd name="T38" fmla="*/ 2147483647 w 2622"/>
                  <a:gd name="T39" fmla="*/ 2147483647 h 2622"/>
                  <a:gd name="T40" fmla="*/ 2147483647 w 2622"/>
                  <a:gd name="T41" fmla="*/ 2147483647 h 2622"/>
                  <a:gd name="T42" fmla="*/ 2147483647 w 2622"/>
                  <a:gd name="T43" fmla="*/ 2147483647 h 2622"/>
                  <a:gd name="T44" fmla="*/ 2147483647 w 2622"/>
                  <a:gd name="T45" fmla="*/ 2147483647 h 2622"/>
                  <a:gd name="T46" fmla="*/ 2147483647 w 2622"/>
                  <a:gd name="T47" fmla="*/ 2147483647 h 2622"/>
                  <a:gd name="T48" fmla="*/ 2147483647 w 2622"/>
                  <a:gd name="T49" fmla="*/ 2147483647 h 2622"/>
                  <a:gd name="T50" fmla="*/ 2147483647 w 2622"/>
                  <a:gd name="T51" fmla="*/ 2147483647 h 2622"/>
                  <a:gd name="T52" fmla="*/ 2147483647 w 2622"/>
                  <a:gd name="T53" fmla="*/ 2147483647 h 2622"/>
                  <a:gd name="T54" fmla="*/ 2147483647 w 2622"/>
                  <a:gd name="T55" fmla="*/ 2147483647 h 2622"/>
                  <a:gd name="T56" fmla="*/ 2147483647 w 2622"/>
                  <a:gd name="T57" fmla="*/ 2147483647 h 2622"/>
                  <a:gd name="T58" fmla="*/ 2147483647 w 2622"/>
                  <a:gd name="T59" fmla="*/ 2147483647 h 2622"/>
                  <a:gd name="T60" fmla="*/ 2147483647 w 2622"/>
                  <a:gd name="T61" fmla="*/ 2147483647 h 2622"/>
                  <a:gd name="T62" fmla="*/ 2147483647 w 2622"/>
                  <a:gd name="T63" fmla="*/ 2147483647 h 2622"/>
                  <a:gd name="T64" fmla="*/ 2147483647 w 2622"/>
                  <a:gd name="T65" fmla="*/ 2147483647 h 2622"/>
                  <a:gd name="T66" fmla="*/ 2147483647 w 2622"/>
                  <a:gd name="T67" fmla="*/ 2147483647 h 2622"/>
                  <a:gd name="T68" fmla="*/ 2147483647 w 2622"/>
                  <a:gd name="T69" fmla="*/ 2147483647 h 2622"/>
                  <a:gd name="T70" fmla="*/ 2147483647 w 2622"/>
                  <a:gd name="T71" fmla="*/ 2147483647 h 2622"/>
                  <a:gd name="T72" fmla="*/ 2147483647 w 2622"/>
                  <a:gd name="T73" fmla="*/ 2147483647 h 2622"/>
                  <a:gd name="T74" fmla="*/ 2147483647 w 2622"/>
                  <a:gd name="T75" fmla="*/ 2147483647 h 2622"/>
                  <a:gd name="T76" fmla="*/ 2147483647 w 2622"/>
                  <a:gd name="T77" fmla="*/ 2147483647 h 2622"/>
                  <a:gd name="T78" fmla="*/ 2147483647 w 2622"/>
                  <a:gd name="T79" fmla="*/ 2147483647 h 2622"/>
                  <a:gd name="T80" fmla="*/ 2147483647 w 2622"/>
                  <a:gd name="T81" fmla="*/ 2147483647 h 2622"/>
                  <a:gd name="T82" fmla="*/ 2147483647 w 2622"/>
                  <a:gd name="T83" fmla="*/ 2147483647 h 2622"/>
                  <a:gd name="T84" fmla="*/ 2147483647 w 2622"/>
                  <a:gd name="T85" fmla="*/ 2147483647 h 2622"/>
                  <a:gd name="T86" fmla="*/ 2147483647 w 2622"/>
                  <a:gd name="T87" fmla="*/ 2147483647 h 2622"/>
                  <a:gd name="T88" fmla="*/ 2147483647 w 2622"/>
                  <a:gd name="T89" fmla="*/ 2147483647 h 2622"/>
                  <a:gd name="T90" fmla="*/ 2147483647 w 2622"/>
                  <a:gd name="T91" fmla="*/ 2147483647 h 2622"/>
                  <a:gd name="T92" fmla="*/ 2147483647 w 2622"/>
                  <a:gd name="T93" fmla="*/ 2147483647 h 2622"/>
                  <a:gd name="T94" fmla="*/ 2147483647 w 2622"/>
                  <a:gd name="T95" fmla="*/ 2147483647 h 2622"/>
                  <a:gd name="T96" fmla="*/ 2147483647 w 2622"/>
                  <a:gd name="T97" fmla="*/ 2147483647 h 2622"/>
                  <a:gd name="T98" fmla="*/ 2147483647 w 2622"/>
                  <a:gd name="T99" fmla="*/ 2147483647 h 2622"/>
                  <a:gd name="T100" fmla="*/ 2147483647 w 2622"/>
                  <a:gd name="T101" fmla="*/ 2147483647 h 2622"/>
                  <a:gd name="T102" fmla="*/ 2147483647 w 2622"/>
                  <a:gd name="T103" fmla="*/ 2147483647 h 2622"/>
                  <a:gd name="T104" fmla="*/ 2147483647 w 2622"/>
                  <a:gd name="T105" fmla="*/ 2147483647 h 2622"/>
                  <a:gd name="T106" fmla="*/ 2147483647 w 2622"/>
                  <a:gd name="T107" fmla="*/ 2147483647 h 262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622"/>
                  <a:gd name="T163" fmla="*/ 0 h 2622"/>
                  <a:gd name="T164" fmla="*/ 2622 w 2622"/>
                  <a:gd name="T165" fmla="*/ 2622 h 262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622" h="2622">
                    <a:moveTo>
                      <a:pt x="2622" y="1382"/>
                    </a:moveTo>
                    <a:lnTo>
                      <a:pt x="2622" y="1240"/>
                    </a:lnTo>
                    <a:lnTo>
                      <a:pt x="2520" y="1240"/>
                    </a:lnTo>
                    <a:lnTo>
                      <a:pt x="2516" y="1196"/>
                    </a:lnTo>
                    <a:lnTo>
                      <a:pt x="2512" y="1152"/>
                    </a:lnTo>
                    <a:lnTo>
                      <a:pt x="2506" y="1110"/>
                    </a:lnTo>
                    <a:lnTo>
                      <a:pt x="2498" y="1068"/>
                    </a:lnTo>
                    <a:lnTo>
                      <a:pt x="2596" y="1040"/>
                    </a:lnTo>
                    <a:lnTo>
                      <a:pt x="2560" y="904"/>
                    </a:lnTo>
                    <a:lnTo>
                      <a:pt x="2460" y="930"/>
                    </a:lnTo>
                    <a:lnTo>
                      <a:pt x="2446" y="888"/>
                    </a:lnTo>
                    <a:lnTo>
                      <a:pt x="2430" y="848"/>
                    </a:lnTo>
                    <a:lnTo>
                      <a:pt x="2412" y="808"/>
                    </a:lnTo>
                    <a:lnTo>
                      <a:pt x="2394" y="768"/>
                    </a:lnTo>
                    <a:lnTo>
                      <a:pt x="2482" y="718"/>
                    </a:lnTo>
                    <a:lnTo>
                      <a:pt x="2412" y="594"/>
                    </a:lnTo>
                    <a:lnTo>
                      <a:pt x="2322" y="646"/>
                    </a:lnTo>
                    <a:lnTo>
                      <a:pt x="2298" y="610"/>
                    </a:lnTo>
                    <a:lnTo>
                      <a:pt x="2272" y="574"/>
                    </a:lnTo>
                    <a:lnTo>
                      <a:pt x="2244" y="540"/>
                    </a:lnTo>
                    <a:lnTo>
                      <a:pt x="2216" y="508"/>
                    </a:lnTo>
                    <a:lnTo>
                      <a:pt x="2290" y="434"/>
                    </a:lnTo>
                    <a:lnTo>
                      <a:pt x="2188" y="334"/>
                    </a:lnTo>
                    <a:lnTo>
                      <a:pt x="2116" y="406"/>
                    </a:lnTo>
                    <a:lnTo>
                      <a:pt x="2082" y="378"/>
                    </a:lnTo>
                    <a:lnTo>
                      <a:pt x="2048" y="352"/>
                    </a:lnTo>
                    <a:lnTo>
                      <a:pt x="2014" y="326"/>
                    </a:lnTo>
                    <a:lnTo>
                      <a:pt x="1978" y="300"/>
                    </a:lnTo>
                    <a:lnTo>
                      <a:pt x="2028" y="212"/>
                    </a:lnTo>
                    <a:lnTo>
                      <a:pt x="1906" y="140"/>
                    </a:lnTo>
                    <a:lnTo>
                      <a:pt x="1854" y="230"/>
                    </a:lnTo>
                    <a:lnTo>
                      <a:pt x="1816" y="210"/>
                    </a:lnTo>
                    <a:lnTo>
                      <a:pt x="1776" y="194"/>
                    </a:lnTo>
                    <a:lnTo>
                      <a:pt x="1734" y="178"/>
                    </a:lnTo>
                    <a:lnTo>
                      <a:pt x="1694" y="162"/>
                    </a:lnTo>
                    <a:lnTo>
                      <a:pt x="1720" y="64"/>
                    </a:lnTo>
                    <a:lnTo>
                      <a:pt x="1582" y="26"/>
                    </a:lnTo>
                    <a:lnTo>
                      <a:pt x="1556" y="126"/>
                    </a:lnTo>
                    <a:lnTo>
                      <a:pt x="1514" y="118"/>
                    </a:lnTo>
                    <a:lnTo>
                      <a:pt x="1470" y="112"/>
                    </a:lnTo>
                    <a:lnTo>
                      <a:pt x="1426" y="106"/>
                    </a:lnTo>
                    <a:lnTo>
                      <a:pt x="1382" y="104"/>
                    </a:lnTo>
                    <a:lnTo>
                      <a:pt x="1382" y="0"/>
                    </a:lnTo>
                    <a:lnTo>
                      <a:pt x="1240" y="0"/>
                    </a:lnTo>
                    <a:lnTo>
                      <a:pt x="1240" y="104"/>
                    </a:lnTo>
                    <a:lnTo>
                      <a:pt x="1196" y="106"/>
                    </a:lnTo>
                    <a:lnTo>
                      <a:pt x="1154" y="112"/>
                    </a:lnTo>
                    <a:lnTo>
                      <a:pt x="1110" y="118"/>
                    </a:lnTo>
                    <a:lnTo>
                      <a:pt x="1068" y="126"/>
                    </a:lnTo>
                    <a:lnTo>
                      <a:pt x="1042" y="26"/>
                    </a:lnTo>
                    <a:lnTo>
                      <a:pt x="904" y="64"/>
                    </a:lnTo>
                    <a:lnTo>
                      <a:pt x="930" y="162"/>
                    </a:lnTo>
                    <a:lnTo>
                      <a:pt x="890" y="178"/>
                    </a:lnTo>
                    <a:lnTo>
                      <a:pt x="848" y="194"/>
                    </a:lnTo>
                    <a:lnTo>
                      <a:pt x="808" y="210"/>
                    </a:lnTo>
                    <a:lnTo>
                      <a:pt x="770" y="230"/>
                    </a:lnTo>
                    <a:lnTo>
                      <a:pt x="718" y="140"/>
                    </a:lnTo>
                    <a:lnTo>
                      <a:pt x="594" y="212"/>
                    </a:lnTo>
                    <a:lnTo>
                      <a:pt x="646" y="300"/>
                    </a:lnTo>
                    <a:lnTo>
                      <a:pt x="610" y="326"/>
                    </a:lnTo>
                    <a:lnTo>
                      <a:pt x="576" y="352"/>
                    </a:lnTo>
                    <a:lnTo>
                      <a:pt x="542" y="378"/>
                    </a:lnTo>
                    <a:lnTo>
                      <a:pt x="508" y="406"/>
                    </a:lnTo>
                    <a:lnTo>
                      <a:pt x="436" y="334"/>
                    </a:lnTo>
                    <a:lnTo>
                      <a:pt x="334" y="434"/>
                    </a:lnTo>
                    <a:lnTo>
                      <a:pt x="408" y="508"/>
                    </a:lnTo>
                    <a:lnTo>
                      <a:pt x="378" y="540"/>
                    </a:lnTo>
                    <a:lnTo>
                      <a:pt x="352" y="574"/>
                    </a:lnTo>
                    <a:lnTo>
                      <a:pt x="326" y="610"/>
                    </a:lnTo>
                    <a:lnTo>
                      <a:pt x="302" y="646"/>
                    </a:lnTo>
                    <a:lnTo>
                      <a:pt x="212" y="594"/>
                    </a:lnTo>
                    <a:lnTo>
                      <a:pt x="140" y="718"/>
                    </a:lnTo>
                    <a:lnTo>
                      <a:pt x="230" y="768"/>
                    </a:lnTo>
                    <a:lnTo>
                      <a:pt x="212" y="808"/>
                    </a:lnTo>
                    <a:lnTo>
                      <a:pt x="194" y="848"/>
                    </a:lnTo>
                    <a:lnTo>
                      <a:pt x="178" y="888"/>
                    </a:lnTo>
                    <a:lnTo>
                      <a:pt x="164" y="930"/>
                    </a:lnTo>
                    <a:lnTo>
                      <a:pt x="64" y="904"/>
                    </a:lnTo>
                    <a:lnTo>
                      <a:pt x="26" y="1040"/>
                    </a:lnTo>
                    <a:lnTo>
                      <a:pt x="126" y="1068"/>
                    </a:lnTo>
                    <a:lnTo>
                      <a:pt x="118" y="1110"/>
                    </a:lnTo>
                    <a:lnTo>
                      <a:pt x="112" y="1152"/>
                    </a:lnTo>
                    <a:lnTo>
                      <a:pt x="108" y="1196"/>
                    </a:lnTo>
                    <a:lnTo>
                      <a:pt x="104" y="1240"/>
                    </a:lnTo>
                    <a:lnTo>
                      <a:pt x="0" y="1240"/>
                    </a:lnTo>
                    <a:lnTo>
                      <a:pt x="0" y="1382"/>
                    </a:lnTo>
                    <a:lnTo>
                      <a:pt x="104" y="1382"/>
                    </a:lnTo>
                    <a:lnTo>
                      <a:pt x="108" y="1426"/>
                    </a:lnTo>
                    <a:lnTo>
                      <a:pt x="112" y="1470"/>
                    </a:lnTo>
                    <a:lnTo>
                      <a:pt x="118" y="1512"/>
                    </a:lnTo>
                    <a:lnTo>
                      <a:pt x="126" y="1556"/>
                    </a:lnTo>
                    <a:lnTo>
                      <a:pt x="26" y="1582"/>
                    </a:lnTo>
                    <a:lnTo>
                      <a:pt x="64" y="1720"/>
                    </a:lnTo>
                    <a:lnTo>
                      <a:pt x="164" y="1692"/>
                    </a:lnTo>
                    <a:lnTo>
                      <a:pt x="178" y="1734"/>
                    </a:lnTo>
                    <a:lnTo>
                      <a:pt x="194" y="1774"/>
                    </a:lnTo>
                    <a:lnTo>
                      <a:pt x="212" y="1814"/>
                    </a:lnTo>
                    <a:lnTo>
                      <a:pt x="230" y="1854"/>
                    </a:lnTo>
                    <a:lnTo>
                      <a:pt x="140" y="1906"/>
                    </a:lnTo>
                    <a:lnTo>
                      <a:pt x="212" y="2028"/>
                    </a:lnTo>
                    <a:lnTo>
                      <a:pt x="302" y="1978"/>
                    </a:lnTo>
                    <a:lnTo>
                      <a:pt x="326" y="2014"/>
                    </a:lnTo>
                    <a:lnTo>
                      <a:pt x="352" y="2048"/>
                    </a:lnTo>
                    <a:lnTo>
                      <a:pt x="378" y="2082"/>
                    </a:lnTo>
                    <a:lnTo>
                      <a:pt x="408" y="2116"/>
                    </a:lnTo>
                    <a:lnTo>
                      <a:pt x="334" y="2188"/>
                    </a:lnTo>
                    <a:lnTo>
                      <a:pt x="436" y="2288"/>
                    </a:lnTo>
                    <a:lnTo>
                      <a:pt x="508" y="2216"/>
                    </a:lnTo>
                    <a:lnTo>
                      <a:pt x="542" y="2244"/>
                    </a:lnTo>
                    <a:lnTo>
                      <a:pt x="576" y="2272"/>
                    </a:lnTo>
                    <a:lnTo>
                      <a:pt x="610" y="2298"/>
                    </a:lnTo>
                    <a:lnTo>
                      <a:pt x="646" y="2322"/>
                    </a:lnTo>
                    <a:lnTo>
                      <a:pt x="594" y="2412"/>
                    </a:lnTo>
                    <a:lnTo>
                      <a:pt x="718" y="2482"/>
                    </a:lnTo>
                    <a:lnTo>
                      <a:pt x="770" y="2394"/>
                    </a:lnTo>
                    <a:lnTo>
                      <a:pt x="808" y="2412"/>
                    </a:lnTo>
                    <a:lnTo>
                      <a:pt x="848" y="2430"/>
                    </a:lnTo>
                    <a:lnTo>
                      <a:pt x="890" y="2446"/>
                    </a:lnTo>
                    <a:lnTo>
                      <a:pt x="930" y="2460"/>
                    </a:lnTo>
                    <a:lnTo>
                      <a:pt x="904" y="2560"/>
                    </a:lnTo>
                    <a:lnTo>
                      <a:pt x="1042" y="2596"/>
                    </a:lnTo>
                    <a:lnTo>
                      <a:pt x="1068" y="2498"/>
                    </a:lnTo>
                    <a:lnTo>
                      <a:pt x="1110" y="2504"/>
                    </a:lnTo>
                    <a:lnTo>
                      <a:pt x="1154" y="2512"/>
                    </a:lnTo>
                    <a:lnTo>
                      <a:pt x="1196" y="2516"/>
                    </a:lnTo>
                    <a:lnTo>
                      <a:pt x="1240" y="2520"/>
                    </a:lnTo>
                    <a:lnTo>
                      <a:pt x="1240" y="2622"/>
                    </a:lnTo>
                    <a:lnTo>
                      <a:pt x="1382" y="2622"/>
                    </a:lnTo>
                    <a:lnTo>
                      <a:pt x="1382" y="2520"/>
                    </a:lnTo>
                    <a:lnTo>
                      <a:pt x="1426" y="2516"/>
                    </a:lnTo>
                    <a:lnTo>
                      <a:pt x="1470" y="2512"/>
                    </a:lnTo>
                    <a:lnTo>
                      <a:pt x="1514" y="2504"/>
                    </a:lnTo>
                    <a:lnTo>
                      <a:pt x="1556" y="2498"/>
                    </a:lnTo>
                    <a:lnTo>
                      <a:pt x="1582" y="2596"/>
                    </a:lnTo>
                    <a:lnTo>
                      <a:pt x="1720" y="2560"/>
                    </a:lnTo>
                    <a:lnTo>
                      <a:pt x="1694" y="2460"/>
                    </a:lnTo>
                    <a:lnTo>
                      <a:pt x="1734" y="2446"/>
                    </a:lnTo>
                    <a:lnTo>
                      <a:pt x="1776" y="2430"/>
                    </a:lnTo>
                    <a:lnTo>
                      <a:pt x="1816" y="2412"/>
                    </a:lnTo>
                    <a:lnTo>
                      <a:pt x="1854" y="2394"/>
                    </a:lnTo>
                    <a:lnTo>
                      <a:pt x="1906" y="2482"/>
                    </a:lnTo>
                    <a:lnTo>
                      <a:pt x="2028" y="2412"/>
                    </a:lnTo>
                    <a:lnTo>
                      <a:pt x="1978" y="2322"/>
                    </a:lnTo>
                    <a:lnTo>
                      <a:pt x="2014" y="2298"/>
                    </a:lnTo>
                    <a:lnTo>
                      <a:pt x="2048" y="2272"/>
                    </a:lnTo>
                    <a:lnTo>
                      <a:pt x="2082" y="2244"/>
                    </a:lnTo>
                    <a:lnTo>
                      <a:pt x="2116" y="2216"/>
                    </a:lnTo>
                    <a:lnTo>
                      <a:pt x="2188" y="2288"/>
                    </a:lnTo>
                    <a:lnTo>
                      <a:pt x="2290" y="2188"/>
                    </a:lnTo>
                    <a:lnTo>
                      <a:pt x="2216" y="2116"/>
                    </a:lnTo>
                    <a:lnTo>
                      <a:pt x="2244" y="2082"/>
                    </a:lnTo>
                    <a:lnTo>
                      <a:pt x="2272" y="2048"/>
                    </a:lnTo>
                    <a:lnTo>
                      <a:pt x="2298" y="2014"/>
                    </a:lnTo>
                    <a:lnTo>
                      <a:pt x="2322" y="1978"/>
                    </a:lnTo>
                    <a:lnTo>
                      <a:pt x="2412" y="2028"/>
                    </a:lnTo>
                    <a:lnTo>
                      <a:pt x="2482" y="1906"/>
                    </a:lnTo>
                    <a:lnTo>
                      <a:pt x="2394" y="1854"/>
                    </a:lnTo>
                    <a:lnTo>
                      <a:pt x="2412" y="1814"/>
                    </a:lnTo>
                    <a:lnTo>
                      <a:pt x="2430" y="1774"/>
                    </a:lnTo>
                    <a:lnTo>
                      <a:pt x="2446" y="1734"/>
                    </a:lnTo>
                    <a:lnTo>
                      <a:pt x="2460" y="1692"/>
                    </a:lnTo>
                    <a:lnTo>
                      <a:pt x="2560" y="1720"/>
                    </a:lnTo>
                    <a:lnTo>
                      <a:pt x="2596" y="1582"/>
                    </a:lnTo>
                    <a:lnTo>
                      <a:pt x="2498" y="1556"/>
                    </a:lnTo>
                    <a:lnTo>
                      <a:pt x="2506" y="1512"/>
                    </a:lnTo>
                    <a:lnTo>
                      <a:pt x="2512" y="1470"/>
                    </a:lnTo>
                    <a:lnTo>
                      <a:pt x="2516" y="1426"/>
                    </a:lnTo>
                    <a:lnTo>
                      <a:pt x="2520" y="1382"/>
                    </a:lnTo>
                    <a:lnTo>
                      <a:pt x="2622" y="1382"/>
                    </a:lnTo>
                    <a:close/>
                    <a:moveTo>
                      <a:pt x="1312" y="2420"/>
                    </a:moveTo>
                    <a:lnTo>
                      <a:pt x="1312" y="2420"/>
                    </a:lnTo>
                    <a:lnTo>
                      <a:pt x="1254" y="2420"/>
                    </a:lnTo>
                    <a:lnTo>
                      <a:pt x="1198" y="2416"/>
                    </a:lnTo>
                    <a:lnTo>
                      <a:pt x="1142" y="2408"/>
                    </a:lnTo>
                    <a:lnTo>
                      <a:pt x="1088" y="2398"/>
                    </a:lnTo>
                    <a:lnTo>
                      <a:pt x="1034" y="2386"/>
                    </a:lnTo>
                    <a:lnTo>
                      <a:pt x="982" y="2370"/>
                    </a:lnTo>
                    <a:lnTo>
                      <a:pt x="930" y="2354"/>
                    </a:lnTo>
                    <a:lnTo>
                      <a:pt x="880" y="2334"/>
                    </a:lnTo>
                    <a:lnTo>
                      <a:pt x="830" y="2312"/>
                    </a:lnTo>
                    <a:lnTo>
                      <a:pt x="782" y="2286"/>
                    </a:lnTo>
                    <a:lnTo>
                      <a:pt x="736" y="2260"/>
                    </a:lnTo>
                    <a:lnTo>
                      <a:pt x="692" y="2232"/>
                    </a:lnTo>
                    <a:lnTo>
                      <a:pt x="648" y="2200"/>
                    </a:lnTo>
                    <a:lnTo>
                      <a:pt x="606" y="2168"/>
                    </a:lnTo>
                    <a:lnTo>
                      <a:pt x="566" y="2132"/>
                    </a:lnTo>
                    <a:lnTo>
                      <a:pt x="528" y="2096"/>
                    </a:lnTo>
                    <a:lnTo>
                      <a:pt x="490" y="2058"/>
                    </a:lnTo>
                    <a:lnTo>
                      <a:pt x="456" y="2018"/>
                    </a:lnTo>
                    <a:lnTo>
                      <a:pt x="422" y="1976"/>
                    </a:lnTo>
                    <a:lnTo>
                      <a:pt x="392" y="1932"/>
                    </a:lnTo>
                    <a:lnTo>
                      <a:pt x="362" y="1886"/>
                    </a:lnTo>
                    <a:lnTo>
                      <a:pt x="336" y="1840"/>
                    </a:lnTo>
                    <a:lnTo>
                      <a:pt x="312" y="1792"/>
                    </a:lnTo>
                    <a:lnTo>
                      <a:pt x="290" y="1744"/>
                    </a:lnTo>
                    <a:lnTo>
                      <a:pt x="270" y="1692"/>
                    </a:lnTo>
                    <a:lnTo>
                      <a:pt x="252" y="1642"/>
                    </a:lnTo>
                    <a:lnTo>
                      <a:pt x="238" y="1588"/>
                    </a:lnTo>
                    <a:lnTo>
                      <a:pt x="224" y="1534"/>
                    </a:lnTo>
                    <a:lnTo>
                      <a:pt x="216" y="1480"/>
                    </a:lnTo>
                    <a:lnTo>
                      <a:pt x="208" y="1424"/>
                    </a:lnTo>
                    <a:lnTo>
                      <a:pt x="204" y="1368"/>
                    </a:lnTo>
                    <a:lnTo>
                      <a:pt x="202" y="1312"/>
                    </a:lnTo>
                    <a:lnTo>
                      <a:pt x="204" y="1254"/>
                    </a:lnTo>
                    <a:lnTo>
                      <a:pt x="208" y="1198"/>
                    </a:lnTo>
                    <a:lnTo>
                      <a:pt x="216" y="1142"/>
                    </a:lnTo>
                    <a:lnTo>
                      <a:pt x="224" y="1088"/>
                    </a:lnTo>
                    <a:lnTo>
                      <a:pt x="238" y="1034"/>
                    </a:lnTo>
                    <a:lnTo>
                      <a:pt x="252" y="982"/>
                    </a:lnTo>
                    <a:lnTo>
                      <a:pt x="270" y="930"/>
                    </a:lnTo>
                    <a:lnTo>
                      <a:pt x="290" y="880"/>
                    </a:lnTo>
                    <a:lnTo>
                      <a:pt x="312" y="830"/>
                    </a:lnTo>
                    <a:lnTo>
                      <a:pt x="336" y="782"/>
                    </a:lnTo>
                    <a:lnTo>
                      <a:pt x="362" y="736"/>
                    </a:lnTo>
                    <a:lnTo>
                      <a:pt x="392" y="692"/>
                    </a:lnTo>
                    <a:lnTo>
                      <a:pt x="422" y="648"/>
                    </a:lnTo>
                    <a:lnTo>
                      <a:pt x="456" y="606"/>
                    </a:lnTo>
                    <a:lnTo>
                      <a:pt x="490" y="566"/>
                    </a:lnTo>
                    <a:lnTo>
                      <a:pt x="528" y="526"/>
                    </a:lnTo>
                    <a:lnTo>
                      <a:pt x="566" y="490"/>
                    </a:lnTo>
                    <a:lnTo>
                      <a:pt x="606" y="456"/>
                    </a:lnTo>
                    <a:lnTo>
                      <a:pt x="648" y="422"/>
                    </a:lnTo>
                    <a:lnTo>
                      <a:pt x="692" y="392"/>
                    </a:lnTo>
                    <a:lnTo>
                      <a:pt x="736" y="362"/>
                    </a:lnTo>
                    <a:lnTo>
                      <a:pt x="782" y="336"/>
                    </a:lnTo>
                    <a:lnTo>
                      <a:pt x="830" y="312"/>
                    </a:lnTo>
                    <a:lnTo>
                      <a:pt x="880" y="290"/>
                    </a:lnTo>
                    <a:lnTo>
                      <a:pt x="930" y="270"/>
                    </a:lnTo>
                    <a:lnTo>
                      <a:pt x="982" y="252"/>
                    </a:lnTo>
                    <a:lnTo>
                      <a:pt x="1034" y="236"/>
                    </a:lnTo>
                    <a:lnTo>
                      <a:pt x="1088" y="224"/>
                    </a:lnTo>
                    <a:lnTo>
                      <a:pt x="1142" y="214"/>
                    </a:lnTo>
                    <a:lnTo>
                      <a:pt x="1198" y="208"/>
                    </a:lnTo>
                    <a:lnTo>
                      <a:pt x="1254" y="204"/>
                    </a:lnTo>
                    <a:lnTo>
                      <a:pt x="1312" y="202"/>
                    </a:lnTo>
                    <a:lnTo>
                      <a:pt x="1368" y="204"/>
                    </a:lnTo>
                    <a:lnTo>
                      <a:pt x="1426" y="208"/>
                    </a:lnTo>
                    <a:lnTo>
                      <a:pt x="1480" y="214"/>
                    </a:lnTo>
                    <a:lnTo>
                      <a:pt x="1536" y="224"/>
                    </a:lnTo>
                    <a:lnTo>
                      <a:pt x="1588" y="236"/>
                    </a:lnTo>
                    <a:lnTo>
                      <a:pt x="1642" y="252"/>
                    </a:lnTo>
                    <a:lnTo>
                      <a:pt x="1694" y="270"/>
                    </a:lnTo>
                    <a:lnTo>
                      <a:pt x="1744" y="290"/>
                    </a:lnTo>
                    <a:lnTo>
                      <a:pt x="1792" y="312"/>
                    </a:lnTo>
                    <a:lnTo>
                      <a:pt x="1840" y="336"/>
                    </a:lnTo>
                    <a:lnTo>
                      <a:pt x="1886" y="362"/>
                    </a:lnTo>
                    <a:lnTo>
                      <a:pt x="1932" y="392"/>
                    </a:lnTo>
                    <a:lnTo>
                      <a:pt x="1976" y="422"/>
                    </a:lnTo>
                    <a:lnTo>
                      <a:pt x="2018" y="456"/>
                    </a:lnTo>
                    <a:lnTo>
                      <a:pt x="2058" y="490"/>
                    </a:lnTo>
                    <a:lnTo>
                      <a:pt x="2096" y="526"/>
                    </a:lnTo>
                    <a:lnTo>
                      <a:pt x="2132" y="566"/>
                    </a:lnTo>
                    <a:lnTo>
                      <a:pt x="2168" y="606"/>
                    </a:lnTo>
                    <a:lnTo>
                      <a:pt x="2200" y="648"/>
                    </a:lnTo>
                    <a:lnTo>
                      <a:pt x="2232" y="692"/>
                    </a:lnTo>
                    <a:lnTo>
                      <a:pt x="2260" y="736"/>
                    </a:lnTo>
                    <a:lnTo>
                      <a:pt x="2288" y="782"/>
                    </a:lnTo>
                    <a:lnTo>
                      <a:pt x="2312" y="830"/>
                    </a:lnTo>
                    <a:lnTo>
                      <a:pt x="2334" y="880"/>
                    </a:lnTo>
                    <a:lnTo>
                      <a:pt x="2354" y="930"/>
                    </a:lnTo>
                    <a:lnTo>
                      <a:pt x="2372" y="982"/>
                    </a:lnTo>
                    <a:lnTo>
                      <a:pt x="2386" y="1034"/>
                    </a:lnTo>
                    <a:lnTo>
                      <a:pt x="2398" y="1088"/>
                    </a:lnTo>
                    <a:lnTo>
                      <a:pt x="2408" y="1142"/>
                    </a:lnTo>
                    <a:lnTo>
                      <a:pt x="2416" y="1198"/>
                    </a:lnTo>
                    <a:lnTo>
                      <a:pt x="2420" y="1254"/>
                    </a:lnTo>
                    <a:lnTo>
                      <a:pt x="2422" y="1312"/>
                    </a:lnTo>
                    <a:lnTo>
                      <a:pt x="2420" y="1368"/>
                    </a:lnTo>
                    <a:lnTo>
                      <a:pt x="2416" y="1424"/>
                    </a:lnTo>
                    <a:lnTo>
                      <a:pt x="2408" y="1480"/>
                    </a:lnTo>
                    <a:lnTo>
                      <a:pt x="2398" y="1534"/>
                    </a:lnTo>
                    <a:lnTo>
                      <a:pt x="2386" y="1588"/>
                    </a:lnTo>
                    <a:lnTo>
                      <a:pt x="2372" y="1642"/>
                    </a:lnTo>
                    <a:lnTo>
                      <a:pt x="2354" y="1692"/>
                    </a:lnTo>
                    <a:lnTo>
                      <a:pt x="2334" y="1744"/>
                    </a:lnTo>
                    <a:lnTo>
                      <a:pt x="2312" y="1792"/>
                    </a:lnTo>
                    <a:lnTo>
                      <a:pt x="2288" y="1840"/>
                    </a:lnTo>
                    <a:lnTo>
                      <a:pt x="2260" y="1886"/>
                    </a:lnTo>
                    <a:lnTo>
                      <a:pt x="2232" y="1932"/>
                    </a:lnTo>
                    <a:lnTo>
                      <a:pt x="2200" y="1976"/>
                    </a:lnTo>
                    <a:lnTo>
                      <a:pt x="2168" y="2018"/>
                    </a:lnTo>
                    <a:lnTo>
                      <a:pt x="2132" y="2058"/>
                    </a:lnTo>
                    <a:lnTo>
                      <a:pt x="2096" y="2096"/>
                    </a:lnTo>
                    <a:lnTo>
                      <a:pt x="2058" y="2132"/>
                    </a:lnTo>
                    <a:lnTo>
                      <a:pt x="2018" y="2168"/>
                    </a:lnTo>
                    <a:lnTo>
                      <a:pt x="1976" y="2200"/>
                    </a:lnTo>
                    <a:lnTo>
                      <a:pt x="1932" y="2232"/>
                    </a:lnTo>
                    <a:lnTo>
                      <a:pt x="1886" y="2260"/>
                    </a:lnTo>
                    <a:lnTo>
                      <a:pt x="1840" y="2286"/>
                    </a:lnTo>
                    <a:lnTo>
                      <a:pt x="1792" y="2312"/>
                    </a:lnTo>
                    <a:lnTo>
                      <a:pt x="1744" y="2334"/>
                    </a:lnTo>
                    <a:lnTo>
                      <a:pt x="1694" y="2354"/>
                    </a:lnTo>
                    <a:lnTo>
                      <a:pt x="1642" y="2370"/>
                    </a:lnTo>
                    <a:lnTo>
                      <a:pt x="1588" y="2386"/>
                    </a:lnTo>
                    <a:lnTo>
                      <a:pt x="1536" y="2398"/>
                    </a:lnTo>
                    <a:lnTo>
                      <a:pt x="1480" y="2408"/>
                    </a:lnTo>
                    <a:lnTo>
                      <a:pt x="1426" y="2416"/>
                    </a:lnTo>
                    <a:lnTo>
                      <a:pt x="1368" y="2420"/>
                    </a:lnTo>
                    <a:lnTo>
                      <a:pt x="1312" y="2420"/>
                    </a:lnTo>
                    <a:close/>
                  </a:path>
                </a:pathLst>
              </a:custGeom>
              <a:solidFill>
                <a:srgbClr val="AFD9E6"/>
              </a:solidFill>
              <a:ln>
                <a:noFill/>
              </a:ln>
              <a:extLst>
                <a:ext uri="{91240B29-F687-4F45-9708-019B960494DF}">
                  <a14:hiddenLine xmlns:a14="http://schemas.microsoft.com/office/drawing/2010/main" w="19050" cap="rnd">
                    <a:solidFill>
                      <a:srgbClr val="000000"/>
                    </a:solidFill>
                    <a:prstDash val="sysDot"/>
                    <a:round/>
                    <a:headEnd/>
                    <a:tailEnd/>
                  </a14:hiddenLine>
                </a:ext>
              </a:extLst>
            </p:spPr>
            <p:txBody>
              <a:bodyPr anchor="ctr"/>
              <a:lstStyle/>
              <a:p>
                <a:pPr algn="ctr"/>
                <a:endParaRPr/>
              </a:p>
            </p:txBody>
          </p:sp>
          <p:sp>
            <p:nvSpPr>
              <p:cNvPr id="37" name="Oval 23"/>
              <p:cNvSpPr>
                <a:spLocks/>
              </p:cNvSpPr>
              <p:nvPr/>
            </p:nvSpPr>
            <p:spPr bwMode="auto">
              <a:xfrm rot="4026370">
                <a:off x="749260" y="1881297"/>
                <a:ext cx="1943725" cy="1942581"/>
              </a:xfrm>
              <a:prstGeom prst="ellipse">
                <a:avLst/>
              </a:prstGeom>
              <a:solidFill>
                <a:srgbClr val="AFD9E6"/>
              </a:solidFill>
              <a:ln>
                <a:noFill/>
              </a:ln>
              <a:extLst>
                <a:ext uri="{91240B29-F687-4F45-9708-019B960494DF}">
                  <a14:hiddenLine xmlns:a14="http://schemas.microsoft.com/office/drawing/2010/main" w="19050" algn="ctr">
                    <a:solidFill>
                      <a:srgbClr val="000000"/>
                    </a:solidFill>
                    <a:round/>
                    <a:headEnd/>
                    <a:tailEnd/>
                  </a14:hiddenLine>
                </a:ext>
              </a:extLst>
            </p:spPr>
            <p:txBody>
              <a:bodyPr anchor="ctr"/>
              <a:lstStyle/>
              <a:p>
                <a:pPr algn="ctr"/>
                <a:endParaRPr dirty="0"/>
              </a:p>
            </p:txBody>
          </p:sp>
        </p:grpSp>
        <p:grpSp>
          <p:nvGrpSpPr>
            <p:cNvPr id="25" name="Group 33"/>
            <p:cNvGrpSpPr/>
            <p:nvPr/>
          </p:nvGrpSpPr>
          <p:grpSpPr>
            <a:xfrm>
              <a:off x="1108013" y="1486155"/>
              <a:ext cx="753056" cy="716555"/>
              <a:chOff x="1588" y="4763"/>
              <a:chExt cx="6746875" cy="6419850"/>
            </a:xfrm>
            <a:solidFill>
              <a:schemeClr val="bg1"/>
            </a:solidFill>
          </p:grpSpPr>
          <p:sp>
            <p:nvSpPr>
              <p:cNvPr id="29" name="Freeform: Shape 34"/>
              <p:cNvSpPr>
                <a:spLocks/>
              </p:cNvSpPr>
              <p:nvPr/>
            </p:nvSpPr>
            <p:spPr bwMode="auto">
              <a:xfrm>
                <a:off x="1588" y="4763"/>
                <a:ext cx="6746875" cy="6419850"/>
              </a:xfrm>
              <a:custGeom>
                <a:avLst/>
                <a:gdLst>
                  <a:gd name="T0" fmla="*/ 1645 w 1796"/>
                  <a:gd name="T1" fmla="*/ 0 h 1709"/>
                  <a:gd name="T2" fmla="*/ 151 w 1796"/>
                  <a:gd name="T3" fmla="*/ 0 h 1709"/>
                  <a:gd name="T4" fmla="*/ 0 w 1796"/>
                  <a:gd name="T5" fmla="*/ 151 h 1709"/>
                  <a:gd name="T6" fmla="*/ 0 w 1796"/>
                  <a:gd name="T7" fmla="*/ 1307 h 1709"/>
                  <a:gd name="T8" fmla="*/ 151 w 1796"/>
                  <a:gd name="T9" fmla="*/ 1458 h 1709"/>
                  <a:gd name="T10" fmla="*/ 606 w 1796"/>
                  <a:gd name="T11" fmla="*/ 1458 h 1709"/>
                  <a:gd name="T12" fmla="*/ 526 w 1796"/>
                  <a:gd name="T13" fmla="*/ 1545 h 1709"/>
                  <a:gd name="T14" fmla="*/ 483 w 1796"/>
                  <a:gd name="T15" fmla="*/ 1590 h 1709"/>
                  <a:gd name="T16" fmla="*/ 479 w 1796"/>
                  <a:gd name="T17" fmla="*/ 1659 h 1709"/>
                  <a:gd name="T18" fmla="*/ 593 w 1796"/>
                  <a:gd name="T19" fmla="*/ 1709 h 1709"/>
                  <a:gd name="T20" fmla="*/ 1203 w 1796"/>
                  <a:gd name="T21" fmla="*/ 1709 h 1709"/>
                  <a:gd name="T22" fmla="*/ 1316 w 1796"/>
                  <a:gd name="T23" fmla="*/ 1659 h 1709"/>
                  <a:gd name="T24" fmla="*/ 1312 w 1796"/>
                  <a:gd name="T25" fmla="*/ 1590 h 1709"/>
                  <a:gd name="T26" fmla="*/ 1270 w 1796"/>
                  <a:gd name="T27" fmla="*/ 1545 h 1709"/>
                  <a:gd name="T28" fmla="*/ 1190 w 1796"/>
                  <a:gd name="T29" fmla="*/ 1458 h 1709"/>
                  <a:gd name="T30" fmla="*/ 1645 w 1796"/>
                  <a:gd name="T31" fmla="*/ 1458 h 1709"/>
                  <a:gd name="T32" fmla="*/ 1796 w 1796"/>
                  <a:gd name="T33" fmla="*/ 1307 h 1709"/>
                  <a:gd name="T34" fmla="*/ 1796 w 1796"/>
                  <a:gd name="T35" fmla="*/ 151 h 1709"/>
                  <a:gd name="T36" fmla="*/ 1645 w 1796"/>
                  <a:gd name="T37" fmla="*/ 0 h 1709"/>
                  <a:gd name="T38" fmla="*/ 1231 w 1796"/>
                  <a:gd name="T39" fmla="*/ 1585 h 1709"/>
                  <a:gd name="T40" fmla="*/ 1267 w 1796"/>
                  <a:gd name="T41" fmla="*/ 1622 h 1709"/>
                  <a:gd name="T42" fmla="*/ 1265 w 1796"/>
                  <a:gd name="T43" fmla="*/ 1635 h 1709"/>
                  <a:gd name="T44" fmla="*/ 1203 w 1796"/>
                  <a:gd name="T45" fmla="*/ 1653 h 1709"/>
                  <a:gd name="T46" fmla="*/ 593 w 1796"/>
                  <a:gd name="T47" fmla="*/ 1653 h 1709"/>
                  <a:gd name="T48" fmla="*/ 530 w 1796"/>
                  <a:gd name="T49" fmla="*/ 1635 h 1709"/>
                  <a:gd name="T50" fmla="*/ 528 w 1796"/>
                  <a:gd name="T51" fmla="*/ 1623 h 1709"/>
                  <a:gd name="T52" fmla="*/ 528 w 1796"/>
                  <a:gd name="T53" fmla="*/ 1623 h 1709"/>
                  <a:gd name="T54" fmla="*/ 565 w 1796"/>
                  <a:gd name="T55" fmla="*/ 1585 h 1709"/>
                  <a:gd name="T56" fmla="*/ 672 w 1796"/>
                  <a:gd name="T57" fmla="*/ 1458 h 1709"/>
                  <a:gd name="T58" fmla="*/ 1124 w 1796"/>
                  <a:gd name="T59" fmla="*/ 1458 h 1709"/>
                  <a:gd name="T60" fmla="*/ 1231 w 1796"/>
                  <a:gd name="T61" fmla="*/ 1585 h 1709"/>
                  <a:gd name="T62" fmla="*/ 1684 w 1796"/>
                  <a:gd name="T63" fmla="*/ 1307 h 1709"/>
                  <a:gd name="T64" fmla="*/ 1645 w 1796"/>
                  <a:gd name="T65" fmla="*/ 1346 h 1709"/>
                  <a:gd name="T66" fmla="*/ 151 w 1796"/>
                  <a:gd name="T67" fmla="*/ 1346 h 1709"/>
                  <a:gd name="T68" fmla="*/ 112 w 1796"/>
                  <a:gd name="T69" fmla="*/ 1307 h 1709"/>
                  <a:gd name="T70" fmla="*/ 112 w 1796"/>
                  <a:gd name="T71" fmla="*/ 151 h 1709"/>
                  <a:gd name="T72" fmla="*/ 151 w 1796"/>
                  <a:gd name="T73" fmla="*/ 112 h 1709"/>
                  <a:gd name="T74" fmla="*/ 1645 w 1796"/>
                  <a:gd name="T75" fmla="*/ 112 h 1709"/>
                  <a:gd name="T76" fmla="*/ 1684 w 1796"/>
                  <a:gd name="T77" fmla="*/ 151 h 1709"/>
                  <a:gd name="T78" fmla="*/ 1684 w 1796"/>
                  <a:gd name="T79" fmla="*/ 1307 h 1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96" h="1709">
                    <a:moveTo>
                      <a:pt x="1645" y="0"/>
                    </a:moveTo>
                    <a:cubicBezTo>
                      <a:pt x="151" y="0"/>
                      <a:pt x="151" y="0"/>
                      <a:pt x="151" y="0"/>
                    </a:cubicBezTo>
                    <a:cubicBezTo>
                      <a:pt x="68" y="0"/>
                      <a:pt x="0" y="67"/>
                      <a:pt x="0" y="151"/>
                    </a:cubicBezTo>
                    <a:cubicBezTo>
                      <a:pt x="0" y="1307"/>
                      <a:pt x="0" y="1307"/>
                      <a:pt x="0" y="1307"/>
                    </a:cubicBezTo>
                    <a:cubicBezTo>
                      <a:pt x="0" y="1390"/>
                      <a:pt x="68" y="1458"/>
                      <a:pt x="151" y="1458"/>
                    </a:cubicBezTo>
                    <a:cubicBezTo>
                      <a:pt x="606" y="1458"/>
                      <a:pt x="606" y="1458"/>
                      <a:pt x="606" y="1458"/>
                    </a:cubicBezTo>
                    <a:cubicBezTo>
                      <a:pt x="582" y="1488"/>
                      <a:pt x="544" y="1527"/>
                      <a:pt x="526" y="1545"/>
                    </a:cubicBezTo>
                    <a:cubicBezTo>
                      <a:pt x="506" y="1564"/>
                      <a:pt x="491" y="1579"/>
                      <a:pt x="483" y="1590"/>
                    </a:cubicBezTo>
                    <a:cubicBezTo>
                      <a:pt x="472" y="1605"/>
                      <a:pt x="467" y="1634"/>
                      <a:pt x="479" y="1659"/>
                    </a:cubicBezTo>
                    <a:cubicBezTo>
                      <a:pt x="491" y="1682"/>
                      <a:pt x="520" y="1709"/>
                      <a:pt x="593" y="1709"/>
                    </a:cubicBezTo>
                    <a:cubicBezTo>
                      <a:pt x="1203" y="1709"/>
                      <a:pt x="1203" y="1709"/>
                      <a:pt x="1203" y="1709"/>
                    </a:cubicBezTo>
                    <a:cubicBezTo>
                      <a:pt x="1276" y="1709"/>
                      <a:pt x="1305" y="1682"/>
                      <a:pt x="1316" y="1659"/>
                    </a:cubicBezTo>
                    <a:cubicBezTo>
                      <a:pt x="1329" y="1634"/>
                      <a:pt x="1324" y="1605"/>
                      <a:pt x="1312" y="1590"/>
                    </a:cubicBezTo>
                    <a:cubicBezTo>
                      <a:pt x="1304" y="1579"/>
                      <a:pt x="1289" y="1564"/>
                      <a:pt x="1270" y="1545"/>
                    </a:cubicBezTo>
                    <a:cubicBezTo>
                      <a:pt x="1252" y="1527"/>
                      <a:pt x="1213" y="1488"/>
                      <a:pt x="1190" y="1458"/>
                    </a:cubicBezTo>
                    <a:cubicBezTo>
                      <a:pt x="1645" y="1458"/>
                      <a:pt x="1645" y="1458"/>
                      <a:pt x="1645" y="1458"/>
                    </a:cubicBezTo>
                    <a:cubicBezTo>
                      <a:pt x="1728" y="1458"/>
                      <a:pt x="1796" y="1390"/>
                      <a:pt x="1796" y="1307"/>
                    </a:cubicBezTo>
                    <a:cubicBezTo>
                      <a:pt x="1796" y="151"/>
                      <a:pt x="1796" y="151"/>
                      <a:pt x="1796" y="151"/>
                    </a:cubicBezTo>
                    <a:cubicBezTo>
                      <a:pt x="1796" y="67"/>
                      <a:pt x="1728" y="0"/>
                      <a:pt x="1645" y="0"/>
                    </a:cubicBezTo>
                    <a:close/>
                    <a:moveTo>
                      <a:pt x="1231" y="1585"/>
                    </a:moveTo>
                    <a:cubicBezTo>
                      <a:pt x="1247" y="1601"/>
                      <a:pt x="1262" y="1616"/>
                      <a:pt x="1267" y="1622"/>
                    </a:cubicBezTo>
                    <a:cubicBezTo>
                      <a:pt x="1267" y="1622"/>
                      <a:pt x="1269" y="1629"/>
                      <a:pt x="1265" y="1635"/>
                    </a:cubicBezTo>
                    <a:cubicBezTo>
                      <a:pt x="1258" y="1646"/>
                      <a:pt x="1235" y="1653"/>
                      <a:pt x="1203" y="1653"/>
                    </a:cubicBezTo>
                    <a:cubicBezTo>
                      <a:pt x="593" y="1653"/>
                      <a:pt x="593" y="1653"/>
                      <a:pt x="593" y="1653"/>
                    </a:cubicBezTo>
                    <a:cubicBezTo>
                      <a:pt x="561" y="1653"/>
                      <a:pt x="538" y="1646"/>
                      <a:pt x="530" y="1635"/>
                    </a:cubicBezTo>
                    <a:cubicBezTo>
                      <a:pt x="527" y="1629"/>
                      <a:pt x="528" y="1623"/>
                      <a:pt x="528" y="1623"/>
                    </a:cubicBezTo>
                    <a:cubicBezTo>
                      <a:pt x="528" y="1623"/>
                      <a:pt x="528" y="1623"/>
                      <a:pt x="528" y="1623"/>
                    </a:cubicBezTo>
                    <a:cubicBezTo>
                      <a:pt x="534" y="1616"/>
                      <a:pt x="549" y="1601"/>
                      <a:pt x="565" y="1585"/>
                    </a:cubicBezTo>
                    <a:cubicBezTo>
                      <a:pt x="614" y="1536"/>
                      <a:pt x="654" y="1494"/>
                      <a:pt x="672" y="1458"/>
                    </a:cubicBezTo>
                    <a:cubicBezTo>
                      <a:pt x="1124" y="1458"/>
                      <a:pt x="1124" y="1458"/>
                      <a:pt x="1124" y="1458"/>
                    </a:cubicBezTo>
                    <a:cubicBezTo>
                      <a:pt x="1142" y="1494"/>
                      <a:pt x="1182" y="1536"/>
                      <a:pt x="1231" y="1585"/>
                    </a:cubicBezTo>
                    <a:close/>
                    <a:moveTo>
                      <a:pt x="1684" y="1307"/>
                    </a:moveTo>
                    <a:cubicBezTo>
                      <a:pt x="1684" y="1328"/>
                      <a:pt x="1666" y="1346"/>
                      <a:pt x="1645" y="1346"/>
                    </a:cubicBezTo>
                    <a:cubicBezTo>
                      <a:pt x="151" y="1346"/>
                      <a:pt x="151" y="1346"/>
                      <a:pt x="151" y="1346"/>
                    </a:cubicBezTo>
                    <a:cubicBezTo>
                      <a:pt x="129" y="1346"/>
                      <a:pt x="112" y="1328"/>
                      <a:pt x="112" y="1307"/>
                    </a:cubicBezTo>
                    <a:cubicBezTo>
                      <a:pt x="112" y="151"/>
                      <a:pt x="112" y="151"/>
                      <a:pt x="112" y="151"/>
                    </a:cubicBezTo>
                    <a:cubicBezTo>
                      <a:pt x="112" y="129"/>
                      <a:pt x="129" y="112"/>
                      <a:pt x="151" y="112"/>
                    </a:cubicBezTo>
                    <a:cubicBezTo>
                      <a:pt x="1645" y="112"/>
                      <a:pt x="1645" y="112"/>
                      <a:pt x="1645" y="112"/>
                    </a:cubicBezTo>
                    <a:cubicBezTo>
                      <a:pt x="1666" y="112"/>
                      <a:pt x="1684" y="129"/>
                      <a:pt x="1684" y="151"/>
                    </a:cubicBezTo>
                    <a:lnTo>
                      <a:pt x="1684" y="1307"/>
                    </a:lnTo>
                    <a:close/>
                  </a:path>
                </a:pathLst>
              </a:custGeom>
              <a:grpFill/>
              <a:ln>
                <a:noFill/>
              </a:ln>
              <a:extLst>
                <a:ext uri="{91240B29-F687-4f45-9708-019B960494DF}">
                  <a14:hiddenLine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a:p>
            </p:txBody>
          </p:sp>
          <p:sp>
            <p:nvSpPr>
              <p:cNvPr id="30" name="Freeform: Shape 35"/>
              <p:cNvSpPr>
                <a:spLocks/>
              </p:cNvSpPr>
              <p:nvPr/>
            </p:nvSpPr>
            <p:spPr bwMode="auto">
              <a:xfrm>
                <a:off x="842963" y="846138"/>
                <a:ext cx="5064125" cy="3376613"/>
              </a:xfrm>
              <a:custGeom>
                <a:avLst/>
                <a:gdLst>
                  <a:gd name="T0" fmla="*/ 1252 w 1348"/>
                  <a:gd name="T1" fmla="*/ 0 h 899"/>
                  <a:gd name="T2" fmla="*/ 96 w 1348"/>
                  <a:gd name="T3" fmla="*/ 0 h 899"/>
                  <a:gd name="T4" fmla="*/ 0 w 1348"/>
                  <a:gd name="T5" fmla="*/ 95 h 899"/>
                  <a:gd name="T6" fmla="*/ 0 w 1348"/>
                  <a:gd name="T7" fmla="*/ 803 h 899"/>
                  <a:gd name="T8" fmla="*/ 96 w 1348"/>
                  <a:gd name="T9" fmla="*/ 899 h 899"/>
                  <a:gd name="T10" fmla="*/ 1252 w 1348"/>
                  <a:gd name="T11" fmla="*/ 899 h 899"/>
                  <a:gd name="T12" fmla="*/ 1348 w 1348"/>
                  <a:gd name="T13" fmla="*/ 803 h 899"/>
                  <a:gd name="T14" fmla="*/ 1348 w 1348"/>
                  <a:gd name="T15" fmla="*/ 95 h 899"/>
                  <a:gd name="T16" fmla="*/ 1252 w 1348"/>
                  <a:gd name="T17" fmla="*/ 0 h 899"/>
                  <a:gd name="T18" fmla="*/ 1291 w 1348"/>
                  <a:gd name="T19" fmla="*/ 803 h 899"/>
                  <a:gd name="T20" fmla="*/ 1252 w 1348"/>
                  <a:gd name="T21" fmla="*/ 843 h 899"/>
                  <a:gd name="T22" fmla="*/ 96 w 1348"/>
                  <a:gd name="T23" fmla="*/ 843 h 899"/>
                  <a:gd name="T24" fmla="*/ 56 w 1348"/>
                  <a:gd name="T25" fmla="*/ 803 h 899"/>
                  <a:gd name="T26" fmla="*/ 56 w 1348"/>
                  <a:gd name="T27" fmla="*/ 95 h 899"/>
                  <a:gd name="T28" fmla="*/ 96 w 1348"/>
                  <a:gd name="T29" fmla="*/ 56 h 899"/>
                  <a:gd name="T30" fmla="*/ 1252 w 1348"/>
                  <a:gd name="T31" fmla="*/ 56 h 899"/>
                  <a:gd name="T32" fmla="*/ 1291 w 1348"/>
                  <a:gd name="T33" fmla="*/ 95 h 899"/>
                  <a:gd name="T34" fmla="*/ 1291 w 1348"/>
                  <a:gd name="T35" fmla="*/ 803 h 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48" h="899">
                    <a:moveTo>
                      <a:pt x="1252" y="0"/>
                    </a:moveTo>
                    <a:cubicBezTo>
                      <a:pt x="96" y="0"/>
                      <a:pt x="96" y="0"/>
                      <a:pt x="96" y="0"/>
                    </a:cubicBezTo>
                    <a:cubicBezTo>
                      <a:pt x="43" y="0"/>
                      <a:pt x="0" y="43"/>
                      <a:pt x="0" y="95"/>
                    </a:cubicBezTo>
                    <a:cubicBezTo>
                      <a:pt x="0" y="803"/>
                      <a:pt x="0" y="803"/>
                      <a:pt x="0" y="803"/>
                    </a:cubicBezTo>
                    <a:cubicBezTo>
                      <a:pt x="0" y="856"/>
                      <a:pt x="43" y="899"/>
                      <a:pt x="96" y="899"/>
                    </a:cubicBezTo>
                    <a:cubicBezTo>
                      <a:pt x="1252" y="899"/>
                      <a:pt x="1252" y="899"/>
                      <a:pt x="1252" y="899"/>
                    </a:cubicBezTo>
                    <a:cubicBezTo>
                      <a:pt x="1305" y="899"/>
                      <a:pt x="1348" y="856"/>
                      <a:pt x="1348" y="803"/>
                    </a:cubicBezTo>
                    <a:cubicBezTo>
                      <a:pt x="1348" y="95"/>
                      <a:pt x="1348" y="95"/>
                      <a:pt x="1348" y="95"/>
                    </a:cubicBezTo>
                    <a:cubicBezTo>
                      <a:pt x="1348" y="43"/>
                      <a:pt x="1305" y="0"/>
                      <a:pt x="1252" y="0"/>
                    </a:cubicBezTo>
                    <a:close/>
                    <a:moveTo>
                      <a:pt x="1291" y="803"/>
                    </a:moveTo>
                    <a:cubicBezTo>
                      <a:pt x="1291" y="825"/>
                      <a:pt x="1274" y="843"/>
                      <a:pt x="1252" y="843"/>
                    </a:cubicBezTo>
                    <a:cubicBezTo>
                      <a:pt x="96" y="843"/>
                      <a:pt x="96" y="843"/>
                      <a:pt x="96" y="843"/>
                    </a:cubicBezTo>
                    <a:cubicBezTo>
                      <a:pt x="74" y="843"/>
                      <a:pt x="56" y="825"/>
                      <a:pt x="56" y="803"/>
                    </a:cubicBezTo>
                    <a:cubicBezTo>
                      <a:pt x="56" y="95"/>
                      <a:pt x="56" y="95"/>
                      <a:pt x="56" y="95"/>
                    </a:cubicBezTo>
                    <a:cubicBezTo>
                      <a:pt x="56" y="74"/>
                      <a:pt x="74" y="56"/>
                      <a:pt x="96" y="56"/>
                    </a:cubicBezTo>
                    <a:cubicBezTo>
                      <a:pt x="1252" y="56"/>
                      <a:pt x="1252" y="56"/>
                      <a:pt x="1252" y="56"/>
                    </a:cubicBezTo>
                    <a:cubicBezTo>
                      <a:pt x="1274" y="56"/>
                      <a:pt x="1291" y="74"/>
                      <a:pt x="1291" y="95"/>
                    </a:cubicBezTo>
                    <a:lnTo>
                      <a:pt x="1291" y="803"/>
                    </a:lnTo>
                    <a:close/>
                  </a:path>
                </a:pathLst>
              </a:custGeom>
              <a:grpFill/>
              <a:ln>
                <a:noFill/>
              </a:ln>
              <a:extLst>
                <a:ext uri="{91240B29-F687-4f45-9708-019B960494DF}">
                  <a14:hiddenLine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a:p>
            </p:txBody>
          </p:sp>
          <p:sp>
            <p:nvSpPr>
              <p:cNvPr id="31" name="Freeform: Shape 36"/>
              <p:cNvSpPr>
                <a:spLocks/>
              </p:cNvSpPr>
              <p:nvPr/>
            </p:nvSpPr>
            <p:spPr bwMode="auto">
              <a:xfrm>
                <a:off x="3059113" y="4321176"/>
                <a:ext cx="631825" cy="630238"/>
              </a:xfrm>
              <a:custGeom>
                <a:avLst/>
                <a:gdLst>
                  <a:gd name="T0" fmla="*/ 84 w 168"/>
                  <a:gd name="T1" fmla="*/ 0 h 168"/>
                  <a:gd name="T2" fmla="*/ 0 w 168"/>
                  <a:gd name="T3" fmla="*/ 84 h 168"/>
                  <a:gd name="T4" fmla="*/ 84 w 168"/>
                  <a:gd name="T5" fmla="*/ 168 h 168"/>
                  <a:gd name="T6" fmla="*/ 168 w 168"/>
                  <a:gd name="T7" fmla="*/ 84 h 168"/>
                  <a:gd name="T8" fmla="*/ 84 w 168"/>
                  <a:gd name="T9" fmla="*/ 0 h 168"/>
                  <a:gd name="T10" fmla="*/ 84 w 168"/>
                  <a:gd name="T11" fmla="*/ 112 h 168"/>
                  <a:gd name="T12" fmla="*/ 56 w 168"/>
                  <a:gd name="T13" fmla="*/ 84 h 168"/>
                  <a:gd name="T14" fmla="*/ 84 w 168"/>
                  <a:gd name="T15" fmla="*/ 56 h 168"/>
                  <a:gd name="T16" fmla="*/ 112 w 168"/>
                  <a:gd name="T17" fmla="*/ 84 h 168"/>
                  <a:gd name="T18" fmla="*/ 84 w 168"/>
                  <a:gd name="T19" fmla="*/ 112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8" h="168">
                    <a:moveTo>
                      <a:pt x="84" y="0"/>
                    </a:moveTo>
                    <a:cubicBezTo>
                      <a:pt x="38" y="0"/>
                      <a:pt x="0" y="38"/>
                      <a:pt x="0" y="84"/>
                    </a:cubicBezTo>
                    <a:cubicBezTo>
                      <a:pt x="0" y="131"/>
                      <a:pt x="38" y="168"/>
                      <a:pt x="84" y="168"/>
                    </a:cubicBezTo>
                    <a:cubicBezTo>
                      <a:pt x="130" y="168"/>
                      <a:pt x="168" y="131"/>
                      <a:pt x="168" y="84"/>
                    </a:cubicBezTo>
                    <a:cubicBezTo>
                      <a:pt x="168" y="38"/>
                      <a:pt x="130" y="0"/>
                      <a:pt x="84" y="0"/>
                    </a:cubicBezTo>
                    <a:close/>
                    <a:moveTo>
                      <a:pt x="84" y="112"/>
                    </a:moveTo>
                    <a:cubicBezTo>
                      <a:pt x="68" y="112"/>
                      <a:pt x="56" y="100"/>
                      <a:pt x="56" y="84"/>
                    </a:cubicBezTo>
                    <a:cubicBezTo>
                      <a:pt x="56" y="69"/>
                      <a:pt x="68" y="56"/>
                      <a:pt x="84" y="56"/>
                    </a:cubicBezTo>
                    <a:cubicBezTo>
                      <a:pt x="99" y="56"/>
                      <a:pt x="112" y="69"/>
                      <a:pt x="112" y="84"/>
                    </a:cubicBezTo>
                    <a:cubicBezTo>
                      <a:pt x="112" y="100"/>
                      <a:pt x="99" y="112"/>
                      <a:pt x="84" y="112"/>
                    </a:cubicBezTo>
                    <a:close/>
                  </a:path>
                </a:pathLst>
              </a:custGeom>
              <a:grpFill/>
              <a:ln>
                <a:noFill/>
              </a:ln>
              <a:extLst>
                <a:ext uri="{91240B29-F687-4f45-9708-019B960494DF}">
                  <a14:hiddenLine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a:p>
            </p:txBody>
          </p:sp>
          <p:sp>
            <p:nvSpPr>
              <p:cNvPr id="32" name="Freeform: Shape 37"/>
              <p:cNvSpPr>
                <a:spLocks/>
              </p:cNvSpPr>
              <p:nvPr/>
            </p:nvSpPr>
            <p:spPr bwMode="auto">
              <a:xfrm>
                <a:off x="2528888" y="2533651"/>
                <a:ext cx="628650" cy="1262063"/>
              </a:xfrm>
              <a:custGeom>
                <a:avLst/>
                <a:gdLst>
                  <a:gd name="T0" fmla="*/ 125 w 167"/>
                  <a:gd name="T1" fmla="*/ 0 h 336"/>
                  <a:gd name="T2" fmla="*/ 42 w 167"/>
                  <a:gd name="T3" fmla="*/ 0 h 336"/>
                  <a:gd name="T4" fmla="*/ 0 w 167"/>
                  <a:gd name="T5" fmla="*/ 42 h 336"/>
                  <a:gd name="T6" fmla="*/ 0 w 167"/>
                  <a:gd name="T7" fmla="*/ 294 h 336"/>
                  <a:gd name="T8" fmla="*/ 42 w 167"/>
                  <a:gd name="T9" fmla="*/ 336 h 336"/>
                  <a:gd name="T10" fmla="*/ 125 w 167"/>
                  <a:gd name="T11" fmla="*/ 336 h 336"/>
                  <a:gd name="T12" fmla="*/ 167 w 167"/>
                  <a:gd name="T13" fmla="*/ 294 h 336"/>
                  <a:gd name="T14" fmla="*/ 167 w 167"/>
                  <a:gd name="T15" fmla="*/ 42 h 336"/>
                  <a:gd name="T16" fmla="*/ 125 w 167"/>
                  <a:gd name="T17"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7" h="336">
                    <a:moveTo>
                      <a:pt x="125" y="0"/>
                    </a:moveTo>
                    <a:cubicBezTo>
                      <a:pt x="42" y="0"/>
                      <a:pt x="42" y="0"/>
                      <a:pt x="42" y="0"/>
                    </a:cubicBezTo>
                    <a:cubicBezTo>
                      <a:pt x="19" y="0"/>
                      <a:pt x="0" y="18"/>
                      <a:pt x="0" y="42"/>
                    </a:cubicBezTo>
                    <a:cubicBezTo>
                      <a:pt x="0" y="294"/>
                      <a:pt x="0" y="294"/>
                      <a:pt x="0" y="294"/>
                    </a:cubicBezTo>
                    <a:cubicBezTo>
                      <a:pt x="0" y="317"/>
                      <a:pt x="19" y="336"/>
                      <a:pt x="42" y="336"/>
                    </a:cubicBezTo>
                    <a:cubicBezTo>
                      <a:pt x="125" y="336"/>
                      <a:pt x="125" y="336"/>
                      <a:pt x="125" y="336"/>
                    </a:cubicBezTo>
                    <a:cubicBezTo>
                      <a:pt x="148" y="336"/>
                      <a:pt x="167" y="317"/>
                      <a:pt x="167" y="294"/>
                    </a:cubicBezTo>
                    <a:cubicBezTo>
                      <a:pt x="167" y="42"/>
                      <a:pt x="167" y="42"/>
                      <a:pt x="167" y="42"/>
                    </a:cubicBezTo>
                    <a:cubicBezTo>
                      <a:pt x="167" y="18"/>
                      <a:pt x="148" y="0"/>
                      <a:pt x="125" y="0"/>
                    </a:cubicBezTo>
                    <a:close/>
                  </a:path>
                </a:pathLst>
              </a:custGeom>
              <a:grpFill/>
              <a:ln>
                <a:noFill/>
              </a:ln>
              <a:extLst>
                <a:ext uri="{91240B29-F687-4f45-9708-019B960494DF}">
                  <a14:hiddenLine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a:p>
            </p:txBody>
          </p:sp>
          <p:sp>
            <p:nvSpPr>
              <p:cNvPr id="33" name="Freeform: Shape 38"/>
              <p:cNvSpPr>
                <a:spLocks/>
              </p:cNvSpPr>
              <p:nvPr/>
            </p:nvSpPr>
            <p:spPr bwMode="auto">
              <a:xfrm>
                <a:off x="4632326" y="1266826"/>
                <a:ext cx="635000" cy="2528888"/>
              </a:xfrm>
              <a:custGeom>
                <a:avLst/>
                <a:gdLst>
                  <a:gd name="T0" fmla="*/ 126 w 169"/>
                  <a:gd name="T1" fmla="*/ 0 h 673"/>
                  <a:gd name="T2" fmla="*/ 42 w 169"/>
                  <a:gd name="T3" fmla="*/ 0 h 673"/>
                  <a:gd name="T4" fmla="*/ 0 w 169"/>
                  <a:gd name="T5" fmla="*/ 41 h 673"/>
                  <a:gd name="T6" fmla="*/ 0 w 169"/>
                  <a:gd name="T7" fmla="*/ 632 h 673"/>
                  <a:gd name="T8" fmla="*/ 42 w 169"/>
                  <a:gd name="T9" fmla="*/ 673 h 673"/>
                  <a:gd name="T10" fmla="*/ 126 w 169"/>
                  <a:gd name="T11" fmla="*/ 673 h 673"/>
                  <a:gd name="T12" fmla="*/ 169 w 169"/>
                  <a:gd name="T13" fmla="*/ 632 h 673"/>
                  <a:gd name="T14" fmla="*/ 169 w 169"/>
                  <a:gd name="T15" fmla="*/ 41 h 673"/>
                  <a:gd name="T16" fmla="*/ 126 w 169"/>
                  <a:gd name="T17" fmla="*/ 0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9" h="673">
                    <a:moveTo>
                      <a:pt x="126" y="0"/>
                    </a:moveTo>
                    <a:cubicBezTo>
                      <a:pt x="42" y="0"/>
                      <a:pt x="42" y="0"/>
                      <a:pt x="42" y="0"/>
                    </a:cubicBezTo>
                    <a:cubicBezTo>
                      <a:pt x="19" y="0"/>
                      <a:pt x="0" y="19"/>
                      <a:pt x="0" y="41"/>
                    </a:cubicBezTo>
                    <a:cubicBezTo>
                      <a:pt x="0" y="632"/>
                      <a:pt x="0" y="632"/>
                      <a:pt x="0" y="632"/>
                    </a:cubicBezTo>
                    <a:cubicBezTo>
                      <a:pt x="0" y="655"/>
                      <a:pt x="19" y="673"/>
                      <a:pt x="42" y="673"/>
                    </a:cubicBezTo>
                    <a:cubicBezTo>
                      <a:pt x="126" y="673"/>
                      <a:pt x="126" y="673"/>
                      <a:pt x="126" y="673"/>
                    </a:cubicBezTo>
                    <a:cubicBezTo>
                      <a:pt x="150" y="673"/>
                      <a:pt x="169" y="655"/>
                      <a:pt x="169" y="632"/>
                    </a:cubicBezTo>
                    <a:cubicBezTo>
                      <a:pt x="169" y="41"/>
                      <a:pt x="169" y="41"/>
                      <a:pt x="169" y="41"/>
                    </a:cubicBezTo>
                    <a:cubicBezTo>
                      <a:pt x="169" y="19"/>
                      <a:pt x="150" y="0"/>
                      <a:pt x="126" y="0"/>
                    </a:cubicBezTo>
                    <a:close/>
                  </a:path>
                </a:pathLst>
              </a:custGeom>
              <a:grpFill/>
              <a:ln>
                <a:noFill/>
              </a:ln>
              <a:extLst>
                <a:ext uri="{91240B29-F687-4f45-9708-019B960494DF}">
                  <a14:hiddenLine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a:p>
            </p:txBody>
          </p:sp>
          <p:sp>
            <p:nvSpPr>
              <p:cNvPr id="34" name="Freeform: Shape 39"/>
              <p:cNvSpPr>
                <a:spLocks/>
              </p:cNvSpPr>
              <p:nvPr/>
            </p:nvSpPr>
            <p:spPr bwMode="auto">
              <a:xfrm>
                <a:off x="3584576" y="2112963"/>
                <a:ext cx="627063" cy="1682750"/>
              </a:xfrm>
              <a:custGeom>
                <a:avLst/>
                <a:gdLst>
                  <a:gd name="T0" fmla="*/ 125 w 167"/>
                  <a:gd name="T1" fmla="*/ 0 h 448"/>
                  <a:gd name="T2" fmla="*/ 41 w 167"/>
                  <a:gd name="T3" fmla="*/ 0 h 448"/>
                  <a:gd name="T4" fmla="*/ 0 w 167"/>
                  <a:gd name="T5" fmla="*/ 40 h 448"/>
                  <a:gd name="T6" fmla="*/ 0 w 167"/>
                  <a:gd name="T7" fmla="*/ 407 h 448"/>
                  <a:gd name="T8" fmla="*/ 41 w 167"/>
                  <a:gd name="T9" fmla="*/ 448 h 448"/>
                  <a:gd name="T10" fmla="*/ 125 w 167"/>
                  <a:gd name="T11" fmla="*/ 448 h 448"/>
                  <a:gd name="T12" fmla="*/ 167 w 167"/>
                  <a:gd name="T13" fmla="*/ 407 h 448"/>
                  <a:gd name="T14" fmla="*/ 167 w 167"/>
                  <a:gd name="T15" fmla="*/ 40 h 448"/>
                  <a:gd name="T16" fmla="*/ 125 w 167"/>
                  <a:gd name="T17" fmla="*/ 0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7" h="448">
                    <a:moveTo>
                      <a:pt x="125" y="0"/>
                    </a:moveTo>
                    <a:cubicBezTo>
                      <a:pt x="41" y="0"/>
                      <a:pt x="41" y="0"/>
                      <a:pt x="41" y="0"/>
                    </a:cubicBezTo>
                    <a:cubicBezTo>
                      <a:pt x="18" y="0"/>
                      <a:pt x="0" y="18"/>
                      <a:pt x="0" y="40"/>
                    </a:cubicBezTo>
                    <a:cubicBezTo>
                      <a:pt x="0" y="407"/>
                      <a:pt x="0" y="407"/>
                      <a:pt x="0" y="407"/>
                    </a:cubicBezTo>
                    <a:cubicBezTo>
                      <a:pt x="0" y="430"/>
                      <a:pt x="18" y="448"/>
                      <a:pt x="41" y="448"/>
                    </a:cubicBezTo>
                    <a:cubicBezTo>
                      <a:pt x="125" y="448"/>
                      <a:pt x="125" y="448"/>
                      <a:pt x="125" y="448"/>
                    </a:cubicBezTo>
                    <a:cubicBezTo>
                      <a:pt x="148" y="448"/>
                      <a:pt x="167" y="430"/>
                      <a:pt x="167" y="407"/>
                    </a:cubicBezTo>
                    <a:cubicBezTo>
                      <a:pt x="167" y="40"/>
                      <a:pt x="167" y="40"/>
                      <a:pt x="167" y="40"/>
                    </a:cubicBezTo>
                    <a:cubicBezTo>
                      <a:pt x="167" y="18"/>
                      <a:pt x="148" y="0"/>
                      <a:pt x="125" y="0"/>
                    </a:cubicBezTo>
                    <a:close/>
                  </a:path>
                </a:pathLst>
              </a:custGeom>
              <a:grpFill/>
              <a:ln>
                <a:noFill/>
              </a:ln>
              <a:extLst>
                <a:ext uri="{91240B29-F687-4f45-9708-019B960494DF}">
                  <a14:hiddenLine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a:p>
            </p:txBody>
          </p:sp>
          <p:sp>
            <p:nvSpPr>
              <p:cNvPr id="35" name="Freeform: Shape 40"/>
              <p:cNvSpPr>
                <a:spLocks/>
              </p:cNvSpPr>
              <p:nvPr/>
            </p:nvSpPr>
            <p:spPr bwMode="auto">
              <a:xfrm>
                <a:off x="1474788" y="1687513"/>
                <a:ext cx="633413" cy="2108200"/>
              </a:xfrm>
              <a:custGeom>
                <a:avLst/>
                <a:gdLst>
                  <a:gd name="T0" fmla="*/ 127 w 169"/>
                  <a:gd name="T1" fmla="*/ 0 h 561"/>
                  <a:gd name="T2" fmla="*/ 43 w 169"/>
                  <a:gd name="T3" fmla="*/ 0 h 561"/>
                  <a:gd name="T4" fmla="*/ 0 w 169"/>
                  <a:gd name="T5" fmla="*/ 40 h 561"/>
                  <a:gd name="T6" fmla="*/ 0 w 169"/>
                  <a:gd name="T7" fmla="*/ 521 h 561"/>
                  <a:gd name="T8" fmla="*/ 43 w 169"/>
                  <a:gd name="T9" fmla="*/ 561 h 561"/>
                  <a:gd name="T10" fmla="*/ 127 w 169"/>
                  <a:gd name="T11" fmla="*/ 561 h 561"/>
                  <a:gd name="T12" fmla="*/ 169 w 169"/>
                  <a:gd name="T13" fmla="*/ 521 h 561"/>
                  <a:gd name="T14" fmla="*/ 169 w 169"/>
                  <a:gd name="T15" fmla="*/ 40 h 561"/>
                  <a:gd name="T16" fmla="*/ 127 w 169"/>
                  <a:gd name="T17" fmla="*/ 0 h 5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9" h="561">
                    <a:moveTo>
                      <a:pt x="127" y="0"/>
                    </a:moveTo>
                    <a:cubicBezTo>
                      <a:pt x="43" y="0"/>
                      <a:pt x="43" y="0"/>
                      <a:pt x="43" y="0"/>
                    </a:cubicBezTo>
                    <a:cubicBezTo>
                      <a:pt x="19" y="0"/>
                      <a:pt x="0" y="18"/>
                      <a:pt x="0" y="40"/>
                    </a:cubicBezTo>
                    <a:cubicBezTo>
                      <a:pt x="0" y="521"/>
                      <a:pt x="0" y="521"/>
                      <a:pt x="0" y="521"/>
                    </a:cubicBezTo>
                    <a:cubicBezTo>
                      <a:pt x="0" y="543"/>
                      <a:pt x="19" y="561"/>
                      <a:pt x="43" y="561"/>
                    </a:cubicBezTo>
                    <a:cubicBezTo>
                      <a:pt x="127" y="561"/>
                      <a:pt x="127" y="561"/>
                      <a:pt x="127" y="561"/>
                    </a:cubicBezTo>
                    <a:cubicBezTo>
                      <a:pt x="150" y="561"/>
                      <a:pt x="169" y="543"/>
                      <a:pt x="169" y="521"/>
                    </a:cubicBezTo>
                    <a:cubicBezTo>
                      <a:pt x="169" y="40"/>
                      <a:pt x="169" y="40"/>
                      <a:pt x="169" y="40"/>
                    </a:cubicBezTo>
                    <a:cubicBezTo>
                      <a:pt x="169" y="18"/>
                      <a:pt x="150" y="0"/>
                      <a:pt x="127" y="0"/>
                    </a:cubicBezTo>
                    <a:close/>
                  </a:path>
                </a:pathLst>
              </a:custGeom>
              <a:grpFill/>
              <a:ln>
                <a:noFill/>
              </a:ln>
              <a:extLst>
                <a:ext uri="{91240B29-F687-4f45-9708-019B960494DF}">
                  <a14:hiddenLine xmlns:a14="http://schemas.microsoft.com/office/drawing/2010/main" xmlns:p14="http://schemas.microsoft.com/office/powerpoint/2010/main" xmlns:lc="http://schemas.openxmlformats.org/drawingml/2006/lockedCanvas" xmlns="" w="9525">
                    <a:solidFill>
                      <a:srgbClr val="000000"/>
                    </a:solidFill>
                    <a:round/>
                    <a:headEnd/>
                    <a:tailEnd/>
                  </a14:hiddenLine>
                </a:ext>
              </a:extLst>
            </p:spPr>
            <p:txBody>
              <a:bodyPr anchor="ctr"/>
              <a:lstStyle/>
              <a:p>
                <a:pPr algn="ctr"/>
                <a:endParaRPr/>
              </a:p>
            </p:txBody>
          </p:sp>
        </p:grpSp>
      </p:grpSp>
      <p:sp>
        <p:nvSpPr>
          <p:cNvPr id="38" name="矩形 37">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3" name="标注: 线形 2">
            <a:extLst>
              <a:ext uri="{FF2B5EF4-FFF2-40B4-BE49-F238E27FC236}">
                <a16:creationId xmlns:a16="http://schemas.microsoft.com/office/drawing/2014/main" id="{A82AB35D-6A14-47B7-B703-E6850AFE7921}"/>
              </a:ext>
            </a:extLst>
          </p:cNvPr>
          <p:cNvSpPr/>
          <p:nvPr/>
        </p:nvSpPr>
        <p:spPr bwMode="auto">
          <a:xfrm>
            <a:off x="6482482" y="1625781"/>
            <a:ext cx="2373146" cy="2268181"/>
          </a:xfrm>
          <a:prstGeom prst="borderCallout1">
            <a:avLst>
              <a:gd name="adj1" fmla="val 47998"/>
              <a:gd name="adj2" fmla="val -778"/>
              <a:gd name="adj3" fmla="val 76649"/>
              <a:gd name="adj4" fmla="val -2322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企业可以根据计划产量对所有的生产要素投入量进行调整，从而在对应的每个产量水平上，都能实现生产要素的最优组合，因此长期成本会比短期成本更低。</a:t>
            </a:r>
          </a:p>
        </p:txBody>
      </p:sp>
    </p:spTree>
    <p:extLst>
      <p:ext uri="{BB962C8B-B14F-4D97-AF65-F5344CB8AC3E}">
        <p14:creationId xmlns:p14="http://schemas.microsoft.com/office/powerpoint/2010/main" val="127636948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circle(in)">
                                      <p:cBhvr>
                                        <p:cTn id="14" dur="2000"/>
                                        <p:tgtEl>
                                          <p:spTgt spid="28"/>
                                        </p:tgtEl>
                                      </p:cBhvr>
                                    </p:animEffect>
                                  </p:childTnLst>
                                </p:cTn>
                              </p:par>
                              <p:par>
                                <p:cTn id="15" presetID="6" presetClass="entr" presetSubtype="16"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ircle(in)">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heel(1)">
                                      <p:cBhvr>
                                        <p:cTn id="22" dur="2000"/>
                                        <p:tgtEl>
                                          <p:spTgt spid="4"/>
                                        </p:tgtEl>
                                      </p:cBhvr>
                                    </p:animEffect>
                                  </p:childTnLst>
                                </p:cTn>
                              </p:par>
                              <p:par>
                                <p:cTn id="23" presetID="21" presetClass="entr" presetSubtype="1"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wheel(1)">
                                      <p:cBhvr>
                                        <p:cTn id="25" dur="2000"/>
                                        <p:tgtEl>
                                          <p:spTgt spid="19"/>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wheel(1)">
                                      <p:cBhvr>
                                        <p:cTn id="30" dur="2000"/>
                                        <p:tgtEl>
                                          <p:spTgt spid="5"/>
                                        </p:tgtEl>
                                      </p:cBhvr>
                                    </p:animEffect>
                                  </p:childTnLst>
                                </p:cTn>
                              </p:par>
                              <p:par>
                                <p:cTn id="31" presetID="21" presetClass="entr" presetSubtype="1" fill="hold"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wheel(1)">
                                      <p:cBhvr>
                                        <p:cTn id="33"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 grpId="0" animBg="1"/>
      <p:bldP spid="4" grpId="0"/>
      <p:bldP spid="5" grpId="0"/>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图片 49">
            <a:extLst>
              <a:ext uri="{FF2B5EF4-FFF2-40B4-BE49-F238E27FC236}">
                <a16:creationId xmlns:a16="http://schemas.microsoft.com/office/drawing/2014/main" id="{BF772C22-487B-4DAF-9DA1-02998C4E88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5101" y="2996860"/>
            <a:ext cx="2115495" cy="2103302"/>
          </a:xfrm>
          <a:prstGeom prst="rect">
            <a:avLst/>
          </a:prstGeom>
        </p:spPr>
      </p:pic>
      <p:pic>
        <p:nvPicPr>
          <p:cNvPr id="56" name="图片 55">
            <a:extLst>
              <a:ext uri="{FF2B5EF4-FFF2-40B4-BE49-F238E27FC236}">
                <a16:creationId xmlns:a16="http://schemas.microsoft.com/office/drawing/2014/main" id="{EACE64B1-AC7F-4CF3-91DD-ACD26319DA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6279" y="3020486"/>
            <a:ext cx="2487384" cy="1792379"/>
          </a:xfrm>
          <a:prstGeom prst="rect">
            <a:avLst/>
          </a:prstGeom>
        </p:spPr>
      </p:pic>
      <p:sp>
        <p:nvSpPr>
          <p:cNvPr id="36" name="矩形: 圆角 35">
            <a:extLst>
              <a:ext uri="{FF2B5EF4-FFF2-40B4-BE49-F238E27FC236}">
                <a16:creationId xmlns:a16="http://schemas.microsoft.com/office/drawing/2014/main" id="{9D72633B-1421-463C-BABB-D2CD873291BB}"/>
              </a:ext>
            </a:extLst>
          </p:cNvPr>
          <p:cNvSpPr/>
          <p:nvPr/>
        </p:nvSpPr>
        <p:spPr>
          <a:xfrm>
            <a:off x="610025" y="1634689"/>
            <a:ext cx="4606871"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3" name="矩形 2">
            <a:extLst>
              <a:ext uri="{FF2B5EF4-FFF2-40B4-BE49-F238E27FC236}">
                <a16:creationId xmlns:a16="http://schemas.microsoft.com/office/drawing/2014/main" id="{4E1C1893-AB90-4458-A5F7-957881641DB7}"/>
              </a:ext>
            </a:extLst>
          </p:cNvPr>
          <p:cNvSpPr/>
          <p:nvPr/>
        </p:nvSpPr>
        <p:spPr>
          <a:xfrm>
            <a:off x="621085" y="1666260"/>
            <a:ext cx="4454971"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长期总成本曲线的推导</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包络线</a:t>
            </a:r>
          </a:p>
        </p:txBody>
      </p:sp>
      <p:grpSp>
        <p:nvGrpSpPr>
          <p:cNvPr id="18" name="组合 4"/>
          <p:cNvGrpSpPr>
            <a:grpSpLocks/>
          </p:cNvGrpSpPr>
          <p:nvPr/>
        </p:nvGrpSpPr>
        <p:grpSpPr bwMode="auto">
          <a:xfrm>
            <a:off x="747762" y="2923234"/>
            <a:ext cx="3922712" cy="3282949"/>
            <a:chOff x="0" y="0"/>
            <a:chExt cx="2107024" cy="2497739"/>
          </a:xfrm>
        </p:grpSpPr>
        <p:cxnSp>
          <p:nvCxnSpPr>
            <p:cNvPr id="25" name="直接箭头连接符 8"/>
            <p:cNvCxnSpPr>
              <a:cxnSpLocks noChangeShapeType="1"/>
            </p:cNvCxnSpPr>
            <p:nvPr/>
          </p:nvCxnSpPr>
          <p:spPr bwMode="auto">
            <a:xfrm>
              <a:off x="179920" y="2142644"/>
              <a:ext cx="1777029" cy="31403"/>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26" name="直接箭头连接符 9"/>
            <p:cNvCxnSpPr>
              <a:cxnSpLocks noChangeShapeType="1"/>
            </p:cNvCxnSpPr>
            <p:nvPr/>
          </p:nvCxnSpPr>
          <p:spPr bwMode="auto">
            <a:xfrm rot="5400000" flipH="1" flipV="1">
              <a:off x="-890554" y="1070469"/>
              <a:ext cx="2142645" cy="1705"/>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27" name="Object 15"/>
            <p:cNvGraphicFramePr>
              <a:graphicFrameLocks noChangeAspect="1"/>
            </p:cNvGraphicFramePr>
            <p:nvPr/>
          </p:nvGraphicFramePr>
          <p:xfrm>
            <a:off x="0" y="2174061"/>
            <a:ext cx="114262" cy="188417"/>
          </p:xfrm>
          <a:graphic>
            <a:graphicData uri="http://schemas.openxmlformats.org/presentationml/2006/ole">
              <mc:AlternateContent xmlns:mc="http://schemas.openxmlformats.org/markup-compatibility/2006">
                <mc:Choice xmlns:v="urn:schemas-microsoft-com:vml" Requires="v">
                  <p:oleObj spid="_x0000_s123160" r:id="rId5" imgW="153248" imgH="178737" progId="">
                    <p:embed/>
                  </p:oleObj>
                </mc:Choice>
                <mc:Fallback>
                  <p:oleObj r:id="rId5" imgW="153248" imgH="178737" progId="">
                    <p:embed/>
                    <p:pic>
                      <p:nvPicPr>
                        <p:cNvPr id="67599"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174061"/>
                          <a:ext cx="114262" cy="188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16"/>
            <p:cNvGraphicFramePr>
              <a:graphicFrameLocks noChangeAspect="1"/>
            </p:cNvGraphicFramePr>
            <p:nvPr/>
          </p:nvGraphicFramePr>
          <p:xfrm>
            <a:off x="38372" y="108703"/>
            <a:ext cx="114262" cy="188417"/>
          </p:xfrm>
          <a:graphic>
            <a:graphicData uri="http://schemas.openxmlformats.org/presentationml/2006/ole">
              <mc:AlternateContent xmlns:mc="http://schemas.openxmlformats.org/markup-compatibility/2006">
                <mc:Choice xmlns:v="urn:schemas-microsoft-com:vml" Requires="v">
                  <p:oleObj spid="_x0000_s123161" r:id="rId7" imgW="153248" imgH="178737" progId="">
                    <p:embed/>
                  </p:oleObj>
                </mc:Choice>
                <mc:Fallback>
                  <p:oleObj r:id="rId7" imgW="153248" imgH="178737" progId="">
                    <p:embed/>
                    <p:pic>
                      <p:nvPicPr>
                        <p:cNvPr id="6760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372" y="108703"/>
                          <a:ext cx="114262" cy="188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17"/>
            <p:cNvGraphicFramePr>
              <a:graphicFrameLocks noChangeAspect="1"/>
            </p:cNvGraphicFramePr>
            <p:nvPr/>
          </p:nvGraphicFramePr>
          <p:xfrm>
            <a:off x="1803464" y="2281543"/>
            <a:ext cx="303560" cy="216196"/>
          </p:xfrm>
          <a:graphic>
            <a:graphicData uri="http://schemas.openxmlformats.org/presentationml/2006/ole">
              <mc:AlternateContent xmlns:mc="http://schemas.openxmlformats.org/markup-compatibility/2006">
                <mc:Choice xmlns:v="urn:schemas-microsoft-com:vml" Requires="v">
                  <p:oleObj spid="_x0000_s123162" r:id="rId9" imgW="153381" imgH="204403" progId="">
                    <p:embed/>
                  </p:oleObj>
                </mc:Choice>
                <mc:Fallback>
                  <p:oleObj r:id="rId9" imgW="153381" imgH="204403" progId="">
                    <p:embed/>
                    <p:pic>
                      <p:nvPicPr>
                        <p:cNvPr id="67601"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03464" y="2281543"/>
                          <a:ext cx="303560" cy="216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34" name="矩形 33"/>
          <p:cNvSpPr/>
          <p:nvPr/>
        </p:nvSpPr>
        <p:spPr>
          <a:xfrm>
            <a:off x="5076056" y="2750392"/>
            <a:ext cx="3492388" cy="2400594"/>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随着产量的变动</a:t>
            </a:r>
            <a:r>
              <a:rPr lang="en-US" sz="1700" dirty="0">
                <a:latin typeface="微软雅黑" panose="020B0503020204020204" pitchFamily="34" charset="-122"/>
                <a:ea typeface="微软雅黑" panose="020B0503020204020204" pitchFamily="34" charset="-122"/>
              </a:rPr>
              <a:t>，企业不断地调整短期内固定不变的生产要素投入数量，使得生产任意产量时所对应的成本都是可供选择的短期生产成本中生产该产量所能达到的最低成本点</a:t>
            </a:r>
            <a:r>
              <a:rPr lang="zh-CN" altLang="en-US" sz="1700" dirty="0">
                <a:latin typeface="微软雅黑" panose="020B0503020204020204" pitchFamily="34" charset="-122"/>
                <a:ea typeface="微软雅黑" panose="020B0503020204020204" pitchFamily="34" charset="-122"/>
              </a:rPr>
              <a:t>。</a:t>
            </a:r>
            <a:endParaRPr lang="en-US" sz="1700" dirty="0">
              <a:latin typeface="微软雅黑" panose="020B0503020204020204" pitchFamily="34" charset="-122"/>
              <a:ea typeface="微软雅黑" panose="020B0503020204020204" pitchFamily="34" charset="-122"/>
            </a:endParaRPr>
          </a:p>
        </p:txBody>
      </p:sp>
      <p:sp>
        <p:nvSpPr>
          <p:cNvPr id="35" name="矩形 34">
            <a:extLst>
              <a:ext uri="{FF2B5EF4-FFF2-40B4-BE49-F238E27FC236}">
                <a16:creationId xmlns:a16="http://schemas.microsoft.com/office/drawing/2014/main" id="{C671315B-1BBF-4C4A-9354-45E69006A068}"/>
              </a:ext>
            </a:extLst>
          </p:cNvPr>
          <p:cNvSpPr/>
          <p:nvPr/>
        </p:nvSpPr>
        <p:spPr>
          <a:xfrm>
            <a:off x="580922" y="520573"/>
            <a:ext cx="312698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二、长期总成本曲线</a:t>
            </a:r>
          </a:p>
        </p:txBody>
      </p:sp>
      <p:graphicFrame>
        <p:nvGraphicFramePr>
          <p:cNvPr id="38" name="Object 27">
            <a:extLst>
              <a:ext uri="{FF2B5EF4-FFF2-40B4-BE49-F238E27FC236}">
                <a16:creationId xmlns:a16="http://schemas.microsoft.com/office/drawing/2014/main" id="{53CDF004-87E9-4C15-8C60-6F7C842E7C46}"/>
              </a:ext>
            </a:extLst>
          </p:cNvPr>
          <p:cNvGraphicFramePr>
            <a:graphicFrameLocks noChangeAspect="1"/>
          </p:cNvGraphicFramePr>
          <p:nvPr/>
        </p:nvGraphicFramePr>
        <p:xfrm>
          <a:off x="2533705" y="2708920"/>
          <a:ext cx="355599" cy="320675"/>
        </p:xfrm>
        <a:graphic>
          <a:graphicData uri="http://schemas.openxmlformats.org/presentationml/2006/ole">
            <mc:AlternateContent xmlns:mc="http://schemas.openxmlformats.org/markup-compatibility/2006">
              <mc:Choice xmlns:v="urn:schemas-microsoft-com:vml" Requires="v">
                <p:oleObj spid="_x0000_s123163" r:id="rId11" imgW="255091" imgH="229614" progId="">
                  <p:embed/>
                </p:oleObj>
              </mc:Choice>
              <mc:Fallback>
                <p:oleObj r:id="rId11" imgW="255091" imgH="229614" progId="">
                  <p:embed/>
                  <p:pic>
                    <p:nvPicPr>
                      <p:cNvPr id="28" name="Object 27">
                        <a:extLst>
                          <a:ext uri="{FF2B5EF4-FFF2-40B4-BE49-F238E27FC236}">
                            <a16:creationId xmlns:a16="http://schemas.microsoft.com/office/drawing/2014/main" id="{7376800E-C3CB-4711-A749-50A1AF3B9A69}"/>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533705" y="2708920"/>
                        <a:ext cx="355599"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 name="Object 24">
            <a:extLst>
              <a:ext uri="{FF2B5EF4-FFF2-40B4-BE49-F238E27FC236}">
                <a16:creationId xmlns:a16="http://schemas.microsoft.com/office/drawing/2014/main" id="{7D30AFA2-DE79-4A12-AD8B-CF1732F2095B}"/>
              </a:ext>
            </a:extLst>
          </p:cNvPr>
          <p:cNvGraphicFramePr>
            <a:graphicFrameLocks noChangeAspect="1"/>
          </p:cNvGraphicFramePr>
          <p:nvPr/>
        </p:nvGraphicFramePr>
        <p:xfrm>
          <a:off x="676324" y="5280685"/>
          <a:ext cx="390524" cy="320675"/>
        </p:xfrm>
        <a:graphic>
          <a:graphicData uri="http://schemas.openxmlformats.org/presentationml/2006/ole">
            <mc:AlternateContent xmlns:mc="http://schemas.openxmlformats.org/markup-compatibility/2006">
              <mc:Choice xmlns:v="urn:schemas-microsoft-com:vml" Requires="v">
                <p:oleObj spid="_x0000_s123164" r:id="rId13" imgW="280813" imgH="229813" progId="">
                  <p:embed/>
                </p:oleObj>
              </mc:Choice>
              <mc:Fallback>
                <p:oleObj r:id="rId13" imgW="280813" imgH="229813" progId="">
                  <p:embed/>
                  <p:pic>
                    <p:nvPicPr>
                      <p:cNvPr id="10"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76324" y="5280685"/>
                        <a:ext cx="390524"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 name="Object 25">
            <a:extLst>
              <a:ext uri="{FF2B5EF4-FFF2-40B4-BE49-F238E27FC236}">
                <a16:creationId xmlns:a16="http://schemas.microsoft.com/office/drawing/2014/main" id="{E070814E-7358-422C-AF32-ED68FB0175A4}"/>
              </a:ext>
            </a:extLst>
          </p:cNvPr>
          <p:cNvGraphicFramePr>
            <a:graphicFrameLocks noChangeAspect="1"/>
          </p:cNvGraphicFramePr>
          <p:nvPr>
            <p:extLst>
              <p:ext uri="{D42A27DB-BD31-4B8C-83A1-F6EECF244321}">
                <p14:modId xmlns:p14="http://schemas.microsoft.com/office/powerpoint/2010/main" val="1226085096"/>
              </p:ext>
            </p:extLst>
          </p:nvPr>
        </p:nvGraphicFramePr>
        <p:xfrm>
          <a:off x="676324" y="4908525"/>
          <a:ext cx="407985" cy="320675"/>
        </p:xfrm>
        <a:graphic>
          <a:graphicData uri="http://schemas.openxmlformats.org/presentationml/2006/ole">
            <mc:AlternateContent xmlns:mc="http://schemas.openxmlformats.org/markup-compatibility/2006">
              <mc:Choice xmlns:v="urn:schemas-microsoft-com:vml" Requires="v">
                <p:oleObj spid="_x0000_s123165" r:id="rId15" imgW="293052" imgH="229414" progId="">
                  <p:embed/>
                </p:oleObj>
              </mc:Choice>
              <mc:Fallback>
                <p:oleObj r:id="rId15" imgW="293052" imgH="229414" progId="">
                  <p:embed/>
                  <p:pic>
                    <p:nvPicPr>
                      <p:cNvPr id="26" name="Object 25">
                        <a:extLst>
                          <a:ext uri="{FF2B5EF4-FFF2-40B4-BE49-F238E27FC236}">
                            <a16:creationId xmlns:a16="http://schemas.microsoft.com/office/drawing/2014/main" id="{7B08F52F-E364-49D6-8696-E38C0AC835C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6324" y="4908525"/>
                        <a:ext cx="40798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6" name="Object 28">
            <a:extLst>
              <a:ext uri="{FF2B5EF4-FFF2-40B4-BE49-F238E27FC236}">
                <a16:creationId xmlns:a16="http://schemas.microsoft.com/office/drawing/2014/main" id="{89DFA9BA-D29F-48DE-B5B4-61AAAE21747D}"/>
              </a:ext>
            </a:extLst>
          </p:cNvPr>
          <p:cNvGraphicFramePr>
            <a:graphicFrameLocks noChangeAspect="1"/>
          </p:cNvGraphicFramePr>
          <p:nvPr>
            <p:extLst>
              <p:ext uri="{D42A27DB-BD31-4B8C-83A1-F6EECF244321}">
                <p14:modId xmlns:p14="http://schemas.microsoft.com/office/powerpoint/2010/main" val="2578662762"/>
              </p:ext>
            </p:extLst>
          </p:nvPr>
        </p:nvGraphicFramePr>
        <p:xfrm>
          <a:off x="3059832" y="2708920"/>
          <a:ext cx="373061" cy="320675"/>
        </p:xfrm>
        <a:graphic>
          <a:graphicData uri="http://schemas.openxmlformats.org/presentationml/2006/ole">
            <mc:AlternateContent xmlns:mc="http://schemas.openxmlformats.org/markup-compatibility/2006">
              <mc:Choice xmlns:v="urn:schemas-microsoft-com:vml" Requires="v">
                <p:oleObj spid="_x0000_s123166" r:id="rId17" imgW="267713" imgH="229514" progId="">
                  <p:embed/>
                </p:oleObj>
              </mc:Choice>
              <mc:Fallback>
                <p:oleObj r:id="rId17" imgW="267713" imgH="229514" progId="">
                  <p:embed/>
                  <p:pic>
                    <p:nvPicPr>
                      <p:cNvPr id="29" name="Object 28">
                        <a:extLst>
                          <a:ext uri="{FF2B5EF4-FFF2-40B4-BE49-F238E27FC236}">
                            <a16:creationId xmlns:a16="http://schemas.microsoft.com/office/drawing/2014/main" id="{EAAE51A0-B340-49E0-A7F0-CA55D6DE504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59832" y="2708920"/>
                        <a:ext cx="373061"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 name="Object 26">
            <a:extLst>
              <a:ext uri="{FF2B5EF4-FFF2-40B4-BE49-F238E27FC236}">
                <a16:creationId xmlns:a16="http://schemas.microsoft.com/office/drawing/2014/main" id="{5F59B264-30CD-43B7-B761-841D762CC65B}"/>
              </a:ext>
            </a:extLst>
          </p:cNvPr>
          <p:cNvGraphicFramePr>
            <a:graphicFrameLocks noChangeAspect="1"/>
          </p:cNvGraphicFramePr>
          <p:nvPr/>
        </p:nvGraphicFramePr>
        <p:xfrm>
          <a:off x="676324" y="4494868"/>
          <a:ext cx="407985" cy="320675"/>
        </p:xfrm>
        <a:graphic>
          <a:graphicData uri="http://schemas.openxmlformats.org/presentationml/2006/ole">
            <mc:AlternateContent xmlns:mc="http://schemas.openxmlformats.org/markup-compatibility/2006">
              <mc:Choice xmlns:v="urn:schemas-microsoft-com:vml" Requires="v">
                <p:oleObj spid="_x0000_s123167" r:id="rId19" imgW="293052" imgH="229414" progId="">
                  <p:embed/>
                </p:oleObj>
              </mc:Choice>
              <mc:Fallback>
                <p:oleObj r:id="rId19" imgW="293052" imgH="229414" progId="">
                  <p:embed/>
                  <p:pic>
                    <p:nvPicPr>
                      <p:cNvPr id="9" name="Object 26">
                        <a:extLst>
                          <a:ext uri="{FF2B5EF4-FFF2-40B4-BE49-F238E27FC236}">
                            <a16:creationId xmlns:a16="http://schemas.microsoft.com/office/drawing/2014/main" id="{6506E817-1DB6-4690-B6C2-3796C2C38722}"/>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76324" y="4494868"/>
                        <a:ext cx="40798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4" name="Object 29">
            <a:extLst>
              <a:ext uri="{FF2B5EF4-FFF2-40B4-BE49-F238E27FC236}">
                <a16:creationId xmlns:a16="http://schemas.microsoft.com/office/drawing/2014/main" id="{CA4A15EB-C4D5-4509-A82F-0F9F75368BD8}"/>
              </a:ext>
            </a:extLst>
          </p:cNvPr>
          <p:cNvGraphicFramePr>
            <a:graphicFrameLocks noChangeAspect="1"/>
          </p:cNvGraphicFramePr>
          <p:nvPr>
            <p:extLst>
              <p:ext uri="{D42A27DB-BD31-4B8C-83A1-F6EECF244321}">
                <p14:modId xmlns:p14="http://schemas.microsoft.com/office/powerpoint/2010/main" val="1039348357"/>
              </p:ext>
            </p:extLst>
          </p:nvPr>
        </p:nvGraphicFramePr>
        <p:xfrm>
          <a:off x="3478858" y="2708920"/>
          <a:ext cx="373062" cy="320675"/>
        </p:xfrm>
        <a:graphic>
          <a:graphicData uri="http://schemas.openxmlformats.org/presentationml/2006/ole">
            <mc:AlternateContent xmlns:mc="http://schemas.openxmlformats.org/markup-compatibility/2006">
              <mc:Choice xmlns:v="urn:schemas-microsoft-com:vml" Requires="v">
                <p:oleObj spid="_x0000_s123168" r:id="rId21" imgW="267713" imgH="229514" progId="">
                  <p:embed/>
                </p:oleObj>
              </mc:Choice>
              <mc:Fallback>
                <p:oleObj r:id="rId21" imgW="267713" imgH="229514" progId="">
                  <p:embed/>
                  <p:pic>
                    <p:nvPicPr>
                      <p:cNvPr id="10" name="Object 29">
                        <a:extLst>
                          <a:ext uri="{FF2B5EF4-FFF2-40B4-BE49-F238E27FC236}">
                            <a16:creationId xmlns:a16="http://schemas.microsoft.com/office/drawing/2014/main" id="{30CAF7CF-5784-468F-8649-78FC6B19F2DB}"/>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78858" y="2708920"/>
                        <a:ext cx="37306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57" name="直接连接符 39">
            <a:extLst>
              <a:ext uri="{FF2B5EF4-FFF2-40B4-BE49-F238E27FC236}">
                <a16:creationId xmlns:a16="http://schemas.microsoft.com/office/drawing/2014/main" id="{84C68263-0CA3-4C2C-A83D-6D2069AA71D8}"/>
              </a:ext>
            </a:extLst>
          </p:cNvPr>
          <p:cNvCxnSpPr>
            <a:cxnSpLocks noChangeShapeType="1"/>
          </p:cNvCxnSpPr>
          <p:nvPr/>
        </p:nvCxnSpPr>
        <p:spPr bwMode="auto">
          <a:xfrm rot="5400000">
            <a:off x="1212899" y="5029845"/>
            <a:ext cx="1500188" cy="1588"/>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graphicFrame>
        <p:nvGraphicFramePr>
          <p:cNvPr id="58" name="Object 31">
            <a:extLst>
              <a:ext uri="{FF2B5EF4-FFF2-40B4-BE49-F238E27FC236}">
                <a16:creationId xmlns:a16="http://schemas.microsoft.com/office/drawing/2014/main" id="{47A1CF6A-7678-49EF-B1D7-2AE3362FB10F}"/>
              </a:ext>
            </a:extLst>
          </p:cNvPr>
          <p:cNvGraphicFramePr>
            <a:graphicFrameLocks noChangeAspect="1"/>
          </p:cNvGraphicFramePr>
          <p:nvPr/>
        </p:nvGraphicFramePr>
        <p:xfrm>
          <a:off x="1819328" y="5780750"/>
          <a:ext cx="247649" cy="320675"/>
        </p:xfrm>
        <a:graphic>
          <a:graphicData uri="http://schemas.openxmlformats.org/presentationml/2006/ole">
            <mc:AlternateContent xmlns:mc="http://schemas.openxmlformats.org/markup-compatibility/2006">
              <mc:Choice xmlns:v="urn:schemas-microsoft-com:vml" Requires="v">
                <p:oleObj spid="_x0000_s123169" r:id="rId23" imgW="178504" imgH="229414" progId="">
                  <p:embed/>
                </p:oleObj>
              </mc:Choice>
              <mc:Fallback>
                <p:oleObj r:id="rId23" imgW="178504" imgH="229414" progId="">
                  <p:embed/>
                  <p:pic>
                    <p:nvPicPr>
                      <p:cNvPr id="22" name="Object 31">
                        <a:extLst>
                          <a:ext uri="{FF2B5EF4-FFF2-40B4-BE49-F238E27FC236}">
                            <a16:creationId xmlns:a16="http://schemas.microsoft.com/office/drawing/2014/main" id="{45909DA2-481B-4C0A-BF81-DBEF4178CC06}"/>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819328" y="5780750"/>
                        <a:ext cx="247649"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59" name="直接连接符 42">
            <a:extLst>
              <a:ext uri="{FF2B5EF4-FFF2-40B4-BE49-F238E27FC236}">
                <a16:creationId xmlns:a16="http://schemas.microsoft.com/office/drawing/2014/main" id="{E7583606-FC49-456B-82D5-CDE46E3AB23B}"/>
              </a:ext>
            </a:extLst>
          </p:cNvPr>
          <p:cNvCxnSpPr>
            <a:cxnSpLocks noChangeShapeType="1"/>
          </p:cNvCxnSpPr>
          <p:nvPr/>
        </p:nvCxnSpPr>
        <p:spPr bwMode="auto">
          <a:xfrm rot="5400000">
            <a:off x="1506334" y="4567089"/>
            <a:ext cx="2428875" cy="1588"/>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graphicFrame>
        <p:nvGraphicFramePr>
          <p:cNvPr id="60" name="Object 32">
            <a:extLst>
              <a:ext uri="{FF2B5EF4-FFF2-40B4-BE49-F238E27FC236}">
                <a16:creationId xmlns:a16="http://schemas.microsoft.com/office/drawing/2014/main" id="{228F5CB0-79C5-441A-BC34-E5EB5B010A07}"/>
              </a:ext>
            </a:extLst>
          </p:cNvPr>
          <p:cNvGraphicFramePr>
            <a:graphicFrameLocks noChangeAspect="1"/>
          </p:cNvGraphicFramePr>
          <p:nvPr>
            <p:extLst>
              <p:ext uri="{D42A27DB-BD31-4B8C-83A1-F6EECF244321}">
                <p14:modId xmlns:p14="http://schemas.microsoft.com/office/powerpoint/2010/main" val="910849162"/>
              </p:ext>
            </p:extLst>
          </p:nvPr>
        </p:nvGraphicFramePr>
        <p:xfrm>
          <a:off x="2577109" y="5780750"/>
          <a:ext cx="266699" cy="320675"/>
        </p:xfrm>
        <a:graphic>
          <a:graphicData uri="http://schemas.openxmlformats.org/presentationml/2006/ole">
            <mc:AlternateContent xmlns:mc="http://schemas.openxmlformats.org/markup-compatibility/2006">
              <mc:Choice xmlns:v="urn:schemas-microsoft-com:vml" Requires="v">
                <p:oleObj spid="_x0000_s123170" r:id="rId25" imgW="191481" imgH="229714" progId="">
                  <p:embed/>
                </p:oleObj>
              </mc:Choice>
              <mc:Fallback>
                <p:oleObj r:id="rId25" imgW="191481" imgH="229714" progId="">
                  <p:embed/>
                  <p:pic>
                    <p:nvPicPr>
                      <p:cNvPr id="23" name="Object 32">
                        <a:extLst>
                          <a:ext uri="{FF2B5EF4-FFF2-40B4-BE49-F238E27FC236}">
                            <a16:creationId xmlns:a16="http://schemas.microsoft.com/office/drawing/2014/main" id="{FE330C73-D793-4236-82EE-896D0C67FC7B}"/>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577109" y="5780750"/>
                        <a:ext cx="266699"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5" name="任意多边形 25">
            <a:extLst>
              <a:ext uri="{FF2B5EF4-FFF2-40B4-BE49-F238E27FC236}">
                <a16:creationId xmlns:a16="http://schemas.microsoft.com/office/drawing/2014/main" id="{074E8F14-3071-4562-8158-599983FA1815}"/>
              </a:ext>
            </a:extLst>
          </p:cNvPr>
          <p:cNvSpPr>
            <a:spLocks noChangeArrowheads="1"/>
          </p:cNvSpPr>
          <p:nvPr/>
        </p:nvSpPr>
        <p:spPr bwMode="auto">
          <a:xfrm>
            <a:off x="3046085" y="3030727"/>
            <a:ext cx="561975" cy="661988"/>
          </a:xfrm>
          <a:custGeom>
            <a:avLst/>
            <a:gdLst>
              <a:gd name="T0" fmla="*/ 0 w 514350"/>
              <a:gd name="T1" fmla="*/ 661989 h 381000"/>
              <a:gd name="T2" fmla="*/ 187326 w 514350"/>
              <a:gd name="T3" fmla="*/ 595790 h 381000"/>
              <a:gd name="T4" fmla="*/ 374651 w 514350"/>
              <a:gd name="T5" fmla="*/ 430293 h 381000"/>
              <a:gd name="T6" fmla="*/ 561977 w 514350"/>
              <a:gd name="T7" fmla="*/ 0 h 381000"/>
              <a:gd name="T8" fmla="*/ 0 60000 65536"/>
              <a:gd name="T9" fmla="*/ 0 60000 65536"/>
              <a:gd name="T10" fmla="*/ 0 60000 65536"/>
              <a:gd name="T11" fmla="*/ 0 60000 65536"/>
              <a:gd name="T12" fmla="*/ 0 w 514350"/>
              <a:gd name="T13" fmla="*/ 0 h 381000"/>
              <a:gd name="T14" fmla="*/ 514350 w 514350"/>
              <a:gd name="T15" fmla="*/ 381000 h 381000"/>
            </a:gdLst>
            <a:ahLst/>
            <a:cxnLst>
              <a:cxn ang="T8">
                <a:pos x="T0" y="T1"/>
              </a:cxn>
              <a:cxn ang="T9">
                <a:pos x="T2" y="T3"/>
              </a:cxn>
              <a:cxn ang="T10">
                <a:pos x="T4" y="T5"/>
              </a:cxn>
              <a:cxn ang="T11">
                <a:pos x="T6" y="T7"/>
              </a:cxn>
            </a:cxnLst>
            <a:rect l="T12" t="T13" r="T14" b="T15"/>
            <a:pathLst>
              <a:path w="514350" h="381000">
                <a:moveTo>
                  <a:pt x="0" y="381000"/>
                </a:moveTo>
                <a:cubicBezTo>
                  <a:pt x="57150" y="373062"/>
                  <a:pt x="114300" y="365125"/>
                  <a:pt x="171450" y="342900"/>
                </a:cubicBezTo>
                <a:cubicBezTo>
                  <a:pt x="228600" y="320675"/>
                  <a:pt x="285750" y="304800"/>
                  <a:pt x="342900" y="247650"/>
                </a:cubicBezTo>
                <a:cubicBezTo>
                  <a:pt x="400050" y="190500"/>
                  <a:pt x="457200" y="95250"/>
                  <a:pt x="514350" y="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66" name="Object 30">
            <a:extLst>
              <a:ext uri="{FF2B5EF4-FFF2-40B4-BE49-F238E27FC236}">
                <a16:creationId xmlns:a16="http://schemas.microsoft.com/office/drawing/2014/main" id="{8E711706-E729-4F96-87FA-4CFA452871A4}"/>
              </a:ext>
            </a:extLst>
          </p:cNvPr>
          <p:cNvGraphicFramePr>
            <a:graphicFrameLocks noChangeAspect="1"/>
          </p:cNvGraphicFramePr>
          <p:nvPr>
            <p:extLst>
              <p:ext uri="{D42A27DB-BD31-4B8C-83A1-F6EECF244321}">
                <p14:modId xmlns:p14="http://schemas.microsoft.com/office/powerpoint/2010/main" val="3279755783"/>
              </p:ext>
            </p:extLst>
          </p:nvPr>
        </p:nvGraphicFramePr>
        <p:xfrm>
          <a:off x="3630767" y="3210251"/>
          <a:ext cx="461961" cy="247650"/>
        </p:xfrm>
        <a:graphic>
          <a:graphicData uri="http://schemas.openxmlformats.org/presentationml/2006/ole">
            <mc:AlternateContent xmlns:mc="http://schemas.openxmlformats.org/markup-compatibility/2006">
              <mc:Choice xmlns:v="urn:schemas-microsoft-com:vml" Requires="v">
                <p:oleObj spid="_x0000_s123171" r:id="rId27" imgW="330804" imgH="178271" progId="">
                  <p:embed/>
                </p:oleObj>
              </mc:Choice>
              <mc:Fallback>
                <p:oleObj r:id="rId27" imgW="330804" imgH="178271" progId="">
                  <p:embed/>
                  <p:pic>
                    <p:nvPicPr>
                      <p:cNvPr id="21" name="Object 30">
                        <a:extLst>
                          <a:ext uri="{FF2B5EF4-FFF2-40B4-BE49-F238E27FC236}">
                            <a16:creationId xmlns:a16="http://schemas.microsoft.com/office/drawing/2014/main" id="{B77A7B75-7577-4485-9D76-B76EC82EAD3A}"/>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630767" y="3210251"/>
                        <a:ext cx="461961"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68" name="图片 67">
            <a:extLst>
              <a:ext uri="{FF2B5EF4-FFF2-40B4-BE49-F238E27FC236}">
                <a16:creationId xmlns:a16="http://schemas.microsoft.com/office/drawing/2014/main" id="{91C7CE8E-7497-4F10-91AA-547AA9171F47}"/>
              </a:ext>
            </a:extLst>
          </p:cNvPr>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1140549" y="3006353"/>
            <a:ext cx="1676545" cy="2548349"/>
          </a:xfrm>
          <a:prstGeom prst="rect">
            <a:avLst/>
          </a:prstGeom>
        </p:spPr>
      </p:pic>
      <p:pic>
        <p:nvPicPr>
          <p:cNvPr id="61" name="图片 60">
            <a:extLst>
              <a:ext uri="{FF2B5EF4-FFF2-40B4-BE49-F238E27FC236}">
                <a16:creationId xmlns:a16="http://schemas.microsoft.com/office/drawing/2014/main" id="{7952001D-5A65-407B-B59D-4BF0EC989E8E}"/>
              </a:ext>
            </a:extLst>
          </p:cNvPr>
          <p:cNvPicPr>
            <a:picLocks noChangeAspect="1"/>
          </p:cNvPicPr>
          <p:nvPr/>
        </p:nvPicPr>
        <p:blipFill>
          <a:blip r:embed="rId30">
            <a:duotone>
              <a:schemeClr val="accent2">
                <a:shade val="45000"/>
                <a:satMod val="135000"/>
              </a:schemeClr>
              <a:prstClr val="white"/>
            </a:duotone>
            <a:extLst>
              <a:ext uri="{BEBA8EAE-BF5A-486C-A8C5-ECC9F3942E4B}">
                <a14:imgProps xmlns:a14="http://schemas.microsoft.com/office/drawing/2010/main">
                  <a14:imgLayer r:embed="rId31">
                    <a14:imgEffect>
                      <a14:colorTemperature colorTemp="7200"/>
                    </a14:imgEffect>
                    <a14:imgEffect>
                      <a14:saturation sat="300000"/>
                    </a14:imgEffect>
                  </a14:imgLayer>
                </a14:imgProps>
              </a:ext>
              <a:ext uri="{28A0092B-C50C-407E-A947-70E740481C1C}">
                <a14:useLocalDpi xmlns:a14="http://schemas.microsoft.com/office/drawing/2010/main" val="0"/>
              </a:ext>
            </a:extLst>
          </a:blip>
          <a:stretch>
            <a:fillRect/>
          </a:stretch>
        </p:blipFill>
        <p:spPr>
          <a:xfrm>
            <a:off x="1115616" y="4149080"/>
            <a:ext cx="1249788" cy="1402202"/>
          </a:xfrm>
          <a:prstGeom prst="rect">
            <a:avLst/>
          </a:prstGeom>
        </p:spPr>
      </p:pic>
      <p:sp>
        <p:nvSpPr>
          <p:cNvPr id="64" name="任意多边形 23">
            <a:extLst>
              <a:ext uri="{FF2B5EF4-FFF2-40B4-BE49-F238E27FC236}">
                <a16:creationId xmlns:a16="http://schemas.microsoft.com/office/drawing/2014/main" id="{A67A8031-5F87-42ED-8BBA-E8B5CFE3C4E0}"/>
              </a:ext>
            </a:extLst>
          </p:cNvPr>
          <p:cNvSpPr>
            <a:spLocks noChangeArrowheads="1"/>
          </p:cNvSpPr>
          <p:nvPr/>
        </p:nvSpPr>
        <p:spPr bwMode="auto">
          <a:xfrm rot="158579">
            <a:off x="2391961" y="3662828"/>
            <a:ext cx="642937" cy="500062"/>
          </a:xfrm>
          <a:custGeom>
            <a:avLst/>
            <a:gdLst>
              <a:gd name="T0" fmla="*/ 0 w 361950"/>
              <a:gd name="T1" fmla="*/ 500063 h 1028700"/>
              <a:gd name="T2" fmla="*/ 304550 w 361950"/>
              <a:gd name="T3" fmla="*/ 379677 h 1028700"/>
              <a:gd name="T4" fmla="*/ 642939 w 361950"/>
              <a:gd name="T5" fmla="*/ 0 h 1028700"/>
              <a:gd name="T6" fmla="*/ 0 60000 65536"/>
              <a:gd name="T7" fmla="*/ 0 60000 65536"/>
              <a:gd name="T8" fmla="*/ 0 60000 65536"/>
              <a:gd name="T9" fmla="*/ 0 w 361950"/>
              <a:gd name="T10" fmla="*/ 0 h 1028700"/>
              <a:gd name="T11" fmla="*/ 361950 w 361950"/>
              <a:gd name="T12" fmla="*/ 1028700 h 1028700"/>
            </a:gdLst>
            <a:ahLst/>
            <a:cxnLst>
              <a:cxn ang="T6">
                <a:pos x="T0" y="T1"/>
              </a:cxn>
              <a:cxn ang="T7">
                <a:pos x="T2" y="T3"/>
              </a:cxn>
              <a:cxn ang="T8">
                <a:pos x="T4" y="T5"/>
              </a:cxn>
            </a:cxnLst>
            <a:rect l="T9" t="T10" r="T11" b="T12"/>
            <a:pathLst>
              <a:path w="361950" h="1028700">
                <a:moveTo>
                  <a:pt x="0" y="1028700"/>
                </a:moveTo>
                <a:cubicBezTo>
                  <a:pt x="55562" y="990600"/>
                  <a:pt x="111125" y="952500"/>
                  <a:pt x="171450" y="781050"/>
                </a:cubicBezTo>
                <a:cubicBezTo>
                  <a:pt x="231775" y="609600"/>
                  <a:pt x="296862" y="304800"/>
                  <a:pt x="361950" y="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Tree>
    <p:extLst>
      <p:ext uri="{BB962C8B-B14F-4D97-AF65-F5344CB8AC3E}">
        <p14:creationId xmlns:p14="http://schemas.microsoft.com/office/powerpoint/2010/main" val="1002905297"/>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6"/>
                                        </p:tgtEl>
                                        <p:attrNameLst>
                                          <p:attrName>style.visibility</p:attrName>
                                        </p:attrNameLst>
                                      </p:cBhvr>
                                      <p:to>
                                        <p:strVal val="visible"/>
                                      </p:to>
                                    </p:set>
                                    <p:anim calcmode="lin" valueType="num">
                                      <p:cBhvr>
                                        <p:cTn id="14" dur="500" fill="hold"/>
                                        <p:tgtEl>
                                          <p:spTgt spid="36"/>
                                        </p:tgtEl>
                                        <p:attrNameLst>
                                          <p:attrName>ppt_w</p:attrName>
                                        </p:attrNameLst>
                                      </p:cBhvr>
                                      <p:tavLst>
                                        <p:tav tm="0">
                                          <p:val>
                                            <p:fltVal val="0"/>
                                          </p:val>
                                        </p:tav>
                                        <p:tav tm="100000">
                                          <p:val>
                                            <p:strVal val="#ppt_w"/>
                                          </p:val>
                                        </p:tav>
                                      </p:tavLst>
                                    </p:anim>
                                    <p:anim calcmode="lin" valueType="num">
                                      <p:cBhvr>
                                        <p:cTn id="15" dur="500" fill="hold"/>
                                        <p:tgtEl>
                                          <p:spTgt spid="36"/>
                                        </p:tgtEl>
                                        <p:attrNameLst>
                                          <p:attrName>ppt_h</p:attrName>
                                        </p:attrNameLst>
                                      </p:cBhvr>
                                      <p:tavLst>
                                        <p:tav tm="0">
                                          <p:val>
                                            <p:fltVal val="0"/>
                                          </p:val>
                                        </p:tav>
                                        <p:tav tm="100000">
                                          <p:val>
                                            <p:strVal val="#ppt_h"/>
                                          </p:val>
                                        </p:tav>
                                      </p:tavLst>
                                    </p:anim>
                                    <p:animEffect transition="in" filter="fade">
                                      <p:cBhvr>
                                        <p:cTn id="16" dur="500"/>
                                        <p:tgtEl>
                                          <p:spTgt spid="36"/>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barn(inVertical)">
                                      <p:cBhvr>
                                        <p:cTn id="26" dur="5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68"/>
                                        </p:tgtEl>
                                        <p:attrNameLst>
                                          <p:attrName>style.visibility</p:attrName>
                                        </p:attrNameLst>
                                      </p:cBhvr>
                                      <p:to>
                                        <p:strVal val="visible"/>
                                      </p:to>
                                    </p:set>
                                    <p:animEffect transition="in" filter="wipe(down)">
                                      <p:cBhvr>
                                        <p:cTn id="36" dur="500"/>
                                        <p:tgtEl>
                                          <p:spTgt spid="68"/>
                                        </p:tgtEl>
                                      </p:cBhvr>
                                    </p:animEffect>
                                  </p:childTnLst>
                                </p:cTn>
                              </p:par>
                              <p:par>
                                <p:cTn id="37" presetID="22" presetClass="entr" presetSubtype="4"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wipe(down)">
                                      <p:cBhvr>
                                        <p:cTn id="39" dur="500"/>
                                        <p:tgtEl>
                                          <p:spTgt spid="38"/>
                                        </p:tgtEl>
                                      </p:cBhvr>
                                    </p:animEffect>
                                  </p:childTnLst>
                                </p:cTn>
                              </p:par>
                              <p:par>
                                <p:cTn id="40" presetID="22" presetClass="entr" presetSubtype="4" fill="hold" nodeType="withEffect">
                                  <p:stCondLst>
                                    <p:cond delay="0"/>
                                  </p:stCondLst>
                                  <p:childTnLst>
                                    <p:set>
                                      <p:cBhvr>
                                        <p:cTn id="41" dur="1" fill="hold">
                                          <p:stCondLst>
                                            <p:cond delay="0"/>
                                          </p:stCondLst>
                                        </p:cTn>
                                        <p:tgtEl>
                                          <p:spTgt spid="41"/>
                                        </p:tgtEl>
                                        <p:attrNameLst>
                                          <p:attrName>style.visibility</p:attrName>
                                        </p:attrNameLst>
                                      </p:cBhvr>
                                      <p:to>
                                        <p:strVal val="visible"/>
                                      </p:to>
                                    </p:set>
                                    <p:animEffect transition="in" filter="wipe(down)">
                                      <p:cBhvr>
                                        <p:cTn id="42" dur="500"/>
                                        <p:tgtEl>
                                          <p:spTgt spid="4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wipe(down)">
                                      <p:cBhvr>
                                        <p:cTn id="47" dur="500"/>
                                        <p:tgtEl>
                                          <p:spTgt spid="46"/>
                                        </p:tgtEl>
                                      </p:cBhvr>
                                    </p:animEffect>
                                  </p:childTnLst>
                                </p:cTn>
                              </p:par>
                              <p:par>
                                <p:cTn id="48" presetID="22" presetClass="entr" presetSubtype="4" fill="hold" nodeType="withEffect">
                                  <p:stCondLst>
                                    <p:cond delay="0"/>
                                  </p:stCondLst>
                                  <p:childTnLst>
                                    <p:set>
                                      <p:cBhvr>
                                        <p:cTn id="49" dur="1" fill="hold">
                                          <p:stCondLst>
                                            <p:cond delay="0"/>
                                          </p:stCondLst>
                                        </p:cTn>
                                        <p:tgtEl>
                                          <p:spTgt spid="50"/>
                                        </p:tgtEl>
                                        <p:attrNameLst>
                                          <p:attrName>style.visibility</p:attrName>
                                        </p:attrNameLst>
                                      </p:cBhvr>
                                      <p:to>
                                        <p:strVal val="visible"/>
                                      </p:to>
                                    </p:set>
                                    <p:animEffect transition="in" filter="wipe(down)">
                                      <p:cBhvr>
                                        <p:cTn id="50" dur="500"/>
                                        <p:tgtEl>
                                          <p:spTgt spid="50"/>
                                        </p:tgtEl>
                                      </p:cBhvr>
                                    </p:animEffect>
                                  </p:childTnLst>
                                </p:cTn>
                              </p:par>
                              <p:par>
                                <p:cTn id="51" presetID="22" presetClass="entr" presetSubtype="4" fill="hold" nodeType="withEffect">
                                  <p:stCondLst>
                                    <p:cond delay="0"/>
                                  </p:stCondLst>
                                  <p:childTnLst>
                                    <p:set>
                                      <p:cBhvr>
                                        <p:cTn id="52" dur="1" fill="hold">
                                          <p:stCondLst>
                                            <p:cond delay="0"/>
                                          </p:stCondLst>
                                        </p:cTn>
                                        <p:tgtEl>
                                          <p:spTgt spid="45"/>
                                        </p:tgtEl>
                                        <p:attrNameLst>
                                          <p:attrName>style.visibility</p:attrName>
                                        </p:attrNameLst>
                                      </p:cBhvr>
                                      <p:to>
                                        <p:strVal val="visible"/>
                                      </p:to>
                                    </p:set>
                                    <p:animEffect transition="in" filter="wipe(down)">
                                      <p:cBhvr>
                                        <p:cTn id="53" dur="500"/>
                                        <p:tgtEl>
                                          <p:spTgt spid="4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56"/>
                                        </p:tgtEl>
                                        <p:attrNameLst>
                                          <p:attrName>style.visibility</p:attrName>
                                        </p:attrNameLst>
                                      </p:cBhvr>
                                      <p:to>
                                        <p:strVal val="visible"/>
                                      </p:to>
                                    </p:set>
                                    <p:animEffect transition="in" filter="wipe(down)">
                                      <p:cBhvr>
                                        <p:cTn id="58" dur="500"/>
                                        <p:tgtEl>
                                          <p:spTgt spid="56"/>
                                        </p:tgtEl>
                                      </p:cBhvr>
                                    </p:animEffect>
                                  </p:childTnLst>
                                </p:cTn>
                              </p:par>
                              <p:par>
                                <p:cTn id="59" presetID="22" presetClass="entr" presetSubtype="4" fill="hold" nodeType="withEffect">
                                  <p:stCondLst>
                                    <p:cond delay="0"/>
                                  </p:stCondLst>
                                  <p:childTnLst>
                                    <p:set>
                                      <p:cBhvr>
                                        <p:cTn id="60" dur="1" fill="hold">
                                          <p:stCondLst>
                                            <p:cond delay="0"/>
                                          </p:stCondLst>
                                        </p:cTn>
                                        <p:tgtEl>
                                          <p:spTgt spid="54"/>
                                        </p:tgtEl>
                                        <p:attrNameLst>
                                          <p:attrName>style.visibility</p:attrName>
                                        </p:attrNameLst>
                                      </p:cBhvr>
                                      <p:to>
                                        <p:strVal val="visible"/>
                                      </p:to>
                                    </p:set>
                                    <p:animEffect transition="in" filter="wipe(down)">
                                      <p:cBhvr>
                                        <p:cTn id="61" dur="500"/>
                                        <p:tgtEl>
                                          <p:spTgt spid="54"/>
                                        </p:tgtEl>
                                      </p:cBhvr>
                                    </p:animEffect>
                                  </p:childTnLst>
                                </p:cTn>
                              </p:par>
                              <p:par>
                                <p:cTn id="62" presetID="22" presetClass="entr" presetSubtype="4" fill="hold" nodeType="withEffect">
                                  <p:stCondLst>
                                    <p:cond delay="0"/>
                                  </p:stCondLst>
                                  <p:childTnLst>
                                    <p:set>
                                      <p:cBhvr>
                                        <p:cTn id="63" dur="1" fill="hold">
                                          <p:stCondLst>
                                            <p:cond delay="0"/>
                                          </p:stCondLst>
                                        </p:cTn>
                                        <p:tgtEl>
                                          <p:spTgt spid="53"/>
                                        </p:tgtEl>
                                        <p:attrNameLst>
                                          <p:attrName>style.visibility</p:attrName>
                                        </p:attrNameLst>
                                      </p:cBhvr>
                                      <p:to>
                                        <p:strVal val="visible"/>
                                      </p:to>
                                    </p:set>
                                    <p:animEffect transition="in" filter="wipe(down)">
                                      <p:cBhvr>
                                        <p:cTn id="64" dur="500"/>
                                        <p:tgtEl>
                                          <p:spTgt spid="53"/>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57"/>
                                        </p:tgtEl>
                                        <p:attrNameLst>
                                          <p:attrName>style.visibility</p:attrName>
                                        </p:attrNameLst>
                                      </p:cBhvr>
                                      <p:to>
                                        <p:strVal val="visible"/>
                                      </p:to>
                                    </p:set>
                                    <p:animEffect transition="in" filter="wipe(down)">
                                      <p:cBhvr>
                                        <p:cTn id="69" dur="500"/>
                                        <p:tgtEl>
                                          <p:spTgt spid="57"/>
                                        </p:tgtEl>
                                      </p:cBhvr>
                                    </p:animEffect>
                                  </p:childTnLst>
                                </p:cTn>
                              </p:par>
                              <p:par>
                                <p:cTn id="70" presetID="22" presetClass="entr" presetSubtype="4" fill="hold" nodeType="withEffect">
                                  <p:stCondLst>
                                    <p:cond delay="0"/>
                                  </p:stCondLst>
                                  <p:childTnLst>
                                    <p:set>
                                      <p:cBhvr>
                                        <p:cTn id="71" dur="1" fill="hold">
                                          <p:stCondLst>
                                            <p:cond delay="0"/>
                                          </p:stCondLst>
                                        </p:cTn>
                                        <p:tgtEl>
                                          <p:spTgt spid="58"/>
                                        </p:tgtEl>
                                        <p:attrNameLst>
                                          <p:attrName>style.visibility</p:attrName>
                                        </p:attrNameLst>
                                      </p:cBhvr>
                                      <p:to>
                                        <p:strVal val="visible"/>
                                      </p:to>
                                    </p:set>
                                    <p:animEffect transition="in" filter="wipe(down)">
                                      <p:cBhvr>
                                        <p:cTn id="72" dur="500"/>
                                        <p:tgtEl>
                                          <p:spTgt spid="58"/>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59"/>
                                        </p:tgtEl>
                                        <p:attrNameLst>
                                          <p:attrName>style.visibility</p:attrName>
                                        </p:attrNameLst>
                                      </p:cBhvr>
                                      <p:to>
                                        <p:strVal val="visible"/>
                                      </p:to>
                                    </p:set>
                                    <p:animEffect transition="in" filter="wipe(down)">
                                      <p:cBhvr>
                                        <p:cTn id="77" dur="500"/>
                                        <p:tgtEl>
                                          <p:spTgt spid="59"/>
                                        </p:tgtEl>
                                      </p:cBhvr>
                                    </p:animEffect>
                                  </p:childTnLst>
                                </p:cTn>
                              </p:par>
                              <p:par>
                                <p:cTn id="78" presetID="22" presetClass="entr" presetSubtype="4" fill="hold" nodeType="withEffect">
                                  <p:stCondLst>
                                    <p:cond delay="0"/>
                                  </p:stCondLst>
                                  <p:childTnLst>
                                    <p:set>
                                      <p:cBhvr>
                                        <p:cTn id="79" dur="1" fill="hold">
                                          <p:stCondLst>
                                            <p:cond delay="0"/>
                                          </p:stCondLst>
                                        </p:cTn>
                                        <p:tgtEl>
                                          <p:spTgt spid="60"/>
                                        </p:tgtEl>
                                        <p:attrNameLst>
                                          <p:attrName>style.visibility</p:attrName>
                                        </p:attrNameLst>
                                      </p:cBhvr>
                                      <p:to>
                                        <p:strVal val="visible"/>
                                      </p:to>
                                    </p:set>
                                    <p:animEffect transition="in" filter="wipe(down)">
                                      <p:cBhvr>
                                        <p:cTn id="80" dur="500"/>
                                        <p:tgtEl>
                                          <p:spTgt spid="6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4" fill="hold" nodeType="clickEffect">
                                  <p:stCondLst>
                                    <p:cond delay="0"/>
                                  </p:stCondLst>
                                  <p:childTnLst>
                                    <p:set>
                                      <p:cBhvr>
                                        <p:cTn id="84" dur="1" fill="hold">
                                          <p:stCondLst>
                                            <p:cond delay="0"/>
                                          </p:stCondLst>
                                        </p:cTn>
                                        <p:tgtEl>
                                          <p:spTgt spid="61"/>
                                        </p:tgtEl>
                                        <p:attrNameLst>
                                          <p:attrName>style.visibility</p:attrName>
                                        </p:attrNameLst>
                                      </p:cBhvr>
                                      <p:to>
                                        <p:strVal val="visible"/>
                                      </p:to>
                                    </p:set>
                                    <p:animEffect transition="in" filter="wipe(down)">
                                      <p:cBhvr>
                                        <p:cTn id="85" dur="500"/>
                                        <p:tgtEl>
                                          <p:spTgt spid="61"/>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64"/>
                                        </p:tgtEl>
                                        <p:attrNameLst>
                                          <p:attrName>style.visibility</p:attrName>
                                        </p:attrNameLst>
                                      </p:cBhvr>
                                      <p:to>
                                        <p:strVal val="visible"/>
                                      </p:to>
                                    </p:set>
                                    <p:animEffect transition="in" filter="wipe(down)">
                                      <p:cBhvr>
                                        <p:cTn id="90" dur="500"/>
                                        <p:tgtEl>
                                          <p:spTgt spid="64"/>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65"/>
                                        </p:tgtEl>
                                        <p:attrNameLst>
                                          <p:attrName>style.visibility</p:attrName>
                                        </p:attrNameLst>
                                      </p:cBhvr>
                                      <p:to>
                                        <p:strVal val="visible"/>
                                      </p:to>
                                    </p:set>
                                    <p:animEffect transition="in" filter="wipe(down)">
                                      <p:cBhvr>
                                        <p:cTn id="95" dur="500"/>
                                        <p:tgtEl>
                                          <p:spTgt spid="65"/>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66"/>
                                        </p:tgtEl>
                                        <p:attrNameLst>
                                          <p:attrName>style.visibility</p:attrName>
                                        </p:attrNameLst>
                                      </p:cBhvr>
                                      <p:to>
                                        <p:strVal val="visible"/>
                                      </p:to>
                                    </p:set>
                                    <p:animEffect transition="in" filter="fade">
                                      <p:cBhvr>
                                        <p:cTn id="100" dur="5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3" grpId="0"/>
      <p:bldP spid="34" grpId="0"/>
      <p:bldP spid="35" grpId="0" animBg="1"/>
      <p:bldP spid="65" grpId="0" animBg="1"/>
      <p:bldP spid="64"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圆角 36">
            <a:extLst>
              <a:ext uri="{FF2B5EF4-FFF2-40B4-BE49-F238E27FC236}">
                <a16:creationId xmlns:a16="http://schemas.microsoft.com/office/drawing/2014/main" id="{90D278B5-6D62-42ED-86AF-E70FC6441C5D}"/>
              </a:ext>
            </a:extLst>
          </p:cNvPr>
          <p:cNvSpPr/>
          <p:nvPr/>
        </p:nvSpPr>
        <p:spPr>
          <a:xfrm>
            <a:off x="580658" y="1417992"/>
            <a:ext cx="3528391"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4" name="矩形 3">
            <a:extLst>
              <a:ext uri="{FF2B5EF4-FFF2-40B4-BE49-F238E27FC236}">
                <a16:creationId xmlns:a16="http://schemas.microsoft.com/office/drawing/2014/main" id="{4E1C1893-AB90-4458-A5F7-957881641DB7}"/>
              </a:ext>
            </a:extLst>
          </p:cNvPr>
          <p:cNvSpPr/>
          <p:nvPr/>
        </p:nvSpPr>
        <p:spPr>
          <a:xfrm>
            <a:off x="611560" y="1443723"/>
            <a:ext cx="3816424"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比较短期和长期总成本曲线</a:t>
            </a:r>
          </a:p>
        </p:txBody>
      </p:sp>
      <p:grpSp>
        <p:nvGrpSpPr>
          <p:cNvPr id="5" name="组合 39"/>
          <p:cNvGrpSpPr>
            <a:grpSpLocks/>
          </p:cNvGrpSpPr>
          <p:nvPr/>
        </p:nvGrpSpPr>
        <p:grpSpPr bwMode="auto">
          <a:xfrm>
            <a:off x="5147155" y="2555612"/>
            <a:ext cx="3671780" cy="3280668"/>
            <a:chOff x="0" y="0"/>
            <a:chExt cx="3994165" cy="3568641"/>
          </a:xfrm>
        </p:grpSpPr>
        <p:grpSp>
          <p:nvGrpSpPr>
            <p:cNvPr id="6" name="组合 4"/>
            <p:cNvGrpSpPr>
              <a:grpSpLocks/>
            </p:cNvGrpSpPr>
            <p:nvPr/>
          </p:nvGrpSpPr>
          <p:grpSpPr bwMode="auto">
            <a:xfrm>
              <a:off x="0" y="0"/>
              <a:ext cx="3994165" cy="3568641"/>
              <a:chOff x="0" y="0"/>
              <a:chExt cx="3994165" cy="3568641"/>
            </a:xfrm>
          </p:grpSpPr>
          <p:grpSp>
            <p:nvGrpSpPr>
              <p:cNvPr id="9" name="组合 34"/>
              <p:cNvGrpSpPr>
                <a:grpSpLocks/>
              </p:cNvGrpSpPr>
              <p:nvPr/>
            </p:nvGrpSpPr>
            <p:grpSpPr bwMode="auto">
              <a:xfrm>
                <a:off x="0" y="0"/>
                <a:ext cx="3994165" cy="3568641"/>
                <a:chOff x="0" y="0"/>
                <a:chExt cx="3994165" cy="3568641"/>
              </a:xfrm>
            </p:grpSpPr>
            <p:grpSp>
              <p:nvGrpSpPr>
                <p:cNvPr id="11" name="组合 31"/>
                <p:cNvGrpSpPr>
                  <a:grpSpLocks/>
                </p:cNvGrpSpPr>
                <p:nvPr/>
              </p:nvGrpSpPr>
              <p:grpSpPr bwMode="auto">
                <a:xfrm>
                  <a:off x="71438" y="0"/>
                  <a:ext cx="3922727" cy="3568641"/>
                  <a:chOff x="0" y="0"/>
                  <a:chExt cx="3922727" cy="3568641"/>
                </a:xfrm>
              </p:grpSpPr>
              <p:grpSp>
                <p:nvGrpSpPr>
                  <p:cNvPr id="18" name="组合 37"/>
                  <p:cNvGrpSpPr>
                    <a:grpSpLocks/>
                  </p:cNvGrpSpPr>
                  <p:nvPr/>
                </p:nvGrpSpPr>
                <p:grpSpPr bwMode="auto">
                  <a:xfrm>
                    <a:off x="357190" y="357190"/>
                    <a:ext cx="2428892" cy="2500330"/>
                    <a:chOff x="0" y="0"/>
                    <a:chExt cx="2428892" cy="2500330"/>
                  </a:xfrm>
                </p:grpSpPr>
                <p:sp>
                  <p:nvSpPr>
                    <p:cNvPr id="30" name="任意多边形 30"/>
                    <p:cNvSpPr>
                      <a:spLocks noChangeArrowheads="1"/>
                    </p:cNvSpPr>
                    <p:nvPr/>
                  </p:nvSpPr>
                  <p:spPr bwMode="auto">
                    <a:xfrm>
                      <a:off x="1214439" y="642918"/>
                      <a:ext cx="642940" cy="500054"/>
                    </a:xfrm>
                    <a:custGeom>
                      <a:avLst/>
                      <a:gdLst>
                        <a:gd name="T0" fmla="*/ 0 w 361950"/>
                        <a:gd name="T1" fmla="*/ 500054 h 1028700"/>
                        <a:gd name="T2" fmla="*/ 304551 w 361950"/>
                        <a:gd name="T3" fmla="*/ 379671 h 1028700"/>
                        <a:gd name="T4" fmla="*/ 642940 w 361950"/>
                        <a:gd name="T5" fmla="*/ 0 h 1028700"/>
                        <a:gd name="T6" fmla="*/ 0 60000 65536"/>
                        <a:gd name="T7" fmla="*/ 0 60000 65536"/>
                        <a:gd name="T8" fmla="*/ 0 60000 65536"/>
                        <a:gd name="T9" fmla="*/ 0 w 361950"/>
                        <a:gd name="T10" fmla="*/ 0 h 1028700"/>
                        <a:gd name="T11" fmla="*/ 361950 w 361950"/>
                        <a:gd name="T12" fmla="*/ 1028700 h 1028700"/>
                      </a:gdLst>
                      <a:ahLst/>
                      <a:cxnLst>
                        <a:cxn ang="T6">
                          <a:pos x="T0" y="T1"/>
                        </a:cxn>
                        <a:cxn ang="T7">
                          <a:pos x="T2" y="T3"/>
                        </a:cxn>
                        <a:cxn ang="T8">
                          <a:pos x="T4" y="T5"/>
                        </a:cxn>
                      </a:cxnLst>
                      <a:rect l="T9" t="T10" r="T11" b="T12"/>
                      <a:pathLst>
                        <a:path w="361950" h="1028700">
                          <a:moveTo>
                            <a:pt x="0" y="1028700"/>
                          </a:moveTo>
                          <a:cubicBezTo>
                            <a:pt x="55562" y="990600"/>
                            <a:pt x="111125" y="952500"/>
                            <a:pt x="171450" y="781050"/>
                          </a:cubicBezTo>
                          <a:cubicBezTo>
                            <a:pt x="231775" y="609600"/>
                            <a:pt x="296862" y="304800"/>
                            <a:pt x="361950" y="0"/>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31" name="任意多边形 31"/>
                    <p:cNvSpPr>
                      <a:spLocks noChangeArrowheads="1"/>
                    </p:cNvSpPr>
                    <p:nvPr/>
                  </p:nvSpPr>
                  <p:spPr bwMode="auto">
                    <a:xfrm>
                      <a:off x="1866905" y="-9"/>
                      <a:ext cx="561977" cy="661977"/>
                    </a:xfrm>
                    <a:custGeom>
                      <a:avLst/>
                      <a:gdLst>
                        <a:gd name="T0" fmla="*/ 0 w 514350"/>
                        <a:gd name="T1" fmla="*/ 661977 h 381000"/>
                        <a:gd name="T2" fmla="*/ 187326 w 514350"/>
                        <a:gd name="T3" fmla="*/ 595779 h 381000"/>
                        <a:gd name="T4" fmla="*/ 374651 w 514350"/>
                        <a:gd name="T5" fmla="*/ 430285 h 381000"/>
                        <a:gd name="T6" fmla="*/ 561977 w 514350"/>
                        <a:gd name="T7" fmla="*/ 0 h 381000"/>
                        <a:gd name="T8" fmla="*/ 0 60000 65536"/>
                        <a:gd name="T9" fmla="*/ 0 60000 65536"/>
                        <a:gd name="T10" fmla="*/ 0 60000 65536"/>
                        <a:gd name="T11" fmla="*/ 0 60000 65536"/>
                        <a:gd name="T12" fmla="*/ 0 w 514350"/>
                        <a:gd name="T13" fmla="*/ 0 h 381000"/>
                        <a:gd name="T14" fmla="*/ 514350 w 514350"/>
                        <a:gd name="T15" fmla="*/ 381000 h 381000"/>
                      </a:gdLst>
                      <a:ahLst/>
                      <a:cxnLst>
                        <a:cxn ang="T8">
                          <a:pos x="T0" y="T1"/>
                        </a:cxn>
                        <a:cxn ang="T9">
                          <a:pos x="T2" y="T3"/>
                        </a:cxn>
                        <a:cxn ang="T10">
                          <a:pos x="T4" y="T5"/>
                        </a:cxn>
                        <a:cxn ang="T11">
                          <a:pos x="T6" y="T7"/>
                        </a:cxn>
                      </a:cxnLst>
                      <a:rect l="T12" t="T13" r="T14" b="T15"/>
                      <a:pathLst>
                        <a:path w="514350" h="381000">
                          <a:moveTo>
                            <a:pt x="0" y="381000"/>
                          </a:moveTo>
                          <a:cubicBezTo>
                            <a:pt x="57150" y="373062"/>
                            <a:pt x="114300" y="365125"/>
                            <a:pt x="171450" y="342900"/>
                          </a:cubicBezTo>
                          <a:cubicBezTo>
                            <a:pt x="228600" y="320675"/>
                            <a:pt x="285750" y="304800"/>
                            <a:pt x="342900" y="247650"/>
                          </a:cubicBezTo>
                          <a:cubicBezTo>
                            <a:pt x="400050" y="190500"/>
                            <a:pt x="457200" y="95250"/>
                            <a:pt x="514350" y="0"/>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32" name="任意多边形 32"/>
                    <p:cNvSpPr>
                      <a:spLocks noChangeArrowheads="1"/>
                    </p:cNvSpPr>
                    <p:nvPr/>
                  </p:nvSpPr>
                  <p:spPr bwMode="auto">
                    <a:xfrm>
                      <a:off x="-2" y="1428718"/>
                      <a:ext cx="1000129" cy="1071545"/>
                    </a:xfrm>
                    <a:custGeom>
                      <a:avLst/>
                      <a:gdLst>
                        <a:gd name="T0" fmla="*/ 0 w 914400"/>
                        <a:gd name="T1" fmla="*/ 1071545 h 819150"/>
                        <a:gd name="T2" fmla="*/ 354212 w 914400"/>
                        <a:gd name="T3" fmla="*/ 398714 h 819150"/>
                        <a:gd name="T4" fmla="*/ 1000129 w 914400"/>
                        <a:gd name="T5" fmla="*/ 0 h 819150"/>
                        <a:gd name="T6" fmla="*/ 0 60000 65536"/>
                        <a:gd name="T7" fmla="*/ 0 60000 65536"/>
                        <a:gd name="T8" fmla="*/ 0 60000 65536"/>
                        <a:gd name="T9" fmla="*/ 0 w 914400"/>
                        <a:gd name="T10" fmla="*/ 0 h 819150"/>
                        <a:gd name="T11" fmla="*/ 914400 w 914400"/>
                        <a:gd name="T12" fmla="*/ 819150 h 819150"/>
                      </a:gdLst>
                      <a:ahLst/>
                      <a:cxnLst>
                        <a:cxn ang="T6">
                          <a:pos x="T0" y="T1"/>
                        </a:cxn>
                        <a:cxn ang="T7">
                          <a:pos x="T2" y="T3"/>
                        </a:cxn>
                        <a:cxn ang="T8">
                          <a:pos x="T4" y="T5"/>
                        </a:cxn>
                      </a:cxnLst>
                      <a:rect l="T9" t="T10" r="T11" b="T12"/>
                      <a:pathLst>
                        <a:path w="914400" h="819150">
                          <a:moveTo>
                            <a:pt x="0" y="819150"/>
                          </a:moveTo>
                          <a:cubicBezTo>
                            <a:pt x="85725" y="630237"/>
                            <a:pt x="171450" y="441325"/>
                            <a:pt x="323850" y="304800"/>
                          </a:cubicBezTo>
                          <a:cubicBezTo>
                            <a:pt x="476250" y="168275"/>
                            <a:pt x="695325" y="84137"/>
                            <a:pt x="914400" y="0"/>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grpSp>
                <p:nvGrpSpPr>
                  <p:cNvPr id="19" name="组合 30"/>
                  <p:cNvGrpSpPr>
                    <a:grpSpLocks/>
                  </p:cNvGrpSpPr>
                  <p:nvPr/>
                </p:nvGrpSpPr>
                <p:grpSpPr bwMode="auto">
                  <a:xfrm>
                    <a:off x="0" y="0"/>
                    <a:ext cx="3922727" cy="3568641"/>
                    <a:chOff x="0" y="0"/>
                    <a:chExt cx="3922727" cy="3568641"/>
                  </a:xfrm>
                </p:grpSpPr>
                <p:grpSp>
                  <p:nvGrpSpPr>
                    <p:cNvPr id="20" name="组合 4"/>
                    <p:cNvGrpSpPr>
                      <a:grpSpLocks/>
                    </p:cNvGrpSpPr>
                    <p:nvPr/>
                  </p:nvGrpSpPr>
                  <p:grpSpPr bwMode="auto">
                    <a:xfrm>
                      <a:off x="0" y="0"/>
                      <a:ext cx="3922727" cy="3568641"/>
                      <a:chOff x="0" y="0"/>
                      <a:chExt cx="2107024" cy="2715119"/>
                    </a:xfrm>
                  </p:grpSpPr>
                  <p:cxnSp>
                    <p:nvCxnSpPr>
                      <p:cNvPr id="25" name="直接箭头连接符 25"/>
                      <p:cNvCxnSpPr>
                        <a:cxnSpLocks noChangeShapeType="1"/>
                      </p:cNvCxnSpPr>
                      <p:nvPr/>
                    </p:nvCxnSpPr>
                    <p:spPr bwMode="auto">
                      <a:xfrm>
                        <a:off x="179920" y="2360028"/>
                        <a:ext cx="1777029" cy="31403"/>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26" name="直接箭头连接符 26"/>
                      <p:cNvCxnSpPr>
                        <a:cxnSpLocks noChangeShapeType="1"/>
                      </p:cNvCxnSpPr>
                      <p:nvPr/>
                    </p:nvCxnSpPr>
                    <p:spPr bwMode="auto">
                      <a:xfrm rot="5400000" flipH="1" flipV="1">
                        <a:off x="-994125" y="1174045"/>
                        <a:ext cx="2360028" cy="11938"/>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27" name="Object 15"/>
                      <p:cNvGraphicFramePr>
                        <a:graphicFrameLocks noChangeAspect="1"/>
                      </p:cNvGraphicFramePr>
                      <p:nvPr/>
                    </p:nvGraphicFramePr>
                    <p:xfrm>
                      <a:off x="0" y="2391441"/>
                      <a:ext cx="114262" cy="188417"/>
                    </p:xfrm>
                    <a:graphic>
                      <a:graphicData uri="http://schemas.openxmlformats.org/presentationml/2006/ole">
                        <mc:AlternateContent xmlns:mc="http://schemas.openxmlformats.org/markup-compatibility/2006">
                          <mc:Choice xmlns:v="urn:schemas-microsoft-com:vml" Requires="v">
                            <p:oleObj spid="_x0000_s126994" r:id="rId3" imgW="153248" imgH="178737" progId="">
                              <p:embed/>
                            </p:oleObj>
                          </mc:Choice>
                          <mc:Fallback>
                            <p:oleObj r:id="rId3" imgW="153248" imgH="178737" progId="">
                              <p:embed/>
                              <p:pic>
                                <p:nvPicPr>
                                  <p:cNvPr id="68623"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391441"/>
                                    <a:ext cx="114262" cy="188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 name="Object 16"/>
                      <p:cNvGraphicFramePr>
                        <a:graphicFrameLocks noChangeAspect="1"/>
                      </p:cNvGraphicFramePr>
                      <p:nvPr/>
                    </p:nvGraphicFramePr>
                    <p:xfrm>
                      <a:off x="38372" y="326083"/>
                      <a:ext cx="114262" cy="188417"/>
                    </p:xfrm>
                    <a:graphic>
                      <a:graphicData uri="http://schemas.openxmlformats.org/presentationml/2006/ole">
                        <mc:AlternateContent xmlns:mc="http://schemas.openxmlformats.org/markup-compatibility/2006">
                          <mc:Choice xmlns:v="urn:schemas-microsoft-com:vml" Requires="v">
                            <p:oleObj spid="_x0000_s126995" r:id="rId5" imgW="153248" imgH="178737" progId="">
                              <p:embed/>
                            </p:oleObj>
                          </mc:Choice>
                          <mc:Fallback>
                            <p:oleObj r:id="rId5" imgW="153248" imgH="178737" progId="">
                              <p:embed/>
                              <p:pic>
                                <p:nvPicPr>
                                  <p:cNvPr id="68624"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72" y="326083"/>
                                    <a:ext cx="114262" cy="1884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 name="Object 17"/>
                      <p:cNvGraphicFramePr>
                        <a:graphicFrameLocks noChangeAspect="1"/>
                      </p:cNvGraphicFramePr>
                      <p:nvPr/>
                    </p:nvGraphicFramePr>
                    <p:xfrm>
                      <a:off x="1803464" y="2498923"/>
                      <a:ext cx="303560" cy="216196"/>
                    </p:xfrm>
                    <a:graphic>
                      <a:graphicData uri="http://schemas.openxmlformats.org/presentationml/2006/ole">
                        <mc:AlternateContent xmlns:mc="http://schemas.openxmlformats.org/markup-compatibility/2006">
                          <mc:Choice xmlns:v="urn:schemas-microsoft-com:vml" Requires="v">
                            <p:oleObj spid="_x0000_s126996" r:id="rId7" imgW="153381" imgH="204403" progId="">
                              <p:embed/>
                            </p:oleObj>
                          </mc:Choice>
                          <mc:Fallback>
                            <p:oleObj r:id="rId7" imgW="153381" imgH="204403" progId="">
                              <p:embed/>
                              <p:pic>
                                <p:nvPicPr>
                                  <p:cNvPr id="68625" name="Object 1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03464" y="2498923"/>
                                    <a:ext cx="303560" cy="216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1" name="任意多边形 19"/>
                    <p:cNvSpPr>
                      <a:spLocks noChangeArrowheads="1"/>
                    </p:cNvSpPr>
                    <p:nvPr/>
                  </p:nvSpPr>
                  <p:spPr bwMode="auto">
                    <a:xfrm>
                      <a:off x="357188" y="1500162"/>
                      <a:ext cx="1214442" cy="928673"/>
                    </a:xfrm>
                    <a:custGeom>
                      <a:avLst/>
                      <a:gdLst>
                        <a:gd name="T0" fmla="*/ 0 w 1181100"/>
                        <a:gd name="T1" fmla="*/ 928673 h 723900"/>
                        <a:gd name="T2" fmla="*/ 430931 w 1181100"/>
                        <a:gd name="T3" fmla="*/ 342143 h 723900"/>
                        <a:gd name="T4" fmla="*/ 1214442 w 1181100"/>
                        <a:gd name="T5" fmla="*/ 0 h 723900"/>
                        <a:gd name="T6" fmla="*/ 0 60000 65536"/>
                        <a:gd name="T7" fmla="*/ 0 60000 65536"/>
                        <a:gd name="T8" fmla="*/ 0 60000 65536"/>
                        <a:gd name="T9" fmla="*/ 0 w 1181100"/>
                        <a:gd name="T10" fmla="*/ 0 h 723900"/>
                        <a:gd name="T11" fmla="*/ 1181100 w 1181100"/>
                        <a:gd name="T12" fmla="*/ 723900 h 723900"/>
                      </a:gdLst>
                      <a:ahLst/>
                      <a:cxnLst>
                        <a:cxn ang="T6">
                          <a:pos x="T0" y="T1"/>
                        </a:cxn>
                        <a:cxn ang="T7">
                          <a:pos x="T2" y="T3"/>
                        </a:cxn>
                        <a:cxn ang="T8">
                          <a:pos x="T4" y="T5"/>
                        </a:cxn>
                      </a:cxnLst>
                      <a:rect l="T9" t="T10" r="T11" b="T12"/>
                      <a:pathLst>
                        <a:path w="1181100" h="723900">
                          <a:moveTo>
                            <a:pt x="0" y="723900"/>
                          </a:moveTo>
                          <a:cubicBezTo>
                            <a:pt x="111125" y="555625"/>
                            <a:pt x="222250" y="387350"/>
                            <a:pt x="419100" y="266700"/>
                          </a:cubicBezTo>
                          <a:cubicBezTo>
                            <a:pt x="615950" y="146050"/>
                            <a:pt x="898525" y="73025"/>
                            <a:pt x="1181100" y="0"/>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2" name="任意多边形 20"/>
                    <p:cNvSpPr>
                      <a:spLocks noChangeArrowheads="1"/>
                    </p:cNvSpPr>
                    <p:nvPr/>
                  </p:nvSpPr>
                  <p:spPr bwMode="auto">
                    <a:xfrm>
                      <a:off x="357188" y="1000108"/>
                      <a:ext cx="1857382" cy="1071544"/>
                    </a:xfrm>
                    <a:custGeom>
                      <a:avLst/>
                      <a:gdLst>
                        <a:gd name="T0" fmla="*/ 0 w 1905000"/>
                        <a:gd name="T1" fmla="*/ 1071544 h 742950"/>
                        <a:gd name="T2" fmla="*/ 315755 w 1905000"/>
                        <a:gd name="T3" fmla="*/ 631936 h 742950"/>
                        <a:gd name="T4" fmla="*/ 1133003 w 1905000"/>
                        <a:gd name="T5" fmla="*/ 219804 h 742950"/>
                        <a:gd name="T6" fmla="*/ 1857382 w 1905000"/>
                        <a:gd name="T7" fmla="*/ 0 h 742950"/>
                        <a:gd name="T8" fmla="*/ 0 60000 65536"/>
                        <a:gd name="T9" fmla="*/ 0 60000 65536"/>
                        <a:gd name="T10" fmla="*/ 0 60000 65536"/>
                        <a:gd name="T11" fmla="*/ 0 60000 65536"/>
                        <a:gd name="T12" fmla="*/ 0 w 1905000"/>
                        <a:gd name="T13" fmla="*/ 0 h 742950"/>
                        <a:gd name="T14" fmla="*/ 1905000 w 1905000"/>
                        <a:gd name="T15" fmla="*/ 742950 h 742950"/>
                      </a:gdLst>
                      <a:ahLst/>
                      <a:cxnLst>
                        <a:cxn ang="T8">
                          <a:pos x="T0" y="T1"/>
                        </a:cxn>
                        <a:cxn ang="T9">
                          <a:pos x="T2" y="T3"/>
                        </a:cxn>
                        <a:cxn ang="T10">
                          <a:pos x="T4" y="T5"/>
                        </a:cxn>
                        <a:cxn ang="T11">
                          <a:pos x="T6" y="T7"/>
                        </a:cxn>
                      </a:cxnLst>
                      <a:rect l="T12" t="T13" r="T14" b="T15"/>
                      <a:pathLst>
                        <a:path w="1905000" h="742950">
                          <a:moveTo>
                            <a:pt x="0" y="742950"/>
                          </a:moveTo>
                          <a:cubicBezTo>
                            <a:pt x="65087" y="639762"/>
                            <a:pt x="130175" y="536575"/>
                            <a:pt x="323850" y="438150"/>
                          </a:cubicBezTo>
                          <a:cubicBezTo>
                            <a:pt x="517525" y="339725"/>
                            <a:pt x="898525" y="225425"/>
                            <a:pt x="1162050" y="152400"/>
                          </a:cubicBezTo>
                          <a:cubicBezTo>
                            <a:pt x="1425575" y="79375"/>
                            <a:pt x="1665287" y="39687"/>
                            <a:pt x="1905000" y="0"/>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3" name="任意多边形 21"/>
                    <p:cNvSpPr>
                      <a:spLocks noChangeArrowheads="1"/>
                    </p:cNvSpPr>
                    <p:nvPr/>
                  </p:nvSpPr>
                  <p:spPr bwMode="auto">
                    <a:xfrm>
                      <a:off x="1576393" y="357181"/>
                      <a:ext cx="423864" cy="1157269"/>
                    </a:xfrm>
                    <a:custGeom>
                      <a:avLst/>
                      <a:gdLst>
                        <a:gd name="T0" fmla="*/ 0 w 304800"/>
                        <a:gd name="T1" fmla="*/ 1157269 h 1219200"/>
                        <a:gd name="T2" fmla="*/ 158949 w 304800"/>
                        <a:gd name="T3" fmla="*/ 940281 h 1219200"/>
                        <a:gd name="T4" fmla="*/ 317898 w 304800"/>
                        <a:gd name="T5" fmla="*/ 524388 h 1219200"/>
                        <a:gd name="T6" fmla="*/ 423864 w 304800"/>
                        <a:gd name="T7" fmla="*/ 0 h 1219200"/>
                        <a:gd name="T8" fmla="*/ 0 60000 65536"/>
                        <a:gd name="T9" fmla="*/ 0 60000 65536"/>
                        <a:gd name="T10" fmla="*/ 0 60000 65536"/>
                        <a:gd name="T11" fmla="*/ 0 60000 65536"/>
                        <a:gd name="T12" fmla="*/ 0 w 304800"/>
                        <a:gd name="T13" fmla="*/ 0 h 1219200"/>
                        <a:gd name="T14" fmla="*/ 304800 w 304800"/>
                        <a:gd name="T15" fmla="*/ 1219200 h 1219200"/>
                      </a:gdLst>
                      <a:ahLst/>
                      <a:cxnLst>
                        <a:cxn ang="T8">
                          <a:pos x="T0" y="T1"/>
                        </a:cxn>
                        <a:cxn ang="T9">
                          <a:pos x="T2" y="T3"/>
                        </a:cxn>
                        <a:cxn ang="T10">
                          <a:pos x="T4" y="T5"/>
                        </a:cxn>
                        <a:cxn ang="T11">
                          <a:pos x="T6" y="T7"/>
                        </a:cxn>
                      </a:cxnLst>
                      <a:rect l="T12" t="T13" r="T14" b="T15"/>
                      <a:pathLst>
                        <a:path w="304800" h="1219200">
                          <a:moveTo>
                            <a:pt x="0" y="1219200"/>
                          </a:moveTo>
                          <a:cubicBezTo>
                            <a:pt x="38100" y="1160462"/>
                            <a:pt x="76200" y="1101725"/>
                            <a:pt x="114300" y="990600"/>
                          </a:cubicBezTo>
                          <a:cubicBezTo>
                            <a:pt x="152400" y="879475"/>
                            <a:pt x="196850" y="717550"/>
                            <a:pt x="228600" y="552450"/>
                          </a:cubicBezTo>
                          <a:cubicBezTo>
                            <a:pt x="260350" y="387350"/>
                            <a:pt x="282575" y="193675"/>
                            <a:pt x="304800" y="0"/>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24" name="任意多边形 22"/>
                    <p:cNvSpPr>
                      <a:spLocks noChangeArrowheads="1"/>
                    </p:cNvSpPr>
                    <p:nvPr/>
                  </p:nvSpPr>
                  <p:spPr bwMode="auto">
                    <a:xfrm>
                      <a:off x="2179645" y="333369"/>
                      <a:ext cx="247651" cy="723888"/>
                    </a:xfrm>
                    <a:custGeom>
                      <a:avLst/>
                      <a:gdLst>
                        <a:gd name="T0" fmla="*/ 0 w 247650"/>
                        <a:gd name="T1" fmla="*/ 723888 h 723900"/>
                        <a:gd name="T2" fmla="*/ 114300 w 247650"/>
                        <a:gd name="T3" fmla="*/ 533391 h 723900"/>
                        <a:gd name="T4" fmla="*/ 247651 w 247650"/>
                        <a:gd name="T5" fmla="*/ 0 h 723900"/>
                        <a:gd name="T6" fmla="*/ 0 60000 65536"/>
                        <a:gd name="T7" fmla="*/ 0 60000 65536"/>
                        <a:gd name="T8" fmla="*/ 0 60000 65536"/>
                        <a:gd name="T9" fmla="*/ 0 w 247650"/>
                        <a:gd name="T10" fmla="*/ 0 h 723900"/>
                        <a:gd name="T11" fmla="*/ 247650 w 247650"/>
                        <a:gd name="T12" fmla="*/ 723900 h 723900"/>
                      </a:gdLst>
                      <a:ahLst/>
                      <a:cxnLst>
                        <a:cxn ang="T6">
                          <a:pos x="T0" y="T1"/>
                        </a:cxn>
                        <a:cxn ang="T7">
                          <a:pos x="T2" y="T3"/>
                        </a:cxn>
                        <a:cxn ang="T8">
                          <a:pos x="T4" y="T5"/>
                        </a:cxn>
                      </a:cxnLst>
                      <a:rect l="T9" t="T10" r="T11" b="T12"/>
                      <a:pathLst>
                        <a:path w="247650" h="723900">
                          <a:moveTo>
                            <a:pt x="0" y="723900"/>
                          </a:moveTo>
                          <a:cubicBezTo>
                            <a:pt x="36512" y="688975"/>
                            <a:pt x="73025" y="654050"/>
                            <a:pt x="114300" y="533400"/>
                          </a:cubicBezTo>
                          <a:cubicBezTo>
                            <a:pt x="155575" y="412750"/>
                            <a:pt x="201612" y="206375"/>
                            <a:pt x="247650" y="0"/>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grpSp>
            <p:graphicFrame>
              <p:nvGraphicFramePr>
                <p:cNvPr id="12" name="Object 22"/>
                <p:cNvGraphicFramePr>
                  <a:graphicFrameLocks noChangeAspect="1"/>
                </p:cNvGraphicFramePr>
                <p:nvPr/>
              </p:nvGraphicFramePr>
              <p:xfrm>
                <a:off x="0" y="2643206"/>
                <a:ext cx="390525" cy="320675"/>
              </p:xfrm>
              <a:graphic>
                <a:graphicData uri="http://schemas.openxmlformats.org/presentationml/2006/ole">
                  <mc:AlternateContent xmlns:mc="http://schemas.openxmlformats.org/markup-compatibility/2006">
                    <mc:Choice xmlns:v="urn:schemas-microsoft-com:vml" Requires="v">
                      <p:oleObj spid="_x0000_s126997" r:id="rId9" imgW="280813" imgH="229813" progId="">
                        <p:embed/>
                      </p:oleObj>
                    </mc:Choice>
                    <mc:Fallback>
                      <p:oleObj r:id="rId9" imgW="280813" imgH="229813" progId="">
                        <p:embed/>
                        <p:pic>
                          <p:nvPicPr>
                            <p:cNvPr id="68630" name="Object 2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0" y="2643206"/>
                              <a:ext cx="390525"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23"/>
                <p:cNvGraphicFramePr>
                  <a:graphicFrameLocks noChangeAspect="1"/>
                </p:cNvGraphicFramePr>
                <p:nvPr/>
              </p:nvGraphicFramePr>
              <p:xfrm>
                <a:off x="0" y="2214578"/>
                <a:ext cx="407987" cy="320675"/>
              </p:xfrm>
              <a:graphic>
                <a:graphicData uri="http://schemas.openxmlformats.org/presentationml/2006/ole">
                  <mc:AlternateContent xmlns:mc="http://schemas.openxmlformats.org/markup-compatibility/2006">
                    <mc:Choice xmlns:v="urn:schemas-microsoft-com:vml" Requires="v">
                      <p:oleObj spid="_x0000_s126998" r:id="rId11" imgW="293052" imgH="229414" progId="">
                        <p:embed/>
                      </p:oleObj>
                    </mc:Choice>
                    <mc:Fallback>
                      <p:oleObj r:id="rId11" imgW="293052" imgH="229414" progId="">
                        <p:embed/>
                        <p:pic>
                          <p:nvPicPr>
                            <p:cNvPr id="68631" name="Object 2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2214578"/>
                              <a:ext cx="40798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24"/>
                <p:cNvGraphicFramePr>
                  <a:graphicFrameLocks noChangeAspect="1"/>
                </p:cNvGraphicFramePr>
                <p:nvPr/>
              </p:nvGraphicFramePr>
              <p:xfrm>
                <a:off x="0" y="1857388"/>
                <a:ext cx="407987" cy="320675"/>
              </p:xfrm>
              <a:graphic>
                <a:graphicData uri="http://schemas.openxmlformats.org/presentationml/2006/ole">
                  <mc:AlternateContent xmlns:mc="http://schemas.openxmlformats.org/markup-compatibility/2006">
                    <mc:Choice xmlns:v="urn:schemas-microsoft-com:vml" Requires="v">
                      <p:oleObj spid="_x0000_s126999" r:id="rId13" imgW="293052" imgH="229414" progId="">
                        <p:embed/>
                      </p:oleObj>
                    </mc:Choice>
                    <mc:Fallback>
                      <p:oleObj r:id="rId13" imgW="293052" imgH="229414" progId="">
                        <p:embed/>
                        <p:pic>
                          <p:nvPicPr>
                            <p:cNvPr id="68632" name="Object 2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1857388"/>
                              <a:ext cx="40798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5" name="Object 25"/>
                <p:cNvGraphicFramePr>
                  <a:graphicFrameLocks noChangeAspect="1"/>
                </p:cNvGraphicFramePr>
                <p:nvPr/>
              </p:nvGraphicFramePr>
              <p:xfrm>
                <a:off x="1857388" y="0"/>
                <a:ext cx="355600" cy="320675"/>
              </p:xfrm>
              <a:graphic>
                <a:graphicData uri="http://schemas.openxmlformats.org/presentationml/2006/ole">
                  <mc:AlternateContent xmlns:mc="http://schemas.openxmlformats.org/markup-compatibility/2006">
                    <mc:Choice xmlns:v="urn:schemas-microsoft-com:vml" Requires="v">
                      <p:oleObj spid="_x0000_s127000" r:id="rId15" imgW="255091" imgH="229614" progId="">
                        <p:embed/>
                      </p:oleObj>
                    </mc:Choice>
                    <mc:Fallback>
                      <p:oleObj r:id="rId15" imgW="255091" imgH="229614" progId="">
                        <p:embed/>
                        <p:pic>
                          <p:nvPicPr>
                            <p:cNvPr id="68633" name="Object 2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857388" y="0"/>
                              <a:ext cx="35560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26"/>
                <p:cNvGraphicFramePr>
                  <a:graphicFrameLocks noChangeAspect="1"/>
                </p:cNvGraphicFramePr>
                <p:nvPr/>
              </p:nvGraphicFramePr>
              <p:xfrm>
                <a:off x="2286016" y="0"/>
                <a:ext cx="373062" cy="320675"/>
              </p:xfrm>
              <a:graphic>
                <a:graphicData uri="http://schemas.openxmlformats.org/presentationml/2006/ole">
                  <mc:AlternateContent xmlns:mc="http://schemas.openxmlformats.org/markup-compatibility/2006">
                    <mc:Choice xmlns:v="urn:schemas-microsoft-com:vml" Requires="v">
                      <p:oleObj spid="_x0000_s127001" r:id="rId17" imgW="267713" imgH="229514" progId="">
                        <p:embed/>
                      </p:oleObj>
                    </mc:Choice>
                    <mc:Fallback>
                      <p:oleObj r:id="rId17" imgW="267713" imgH="229514" progId="">
                        <p:embed/>
                        <p:pic>
                          <p:nvPicPr>
                            <p:cNvPr id="68634" name="Object 2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86016" y="0"/>
                              <a:ext cx="373062"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27"/>
                <p:cNvGraphicFramePr>
                  <a:graphicFrameLocks noChangeAspect="1"/>
                </p:cNvGraphicFramePr>
                <p:nvPr/>
              </p:nvGraphicFramePr>
              <p:xfrm>
                <a:off x="2714644" y="0"/>
                <a:ext cx="373063" cy="320675"/>
              </p:xfrm>
              <a:graphic>
                <a:graphicData uri="http://schemas.openxmlformats.org/presentationml/2006/ole">
                  <mc:AlternateContent xmlns:mc="http://schemas.openxmlformats.org/markup-compatibility/2006">
                    <mc:Choice xmlns:v="urn:schemas-microsoft-com:vml" Requires="v">
                      <p:oleObj spid="_x0000_s127002" r:id="rId19" imgW="267713" imgH="229514" progId="">
                        <p:embed/>
                      </p:oleObj>
                    </mc:Choice>
                    <mc:Fallback>
                      <p:oleObj r:id="rId19" imgW="267713" imgH="229514" progId="">
                        <p:embed/>
                        <p:pic>
                          <p:nvPicPr>
                            <p:cNvPr id="68635" name="Object 2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714644" y="0"/>
                              <a:ext cx="373063"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0" name="Object 28"/>
              <p:cNvGraphicFramePr>
                <a:graphicFrameLocks noChangeAspect="1"/>
              </p:cNvGraphicFramePr>
              <p:nvPr/>
            </p:nvGraphicFramePr>
            <p:xfrm>
              <a:off x="3071834" y="0"/>
              <a:ext cx="461963" cy="247650"/>
            </p:xfrm>
            <a:graphic>
              <a:graphicData uri="http://schemas.openxmlformats.org/presentationml/2006/ole">
                <mc:AlternateContent xmlns:mc="http://schemas.openxmlformats.org/markup-compatibility/2006">
                  <mc:Choice xmlns:v="urn:schemas-microsoft-com:vml" Requires="v">
                    <p:oleObj spid="_x0000_s127003" r:id="rId21" imgW="330804" imgH="178271" progId="">
                      <p:embed/>
                    </p:oleObj>
                  </mc:Choice>
                  <mc:Fallback>
                    <p:oleObj r:id="rId21" imgW="330804" imgH="178271" progId="">
                      <p:embed/>
                      <p:pic>
                        <p:nvPicPr>
                          <p:cNvPr id="68636" name="Object 2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071834" y="0"/>
                            <a:ext cx="461963" cy="24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 name="任意多边形 37"/>
            <p:cNvSpPr>
              <a:spLocks noChangeArrowheads="1"/>
            </p:cNvSpPr>
            <p:nvPr/>
          </p:nvSpPr>
          <p:spPr bwMode="auto">
            <a:xfrm>
              <a:off x="1428755" y="1500162"/>
              <a:ext cx="258763" cy="285745"/>
            </a:xfrm>
            <a:custGeom>
              <a:avLst/>
              <a:gdLst>
                <a:gd name="T0" fmla="*/ 0 w 285750"/>
                <a:gd name="T1" fmla="*/ 285745 h 285750"/>
                <a:gd name="T2" fmla="*/ 172509 w 285750"/>
                <a:gd name="T3" fmla="*/ 152397 h 285750"/>
                <a:gd name="T4" fmla="*/ 258763 w 285750"/>
                <a:gd name="T5" fmla="*/ 0 h 285750"/>
                <a:gd name="T6" fmla="*/ 0 60000 65536"/>
                <a:gd name="T7" fmla="*/ 0 60000 65536"/>
                <a:gd name="T8" fmla="*/ 0 60000 65536"/>
                <a:gd name="T9" fmla="*/ 0 w 285750"/>
                <a:gd name="T10" fmla="*/ 0 h 285750"/>
                <a:gd name="T11" fmla="*/ 285750 w 285750"/>
                <a:gd name="T12" fmla="*/ 285750 h 285750"/>
              </a:gdLst>
              <a:ahLst/>
              <a:cxnLst>
                <a:cxn ang="T6">
                  <a:pos x="T0" y="T1"/>
                </a:cxn>
                <a:cxn ang="T7">
                  <a:pos x="T2" y="T3"/>
                </a:cxn>
                <a:cxn ang="T8">
                  <a:pos x="T4" y="T5"/>
                </a:cxn>
              </a:cxnLst>
              <a:rect l="T9" t="T10" r="T11" b="T12"/>
              <a:pathLst>
                <a:path w="285750" h="285750">
                  <a:moveTo>
                    <a:pt x="0" y="285750"/>
                  </a:moveTo>
                  <a:cubicBezTo>
                    <a:pt x="71437" y="242887"/>
                    <a:pt x="142875" y="200025"/>
                    <a:pt x="190500" y="152400"/>
                  </a:cubicBezTo>
                  <a:cubicBezTo>
                    <a:pt x="238125" y="104775"/>
                    <a:pt x="261937" y="52387"/>
                    <a:pt x="285750" y="0"/>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8" name="任意多边形 38"/>
            <p:cNvSpPr>
              <a:spLocks noChangeArrowheads="1"/>
            </p:cNvSpPr>
            <p:nvPr/>
          </p:nvSpPr>
          <p:spPr bwMode="auto">
            <a:xfrm>
              <a:off x="428627" y="333369"/>
              <a:ext cx="2609860" cy="2781254"/>
            </a:xfrm>
            <a:custGeom>
              <a:avLst/>
              <a:gdLst>
                <a:gd name="T0" fmla="*/ 0 w 2609850"/>
                <a:gd name="T1" fmla="*/ 2781254 h 2781300"/>
                <a:gd name="T2" fmla="*/ 190501 w 2609850"/>
                <a:gd name="T3" fmla="*/ 2324062 h 2781300"/>
                <a:gd name="T4" fmla="*/ 495302 w 2609850"/>
                <a:gd name="T5" fmla="*/ 1752571 h 2781300"/>
                <a:gd name="T6" fmla="*/ 1162055 w 2609850"/>
                <a:gd name="T7" fmla="*/ 1447776 h 2781300"/>
                <a:gd name="T8" fmla="*/ 1581156 w 2609850"/>
                <a:gd name="T9" fmla="*/ 1028683 h 2781300"/>
                <a:gd name="T10" fmla="*/ 1905007 w 2609850"/>
                <a:gd name="T11" fmla="*/ 800087 h 2781300"/>
                <a:gd name="T12" fmla="*/ 2209809 w 2609850"/>
                <a:gd name="T13" fmla="*/ 552441 h 2781300"/>
                <a:gd name="T14" fmla="*/ 2438409 w 2609850"/>
                <a:gd name="T15" fmla="*/ 323845 h 2781300"/>
                <a:gd name="T16" fmla="*/ 2609860 w 2609850"/>
                <a:gd name="T17" fmla="*/ 0 h 27813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609850"/>
                <a:gd name="T28" fmla="*/ 0 h 2781300"/>
                <a:gd name="T29" fmla="*/ 2609850 w 2609850"/>
                <a:gd name="T30" fmla="*/ 2781300 h 27813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609850" h="2781300">
                  <a:moveTo>
                    <a:pt x="0" y="2781300"/>
                  </a:moveTo>
                  <a:cubicBezTo>
                    <a:pt x="53975" y="2638425"/>
                    <a:pt x="107950" y="2495550"/>
                    <a:pt x="190500" y="2324100"/>
                  </a:cubicBezTo>
                  <a:cubicBezTo>
                    <a:pt x="273050" y="2152650"/>
                    <a:pt x="333375" y="1898650"/>
                    <a:pt x="495300" y="1752600"/>
                  </a:cubicBezTo>
                  <a:cubicBezTo>
                    <a:pt x="657225" y="1606550"/>
                    <a:pt x="981075" y="1568450"/>
                    <a:pt x="1162050" y="1447800"/>
                  </a:cubicBezTo>
                  <a:cubicBezTo>
                    <a:pt x="1343025" y="1327150"/>
                    <a:pt x="1457325" y="1136650"/>
                    <a:pt x="1581150" y="1028700"/>
                  </a:cubicBezTo>
                  <a:cubicBezTo>
                    <a:pt x="1704975" y="920750"/>
                    <a:pt x="1800225" y="879475"/>
                    <a:pt x="1905000" y="800100"/>
                  </a:cubicBezTo>
                  <a:cubicBezTo>
                    <a:pt x="2009775" y="720725"/>
                    <a:pt x="2120900" y="631825"/>
                    <a:pt x="2209800" y="552450"/>
                  </a:cubicBezTo>
                  <a:cubicBezTo>
                    <a:pt x="2298700" y="473075"/>
                    <a:pt x="2371725" y="415925"/>
                    <a:pt x="2438400" y="323850"/>
                  </a:cubicBezTo>
                  <a:cubicBezTo>
                    <a:pt x="2505075" y="231775"/>
                    <a:pt x="2557462" y="115887"/>
                    <a:pt x="2609850" y="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sp>
        <p:nvSpPr>
          <p:cNvPr id="33" name="矩形 32"/>
          <p:cNvSpPr/>
          <p:nvPr/>
        </p:nvSpPr>
        <p:spPr>
          <a:xfrm>
            <a:off x="325065" y="2132856"/>
            <a:ext cx="4390951" cy="1289905"/>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LTC在所有短期总成本曲线的下方，而在长期总成本曲线的每一点上都有一条短期总成本曲线与之相切</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34" name="矩形 33"/>
          <p:cNvSpPr/>
          <p:nvPr/>
        </p:nvSpPr>
        <p:spPr>
          <a:xfrm>
            <a:off x="325064" y="3592029"/>
            <a:ext cx="4390951" cy="874407"/>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长期总成本曲线是无数条短期总成本曲线的包络曲线</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35" name="矩形 34"/>
          <p:cNvSpPr/>
          <p:nvPr/>
        </p:nvSpPr>
        <p:spPr>
          <a:xfrm>
            <a:off x="325065" y="4610452"/>
            <a:ext cx="4516434" cy="1289905"/>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长期中生产每一个特定产量花费的成本在所有短期成本中最低，这种状态必然通过某一个短期内的最优选择来实现</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36" name="矩形 35">
            <a:extLst>
              <a:ext uri="{FF2B5EF4-FFF2-40B4-BE49-F238E27FC236}">
                <a16:creationId xmlns:a16="http://schemas.microsoft.com/office/drawing/2014/main" id="{7C7CAD4A-136C-4138-B597-B2FDCA9E5BB4}"/>
              </a:ext>
            </a:extLst>
          </p:cNvPr>
          <p:cNvSpPr/>
          <p:nvPr/>
        </p:nvSpPr>
        <p:spPr>
          <a:xfrm>
            <a:off x="580922" y="520573"/>
            <a:ext cx="312698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二、长期总成本曲线</a:t>
            </a:r>
          </a:p>
        </p:txBody>
      </p:sp>
    </p:spTree>
    <p:extLst>
      <p:ext uri="{BB962C8B-B14F-4D97-AF65-F5344CB8AC3E}">
        <p14:creationId xmlns:p14="http://schemas.microsoft.com/office/powerpoint/2010/main" val="72139269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p:cTn id="7" dur="500" fill="hold"/>
                                        <p:tgtEl>
                                          <p:spTgt spid="36"/>
                                        </p:tgtEl>
                                        <p:attrNameLst>
                                          <p:attrName>ppt_w</p:attrName>
                                        </p:attrNameLst>
                                      </p:cBhvr>
                                      <p:tavLst>
                                        <p:tav tm="0">
                                          <p:val>
                                            <p:fltVal val="0"/>
                                          </p:val>
                                        </p:tav>
                                        <p:tav tm="100000">
                                          <p:val>
                                            <p:strVal val="#ppt_w"/>
                                          </p:val>
                                        </p:tav>
                                      </p:tavLst>
                                    </p:anim>
                                    <p:anim calcmode="lin" valueType="num">
                                      <p:cBhvr>
                                        <p:cTn id="8" dur="500" fill="hold"/>
                                        <p:tgtEl>
                                          <p:spTgt spid="36"/>
                                        </p:tgtEl>
                                        <p:attrNameLst>
                                          <p:attrName>ppt_h</p:attrName>
                                        </p:attrNameLst>
                                      </p:cBhvr>
                                      <p:tavLst>
                                        <p:tav tm="0">
                                          <p:val>
                                            <p:fltVal val="0"/>
                                          </p:val>
                                        </p:tav>
                                        <p:tav tm="100000">
                                          <p:val>
                                            <p:strVal val="#ppt_h"/>
                                          </p:val>
                                        </p:tav>
                                      </p:tavLst>
                                    </p:anim>
                                    <p:animEffect transition="in" filter="fade">
                                      <p:cBhvr>
                                        <p:cTn id="9" dur="500"/>
                                        <p:tgtEl>
                                          <p:spTgt spid="3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7"/>
                                        </p:tgtEl>
                                        <p:attrNameLst>
                                          <p:attrName>style.visibility</p:attrName>
                                        </p:attrNameLst>
                                      </p:cBhvr>
                                      <p:to>
                                        <p:strVal val="visible"/>
                                      </p:to>
                                    </p:set>
                                    <p:anim calcmode="lin" valueType="num">
                                      <p:cBhvr>
                                        <p:cTn id="14" dur="500" fill="hold"/>
                                        <p:tgtEl>
                                          <p:spTgt spid="37"/>
                                        </p:tgtEl>
                                        <p:attrNameLst>
                                          <p:attrName>ppt_w</p:attrName>
                                        </p:attrNameLst>
                                      </p:cBhvr>
                                      <p:tavLst>
                                        <p:tav tm="0">
                                          <p:val>
                                            <p:fltVal val="0"/>
                                          </p:val>
                                        </p:tav>
                                        <p:tav tm="100000">
                                          <p:val>
                                            <p:strVal val="#ppt_w"/>
                                          </p:val>
                                        </p:tav>
                                      </p:tavLst>
                                    </p:anim>
                                    <p:anim calcmode="lin" valueType="num">
                                      <p:cBhvr>
                                        <p:cTn id="15" dur="500" fill="hold"/>
                                        <p:tgtEl>
                                          <p:spTgt spid="37"/>
                                        </p:tgtEl>
                                        <p:attrNameLst>
                                          <p:attrName>ppt_h</p:attrName>
                                        </p:attrNameLst>
                                      </p:cBhvr>
                                      <p:tavLst>
                                        <p:tav tm="0">
                                          <p:val>
                                            <p:fltVal val="0"/>
                                          </p:val>
                                        </p:tav>
                                        <p:tav tm="100000">
                                          <p:val>
                                            <p:strVal val="#ppt_h"/>
                                          </p:val>
                                        </p:tav>
                                      </p:tavLst>
                                    </p:anim>
                                    <p:animEffect transition="in" filter="fade">
                                      <p:cBhvr>
                                        <p:cTn id="16" dur="500"/>
                                        <p:tgtEl>
                                          <p:spTgt spid="37"/>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500" fill="hold"/>
                                        <p:tgtEl>
                                          <p:spTgt spid="4"/>
                                        </p:tgtEl>
                                        <p:attrNameLst>
                                          <p:attrName>ppt_w</p:attrName>
                                        </p:attrNameLst>
                                      </p:cBhvr>
                                      <p:tavLst>
                                        <p:tav tm="0">
                                          <p:val>
                                            <p:fltVal val="0"/>
                                          </p:val>
                                        </p:tav>
                                        <p:tav tm="100000">
                                          <p:val>
                                            <p:strVal val="#ppt_w"/>
                                          </p:val>
                                        </p:tav>
                                      </p:tavLst>
                                    </p:anim>
                                    <p:anim calcmode="lin" valueType="num">
                                      <p:cBhvr>
                                        <p:cTn id="20" dur="500" fill="hold"/>
                                        <p:tgtEl>
                                          <p:spTgt spid="4"/>
                                        </p:tgtEl>
                                        <p:attrNameLst>
                                          <p:attrName>ppt_h</p:attrName>
                                        </p:attrNameLst>
                                      </p:cBhvr>
                                      <p:tavLst>
                                        <p:tav tm="0">
                                          <p:val>
                                            <p:fltVal val="0"/>
                                          </p:val>
                                        </p:tav>
                                        <p:tav tm="100000">
                                          <p:val>
                                            <p:strVal val="#ppt_h"/>
                                          </p:val>
                                        </p:tav>
                                      </p:tavLst>
                                    </p:anim>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fade">
                                      <p:cBhvr>
                                        <p:cTn id="26" dur="1000"/>
                                        <p:tgtEl>
                                          <p:spTgt spid="33"/>
                                        </p:tgtEl>
                                      </p:cBhvr>
                                    </p:animEffect>
                                    <p:anim calcmode="lin" valueType="num">
                                      <p:cBhvr>
                                        <p:cTn id="27" dur="1000" fill="hold"/>
                                        <p:tgtEl>
                                          <p:spTgt spid="33"/>
                                        </p:tgtEl>
                                        <p:attrNameLst>
                                          <p:attrName>ppt_x</p:attrName>
                                        </p:attrNameLst>
                                      </p:cBhvr>
                                      <p:tavLst>
                                        <p:tav tm="0">
                                          <p:val>
                                            <p:strVal val="#ppt_x"/>
                                          </p:val>
                                        </p:tav>
                                        <p:tav tm="100000">
                                          <p:val>
                                            <p:strVal val="#ppt_x"/>
                                          </p:val>
                                        </p:tav>
                                      </p:tavLst>
                                    </p:anim>
                                    <p:anim calcmode="lin" valueType="num">
                                      <p:cBhvr>
                                        <p:cTn id="28"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34"/>
                                        </p:tgtEl>
                                        <p:attrNameLst>
                                          <p:attrName>style.visibility</p:attrName>
                                        </p:attrNameLst>
                                      </p:cBhvr>
                                      <p:to>
                                        <p:strVal val="visible"/>
                                      </p:to>
                                    </p:set>
                                    <p:animEffect transition="in" filter="fade">
                                      <p:cBhvr>
                                        <p:cTn id="33" dur="1000"/>
                                        <p:tgtEl>
                                          <p:spTgt spid="34"/>
                                        </p:tgtEl>
                                      </p:cBhvr>
                                    </p:animEffect>
                                    <p:anim calcmode="lin" valueType="num">
                                      <p:cBhvr>
                                        <p:cTn id="34" dur="1000" fill="hold"/>
                                        <p:tgtEl>
                                          <p:spTgt spid="34"/>
                                        </p:tgtEl>
                                        <p:attrNameLst>
                                          <p:attrName>ppt_x</p:attrName>
                                        </p:attrNameLst>
                                      </p:cBhvr>
                                      <p:tavLst>
                                        <p:tav tm="0">
                                          <p:val>
                                            <p:strVal val="#ppt_x"/>
                                          </p:val>
                                        </p:tav>
                                        <p:tav tm="100000">
                                          <p:val>
                                            <p:strVal val="#ppt_x"/>
                                          </p:val>
                                        </p:tav>
                                      </p:tavLst>
                                    </p:anim>
                                    <p:anim calcmode="lin" valueType="num">
                                      <p:cBhvr>
                                        <p:cTn id="35"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1000"/>
                                        <p:tgtEl>
                                          <p:spTgt spid="35"/>
                                        </p:tgtEl>
                                      </p:cBhvr>
                                    </p:animEffect>
                                    <p:anim calcmode="lin" valueType="num">
                                      <p:cBhvr>
                                        <p:cTn id="41" dur="1000" fill="hold"/>
                                        <p:tgtEl>
                                          <p:spTgt spid="35"/>
                                        </p:tgtEl>
                                        <p:attrNameLst>
                                          <p:attrName>ppt_x</p:attrName>
                                        </p:attrNameLst>
                                      </p:cBhvr>
                                      <p:tavLst>
                                        <p:tav tm="0">
                                          <p:val>
                                            <p:strVal val="#ppt_x"/>
                                          </p:val>
                                        </p:tav>
                                        <p:tav tm="100000">
                                          <p:val>
                                            <p:strVal val="#ppt_x"/>
                                          </p:val>
                                        </p:tav>
                                      </p:tavLst>
                                    </p:anim>
                                    <p:anim calcmode="lin" valueType="num">
                                      <p:cBhvr>
                                        <p:cTn id="42" dur="1000" fill="hold"/>
                                        <p:tgtEl>
                                          <p:spTgt spid="35"/>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barn(inVertical)">
                                      <p:cBhvr>
                                        <p:cTn id="4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4" grpId="0"/>
      <p:bldP spid="33" grpId="0"/>
      <p:bldP spid="34" grpId="0"/>
      <p:bldP spid="35" grpId="0"/>
      <p:bldP spid="36"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圆角 17">
            <a:extLst>
              <a:ext uri="{FF2B5EF4-FFF2-40B4-BE49-F238E27FC236}">
                <a16:creationId xmlns:a16="http://schemas.microsoft.com/office/drawing/2014/main" id="{AD1C95F5-908C-431F-BDC0-E08B53D048EC}"/>
              </a:ext>
            </a:extLst>
          </p:cNvPr>
          <p:cNvSpPr/>
          <p:nvPr/>
        </p:nvSpPr>
        <p:spPr>
          <a:xfrm>
            <a:off x="823572" y="1382220"/>
            <a:ext cx="5620635"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3" name="矩形 2">
            <a:extLst>
              <a:ext uri="{FF2B5EF4-FFF2-40B4-BE49-F238E27FC236}">
                <a16:creationId xmlns:a16="http://schemas.microsoft.com/office/drawing/2014/main" id="{37C083F2-0E99-4519-8938-09940A28B5F0}"/>
              </a:ext>
            </a:extLst>
          </p:cNvPr>
          <p:cNvSpPr/>
          <p:nvPr/>
        </p:nvSpPr>
        <p:spPr>
          <a:xfrm>
            <a:off x="580922" y="520573"/>
            <a:ext cx="348702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三、长期平均成本曲线</a:t>
            </a:r>
          </a:p>
        </p:txBody>
      </p:sp>
      <p:sp>
        <p:nvSpPr>
          <p:cNvPr id="4" name="矩形 3">
            <a:extLst>
              <a:ext uri="{FF2B5EF4-FFF2-40B4-BE49-F238E27FC236}">
                <a16:creationId xmlns:a16="http://schemas.microsoft.com/office/drawing/2014/main" id="{084955AF-1C9D-40E6-AF77-16E919D7DDCC}"/>
              </a:ext>
            </a:extLst>
          </p:cNvPr>
          <p:cNvSpPr/>
          <p:nvPr/>
        </p:nvSpPr>
        <p:spPr>
          <a:xfrm>
            <a:off x="827584" y="1412776"/>
            <a:ext cx="5760640" cy="400110"/>
          </a:xfrm>
          <a:prstGeom prst="rect">
            <a:avLst/>
          </a:prstGeom>
          <a:noFill/>
        </p:spPr>
        <p:txBody>
          <a:bodyPr wrap="square">
            <a:spAutoFit/>
          </a:bodyPr>
          <a:lstStyle/>
          <a:p>
            <a:pPr marL="285750" indent="-28575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长期平均成本曲线与短期平均成本曲线的关系</a:t>
            </a:r>
          </a:p>
        </p:txBody>
      </p:sp>
      <p:sp>
        <p:nvSpPr>
          <p:cNvPr id="7" name="矩形 6"/>
          <p:cNvSpPr/>
          <p:nvPr/>
        </p:nvSpPr>
        <p:spPr>
          <a:xfrm>
            <a:off x="683568" y="5156672"/>
            <a:ext cx="7272808" cy="369332"/>
          </a:xfrm>
          <a:prstGeom prst="rect">
            <a:avLst/>
          </a:prstGeom>
          <a:noFill/>
        </p:spPr>
        <p:txBody>
          <a:bodyPr wrap="square">
            <a:spAutoFit/>
          </a:bodyPr>
          <a:lstStyle/>
          <a:p>
            <a:r>
              <a:rPr lang="en-US" b="1" dirty="0">
                <a:latin typeface="微软雅黑" panose="020B0503020204020204" pitchFamily="34" charset="-122"/>
                <a:ea typeface="微软雅黑" panose="020B0503020204020204" pitchFamily="34" charset="-122"/>
              </a:rPr>
              <a:t>注意：长期平均成本曲线不是每一条短期平均成本曲线最低点的连线</a:t>
            </a:r>
            <a:r>
              <a:rPr lang="zh-CN" altLang="en-US" b="1" dirty="0">
                <a:latin typeface="微软雅黑" panose="020B0503020204020204" pitchFamily="34" charset="-122"/>
                <a:ea typeface="微软雅黑" panose="020B0503020204020204" pitchFamily="34" charset="-122"/>
              </a:rPr>
              <a:t>。</a:t>
            </a:r>
            <a:endParaRPr lang="en-US" b="1" dirty="0">
              <a:latin typeface="微软雅黑" panose="020B0503020204020204" pitchFamily="34" charset="-122"/>
              <a:ea typeface="微软雅黑" panose="020B0503020204020204" pitchFamily="34" charset="-122"/>
            </a:endParaRPr>
          </a:p>
        </p:txBody>
      </p:sp>
      <p:grpSp>
        <p:nvGrpSpPr>
          <p:cNvPr id="9" name="Group 21"/>
          <p:cNvGrpSpPr/>
          <p:nvPr/>
        </p:nvGrpSpPr>
        <p:grpSpPr>
          <a:xfrm>
            <a:off x="935810" y="2451514"/>
            <a:ext cx="4142627" cy="1178582"/>
            <a:chOff x="1206500" y="3695133"/>
            <a:chExt cx="4699000" cy="1778567"/>
          </a:xfrm>
        </p:grpSpPr>
        <p:sp>
          <p:nvSpPr>
            <p:cNvPr id="13" name="Rectangle: Top Corners Rounded 8"/>
            <p:cNvSpPr/>
            <p:nvPr/>
          </p:nvSpPr>
          <p:spPr>
            <a:xfrm rot="16200000">
              <a:off x="1247207" y="3654427"/>
              <a:ext cx="1434124" cy="1515537"/>
            </a:xfrm>
            <a:prstGeom prst="round2SameRect">
              <a:avLst>
                <a:gd name="adj1" fmla="val 50000"/>
                <a:gd name="adj2" fmla="val 0"/>
              </a:avLst>
            </a:prstGeom>
            <a:solidFill>
              <a:srgbClr val="AFD9E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solidFill>
              </a:endParaRPr>
            </a:p>
          </p:txBody>
        </p:sp>
        <p:sp>
          <p:nvSpPr>
            <p:cNvPr id="14" name="Rectangle: Top Corners Rounded 9"/>
            <p:cNvSpPr/>
            <p:nvPr/>
          </p:nvSpPr>
          <p:spPr>
            <a:xfrm rot="5400000">
              <a:off x="3447448" y="3015648"/>
              <a:ext cx="1434124" cy="3481980"/>
            </a:xfrm>
            <a:prstGeom prst="round2SameRect">
              <a:avLst>
                <a:gd name="adj1" fmla="val 50000"/>
                <a:gd name="adj2" fmla="val 0"/>
              </a:avLst>
            </a:prstGeom>
            <a:solidFill>
              <a:srgbClr val="85B2D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solidFill>
              </a:endParaRPr>
            </a:p>
          </p:txBody>
        </p:sp>
        <p:sp>
          <p:nvSpPr>
            <p:cNvPr id="15" name="Right Triangle 10"/>
            <p:cNvSpPr/>
            <p:nvPr/>
          </p:nvSpPr>
          <p:spPr>
            <a:xfrm flipH="1">
              <a:off x="2423519" y="3695133"/>
              <a:ext cx="298517" cy="344442"/>
            </a:xfrm>
            <a:prstGeom prst="rtTriangle">
              <a:avLst/>
            </a:prstGeom>
            <a:solidFill>
              <a:schemeClr val="accent6">
                <a:lumMod val="7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solidFill>
              </a:endParaRPr>
            </a:p>
          </p:txBody>
        </p:sp>
      </p:grpSp>
      <p:grpSp>
        <p:nvGrpSpPr>
          <p:cNvPr id="17" name="Group 20"/>
          <p:cNvGrpSpPr/>
          <p:nvPr/>
        </p:nvGrpSpPr>
        <p:grpSpPr>
          <a:xfrm flipH="1">
            <a:off x="2754266" y="3642983"/>
            <a:ext cx="4716524" cy="1178582"/>
            <a:chOff x="6324600" y="1218633"/>
            <a:chExt cx="4699000" cy="1778567"/>
          </a:xfrm>
        </p:grpSpPr>
        <p:sp>
          <p:nvSpPr>
            <p:cNvPr id="21" name="Rectangle: Top Corners Rounded 12"/>
            <p:cNvSpPr/>
            <p:nvPr/>
          </p:nvSpPr>
          <p:spPr>
            <a:xfrm rot="16200000">
              <a:off x="6365307" y="1177927"/>
              <a:ext cx="1434124" cy="1515537"/>
            </a:xfrm>
            <a:prstGeom prst="round2SameRect">
              <a:avLst>
                <a:gd name="adj1" fmla="val 50000"/>
                <a:gd name="adj2" fmla="val 0"/>
              </a:avLst>
            </a:prstGeom>
            <a:solidFill>
              <a:srgbClr val="AFD9E6"/>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dirty="0">
                <a:solidFill>
                  <a:schemeClr val="tx1"/>
                </a:solidFill>
              </a:endParaRPr>
            </a:p>
          </p:txBody>
        </p:sp>
        <p:sp>
          <p:nvSpPr>
            <p:cNvPr id="22" name="Rectangle: Top Corners Rounded 13"/>
            <p:cNvSpPr/>
            <p:nvPr/>
          </p:nvSpPr>
          <p:spPr>
            <a:xfrm rot="5400000">
              <a:off x="8565548" y="539148"/>
              <a:ext cx="1434124" cy="3481980"/>
            </a:xfrm>
            <a:prstGeom prst="round2SameRect">
              <a:avLst>
                <a:gd name="adj1" fmla="val 50000"/>
                <a:gd name="adj2" fmla="val 0"/>
              </a:avLst>
            </a:prstGeom>
            <a:solidFill>
              <a:srgbClr val="85B2D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solidFill>
              </a:endParaRPr>
            </a:p>
          </p:txBody>
        </p:sp>
        <p:sp>
          <p:nvSpPr>
            <p:cNvPr id="23" name="Right Triangle 14"/>
            <p:cNvSpPr/>
            <p:nvPr/>
          </p:nvSpPr>
          <p:spPr>
            <a:xfrm flipH="1">
              <a:off x="7541619" y="1218633"/>
              <a:ext cx="298517" cy="344442"/>
            </a:xfrm>
            <a:prstGeom prst="rtTriangle">
              <a:avLst/>
            </a:prstGeom>
            <a:solidFill>
              <a:schemeClr val="accent2">
                <a:lumMod val="7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solidFill>
              </a:endParaRPr>
            </a:p>
          </p:txBody>
        </p:sp>
      </p:grpSp>
      <p:sp>
        <p:nvSpPr>
          <p:cNvPr id="5" name="矩形 4"/>
          <p:cNvSpPr/>
          <p:nvPr/>
        </p:nvSpPr>
        <p:spPr>
          <a:xfrm>
            <a:off x="2367653" y="2822864"/>
            <a:ext cx="2276355" cy="646331"/>
          </a:xfrm>
          <a:prstGeom prst="rect">
            <a:avLst/>
          </a:prstGeom>
        </p:spPr>
        <p:txBody>
          <a:bodyPr wrap="square">
            <a:spAutoFit/>
          </a:bodyPr>
          <a:lstStyle/>
          <a:p>
            <a:r>
              <a:rPr lang="en-US" dirty="0">
                <a:solidFill>
                  <a:schemeClr val="bg1"/>
                </a:solidFill>
                <a:latin typeface="微软雅黑" panose="020B0503020204020204" pitchFamily="34" charset="-122"/>
                <a:ea typeface="微软雅黑" panose="020B0503020204020204" pitchFamily="34" charset="-122"/>
              </a:rPr>
              <a:t>不同短期平均成本曲线中最低那条的连线</a:t>
            </a:r>
          </a:p>
        </p:txBody>
      </p:sp>
      <p:sp>
        <p:nvSpPr>
          <p:cNvPr id="6" name="矩形 5"/>
          <p:cNvSpPr/>
          <p:nvPr/>
        </p:nvSpPr>
        <p:spPr>
          <a:xfrm>
            <a:off x="3114306" y="4026606"/>
            <a:ext cx="2969862" cy="646331"/>
          </a:xfrm>
          <a:prstGeom prst="rect">
            <a:avLst/>
          </a:prstGeom>
        </p:spPr>
        <p:txBody>
          <a:bodyPr wrap="square">
            <a:spAutoFit/>
          </a:bodyPr>
          <a:lstStyle/>
          <a:p>
            <a:r>
              <a:rPr lang="en-US" dirty="0">
                <a:solidFill>
                  <a:schemeClr val="bg1"/>
                </a:solidFill>
                <a:latin typeface="微软雅黑" panose="020B0503020204020204" pitchFamily="34" charset="-122"/>
                <a:ea typeface="微软雅黑" panose="020B0503020204020204" pitchFamily="34" charset="-122"/>
              </a:rPr>
              <a:t>长期平均成本曲线是无数条短期平均成本曲线的包络线</a:t>
            </a:r>
          </a:p>
        </p:txBody>
      </p:sp>
      <p:sp>
        <p:nvSpPr>
          <p:cNvPr id="24" name="Freeform: Shape 34">
            <a:extLst>
              <a:ext uri="{FF2B5EF4-FFF2-40B4-BE49-F238E27FC236}">
                <a16:creationId xmlns:a16="http://schemas.microsoft.com/office/drawing/2014/main" id="{4EA04DB8-09ED-4F4B-AD63-B481572C8729}"/>
              </a:ext>
            </a:extLst>
          </p:cNvPr>
          <p:cNvSpPr>
            <a:spLocks/>
          </p:cNvSpPr>
          <p:nvPr/>
        </p:nvSpPr>
        <p:spPr bwMode="auto">
          <a:xfrm>
            <a:off x="1411812" y="2788634"/>
            <a:ext cx="344549" cy="258502"/>
          </a:xfrm>
          <a:custGeom>
            <a:avLst/>
            <a:gdLst>
              <a:gd name="T0" fmla="*/ 164 w 204"/>
              <a:gd name="T1" fmla="*/ 0 h 204"/>
              <a:gd name="T2" fmla="*/ 39 w 204"/>
              <a:gd name="T3" fmla="*/ 0 h 204"/>
              <a:gd name="T4" fmla="*/ 0 w 204"/>
              <a:gd name="T5" fmla="*/ 39 h 204"/>
              <a:gd name="T6" fmla="*/ 0 w 204"/>
              <a:gd name="T7" fmla="*/ 81 h 204"/>
              <a:gd name="T8" fmla="*/ 0 w 204"/>
              <a:gd name="T9" fmla="*/ 164 h 204"/>
              <a:gd name="T10" fmla="*/ 39 w 204"/>
              <a:gd name="T11" fmla="*/ 204 h 204"/>
              <a:gd name="T12" fmla="*/ 164 w 204"/>
              <a:gd name="T13" fmla="*/ 204 h 204"/>
              <a:gd name="T14" fmla="*/ 204 w 204"/>
              <a:gd name="T15" fmla="*/ 164 h 204"/>
              <a:gd name="T16" fmla="*/ 204 w 204"/>
              <a:gd name="T17" fmla="*/ 81 h 204"/>
              <a:gd name="T18" fmla="*/ 204 w 204"/>
              <a:gd name="T19" fmla="*/ 39 h 204"/>
              <a:gd name="T20" fmla="*/ 164 w 204"/>
              <a:gd name="T21" fmla="*/ 0 h 204"/>
              <a:gd name="T22" fmla="*/ 176 w 204"/>
              <a:gd name="T23" fmla="*/ 23 h 204"/>
              <a:gd name="T24" fmla="*/ 180 w 204"/>
              <a:gd name="T25" fmla="*/ 23 h 204"/>
              <a:gd name="T26" fmla="*/ 180 w 204"/>
              <a:gd name="T27" fmla="*/ 28 h 204"/>
              <a:gd name="T28" fmla="*/ 180 w 204"/>
              <a:gd name="T29" fmla="*/ 58 h 204"/>
              <a:gd name="T30" fmla="*/ 146 w 204"/>
              <a:gd name="T31" fmla="*/ 58 h 204"/>
              <a:gd name="T32" fmla="*/ 146 w 204"/>
              <a:gd name="T33" fmla="*/ 24 h 204"/>
              <a:gd name="T34" fmla="*/ 176 w 204"/>
              <a:gd name="T35" fmla="*/ 23 h 204"/>
              <a:gd name="T36" fmla="*/ 73 w 204"/>
              <a:gd name="T37" fmla="*/ 81 h 204"/>
              <a:gd name="T38" fmla="*/ 102 w 204"/>
              <a:gd name="T39" fmla="*/ 66 h 204"/>
              <a:gd name="T40" fmla="*/ 131 w 204"/>
              <a:gd name="T41" fmla="*/ 81 h 204"/>
              <a:gd name="T42" fmla="*/ 138 w 204"/>
              <a:gd name="T43" fmla="*/ 102 h 204"/>
              <a:gd name="T44" fmla="*/ 102 w 204"/>
              <a:gd name="T45" fmla="*/ 138 h 204"/>
              <a:gd name="T46" fmla="*/ 66 w 204"/>
              <a:gd name="T47" fmla="*/ 102 h 204"/>
              <a:gd name="T48" fmla="*/ 73 w 204"/>
              <a:gd name="T49" fmla="*/ 81 h 204"/>
              <a:gd name="T50" fmla="*/ 184 w 204"/>
              <a:gd name="T51" fmla="*/ 164 h 204"/>
              <a:gd name="T52" fmla="*/ 164 w 204"/>
              <a:gd name="T53" fmla="*/ 184 h 204"/>
              <a:gd name="T54" fmla="*/ 39 w 204"/>
              <a:gd name="T55" fmla="*/ 184 h 204"/>
              <a:gd name="T56" fmla="*/ 20 w 204"/>
              <a:gd name="T57" fmla="*/ 164 h 204"/>
              <a:gd name="T58" fmla="*/ 20 w 204"/>
              <a:gd name="T59" fmla="*/ 81 h 204"/>
              <a:gd name="T60" fmla="*/ 50 w 204"/>
              <a:gd name="T61" fmla="*/ 81 h 204"/>
              <a:gd name="T62" fmla="*/ 46 w 204"/>
              <a:gd name="T63" fmla="*/ 102 h 204"/>
              <a:gd name="T64" fmla="*/ 102 w 204"/>
              <a:gd name="T65" fmla="*/ 158 h 204"/>
              <a:gd name="T66" fmla="*/ 157 w 204"/>
              <a:gd name="T67" fmla="*/ 102 h 204"/>
              <a:gd name="T68" fmla="*/ 153 w 204"/>
              <a:gd name="T69" fmla="*/ 81 h 204"/>
              <a:gd name="T70" fmla="*/ 184 w 204"/>
              <a:gd name="T71" fmla="*/ 81 h 204"/>
              <a:gd name="T72" fmla="*/ 184 w 204"/>
              <a:gd name="T73"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 h="204">
                <a:moveTo>
                  <a:pt x="164" y="0"/>
                </a:moveTo>
                <a:cubicBezTo>
                  <a:pt x="39" y="0"/>
                  <a:pt x="39" y="0"/>
                  <a:pt x="39" y="0"/>
                </a:cubicBezTo>
                <a:cubicBezTo>
                  <a:pt x="17" y="0"/>
                  <a:pt x="0" y="18"/>
                  <a:pt x="0" y="39"/>
                </a:cubicBezTo>
                <a:cubicBezTo>
                  <a:pt x="0" y="81"/>
                  <a:pt x="0" y="81"/>
                  <a:pt x="0" y="81"/>
                </a:cubicBezTo>
                <a:cubicBezTo>
                  <a:pt x="0" y="164"/>
                  <a:pt x="0" y="164"/>
                  <a:pt x="0" y="164"/>
                </a:cubicBezTo>
                <a:cubicBezTo>
                  <a:pt x="0" y="186"/>
                  <a:pt x="17" y="204"/>
                  <a:pt x="39" y="204"/>
                </a:cubicBezTo>
                <a:cubicBezTo>
                  <a:pt x="164" y="204"/>
                  <a:pt x="164" y="204"/>
                  <a:pt x="164" y="204"/>
                </a:cubicBezTo>
                <a:cubicBezTo>
                  <a:pt x="186" y="204"/>
                  <a:pt x="204" y="186"/>
                  <a:pt x="204" y="164"/>
                </a:cubicBezTo>
                <a:cubicBezTo>
                  <a:pt x="204" y="81"/>
                  <a:pt x="204" y="81"/>
                  <a:pt x="204" y="81"/>
                </a:cubicBezTo>
                <a:cubicBezTo>
                  <a:pt x="204" y="39"/>
                  <a:pt x="204" y="39"/>
                  <a:pt x="204" y="39"/>
                </a:cubicBezTo>
                <a:cubicBezTo>
                  <a:pt x="204" y="18"/>
                  <a:pt x="186" y="0"/>
                  <a:pt x="164" y="0"/>
                </a:cubicBezTo>
                <a:close/>
                <a:moveTo>
                  <a:pt x="176" y="23"/>
                </a:moveTo>
                <a:cubicBezTo>
                  <a:pt x="180" y="23"/>
                  <a:pt x="180" y="23"/>
                  <a:pt x="180" y="23"/>
                </a:cubicBezTo>
                <a:cubicBezTo>
                  <a:pt x="180" y="28"/>
                  <a:pt x="180" y="28"/>
                  <a:pt x="180" y="28"/>
                </a:cubicBezTo>
                <a:cubicBezTo>
                  <a:pt x="180" y="58"/>
                  <a:pt x="180" y="58"/>
                  <a:pt x="180" y="58"/>
                </a:cubicBezTo>
                <a:cubicBezTo>
                  <a:pt x="146" y="58"/>
                  <a:pt x="146" y="58"/>
                  <a:pt x="146" y="58"/>
                </a:cubicBezTo>
                <a:cubicBezTo>
                  <a:pt x="146" y="24"/>
                  <a:pt x="146" y="24"/>
                  <a:pt x="146" y="24"/>
                </a:cubicBezTo>
                <a:lnTo>
                  <a:pt x="176" y="23"/>
                </a:lnTo>
                <a:close/>
                <a:moveTo>
                  <a:pt x="73" y="81"/>
                </a:moveTo>
                <a:cubicBezTo>
                  <a:pt x="79" y="72"/>
                  <a:pt x="90" y="66"/>
                  <a:pt x="102" y="66"/>
                </a:cubicBezTo>
                <a:cubicBezTo>
                  <a:pt x="114" y="66"/>
                  <a:pt x="124" y="72"/>
                  <a:pt x="131" y="81"/>
                </a:cubicBezTo>
                <a:cubicBezTo>
                  <a:pt x="135" y="87"/>
                  <a:pt x="138" y="94"/>
                  <a:pt x="138" y="102"/>
                </a:cubicBezTo>
                <a:cubicBezTo>
                  <a:pt x="138" y="122"/>
                  <a:pt x="121" y="138"/>
                  <a:pt x="102" y="138"/>
                </a:cubicBezTo>
                <a:cubicBezTo>
                  <a:pt x="82" y="138"/>
                  <a:pt x="66" y="122"/>
                  <a:pt x="66" y="102"/>
                </a:cubicBezTo>
                <a:cubicBezTo>
                  <a:pt x="66" y="94"/>
                  <a:pt x="68" y="87"/>
                  <a:pt x="73" y="81"/>
                </a:cubicBezTo>
                <a:close/>
                <a:moveTo>
                  <a:pt x="184" y="164"/>
                </a:moveTo>
                <a:cubicBezTo>
                  <a:pt x="184" y="175"/>
                  <a:pt x="175" y="184"/>
                  <a:pt x="164" y="184"/>
                </a:cubicBezTo>
                <a:cubicBezTo>
                  <a:pt x="39" y="184"/>
                  <a:pt x="39" y="184"/>
                  <a:pt x="39" y="184"/>
                </a:cubicBezTo>
                <a:cubicBezTo>
                  <a:pt x="28" y="184"/>
                  <a:pt x="20" y="175"/>
                  <a:pt x="20" y="164"/>
                </a:cubicBezTo>
                <a:cubicBezTo>
                  <a:pt x="20" y="81"/>
                  <a:pt x="20" y="81"/>
                  <a:pt x="20" y="81"/>
                </a:cubicBezTo>
                <a:cubicBezTo>
                  <a:pt x="50" y="81"/>
                  <a:pt x="50" y="81"/>
                  <a:pt x="50" y="81"/>
                </a:cubicBezTo>
                <a:cubicBezTo>
                  <a:pt x="47" y="87"/>
                  <a:pt x="46" y="95"/>
                  <a:pt x="46" y="102"/>
                </a:cubicBezTo>
                <a:cubicBezTo>
                  <a:pt x="46" y="133"/>
                  <a:pt x="71" y="158"/>
                  <a:pt x="102" y="158"/>
                </a:cubicBezTo>
                <a:cubicBezTo>
                  <a:pt x="132" y="158"/>
                  <a:pt x="157" y="133"/>
                  <a:pt x="157" y="102"/>
                </a:cubicBezTo>
                <a:cubicBezTo>
                  <a:pt x="157" y="95"/>
                  <a:pt x="156" y="87"/>
                  <a:pt x="153" y="81"/>
                </a:cubicBezTo>
                <a:cubicBezTo>
                  <a:pt x="184" y="81"/>
                  <a:pt x="184" y="81"/>
                  <a:pt x="184" y="81"/>
                </a:cubicBezTo>
                <a:lnTo>
                  <a:pt x="184" y="164"/>
                </a:lnTo>
                <a:close/>
              </a:path>
            </a:pathLst>
          </a:custGeom>
          <a:solidFill>
            <a:schemeClr val="bg1"/>
          </a:solidFill>
          <a:ln>
            <a:noFill/>
          </a:ln>
        </p:spPr>
        <p:txBody>
          <a:bodyPr anchor="ctr"/>
          <a:lstStyle/>
          <a:p>
            <a:pPr algn="ctr"/>
            <a:endParaRPr dirty="0"/>
          </a:p>
        </p:txBody>
      </p:sp>
      <p:sp>
        <p:nvSpPr>
          <p:cNvPr id="25" name="Freeform: Shape 37">
            <a:extLst>
              <a:ext uri="{FF2B5EF4-FFF2-40B4-BE49-F238E27FC236}">
                <a16:creationId xmlns:a16="http://schemas.microsoft.com/office/drawing/2014/main" id="{EA9AFCC9-274E-4337-A622-E1242EA05F7A}"/>
              </a:ext>
            </a:extLst>
          </p:cNvPr>
          <p:cNvSpPr>
            <a:spLocks noChangeAspect="1"/>
          </p:cNvSpPr>
          <p:nvPr/>
        </p:nvSpPr>
        <p:spPr bwMode="auto">
          <a:xfrm>
            <a:off x="6687269" y="3965793"/>
            <a:ext cx="345484" cy="304713"/>
          </a:xfrm>
          <a:custGeom>
            <a:avLst/>
            <a:gdLst>
              <a:gd name="T0" fmla="*/ 374 w 400"/>
              <a:gd name="T1" fmla="*/ 100 h 400"/>
              <a:gd name="T2" fmla="*/ 301 w 400"/>
              <a:gd name="T3" fmla="*/ 27 h 400"/>
              <a:gd name="T4" fmla="*/ 200 w 400"/>
              <a:gd name="T5" fmla="*/ 0 h 400"/>
              <a:gd name="T6" fmla="*/ 100 w 400"/>
              <a:gd name="T7" fmla="*/ 27 h 400"/>
              <a:gd name="T8" fmla="*/ 27 w 400"/>
              <a:gd name="T9" fmla="*/ 100 h 400"/>
              <a:gd name="T10" fmla="*/ 0 w 400"/>
              <a:gd name="T11" fmla="*/ 200 h 400"/>
              <a:gd name="T12" fmla="*/ 27 w 400"/>
              <a:gd name="T13" fmla="*/ 301 h 400"/>
              <a:gd name="T14" fmla="*/ 100 w 400"/>
              <a:gd name="T15" fmla="*/ 374 h 400"/>
              <a:gd name="T16" fmla="*/ 200 w 400"/>
              <a:gd name="T17" fmla="*/ 400 h 400"/>
              <a:gd name="T18" fmla="*/ 301 w 400"/>
              <a:gd name="T19" fmla="*/ 374 h 400"/>
              <a:gd name="T20" fmla="*/ 374 w 400"/>
              <a:gd name="T21" fmla="*/ 301 h 400"/>
              <a:gd name="T22" fmla="*/ 400 w 400"/>
              <a:gd name="T23" fmla="*/ 200 h 400"/>
              <a:gd name="T24" fmla="*/ 374 w 400"/>
              <a:gd name="T25" fmla="*/ 100 h 400"/>
              <a:gd name="T26" fmla="*/ 330 w 400"/>
              <a:gd name="T27" fmla="*/ 170 h 400"/>
              <a:gd name="T28" fmla="*/ 188 w 400"/>
              <a:gd name="T29" fmla="*/ 311 h 400"/>
              <a:gd name="T30" fmla="*/ 176 w 400"/>
              <a:gd name="T31" fmla="*/ 316 h 400"/>
              <a:gd name="T32" fmla="*/ 165 w 400"/>
              <a:gd name="T33" fmla="*/ 311 h 400"/>
              <a:gd name="T34" fmla="*/ 70 w 400"/>
              <a:gd name="T35" fmla="*/ 217 h 400"/>
              <a:gd name="T36" fmla="*/ 66 w 400"/>
              <a:gd name="T37" fmla="*/ 205 h 400"/>
              <a:gd name="T38" fmla="*/ 70 w 400"/>
              <a:gd name="T39" fmla="*/ 193 h 400"/>
              <a:gd name="T40" fmla="*/ 94 w 400"/>
              <a:gd name="T41" fmla="*/ 170 h 400"/>
              <a:gd name="T42" fmla="*/ 106 w 400"/>
              <a:gd name="T43" fmla="*/ 165 h 400"/>
              <a:gd name="T44" fmla="*/ 118 w 400"/>
              <a:gd name="T45" fmla="*/ 170 h 400"/>
              <a:gd name="T46" fmla="*/ 176 w 400"/>
              <a:gd name="T47" fmla="*/ 229 h 400"/>
              <a:gd name="T48" fmla="*/ 283 w 400"/>
              <a:gd name="T49" fmla="*/ 123 h 400"/>
              <a:gd name="T50" fmla="*/ 295 w 400"/>
              <a:gd name="T51" fmla="*/ 118 h 400"/>
              <a:gd name="T52" fmla="*/ 306 w 400"/>
              <a:gd name="T53" fmla="*/ 123 h 400"/>
              <a:gd name="T54" fmla="*/ 330 w 400"/>
              <a:gd name="T55" fmla="*/ 146 h 400"/>
              <a:gd name="T56" fmla="*/ 335 w 400"/>
              <a:gd name="T57" fmla="*/ 158 h 400"/>
              <a:gd name="T58" fmla="*/ 330 w 400"/>
              <a:gd name="T59" fmla="*/ 170 h 400"/>
              <a:gd name="T60" fmla="*/ 330 w 400"/>
              <a:gd name="T61" fmla="*/ 170 h 400"/>
              <a:gd name="T62" fmla="*/ 330 w 400"/>
              <a:gd name="T63" fmla="*/ 170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00" h="400">
                <a:moveTo>
                  <a:pt x="374" y="100"/>
                </a:moveTo>
                <a:cubicBezTo>
                  <a:pt x="356" y="69"/>
                  <a:pt x="331" y="45"/>
                  <a:pt x="301" y="27"/>
                </a:cubicBezTo>
                <a:cubicBezTo>
                  <a:pt x="270" y="9"/>
                  <a:pt x="237" y="0"/>
                  <a:pt x="200" y="0"/>
                </a:cubicBezTo>
                <a:cubicBezTo>
                  <a:pt x="164" y="0"/>
                  <a:pt x="130" y="9"/>
                  <a:pt x="100" y="27"/>
                </a:cubicBezTo>
                <a:cubicBezTo>
                  <a:pt x="69" y="45"/>
                  <a:pt x="45" y="69"/>
                  <a:pt x="27" y="100"/>
                </a:cubicBezTo>
                <a:cubicBezTo>
                  <a:pt x="9" y="130"/>
                  <a:pt x="0" y="164"/>
                  <a:pt x="0" y="200"/>
                </a:cubicBezTo>
                <a:cubicBezTo>
                  <a:pt x="0" y="237"/>
                  <a:pt x="9" y="270"/>
                  <a:pt x="27" y="301"/>
                </a:cubicBezTo>
                <a:cubicBezTo>
                  <a:pt x="45" y="331"/>
                  <a:pt x="69" y="356"/>
                  <a:pt x="100" y="374"/>
                </a:cubicBezTo>
                <a:cubicBezTo>
                  <a:pt x="130" y="391"/>
                  <a:pt x="164" y="400"/>
                  <a:pt x="200" y="400"/>
                </a:cubicBezTo>
                <a:cubicBezTo>
                  <a:pt x="237" y="400"/>
                  <a:pt x="270" y="391"/>
                  <a:pt x="301" y="374"/>
                </a:cubicBezTo>
                <a:cubicBezTo>
                  <a:pt x="331" y="356"/>
                  <a:pt x="356" y="331"/>
                  <a:pt x="374" y="301"/>
                </a:cubicBezTo>
                <a:cubicBezTo>
                  <a:pt x="392" y="270"/>
                  <a:pt x="400" y="237"/>
                  <a:pt x="400" y="200"/>
                </a:cubicBezTo>
                <a:cubicBezTo>
                  <a:pt x="400" y="164"/>
                  <a:pt x="392" y="130"/>
                  <a:pt x="374" y="100"/>
                </a:cubicBezTo>
                <a:close/>
                <a:moveTo>
                  <a:pt x="330" y="170"/>
                </a:moveTo>
                <a:cubicBezTo>
                  <a:pt x="188" y="311"/>
                  <a:pt x="188" y="311"/>
                  <a:pt x="188" y="311"/>
                </a:cubicBezTo>
                <a:cubicBezTo>
                  <a:pt x="185" y="315"/>
                  <a:pt x="181" y="316"/>
                  <a:pt x="176" y="316"/>
                </a:cubicBezTo>
                <a:cubicBezTo>
                  <a:pt x="172" y="316"/>
                  <a:pt x="168" y="315"/>
                  <a:pt x="165" y="311"/>
                </a:cubicBezTo>
                <a:cubicBezTo>
                  <a:pt x="70" y="217"/>
                  <a:pt x="70" y="217"/>
                  <a:pt x="70" y="217"/>
                </a:cubicBezTo>
                <a:cubicBezTo>
                  <a:pt x="67" y="214"/>
                  <a:pt x="66" y="210"/>
                  <a:pt x="66" y="205"/>
                </a:cubicBezTo>
                <a:cubicBezTo>
                  <a:pt x="66" y="200"/>
                  <a:pt x="67" y="196"/>
                  <a:pt x="70" y="193"/>
                </a:cubicBezTo>
                <a:cubicBezTo>
                  <a:pt x="94" y="170"/>
                  <a:pt x="94" y="170"/>
                  <a:pt x="94" y="170"/>
                </a:cubicBezTo>
                <a:cubicBezTo>
                  <a:pt x="97" y="166"/>
                  <a:pt x="101" y="165"/>
                  <a:pt x="106" y="165"/>
                </a:cubicBezTo>
                <a:cubicBezTo>
                  <a:pt x="110" y="165"/>
                  <a:pt x="114" y="166"/>
                  <a:pt x="118" y="170"/>
                </a:cubicBezTo>
                <a:cubicBezTo>
                  <a:pt x="176" y="229"/>
                  <a:pt x="176" y="229"/>
                  <a:pt x="176" y="229"/>
                </a:cubicBezTo>
                <a:cubicBezTo>
                  <a:pt x="283" y="123"/>
                  <a:pt x="283" y="123"/>
                  <a:pt x="283" y="123"/>
                </a:cubicBezTo>
                <a:cubicBezTo>
                  <a:pt x="286" y="119"/>
                  <a:pt x="290" y="118"/>
                  <a:pt x="295" y="118"/>
                </a:cubicBezTo>
                <a:cubicBezTo>
                  <a:pt x="299" y="118"/>
                  <a:pt x="303" y="119"/>
                  <a:pt x="306" y="123"/>
                </a:cubicBezTo>
                <a:cubicBezTo>
                  <a:pt x="330" y="146"/>
                  <a:pt x="330" y="146"/>
                  <a:pt x="330" y="146"/>
                </a:cubicBezTo>
                <a:cubicBezTo>
                  <a:pt x="333" y="149"/>
                  <a:pt x="335" y="153"/>
                  <a:pt x="335" y="158"/>
                </a:cubicBezTo>
                <a:cubicBezTo>
                  <a:pt x="335" y="163"/>
                  <a:pt x="333" y="167"/>
                  <a:pt x="330" y="170"/>
                </a:cubicBezTo>
                <a:close/>
                <a:moveTo>
                  <a:pt x="330" y="170"/>
                </a:moveTo>
                <a:cubicBezTo>
                  <a:pt x="330" y="170"/>
                  <a:pt x="330" y="170"/>
                  <a:pt x="330" y="170"/>
                </a:cubicBezTo>
              </a:path>
            </a:pathLst>
          </a:custGeom>
          <a:solidFill>
            <a:schemeClr val="bg1"/>
          </a:solidFill>
          <a:ln>
            <a:noFill/>
          </a:ln>
        </p:spPr>
        <p:txBody>
          <a:bodyPr anchor="ctr"/>
          <a:lstStyle/>
          <a:p>
            <a:pPr algn="ctr"/>
            <a:endParaRPr/>
          </a:p>
        </p:txBody>
      </p:sp>
    </p:spTree>
    <p:extLst>
      <p:ext uri="{BB962C8B-B14F-4D97-AF65-F5344CB8AC3E}">
        <p14:creationId xmlns:p14="http://schemas.microsoft.com/office/powerpoint/2010/main" val="402414171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fade">
                                      <p:cBhvr>
                                        <p:cTn id="14" dur="1000"/>
                                        <p:tgtEl>
                                          <p:spTgt spid="18"/>
                                        </p:tgtEl>
                                      </p:cBhvr>
                                    </p:animEffect>
                                    <p:anim calcmode="lin" valueType="num">
                                      <p:cBhvr>
                                        <p:cTn id="15" dur="1000" fill="hold"/>
                                        <p:tgtEl>
                                          <p:spTgt spid="18"/>
                                        </p:tgtEl>
                                        <p:attrNameLst>
                                          <p:attrName>ppt_x</p:attrName>
                                        </p:attrNameLst>
                                      </p:cBhvr>
                                      <p:tavLst>
                                        <p:tav tm="0">
                                          <p:val>
                                            <p:strVal val="#ppt_x"/>
                                          </p:val>
                                        </p:tav>
                                        <p:tav tm="100000">
                                          <p:val>
                                            <p:strVal val="#ppt_x"/>
                                          </p:val>
                                        </p:tav>
                                      </p:tavLst>
                                    </p:anim>
                                    <p:anim calcmode="lin" valueType="num">
                                      <p:cBhvr>
                                        <p:cTn id="16" dur="1000" fill="hold"/>
                                        <p:tgtEl>
                                          <p:spTgt spid="1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500"/>
                                        <p:tgtEl>
                                          <p:spTgt spid="9"/>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wipe(left)">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2" fill="hold"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right)">
                                      <p:cBhvr>
                                        <p:cTn id="37" dur="500"/>
                                        <p:tgtEl>
                                          <p:spTgt spid="17"/>
                                        </p:tgtEl>
                                      </p:cBhvr>
                                    </p:animEffect>
                                  </p:childTnLst>
                                </p:cTn>
                              </p:par>
                              <p:par>
                                <p:cTn id="38" presetID="22" presetClass="entr" presetSubtype="2" fill="hold" grpId="0" nodeType="with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wipe(right)">
                                      <p:cBhvr>
                                        <p:cTn id="40" dur="500"/>
                                        <p:tgtEl>
                                          <p:spTgt spid="6"/>
                                        </p:tgtEl>
                                      </p:cBhvr>
                                    </p:animEffect>
                                  </p:childTnLst>
                                </p:cTn>
                              </p:par>
                              <p:par>
                                <p:cTn id="41" presetID="22" presetClass="entr" presetSubtype="2" fill="hold" grpId="0"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wipe(right)">
                                      <p:cBhvr>
                                        <p:cTn id="43" dur="500"/>
                                        <p:tgtEl>
                                          <p:spTgt spid="25"/>
                                        </p:tgtEl>
                                      </p:cBhvr>
                                    </p:animEffect>
                                  </p:childTnLst>
                                </p:cTn>
                              </p:par>
                            </p:childTnLst>
                          </p:cTn>
                        </p:par>
                      </p:childTnLst>
                    </p:cTn>
                  </p:par>
                  <p:par>
                    <p:cTn id="44" fill="hold">
                      <p:stCondLst>
                        <p:cond delay="indefinite"/>
                      </p:stCondLst>
                      <p:childTnLst>
                        <p:par>
                          <p:cTn id="45" fill="hold">
                            <p:stCondLst>
                              <p:cond delay="0"/>
                            </p:stCondLst>
                            <p:childTnLst>
                              <p:par>
                                <p:cTn id="46" presetID="16" presetClass="entr" presetSubtype="21" fill="hold" grpId="0" nodeType="click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barn(inVertical)">
                                      <p:cBhvr>
                                        <p:cTn id="4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3" grpId="0" animBg="1"/>
      <p:bldP spid="4" grpId="0"/>
      <p:bldP spid="7" grpId="0"/>
      <p:bldP spid="5" grpId="0"/>
      <p:bldP spid="6" grpId="0"/>
      <p:bldP spid="24" grpId="0" animBg="1"/>
      <p:bldP spid="25"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矩形: 圆角 56">
            <a:extLst>
              <a:ext uri="{FF2B5EF4-FFF2-40B4-BE49-F238E27FC236}">
                <a16:creationId xmlns:a16="http://schemas.microsoft.com/office/drawing/2014/main" id="{79FD232B-726C-49B4-A1F7-27524899A765}"/>
              </a:ext>
            </a:extLst>
          </p:cNvPr>
          <p:cNvSpPr/>
          <p:nvPr/>
        </p:nvSpPr>
        <p:spPr>
          <a:xfrm>
            <a:off x="504488" y="1330085"/>
            <a:ext cx="5760640"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53" name="矩形 52"/>
          <p:cNvSpPr/>
          <p:nvPr/>
        </p:nvSpPr>
        <p:spPr>
          <a:xfrm>
            <a:off x="578479" y="2287312"/>
            <a:ext cx="3635372" cy="1289905"/>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对应于每一个产量，长期平均成本是生产这一产量的所有短期平均成本中最低的成本</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54" name="矩形 53"/>
          <p:cNvSpPr/>
          <p:nvPr/>
        </p:nvSpPr>
        <p:spPr>
          <a:xfrm>
            <a:off x="613274" y="3787355"/>
            <a:ext cx="3249614" cy="1289905"/>
          </a:xfrm>
          <a:prstGeom prst="rect">
            <a:avLst/>
          </a:prstGeom>
        </p:spPr>
        <p:txBody>
          <a:bodyPr wrap="square">
            <a:spAutoFit/>
          </a:bodyPr>
          <a:lstStyle/>
          <a:p>
            <a:pPr marL="285750" indent="-285750">
              <a:lnSpc>
                <a:spcPct val="150000"/>
              </a:lnSpc>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随着产量的变动，最低成本点连成的曲线就是企业的长期平均成本曲线</a:t>
            </a:r>
            <a:r>
              <a:rPr lang="zh-CN" altLang="en-US" dirty="0">
                <a:latin typeface="微软雅黑" panose="020B0503020204020204" pitchFamily="34" charset="-122"/>
                <a:ea typeface="微软雅黑" panose="020B0503020204020204" pitchFamily="34" charset="-122"/>
              </a:rPr>
              <a:t>。</a:t>
            </a:r>
            <a:endParaRPr lang="en-US" dirty="0">
              <a:latin typeface="微软雅黑" panose="020B0503020204020204" pitchFamily="34" charset="-122"/>
              <a:ea typeface="微软雅黑" panose="020B0503020204020204" pitchFamily="34" charset="-122"/>
            </a:endParaRPr>
          </a:p>
        </p:txBody>
      </p:sp>
      <p:sp>
        <p:nvSpPr>
          <p:cNvPr id="55" name="矩形 54">
            <a:extLst>
              <a:ext uri="{FF2B5EF4-FFF2-40B4-BE49-F238E27FC236}">
                <a16:creationId xmlns:a16="http://schemas.microsoft.com/office/drawing/2014/main" id="{D8719E22-12A4-4859-BDDD-774D3BB59EB0}"/>
              </a:ext>
            </a:extLst>
          </p:cNvPr>
          <p:cNvSpPr/>
          <p:nvPr/>
        </p:nvSpPr>
        <p:spPr>
          <a:xfrm>
            <a:off x="580922" y="520573"/>
            <a:ext cx="348702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三、长期平均成本曲线</a:t>
            </a:r>
          </a:p>
        </p:txBody>
      </p:sp>
      <p:sp>
        <p:nvSpPr>
          <p:cNvPr id="56" name="矩形 55">
            <a:extLst>
              <a:ext uri="{FF2B5EF4-FFF2-40B4-BE49-F238E27FC236}">
                <a16:creationId xmlns:a16="http://schemas.microsoft.com/office/drawing/2014/main" id="{748CE446-12A0-4BEB-B44A-2FE07F7828E2}"/>
              </a:ext>
            </a:extLst>
          </p:cNvPr>
          <p:cNvSpPr/>
          <p:nvPr/>
        </p:nvSpPr>
        <p:spPr>
          <a:xfrm>
            <a:off x="532613" y="1355040"/>
            <a:ext cx="5760640" cy="400110"/>
          </a:xfrm>
          <a:prstGeom prst="rect">
            <a:avLst/>
          </a:prstGeom>
          <a:noFill/>
        </p:spPr>
        <p:txBody>
          <a:bodyPr wrap="square">
            <a:spAutoFit/>
          </a:bodyPr>
          <a:lstStyle/>
          <a:p>
            <a:pPr marL="285750" indent="-285750">
              <a:buFont typeface="Wingdings" panose="05000000000000000000" pitchFamily="2" charset="2"/>
              <a:buChar char="u"/>
            </a:pPr>
            <a:r>
              <a:rPr lang="zh-CN" altLang="en-US" sz="2000" dirty="0">
                <a:latin typeface="微软雅黑" panose="020B0503020204020204" pitchFamily="34" charset="-122"/>
                <a:ea typeface="微软雅黑" panose="020B0503020204020204" pitchFamily="34" charset="-122"/>
              </a:rPr>
              <a:t>长期平均成本曲线与短期平均成本曲线的关系</a:t>
            </a:r>
          </a:p>
        </p:txBody>
      </p:sp>
      <p:sp>
        <p:nvSpPr>
          <p:cNvPr id="58" name="任意多边形 31">
            <a:extLst>
              <a:ext uri="{FF2B5EF4-FFF2-40B4-BE49-F238E27FC236}">
                <a16:creationId xmlns:a16="http://schemas.microsoft.com/office/drawing/2014/main" id="{32023D6B-40AE-478C-8241-225323AA7399}"/>
              </a:ext>
            </a:extLst>
          </p:cNvPr>
          <p:cNvSpPr>
            <a:spLocks noChangeArrowheads="1"/>
          </p:cNvSpPr>
          <p:nvPr/>
        </p:nvSpPr>
        <p:spPr bwMode="auto">
          <a:xfrm>
            <a:off x="6834421" y="2220140"/>
            <a:ext cx="425477" cy="428332"/>
          </a:xfrm>
          <a:custGeom>
            <a:avLst/>
            <a:gdLst>
              <a:gd name="T0" fmla="*/ 0 w 514350"/>
              <a:gd name="T1" fmla="*/ 661696 h 381000"/>
              <a:gd name="T2" fmla="*/ 187589 w 514350"/>
              <a:gd name="T3" fmla="*/ 595526 h 381000"/>
              <a:gd name="T4" fmla="*/ 375179 w 514350"/>
              <a:gd name="T5" fmla="*/ 430102 h 381000"/>
              <a:gd name="T6" fmla="*/ 562768 w 514350"/>
              <a:gd name="T7" fmla="*/ 0 h 381000"/>
              <a:gd name="T8" fmla="*/ 0 60000 65536"/>
              <a:gd name="T9" fmla="*/ 0 60000 65536"/>
              <a:gd name="T10" fmla="*/ 0 60000 65536"/>
              <a:gd name="T11" fmla="*/ 0 60000 65536"/>
              <a:gd name="T12" fmla="*/ 0 w 514350"/>
              <a:gd name="T13" fmla="*/ 0 h 381000"/>
              <a:gd name="T14" fmla="*/ 514350 w 514350"/>
              <a:gd name="T15" fmla="*/ 381000 h 381000"/>
            </a:gdLst>
            <a:ahLst/>
            <a:cxnLst>
              <a:cxn ang="T8">
                <a:pos x="T0" y="T1"/>
              </a:cxn>
              <a:cxn ang="T9">
                <a:pos x="T2" y="T3"/>
              </a:cxn>
              <a:cxn ang="T10">
                <a:pos x="T4" y="T5"/>
              </a:cxn>
              <a:cxn ang="T11">
                <a:pos x="T6" y="T7"/>
              </a:cxn>
            </a:cxnLst>
            <a:rect l="T12" t="T13" r="T14" b="T15"/>
            <a:pathLst>
              <a:path w="514350" h="381000">
                <a:moveTo>
                  <a:pt x="0" y="381000"/>
                </a:moveTo>
                <a:cubicBezTo>
                  <a:pt x="57150" y="373062"/>
                  <a:pt x="114300" y="365125"/>
                  <a:pt x="171450" y="342900"/>
                </a:cubicBezTo>
                <a:cubicBezTo>
                  <a:pt x="228600" y="320675"/>
                  <a:pt x="285750" y="304800"/>
                  <a:pt x="342900" y="247650"/>
                </a:cubicBezTo>
                <a:cubicBezTo>
                  <a:pt x="400050" y="190500"/>
                  <a:pt x="457200" y="95250"/>
                  <a:pt x="514350" y="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cxnSp>
        <p:nvCxnSpPr>
          <p:cNvPr id="59" name="直接箭头连接符 25">
            <a:extLst>
              <a:ext uri="{FF2B5EF4-FFF2-40B4-BE49-F238E27FC236}">
                <a16:creationId xmlns:a16="http://schemas.microsoft.com/office/drawing/2014/main" id="{081E7FD4-A36D-4D7D-A15D-F48FAB6CC332}"/>
              </a:ext>
            </a:extLst>
          </p:cNvPr>
          <p:cNvCxnSpPr>
            <a:cxnSpLocks noChangeShapeType="1"/>
          </p:cNvCxnSpPr>
          <p:nvPr/>
        </p:nvCxnSpPr>
        <p:spPr bwMode="auto">
          <a:xfrm>
            <a:off x="5406645" y="3996291"/>
            <a:ext cx="2501460" cy="27127"/>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60" name="直接箭头连接符 26">
            <a:extLst>
              <a:ext uri="{FF2B5EF4-FFF2-40B4-BE49-F238E27FC236}">
                <a16:creationId xmlns:a16="http://schemas.microsoft.com/office/drawing/2014/main" id="{35E81F9E-3EA7-4EE1-A74A-08E6C2A7B47E}"/>
              </a:ext>
            </a:extLst>
          </p:cNvPr>
          <p:cNvCxnSpPr>
            <a:cxnSpLocks noChangeShapeType="1"/>
          </p:cNvCxnSpPr>
          <p:nvPr/>
        </p:nvCxnSpPr>
        <p:spPr bwMode="auto">
          <a:xfrm rot="5400000" flipH="1" flipV="1">
            <a:off x="4410059" y="2985426"/>
            <a:ext cx="2007451" cy="14278"/>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61" name="Object 28">
            <a:extLst>
              <a:ext uri="{FF2B5EF4-FFF2-40B4-BE49-F238E27FC236}">
                <a16:creationId xmlns:a16="http://schemas.microsoft.com/office/drawing/2014/main" id="{C64A858D-9587-432B-B99A-37E64CB78B25}"/>
              </a:ext>
            </a:extLst>
          </p:cNvPr>
          <p:cNvGraphicFramePr>
            <a:graphicFrameLocks noChangeAspect="1"/>
          </p:cNvGraphicFramePr>
          <p:nvPr>
            <p:extLst>
              <p:ext uri="{D42A27DB-BD31-4B8C-83A1-F6EECF244321}">
                <p14:modId xmlns:p14="http://schemas.microsoft.com/office/powerpoint/2010/main" val="573545596"/>
              </p:ext>
            </p:extLst>
          </p:nvPr>
        </p:nvGraphicFramePr>
        <p:xfrm>
          <a:off x="5163926" y="2053090"/>
          <a:ext cx="191322" cy="222732"/>
        </p:xfrm>
        <a:graphic>
          <a:graphicData uri="http://schemas.openxmlformats.org/presentationml/2006/ole">
            <mc:AlternateContent xmlns:mc="http://schemas.openxmlformats.org/markup-compatibility/2006">
              <mc:Choice xmlns:v="urn:schemas-microsoft-com:vml" Requires="v">
                <p:oleObj spid="_x0000_s114656" r:id="rId3" imgW="153248" imgH="178737" progId="">
                  <p:embed/>
                </p:oleObj>
              </mc:Choice>
              <mc:Fallback>
                <p:oleObj r:id="rId3" imgW="153248" imgH="178737" progId="">
                  <p:embed/>
                  <p:pic>
                    <p:nvPicPr>
                      <p:cNvPr id="47" name="Object 28">
                        <a:extLst>
                          <a:ext uri="{FF2B5EF4-FFF2-40B4-BE49-F238E27FC236}">
                            <a16:creationId xmlns:a16="http://schemas.microsoft.com/office/drawing/2014/main" id="{C8D7827A-C8C5-4722-86A3-25885BF161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3926" y="2053090"/>
                        <a:ext cx="191322" cy="222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2" name="任意多边形 20">
            <a:extLst>
              <a:ext uri="{FF2B5EF4-FFF2-40B4-BE49-F238E27FC236}">
                <a16:creationId xmlns:a16="http://schemas.microsoft.com/office/drawing/2014/main" id="{52E4B8A5-027C-4E34-8388-A9F3FB9D4187}"/>
              </a:ext>
            </a:extLst>
          </p:cNvPr>
          <p:cNvSpPr>
            <a:spLocks noChangeArrowheads="1"/>
          </p:cNvSpPr>
          <p:nvPr/>
        </p:nvSpPr>
        <p:spPr bwMode="auto">
          <a:xfrm>
            <a:off x="5423779" y="2635621"/>
            <a:ext cx="1404930" cy="693899"/>
          </a:xfrm>
          <a:custGeom>
            <a:avLst/>
            <a:gdLst>
              <a:gd name="T0" fmla="*/ 0 w 1905000"/>
              <a:gd name="T1" fmla="*/ 1071948 h 742950"/>
              <a:gd name="T2" fmla="*/ 315905 w 1905000"/>
              <a:gd name="T3" fmla="*/ 632174 h 742950"/>
              <a:gd name="T4" fmla="*/ 1133542 w 1905000"/>
              <a:gd name="T5" fmla="*/ 219887 h 742950"/>
              <a:gd name="T6" fmla="*/ 1858266 w 1905000"/>
              <a:gd name="T7" fmla="*/ 0 h 742950"/>
              <a:gd name="T8" fmla="*/ 0 60000 65536"/>
              <a:gd name="T9" fmla="*/ 0 60000 65536"/>
              <a:gd name="T10" fmla="*/ 0 60000 65536"/>
              <a:gd name="T11" fmla="*/ 0 60000 65536"/>
              <a:gd name="T12" fmla="*/ 0 w 1905000"/>
              <a:gd name="T13" fmla="*/ 0 h 742950"/>
              <a:gd name="T14" fmla="*/ 1905000 w 1905000"/>
              <a:gd name="T15" fmla="*/ 742950 h 742950"/>
            </a:gdLst>
            <a:ahLst/>
            <a:cxnLst>
              <a:cxn ang="T8">
                <a:pos x="T0" y="T1"/>
              </a:cxn>
              <a:cxn ang="T9">
                <a:pos x="T2" y="T3"/>
              </a:cxn>
              <a:cxn ang="T10">
                <a:pos x="T4" y="T5"/>
              </a:cxn>
              <a:cxn ang="T11">
                <a:pos x="T6" y="T7"/>
              </a:cxn>
            </a:cxnLst>
            <a:rect l="T12" t="T13" r="T14" b="T15"/>
            <a:pathLst>
              <a:path w="1905000" h="742950">
                <a:moveTo>
                  <a:pt x="0" y="742950"/>
                </a:moveTo>
                <a:cubicBezTo>
                  <a:pt x="65087" y="639762"/>
                  <a:pt x="130175" y="536575"/>
                  <a:pt x="323850" y="438150"/>
                </a:cubicBezTo>
                <a:cubicBezTo>
                  <a:pt x="517525" y="339725"/>
                  <a:pt x="898525" y="225425"/>
                  <a:pt x="1162050" y="152400"/>
                </a:cubicBezTo>
                <a:cubicBezTo>
                  <a:pt x="1425575" y="79375"/>
                  <a:pt x="1665287" y="39687"/>
                  <a:pt x="1905000" y="0"/>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63" name="任意多边形 21">
            <a:extLst>
              <a:ext uri="{FF2B5EF4-FFF2-40B4-BE49-F238E27FC236}">
                <a16:creationId xmlns:a16="http://schemas.microsoft.com/office/drawing/2014/main" id="{CDA81828-906E-4FD4-B40D-49CB7E7F57DA}"/>
              </a:ext>
            </a:extLst>
          </p:cNvPr>
          <p:cNvSpPr>
            <a:spLocks noChangeArrowheads="1"/>
          </p:cNvSpPr>
          <p:nvPr/>
        </p:nvSpPr>
        <p:spPr bwMode="auto">
          <a:xfrm>
            <a:off x="6346121" y="2220140"/>
            <a:ext cx="319822" cy="749581"/>
          </a:xfrm>
          <a:custGeom>
            <a:avLst/>
            <a:gdLst>
              <a:gd name="T0" fmla="*/ 0 w 304800"/>
              <a:gd name="T1" fmla="*/ 1157967 h 1219200"/>
              <a:gd name="T2" fmla="*/ 158632 w 304800"/>
              <a:gd name="T3" fmla="*/ 940848 h 1219200"/>
              <a:gd name="T4" fmla="*/ 317265 w 304800"/>
              <a:gd name="T5" fmla="*/ 524704 h 1219200"/>
              <a:gd name="T6" fmla="*/ 423020 w 304800"/>
              <a:gd name="T7" fmla="*/ 0 h 1219200"/>
              <a:gd name="T8" fmla="*/ 0 60000 65536"/>
              <a:gd name="T9" fmla="*/ 0 60000 65536"/>
              <a:gd name="T10" fmla="*/ 0 60000 65536"/>
              <a:gd name="T11" fmla="*/ 0 60000 65536"/>
              <a:gd name="T12" fmla="*/ 0 w 304800"/>
              <a:gd name="T13" fmla="*/ 0 h 1219200"/>
              <a:gd name="T14" fmla="*/ 304800 w 304800"/>
              <a:gd name="T15" fmla="*/ 1219200 h 1219200"/>
            </a:gdLst>
            <a:ahLst/>
            <a:cxnLst>
              <a:cxn ang="T8">
                <a:pos x="T0" y="T1"/>
              </a:cxn>
              <a:cxn ang="T9">
                <a:pos x="T2" y="T3"/>
              </a:cxn>
              <a:cxn ang="T10">
                <a:pos x="T4" y="T5"/>
              </a:cxn>
              <a:cxn ang="T11">
                <a:pos x="T6" y="T7"/>
              </a:cxn>
            </a:cxnLst>
            <a:rect l="T12" t="T13" r="T14" b="T15"/>
            <a:pathLst>
              <a:path w="304800" h="1219200">
                <a:moveTo>
                  <a:pt x="0" y="1219200"/>
                </a:moveTo>
                <a:cubicBezTo>
                  <a:pt x="38100" y="1160462"/>
                  <a:pt x="76200" y="1101725"/>
                  <a:pt x="114300" y="990600"/>
                </a:cubicBezTo>
                <a:cubicBezTo>
                  <a:pt x="152400" y="879475"/>
                  <a:pt x="196850" y="717550"/>
                  <a:pt x="228600" y="552450"/>
                </a:cubicBezTo>
                <a:cubicBezTo>
                  <a:pt x="260350" y="387350"/>
                  <a:pt x="282575" y="193675"/>
                  <a:pt x="304800" y="0"/>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64" name="任意多边形 22">
            <a:extLst>
              <a:ext uri="{FF2B5EF4-FFF2-40B4-BE49-F238E27FC236}">
                <a16:creationId xmlns:a16="http://schemas.microsoft.com/office/drawing/2014/main" id="{DE339F83-EC53-4CE9-8797-25A3D4109E08}"/>
              </a:ext>
            </a:extLst>
          </p:cNvPr>
          <p:cNvSpPr>
            <a:spLocks noChangeArrowheads="1"/>
          </p:cNvSpPr>
          <p:nvPr/>
        </p:nvSpPr>
        <p:spPr bwMode="auto">
          <a:xfrm>
            <a:off x="6801581" y="2204434"/>
            <a:ext cx="187039" cy="468310"/>
          </a:xfrm>
          <a:custGeom>
            <a:avLst/>
            <a:gdLst>
              <a:gd name="T0" fmla="*/ 0 w 247650"/>
              <a:gd name="T1" fmla="*/ 723454 h 723900"/>
              <a:gd name="T2" fmla="*/ 114181 w 247650"/>
              <a:gd name="T3" fmla="*/ 533071 h 723900"/>
              <a:gd name="T4" fmla="*/ 247392 w 247650"/>
              <a:gd name="T5" fmla="*/ 0 h 723900"/>
              <a:gd name="T6" fmla="*/ 0 60000 65536"/>
              <a:gd name="T7" fmla="*/ 0 60000 65536"/>
              <a:gd name="T8" fmla="*/ 0 60000 65536"/>
              <a:gd name="T9" fmla="*/ 0 w 247650"/>
              <a:gd name="T10" fmla="*/ 0 h 723900"/>
              <a:gd name="T11" fmla="*/ 247650 w 247650"/>
              <a:gd name="T12" fmla="*/ 723900 h 723900"/>
            </a:gdLst>
            <a:ahLst/>
            <a:cxnLst>
              <a:cxn ang="T6">
                <a:pos x="T0" y="T1"/>
              </a:cxn>
              <a:cxn ang="T7">
                <a:pos x="T2" y="T3"/>
              </a:cxn>
              <a:cxn ang="T8">
                <a:pos x="T4" y="T5"/>
              </a:cxn>
            </a:cxnLst>
            <a:rect l="T9" t="T10" r="T11" b="T12"/>
            <a:pathLst>
              <a:path w="247650" h="723900">
                <a:moveTo>
                  <a:pt x="0" y="723900"/>
                </a:moveTo>
                <a:cubicBezTo>
                  <a:pt x="36512" y="688975"/>
                  <a:pt x="73025" y="654050"/>
                  <a:pt x="114300" y="533400"/>
                </a:cubicBezTo>
                <a:cubicBezTo>
                  <a:pt x="155575" y="412750"/>
                  <a:pt x="201612" y="206375"/>
                  <a:pt x="247650" y="0"/>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65" name="Object 34">
            <a:extLst>
              <a:ext uri="{FF2B5EF4-FFF2-40B4-BE49-F238E27FC236}">
                <a16:creationId xmlns:a16="http://schemas.microsoft.com/office/drawing/2014/main" id="{45D23AA4-00FA-4F8A-973E-0EBA4719E056}"/>
              </a:ext>
            </a:extLst>
          </p:cNvPr>
          <p:cNvGraphicFramePr>
            <a:graphicFrameLocks noChangeAspect="1"/>
          </p:cNvGraphicFramePr>
          <p:nvPr>
            <p:extLst>
              <p:ext uri="{D42A27DB-BD31-4B8C-83A1-F6EECF244321}">
                <p14:modId xmlns:p14="http://schemas.microsoft.com/office/powerpoint/2010/main" val="813973617"/>
              </p:ext>
            </p:extLst>
          </p:nvPr>
        </p:nvGraphicFramePr>
        <p:xfrm>
          <a:off x="5035425" y="3659341"/>
          <a:ext cx="351232" cy="288409"/>
        </p:xfrm>
        <a:graphic>
          <a:graphicData uri="http://schemas.openxmlformats.org/presentationml/2006/ole">
            <mc:AlternateContent xmlns:mc="http://schemas.openxmlformats.org/markup-compatibility/2006">
              <mc:Choice xmlns:v="urn:schemas-microsoft-com:vml" Requires="v">
                <p:oleObj spid="_x0000_s114657" r:id="rId5" imgW="280813" imgH="229813" progId="">
                  <p:embed/>
                </p:oleObj>
              </mc:Choice>
              <mc:Fallback>
                <p:oleObj r:id="rId5" imgW="280813" imgH="229813" progId="">
                  <p:embed/>
                  <p:pic>
                    <p:nvPicPr>
                      <p:cNvPr id="31" name="Object 34">
                        <a:extLst>
                          <a:ext uri="{FF2B5EF4-FFF2-40B4-BE49-F238E27FC236}">
                            <a16:creationId xmlns:a16="http://schemas.microsoft.com/office/drawing/2014/main" id="{226FE79D-7768-4B17-BD1D-E41FA0C25D9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35425" y="3659341"/>
                        <a:ext cx="351232" cy="288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6" name="Object 35">
            <a:extLst>
              <a:ext uri="{FF2B5EF4-FFF2-40B4-BE49-F238E27FC236}">
                <a16:creationId xmlns:a16="http://schemas.microsoft.com/office/drawing/2014/main" id="{228F817D-B761-4F4B-B2FF-79FB4076B527}"/>
              </a:ext>
            </a:extLst>
          </p:cNvPr>
          <p:cNvGraphicFramePr>
            <a:graphicFrameLocks noChangeAspect="1"/>
          </p:cNvGraphicFramePr>
          <p:nvPr>
            <p:extLst>
              <p:ext uri="{D42A27DB-BD31-4B8C-83A1-F6EECF244321}">
                <p14:modId xmlns:p14="http://schemas.microsoft.com/office/powerpoint/2010/main" val="3868720449"/>
              </p:ext>
            </p:extLst>
          </p:nvPr>
        </p:nvGraphicFramePr>
        <p:xfrm>
          <a:off x="5035425" y="3402341"/>
          <a:ext cx="366937" cy="288409"/>
        </p:xfrm>
        <a:graphic>
          <a:graphicData uri="http://schemas.openxmlformats.org/presentationml/2006/ole">
            <mc:AlternateContent xmlns:mc="http://schemas.openxmlformats.org/markup-compatibility/2006">
              <mc:Choice xmlns:v="urn:schemas-microsoft-com:vml" Requires="v">
                <p:oleObj spid="_x0000_s114658" r:id="rId7" imgW="293052" imgH="229414" progId="">
                  <p:embed/>
                </p:oleObj>
              </mc:Choice>
              <mc:Fallback>
                <p:oleObj r:id="rId7" imgW="293052" imgH="229414" progId="">
                  <p:embed/>
                  <p:pic>
                    <p:nvPicPr>
                      <p:cNvPr id="32" name="Object 35">
                        <a:extLst>
                          <a:ext uri="{FF2B5EF4-FFF2-40B4-BE49-F238E27FC236}">
                            <a16:creationId xmlns:a16="http://schemas.microsoft.com/office/drawing/2014/main" id="{07D98EA8-9192-486B-B9CB-5E70A2A3206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35425" y="3402341"/>
                        <a:ext cx="366937" cy="288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7" name="Object 36">
            <a:extLst>
              <a:ext uri="{FF2B5EF4-FFF2-40B4-BE49-F238E27FC236}">
                <a16:creationId xmlns:a16="http://schemas.microsoft.com/office/drawing/2014/main" id="{C4A4D6D1-5D0F-43DB-8952-BA6B2739A06B}"/>
              </a:ext>
            </a:extLst>
          </p:cNvPr>
          <p:cNvGraphicFramePr>
            <a:graphicFrameLocks noChangeAspect="1"/>
          </p:cNvGraphicFramePr>
          <p:nvPr>
            <p:extLst>
              <p:ext uri="{D42A27DB-BD31-4B8C-83A1-F6EECF244321}">
                <p14:modId xmlns:p14="http://schemas.microsoft.com/office/powerpoint/2010/main" val="3976689143"/>
              </p:ext>
            </p:extLst>
          </p:nvPr>
        </p:nvGraphicFramePr>
        <p:xfrm>
          <a:off x="5035425" y="3081091"/>
          <a:ext cx="366937" cy="288409"/>
        </p:xfrm>
        <a:graphic>
          <a:graphicData uri="http://schemas.openxmlformats.org/presentationml/2006/ole">
            <mc:AlternateContent xmlns:mc="http://schemas.openxmlformats.org/markup-compatibility/2006">
              <mc:Choice xmlns:v="urn:schemas-microsoft-com:vml" Requires="v">
                <p:oleObj spid="_x0000_s114659" r:id="rId9" imgW="293052" imgH="229414" progId="">
                  <p:embed/>
                </p:oleObj>
              </mc:Choice>
              <mc:Fallback>
                <p:oleObj r:id="rId9" imgW="293052" imgH="229414" progId="">
                  <p:embed/>
                  <p:pic>
                    <p:nvPicPr>
                      <p:cNvPr id="33" name="Object 36">
                        <a:extLst>
                          <a:ext uri="{FF2B5EF4-FFF2-40B4-BE49-F238E27FC236}">
                            <a16:creationId xmlns:a16="http://schemas.microsoft.com/office/drawing/2014/main" id="{43E1AA32-C359-4A06-9E8E-666720B94F1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35425" y="3081091"/>
                        <a:ext cx="366937" cy="288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 name="任意多边形 30">
            <a:extLst>
              <a:ext uri="{FF2B5EF4-FFF2-40B4-BE49-F238E27FC236}">
                <a16:creationId xmlns:a16="http://schemas.microsoft.com/office/drawing/2014/main" id="{D4DE4BEF-D55A-41C8-8575-3D85C51C2E09}"/>
              </a:ext>
            </a:extLst>
          </p:cNvPr>
          <p:cNvSpPr>
            <a:spLocks noChangeArrowheads="1"/>
          </p:cNvSpPr>
          <p:nvPr/>
        </p:nvSpPr>
        <p:spPr bwMode="auto">
          <a:xfrm>
            <a:off x="6341838" y="2635622"/>
            <a:ext cx="485443" cy="324105"/>
          </a:xfrm>
          <a:custGeom>
            <a:avLst/>
            <a:gdLst>
              <a:gd name="T0" fmla="*/ 0 w 361950"/>
              <a:gd name="T1" fmla="*/ 500684 h 1028700"/>
              <a:gd name="T2" fmla="*/ 304145 w 361950"/>
              <a:gd name="T3" fmla="*/ 380149 h 1028700"/>
              <a:gd name="T4" fmla="*/ 642084 w 361950"/>
              <a:gd name="T5" fmla="*/ 0 h 1028700"/>
              <a:gd name="T6" fmla="*/ 0 60000 65536"/>
              <a:gd name="T7" fmla="*/ 0 60000 65536"/>
              <a:gd name="T8" fmla="*/ 0 60000 65536"/>
              <a:gd name="T9" fmla="*/ 0 w 361950"/>
              <a:gd name="T10" fmla="*/ 0 h 1028700"/>
              <a:gd name="T11" fmla="*/ 361950 w 361950"/>
              <a:gd name="T12" fmla="*/ 1028700 h 1028700"/>
            </a:gdLst>
            <a:ahLst/>
            <a:cxnLst>
              <a:cxn ang="T6">
                <a:pos x="T0" y="T1"/>
              </a:cxn>
              <a:cxn ang="T7">
                <a:pos x="T2" y="T3"/>
              </a:cxn>
              <a:cxn ang="T8">
                <a:pos x="T4" y="T5"/>
              </a:cxn>
            </a:cxnLst>
            <a:rect l="T9" t="T10" r="T11" b="T12"/>
            <a:pathLst>
              <a:path w="361950" h="1028700">
                <a:moveTo>
                  <a:pt x="0" y="1028700"/>
                </a:moveTo>
                <a:cubicBezTo>
                  <a:pt x="55562" y="990600"/>
                  <a:pt x="111125" y="952500"/>
                  <a:pt x="171450" y="781050"/>
                </a:cubicBezTo>
                <a:cubicBezTo>
                  <a:pt x="231775" y="609600"/>
                  <a:pt x="296862" y="304800"/>
                  <a:pt x="361950" y="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69" name="任意多边形 32">
            <a:extLst>
              <a:ext uri="{FF2B5EF4-FFF2-40B4-BE49-F238E27FC236}">
                <a16:creationId xmlns:a16="http://schemas.microsoft.com/office/drawing/2014/main" id="{02C17645-D8CC-46FA-BE4D-61C21F4F1169}"/>
              </a:ext>
            </a:extLst>
          </p:cNvPr>
          <p:cNvSpPr>
            <a:spLocks noChangeArrowheads="1"/>
          </p:cNvSpPr>
          <p:nvPr/>
        </p:nvSpPr>
        <p:spPr bwMode="auto">
          <a:xfrm>
            <a:off x="5423780" y="3143909"/>
            <a:ext cx="756720" cy="693899"/>
          </a:xfrm>
          <a:custGeom>
            <a:avLst/>
            <a:gdLst>
              <a:gd name="T0" fmla="*/ 0 w 914400"/>
              <a:gd name="T1" fmla="*/ 1071948 h 819150"/>
              <a:gd name="T2" fmla="*/ 354484 w 914400"/>
              <a:gd name="T3" fmla="*/ 398864 h 819150"/>
              <a:gd name="T4" fmla="*/ 1000895 w 914400"/>
              <a:gd name="T5" fmla="*/ 0 h 819150"/>
              <a:gd name="T6" fmla="*/ 0 60000 65536"/>
              <a:gd name="T7" fmla="*/ 0 60000 65536"/>
              <a:gd name="T8" fmla="*/ 0 60000 65536"/>
              <a:gd name="T9" fmla="*/ 0 w 914400"/>
              <a:gd name="T10" fmla="*/ 0 h 819150"/>
              <a:gd name="T11" fmla="*/ 914400 w 914400"/>
              <a:gd name="T12" fmla="*/ 819150 h 819150"/>
            </a:gdLst>
            <a:ahLst/>
            <a:cxnLst>
              <a:cxn ang="T6">
                <a:pos x="T0" y="T1"/>
              </a:cxn>
              <a:cxn ang="T7">
                <a:pos x="T2" y="T3"/>
              </a:cxn>
              <a:cxn ang="T8">
                <a:pos x="T4" y="T5"/>
              </a:cxn>
            </a:cxnLst>
            <a:rect l="T9" t="T10" r="T11" b="T12"/>
            <a:pathLst>
              <a:path w="914400" h="819150">
                <a:moveTo>
                  <a:pt x="0" y="819150"/>
                </a:moveTo>
                <a:cubicBezTo>
                  <a:pt x="85725" y="630237"/>
                  <a:pt x="171450" y="441325"/>
                  <a:pt x="323850" y="304800"/>
                </a:cubicBezTo>
                <a:cubicBezTo>
                  <a:pt x="476250" y="168275"/>
                  <a:pt x="695325" y="84137"/>
                  <a:pt x="914400" y="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70" name="任意多边形 19">
            <a:extLst>
              <a:ext uri="{FF2B5EF4-FFF2-40B4-BE49-F238E27FC236}">
                <a16:creationId xmlns:a16="http://schemas.microsoft.com/office/drawing/2014/main" id="{2D97B3CD-2DA4-4DFA-8A89-C3FB0F49377A}"/>
              </a:ext>
            </a:extLst>
          </p:cNvPr>
          <p:cNvSpPr>
            <a:spLocks noChangeArrowheads="1"/>
          </p:cNvSpPr>
          <p:nvPr/>
        </p:nvSpPr>
        <p:spPr bwMode="auto">
          <a:xfrm>
            <a:off x="5423779" y="2959727"/>
            <a:ext cx="918058" cy="601092"/>
          </a:xfrm>
          <a:custGeom>
            <a:avLst/>
            <a:gdLst>
              <a:gd name="T0" fmla="*/ 0 w 1181100"/>
              <a:gd name="T1" fmla="*/ 928579 h 723900"/>
              <a:gd name="T2" fmla="*/ 430878 w 1181100"/>
              <a:gd name="T3" fmla="*/ 342108 h 723900"/>
              <a:gd name="T4" fmla="*/ 1214293 w 1181100"/>
              <a:gd name="T5" fmla="*/ 0 h 723900"/>
              <a:gd name="T6" fmla="*/ 0 60000 65536"/>
              <a:gd name="T7" fmla="*/ 0 60000 65536"/>
              <a:gd name="T8" fmla="*/ 0 60000 65536"/>
              <a:gd name="T9" fmla="*/ 0 w 1181100"/>
              <a:gd name="T10" fmla="*/ 0 h 723900"/>
              <a:gd name="T11" fmla="*/ 1181100 w 1181100"/>
              <a:gd name="T12" fmla="*/ 723900 h 723900"/>
            </a:gdLst>
            <a:ahLst/>
            <a:cxnLst>
              <a:cxn ang="T6">
                <a:pos x="T0" y="T1"/>
              </a:cxn>
              <a:cxn ang="T7">
                <a:pos x="T2" y="T3"/>
              </a:cxn>
              <a:cxn ang="T8">
                <a:pos x="T4" y="T5"/>
              </a:cxn>
            </a:cxnLst>
            <a:rect l="T9" t="T10" r="T11" b="T12"/>
            <a:pathLst>
              <a:path w="1181100" h="723900">
                <a:moveTo>
                  <a:pt x="0" y="723900"/>
                </a:moveTo>
                <a:cubicBezTo>
                  <a:pt x="111125" y="555625"/>
                  <a:pt x="222250" y="387350"/>
                  <a:pt x="419100" y="266700"/>
                </a:cubicBezTo>
                <a:cubicBezTo>
                  <a:pt x="615950" y="146050"/>
                  <a:pt x="898525" y="73025"/>
                  <a:pt x="1181100" y="0"/>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71" name="Object 37">
            <a:extLst>
              <a:ext uri="{FF2B5EF4-FFF2-40B4-BE49-F238E27FC236}">
                <a16:creationId xmlns:a16="http://schemas.microsoft.com/office/drawing/2014/main" id="{1DD4BD8B-CD56-470C-8C67-EAE4C1125D52}"/>
              </a:ext>
            </a:extLst>
          </p:cNvPr>
          <p:cNvGraphicFramePr>
            <a:graphicFrameLocks noChangeAspect="1"/>
          </p:cNvGraphicFramePr>
          <p:nvPr>
            <p:extLst>
              <p:ext uri="{D42A27DB-BD31-4B8C-83A1-F6EECF244321}">
                <p14:modId xmlns:p14="http://schemas.microsoft.com/office/powerpoint/2010/main" val="49356469"/>
              </p:ext>
            </p:extLst>
          </p:nvPr>
        </p:nvGraphicFramePr>
        <p:xfrm>
          <a:off x="6504605" y="1988850"/>
          <a:ext cx="319821" cy="288409"/>
        </p:xfrm>
        <a:graphic>
          <a:graphicData uri="http://schemas.openxmlformats.org/presentationml/2006/ole">
            <mc:AlternateContent xmlns:mc="http://schemas.openxmlformats.org/markup-compatibility/2006">
              <mc:Choice xmlns:v="urn:schemas-microsoft-com:vml" Requires="v">
                <p:oleObj spid="_x0000_s114660" r:id="rId11" imgW="255091" imgH="229614" progId="">
                  <p:embed/>
                </p:oleObj>
              </mc:Choice>
              <mc:Fallback>
                <p:oleObj r:id="rId11" imgW="255091" imgH="229614" progId="">
                  <p:embed/>
                  <p:pic>
                    <p:nvPicPr>
                      <p:cNvPr id="34" name="Object 37">
                        <a:extLst>
                          <a:ext uri="{FF2B5EF4-FFF2-40B4-BE49-F238E27FC236}">
                            <a16:creationId xmlns:a16="http://schemas.microsoft.com/office/drawing/2014/main" id="{A17820BF-EBF4-4341-86BE-79B6F14DCBB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04605" y="1988850"/>
                        <a:ext cx="319821" cy="288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2" name="Object 38">
            <a:extLst>
              <a:ext uri="{FF2B5EF4-FFF2-40B4-BE49-F238E27FC236}">
                <a16:creationId xmlns:a16="http://schemas.microsoft.com/office/drawing/2014/main" id="{AA71CD77-A221-406C-AA5E-68CA11732408}"/>
              </a:ext>
            </a:extLst>
          </p:cNvPr>
          <p:cNvGraphicFramePr>
            <a:graphicFrameLocks noChangeAspect="1"/>
          </p:cNvGraphicFramePr>
          <p:nvPr>
            <p:extLst>
              <p:ext uri="{D42A27DB-BD31-4B8C-83A1-F6EECF244321}">
                <p14:modId xmlns:p14="http://schemas.microsoft.com/office/powerpoint/2010/main" val="767590309"/>
              </p:ext>
            </p:extLst>
          </p:nvPr>
        </p:nvGraphicFramePr>
        <p:xfrm>
          <a:off x="6828710" y="1988850"/>
          <a:ext cx="335527" cy="288409"/>
        </p:xfrm>
        <a:graphic>
          <a:graphicData uri="http://schemas.openxmlformats.org/presentationml/2006/ole">
            <mc:AlternateContent xmlns:mc="http://schemas.openxmlformats.org/markup-compatibility/2006">
              <mc:Choice xmlns:v="urn:schemas-microsoft-com:vml" Requires="v">
                <p:oleObj spid="_x0000_s114661" r:id="rId13" imgW="267713" imgH="229514" progId="">
                  <p:embed/>
                </p:oleObj>
              </mc:Choice>
              <mc:Fallback>
                <p:oleObj r:id="rId13" imgW="267713" imgH="229514" progId="">
                  <p:embed/>
                  <p:pic>
                    <p:nvPicPr>
                      <p:cNvPr id="35" name="Object 38">
                        <a:extLst>
                          <a:ext uri="{FF2B5EF4-FFF2-40B4-BE49-F238E27FC236}">
                            <a16:creationId xmlns:a16="http://schemas.microsoft.com/office/drawing/2014/main" id="{F40258E0-D7C7-4BFA-A2C6-40AB9389D15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28710" y="1988850"/>
                        <a:ext cx="335527" cy="288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3" name="Object 39">
            <a:extLst>
              <a:ext uri="{FF2B5EF4-FFF2-40B4-BE49-F238E27FC236}">
                <a16:creationId xmlns:a16="http://schemas.microsoft.com/office/drawing/2014/main" id="{E9CD3179-57E1-4A6D-AEB3-E0B519EA31B5}"/>
              </a:ext>
            </a:extLst>
          </p:cNvPr>
          <p:cNvGraphicFramePr>
            <a:graphicFrameLocks noChangeAspect="1"/>
          </p:cNvGraphicFramePr>
          <p:nvPr>
            <p:extLst>
              <p:ext uri="{D42A27DB-BD31-4B8C-83A1-F6EECF244321}">
                <p14:modId xmlns:p14="http://schemas.microsoft.com/office/powerpoint/2010/main" val="3381827479"/>
              </p:ext>
            </p:extLst>
          </p:nvPr>
        </p:nvGraphicFramePr>
        <p:xfrm>
          <a:off x="7205642" y="1988850"/>
          <a:ext cx="335527" cy="288409"/>
        </p:xfrm>
        <a:graphic>
          <a:graphicData uri="http://schemas.openxmlformats.org/presentationml/2006/ole">
            <mc:AlternateContent xmlns:mc="http://schemas.openxmlformats.org/markup-compatibility/2006">
              <mc:Choice xmlns:v="urn:schemas-microsoft-com:vml" Requires="v">
                <p:oleObj spid="_x0000_s114662" r:id="rId15" imgW="267713" imgH="229514" progId="">
                  <p:embed/>
                </p:oleObj>
              </mc:Choice>
              <mc:Fallback>
                <p:oleObj r:id="rId15" imgW="267713" imgH="229514" progId="">
                  <p:embed/>
                  <p:pic>
                    <p:nvPicPr>
                      <p:cNvPr id="36" name="Object 39">
                        <a:extLst>
                          <a:ext uri="{FF2B5EF4-FFF2-40B4-BE49-F238E27FC236}">
                            <a16:creationId xmlns:a16="http://schemas.microsoft.com/office/drawing/2014/main" id="{CEE59373-092C-452D-9885-3D746189F20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05642" y="1988850"/>
                        <a:ext cx="335527" cy="2884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4" name="Object 9">
            <a:extLst>
              <a:ext uri="{FF2B5EF4-FFF2-40B4-BE49-F238E27FC236}">
                <a16:creationId xmlns:a16="http://schemas.microsoft.com/office/drawing/2014/main" id="{18C3BA9E-B5F0-491C-B0D4-DE908FB2AD1F}"/>
              </a:ext>
            </a:extLst>
          </p:cNvPr>
          <p:cNvGraphicFramePr>
            <a:graphicFrameLocks noChangeAspect="1"/>
          </p:cNvGraphicFramePr>
          <p:nvPr>
            <p:extLst>
              <p:ext uri="{D42A27DB-BD31-4B8C-83A1-F6EECF244321}">
                <p14:modId xmlns:p14="http://schemas.microsoft.com/office/powerpoint/2010/main" val="2295900918"/>
              </p:ext>
            </p:extLst>
          </p:nvPr>
        </p:nvGraphicFramePr>
        <p:xfrm>
          <a:off x="5934923" y="4044835"/>
          <a:ext cx="224160" cy="288410"/>
        </p:xfrm>
        <a:graphic>
          <a:graphicData uri="http://schemas.openxmlformats.org/presentationml/2006/ole">
            <mc:AlternateContent xmlns:mc="http://schemas.openxmlformats.org/markup-compatibility/2006">
              <mc:Choice xmlns:v="urn:schemas-microsoft-com:vml" Requires="v">
                <p:oleObj spid="_x0000_s114663" r:id="rId17" imgW="178504" imgH="229414" progId="">
                  <p:embed/>
                </p:oleObj>
              </mc:Choice>
              <mc:Fallback>
                <p:oleObj r:id="rId17" imgW="178504" imgH="229414" progId="">
                  <p:embed/>
                  <p:pic>
                    <p:nvPicPr>
                      <p:cNvPr id="8" name="Object 9">
                        <a:extLst>
                          <a:ext uri="{FF2B5EF4-FFF2-40B4-BE49-F238E27FC236}">
                            <a16:creationId xmlns:a16="http://schemas.microsoft.com/office/drawing/2014/main" id="{91C5BEAE-C26C-4CF8-8CFE-79AA4E2D7D0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934923" y="4044835"/>
                        <a:ext cx="224160" cy="2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5" name="Object 10">
            <a:extLst>
              <a:ext uri="{FF2B5EF4-FFF2-40B4-BE49-F238E27FC236}">
                <a16:creationId xmlns:a16="http://schemas.microsoft.com/office/drawing/2014/main" id="{D81DCF11-3D3D-456D-B564-18CF9C9BD8A4}"/>
              </a:ext>
            </a:extLst>
          </p:cNvPr>
          <p:cNvGraphicFramePr>
            <a:graphicFrameLocks noChangeAspect="1"/>
          </p:cNvGraphicFramePr>
          <p:nvPr>
            <p:extLst>
              <p:ext uri="{D42A27DB-BD31-4B8C-83A1-F6EECF244321}">
                <p14:modId xmlns:p14="http://schemas.microsoft.com/office/powerpoint/2010/main" val="93757090"/>
              </p:ext>
            </p:extLst>
          </p:nvPr>
        </p:nvGraphicFramePr>
        <p:xfrm>
          <a:off x="6384671" y="4044835"/>
          <a:ext cx="239866" cy="288410"/>
        </p:xfrm>
        <a:graphic>
          <a:graphicData uri="http://schemas.openxmlformats.org/presentationml/2006/ole">
            <mc:AlternateContent xmlns:mc="http://schemas.openxmlformats.org/markup-compatibility/2006">
              <mc:Choice xmlns:v="urn:schemas-microsoft-com:vml" Requires="v">
                <p:oleObj spid="_x0000_s114664" r:id="rId19" imgW="191481" imgH="229714" progId="">
                  <p:embed/>
                </p:oleObj>
              </mc:Choice>
              <mc:Fallback>
                <p:oleObj r:id="rId19" imgW="191481" imgH="229714" progId="">
                  <p:embed/>
                  <p:pic>
                    <p:nvPicPr>
                      <p:cNvPr id="9" name="Object 10">
                        <a:extLst>
                          <a:ext uri="{FF2B5EF4-FFF2-40B4-BE49-F238E27FC236}">
                            <a16:creationId xmlns:a16="http://schemas.microsoft.com/office/drawing/2014/main" id="{678614F9-9D18-4402-BB53-DEEBB909A46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384671" y="4044835"/>
                        <a:ext cx="239866" cy="2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6" name="Object 27">
            <a:extLst>
              <a:ext uri="{FF2B5EF4-FFF2-40B4-BE49-F238E27FC236}">
                <a16:creationId xmlns:a16="http://schemas.microsoft.com/office/drawing/2014/main" id="{44B8D7B3-538B-47DF-B5DB-DE88A955683C}"/>
              </a:ext>
            </a:extLst>
          </p:cNvPr>
          <p:cNvGraphicFramePr>
            <a:graphicFrameLocks noChangeAspect="1"/>
          </p:cNvGraphicFramePr>
          <p:nvPr>
            <p:extLst>
              <p:ext uri="{D42A27DB-BD31-4B8C-83A1-F6EECF244321}">
                <p14:modId xmlns:p14="http://schemas.microsoft.com/office/powerpoint/2010/main" val="362762779"/>
              </p:ext>
            </p:extLst>
          </p:nvPr>
        </p:nvGraphicFramePr>
        <p:xfrm>
          <a:off x="5153931" y="4023421"/>
          <a:ext cx="191322" cy="222732"/>
        </p:xfrm>
        <a:graphic>
          <a:graphicData uri="http://schemas.openxmlformats.org/presentationml/2006/ole">
            <mc:AlternateContent xmlns:mc="http://schemas.openxmlformats.org/markup-compatibility/2006">
              <mc:Choice xmlns:v="urn:schemas-microsoft-com:vml" Requires="v">
                <p:oleObj spid="_x0000_s114665" r:id="rId21" imgW="153248" imgH="178737" progId="">
                  <p:embed/>
                </p:oleObj>
              </mc:Choice>
              <mc:Fallback>
                <p:oleObj r:id="rId21" imgW="153248" imgH="178737" progId="">
                  <p:embed/>
                  <p:pic>
                    <p:nvPicPr>
                      <p:cNvPr id="46" name="Object 27">
                        <a:extLst>
                          <a:ext uri="{FF2B5EF4-FFF2-40B4-BE49-F238E27FC236}">
                            <a16:creationId xmlns:a16="http://schemas.microsoft.com/office/drawing/2014/main" id="{8EA762B9-7ACB-4498-978B-AE56E6490EA1}"/>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53931" y="4023421"/>
                        <a:ext cx="191322" cy="222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7" name="Object 29">
            <a:extLst>
              <a:ext uri="{FF2B5EF4-FFF2-40B4-BE49-F238E27FC236}">
                <a16:creationId xmlns:a16="http://schemas.microsoft.com/office/drawing/2014/main" id="{E6894245-5757-4568-8E53-14D5425D3DA3}"/>
              </a:ext>
            </a:extLst>
          </p:cNvPr>
          <p:cNvGraphicFramePr>
            <a:graphicFrameLocks noChangeAspect="1"/>
          </p:cNvGraphicFramePr>
          <p:nvPr>
            <p:extLst>
              <p:ext uri="{D42A27DB-BD31-4B8C-83A1-F6EECF244321}">
                <p14:modId xmlns:p14="http://schemas.microsoft.com/office/powerpoint/2010/main" val="3736136290"/>
              </p:ext>
            </p:extLst>
          </p:nvPr>
        </p:nvGraphicFramePr>
        <p:xfrm>
          <a:off x="7692513" y="4114798"/>
          <a:ext cx="592526" cy="255570"/>
        </p:xfrm>
        <a:graphic>
          <a:graphicData uri="http://schemas.openxmlformats.org/presentationml/2006/ole">
            <mc:AlternateContent xmlns:mc="http://schemas.openxmlformats.org/markup-compatibility/2006">
              <mc:Choice xmlns:v="urn:schemas-microsoft-com:vml" Requires="v">
                <p:oleObj spid="_x0000_s114666" r:id="rId23" imgW="153381" imgH="204403" progId="">
                  <p:embed/>
                </p:oleObj>
              </mc:Choice>
              <mc:Fallback>
                <p:oleObj r:id="rId23" imgW="153381" imgH="204403" progId="">
                  <p:embed/>
                  <p:pic>
                    <p:nvPicPr>
                      <p:cNvPr id="48" name="Object 29">
                        <a:extLst>
                          <a:ext uri="{FF2B5EF4-FFF2-40B4-BE49-F238E27FC236}">
                            <a16:creationId xmlns:a16="http://schemas.microsoft.com/office/drawing/2014/main" id="{3ECD37BF-8829-4984-A6C4-430149C5182E}"/>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92513" y="4114798"/>
                        <a:ext cx="592526" cy="255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8" name="任意多边形 37">
            <a:extLst>
              <a:ext uri="{FF2B5EF4-FFF2-40B4-BE49-F238E27FC236}">
                <a16:creationId xmlns:a16="http://schemas.microsoft.com/office/drawing/2014/main" id="{49397EDB-9D41-48AA-819D-DDE081CA2D4E}"/>
              </a:ext>
            </a:extLst>
          </p:cNvPr>
          <p:cNvSpPr>
            <a:spLocks noChangeArrowheads="1"/>
          </p:cNvSpPr>
          <p:nvPr/>
        </p:nvSpPr>
        <p:spPr bwMode="auto">
          <a:xfrm>
            <a:off x="6180500" y="2959725"/>
            <a:ext cx="194177" cy="185611"/>
          </a:xfrm>
          <a:custGeom>
            <a:avLst/>
            <a:gdLst>
              <a:gd name="T0" fmla="*/ 0 w 285750"/>
              <a:gd name="T1" fmla="*/ 286735 h 285750"/>
              <a:gd name="T2" fmla="*/ 171222 w 285750"/>
              <a:gd name="T3" fmla="*/ 152925 h 285750"/>
              <a:gd name="T4" fmla="*/ 256833 w 285750"/>
              <a:gd name="T5" fmla="*/ 0 h 285750"/>
              <a:gd name="T6" fmla="*/ 0 60000 65536"/>
              <a:gd name="T7" fmla="*/ 0 60000 65536"/>
              <a:gd name="T8" fmla="*/ 0 60000 65536"/>
              <a:gd name="T9" fmla="*/ 0 w 285750"/>
              <a:gd name="T10" fmla="*/ 0 h 285750"/>
              <a:gd name="T11" fmla="*/ 285750 w 285750"/>
              <a:gd name="T12" fmla="*/ 285750 h 285750"/>
            </a:gdLst>
            <a:ahLst/>
            <a:cxnLst>
              <a:cxn ang="T6">
                <a:pos x="T0" y="T1"/>
              </a:cxn>
              <a:cxn ang="T7">
                <a:pos x="T2" y="T3"/>
              </a:cxn>
              <a:cxn ang="T8">
                <a:pos x="T4" y="T5"/>
              </a:cxn>
            </a:cxnLst>
            <a:rect l="T9" t="T10" r="T11" b="T12"/>
            <a:pathLst>
              <a:path w="285750" h="285750">
                <a:moveTo>
                  <a:pt x="0" y="285750"/>
                </a:moveTo>
                <a:cubicBezTo>
                  <a:pt x="71437" y="242887"/>
                  <a:pt x="142875" y="200025"/>
                  <a:pt x="190500" y="152400"/>
                </a:cubicBezTo>
                <a:cubicBezTo>
                  <a:pt x="238125" y="104775"/>
                  <a:pt x="261937" y="52387"/>
                  <a:pt x="285750" y="0"/>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cxnSp>
        <p:nvCxnSpPr>
          <p:cNvPr id="79" name="直接箭头连接符 43">
            <a:extLst>
              <a:ext uri="{FF2B5EF4-FFF2-40B4-BE49-F238E27FC236}">
                <a16:creationId xmlns:a16="http://schemas.microsoft.com/office/drawing/2014/main" id="{41976E39-308F-4030-909C-70774455F708}"/>
              </a:ext>
            </a:extLst>
          </p:cNvPr>
          <p:cNvCxnSpPr>
            <a:cxnSpLocks noChangeShapeType="1"/>
          </p:cNvCxnSpPr>
          <p:nvPr/>
        </p:nvCxnSpPr>
        <p:spPr bwMode="auto">
          <a:xfrm>
            <a:off x="5430918" y="5765303"/>
            <a:ext cx="2371533" cy="17133"/>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80" name="直接箭头连接符 44">
            <a:extLst>
              <a:ext uri="{FF2B5EF4-FFF2-40B4-BE49-F238E27FC236}">
                <a16:creationId xmlns:a16="http://schemas.microsoft.com/office/drawing/2014/main" id="{E619A5AC-62DD-4FAD-9880-9894DE680030}"/>
              </a:ext>
            </a:extLst>
          </p:cNvPr>
          <p:cNvCxnSpPr>
            <a:cxnSpLocks noChangeShapeType="1"/>
          </p:cNvCxnSpPr>
          <p:nvPr/>
        </p:nvCxnSpPr>
        <p:spPr bwMode="auto">
          <a:xfrm rot="16200000" flipV="1">
            <a:off x="4626368" y="4960749"/>
            <a:ext cx="1609101" cy="0"/>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81" name="Object 46">
            <a:extLst>
              <a:ext uri="{FF2B5EF4-FFF2-40B4-BE49-F238E27FC236}">
                <a16:creationId xmlns:a16="http://schemas.microsoft.com/office/drawing/2014/main" id="{D060554A-A379-45D2-8573-2111718DA8F7}"/>
              </a:ext>
            </a:extLst>
          </p:cNvPr>
          <p:cNvGraphicFramePr>
            <a:graphicFrameLocks noChangeAspect="1"/>
          </p:cNvGraphicFramePr>
          <p:nvPr>
            <p:extLst>
              <p:ext uri="{D42A27DB-BD31-4B8C-83A1-F6EECF244321}">
                <p14:modId xmlns:p14="http://schemas.microsoft.com/office/powerpoint/2010/main" val="1408672760"/>
              </p:ext>
            </p:extLst>
          </p:nvPr>
        </p:nvGraphicFramePr>
        <p:xfrm>
          <a:off x="5208176" y="5765288"/>
          <a:ext cx="191283" cy="222731"/>
        </p:xfrm>
        <a:graphic>
          <a:graphicData uri="http://schemas.openxmlformats.org/presentationml/2006/ole">
            <mc:AlternateContent xmlns:mc="http://schemas.openxmlformats.org/markup-compatibility/2006">
              <mc:Choice xmlns:v="urn:schemas-microsoft-com:vml" Requires="v">
                <p:oleObj spid="_x0000_s114667" r:id="rId25" imgW="153248" imgH="178737" progId="">
                  <p:embed/>
                </p:oleObj>
              </mc:Choice>
              <mc:Fallback>
                <p:oleObj r:id="rId25" imgW="153248" imgH="178737" progId="">
                  <p:embed/>
                  <p:pic>
                    <p:nvPicPr>
                      <p:cNvPr id="25" name="Object 46">
                        <a:extLst>
                          <a:ext uri="{FF2B5EF4-FFF2-40B4-BE49-F238E27FC236}">
                            <a16:creationId xmlns:a16="http://schemas.microsoft.com/office/drawing/2014/main" id="{B727A277-FB3F-469D-A5D2-835F02ACF4D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208176" y="5765288"/>
                        <a:ext cx="191283" cy="222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2" name="Object 47">
            <a:extLst>
              <a:ext uri="{FF2B5EF4-FFF2-40B4-BE49-F238E27FC236}">
                <a16:creationId xmlns:a16="http://schemas.microsoft.com/office/drawing/2014/main" id="{1366033D-ABF2-4495-96C3-F299E7AA5D23}"/>
              </a:ext>
            </a:extLst>
          </p:cNvPr>
          <p:cNvGraphicFramePr>
            <a:graphicFrameLocks noChangeAspect="1"/>
          </p:cNvGraphicFramePr>
          <p:nvPr>
            <p:extLst>
              <p:ext uri="{D42A27DB-BD31-4B8C-83A1-F6EECF244321}">
                <p14:modId xmlns:p14="http://schemas.microsoft.com/office/powerpoint/2010/main" val="2423561956"/>
              </p:ext>
            </p:extLst>
          </p:nvPr>
        </p:nvGraphicFramePr>
        <p:xfrm>
          <a:off x="5163925" y="4253284"/>
          <a:ext cx="191283" cy="222731"/>
        </p:xfrm>
        <a:graphic>
          <a:graphicData uri="http://schemas.openxmlformats.org/presentationml/2006/ole">
            <mc:AlternateContent xmlns:mc="http://schemas.openxmlformats.org/markup-compatibility/2006">
              <mc:Choice xmlns:v="urn:schemas-microsoft-com:vml" Requires="v">
                <p:oleObj spid="_x0000_s114668" r:id="rId26" imgW="153248" imgH="178737" progId="">
                  <p:embed/>
                </p:oleObj>
              </mc:Choice>
              <mc:Fallback>
                <p:oleObj r:id="rId26" imgW="153248" imgH="178737" progId="">
                  <p:embed/>
                  <p:pic>
                    <p:nvPicPr>
                      <p:cNvPr id="26" name="Object 47">
                        <a:extLst>
                          <a:ext uri="{FF2B5EF4-FFF2-40B4-BE49-F238E27FC236}">
                            <a16:creationId xmlns:a16="http://schemas.microsoft.com/office/drawing/2014/main" id="{C82B5978-BAEB-40E8-84E9-7591FBCFCB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63925" y="4253284"/>
                        <a:ext cx="191283" cy="222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3" name="Object 48">
            <a:extLst>
              <a:ext uri="{FF2B5EF4-FFF2-40B4-BE49-F238E27FC236}">
                <a16:creationId xmlns:a16="http://schemas.microsoft.com/office/drawing/2014/main" id="{51F1D6E7-5FEB-41F2-B491-465AD1B8706E}"/>
              </a:ext>
            </a:extLst>
          </p:cNvPr>
          <p:cNvGraphicFramePr>
            <a:graphicFrameLocks noChangeAspect="1"/>
          </p:cNvGraphicFramePr>
          <p:nvPr>
            <p:extLst>
              <p:ext uri="{D42A27DB-BD31-4B8C-83A1-F6EECF244321}">
                <p14:modId xmlns:p14="http://schemas.microsoft.com/office/powerpoint/2010/main" val="3917030724"/>
              </p:ext>
            </p:extLst>
          </p:nvPr>
        </p:nvGraphicFramePr>
        <p:xfrm>
          <a:off x="7604952" y="5843832"/>
          <a:ext cx="191283" cy="255570"/>
        </p:xfrm>
        <a:graphic>
          <a:graphicData uri="http://schemas.openxmlformats.org/presentationml/2006/ole">
            <mc:AlternateContent xmlns:mc="http://schemas.openxmlformats.org/markup-compatibility/2006">
              <mc:Choice xmlns:v="urn:schemas-microsoft-com:vml" Requires="v">
                <p:oleObj spid="_x0000_s114669" r:id="rId27" imgW="153381" imgH="204403" progId="">
                  <p:embed/>
                </p:oleObj>
              </mc:Choice>
              <mc:Fallback>
                <p:oleObj r:id="rId27" imgW="153381" imgH="204403" progId="">
                  <p:embed/>
                  <p:pic>
                    <p:nvPicPr>
                      <p:cNvPr id="27" name="Object 48">
                        <a:extLst>
                          <a:ext uri="{FF2B5EF4-FFF2-40B4-BE49-F238E27FC236}">
                            <a16:creationId xmlns:a16="http://schemas.microsoft.com/office/drawing/2014/main" id="{8DBAECCE-14A4-4E69-81B3-EB52E31235A2}"/>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604952" y="5843832"/>
                        <a:ext cx="191283" cy="255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4" name="Object 51">
            <a:extLst>
              <a:ext uri="{FF2B5EF4-FFF2-40B4-BE49-F238E27FC236}">
                <a16:creationId xmlns:a16="http://schemas.microsoft.com/office/drawing/2014/main" id="{72FADEBE-2114-4D17-A854-6B9E92AD526D}"/>
              </a:ext>
            </a:extLst>
          </p:cNvPr>
          <p:cNvGraphicFramePr>
            <a:graphicFrameLocks noChangeAspect="1"/>
          </p:cNvGraphicFramePr>
          <p:nvPr>
            <p:extLst>
              <p:ext uri="{D42A27DB-BD31-4B8C-83A1-F6EECF244321}">
                <p14:modId xmlns:p14="http://schemas.microsoft.com/office/powerpoint/2010/main" val="3616359340"/>
              </p:ext>
            </p:extLst>
          </p:nvPr>
        </p:nvGraphicFramePr>
        <p:xfrm>
          <a:off x="6063423" y="5843831"/>
          <a:ext cx="224160" cy="288410"/>
        </p:xfrm>
        <a:graphic>
          <a:graphicData uri="http://schemas.openxmlformats.org/presentationml/2006/ole">
            <mc:AlternateContent xmlns:mc="http://schemas.openxmlformats.org/markup-compatibility/2006">
              <mc:Choice xmlns:v="urn:schemas-microsoft-com:vml" Requires="v">
                <p:oleObj spid="_x0000_s114670" r:id="rId28" imgW="178504" imgH="229414" progId="">
                  <p:embed/>
                </p:oleObj>
              </mc:Choice>
              <mc:Fallback>
                <p:oleObj r:id="rId28" imgW="178504" imgH="229414" progId="">
                  <p:embed/>
                  <p:pic>
                    <p:nvPicPr>
                      <p:cNvPr id="17" name="Object 51">
                        <a:extLst>
                          <a:ext uri="{FF2B5EF4-FFF2-40B4-BE49-F238E27FC236}">
                            <a16:creationId xmlns:a16="http://schemas.microsoft.com/office/drawing/2014/main" id="{65FD634F-F16B-418E-8F54-601C778EC73C}"/>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063423" y="5843831"/>
                        <a:ext cx="224160" cy="2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5" name="Object 52">
            <a:extLst>
              <a:ext uri="{FF2B5EF4-FFF2-40B4-BE49-F238E27FC236}">
                <a16:creationId xmlns:a16="http://schemas.microsoft.com/office/drawing/2014/main" id="{51688476-8C5A-41C9-B6DF-B7C0756A10E5}"/>
              </a:ext>
            </a:extLst>
          </p:cNvPr>
          <p:cNvGraphicFramePr>
            <a:graphicFrameLocks noChangeAspect="1"/>
          </p:cNvGraphicFramePr>
          <p:nvPr>
            <p:extLst>
              <p:ext uri="{D42A27DB-BD31-4B8C-83A1-F6EECF244321}">
                <p14:modId xmlns:p14="http://schemas.microsoft.com/office/powerpoint/2010/main" val="1401549173"/>
              </p:ext>
            </p:extLst>
          </p:nvPr>
        </p:nvGraphicFramePr>
        <p:xfrm>
          <a:off x="6577421" y="5843831"/>
          <a:ext cx="239866" cy="288410"/>
        </p:xfrm>
        <a:graphic>
          <a:graphicData uri="http://schemas.openxmlformats.org/presentationml/2006/ole">
            <mc:AlternateContent xmlns:mc="http://schemas.openxmlformats.org/markup-compatibility/2006">
              <mc:Choice xmlns:v="urn:schemas-microsoft-com:vml" Requires="v">
                <p:oleObj spid="_x0000_s114671" r:id="rId29" imgW="191481" imgH="229714" progId="">
                  <p:embed/>
                </p:oleObj>
              </mc:Choice>
              <mc:Fallback>
                <p:oleObj r:id="rId29" imgW="191481" imgH="229714" progId="">
                  <p:embed/>
                  <p:pic>
                    <p:nvPicPr>
                      <p:cNvPr id="18" name="Object 52">
                        <a:extLst>
                          <a:ext uri="{FF2B5EF4-FFF2-40B4-BE49-F238E27FC236}">
                            <a16:creationId xmlns:a16="http://schemas.microsoft.com/office/drawing/2014/main" id="{87A584D1-F7A6-4C98-AF1C-DF390EAC8B1D}"/>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577421" y="5843831"/>
                        <a:ext cx="239866" cy="2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86" name="直接连接符 53">
            <a:extLst>
              <a:ext uri="{FF2B5EF4-FFF2-40B4-BE49-F238E27FC236}">
                <a16:creationId xmlns:a16="http://schemas.microsoft.com/office/drawing/2014/main" id="{FF25B047-A8F1-45A9-A481-CAC8856A64F2}"/>
              </a:ext>
            </a:extLst>
          </p:cNvPr>
          <p:cNvCxnSpPr>
            <a:cxnSpLocks noChangeShapeType="1"/>
          </p:cNvCxnSpPr>
          <p:nvPr/>
        </p:nvCxnSpPr>
        <p:spPr bwMode="auto">
          <a:xfrm>
            <a:off x="6180500" y="3145337"/>
            <a:ext cx="11422" cy="2634243"/>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cxnSp>
        <p:nvCxnSpPr>
          <p:cNvPr id="87" name="直接连接符 55">
            <a:extLst>
              <a:ext uri="{FF2B5EF4-FFF2-40B4-BE49-F238E27FC236}">
                <a16:creationId xmlns:a16="http://schemas.microsoft.com/office/drawing/2014/main" id="{FF3FA00F-EBB1-42F3-9F78-12205E5E8DC2}"/>
              </a:ext>
            </a:extLst>
          </p:cNvPr>
          <p:cNvCxnSpPr>
            <a:cxnSpLocks noChangeShapeType="1"/>
          </p:cNvCxnSpPr>
          <p:nvPr/>
        </p:nvCxnSpPr>
        <p:spPr bwMode="auto">
          <a:xfrm rot="5400000">
            <a:off x="5196760" y="4268991"/>
            <a:ext cx="3019742" cy="1427"/>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graphicFrame>
        <p:nvGraphicFramePr>
          <p:cNvPr id="88" name="Object 11">
            <a:extLst>
              <a:ext uri="{FF2B5EF4-FFF2-40B4-BE49-F238E27FC236}">
                <a16:creationId xmlns:a16="http://schemas.microsoft.com/office/drawing/2014/main" id="{8D23FCF0-82D3-4862-9D8A-C35E4445D088}"/>
              </a:ext>
            </a:extLst>
          </p:cNvPr>
          <p:cNvGraphicFramePr>
            <a:graphicFrameLocks noChangeAspect="1"/>
          </p:cNvGraphicFramePr>
          <p:nvPr>
            <p:extLst>
              <p:ext uri="{D42A27DB-BD31-4B8C-83A1-F6EECF244321}">
                <p14:modId xmlns:p14="http://schemas.microsoft.com/office/powerpoint/2010/main" val="3832132675"/>
              </p:ext>
            </p:extLst>
          </p:nvPr>
        </p:nvGraphicFramePr>
        <p:xfrm>
          <a:off x="6063422" y="4301834"/>
          <a:ext cx="351232" cy="288410"/>
        </p:xfrm>
        <a:graphic>
          <a:graphicData uri="http://schemas.openxmlformats.org/presentationml/2006/ole">
            <mc:AlternateContent xmlns:mc="http://schemas.openxmlformats.org/markup-compatibility/2006">
              <mc:Choice xmlns:v="urn:schemas-microsoft-com:vml" Requires="v">
                <p:oleObj spid="_x0000_s114672" r:id="rId30" imgW="280813" imgH="229813" progId="">
                  <p:embed/>
                </p:oleObj>
              </mc:Choice>
              <mc:Fallback>
                <p:oleObj r:id="rId30" imgW="280813" imgH="229813" progId="">
                  <p:embed/>
                  <p:pic>
                    <p:nvPicPr>
                      <p:cNvPr id="10" name="Object 11">
                        <a:extLst>
                          <a:ext uri="{FF2B5EF4-FFF2-40B4-BE49-F238E27FC236}">
                            <a16:creationId xmlns:a16="http://schemas.microsoft.com/office/drawing/2014/main" id="{ADEDB57E-3DC7-406D-979C-E82D0E39CF48}"/>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063422" y="4301834"/>
                        <a:ext cx="351232" cy="2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9" name="Object 12">
            <a:extLst>
              <a:ext uri="{FF2B5EF4-FFF2-40B4-BE49-F238E27FC236}">
                <a16:creationId xmlns:a16="http://schemas.microsoft.com/office/drawing/2014/main" id="{92969B13-06A4-4588-93D1-CCCF79DAD207}"/>
              </a:ext>
            </a:extLst>
          </p:cNvPr>
          <p:cNvGraphicFramePr>
            <a:graphicFrameLocks noChangeAspect="1"/>
          </p:cNvGraphicFramePr>
          <p:nvPr>
            <p:extLst>
              <p:ext uri="{D42A27DB-BD31-4B8C-83A1-F6EECF244321}">
                <p14:modId xmlns:p14="http://schemas.microsoft.com/office/powerpoint/2010/main" val="1815630401"/>
              </p:ext>
            </p:extLst>
          </p:nvPr>
        </p:nvGraphicFramePr>
        <p:xfrm>
          <a:off x="6770170" y="4366083"/>
          <a:ext cx="384071" cy="288410"/>
        </p:xfrm>
        <a:graphic>
          <a:graphicData uri="http://schemas.openxmlformats.org/presentationml/2006/ole">
            <mc:AlternateContent xmlns:mc="http://schemas.openxmlformats.org/markup-compatibility/2006">
              <mc:Choice xmlns:v="urn:schemas-microsoft-com:vml" Requires="v">
                <p:oleObj spid="_x0000_s114673" r:id="rId32" imgW="305647" imgH="229315" progId="">
                  <p:embed/>
                </p:oleObj>
              </mc:Choice>
              <mc:Fallback>
                <p:oleObj r:id="rId32" imgW="305647" imgH="229315" progId="">
                  <p:embed/>
                  <p:pic>
                    <p:nvPicPr>
                      <p:cNvPr id="11" name="Object 12">
                        <a:extLst>
                          <a:ext uri="{FF2B5EF4-FFF2-40B4-BE49-F238E27FC236}">
                            <a16:creationId xmlns:a16="http://schemas.microsoft.com/office/drawing/2014/main" id="{70EFC075-96FC-4D87-BFD7-F0EC715E6A6A}"/>
                          </a:ext>
                        </a:extLst>
                      </p:cNvPr>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770170" y="4366083"/>
                        <a:ext cx="384071" cy="2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0" name="Object 13">
            <a:extLst>
              <a:ext uri="{FF2B5EF4-FFF2-40B4-BE49-F238E27FC236}">
                <a16:creationId xmlns:a16="http://schemas.microsoft.com/office/drawing/2014/main" id="{DC9AD6AA-BE70-481D-BBFD-A74665BDE49A}"/>
              </a:ext>
            </a:extLst>
          </p:cNvPr>
          <p:cNvGraphicFramePr>
            <a:graphicFrameLocks noChangeAspect="1"/>
          </p:cNvGraphicFramePr>
          <p:nvPr>
            <p:extLst>
              <p:ext uri="{D42A27DB-BD31-4B8C-83A1-F6EECF244321}">
                <p14:modId xmlns:p14="http://schemas.microsoft.com/office/powerpoint/2010/main" val="1593156738"/>
              </p:ext>
            </p:extLst>
          </p:nvPr>
        </p:nvGraphicFramePr>
        <p:xfrm>
          <a:off x="7348418" y="4366083"/>
          <a:ext cx="368366" cy="288410"/>
        </p:xfrm>
        <a:graphic>
          <a:graphicData uri="http://schemas.openxmlformats.org/presentationml/2006/ole">
            <mc:AlternateContent xmlns:mc="http://schemas.openxmlformats.org/markup-compatibility/2006">
              <mc:Choice xmlns:v="urn:schemas-microsoft-com:vml" Requires="v">
                <p:oleObj spid="_x0000_s114674" r:id="rId34" imgW="293052" imgH="229414" progId="">
                  <p:embed/>
                </p:oleObj>
              </mc:Choice>
              <mc:Fallback>
                <p:oleObj r:id="rId34" imgW="293052" imgH="229414" progId="">
                  <p:embed/>
                  <p:pic>
                    <p:nvPicPr>
                      <p:cNvPr id="12" name="Object 13">
                        <a:extLst>
                          <a:ext uri="{FF2B5EF4-FFF2-40B4-BE49-F238E27FC236}">
                            <a16:creationId xmlns:a16="http://schemas.microsoft.com/office/drawing/2014/main" id="{083F6B1A-F873-44E9-9AF4-C063F411F5B6}"/>
                          </a:ext>
                        </a:extLst>
                      </p:cNvPr>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7348418" y="4366083"/>
                        <a:ext cx="368366" cy="288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1" name="弧形 50">
            <a:extLst>
              <a:ext uri="{FF2B5EF4-FFF2-40B4-BE49-F238E27FC236}">
                <a16:creationId xmlns:a16="http://schemas.microsoft.com/office/drawing/2014/main" id="{4BC6C3BB-71F0-4F53-ADC5-363FDD9D580B}"/>
              </a:ext>
            </a:extLst>
          </p:cNvPr>
          <p:cNvSpPr>
            <a:spLocks noChangeArrowheads="1"/>
          </p:cNvSpPr>
          <p:nvPr/>
        </p:nvSpPr>
        <p:spPr bwMode="auto">
          <a:xfrm rot="5400000">
            <a:off x="5067551" y="3627209"/>
            <a:ext cx="1863245" cy="1027998"/>
          </a:xfrm>
          <a:custGeom>
            <a:avLst/>
            <a:gdLst>
              <a:gd name="T0" fmla="*/ 1345294 w 2071688"/>
              <a:gd name="T1" fmla="*/ 26098 h 1143000"/>
              <a:gd name="T2" fmla="*/ 1035844 w 2071688"/>
              <a:gd name="T3" fmla="*/ 571500 h 1143000"/>
              <a:gd name="T4" fmla="*/ 1294407 w 2071688"/>
              <a:gd name="T5" fmla="*/ 1124909 h 1143000"/>
              <a:gd name="T6" fmla="*/ 11796480 60000 65536"/>
              <a:gd name="T7" fmla="*/ 11796480 60000 65536"/>
              <a:gd name="T8" fmla="*/ 11796480 60000 65536"/>
              <a:gd name="T9" fmla="*/ 1294407 w 2071688"/>
              <a:gd name="T10" fmla="*/ 26098 h 1143000"/>
              <a:gd name="T11" fmla="*/ 2071688 w 2071688"/>
              <a:gd name="T12" fmla="*/ 1124909 h 1143000"/>
            </a:gdLst>
            <a:ahLst/>
            <a:cxnLst>
              <a:cxn ang="T6">
                <a:pos x="T0" y="T1"/>
              </a:cxn>
              <a:cxn ang="T7">
                <a:pos x="T2" y="T3"/>
              </a:cxn>
              <a:cxn ang="T8">
                <a:pos x="T4" y="T5"/>
              </a:cxn>
            </a:cxnLst>
            <a:rect l="T9" t="T10" r="T11" b="T12"/>
            <a:pathLst>
              <a:path w="2071688" h="1143000" stroke="0">
                <a:moveTo>
                  <a:pt x="1345294" y="26098"/>
                </a:moveTo>
                <a:lnTo>
                  <a:pt x="1345293" y="26098"/>
                </a:lnTo>
                <a:cubicBezTo>
                  <a:pt x="1777488" y="100742"/>
                  <a:pt x="2071688" y="321637"/>
                  <a:pt x="2071688" y="571500"/>
                </a:cubicBezTo>
                <a:cubicBezTo>
                  <a:pt x="2071688" y="832187"/>
                  <a:pt x="1751945" y="1059837"/>
                  <a:pt x="1294406" y="1124909"/>
                </a:cubicBezTo>
                <a:lnTo>
                  <a:pt x="1035844" y="571500"/>
                </a:lnTo>
                <a:close/>
              </a:path>
              <a:path w="2071688" h="1143000" fill="none">
                <a:moveTo>
                  <a:pt x="1345294" y="26098"/>
                </a:moveTo>
                <a:lnTo>
                  <a:pt x="1345293" y="26098"/>
                </a:lnTo>
                <a:cubicBezTo>
                  <a:pt x="1777488" y="100742"/>
                  <a:pt x="2071688" y="321637"/>
                  <a:pt x="2071688" y="571500"/>
                </a:cubicBezTo>
                <a:cubicBezTo>
                  <a:pt x="2071688" y="832187"/>
                  <a:pt x="1751945" y="1059837"/>
                  <a:pt x="1294406" y="1124909"/>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92" name="弧形 41">
            <a:extLst>
              <a:ext uri="{FF2B5EF4-FFF2-40B4-BE49-F238E27FC236}">
                <a16:creationId xmlns:a16="http://schemas.microsoft.com/office/drawing/2014/main" id="{E586C690-88D1-43C1-8DA2-B41F07F96551}"/>
              </a:ext>
            </a:extLst>
          </p:cNvPr>
          <p:cNvSpPr>
            <a:spLocks noChangeArrowheads="1"/>
          </p:cNvSpPr>
          <p:nvPr/>
        </p:nvSpPr>
        <p:spPr bwMode="auto">
          <a:xfrm rot="5400000">
            <a:off x="5645797" y="3755710"/>
            <a:ext cx="1863244" cy="1027996"/>
          </a:xfrm>
          <a:custGeom>
            <a:avLst/>
            <a:gdLst>
              <a:gd name="T0" fmla="*/ 1918150 w 2729281"/>
              <a:gd name="T1" fmla="*/ 70937 h 1650598"/>
              <a:gd name="T2" fmla="*/ 1364641 w 2729281"/>
              <a:gd name="T3" fmla="*/ 825299 h 1650598"/>
              <a:gd name="T4" fmla="*/ 1984636 w 2729281"/>
              <a:gd name="T5" fmla="*/ 1560503 h 1650598"/>
              <a:gd name="T6" fmla="*/ 11796480 60000 65536"/>
              <a:gd name="T7" fmla="*/ 11796480 60000 65536"/>
              <a:gd name="T8" fmla="*/ 11796480 60000 65536"/>
              <a:gd name="T9" fmla="*/ 1918150 w 2729281"/>
              <a:gd name="T10" fmla="*/ 70937 h 1650598"/>
              <a:gd name="T11" fmla="*/ 2729281 w 2729281"/>
              <a:gd name="T12" fmla="*/ 1560503 h 1650598"/>
            </a:gdLst>
            <a:ahLst/>
            <a:cxnLst>
              <a:cxn ang="T6">
                <a:pos x="T0" y="T1"/>
              </a:cxn>
              <a:cxn ang="T7">
                <a:pos x="T2" y="T3"/>
              </a:cxn>
              <a:cxn ang="T8">
                <a:pos x="T4" y="T5"/>
              </a:cxn>
            </a:cxnLst>
            <a:rect l="T9" t="T10" r="T11" b="T12"/>
            <a:pathLst>
              <a:path w="2729281" h="1650598" stroke="0">
                <a:moveTo>
                  <a:pt x="1918150" y="70937"/>
                </a:moveTo>
                <a:lnTo>
                  <a:pt x="1918149" y="70937"/>
                </a:lnTo>
                <a:cubicBezTo>
                  <a:pt x="2411349" y="203296"/>
                  <a:pt x="2729281" y="498976"/>
                  <a:pt x="2729281" y="825299"/>
                </a:cubicBezTo>
                <a:cubicBezTo>
                  <a:pt x="2729281" y="1135531"/>
                  <a:pt x="2441607" y="1419556"/>
                  <a:pt x="1984633" y="1560503"/>
                </a:cubicBezTo>
                <a:lnTo>
                  <a:pt x="1364641" y="825299"/>
                </a:lnTo>
                <a:close/>
              </a:path>
              <a:path w="2729281" h="1650598" fill="none">
                <a:moveTo>
                  <a:pt x="1918150" y="70937"/>
                </a:moveTo>
                <a:lnTo>
                  <a:pt x="1918149" y="70937"/>
                </a:lnTo>
                <a:cubicBezTo>
                  <a:pt x="2411349" y="203296"/>
                  <a:pt x="2729281" y="498976"/>
                  <a:pt x="2729281" y="825299"/>
                </a:cubicBezTo>
                <a:cubicBezTo>
                  <a:pt x="2729281" y="1135531"/>
                  <a:pt x="2441607" y="1419556"/>
                  <a:pt x="1984633" y="1560503"/>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sp>
        <p:nvSpPr>
          <p:cNvPr id="93" name="弧形 51">
            <a:extLst>
              <a:ext uri="{FF2B5EF4-FFF2-40B4-BE49-F238E27FC236}">
                <a16:creationId xmlns:a16="http://schemas.microsoft.com/office/drawing/2014/main" id="{83DFD73A-5203-4EBF-BE8F-16551CF00977}"/>
              </a:ext>
            </a:extLst>
          </p:cNvPr>
          <p:cNvSpPr>
            <a:spLocks noChangeArrowheads="1"/>
          </p:cNvSpPr>
          <p:nvPr/>
        </p:nvSpPr>
        <p:spPr bwMode="auto">
          <a:xfrm rot="5400000">
            <a:off x="6031298" y="3755709"/>
            <a:ext cx="1863245" cy="1027997"/>
          </a:xfrm>
          <a:custGeom>
            <a:avLst/>
            <a:gdLst>
              <a:gd name="T0" fmla="*/ 1575212 w 2071688"/>
              <a:gd name="T1" fmla="*/ 83589 h 1143000"/>
              <a:gd name="T2" fmla="*/ 1035844 w 2071688"/>
              <a:gd name="T3" fmla="*/ 571500 h 1143000"/>
              <a:gd name="T4" fmla="*/ 1472808 w 2071688"/>
              <a:gd name="T5" fmla="*/ 1089661 h 1143000"/>
              <a:gd name="T6" fmla="*/ 17694720 60000 65536"/>
              <a:gd name="T7" fmla="*/ 11796480 60000 65536"/>
              <a:gd name="T8" fmla="*/ 11796480 60000 65536"/>
              <a:gd name="T9" fmla="*/ 1472808 w 2071688"/>
              <a:gd name="T10" fmla="*/ 83589 h 1143000"/>
              <a:gd name="T11" fmla="*/ 2071688 w 2071688"/>
              <a:gd name="T12" fmla="*/ 1089661 h 1143000"/>
            </a:gdLst>
            <a:ahLst/>
            <a:cxnLst>
              <a:cxn ang="T6">
                <a:pos x="T0" y="T1"/>
              </a:cxn>
              <a:cxn ang="T7">
                <a:pos x="T2" y="T3"/>
              </a:cxn>
              <a:cxn ang="T8">
                <a:pos x="T4" y="T5"/>
              </a:cxn>
            </a:cxnLst>
            <a:rect l="T9" t="T10" r="T11" b="T12"/>
            <a:pathLst>
              <a:path w="2071688" h="1143000" stroke="0">
                <a:moveTo>
                  <a:pt x="1575212" y="83589"/>
                </a:moveTo>
                <a:lnTo>
                  <a:pt x="1575211" y="83589"/>
                </a:lnTo>
                <a:cubicBezTo>
                  <a:pt x="1883561" y="187349"/>
                  <a:pt x="2071688" y="372230"/>
                  <a:pt x="2071688" y="571500"/>
                </a:cubicBezTo>
                <a:cubicBezTo>
                  <a:pt x="2071688" y="793779"/>
                  <a:pt x="1838087" y="995894"/>
                  <a:pt x="1472806" y="1089661"/>
                </a:cubicBezTo>
                <a:lnTo>
                  <a:pt x="1035844" y="571500"/>
                </a:lnTo>
                <a:close/>
              </a:path>
              <a:path w="2071688" h="1143000" fill="none">
                <a:moveTo>
                  <a:pt x="1575212" y="83589"/>
                </a:moveTo>
                <a:lnTo>
                  <a:pt x="1575211" y="83589"/>
                </a:lnTo>
                <a:cubicBezTo>
                  <a:pt x="1883561" y="187349"/>
                  <a:pt x="2071688" y="372230"/>
                  <a:pt x="2071688" y="571500"/>
                </a:cubicBezTo>
                <a:cubicBezTo>
                  <a:pt x="2071688" y="793779"/>
                  <a:pt x="1838087" y="995894"/>
                  <a:pt x="1472806" y="1089661"/>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pic>
        <p:nvPicPr>
          <p:cNvPr id="100" name="图片 99">
            <a:extLst>
              <a:ext uri="{FF2B5EF4-FFF2-40B4-BE49-F238E27FC236}">
                <a16:creationId xmlns:a16="http://schemas.microsoft.com/office/drawing/2014/main" id="{46341950-12BF-4B20-8259-E1B57213352D}"/>
              </a:ext>
            </a:extLst>
          </p:cNvPr>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5477380" y="4260430"/>
            <a:ext cx="764571" cy="970884"/>
          </a:xfrm>
          <a:prstGeom prst="rect">
            <a:avLst/>
          </a:prstGeom>
          <a:ln>
            <a:solidFill>
              <a:schemeClr val="bg1"/>
            </a:solidFill>
          </a:ln>
        </p:spPr>
      </p:pic>
      <p:pic>
        <p:nvPicPr>
          <p:cNvPr id="101" name="图片 100">
            <a:extLst>
              <a:ext uri="{FF2B5EF4-FFF2-40B4-BE49-F238E27FC236}">
                <a16:creationId xmlns:a16="http://schemas.microsoft.com/office/drawing/2014/main" id="{8F7A6F53-A4D8-448C-9D0C-18630ACEBC92}"/>
              </a:ext>
            </a:extLst>
          </p:cNvPr>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6232351" y="4289395"/>
            <a:ext cx="537818" cy="1000593"/>
          </a:xfrm>
          <a:prstGeom prst="rect">
            <a:avLst/>
          </a:prstGeom>
        </p:spPr>
      </p:pic>
      <p:pic>
        <p:nvPicPr>
          <p:cNvPr id="102" name="图片 101">
            <a:extLst>
              <a:ext uri="{FF2B5EF4-FFF2-40B4-BE49-F238E27FC236}">
                <a16:creationId xmlns:a16="http://schemas.microsoft.com/office/drawing/2014/main" id="{29E403B8-6AC1-40E6-86E0-45BBD4797F73}"/>
              </a:ext>
            </a:extLst>
          </p:cNvPr>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6753806" y="4225318"/>
            <a:ext cx="682698" cy="1020856"/>
          </a:xfrm>
          <a:prstGeom prst="rect">
            <a:avLst/>
          </a:prstGeom>
        </p:spPr>
      </p:pic>
    </p:spTree>
    <p:extLst>
      <p:ext uri="{BB962C8B-B14F-4D97-AF65-F5344CB8AC3E}">
        <p14:creationId xmlns:p14="http://schemas.microsoft.com/office/powerpoint/2010/main" val="67441907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 calcmode="lin" valueType="num">
                                      <p:cBhvr>
                                        <p:cTn id="7" dur="500" fill="hold"/>
                                        <p:tgtEl>
                                          <p:spTgt spid="55"/>
                                        </p:tgtEl>
                                        <p:attrNameLst>
                                          <p:attrName>ppt_w</p:attrName>
                                        </p:attrNameLst>
                                      </p:cBhvr>
                                      <p:tavLst>
                                        <p:tav tm="0">
                                          <p:val>
                                            <p:fltVal val="0"/>
                                          </p:val>
                                        </p:tav>
                                        <p:tav tm="100000">
                                          <p:val>
                                            <p:strVal val="#ppt_w"/>
                                          </p:val>
                                        </p:tav>
                                      </p:tavLst>
                                    </p:anim>
                                    <p:anim calcmode="lin" valueType="num">
                                      <p:cBhvr>
                                        <p:cTn id="8" dur="500" fill="hold"/>
                                        <p:tgtEl>
                                          <p:spTgt spid="55"/>
                                        </p:tgtEl>
                                        <p:attrNameLst>
                                          <p:attrName>ppt_h</p:attrName>
                                        </p:attrNameLst>
                                      </p:cBhvr>
                                      <p:tavLst>
                                        <p:tav tm="0">
                                          <p:val>
                                            <p:fltVal val="0"/>
                                          </p:val>
                                        </p:tav>
                                        <p:tav tm="100000">
                                          <p:val>
                                            <p:strVal val="#ppt_h"/>
                                          </p:val>
                                        </p:tav>
                                      </p:tavLst>
                                    </p:anim>
                                    <p:animEffect transition="in" filter="fade">
                                      <p:cBhvr>
                                        <p:cTn id="9" dur="500"/>
                                        <p:tgtEl>
                                          <p:spTgt spid="5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7"/>
                                        </p:tgtEl>
                                        <p:attrNameLst>
                                          <p:attrName>style.visibility</p:attrName>
                                        </p:attrNameLst>
                                      </p:cBhvr>
                                      <p:to>
                                        <p:strVal val="visible"/>
                                      </p:to>
                                    </p:set>
                                    <p:animEffect transition="in" filter="fade">
                                      <p:cBhvr>
                                        <p:cTn id="14" dur="1000"/>
                                        <p:tgtEl>
                                          <p:spTgt spid="57"/>
                                        </p:tgtEl>
                                      </p:cBhvr>
                                    </p:animEffect>
                                    <p:anim calcmode="lin" valueType="num">
                                      <p:cBhvr>
                                        <p:cTn id="15" dur="1000" fill="hold"/>
                                        <p:tgtEl>
                                          <p:spTgt spid="57"/>
                                        </p:tgtEl>
                                        <p:attrNameLst>
                                          <p:attrName>ppt_x</p:attrName>
                                        </p:attrNameLst>
                                      </p:cBhvr>
                                      <p:tavLst>
                                        <p:tav tm="0">
                                          <p:val>
                                            <p:strVal val="#ppt_x"/>
                                          </p:val>
                                        </p:tav>
                                        <p:tav tm="100000">
                                          <p:val>
                                            <p:strVal val="#ppt_x"/>
                                          </p:val>
                                        </p:tav>
                                      </p:tavLst>
                                    </p:anim>
                                    <p:anim calcmode="lin" valueType="num">
                                      <p:cBhvr>
                                        <p:cTn id="16" dur="1000" fill="hold"/>
                                        <p:tgtEl>
                                          <p:spTgt spid="57"/>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fade">
                                      <p:cBhvr>
                                        <p:cTn id="19" dur="1000"/>
                                        <p:tgtEl>
                                          <p:spTgt spid="56"/>
                                        </p:tgtEl>
                                      </p:cBhvr>
                                    </p:animEffect>
                                    <p:anim calcmode="lin" valueType="num">
                                      <p:cBhvr>
                                        <p:cTn id="20" dur="1000" fill="hold"/>
                                        <p:tgtEl>
                                          <p:spTgt spid="56"/>
                                        </p:tgtEl>
                                        <p:attrNameLst>
                                          <p:attrName>ppt_x</p:attrName>
                                        </p:attrNameLst>
                                      </p:cBhvr>
                                      <p:tavLst>
                                        <p:tav tm="0">
                                          <p:val>
                                            <p:strVal val="#ppt_x"/>
                                          </p:val>
                                        </p:tav>
                                        <p:tav tm="100000">
                                          <p:val>
                                            <p:strVal val="#ppt_x"/>
                                          </p:val>
                                        </p:tav>
                                      </p:tavLst>
                                    </p:anim>
                                    <p:anim calcmode="lin" valueType="num">
                                      <p:cBhvr>
                                        <p:cTn id="21" dur="1000" fill="hold"/>
                                        <p:tgtEl>
                                          <p:spTgt spid="5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53"/>
                                        </p:tgtEl>
                                        <p:attrNameLst>
                                          <p:attrName>style.visibility</p:attrName>
                                        </p:attrNameLst>
                                      </p:cBhvr>
                                      <p:to>
                                        <p:strVal val="visible"/>
                                      </p:to>
                                    </p:set>
                                    <p:animEffect transition="in" filter="barn(inVertical)">
                                      <p:cBhvr>
                                        <p:cTn id="26" dur="500"/>
                                        <p:tgtEl>
                                          <p:spTgt spid="53"/>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fade">
                                      <p:cBhvr>
                                        <p:cTn id="31" dur="1000"/>
                                        <p:tgtEl>
                                          <p:spTgt spid="54"/>
                                        </p:tgtEl>
                                      </p:cBhvr>
                                    </p:animEffect>
                                    <p:anim calcmode="lin" valueType="num">
                                      <p:cBhvr>
                                        <p:cTn id="32" dur="1000" fill="hold"/>
                                        <p:tgtEl>
                                          <p:spTgt spid="54"/>
                                        </p:tgtEl>
                                        <p:attrNameLst>
                                          <p:attrName>ppt_x</p:attrName>
                                        </p:attrNameLst>
                                      </p:cBhvr>
                                      <p:tavLst>
                                        <p:tav tm="0">
                                          <p:val>
                                            <p:strVal val="#ppt_x"/>
                                          </p:val>
                                        </p:tav>
                                        <p:tav tm="100000">
                                          <p:val>
                                            <p:strVal val="#ppt_x"/>
                                          </p:val>
                                        </p:tav>
                                      </p:tavLst>
                                    </p:anim>
                                    <p:anim calcmode="lin" valueType="num">
                                      <p:cBhvr>
                                        <p:cTn id="33"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58"/>
                                        </p:tgtEl>
                                        <p:attrNameLst>
                                          <p:attrName>style.visibility</p:attrName>
                                        </p:attrNameLst>
                                      </p:cBhvr>
                                      <p:to>
                                        <p:strVal val="visible"/>
                                      </p:to>
                                    </p:set>
                                    <p:animEffect transition="in" filter="fade">
                                      <p:cBhvr>
                                        <p:cTn id="38" dur="500"/>
                                        <p:tgtEl>
                                          <p:spTgt spid="58"/>
                                        </p:tgtEl>
                                      </p:cBhvr>
                                    </p:animEffect>
                                  </p:childTnLst>
                                </p:cTn>
                              </p:par>
                              <p:par>
                                <p:cTn id="39" presetID="10" presetClass="entr" presetSubtype="0" fill="hold" nodeType="withEffect">
                                  <p:stCondLst>
                                    <p:cond delay="0"/>
                                  </p:stCondLst>
                                  <p:childTnLst>
                                    <p:set>
                                      <p:cBhvr>
                                        <p:cTn id="40" dur="1" fill="hold">
                                          <p:stCondLst>
                                            <p:cond delay="0"/>
                                          </p:stCondLst>
                                        </p:cTn>
                                        <p:tgtEl>
                                          <p:spTgt spid="59"/>
                                        </p:tgtEl>
                                        <p:attrNameLst>
                                          <p:attrName>style.visibility</p:attrName>
                                        </p:attrNameLst>
                                      </p:cBhvr>
                                      <p:to>
                                        <p:strVal val="visible"/>
                                      </p:to>
                                    </p:set>
                                    <p:animEffect transition="in" filter="fade">
                                      <p:cBhvr>
                                        <p:cTn id="41" dur="500"/>
                                        <p:tgtEl>
                                          <p:spTgt spid="59"/>
                                        </p:tgtEl>
                                      </p:cBhvr>
                                    </p:animEffect>
                                  </p:childTnLst>
                                </p:cTn>
                              </p:par>
                              <p:par>
                                <p:cTn id="42" presetID="10" presetClass="entr" presetSubtype="0" fill="hold" nodeType="withEffect">
                                  <p:stCondLst>
                                    <p:cond delay="0"/>
                                  </p:stCondLst>
                                  <p:childTnLst>
                                    <p:set>
                                      <p:cBhvr>
                                        <p:cTn id="43" dur="1" fill="hold">
                                          <p:stCondLst>
                                            <p:cond delay="0"/>
                                          </p:stCondLst>
                                        </p:cTn>
                                        <p:tgtEl>
                                          <p:spTgt spid="60"/>
                                        </p:tgtEl>
                                        <p:attrNameLst>
                                          <p:attrName>style.visibility</p:attrName>
                                        </p:attrNameLst>
                                      </p:cBhvr>
                                      <p:to>
                                        <p:strVal val="visible"/>
                                      </p:to>
                                    </p:set>
                                    <p:animEffect transition="in" filter="fade">
                                      <p:cBhvr>
                                        <p:cTn id="44" dur="500"/>
                                        <p:tgtEl>
                                          <p:spTgt spid="60"/>
                                        </p:tgtEl>
                                      </p:cBhvr>
                                    </p:animEffect>
                                  </p:childTnLst>
                                </p:cTn>
                              </p:par>
                              <p:par>
                                <p:cTn id="45" presetID="10" presetClass="entr" presetSubtype="0" fill="hold" nodeType="withEffect">
                                  <p:stCondLst>
                                    <p:cond delay="0"/>
                                  </p:stCondLst>
                                  <p:childTnLst>
                                    <p:set>
                                      <p:cBhvr>
                                        <p:cTn id="46" dur="1" fill="hold">
                                          <p:stCondLst>
                                            <p:cond delay="0"/>
                                          </p:stCondLst>
                                        </p:cTn>
                                        <p:tgtEl>
                                          <p:spTgt spid="61"/>
                                        </p:tgtEl>
                                        <p:attrNameLst>
                                          <p:attrName>style.visibility</p:attrName>
                                        </p:attrNameLst>
                                      </p:cBhvr>
                                      <p:to>
                                        <p:strVal val="visible"/>
                                      </p:to>
                                    </p:set>
                                    <p:animEffect transition="in" filter="fade">
                                      <p:cBhvr>
                                        <p:cTn id="47" dur="500"/>
                                        <p:tgtEl>
                                          <p:spTgt spid="6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2"/>
                                        </p:tgtEl>
                                        <p:attrNameLst>
                                          <p:attrName>style.visibility</p:attrName>
                                        </p:attrNameLst>
                                      </p:cBhvr>
                                      <p:to>
                                        <p:strVal val="visible"/>
                                      </p:to>
                                    </p:set>
                                    <p:animEffect transition="in" filter="fade">
                                      <p:cBhvr>
                                        <p:cTn id="50" dur="500"/>
                                        <p:tgtEl>
                                          <p:spTgt spid="6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3"/>
                                        </p:tgtEl>
                                        <p:attrNameLst>
                                          <p:attrName>style.visibility</p:attrName>
                                        </p:attrNameLst>
                                      </p:cBhvr>
                                      <p:to>
                                        <p:strVal val="visible"/>
                                      </p:to>
                                    </p:set>
                                    <p:animEffect transition="in" filter="fade">
                                      <p:cBhvr>
                                        <p:cTn id="53" dur="500"/>
                                        <p:tgtEl>
                                          <p:spTgt spid="63"/>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fade">
                                      <p:cBhvr>
                                        <p:cTn id="56" dur="500"/>
                                        <p:tgtEl>
                                          <p:spTgt spid="64"/>
                                        </p:tgtEl>
                                      </p:cBhvr>
                                    </p:animEffect>
                                  </p:childTnLst>
                                </p:cTn>
                              </p:par>
                              <p:par>
                                <p:cTn id="57" presetID="10" presetClass="entr" presetSubtype="0" fill="hold" nodeType="withEffect">
                                  <p:stCondLst>
                                    <p:cond delay="0"/>
                                  </p:stCondLst>
                                  <p:childTnLst>
                                    <p:set>
                                      <p:cBhvr>
                                        <p:cTn id="58" dur="1" fill="hold">
                                          <p:stCondLst>
                                            <p:cond delay="0"/>
                                          </p:stCondLst>
                                        </p:cTn>
                                        <p:tgtEl>
                                          <p:spTgt spid="65"/>
                                        </p:tgtEl>
                                        <p:attrNameLst>
                                          <p:attrName>style.visibility</p:attrName>
                                        </p:attrNameLst>
                                      </p:cBhvr>
                                      <p:to>
                                        <p:strVal val="visible"/>
                                      </p:to>
                                    </p:set>
                                    <p:animEffect transition="in" filter="fade">
                                      <p:cBhvr>
                                        <p:cTn id="59" dur="500"/>
                                        <p:tgtEl>
                                          <p:spTgt spid="65"/>
                                        </p:tgtEl>
                                      </p:cBhvr>
                                    </p:animEffect>
                                  </p:childTnLst>
                                </p:cTn>
                              </p:par>
                              <p:par>
                                <p:cTn id="60" presetID="10" presetClass="entr" presetSubtype="0" fill="hold" nodeType="withEffect">
                                  <p:stCondLst>
                                    <p:cond delay="0"/>
                                  </p:stCondLst>
                                  <p:childTnLst>
                                    <p:set>
                                      <p:cBhvr>
                                        <p:cTn id="61" dur="1" fill="hold">
                                          <p:stCondLst>
                                            <p:cond delay="0"/>
                                          </p:stCondLst>
                                        </p:cTn>
                                        <p:tgtEl>
                                          <p:spTgt spid="66"/>
                                        </p:tgtEl>
                                        <p:attrNameLst>
                                          <p:attrName>style.visibility</p:attrName>
                                        </p:attrNameLst>
                                      </p:cBhvr>
                                      <p:to>
                                        <p:strVal val="visible"/>
                                      </p:to>
                                    </p:set>
                                    <p:animEffect transition="in" filter="fade">
                                      <p:cBhvr>
                                        <p:cTn id="62" dur="500"/>
                                        <p:tgtEl>
                                          <p:spTgt spid="66"/>
                                        </p:tgtEl>
                                      </p:cBhvr>
                                    </p:animEffect>
                                  </p:childTnLst>
                                </p:cTn>
                              </p:par>
                              <p:par>
                                <p:cTn id="63" presetID="10" presetClass="entr" presetSubtype="0" fill="hold" nodeType="withEffect">
                                  <p:stCondLst>
                                    <p:cond delay="0"/>
                                  </p:stCondLst>
                                  <p:childTnLst>
                                    <p:set>
                                      <p:cBhvr>
                                        <p:cTn id="64" dur="1" fill="hold">
                                          <p:stCondLst>
                                            <p:cond delay="0"/>
                                          </p:stCondLst>
                                        </p:cTn>
                                        <p:tgtEl>
                                          <p:spTgt spid="67"/>
                                        </p:tgtEl>
                                        <p:attrNameLst>
                                          <p:attrName>style.visibility</p:attrName>
                                        </p:attrNameLst>
                                      </p:cBhvr>
                                      <p:to>
                                        <p:strVal val="visible"/>
                                      </p:to>
                                    </p:set>
                                    <p:animEffect transition="in" filter="fade">
                                      <p:cBhvr>
                                        <p:cTn id="65" dur="500"/>
                                        <p:tgtEl>
                                          <p:spTgt spid="67"/>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8"/>
                                        </p:tgtEl>
                                        <p:attrNameLst>
                                          <p:attrName>style.visibility</p:attrName>
                                        </p:attrNameLst>
                                      </p:cBhvr>
                                      <p:to>
                                        <p:strVal val="visible"/>
                                      </p:to>
                                    </p:set>
                                    <p:animEffect transition="in" filter="fade">
                                      <p:cBhvr>
                                        <p:cTn id="68" dur="500"/>
                                        <p:tgtEl>
                                          <p:spTgt spid="68"/>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69"/>
                                        </p:tgtEl>
                                        <p:attrNameLst>
                                          <p:attrName>style.visibility</p:attrName>
                                        </p:attrNameLst>
                                      </p:cBhvr>
                                      <p:to>
                                        <p:strVal val="visible"/>
                                      </p:to>
                                    </p:set>
                                    <p:animEffect transition="in" filter="fade">
                                      <p:cBhvr>
                                        <p:cTn id="71" dur="500"/>
                                        <p:tgtEl>
                                          <p:spTgt spid="69"/>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70"/>
                                        </p:tgtEl>
                                        <p:attrNameLst>
                                          <p:attrName>style.visibility</p:attrName>
                                        </p:attrNameLst>
                                      </p:cBhvr>
                                      <p:to>
                                        <p:strVal val="visible"/>
                                      </p:to>
                                    </p:set>
                                    <p:animEffect transition="in" filter="fade">
                                      <p:cBhvr>
                                        <p:cTn id="74" dur="500"/>
                                        <p:tgtEl>
                                          <p:spTgt spid="70"/>
                                        </p:tgtEl>
                                      </p:cBhvr>
                                    </p:animEffect>
                                  </p:childTnLst>
                                </p:cTn>
                              </p:par>
                              <p:par>
                                <p:cTn id="75" presetID="10" presetClass="entr" presetSubtype="0" fill="hold" nodeType="withEffect">
                                  <p:stCondLst>
                                    <p:cond delay="0"/>
                                  </p:stCondLst>
                                  <p:childTnLst>
                                    <p:set>
                                      <p:cBhvr>
                                        <p:cTn id="76" dur="1" fill="hold">
                                          <p:stCondLst>
                                            <p:cond delay="0"/>
                                          </p:stCondLst>
                                        </p:cTn>
                                        <p:tgtEl>
                                          <p:spTgt spid="71"/>
                                        </p:tgtEl>
                                        <p:attrNameLst>
                                          <p:attrName>style.visibility</p:attrName>
                                        </p:attrNameLst>
                                      </p:cBhvr>
                                      <p:to>
                                        <p:strVal val="visible"/>
                                      </p:to>
                                    </p:set>
                                    <p:animEffect transition="in" filter="fade">
                                      <p:cBhvr>
                                        <p:cTn id="77" dur="500"/>
                                        <p:tgtEl>
                                          <p:spTgt spid="71"/>
                                        </p:tgtEl>
                                      </p:cBhvr>
                                    </p:animEffect>
                                  </p:childTnLst>
                                </p:cTn>
                              </p:par>
                              <p:par>
                                <p:cTn id="78" presetID="10" presetClass="entr" presetSubtype="0" fill="hold" nodeType="withEffect">
                                  <p:stCondLst>
                                    <p:cond delay="0"/>
                                  </p:stCondLst>
                                  <p:childTnLst>
                                    <p:set>
                                      <p:cBhvr>
                                        <p:cTn id="79" dur="1" fill="hold">
                                          <p:stCondLst>
                                            <p:cond delay="0"/>
                                          </p:stCondLst>
                                        </p:cTn>
                                        <p:tgtEl>
                                          <p:spTgt spid="72"/>
                                        </p:tgtEl>
                                        <p:attrNameLst>
                                          <p:attrName>style.visibility</p:attrName>
                                        </p:attrNameLst>
                                      </p:cBhvr>
                                      <p:to>
                                        <p:strVal val="visible"/>
                                      </p:to>
                                    </p:set>
                                    <p:animEffect transition="in" filter="fade">
                                      <p:cBhvr>
                                        <p:cTn id="80" dur="500"/>
                                        <p:tgtEl>
                                          <p:spTgt spid="72"/>
                                        </p:tgtEl>
                                      </p:cBhvr>
                                    </p:animEffect>
                                  </p:childTnLst>
                                </p:cTn>
                              </p:par>
                              <p:par>
                                <p:cTn id="81" presetID="10" presetClass="entr" presetSubtype="0" fill="hold" nodeType="withEffect">
                                  <p:stCondLst>
                                    <p:cond delay="0"/>
                                  </p:stCondLst>
                                  <p:childTnLst>
                                    <p:set>
                                      <p:cBhvr>
                                        <p:cTn id="82" dur="1" fill="hold">
                                          <p:stCondLst>
                                            <p:cond delay="0"/>
                                          </p:stCondLst>
                                        </p:cTn>
                                        <p:tgtEl>
                                          <p:spTgt spid="73"/>
                                        </p:tgtEl>
                                        <p:attrNameLst>
                                          <p:attrName>style.visibility</p:attrName>
                                        </p:attrNameLst>
                                      </p:cBhvr>
                                      <p:to>
                                        <p:strVal val="visible"/>
                                      </p:to>
                                    </p:set>
                                    <p:animEffect transition="in" filter="fade">
                                      <p:cBhvr>
                                        <p:cTn id="83" dur="500"/>
                                        <p:tgtEl>
                                          <p:spTgt spid="73"/>
                                        </p:tgtEl>
                                      </p:cBhvr>
                                    </p:animEffect>
                                  </p:childTnLst>
                                </p:cTn>
                              </p:par>
                              <p:par>
                                <p:cTn id="84" presetID="10" presetClass="entr" presetSubtype="0" fill="hold" nodeType="withEffect">
                                  <p:stCondLst>
                                    <p:cond delay="0"/>
                                  </p:stCondLst>
                                  <p:childTnLst>
                                    <p:set>
                                      <p:cBhvr>
                                        <p:cTn id="85" dur="1" fill="hold">
                                          <p:stCondLst>
                                            <p:cond delay="0"/>
                                          </p:stCondLst>
                                        </p:cTn>
                                        <p:tgtEl>
                                          <p:spTgt spid="76"/>
                                        </p:tgtEl>
                                        <p:attrNameLst>
                                          <p:attrName>style.visibility</p:attrName>
                                        </p:attrNameLst>
                                      </p:cBhvr>
                                      <p:to>
                                        <p:strVal val="visible"/>
                                      </p:to>
                                    </p:set>
                                    <p:animEffect transition="in" filter="fade">
                                      <p:cBhvr>
                                        <p:cTn id="86" dur="500"/>
                                        <p:tgtEl>
                                          <p:spTgt spid="76"/>
                                        </p:tgtEl>
                                      </p:cBhvr>
                                    </p:animEffect>
                                  </p:childTnLst>
                                </p:cTn>
                              </p:par>
                              <p:par>
                                <p:cTn id="87" presetID="10" presetClass="entr" presetSubtype="0" fill="hold" nodeType="withEffect">
                                  <p:stCondLst>
                                    <p:cond delay="0"/>
                                  </p:stCondLst>
                                  <p:childTnLst>
                                    <p:set>
                                      <p:cBhvr>
                                        <p:cTn id="88" dur="1" fill="hold">
                                          <p:stCondLst>
                                            <p:cond delay="0"/>
                                          </p:stCondLst>
                                        </p:cTn>
                                        <p:tgtEl>
                                          <p:spTgt spid="77"/>
                                        </p:tgtEl>
                                        <p:attrNameLst>
                                          <p:attrName>style.visibility</p:attrName>
                                        </p:attrNameLst>
                                      </p:cBhvr>
                                      <p:to>
                                        <p:strVal val="visible"/>
                                      </p:to>
                                    </p:set>
                                    <p:animEffect transition="in" filter="fade">
                                      <p:cBhvr>
                                        <p:cTn id="89" dur="500"/>
                                        <p:tgtEl>
                                          <p:spTgt spid="77"/>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78"/>
                                        </p:tgtEl>
                                        <p:attrNameLst>
                                          <p:attrName>style.visibility</p:attrName>
                                        </p:attrNameLst>
                                      </p:cBhvr>
                                      <p:to>
                                        <p:strVal val="visible"/>
                                      </p:to>
                                    </p:set>
                                    <p:animEffect transition="in" filter="fade">
                                      <p:cBhvr>
                                        <p:cTn id="92" dur="500"/>
                                        <p:tgtEl>
                                          <p:spTgt spid="78"/>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nodeType="clickEffect">
                                  <p:stCondLst>
                                    <p:cond delay="0"/>
                                  </p:stCondLst>
                                  <p:childTnLst>
                                    <p:set>
                                      <p:cBhvr>
                                        <p:cTn id="96" dur="1" fill="hold">
                                          <p:stCondLst>
                                            <p:cond delay="0"/>
                                          </p:stCondLst>
                                        </p:cTn>
                                        <p:tgtEl>
                                          <p:spTgt spid="82"/>
                                        </p:tgtEl>
                                        <p:attrNameLst>
                                          <p:attrName>style.visibility</p:attrName>
                                        </p:attrNameLst>
                                      </p:cBhvr>
                                      <p:to>
                                        <p:strVal val="visible"/>
                                      </p:to>
                                    </p:set>
                                    <p:animEffect transition="in" filter="fade">
                                      <p:cBhvr>
                                        <p:cTn id="97" dur="500"/>
                                        <p:tgtEl>
                                          <p:spTgt spid="82"/>
                                        </p:tgtEl>
                                      </p:cBhvr>
                                    </p:animEffect>
                                  </p:childTnLst>
                                </p:cTn>
                              </p:par>
                              <p:par>
                                <p:cTn id="98" presetID="10" presetClass="entr" presetSubtype="0" fill="hold" nodeType="withEffect">
                                  <p:stCondLst>
                                    <p:cond delay="0"/>
                                  </p:stCondLst>
                                  <p:childTnLst>
                                    <p:set>
                                      <p:cBhvr>
                                        <p:cTn id="99" dur="1" fill="hold">
                                          <p:stCondLst>
                                            <p:cond delay="0"/>
                                          </p:stCondLst>
                                        </p:cTn>
                                        <p:tgtEl>
                                          <p:spTgt spid="80"/>
                                        </p:tgtEl>
                                        <p:attrNameLst>
                                          <p:attrName>style.visibility</p:attrName>
                                        </p:attrNameLst>
                                      </p:cBhvr>
                                      <p:to>
                                        <p:strVal val="visible"/>
                                      </p:to>
                                    </p:set>
                                    <p:animEffect transition="in" filter="fade">
                                      <p:cBhvr>
                                        <p:cTn id="100" dur="500"/>
                                        <p:tgtEl>
                                          <p:spTgt spid="80"/>
                                        </p:tgtEl>
                                      </p:cBhvr>
                                    </p:animEffect>
                                  </p:childTnLst>
                                </p:cTn>
                              </p:par>
                              <p:par>
                                <p:cTn id="101" presetID="10" presetClass="entr" presetSubtype="0" fill="hold" nodeType="withEffect">
                                  <p:stCondLst>
                                    <p:cond delay="0"/>
                                  </p:stCondLst>
                                  <p:childTnLst>
                                    <p:set>
                                      <p:cBhvr>
                                        <p:cTn id="102" dur="1" fill="hold">
                                          <p:stCondLst>
                                            <p:cond delay="0"/>
                                          </p:stCondLst>
                                        </p:cTn>
                                        <p:tgtEl>
                                          <p:spTgt spid="81"/>
                                        </p:tgtEl>
                                        <p:attrNameLst>
                                          <p:attrName>style.visibility</p:attrName>
                                        </p:attrNameLst>
                                      </p:cBhvr>
                                      <p:to>
                                        <p:strVal val="visible"/>
                                      </p:to>
                                    </p:set>
                                    <p:animEffect transition="in" filter="fade">
                                      <p:cBhvr>
                                        <p:cTn id="103" dur="500"/>
                                        <p:tgtEl>
                                          <p:spTgt spid="81"/>
                                        </p:tgtEl>
                                      </p:cBhvr>
                                    </p:animEffect>
                                  </p:childTnLst>
                                </p:cTn>
                              </p:par>
                              <p:par>
                                <p:cTn id="104" presetID="10" presetClass="entr" presetSubtype="0" fill="hold" nodeType="withEffect">
                                  <p:stCondLst>
                                    <p:cond delay="0"/>
                                  </p:stCondLst>
                                  <p:childTnLst>
                                    <p:set>
                                      <p:cBhvr>
                                        <p:cTn id="105" dur="1" fill="hold">
                                          <p:stCondLst>
                                            <p:cond delay="0"/>
                                          </p:stCondLst>
                                        </p:cTn>
                                        <p:tgtEl>
                                          <p:spTgt spid="83"/>
                                        </p:tgtEl>
                                        <p:attrNameLst>
                                          <p:attrName>style.visibility</p:attrName>
                                        </p:attrNameLst>
                                      </p:cBhvr>
                                      <p:to>
                                        <p:strVal val="visible"/>
                                      </p:to>
                                    </p:set>
                                    <p:animEffect transition="in" filter="fade">
                                      <p:cBhvr>
                                        <p:cTn id="106" dur="500"/>
                                        <p:tgtEl>
                                          <p:spTgt spid="83"/>
                                        </p:tgtEl>
                                      </p:cBhvr>
                                    </p:animEffect>
                                  </p:childTnLst>
                                </p:cTn>
                              </p:par>
                              <p:par>
                                <p:cTn id="107" presetID="10" presetClass="entr" presetSubtype="0" fill="hold" nodeType="withEffect">
                                  <p:stCondLst>
                                    <p:cond delay="0"/>
                                  </p:stCondLst>
                                  <p:childTnLst>
                                    <p:set>
                                      <p:cBhvr>
                                        <p:cTn id="108" dur="1" fill="hold">
                                          <p:stCondLst>
                                            <p:cond delay="0"/>
                                          </p:stCondLst>
                                        </p:cTn>
                                        <p:tgtEl>
                                          <p:spTgt spid="79"/>
                                        </p:tgtEl>
                                        <p:attrNameLst>
                                          <p:attrName>style.visibility</p:attrName>
                                        </p:attrNameLst>
                                      </p:cBhvr>
                                      <p:to>
                                        <p:strVal val="visible"/>
                                      </p:to>
                                    </p:set>
                                    <p:animEffect transition="in" filter="fade">
                                      <p:cBhvr>
                                        <p:cTn id="109" dur="500"/>
                                        <p:tgtEl>
                                          <p:spTgt spid="79"/>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8" fill="hold" nodeType="clickEffect">
                                  <p:stCondLst>
                                    <p:cond delay="0"/>
                                  </p:stCondLst>
                                  <p:childTnLst>
                                    <p:set>
                                      <p:cBhvr>
                                        <p:cTn id="113" dur="1" fill="hold">
                                          <p:stCondLst>
                                            <p:cond delay="0"/>
                                          </p:stCondLst>
                                        </p:cTn>
                                        <p:tgtEl>
                                          <p:spTgt spid="88"/>
                                        </p:tgtEl>
                                        <p:attrNameLst>
                                          <p:attrName>style.visibility</p:attrName>
                                        </p:attrNameLst>
                                      </p:cBhvr>
                                      <p:to>
                                        <p:strVal val="visible"/>
                                      </p:to>
                                    </p:set>
                                    <p:animEffect transition="in" filter="wipe(left)">
                                      <p:cBhvr>
                                        <p:cTn id="114" dur="500"/>
                                        <p:tgtEl>
                                          <p:spTgt spid="88"/>
                                        </p:tgtEl>
                                      </p:cBhvr>
                                    </p:animEffect>
                                  </p:childTnLst>
                                </p:cTn>
                              </p:par>
                              <p:par>
                                <p:cTn id="115" presetID="22" presetClass="entr" presetSubtype="8" fill="hold" grpId="0" nodeType="withEffect">
                                  <p:stCondLst>
                                    <p:cond delay="0"/>
                                  </p:stCondLst>
                                  <p:childTnLst>
                                    <p:set>
                                      <p:cBhvr>
                                        <p:cTn id="116" dur="1" fill="hold">
                                          <p:stCondLst>
                                            <p:cond delay="0"/>
                                          </p:stCondLst>
                                        </p:cTn>
                                        <p:tgtEl>
                                          <p:spTgt spid="91"/>
                                        </p:tgtEl>
                                        <p:attrNameLst>
                                          <p:attrName>style.visibility</p:attrName>
                                        </p:attrNameLst>
                                      </p:cBhvr>
                                      <p:to>
                                        <p:strVal val="visible"/>
                                      </p:to>
                                    </p:set>
                                    <p:animEffect transition="in" filter="wipe(left)">
                                      <p:cBhvr>
                                        <p:cTn id="117" dur="500"/>
                                        <p:tgtEl>
                                          <p:spTgt spid="91"/>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92"/>
                                        </p:tgtEl>
                                        <p:attrNameLst>
                                          <p:attrName>style.visibility</p:attrName>
                                        </p:attrNameLst>
                                      </p:cBhvr>
                                      <p:to>
                                        <p:strVal val="visible"/>
                                      </p:to>
                                    </p:set>
                                    <p:animEffect transition="in" filter="wipe(left)">
                                      <p:cBhvr>
                                        <p:cTn id="122" dur="500"/>
                                        <p:tgtEl>
                                          <p:spTgt spid="92"/>
                                        </p:tgtEl>
                                      </p:cBhvr>
                                    </p:animEffect>
                                  </p:childTnLst>
                                </p:cTn>
                              </p:par>
                              <p:par>
                                <p:cTn id="123" presetID="22" presetClass="entr" presetSubtype="8" fill="hold" nodeType="withEffect">
                                  <p:stCondLst>
                                    <p:cond delay="0"/>
                                  </p:stCondLst>
                                  <p:childTnLst>
                                    <p:set>
                                      <p:cBhvr>
                                        <p:cTn id="124" dur="1" fill="hold">
                                          <p:stCondLst>
                                            <p:cond delay="0"/>
                                          </p:stCondLst>
                                        </p:cTn>
                                        <p:tgtEl>
                                          <p:spTgt spid="89"/>
                                        </p:tgtEl>
                                        <p:attrNameLst>
                                          <p:attrName>style.visibility</p:attrName>
                                        </p:attrNameLst>
                                      </p:cBhvr>
                                      <p:to>
                                        <p:strVal val="visible"/>
                                      </p:to>
                                    </p:set>
                                    <p:animEffect transition="in" filter="wipe(left)">
                                      <p:cBhvr>
                                        <p:cTn id="125" dur="500"/>
                                        <p:tgtEl>
                                          <p:spTgt spid="89"/>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8" fill="hold" grpId="0" nodeType="clickEffect">
                                  <p:stCondLst>
                                    <p:cond delay="0"/>
                                  </p:stCondLst>
                                  <p:childTnLst>
                                    <p:set>
                                      <p:cBhvr>
                                        <p:cTn id="129" dur="1" fill="hold">
                                          <p:stCondLst>
                                            <p:cond delay="0"/>
                                          </p:stCondLst>
                                        </p:cTn>
                                        <p:tgtEl>
                                          <p:spTgt spid="93"/>
                                        </p:tgtEl>
                                        <p:attrNameLst>
                                          <p:attrName>style.visibility</p:attrName>
                                        </p:attrNameLst>
                                      </p:cBhvr>
                                      <p:to>
                                        <p:strVal val="visible"/>
                                      </p:to>
                                    </p:set>
                                    <p:animEffect transition="in" filter="wipe(left)">
                                      <p:cBhvr>
                                        <p:cTn id="130" dur="500"/>
                                        <p:tgtEl>
                                          <p:spTgt spid="93"/>
                                        </p:tgtEl>
                                      </p:cBhvr>
                                    </p:animEffect>
                                  </p:childTnLst>
                                </p:cTn>
                              </p:par>
                              <p:par>
                                <p:cTn id="131" presetID="22" presetClass="entr" presetSubtype="8" fill="hold" nodeType="withEffect">
                                  <p:stCondLst>
                                    <p:cond delay="0"/>
                                  </p:stCondLst>
                                  <p:childTnLst>
                                    <p:set>
                                      <p:cBhvr>
                                        <p:cTn id="132" dur="1" fill="hold">
                                          <p:stCondLst>
                                            <p:cond delay="0"/>
                                          </p:stCondLst>
                                        </p:cTn>
                                        <p:tgtEl>
                                          <p:spTgt spid="90"/>
                                        </p:tgtEl>
                                        <p:attrNameLst>
                                          <p:attrName>style.visibility</p:attrName>
                                        </p:attrNameLst>
                                      </p:cBhvr>
                                      <p:to>
                                        <p:strVal val="visible"/>
                                      </p:to>
                                    </p:set>
                                    <p:animEffect transition="in" filter="wipe(left)">
                                      <p:cBhvr>
                                        <p:cTn id="133" dur="500"/>
                                        <p:tgtEl>
                                          <p:spTgt spid="90"/>
                                        </p:tgtEl>
                                      </p:cBhvr>
                                    </p:animEffect>
                                  </p:childTnLst>
                                </p:cTn>
                              </p:par>
                            </p:childTnLst>
                          </p:cTn>
                        </p:par>
                      </p:childTnLst>
                    </p:cTn>
                  </p:par>
                  <p:par>
                    <p:cTn id="134" fill="hold">
                      <p:stCondLst>
                        <p:cond delay="indefinite"/>
                      </p:stCondLst>
                      <p:childTnLst>
                        <p:par>
                          <p:cTn id="135" fill="hold">
                            <p:stCondLst>
                              <p:cond delay="0"/>
                            </p:stCondLst>
                            <p:childTnLst>
                              <p:par>
                                <p:cTn id="136" presetID="22" presetClass="entr" presetSubtype="4" fill="hold" nodeType="clickEffect">
                                  <p:stCondLst>
                                    <p:cond delay="0"/>
                                  </p:stCondLst>
                                  <p:childTnLst>
                                    <p:set>
                                      <p:cBhvr>
                                        <p:cTn id="137" dur="1" fill="hold">
                                          <p:stCondLst>
                                            <p:cond delay="0"/>
                                          </p:stCondLst>
                                        </p:cTn>
                                        <p:tgtEl>
                                          <p:spTgt spid="74"/>
                                        </p:tgtEl>
                                        <p:attrNameLst>
                                          <p:attrName>style.visibility</p:attrName>
                                        </p:attrNameLst>
                                      </p:cBhvr>
                                      <p:to>
                                        <p:strVal val="visible"/>
                                      </p:to>
                                    </p:set>
                                    <p:animEffect transition="in" filter="wipe(down)">
                                      <p:cBhvr>
                                        <p:cTn id="138" dur="500"/>
                                        <p:tgtEl>
                                          <p:spTgt spid="74"/>
                                        </p:tgtEl>
                                      </p:cBhvr>
                                    </p:animEffect>
                                  </p:childTnLst>
                                </p:cTn>
                              </p:par>
                              <p:par>
                                <p:cTn id="139" presetID="22" presetClass="entr" presetSubtype="4" fill="hold" nodeType="withEffect">
                                  <p:stCondLst>
                                    <p:cond delay="0"/>
                                  </p:stCondLst>
                                  <p:childTnLst>
                                    <p:set>
                                      <p:cBhvr>
                                        <p:cTn id="140" dur="1" fill="hold">
                                          <p:stCondLst>
                                            <p:cond delay="0"/>
                                          </p:stCondLst>
                                        </p:cTn>
                                        <p:tgtEl>
                                          <p:spTgt spid="84"/>
                                        </p:tgtEl>
                                        <p:attrNameLst>
                                          <p:attrName>style.visibility</p:attrName>
                                        </p:attrNameLst>
                                      </p:cBhvr>
                                      <p:to>
                                        <p:strVal val="visible"/>
                                      </p:to>
                                    </p:set>
                                    <p:animEffect transition="in" filter="wipe(down)">
                                      <p:cBhvr>
                                        <p:cTn id="141" dur="500"/>
                                        <p:tgtEl>
                                          <p:spTgt spid="84"/>
                                        </p:tgtEl>
                                      </p:cBhvr>
                                    </p:animEffect>
                                  </p:childTnLst>
                                </p:cTn>
                              </p:par>
                              <p:par>
                                <p:cTn id="142" presetID="22" presetClass="entr" presetSubtype="4" fill="hold" nodeType="withEffect">
                                  <p:stCondLst>
                                    <p:cond delay="0"/>
                                  </p:stCondLst>
                                  <p:childTnLst>
                                    <p:set>
                                      <p:cBhvr>
                                        <p:cTn id="143" dur="1" fill="hold">
                                          <p:stCondLst>
                                            <p:cond delay="0"/>
                                          </p:stCondLst>
                                        </p:cTn>
                                        <p:tgtEl>
                                          <p:spTgt spid="86"/>
                                        </p:tgtEl>
                                        <p:attrNameLst>
                                          <p:attrName>style.visibility</p:attrName>
                                        </p:attrNameLst>
                                      </p:cBhvr>
                                      <p:to>
                                        <p:strVal val="visible"/>
                                      </p:to>
                                    </p:set>
                                    <p:animEffect transition="in" filter="wipe(down)">
                                      <p:cBhvr>
                                        <p:cTn id="144" dur="500"/>
                                        <p:tgtEl>
                                          <p:spTgt spid="86"/>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4" fill="hold" nodeType="clickEffect">
                                  <p:stCondLst>
                                    <p:cond delay="0"/>
                                  </p:stCondLst>
                                  <p:childTnLst>
                                    <p:set>
                                      <p:cBhvr>
                                        <p:cTn id="148" dur="1" fill="hold">
                                          <p:stCondLst>
                                            <p:cond delay="0"/>
                                          </p:stCondLst>
                                        </p:cTn>
                                        <p:tgtEl>
                                          <p:spTgt spid="85"/>
                                        </p:tgtEl>
                                        <p:attrNameLst>
                                          <p:attrName>style.visibility</p:attrName>
                                        </p:attrNameLst>
                                      </p:cBhvr>
                                      <p:to>
                                        <p:strVal val="visible"/>
                                      </p:to>
                                    </p:set>
                                    <p:animEffect transition="in" filter="wipe(down)">
                                      <p:cBhvr>
                                        <p:cTn id="149" dur="500"/>
                                        <p:tgtEl>
                                          <p:spTgt spid="85"/>
                                        </p:tgtEl>
                                      </p:cBhvr>
                                    </p:animEffect>
                                  </p:childTnLst>
                                </p:cTn>
                              </p:par>
                              <p:par>
                                <p:cTn id="150" presetID="22" presetClass="entr" presetSubtype="4" fill="hold" nodeType="withEffect">
                                  <p:stCondLst>
                                    <p:cond delay="0"/>
                                  </p:stCondLst>
                                  <p:childTnLst>
                                    <p:set>
                                      <p:cBhvr>
                                        <p:cTn id="151" dur="1" fill="hold">
                                          <p:stCondLst>
                                            <p:cond delay="0"/>
                                          </p:stCondLst>
                                        </p:cTn>
                                        <p:tgtEl>
                                          <p:spTgt spid="87"/>
                                        </p:tgtEl>
                                        <p:attrNameLst>
                                          <p:attrName>style.visibility</p:attrName>
                                        </p:attrNameLst>
                                      </p:cBhvr>
                                      <p:to>
                                        <p:strVal val="visible"/>
                                      </p:to>
                                    </p:set>
                                    <p:animEffect transition="in" filter="wipe(down)">
                                      <p:cBhvr>
                                        <p:cTn id="152" dur="500"/>
                                        <p:tgtEl>
                                          <p:spTgt spid="87"/>
                                        </p:tgtEl>
                                      </p:cBhvr>
                                    </p:animEffect>
                                  </p:childTnLst>
                                </p:cTn>
                              </p:par>
                              <p:par>
                                <p:cTn id="153" presetID="22" presetClass="entr" presetSubtype="4" fill="hold" nodeType="withEffect">
                                  <p:stCondLst>
                                    <p:cond delay="0"/>
                                  </p:stCondLst>
                                  <p:childTnLst>
                                    <p:set>
                                      <p:cBhvr>
                                        <p:cTn id="154" dur="1" fill="hold">
                                          <p:stCondLst>
                                            <p:cond delay="0"/>
                                          </p:stCondLst>
                                        </p:cTn>
                                        <p:tgtEl>
                                          <p:spTgt spid="75"/>
                                        </p:tgtEl>
                                        <p:attrNameLst>
                                          <p:attrName>style.visibility</p:attrName>
                                        </p:attrNameLst>
                                      </p:cBhvr>
                                      <p:to>
                                        <p:strVal val="visible"/>
                                      </p:to>
                                    </p:set>
                                    <p:animEffect transition="in" filter="wipe(down)">
                                      <p:cBhvr>
                                        <p:cTn id="155" dur="500"/>
                                        <p:tgtEl>
                                          <p:spTgt spid="75"/>
                                        </p:tgtEl>
                                      </p:cBhvr>
                                    </p:animEffect>
                                  </p:childTnLst>
                                </p:cTn>
                              </p:par>
                            </p:childTnLst>
                          </p:cTn>
                        </p:par>
                      </p:childTnLst>
                    </p:cTn>
                  </p:par>
                  <p:par>
                    <p:cTn id="156" fill="hold">
                      <p:stCondLst>
                        <p:cond delay="indefinite"/>
                      </p:stCondLst>
                      <p:childTnLst>
                        <p:par>
                          <p:cTn id="157" fill="hold">
                            <p:stCondLst>
                              <p:cond delay="0"/>
                            </p:stCondLst>
                            <p:childTnLst>
                              <p:par>
                                <p:cTn id="158" presetID="22" presetClass="entr" presetSubtype="8" fill="hold" nodeType="clickEffect">
                                  <p:stCondLst>
                                    <p:cond delay="0"/>
                                  </p:stCondLst>
                                  <p:childTnLst>
                                    <p:set>
                                      <p:cBhvr>
                                        <p:cTn id="159" dur="1" fill="hold">
                                          <p:stCondLst>
                                            <p:cond delay="0"/>
                                          </p:stCondLst>
                                        </p:cTn>
                                        <p:tgtEl>
                                          <p:spTgt spid="100"/>
                                        </p:tgtEl>
                                        <p:attrNameLst>
                                          <p:attrName>style.visibility</p:attrName>
                                        </p:attrNameLst>
                                      </p:cBhvr>
                                      <p:to>
                                        <p:strVal val="visible"/>
                                      </p:to>
                                    </p:set>
                                    <p:animEffect transition="in" filter="wipe(left)">
                                      <p:cBhvr>
                                        <p:cTn id="160" dur="500"/>
                                        <p:tgtEl>
                                          <p:spTgt spid="100"/>
                                        </p:tgtEl>
                                      </p:cBhvr>
                                    </p:animEffect>
                                  </p:childTnLst>
                                </p:cTn>
                              </p:par>
                            </p:childTnLst>
                          </p:cTn>
                        </p:par>
                      </p:childTnLst>
                    </p:cTn>
                  </p:par>
                  <p:par>
                    <p:cTn id="161" fill="hold">
                      <p:stCondLst>
                        <p:cond delay="indefinite"/>
                      </p:stCondLst>
                      <p:childTnLst>
                        <p:par>
                          <p:cTn id="162" fill="hold">
                            <p:stCondLst>
                              <p:cond delay="0"/>
                            </p:stCondLst>
                            <p:childTnLst>
                              <p:par>
                                <p:cTn id="163" presetID="22" presetClass="entr" presetSubtype="8" fill="hold" nodeType="clickEffect">
                                  <p:stCondLst>
                                    <p:cond delay="0"/>
                                  </p:stCondLst>
                                  <p:childTnLst>
                                    <p:set>
                                      <p:cBhvr>
                                        <p:cTn id="164" dur="1" fill="hold">
                                          <p:stCondLst>
                                            <p:cond delay="0"/>
                                          </p:stCondLst>
                                        </p:cTn>
                                        <p:tgtEl>
                                          <p:spTgt spid="101"/>
                                        </p:tgtEl>
                                        <p:attrNameLst>
                                          <p:attrName>style.visibility</p:attrName>
                                        </p:attrNameLst>
                                      </p:cBhvr>
                                      <p:to>
                                        <p:strVal val="visible"/>
                                      </p:to>
                                    </p:set>
                                    <p:animEffect transition="in" filter="wipe(left)">
                                      <p:cBhvr>
                                        <p:cTn id="165" dur="500"/>
                                        <p:tgtEl>
                                          <p:spTgt spid="101"/>
                                        </p:tgtEl>
                                      </p:cBhvr>
                                    </p:animEffect>
                                  </p:childTnLst>
                                </p:cTn>
                              </p:par>
                            </p:childTnLst>
                          </p:cTn>
                        </p:par>
                      </p:childTnLst>
                    </p:cTn>
                  </p:par>
                  <p:par>
                    <p:cTn id="166" fill="hold">
                      <p:stCondLst>
                        <p:cond delay="indefinite"/>
                      </p:stCondLst>
                      <p:childTnLst>
                        <p:par>
                          <p:cTn id="167" fill="hold">
                            <p:stCondLst>
                              <p:cond delay="0"/>
                            </p:stCondLst>
                            <p:childTnLst>
                              <p:par>
                                <p:cTn id="168" presetID="22" presetClass="entr" presetSubtype="8" fill="hold" nodeType="clickEffect">
                                  <p:stCondLst>
                                    <p:cond delay="0"/>
                                  </p:stCondLst>
                                  <p:childTnLst>
                                    <p:set>
                                      <p:cBhvr>
                                        <p:cTn id="169" dur="1" fill="hold">
                                          <p:stCondLst>
                                            <p:cond delay="0"/>
                                          </p:stCondLst>
                                        </p:cTn>
                                        <p:tgtEl>
                                          <p:spTgt spid="102"/>
                                        </p:tgtEl>
                                        <p:attrNameLst>
                                          <p:attrName>style.visibility</p:attrName>
                                        </p:attrNameLst>
                                      </p:cBhvr>
                                      <p:to>
                                        <p:strVal val="visible"/>
                                      </p:to>
                                    </p:set>
                                    <p:animEffect transition="in" filter="wipe(left)">
                                      <p:cBhvr>
                                        <p:cTn id="170" dur="500"/>
                                        <p:tgtEl>
                                          <p:spTgt spid="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53" grpId="0"/>
      <p:bldP spid="54" grpId="0"/>
      <p:bldP spid="55" grpId="0" animBg="1"/>
      <p:bldP spid="56" grpId="0"/>
      <p:bldP spid="58" grpId="0" animBg="1"/>
      <p:bldP spid="62" grpId="0" animBg="1"/>
      <p:bldP spid="63" grpId="0" animBg="1"/>
      <p:bldP spid="64" grpId="0" animBg="1"/>
      <p:bldP spid="68" grpId="0" animBg="1"/>
      <p:bldP spid="69" grpId="0" animBg="1"/>
      <p:bldP spid="70" grpId="0" animBg="1"/>
      <p:bldP spid="78" grpId="0" animBg="1"/>
      <p:bldP spid="91" grpId="0" animBg="1"/>
      <p:bldP spid="92" grpId="0" animBg="1"/>
      <p:bldP spid="93"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圆角 32">
            <a:extLst>
              <a:ext uri="{FF2B5EF4-FFF2-40B4-BE49-F238E27FC236}">
                <a16:creationId xmlns:a16="http://schemas.microsoft.com/office/drawing/2014/main" id="{7F981747-3783-4D27-A466-8C0B2DBB2DB8}"/>
              </a:ext>
            </a:extLst>
          </p:cNvPr>
          <p:cNvSpPr/>
          <p:nvPr/>
        </p:nvSpPr>
        <p:spPr>
          <a:xfrm>
            <a:off x="532655" y="1342865"/>
            <a:ext cx="3555870"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3" name="矩形 2">
            <a:extLst>
              <a:ext uri="{FF2B5EF4-FFF2-40B4-BE49-F238E27FC236}">
                <a16:creationId xmlns:a16="http://schemas.microsoft.com/office/drawing/2014/main" id="{4E1C1893-AB90-4458-A5F7-957881641DB7}"/>
              </a:ext>
            </a:extLst>
          </p:cNvPr>
          <p:cNvSpPr/>
          <p:nvPr/>
        </p:nvSpPr>
        <p:spPr>
          <a:xfrm>
            <a:off x="601503" y="1355285"/>
            <a:ext cx="3487022"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长期平均成本曲线的推导</a:t>
            </a:r>
          </a:p>
        </p:txBody>
      </p:sp>
      <p:sp>
        <p:nvSpPr>
          <p:cNvPr id="31" name="矩形 30"/>
          <p:cNvSpPr/>
          <p:nvPr/>
        </p:nvSpPr>
        <p:spPr>
          <a:xfrm>
            <a:off x="595719" y="2090952"/>
            <a:ext cx="6856600" cy="646331"/>
          </a:xfrm>
          <a:prstGeom prst="rect">
            <a:avLst/>
          </a:prstGeom>
        </p:spPr>
        <p:txBody>
          <a:bodyPr wrap="square">
            <a:spAutoFit/>
          </a:bodyPr>
          <a:lstStyle/>
          <a:p>
            <a:pPr marL="285750" indent="-285750">
              <a:buFont typeface="Wingdings" panose="05000000000000000000" pitchFamily="2" charset="2"/>
              <a:buChar char="Ø"/>
            </a:pPr>
            <a:r>
              <a:rPr lang="en-US" sz="1700" dirty="0">
                <a:latin typeface="微软雅黑" panose="020B0503020204020204" pitchFamily="34" charset="-122"/>
                <a:ea typeface="微软雅黑" panose="020B0503020204020204" pitchFamily="34" charset="-122"/>
              </a:rPr>
              <a:t>这条长期平均成本曲线位于所有短期平均成本曲线的下方，</a:t>
            </a:r>
            <a:r>
              <a:rPr lang="en-US" dirty="0">
                <a:latin typeface="微软雅黑" panose="020B0503020204020204" pitchFamily="34" charset="-122"/>
                <a:ea typeface="微软雅黑" panose="020B0503020204020204" pitchFamily="34" charset="-122"/>
              </a:rPr>
              <a:t>并且在每一个产量水平上</a:t>
            </a:r>
            <a:r>
              <a:rPr lang="en-US" sz="1700" dirty="0">
                <a:latin typeface="微软雅黑" panose="020B0503020204020204" pitchFamily="34" charset="-122"/>
                <a:ea typeface="微软雅黑" panose="020B0503020204020204" pitchFamily="34" charset="-122"/>
              </a:rPr>
              <a:t>，都有一条特定的短期平均成本曲线与之相切</a:t>
            </a:r>
            <a:r>
              <a:rPr lang="zh-CN" altLang="en-US" sz="1700" dirty="0">
                <a:latin typeface="微软雅黑" panose="020B0503020204020204" pitchFamily="34" charset="-122"/>
                <a:ea typeface="微软雅黑" panose="020B0503020204020204" pitchFamily="34" charset="-122"/>
              </a:rPr>
              <a:t>。</a:t>
            </a:r>
            <a:endParaRPr lang="en-US" sz="1700" dirty="0">
              <a:latin typeface="微软雅黑" panose="020B0503020204020204" pitchFamily="34" charset="-122"/>
              <a:ea typeface="微软雅黑" panose="020B0503020204020204" pitchFamily="34" charset="-122"/>
            </a:endParaRPr>
          </a:p>
        </p:txBody>
      </p:sp>
      <p:sp>
        <p:nvSpPr>
          <p:cNvPr id="32" name="矩形 31">
            <a:extLst>
              <a:ext uri="{FF2B5EF4-FFF2-40B4-BE49-F238E27FC236}">
                <a16:creationId xmlns:a16="http://schemas.microsoft.com/office/drawing/2014/main" id="{9719A815-59A3-42EE-9E83-6D1EFE5837DA}"/>
              </a:ext>
            </a:extLst>
          </p:cNvPr>
          <p:cNvSpPr/>
          <p:nvPr/>
        </p:nvSpPr>
        <p:spPr>
          <a:xfrm>
            <a:off x="580922" y="520573"/>
            <a:ext cx="3487022"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三、长期平均成本曲线</a:t>
            </a:r>
          </a:p>
        </p:txBody>
      </p:sp>
      <p:cxnSp>
        <p:nvCxnSpPr>
          <p:cNvPr id="34" name="直接箭头连接符 15">
            <a:extLst>
              <a:ext uri="{FF2B5EF4-FFF2-40B4-BE49-F238E27FC236}">
                <a16:creationId xmlns:a16="http://schemas.microsoft.com/office/drawing/2014/main" id="{F6F3A940-E8C2-42AD-9AB2-B935C34FD0BB}"/>
              </a:ext>
            </a:extLst>
          </p:cNvPr>
          <p:cNvCxnSpPr>
            <a:cxnSpLocks noChangeShapeType="1"/>
          </p:cNvCxnSpPr>
          <p:nvPr/>
        </p:nvCxnSpPr>
        <p:spPr bwMode="auto">
          <a:xfrm flipV="1">
            <a:off x="2394729" y="5669581"/>
            <a:ext cx="4337511" cy="13551"/>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35" name="直接箭头连接符 16">
            <a:extLst>
              <a:ext uri="{FF2B5EF4-FFF2-40B4-BE49-F238E27FC236}">
                <a16:creationId xmlns:a16="http://schemas.microsoft.com/office/drawing/2014/main" id="{D3BF503D-5370-479D-B7D9-533DE13A3F70}"/>
              </a:ext>
            </a:extLst>
          </p:cNvPr>
          <p:cNvCxnSpPr>
            <a:cxnSpLocks noChangeShapeType="1"/>
          </p:cNvCxnSpPr>
          <p:nvPr/>
        </p:nvCxnSpPr>
        <p:spPr bwMode="auto">
          <a:xfrm rot="16200000" flipV="1">
            <a:off x="1018649" y="4335657"/>
            <a:ext cx="2752158" cy="0"/>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36" name="Object 14">
            <a:extLst>
              <a:ext uri="{FF2B5EF4-FFF2-40B4-BE49-F238E27FC236}">
                <a16:creationId xmlns:a16="http://schemas.microsoft.com/office/drawing/2014/main" id="{607E3D83-BCF7-4CB6-8C7A-8544574EFE7D}"/>
              </a:ext>
            </a:extLst>
          </p:cNvPr>
          <p:cNvGraphicFramePr>
            <a:graphicFrameLocks noChangeAspect="1"/>
          </p:cNvGraphicFramePr>
          <p:nvPr>
            <p:extLst>
              <p:ext uri="{D42A27DB-BD31-4B8C-83A1-F6EECF244321}">
                <p14:modId xmlns:p14="http://schemas.microsoft.com/office/powerpoint/2010/main" val="37991999"/>
              </p:ext>
            </p:extLst>
          </p:nvPr>
        </p:nvGraphicFramePr>
        <p:xfrm>
          <a:off x="2123728" y="5737334"/>
          <a:ext cx="221286" cy="233361"/>
        </p:xfrm>
        <a:graphic>
          <a:graphicData uri="http://schemas.openxmlformats.org/presentationml/2006/ole">
            <mc:AlternateContent xmlns:mc="http://schemas.openxmlformats.org/markup-compatibility/2006">
              <mc:Choice xmlns:v="urn:schemas-microsoft-com:vml" Requires="v">
                <p:oleObj spid="_x0000_s125166" r:id="rId3" imgW="153248" imgH="178737" progId="">
                  <p:embed/>
                </p:oleObj>
              </mc:Choice>
              <mc:Fallback>
                <p:oleObj r:id="rId3" imgW="153248" imgH="178737" progId="">
                  <p:embed/>
                  <p:pic>
                    <p:nvPicPr>
                      <p:cNvPr id="26" name="Object 14">
                        <a:extLst>
                          <a:ext uri="{FF2B5EF4-FFF2-40B4-BE49-F238E27FC236}">
                            <a16:creationId xmlns:a16="http://schemas.microsoft.com/office/drawing/2014/main" id="{0EFD5BB1-14F7-4474-9B3A-F6B252FED4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3728" y="5737334"/>
                        <a:ext cx="221286" cy="233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7" name="Object 15">
            <a:extLst>
              <a:ext uri="{FF2B5EF4-FFF2-40B4-BE49-F238E27FC236}">
                <a16:creationId xmlns:a16="http://schemas.microsoft.com/office/drawing/2014/main" id="{37411297-9A12-4D4E-BCBB-110F502C62D3}"/>
              </a:ext>
            </a:extLst>
          </p:cNvPr>
          <p:cNvGraphicFramePr>
            <a:graphicFrameLocks noChangeAspect="1"/>
          </p:cNvGraphicFramePr>
          <p:nvPr>
            <p:extLst>
              <p:ext uri="{D42A27DB-BD31-4B8C-83A1-F6EECF244321}">
                <p14:modId xmlns:p14="http://schemas.microsoft.com/office/powerpoint/2010/main" val="1859001318"/>
              </p:ext>
            </p:extLst>
          </p:nvPr>
        </p:nvGraphicFramePr>
        <p:xfrm>
          <a:off x="2123728" y="3027329"/>
          <a:ext cx="221286" cy="233359"/>
        </p:xfrm>
        <a:graphic>
          <a:graphicData uri="http://schemas.openxmlformats.org/presentationml/2006/ole">
            <mc:AlternateContent xmlns:mc="http://schemas.openxmlformats.org/markup-compatibility/2006">
              <mc:Choice xmlns:v="urn:schemas-microsoft-com:vml" Requires="v">
                <p:oleObj spid="_x0000_s125167" r:id="rId5" imgW="153248" imgH="178737" progId="">
                  <p:embed/>
                </p:oleObj>
              </mc:Choice>
              <mc:Fallback>
                <p:oleObj r:id="rId5" imgW="153248" imgH="178737" progId="">
                  <p:embed/>
                  <p:pic>
                    <p:nvPicPr>
                      <p:cNvPr id="27" name="Object 15">
                        <a:extLst>
                          <a:ext uri="{FF2B5EF4-FFF2-40B4-BE49-F238E27FC236}">
                            <a16:creationId xmlns:a16="http://schemas.microsoft.com/office/drawing/2014/main" id="{3480A2B6-C25E-4F81-A591-B6919D9DBD8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3728" y="3027329"/>
                        <a:ext cx="221286" cy="233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8" name="Object 16">
            <a:extLst>
              <a:ext uri="{FF2B5EF4-FFF2-40B4-BE49-F238E27FC236}">
                <a16:creationId xmlns:a16="http://schemas.microsoft.com/office/drawing/2014/main" id="{98A40AF9-68FC-4F9F-A789-16BAAFCC730A}"/>
              </a:ext>
            </a:extLst>
          </p:cNvPr>
          <p:cNvGraphicFramePr>
            <a:graphicFrameLocks noChangeAspect="1"/>
          </p:cNvGraphicFramePr>
          <p:nvPr>
            <p:extLst>
              <p:ext uri="{D42A27DB-BD31-4B8C-83A1-F6EECF244321}">
                <p14:modId xmlns:p14="http://schemas.microsoft.com/office/powerpoint/2010/main" val="1904926553"/>
              </p:ext>
            </p:extLst>
          </p:nvPr>
        </p:nvGraphicFramePr>
        <p:xfrm>
          <a:off x="6459145" y="5737333"/>
          <a:ext cx="221286" cy="267987"/>
        </p:xfrm>
        <a:graphic>
          <a:graphicData uri="http://schemas.openxmlformats.org/presentationml/2006/ole">
            <mc:AlternateContent xmlns:mc="http://schemas.openxmlformats.org/markup-compatibility/2006">
              <mc:Choice xmlns:v="urn:schemas-microsoft-com:vml" Requires="v">
                <p:oleObj spid="_x0000_s125168" r:id="rId7" imgW="153381" imgH="204403" progId="">
                  <p:embed/>
                </p:oleObj>
              </mc:Choice>
              <mc:Fallback>
                <p:oleObj r:id="rId7" imgW="153381" imgH="204403" progId="">
                  <p:embed/>
                  <p:pic>
                    <p:nvPicPr>
                      <p:cNvPr id="28" name="Object 16">
                        <a:extLst>
                          <a:ext uri="{FF2B5EF4-FFF2-40B4-BE49-F238E27FC236}">
                            <a16:creationId xmlns:a16="http://schemas.microsoft.com/office/drawing/2014/main" id="{3AB92D7D-A724-4C88-B484-AA62D8AFEB6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59145" y="5737333"/>
                        <a:ext cx="221286" cy="26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9" name="Object 26">
            <a:extLst>
              <a:ext uri="{FF2B5EF4-FFF2-40B4-BE49-F238E27FC236}">
                <a16:creationId xmlns:a16="http://schemas.microsoft.com/office/drawing/2014/main" id="{C95F3355-1A67-4FFD-B964-BD1A949FB502}"/>
              </a:ext>
            </a:extLst>
          </p:cNvPr>
          <p:cNvGraphicFramePr>
            <a:graphicFrameLocks noChangeAspect="1"/>
          </p:cNvGraphicFramePr>
          <p:nvPr>
            <p:extLst>
              <p:ext uri="{D42A27DB-BD31-4B8C-83A1-F6EECF244321}">
                <p14:modId xmlns:p14="http://schemas.microsoft.com/office/powerpoint/2010/main" val="3966064962"/>
              </p:ext>
            </p:extLst>
          </p:nvPr>
        </p:nvGraphicFramePr>
        <p:xfrm>
          <a:off x="2733479" y="5737330"/>
          <a:ext cx="236372" cy="304123"/>
        </p:xfrm>
        <a:graphic>
          <a:graphicData uri="http://schemas.openxmlformats.org/presentationml/2006/ole">
            <mc:AlternateContent xmlns:mc="http://schemas.openxmlformats.org/markup-compatibility/2006">
              <mc:Choice xmlns:v="urn:schemas-microsoft-com:vml" Requires="v">
                <p:oleObj spid="_x0000_s125169" r:id="rId9" imgW="178504" imgH="229414" progId="">
                  <p:embed/>
                </p:oleObj>
              </mc:Choice>
              <mc:Fallback>
                <p:oleObj r:id="rId9" imgW="178504" imgH="229414" progId="">
                  <p:embed/>
                  <p:pic>
                    <p:nvPicPr>
                      <p:cNvPr id="18" name="Object 26">
                        <a:extLst>
                          <a:ext uri="{FF2B5EF4-FFF2-40B4-BE49-F238E27FC236}">
                            <a16:creationId xmlns:a16="http://schemas.microsoft.com/office/drawing/2014/main" id="{146139FB-F766-4876-B32A-6C5A7FA11A7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33479" y="5737330"/>
                        <a:ext cx="236372" cy="304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0" name="Object 27">
            <a:extLst>
              <a:ext uri="{FF2B5EF4-FFF2-40B4-BE49-F238E27FC236}">
                <a16:creationId xmlns:a16="http://schemas.microsoft.com/office/drawing/2014/main" id="{71F9474A-6995-4ECD-9275-DB5DE6C91480}"/>
              </a:ext>
            </a:extLst>
          </p:cNvPr>
          <p:cNvGraphicFramePr>
            <a:graphicFrameLocks noChangeAspect="1"/>
          </p:cNvGraphicFramePr>
          <p:nvPr>
            <p:extLst>
              <p:ext uri="{D42A27DB-BD31-4B8C-83A1-F6EECF244321}">
                <p14:modId xmlns:p14="http://schemas.microsoft.com/office/powerpoint/2010/main" val="1559920918"/>
              </p:ext>
            </p:extLst>
          </p:nvPr>
        </p:nvGraphicFramePr>
        <p:xfrm>
          <a:off x="3410980" y="5737330"/>
          <a:ext cx="252934" cy="304123"/>
        </p:xfrm>
        <a:graphic>
          <a:graphicData uri="http://schemas.openxmlformats.org/presentationml/2006/ole">
            <mc:AlternateContent xmlns:mc="http://schemas.openxmlformats.org/markup-compatibility/2006">
              <mc:Choice xmlns:v="urn:schemas-microsoft-com:vml" Requires="v">
                <p:oleObj spid="_x0000_s125170" r:id="rId11" imgW="191481" imgH="229714" progId="">
                  <p:embed/>
                </p:oleObj>
              </mc:Choice>
              <mc:Fallback>
                <p:oleObj r:id="rId11" imgW="191481" imgH="229714" progId="">
                  <p:embed/>
                  <p:pic>
                    <p:nvPicPr>
                      <p:cNvPr id="19" name="Object 27">
                        <a:extLst>
                          <a:ext uri="{FF2B5EF4-FFF2-40B4-BE49-F238E27FC236}">
                            <a16:creationId xmlns:a16="http://schemas.microsoft.com/office/drawing/2014/main" id="{E2308113-F4CC-4981-B622-92A97D66D7D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10980" y="5737330"/>
                        <a:ext cx="252934" cy="304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 name="Object 28">
            <a:extLst>
              <a:ext uri="{FF2B5EF4-FFF2-40B4-BE49-F238E27FC236}">
                <a16:creationId xmlns:a16="http://schemas.microsoft.com/office/drawing/2014/main" id="{38714C69-DE9F-4B4D-A38A-D0C9CFEBACE5}"/>
              </a:ext>
            </a:extLst>
          </p:cNvPr>
          <p:cNvGraphicFramePr>
            <a:graphicFrameLocks noChangeAspect="1"/>
          </p:cNvGraphicFramePr>
          <p:nvPr>
            <p:extLst>
              <p:ext uri="{D42A27DB-BD31-4B8C-83A1-F6EECF244321}">
                <p14:modId xmlns:p14="http://schemas.microsoft.com/office/powerpoint/2010/main" val="3816899860"/>
              </p:ext>
            </p:extLst>
          </p:nvPr>
        </p:nvGraphicFramePr>
        <p:xfrm>
          <a:off x="4427231" y="5737330"/>
          <a:ext cx="252934" cy="304123"/>
        </p:xfrm>
        <a:graphic>
          <a:graphicData uri="http://schemas.openxmlformats.org/presentationml/2006/ole">
            <mc:AlternateContent xmlns:mc="http://schemas.openxmlformats.org/markup-compatibility/2006">
              <mc:Choice xmlns:v="urn:schemas-microsoft-com:vml" Requires="v">
                <p:oleObj spid="_x0000_s125171" r:id="rId13" imgW="191481" imgH="229714" progId="">
                  <p:embed/>
                </p:oleObj>
              </mc:Choice>
              <mc:Fallback>
                <p:oleObj r:id="rId13" imgW="191481" imgH="229714" progId="">
                  <p:embed/>
                  <p:pic>
                    <p:nvPicPr>
                      <p:cNvPr id="20" name="Object 28">
                        <a:extLst>
                          <a:ext uri="{FF2B5EF4-FFF2-40B4-BE49-F238E27FC236}">
                            <a16:creationId xmlns:a16="http://schemas.microsoft.com/office/drawing/2014/main" id="{5FCC8402-849E-4443-890B-02FD72EC63C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27231" y="5737330"/>
                        <a:ext cx="252934" cy="304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2" name="Object 29">
            <a:extLst>
              <a:ext uri="{FF2B5EF4-FFF2-40B4-BE49-F238E27FC236}">
                <a16:creationId xmlns:a16="http://schemas.microsoft.com/office/drawing/2014/main" id="{A49D287A-9AE4-48EE-BDE6-6A23D6A57857}"/>
              </a:ext>
            </a:extLst>
          </p:cNvPr>
          <p:cNvGraphicFramePr>
            <a:graphicFrameLocks noChangeAspect="1"/>
          </p:cNvGraphicFramePr>
          <p:nvPr>
            <p:extLst>
              <p:ext uri="{D42A27DB-BD31-4B8C-83A1-F6EECF244321}">
                <p14:modId xmlns:p14="http://schemas.microsoft.com/office/powerpoint/2010/main" val="1162622731"/>
              </p:ext>
            </p:extLst>
          </p:nvPr>
        </p:nvGraphicFramePr>
        <p:xfrm>
          <a:off x="5578983" y="5737330"/>
          <a:ext cx="252934" cy="304123"/>
        </p:xfrm>
        <a:graphic>
          <a:graphicData uri="http://schemas.openxmlformats.org/presentationml/2006/ole">
            <mc:AlternateContent xmlns:mc="http://schemas.openxmlformats.org/markup-compatibility/2006">
              <mc:Choice xmlns:v="urn:schemas-microsoft-com:vml" Requires="v">
                <p:oleObj spid="_x0000_s125172" r:id="rId15" imgW="191481" imgH="229714" progId="">
                  <p:embed/>
                </p:oleObj>
              </mc:Choice>
              <mc:Fallback>
                <p:oleObj r:id="rId15" imgW="191481" imgH="229714" progId="">
                  <p:embed/>
                  <p:pic>
                    <p:nvPicPr>
                      <p:cNvPr id="21" name="Object 29">
                        <a:extLst>
                          <a:ext uri="{FF2B5EF4-FFF2-40B4-BE49-F238E27FC236}">
                            <a16:creationId xmlns:a16="http://schemas.microsoft.com/office/drawing/2014/main" id="{2ED09448-4560-4B42-99A0-3DBF7F8D6431}"/>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78983" y="5737330"/>
                        <a:ext cx="252934" cy="304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3" name="直接连接符 26">
            <a:extLst>
              <a:ext uri="{FF2B5EF4-FFF2-40B4-BE49-F238E27FC236}">
                <a16:creationId xmlns:a16="http://schemas.microsoft.com/office/drawing/2014/main" id="{70E41E0D-EDF7-4F03-B296-C1CCAED848C7}"/>
              </a:ext>
            </a:extLst>
          </p:cNvPr>
          <p:cNvCxnSpPr>
            <a:cxnSpLocks noChangeShapeType="1"/>
          </p:cNvCxnSpPr>
          <p:nvPr/>
        </p:nvCxnSpPr>
        <p:spPr bwMode="auto">
          <a:xfrm rot="5400000">
            <a:off x="4326354" y="5433204"/>
            <a:ext cx="474251" cy="1506"/>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cxnSp>
        <p:nvCxnSpPr>
          <p:cNvPr id="44" name="直接连接符 30">
            <a:extLst>
              <a:ext uri="{FF2B5EF4-FFF2-40B4-BE49-F238E27FC236}">
                <a16:creationId xmlns:a16="http://schemas.microsoft.com/office/drawing/2014/main" id="{5ED1F5D7-D64C-4B12-A5EA-931B56DCCF0E}"/>
              </a:ext>
            </a:extLst>
          </p:cNvPr>
          <p:cNvCxnSpPr>
            <a:cxnSpLocks noChangeShapeType="1"/>
          </p:cNvCxnSpPr>
          <p:nvPr/>
        </p:nvCxnSpPr>
        <p:spPr bwMode="auto">
          <a:xfrm rot="5400000">
            <a:off x="2090605" y="4891203"/>
            <a:ext cx="1556747" cy="0"/>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cxnSp>
        <p:nvCxnSpPr>
          <p:cNvPr id="45" name="直接连接符 33">
            <a:extLst>
              <a:ext uri="{FF2B5EF4-FFF2-40B4-BE49-F238E27FC236}">
                <a16:creationId xmlns:a16="http://schemas.microsoft.com/office/drawing/2014/main" id="{4D9028F2-9EFB-4CB2-A9F5-2B6BD3F5D6A2}"/>
              </a:ext>
            </a:extLst>
          </p:cNvPr>
          <p:cNvCxnSpPr>
            <a:cxnSpLocks noChangeShapeType="1"/>
          </p:cNvCxnSpPr>
          <p:nvPr/>
        </p:nvCxnSpPr>
        <p:spPr bwMode="auto">
          <a:xfrm rot="5400000">
            <a:off x="3139226" y="5263832"/>
            <a:ext cx="813001" cy="1506"/>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cxnSp>
        <p:nvCxnSpPr>
          <p:cNvPr id="46" name="直接连接符 35">
            <a:extLst>
              <a:ext uri="{FF2B5EF4-FFF2-40B4-BE49-F238E27FC236}">
                <a16:creationId xmlns:a16="http://schemas.microsoft.com/office/drawing/2014/main" id="{2758EC59-A5E8-4D98-9622-09746F006059}"/>
              </a:ext>
            </a:extLst>
          </p:cNvPr>
          <p:cNvCxnSpPr>
            <a:cxnSpLocks noChangeShapeType="1"/>
          </p:cNvCxnSpPr>
          <p:nvPr/>
        </p:nvCxnSpPr>
        <p:spPr bwMode="auto">
          <a:xfrm rot="5400000">
            <a:off x="5207106" y="5162204"/>
            <a:ext cx="1016252" cy="1505"/>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graphicFrame>
        <p:nvGraphicFramePr>
          <p:cNvPr id="47" name="Object 4">
            <a:extLst>
              <a:ext uri="{FF2B5EF4-FFF2-40B4-BE49-F238E27FC236}">
                <a16:creationId xmlns:a16="http://schemas.microsoft.com/office/drawing/2014/main" id="{B3BF48D5-08A0-4496-83D4-9B6F329FDE8D}"/>
              </a:ext>
            </a:extLst>
          </p:cNvPr>
          <p:cNvGraphicFramePr>
            <a:graphicFrameLocks noChangeAspect="1"/>
          </p:cNvGraphicFramePr>
          <p:nvPr>
            <p:extLst>
              <p:ext uri="{D42A27DB-BD31-4B8C-83A1-F6EECF244321}">
                <p14:modId xmlns:p14="http://schemas.microsoft.com/office/powerpoint/2010/main" val="427090196"/>
              </p:ext>
            </p:extLst>
          </p:nvPr>
        </p:nvGraphicFramePr>
        <p:xfrm>
          <a:off x="3614230" y="3298327"/>
          <a:ext cx="370367" cy="304123"/>
        </p:xfrm>
        <a:graphic>
          <a:graphicData uri="http://schemas.openxmlformats.org/presentationml/2006/ole">
            <mc:AlternateContent xmlns:mc="http://schemas.openxmlformats.org/markup-compatibility/2006">
              <mc:Choice xmlns:v="urn:schemas-microsoft-com:vml" Requires="v">
                <p:oleObj spid="_x0000_s125173" r:id="rId17" imgW="280813" imgH="229813" progId="">
                  <p:embed/>
                </p:oleObj>
              </mc:Choice>
              <mc:Fallback>
                <p:oleObj r:id="rId17" imgW="280813" imgH="229813" progId="">
                  <p:embed/>
                  <p:pic>
                    <p:nvPicPr>
                      <p:cNvPr id="3" name="Object 4">
                        <a:extLst>
                          <a:ext uri="{FF2B5EF4-FFF2-40B4-BE49-F238E27FC236}">
                            <a16:creationId xmlns:a16="http://schemas.microsoft.com/office/drawing/2014/main" id="{95048166-C572-404F-A5B2-597DF4B1F46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14230" y="3298327"/>
                        <a:ext cx="370367" cy="304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 name="Object 5">
            <a:extLst>
              <a:ext uri="{FF2B5EF4-FFF2-40B4-BE49-F238E27FC236}">
                <a16:creationId xmlns:a16="http://schemas.microsoft.com/office/drawing/2014/main" id="{1CF158F2-9709-463B-AD3C-95BE79218265}"/>
              </a:ext>
            </a:extLst>
          </p:cNvPr>
          <p:cNvGraphicFramePr>
            <a:graphicFrameLocks noChangeAspect="1"/>
          </p:cNvGraphicFramePr>
          <p:nvPr>
            <p:extLst>
              <p:ext uri="{D42A27DB-BD31-4B8C-83A1-F6EECF244321}">
                <p14:modId xmlns:p14="http://schemas.microsoft.com/office/powerpoint/2010/main" val="2444840515"/>
              </p:ext>
            </p:extLst>
          </p:nvPr>
        </p:nvGraphicFramePr>
        <p:xfrm>
          <a:off x="4223981" y="3975828"/>
          <a:ext cx="404995" cy="304123"/>
        </p:xfrm>
        <a:graphic>
          <a:graphicData uri="http://schemas.openxmlformats.org/presentationml/2006/ole">
            <mc:AlternateContent xmlns:mc="http://schemas.openxmlformats.org/markup-compatibility/2006">
              <mc:Choice xmlns:v="urn:schemas-microsoft-com:vml" Requires="v">
                <p:oleObj spid="_x0000_s125174" r:id="rId19" imgW="305647" imgH="229315" progId="">
                  <p:embed/>
                </p:oleObj>
              </mc:Choice>
              <mc:Fallback>
                <p:oleObj r:id="rId19" imgW="305647" imgH="229315" progId="">
                  <p:embed/>
                  <p:pic>
                    <p:nvPicPr>
                      <p:cNvPr id="4" name="Object 5">
                        <a:extLst>
                          <a:ext uri="{FF2B5EF4-FFF2-40B4-BE49-F238E27FC236}">
                            <a16:creationId xmlns:a16="http://schemas.microsoft.com/office/drawing/2014/main" id="{F39679FD-3A23-45FB-9C2F-DBB8BB0AE6F6}"/>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223981" y="3975828"/>
                        <a:ext cx="404995" cy="304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 name="弧形 21">
            <a:extLst>
              <a:ext uri="{FF2B5EF4-FFF2-40B4-BE49-F238E27FC236}">
                <a16:creationId xmlns:a16="http://schemas.microsoft.com/office/drawing/2014/main" id="{4DFAE41C-DA3B-4321-A3EA-D6654EB79D07}"/>
              </a:ext>
            </a:extLst>
          </p:cNvPr>
          <p:cNvSpPr>
            <a:spLocks noChangeArrowheads="1"/>
          </p:cNvSpPr>
          <p:nvPr/>
        </p:nvSpPr>
        <p:spPr bwMode="auto">
          <a:xfrm rot="5400000">
            <a:off x="2530224" y="3095073"/>
            <a:ext cx="1558253" cy="1016252"/>
          </a:xfrm>
          <a:custGeom>
            <a:avLst/>
            <a:gdLst>
              <a:gd name="T0" fmla="*/ 826658 w 1643063"/>
              <a:gd name="T1" fmla="*/ 10 h 1071563"/>
              <a:gd name="T2" fmla="*/ 821532 w 1643063"/>
              <a:gd name="T3" fmla="*/ 535782 h 1071563"/>
              <a:gd name="T4" fmla="*/ 774968 w 1643063"/>
              <a:gd name="T5" fmla="*/ 1070702 h 1071563"/>
              <a:gd name="T6" fmla="*/ 11796480 60000 65536"/>
              <a:gd name="T7" fmla="*/ 11796480 60000 65536"/>
              <a:gd name="T8" fmla="*/ 11796480 60000 65536"/>
              <a:gd name="T9" fmla="*/ 774968 w 1643063"/>
              <a:gd name="T10" fmla="*/ 10 h 1071563"/>
              <a:gd name="T11" fmla="*/ 1643063 w 1643063"/>
              <a:gd name="T12" fmla="*/ 1071563 h 1071563"/>
            </a:gdLst>
            <a:ahLst/>
            <a:cxnLst>
              <a:cxn ang="T6">
                <a:pos x="T0" y="T1"/>
              </a:cxn>
              <a:cxn ang="T7">
                <a:pos x="T2" y="T3"/>
              </a:cxn>
              <a:cxn ang="T8">
                <a:pos x="T4" y="T5"/>
              </a:cxn>
            </a:cxnLst>
            <a:rect l="T9" t="T10" r="T11" b="T12"/>
            <a:pathLst>
              <a:path w="1643063" h="1071563" stroke="0">
                <a:moveTo>
                  <a:pt x="826658" y="10"/>
                </a:moveTo>
                <a:lnTo>
                  <a:pt x="826657" y="10"/>
                </a:lnTo>
                <a:cubicBezTo>
                  <a:pt x="1278368" y="1848"/>
                  <a:pt x="1643064" y="241182"/>
                  <a:pt x="1643064" y="535782"/>
                </a:cubicBezTo>
                <a:cubicBezTo>
                  <a:pt x="1643064" y="831686"/>
                  <a:pt x="1275251" y="1071564"/>
                  <a:pt x="821532" y="1071564"/>
                </a:cubicBezTo>
                <a:cubicBezTo>
                  <a:pt x="806000" y="1071563"/>
                  <a:pt x="790473" y="1071276"/>
                  <a:pt x="774966" y="1070702"/>
                </a:cubicBezTo>
                <a:lnTo>
                  <a:pt x="821532" y="535782"/>
                </a:lnTo>
                <a:close/>
              </a:path>
              <a:path w="1643063" h="1071563" fill="none">
                <a:moveTo>
                  <a:pt x="826658" y="10"/>
                </a:moveTo>
                <a:lnTo>
                  <a:pt x="826657" y="10"/>
                </a:lnTo>
                <a:cubicBezTo>
                  <a:pt x="1278368" y="1848"/>
                  <a:pt x="1643064" y="241182"/>
                  <a:pt x="1643064" y="535782"/>
                </a:cubicBezTo>
                <a:cubicBezTo>
                  <a:pt x="1643064" y="831686"/>
                  <a:pt x="1275251" y="1071564"/>
                  <a:pt x="821532" y="1071564"/>
                </a:cubicBezTo>
                <a:cubicBezTo>
                  <a:pt x="806000" y="1071563"/>
                  <a:pt x="790473" y="1071276"/>
                  <a:pt x="774966" y="1070702"/>
                </a:cubicBezTo>
              </a:path>
            </a:pathLst>
          </a:custGeom>
          <a:noFill/>
          <a:ln w="254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sp>
        <p:nvSpPr>
          <p:cNvPr id="50" name="弧形 22">
            <a:extLst>
              <a:ext uri="{FF2B5EF4-FFF2-40B4-BE49-F238E27FC236}">
                <a16:creationId xmlns:a16="http://schemas.microsoft.com/office/drawing/2014/main" id="{FD08E6F0-2987-4B8D-8956-653E7943903D}"/>
              </a:ext>
            </a:extLst>
          </p:cNvPr>
          <p:cNvSpPr>
            <a:spLocks noChangeArrowheads="1"/>
          </p:cNvSpPr>
          <p:nvPr/>
        </p:nvSpPr>
        <p:spPr bwMode="auto">
          <a:xfrm rot="5400000">
            <a:off x="2868975" y="3366073"/>
            <a:ext cx="1964752" cy="1287252"/>
          </a:xfrm>
          <a:custGeom>
            <a:avLst/>
            <a:gdLst>
              <a:gd name="T0" fmla="*/ 1294180 w 2071687"/>
              <a:gd name="T1" fmla="*/ 21445 h 1357313"/>
              <a:gd name="T2" fmla="*/ 1035844 w 2071687"/>
              <a:gd name="T3" fmla="*/ 678657 h 1357313"/>
              <a:gd name="T4" fmla="*/ 1218505 w 2071687"/>
              <a:gd name="T5" fmla="*/ 1346678 h 1357313"/>
              <a:gd name="T6" fmla="*/ 11796480 60000 65536"/>
              <a:gd name="T7" fmla="*/ 11796480 60000 65536"/>
              <a:gd name="T8" fmla="*/ 11796480 60000 65536"/>
              <a:gd name="T9" fmla="*/ 1218505 w 2071687"/>
              <a:gd name="T10" fmla="*/ 21445 h 1357313"/>
              <a:gd name="T11" fmla="*/ 2071687 w 2071687"/>
              <a:gd name="T12" fmla="*/ 1346678 h 1357313"/>
            </a:gdLst>
            <a:ahLst/>
            <a:cxnLst>
              <a:cxn ang="T6">
                <a:pos x="T0" y="T1"/>
              </a:cxn>
              <a:cxn ang="T7">
                <a:pos x="T2" y="T3"/>
              </a:cxn>
              <a:cxn ang="T8">
                <a:pos x="T4" y="T5"/>
              </a:cxn>
            </a:cxnLst>
            <a:rect l="T9" t="T10" r="T11" b="T12"/>
            <a:pathLst>
              <a:path w="2071687" h="1357313" stroke="0">
                <a:moveTo>
                  <a:pt x="1294180" y="21445"/>
                </a:moveTo>
                <a:lnTo>
                  <a:pt x="1294180" y="21444"/>
                </a:lnTo>
                <a:cubicBezTo>
                  <a:pt x="1751830" y="98664"/>
                  <a:pt x="2071687" y="369033"/>
                  <a:pt x="2071687" y="678657"/>
                </a:cubicBezTo>
                <a:cubicBezTo>
                  <a:pt x="2071687" y="1007304"/>
                  <a:pt x="1712262" y="1288725"/>
                  <a:pt x="1218503" y="1346679"/>
                </a:cubicBezTo>
                <a:lnTo>
                  <a:pt x="1035844" y="678657"/>
                </a:lnTo>
                <a:close/>
              </a:path>
              <a:path w="2071687" h="1357313" fill="none">
                <a:moveTo>
                  <a:pt x="1294180" y="21445"/>
                </a:moveTo>
                <a:lnTo>
                  <a:pt x="1294180" y="21444"/>
                </a:lnTo>
                <a:cubicBezTo>
                  <a:pt x="1751830" y="98664"/>
                  <a:pt x="2071687" y="369033"/>
                  <a:pt x="2071687" y="678657"/>
                </a:cubicBezTo>
                <a:cubicBezTo>
                  <a:pt x="2071687" y="1007304"/>
                  <a:pt x="1712262" y="1288725"/>
                  <a:pt x="1218503" y="1346679"/>
                </a:cubicBezTo>
              </a:path>
            </a:pathLst>
          </a:custGeom>
          <a:noFill/>
          <a:ln w="254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51" name="弧形 23">
            <a:extLst>
              <a:ext uri="{FF2B5EF4-FFF2-40B4-BE49-F238E27FC236}">
                <a16:creationId xmlns:a16="http://schemas.microsoft.com/office/drawing/2014/main" id="{E494754C-C3B8-4020-9939-3A1B50278EE1}"/>
              </a:ext>
            </a:extLst>
          </p:cNvPr>
          <p:cNvSpPr>
            <a:spLocks noChangeArrowheads="1"/>
          </p:cNvSpPr>
          <p:nvPr/>
        </p:nvSpPr>
        <p:spPr bwMode="auto">
          <a:xfrm rot="5400000">
            <a:off x="3749730" y="3840328"/>
            <a:ext cx="1626002" cy="1084001"/>
          </a:xfrm>
          <a:custGeom>
            <a:avLst/>
            <a:gdLst>
              <a:gd name="T0" fmla="*/ 862718 w 1714500"/>
              <a:gd name="T1" fmla="*/ 12 h 1143000"/>
              <a:gd name="T2" fmla="*/ 857250 w 1714500"/>
              <a:gd name="T3" fmla="*/ 571500 h 1143000"/>
              <a:gd name="T4" fmla="*/ 1118113 w 1714500"/>
              <a:gd name="T5" fmla="*/ 1115897 h 1143000"/>
              <a:gd name="T6" fmla="*/ 11796480 60000 65536"/>
              <a:gd name="T7" fmla="*/ 11796480 60000 65536"/>
              <a:gd name="T8" fmla="*/ 11796480 60000 65536"/>
              <a:gd name="T9" fmla="*/ 862718 w 1714500"/>
              <a:gd name="T10" fmla="*/ 12 h 1143000"/>
              <a:gd name="T11" fmla="*/ 1714500 w 1714500"/>
              <a:gd name="T12" fmla="*/ 1115897 h 1143000"/>
            </a:gdLst>
            <a:ahLst/>
            <a:cxnLst>
              <a:cxn ang="T6">
                <a:pos x="T0" y="T1"/>
              </a:cxn>
              <a:cxn ang="T7">
                <a:pos x="T2" y="T3"/>
              </a:cxn>
              <a:cxn ang="T8">
                <a:pos x="T4" y="T5"/>
              </a:cxn>
            </a:cxnLst>
            <a:rect l="T9" t="T10" r="T11" b="T12"/>
            <a:pathLst>
              <a:path w="1714500" h="1143000" stroke="0">
                <a:moveTo>
                  <a:pt x="862718" y="12"/>
                </a:moveTo>
                <a:lnTo>
                  <a:pt x="862718" y="11"/>
                </a:lnTo>
                <a:cubicBezTo>
                  <a:pt x="1334020" y="2015"/>
                  <a:pt x="1714500" y="257291"/>
                  <a:pt x="1714500" y="571500"/>
                </a:cubicBezTo>
                <a:cubicBezTo>
                  <a:pt x="1714500" y="820132"/>
                  <a:pt x="1473374" y="1040238"/>
                  <a:pt x="1118111" y="1115897"/>
                </a:cubicBezTo>
                <a:lnTo>
                  <a:pt x="857250" y="571500"/>
                </a:lnTo>
                <a:close/>
              </a:path>
              <a:path w="1714500" h="1143000" fill="none">
                <a:moveTo>
                  <a:pt x="862718" y="12"/>
                </a:moveTo>
                <a:lnTo>
                  <a:pt x="862718" y="11"/>
                </a:lnTo>
                <a:cubicBezTo>
                  <a:pt x="1334020" y="2015"/>
                  <a:pt x="1714500" y="257291"/>
                  <a:pt x="1714500" y="571500"/>
                </a:cubicBezTo>
                <a:cubicBezTo>
                  <a:pt x="1714500" y="820132"/>
                  <a:pt x="1473374" y="1040238"/>
                  <a:pt x="1118111" y="1115897"/>
                </a:cubicBezTo>
              </a:path>
            </a:pathLst>
          </a:custGeom>
          <a:noFill/>
          <a:ln w="254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52" name="Object 6">
            <a:extLst>
              <a:ext uri="{FF2B5EF4-FFF2-40B4-BE49-F238E27FC236}">
                <a16:creationId xmlns:a16="http://schemas.microsoft.com/office/drawing/2014/main" id="{7B06FC16-1261-47E5-BD13-D9C5CA0F9679}"/>
              </a:ext>
            </a:extLst>
          </p:cNvPr>
          <p:cNvGraphicFramePr>
            <a:graphicFrameLocks noChangeAspect="1"/>
          </p:cNvGraphicFramePr>
          <p:nvPr>
            <p:extLst>
              <p:ext uri="{D42A27DB-BD31-4B8C-83A1-F6EECF244321}">
                <p14:modId xmlns:p14="http://schemas.microsoft.com/office/powerpoint/2010/main" val="142341224"/>
              </p:ext>
            </p:extLst>
          </p:nvPr>
        </p:nvGraphicFramePr>
        <p:xfrm>
          <a:off x="5036982" y="4111328"/>
          <a:ext cx="388434" cy="304123"/>
        </p:xfrm>
        <a:graphic>
          <a:graphicData uri="http://schemas.openxmlformats.org/presentationml/2006/ole">
            <mc:AlternateContent xmlns:mc="http://schemas.openxmlformats.org/markup-compatibility/2006">
              <mc:Choice xmlns:v="urn:schemas-microsoft-com:vml" Requires="v">
                <p:oleObj spid="_x0000_s125175" r:id="rId21" imgW="293052" imgH="229414" progId="">
                  <p:embed/>
                </p:oleObj>
              </mc:Choice>
              <mc:Fallback>
                <p:oleObj r:id="rId21" imgW="293052" imgH="229414" progId="">
                  <p:embed/>
                  <p:pic>
                    <p:nvPicPr>
                      <p:cNvPr id="5" name="Object 6">
                        <a:extLst>
                          <a:ext uri="{FF2B5EF4-FFF2-40B4-BE49-F238E27FC236}">
                            <a16:creationId xmlns:a16="http://schemas.microsoft.com/office/drawing/2014/main" id="{110BB2F6-8476-4BD7-B9E4-B3D2211248D6}"/>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36982" y="4111328"/>
                        <a:ext cx="388434" cy="304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3" name="Object 7">
            <a:extLst>
              <a:ext uri="{FF2B5EF4-FFF2-40B4-BE49-F238E27FC236}">
                <a16:creationId xmlns:a16="http://schemas.microsoft.com/office/drawing/2014/main" id="{4EC47C48-2C42-4F24-851B-C100FF98F86D}"/>
              </a:ext>
            </a:extLst>
          </p:cNvPr>
          <p:cNvGraphicFramePr>
            <a:graphicFrameLocks noChangeAspect="1"/>
          </p:cNvGraphicFramePr>
          <p:nvPr>
            <p:extLst>
              <p:ext uri="{D42A27DB-BD31-4B8C-83A1-F6EECF244321}">
                <p14:modId xmlns:p14="http://schemas.microsoft.com/office/powerpoint/2010/main" val="3504408242"/>
              </p:ext>
            </p:extLst>
          </p:nvPr>
        </p:nvGraphicFramePr>
        <p:xfrm>
          <a:off x="5849983" y="3637077"/>
          <a:ext cx="404995" cy="304123"/>
        </p:xfrm>
        <a:graphic>
          <a:graphicData uri="http://schemas.openxmlformats.org/presentationml/2006/ole">
            <mc:AlternateContent xmlns:mc="http://schemas.openxmlformats.org/markup-compatibility/2006">
              <mc:Choice xmlns:v="urn:schemas-microsoft-com:vml" Requires="v">
                <p:oleObj spid="_x0000_s125176" r:id="rId23" imgW="305647" imgH="229315" progId="">
                  <p:embed/>
                </p:oleObj>
              </mc:Choice>
              <mc:Fallback>
                <p:oleObj r:id="rId23" imgW="305647" imgH="229315" progId="">
                  <p:embed/>
                  <p:pic>
                    <p:nvPicPr>
                      <p:cNvPr id="6" name="Object 7">
                        <a:extLst>
                          <a:ext uri="{FF2B5EF4-FFF2-40B4-BE49-F238E27FC236}">
                            <a16:creationId xmlns:a16="http://schemas.microsoft.com/office/drawing/2014/main" id="{2D7E129A-4BDB-4981-BD15-C425D3785A79}"/>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849983" y="3637077"/>
                        <a:ext cx="404995" cy="3041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4" name="弧形 24">
            <a:extLst>
              <a:ext uri="{FF2B5EF4-FFF2-40B4-BE49-F238E27FC236}">
                <a16:creationId xmlns:a16="http://schemas.microsoft.com/office/drawing/2014/main" id="{BA88702E-CFA1-4BE3-B627-F0707A70736F}"/>
              </a:ext>
            </a:extLst>
          </p:cNvPr>
          <p:cNvSpPr>
            <a:spLocks noChangeArrowheads="1"/>
          </p:cNvSpPr>
          <p:nvPr/>
        </p:nvSpPr>
        <p:spPr bwMode="auto">
          <a:xfrm rot="5400000">
            <a:off x="4528852" y="3399949"/>
            <a:ext cx="1761502" cy="1016251"/>
          </a:xfrm>
          <a:custGeom>
            <a:avLst/>
            <a:gdLst>
              <a:gd name="T0" fmla="*/ 933814 w 1857375"/>
              <a:gd name="T1" fmla="*/ 8 h 1071562"/>
              <a:gd name="T2" fmla="*/ 928688 w 1857375"/>
              <a:gd name="T3" fmla="*/ 535781 h 1071562"/>
              <a:gd name="T4" fmla="*/ 1194775 w 1857375"/>
              <a:gd name="T5" fmla="*/ 1049099 h 1071562"/>
              <a:gd name="T6" fmla="*/ 11796480 60000 65536"/>
              <a:gd name="T7" fmla="*/ 11796480 60000 65536"/>
              <a:gd name="T8" fmla="*/ 11796480 60000 65536"/>
              <a:gd name="T9" fmla="*/ 933814 w 1857375"/>
              <a:gd name="T10" fmla="*/ 8 h 1071562"/>
              <a:gd name="T11" fmla="*/ 1857375 w 1857375"/>
              <a:gd name="T12" fmla="*/ 1049099 h 1071562"/>
            </a:gdLst>
            <a:ahLst/>
            <a:cxnLst>
              <a:cxn ang="T6">
                <a:pos x="T0" y="T1"/>
              </a:cxn>
              <a:cxn ang="T7">
                <a:pos x="T2" y="T3"/>
              </a:cxn>
              <a:cxn ang="T8">
                <a:pos x="T4" y="T5"/>
              </a:cxn>
            </a:cxnLst>
            <a:rect l="T9" t="T10" r="T11" b="T12"/>
            <a:pathLst>
              <a:path w="1857375" h="1071562" stroke="0">
                <a:moveTo>
                  <a:pt x="933814" y="8"/>
                </a:moveTo>
                <a:lnTo>
                  <a:pt x="933813" y="8"/>
                </a:lnTo>
                <a:cubicBezTo>
                  <a:pt x="1444705" y="1635"/>
                  <a:pt x="1857376" y="241031"/>
                  <a:pt x="1857376" y="535781"/>
                </a:cubicBezTo>
                <a:cubicBezTo>
                  <a:pt x="1857376" y="772557"/>
                  <a:pt x="1587981" y="981258"/>
                  <a:pt x="1194774" y="1049099"/>
                </a:cubicBezTo>
                <a:lnTo>
                  <a:pt x="928688" y="535781"/>
                </a:lnTo>
                <a:close/>
              </a:path>
              <a:path w="1857375" h="1071562" fill="none">
                <a:moveTo>
                  <a:pt x="933814" y="8"/>
                </a:moveTo>
                <a:lnTo>
                  <a:pt x="933813" y="8"/>
                </a:lnTo>
                <a:cubicBezTo>
                  <a:pt x="1444705" y="1635"/>
                  <a:pt x="1857376" y="241031"/>
                  <a:pt x="1857376" y="535781"/>
                </a:cubicBezTo>
                <a:cubicBezTo>
                  <a:pt x="1857376" y="772557"/>
                  <a:pt x="1587981" y="981258"/>
                  <a:pt x="1194774" y="1049099"/>
                </a:cubicBezTo>
              </a:path>
            </a:pathLst>
          </a:custGeom>
          <a:noFill/>
          <a:ln w="254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graphicFrame>
        <p:nvGraphicFramePr>
          <p:cNvPr id="55" name="Object 8">
            <a:extLst>
              <a:ext uri="{FF2B5EF4-FFF2-40B4-BE49-F238E27FC236}">
                <a16:creationId xmlns:a16="http://schemas.microsoft.com/office/drawing/2014/main" id="{4A70AB3D-DC4C-4B7A-B4BD-6476E271371C}"/>
              </a:ext>
            </a:extLst>
          </p:cNvPr>
          <p:cNvGraphicFramePr>
            <a:graphicFrameLocks noChangeAspect="1"/>
          </p:cNvGraphicFramePr>
          <p:nvPr>
            <p:extLst>
              <p:ext uri="{D42A27DB-BD31-4B8C-83A1-F6EECF244321}">
                <p14:modId xmlns:p14="http://schemas.microsoft.com/office/powerpoint/2010/main" val="489495289"/>
              </p:ext>
            </p:extLst>
          </p:nvPr>
        </p:nvGraphicFramePr>
        <p:xfrm>
          <a:off x="6120984" y="3162827"/>
          <a:ext cx="454678" cy="236372"/>
        </p:xfrm>
        <a:graphic>
          <a:graphicData uri="http://schemas.openxmlformats.org/presentationml/2006/ole">
            <mc:AlternateContent xmlns:mc="http://schemas.openxmlformats.org/markup-compatibility/2006">
              <mc:Choice xmlns:v="urn:schemas-microsoft-com:vml" Requires="v">
                <p:oleObj spid="_x0000_s125177" r:id="rId25" imgW="343515" imgH="178271" progId="">
                  <p:embed/>
                </p:oleObj>
              </mc:Choice>
              <mc:Fallback>
                <p:oleObj r:id="rId25" imgW="343515" imgH="178271" progId="">
                  <p:embed/>
                  <p:pic>
                    <p:nvPicPr>
                      <p:cNvPr id="7" name="Object 8">
                        <a:extLst>
                          <a:ext uri="{FF2B5EF4-FFF2-40B4-BE49-F238E27FC236}">
                            <a16:creationId xmlns:a16="http://schemas.microsoft.com/office/drawing/2014/main" id="{B4159C2C-8BE5-4740-9914-78F220C54B11}"/>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120984" y="3162827"/>
                        <a:ext cx="454678" cy="236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6" name="弧形 14">
            <a:extLst>
              <a:ext uri="{FF2B5EF4-FFF2-40B4-BE49-F238E27FC236}">
                <a16:creationId xmlns:a16="http://schemas.microsoft.com/office/drawing/2014/main" id="{EFA4FEA9-6C25-4315-ADEB-8A099BD26322}"/>
              </a:ext>
            </a:extLst>
          </p:cNvPr>
          <p:cNvSpPr>
            <a:spLocks noChangeArrowheads="1"/>
          </p:cNvSpPr>
          <p:nvPr/>
        </p:nvSpPr>
        <p:spPr bwMode="auto">
          <a:xfrm rot="5400000">
            <a:off x="2157599" y="960949"/>
            <a:ext cx="4674757" cy="3794005"/>
          </a:xfrm>
          <a:custGeom>
            <a:avLst/>
            <a:gdLst>
              <a:gd name="T0" fmla="*/ 3134278 w 4985717"/>
              <a:gd name="T1" fmla="*/ 67703 h 4021661"/>
              <a:gd name="T2" fmla="*/ 2492859 w 4985717"/>
              <a:gd name="T3" fmla="*/ 2010831 h 4021661"/>
              <a:gd name="T4" fmla="*/ 3096345 w 4985717"/>
              <a:gd name="T5" fmla="*/ 3961848 h 4021661"/>
              <a:gd name="T6" fmla="*/ 11796480 60000 65536"/>
              <a:gd name="T7" fmla="*/ 11796480 60000 65536"/>
              <a:gd name="T8" fmla="*/ 11796480 60000 65536"/>
              <a:gd name="T9" fmla="*/ 3096345 w 4985717"/>
              <a:gd name="T10" fmla="*/ 67703 h 4021661"/>
              <a:gd name="T11" fmla="*/ 4985717 w 4985717"/>
              <a:gd name="T12" fmla="*/ 3961848 h 4021661"/>
            </a:gdLst>
            <a:ahLst/>
            <a:cxnLst>
              <a:cxn ang="T6">
                <a:pos x="T0" y="T1"/>
              </a:cxn>
              <a:cxn ang="T7">
                <a:pos x="T2" y="T3"/>
              </a:cxn>
              <a:cxn ang="T8">
                <a:pos x="T4" y="T5"/>
              </a:cxn>
            </a:cxnLst>
            <a:rect l="T9" t="T10" r="T11" b="T12"/>
            <a:pathLst>
              <a:path w="4985717" h="4021661" stroke="0">
                <a:moveTo>
                  <a:pt x="3134278" y="67703"/>
                </a:moveTo>
                <a:lnTo>
                  <a:pt x="3134278" y="67702"/>
                </a:lnTo>
                <a:cubicBezTo>
                  <a:pt x="4225977" y="302179"/>
                  <a:pt x="4985718" y="1099543"/>
                  <a:pt x="4985718" y="2010831"/>
                </a:cubicBezTo>
                <a:cubicBezTo>
                  <a:pt x="4985718" y="2933885"/>
                  <a:pt x="4206628" y="3738393"/>
                  <a:pt x="3096341" y="3961850"/>
                </a:cubicBezTo>
                <a:lnTo>
                  <a:pt x="2492859" y="2010831"/>
                </a:lnTo>
                <a:close/>
              </a:path>
              <a:path w="4985717" h="4021661" fill="none">
                <a:moveTo>
                  <a:pt x="3134278" y="67703"/>
                </a:moveTo>
                <a:lnTo>
                  <a:pt x="3134278" y="67702"/>
                </a:lnTo>
                <a:cubicBezTo>
                  <a:pt x="4225977" y="302179"/>
                  <a:pt x="4985718" y="1099543"/>
                  <a:pt x="4985718" y="2010831"/>
                </a:cubicBezTo>
                <a:cubicBezTo>
                  <a:pt x="4985718" y="2933885"/>
                  <a:pt x="4206628" y="3738393"/>
                  <a:pt x="3096341" y="3961850"/>
                </a:cubicBezTo>
              </a:path>
            </a:pathLst>
          </a:custGeom>
          <a:noFill/>
          <a:ln w="38100" cmpd="sng">
            <a:solidFill>
              <a:srgbClr val="BB1528"/>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4" name="标注: 线形 3">
            <a:extLst>
              <a:ext uri="{FF2B5EF4-FFF2-40B4-BE49-F238E27FC236}">
                <a16:creationId xmlns:a16="http://schemas.microsoft.com/office/drawing/2014/main" id="{30425A33-42C6-4C99-A018-FC7E8FC3057E}"/>
              </a:ext>
            </a:extLst>
          </p:cNvPr>
          <p:cNvSpPr/>
          <p:nvPr/>
        </p:nvSpPr>
        <p:spPr bwMode="auto">
          <a:xfrm>
            <a:off x="6876256" y="2737283"/>
            <a:ext cx="2016224" cy="3356013"/>
          </a:xfrm>
          <a:prstGeom prst="borderCallout1">
            <a:avLst>
              <a:gd name="adj1" fmla="val 44206"/>
              <a:gd name="adj2" fmla="val -3545"/>
              <a:gd name="adj3" fmla="val 67915"/>
              <a:gd name="adj4" fmla="val -29184"/>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貌似长期平均成本曲线也是成</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U</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型。</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lang="en-US" altLang="zh-CN" dirty="0"/>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短期平均成本曲线成</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U</a:t>
            </a:r>
            <a:r>
              <a:rPr lang="zh-CN" altLang="en-US" dirty="0"/>
              <a:t>形，是因为边际报酬递减规律存在。</a:t>
            </a:r>
            <a:endParaRPr lang="en-US" altLang="zh-CN" dirty="0"/>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lang="zh-CN" altLang="en-US" dirty="0"/>
              <a:t>长期，各种要素都可变，边际报酬递减规律不再适用。</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p:txBody>
      </p:sp>
      <p:sp>
        <p:nvSpPr>
          <p:cNvPr id="5" name="标注: 线形 4">
            <a:extLst>
              <a:ext uri="{FF2B5EF4-FFF2-40B4-BE49-F238E27FC236}">
                <a16:creationId xmlns:a16="http://schemas.microsoft.com/office/drawing/2014/main" id="{B9B7178E-593D-4262-9503-1E638BFCB38E}"/>
              </a:ext>
            </a:extLst>
          </p:cNvPr>
          <p:cNvSpPr/>
          <p:nvPr/>
        </p:nvSpPr>
        <p:spPr bwMode="auto">
          <a:xfrm>
            <a:off x="532655" y="3399199"/>
            <a:ext cx="1553996" cy="2910121"/>
          </a:xfrm>
          <a:prstGeom prst="borderCallout1">
            <a:avLst>
              <a:gd name="adj1" fmla="val 30447"/>
              <a:gd name="adj2" fmla="val 99543"/>
              <a:gd name="adj3" fmla="val 4375"/>
              <a:gd name="adj4" fmla="val 112233"/>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经验表明，长期平均成本曲线也的确是</a:t>
            </a:r>
            <a:r>
              <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U</a:t>
            </a:r>
            <a:r>
              <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rPr>
              <a:t>形的。其背后的机理是：随着产量增加，企业会从规模经济变为规模不经济。</a:t>
            </a:r>
          </a:p>
        </p:txBody>
      </p:sp>
    </p:spTree>
    <p:extLst>
      <p:ext uri="{BB962C8B-B14F-4D97-AF65-F5344CB8AC3E}">
        <p14:creationId xmlns:p14="http://schemas.microsoft.com/office/powerpoint/2010/main" val="2614517096"/>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animEffect transition="in" filter="fade">
                                      <p:cBhvr>
                                        <p:cTn id="9" dur="500"/>
                                        <p:tgtEl>
                                          <p:spTgt spid="32"/>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33"/>
                                        </p:tgtEl>
                                        <p:attrNameLst>
                                          <p:attrName>style.visibility</p:attrName>
                                        </p:attrNameLst>
                                      </p:cBhvr>
                                      <p:to>
                                        <p:strVal val="visible"/>
                                      </p:to>
                                    </p:set>
                                    <p:anim calcmode="lin" valueType="num">
                                      <p:cBhvr>
                                        <p:cTn id="14" dur="500" fill="hold"/>
                                        <p:tgtEl>
                                          <p:spTgt spid="33"/>
                                        </p:tgtEl>
                                        <p:attrNameLst>
                                          <p:attrName>ppt_w</p:attrName>
                                        </p:attrNameLst>
                                      </p:cBhvr>
                                      <p:tavLst>
                                        <p:tav tm="0">
                                          <p:val>
                                            <p:fltVal val="0"/>
                                          </p:val>
                                        </p:tav>
                                        <p:tav tm="100000">
                                          <p:val>
                                            <p:strVal val="#ppt_w"/>
                                          </p:val>
                                        </p:tav>
                                      </p:tavLst>
                                    </p:anim>
                                    <p:anim calcmode="lin" valueType="num">
                                      <p:cBhvr>
                                        <p:cTn id="15" dur="500" fill="hold"/>
                                        <p:tgtEl>
                                          <p:spTgt spid="33"/>
                                        </p:tgtEl>
                                        <p:attrNameLst>
                                          <p:attrName>ppt_h</p:attrName>
                                        </p:attrNameLst>
                                      </p:cBhvr>
                                      <p:tavLst>
                                        <p:tav tm="0">
                                          <p:val>
                                            <p:fltVal val="0"/>
                                          </p:val>
                                        </p:tav>
                                        <p:tav tm="100000">
                                          <p:val>
                                            <p:strVal val="#ppt_h"/>
                                          </p:val>
                                        </p:tav>
                                      </p:tavLst>
                                    </p:anim>
                                    <p:animEffect transition="in" filter="fade">
                                      <p:cBhvr>
                                        <p:cTn id="16" dur="500"/>
                                        <p:tgtEl>
                                          <p:spTgt spid="33"/>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7"/>
                                        </p:tgtEl>
                                        <p:attrNameLst>
                                          <p:attrName>style.visibility</p:attrName>
                                        </p:attrNameLst>
                                      </p:cBhvr>
                                      <p:to>
                                        <p:strVal val="visible"/>
                                      </p:to>
                                    </p:set>
                                    <p:animEffect transition="in" filter="fade">
                                      <p:cBhvr>
                                        <p:cTn id="26" dur="500"/>
                                        <p:tgtEl>
                                          <p:spTgt spid="37"/>
                                        </p:tgtEl>
                                      </p:cBhvr>
                                    </p:animEffect>
                                  </p:childTnLst>
                                </p:cTn>
                              </p:par>
                              <p:par>
                                <p:cTn id="27" presetID="10" presetClass="entr" presetSubtype="0"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animEffect transition="in" filter="fade">
                                      <p:cBhvr>
                                        <p:cTn id="29" dur="500"/>
                                        <p:tgtEl>
                                          <p:spTgt spid="35"/>
                                        </p:tgtEl>
                                      </p:cBhvr>
                                    </p:animEffect>
                                  </p:childTnLst>
                                </p:cTn>
                              </p:par>
                              <p:par>
                                <p:cTn id="30" presetID="10" presetClass="entr" presetSubtype="0" fill="hold" nodeType="with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500"/>
                                        <p:tgtEl>
                                          <p:spTgt spid="36"/>
                                        </p:tgtEl>
                                      </p:cBhvr>
                                    </p:animEffect>
                                  </p:childTnLst>
                                </p:cTn>
                              </p:par>
                              <p:par>
                                <p:cTn id="33" presetID="10"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animEffect transition="in" filter="fade">
                                      <p:cBhvr>
                                        <p:cTn id="35" dur="500"/>
                                        <p:tgtEl>
                                          <p:spTgt spid="34"/>
                                        </p:tgtEl>
                                      </p:cBhvr>
                                    </p:animEffect>
                                  </p:childTnLst>
                                </p:cTn>
                              </p:par>
                              <p:par>
                                <p:cTn id="36" presetID="10" presetClass="entr" presetSubtype="0" fill="hold" nodeType="with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fade">
                                      <p:cBhvr>
                                        <p:cTn id="38" dur="500"/>
                                        <p:tgtEl>
                                          <p:spTgt spid="3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wipe(left)">
                                      <p:cBhvr>
                                        <p:cTn id="43" dur="500"/>
                                        <p:tgtEl>
                                          <p:spTgt spid="49"/>
                                        </p:tgtEl>
                                      </p:cBhvr>
                                    </p:animEffect>
                                  </p:childTnLst>
                                </p:cTn>
                              </p:par>
                              <p:par>
                                <p:cTn id="44" presetID="22" presetClass="entr" presetSubtype="8" fill="hold" nodeType="with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wipe(left)">
                                      <p:cBhvr>
                                        <p:cTn id="46" dur="500"/>
                                        <p:tgtEl>
                                          <p:spTgt spid="4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50"/>
                                        </p:tgtEl>
                                        <p:attrNameLst>
                                          <p:attrName>style.visibility</p:attrName>
                                        </p:attrNameLst>
                                      </p:cBhvr>
                                      <p:to>
                                        <p:strVal val="visible"/>
                                      </p:to>
                                    </p:set>
                                    <p:animEffect transition="in" filter="wipe(left)">
                                      <p:cBhvr>
                                        <p:cTn id="51" dur="500"/>
                                        <p:tgtEl>
                                          <p:spTgt spid="50"/>
                                        </p:tgtEl>
                                      </p:cBhvr>
                                    </p:animEffect>
                                  </p:childTnLst>
                                </p:cTn>
                              </p:par>
                              <p:par>
                                <p:cTn id="52" presetID="22" presetClass="entr" presetSubtype="8" fill="hold" nodeType="withEffect">
                                  <p:stCondLst>
                                    <p:cond delay="0"/>
                                  </p:stCondLst>
                                  <p:childTnLst>
                                    <p:set>
                                      <p:cBhvr>
                                        <p:cTn id="53" dur="1" fill="hold">
                                          <p:stCondLst>
                                            <p:cond delay="0"/>
                                          </p:stCondLst>
                                        </p:cTn>
                                        <p:tgtEl>
                                          <p:spTgt spid="48"/>
                                        </p:tgtEl>
                                        <p:attrNameLst>
                                          <p:attrName>style.visibility</p:attrName>
                                        </p:attrNameLst>
                                      </p:cBhvr>
                                      <p:to>
                                        <p:strVal val="visible"/>
                                      </p:to>
                                    </p:set>
                                    <p:animEffect transition="in" filter="wipe(left)">
                                      <p:cBhvr>
                                        <p:cTn id="54" dur="500"/>
                                        <p:tgtEl>
                                          <p:spTgt spid="48"/>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grpId="0" nodeType="clickEffect">
                                  <p:stCondLst>
                                    <p:cond delay="0"/>
                                  </p:stCondLst>
                                  <p:childTnLst>
                                    <p:set>
                                      <p:cBhvr>
                                        <p:cTn id="58" dur="1" fill="hold">
                                          <p:stCondLst>
                                            <p:cond delay="0"/>
                                          </p:stCondLst>
                                        </p:cTn>
                                        <p:tgtEl>
                                          <p:spTgt spid="51"/>
                                        </p:tgtEl>
                                        <p:attrNameLst>
                                          <p:attrName>style.visibility</p:attrName>
                                        </p:attrNameLst>
                                      </p:cBhvr>
                                      <p:to>
                                        <p:strVal val="visible"/>
                                      </p:to>
                                    </p:set>
                                    <p:animEffect transition="in" filter="wipe(left)">
                                      <p:cBhvr>
                                        <p:cTn id="59" dur="500"/>
                                        <p:tgtEl>
                                          <p:spTgt spid="51"/>
                                        </p:tgtEl>
                                      </p:cBhvr>
                                    </p:animEffect>
                                  </p:childTnLst>
                                </p:cTn>
                              </p:par>
                              <p:par>
                                <p:cTn id="60" presetID="22" presetClass="entr" presetSubtype="8" fill="hold" nodeType="withEffect">
                                  <p:stCondLst>
                                    <p:cond delay="0"/>
                                  </p:stCondLst>
                                  <p:childTnLst>
                                    <p:set>
                                      <p:cBhvr>
                                        <p:cTn id="61" dur="1" fill="hold">
                                          <p:stCondLst>
                                            <p:cond delay="0"/>
                                          </p:stCondLst>
                                        </p:cTn>
                                        <p:tgtEl>
                                          <p:spTgt spid="52"/>
                                        </p:tgtEl>
                                        <p:attrNameLst>
                                          <p:attrName>style.visibility</p:attrName>
                                        </p:attrNameLst>
                                      </p:cBhvr>
                                      <p:to>
                                        <p:strVal val="visible"/>
                                      </p:to>
                                    </p:set>
                                    <p:animEffect transition="in" filter="wipe(left)">
                                      <p:cBhvr>
                                        <p:cTn id="62" dur="500"/>
                                        <p:tgtEl>
                                          <p:spTgt spid="52"/>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53"/>
                                        </p:tgtEl>
                                        <p:attrNameLst>
                                          <p:attrName>style.visibility</p:attrName>
                                        </p:attrNameLst>
                                      </p:cBhvr>
                                      <p:to>
                                        <p:strVal val="visible"/>
                                      </p:to>
                                    </p:set>
                                    <p:animEffect transition="in" filter="wipe(left)">
                                      <p:cBhvr>
                                        <p:cTn id="67" dur="500"/>
                                        <p:tgtEl>
                                          <p:spTgt spid="53"/>
                                        </p:tgtEl>
                                      </p:cBhvr>
                                    </p:animEffect>
                                  </p:childTnLst>
                                </p:cTn>
                              </p:par>
                              <p:par>
                                <p:cTn id="68" presetID="22" presetClass="entr" presetSubtype="8" fill="hold" grpId="0" nodeType="withEffect">
                                  <p:stCondLst>
                                    <p:cond delay="0"/>
                                  </p:stCondLst>
                                  <p:childTnLst>
                                    <p:set>
                                      <p:cBhvr>
                                        <p:cTn id="69" dur="1" fill="hold">
                                          <p:stCondLst>
                                            <p:cond delay="0"/>
                                          </p:stCondLst>
                                        </p:cTn>
                                        <p:tgtEl>
                                          <p:spTgt spid="54"/>
                                        </p:tgtEl>
                                        <p:attrNameLst>
                                          <p:attrName>style.visibility</p:attrName>
                                        </p:attrNameLst>
                                      </p:cBhvr>
                                      <p:to>
                                        <p:strVal val="visible"/>
                                      </p:to>
                                    </p:set>
                                    <p:animEffect transition="in" filter="wipe(left)">
                                      <p:cBhvr>
                                        <p:cTn id="70" dur="500"/>
                                        <p:tgtEl>
                                          <p:spTgt spid="54"/>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4" fill="hold" nodeType="clickEffect">
                                  <p:stCondLst>
                                    <p:cond delay="0"/>
                                  </p:stCondLst>
                                  <p:childTnLst>
                                    <p:set>
                                      <p:cBhvr>
                                        <p:cTn id="74" dur="1" fill="hold">
                                          <p:stCondLst>
                                            <p:cond delay="0"/>
                                          </p:stCondLst>
                                        </p:cTn>
                                        <p:tgtEl>
                                          <p:spTgt spid="44"/>
                                        </p:tgtEl>
                                        <p:attrNameLst>
                                          <p:attrName>style.visibility</p:attrName>
                                        </p:attrNameLst>
                                      </p:cBhvr>
                                      <p:to>
                                        <p:strVal val="visible"/>
                                      </p:to>
                                    </p:set>
                                    <p:animEffect transition="in" filter="wipe(down)">
                                      <p:cBhvr>
                                        <p:cTn id="75" dur="500"/>
                                        <p:tgtEl>
                                          <p:spTgt spid="44"/>
                                        </p:tgtEl>
                                      </p:cBhvr>
                                    </p:animEffect>
                                  </p:childTnLst>
                                </p:cTn>
                              </p:par>
                              <p:par>
                                <p:cTn id="76" presetID="22" presetClass="entr" presetSubtype="4" fill="hold" nodeType="withEffect">
                                  <p:stCondLst>
                                    <p:cond delay="0"/>
                                  </p:stCondLst>
                                  <p:childTnLst>
                                    <p:set>
                                      <p:cBhvr>
                                        <p:cTn id="77" dur="1" fill="hold">
                                          <p:stCondLst>
                                            <p:cond delay="0"/>
                                          </p:stCondLst>
                                        </p:cTn>
                                        <p:tgtEl>
                                          <p:spTgt spid="39"/>
                                        </p:tgtEl>
                                        <p:attrNameLst>
                                          <p:attrName>style.visibility</p:attrName>
                                        </p:attrNameLst>
                                      </p:cBhvr>
                                      <p:to>
                                        <p:strVal val="visible"/>
                                      </p:to>
                                    </p:set>
                                    <p:animEffect transition="in" filter="wipe(down)">
                                      <p:cBhvr>
                                        <p:cTn id="78" dur="500"/>
                                        <p:tgtEl>
                                          <p:spTgt spid="39"/>
                                        </p:tgtEl>
                                      </p:cBhvr>
                                    </p:animEffect>
                                  </p:childTnLst>
                                </p:cTn>
                              </p:par>
                            </p:childTnLst>
                          </p:cTn>
                        </p:par>
                      </p:childTnLst>
                    </p:cTn>
                  </p:par>
                  <p:par>
                    <p:cTn id="79" fill="hold">
                      <p:stCondLst>
                        <p:cond delay="indefinite"/>
                      </p:stCondLst>
                      <p:childTnLst>
                        <p:par>
                          <p:cTn id="80" fill="hold">
                            <p:stCondLst>
                              <p:cond delay="0"/>
                            </p:stCondLst>
                            <p:childTnLst>
                              <p:par>
                                <p:cTn id="81" presetID="22" presetClass="entr" presetSubtype="4" fill="hold" nodeType="clickEffect">
                                  <p:stCondLst>
                                    <p:cond delay="0"/>
                                  </p:stCondLst>
                                  <p:childTnLst>
                                    <p:set>
                                      <p:cBhvr>
                                        <p:cTn id="82" dur="1" fill="hold">
                                          <p:stCondLst>
                                            <p:cond delay="0"/>
                                          </p:stCondLst>
                                        </p:cTn>
                                        <p:tgtEl>
                                          <p:spTgt spid="40"/>
                                        </p:tgtEl>
                                        <p:attrNameLst>
                                          <p:attrName>style.visibility</p:attrName>
                                        </p:attrNameLst>
                                      </p:cBhvr>
                                      <p:to>
                                        <p:strVal val="visible"/>
                                      </p:to>
                                    </p:set>
                                    <p:animEffect transition="in" filter="wipe(down)">
                                      <p:cBhvr>
                                        <p:cTn id="83" dur="500"/>
                                        <p:tgtEl>
                                          <p:spTgt spid="40"/>
                                        </p:tgtEl>
                                      </p:cBhvr>
                                    </p:animEffect>
                                  </p:childTnLst>
                                </p:cTn>
                              </p:par>
                              <p:par>
                                <p:cTn id="84" presetID="22" presetClass="entr" presetSubtype="4" fill="hold" nodeType="withEffect">
                                  <p:stCondLst>
                                    <p:cond delay="0"/>
                                  </p:stCondLst>
                                  <p:childTnLst>
                                    <p:set>
                                      <p:cBhvr>
                                        <p:cTn id="85" dur="1" fill="hold">
                                          <p:stCondLst>
                                            <p:cond delay="0"/>
                                          </p:stCondLst>
                                        </p:cTn>
                                        <p:tgtEl>
                                          <p:spTgt spid="45"/>
                                        </p:tgtEl>
                                        <p:attrNameLst>
                                          <p:attrName>style.visibility</p:attrName>
                                        </p:attrNameLst>
                                      </p:cBhvr>
                                      <p:to>
                                        <p:strVal val="visible"/>
                                      </p:to>
                                    </p:set>
                                    <p:animEffect transition="in" filter="wipe(down)">
                                      <p:cBhvr>
                                        <p:cTn id="86" dur="500"/>
                                        <p:tgtEl>
                                          <p:spTgt spid="45"/>
                                        </p:tgtEl>
                                      </p:cBhvr>
                                    </p:animEffect>
                                  </p:childTnLst>
                                </p:cTn>
                              </p:par>
                            </p:childTnLst>
                          </p:cTn>
                        </p:par>
                      </p:childTnLst>
                    </p:cTn>
                  </p:par>
                  <p:par>
                    <p:cTn id="87" fill="hold">
                      <p:stCondLst>
                        <p:cond delay="indefinite"/>
                      </p:stCondLst>
                      <p:childTnLst>
                        <p:par>
                          <p:cTn id="88" fill="hold">
                            <p:stCondLst>
                              <p:cond delay="0"/>
                            </p:stCondLst>
                            <p:childTnLst>
                              <p:par>
                                <p:cTn id="89" presetID="22" presetClass="entr" presetSubtype="4" fill="hold" nodeType="clickEffect">
                                  <p:stCondLst>
                                    <p:cond delay="0"/>
                                  </p:stCondLst>
                                  <p:childTnLst>
                                    <p:set>
                                      <p:cBhvr>
                                        <p:cTn id="90" dur="1" fill="hold">
                                          <p:stCondLst>
                                            <p:cond delay="0"/>
                                          </p:stCondLst>
                                        </p:cTn>
                                        <p:tgtEl>
                                          <p:spTgt spid="41"/>
                                        </p:tgtEl>
                                        <p:attrNameLst>
                                          <p:attrName>style.visibility</p:attrName>
                                        </p:attrNameLst>
                                      </p:cBhvr>
                                      <p:to>
                                        <p:strVal val="visible"/>
                                      </p:to>
                                    </p:set>
                                    <p:animEffect transition="in" filter="wipe(down)">
                                      <p:cBhvr>
                                        <p:cTn id="91" dur="500"/>
                                        <p:tgtEl>
                                          <p:spTgt spid="41"/>
                                        </p:tgtEl>
                                      </p:cBhvr>
                                    </p:animEffect>
                                  </p:childTnLst>
                                </p:cTn>
                              </p:par>
                              <p:par>
                                <p:cTn id="92" presetID="22" presetClass="entr" presetSubtype="4" fill="hold" nodeType="withEffect">
                                  <p:stCondLst>
                                    <p:cond delay="0"/>
                                  </p:stCondLst>
                                  <p:childTnLst>
                                    <p:set>
                                      <p:cBhvr>
                                        <p:cTn id="93" dur="1" fill="hold">
                                          <p:stCondLst>
                                            <p:cond delay="0"/>
                                          </p:stCondLst>
                                        </p:cTn>
                                        <p:tgtEl>
                                          <p:spTgt spid="43"/>
                                        </p:tgtEl>
                                        <p:attrNameLst>
                                          <p:attrName>style.visibility</p:attrName>
                                        </p:attrNameLst>
                                      </p:cBhvr>
                                      <p:to>
                                        <p:strVal val="visible"/>
                                      </p:to>
                                    </p:set>
                                    <p:animEffect transition="in" filter="wipe(down)">
                                      <p:cBhvr>
                                        <p:cTn id="94" dur="500"/>
                                        <p:tgtEl>
                                          <p:spTgt spid="43"/>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4" fill="hold" nodeType="clickEffect">
                                  <p:stCondLst>
                                    <p:cond delay="0"/>
                                  </p:stCondLst>
                                  <p:childTnLst>
                                    <p:set>
                                      <p:cBhvr>
                                        <p:cTn id="98" dur="1" fill="hold">
                                          <p:stCondLst>
                                            <p:cond delay="0"/>
                                          </p:stCondLst>
                                        </p:cTn>
                                        <p:tgtEl>
                                          <p:spTgt spid="42"/>
                                        </p:tgtEl>
                                        <p:attrNameLst>
                                          <p:attrName>style.visibility</p:attrName>
                                        </p:attrNameLst>
                                      </p:cBhvr>
                                      <p:to>
                                        <p:strVal val="visible"/>
                                      </p:to>
                                    </p:set>
                                    <p:animEffect transition="in" filter="wipe(down)">
                                      <p:cBhvr>
                                        <p:cTn id="99" dur="500"/>
                                        <p:tgtEl>
                                          <p:spTgt spid="42"/>
                                        </p:tgtEl>
                                      </p:cBhvr>
                                    </p:animEffect>
                                  </p:childTnLst>
                                </p:cTn>
                              </p:par>
                              <p:par>
                                <p:cTn id="100" presetID="22" presetClass="entr" presetSubtype="4" fill="hold" nodeType="withEffect">
                                  <p:stCondLst>
                                    <p:cond delay="0"/>
                                  </p:stCondLst>
                                  <p:childTnLst>
                                    <p:set>
                                      <p:cBhvr>
                                        <p:cTn id="101" dur="1" fill="hold">
                                          <p:stCondLst>
                                            <p:cond delay="0"/>
                                          </p:stCondLst>
                                        </p:cTn>
                                        <p:tgtEl>
                                          <p:spTgt spid="46"/>
                                        </p:tgtEl>
                                        <p:attrNameLst>
                                          <p:attrName>style.visibility</p:attrName>
                                        </p:attrNameLst>
                                      </p:cBhvr>
                                      <p:to>
                                        <p:strVal val="visible"/>
                                      </p:to>
                                    </p:set>
                                    <p:animEffect transition="in" filter="wipe(down)">
                                      <p:cBhvr>
                                        <p:cTn id="102" dur="500"/>
                                        <p:tgtEl>
                                          <p:spTgt spid="46"/>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55"/>
                                        </p:tgtEl>
                                        <p:attrNameLst>
                                          <p:attrName>style.visibility</p:attrName>
                                        </p:attrNameLst>
                                      </p:cBhvr>
                                      <p:to>
                                        <p:strVal val="visible"/>
                                      </p:to>
                                    </p:set>
                                    <p:animEffect transition="in" filter="wipe(left)">
                                      <p:cBhvr>
                                        <p:cTn id="107" dur="500"/>
                                        <p:tgtEl>
                                          <p:spTgt spid="55"/>
                                        </p:tgtEl>
                                      </p:cBhvr>
                                    </p:animEffect>
                                  </p:childTnLst>
                                </p:cTn>
                              </p:par>
                              <p:par>
                                <p:cTn id="108" presetID="22" presetClass="entr" presetSubtype="8" fill="hold" grpId="0" nodeType="withEffect">
                                  <p:stCondLst>
                                    <p:cond delay="0"/>
                                  </p:stCondLst>
                                  <p:childTnLst>
                                    <p:set>
                                      <p:cBhvr>
                                        <p:cTn id="109" dur="1" fill="hold">
                                          <p:stCondLst>
                                            <p:cond delay="0"/>
                                          </p:stCondLst>
                                        </p:cTn>
                                        <p:tgtEl>
                                          <p:spTgt spid="56"/>
                                        </p:tgtEl>
                                        <p:attrNameLst>
                                          <p:attrName>style.visibility</p:attrName>
                                        </p:attrNameLst>
                                      </p:cBhvr>
                                      <p:to>
                                        <p:strVal val="visible"/>
                                      </p:to>
                                    </p:set>
                                    <p:animEffect transition="in" filter="wipe(left)">
                                      <p:cBhvr>
                                        <p:cTn id="110" dur="500"/>
                                        <p:tgtEl>
                                          <p:spTgt spid="56"/>
                                        </p:tgtEl>
                                      </p:cBhvr>
                                    </p:animEffect>
                                  </p:childTnLst>
                                </p:cTn>
                              </p:par>
                            </p:childTnLst>
                          </p:cTn>
                        </p:par>
                      </p:childTnLst>
                    </p:cTn>
                  </p:par>
                  <p:par>
                    <p:cTn id="111" fill="hold">
                      <p:stCondLst>
                        <p:cond delay="indefinite"/>
                      </p:stCondLst>
                      <p:childTnLst>
                        <p:par>
                          <p:cTn id="112" fill="hold">
                            <p:stCondLst>
                              <p:cond delay="0"/>
                            </p:stCondLst>
                            <p:childTnLst>
                              <p:par>
                                <p:cTn id="113" presetID="16" presetClass="entr" presetSubtype="21" fill="hold" grpId="0" nodeType="clickEffect">
                                  <p:stCondLst>
                                    <p:cond delay="0"/>
                                  </p:stCondLst>
                                  <p:childTnLst>
                                    <p:set>
                                      <p:cBhvr>
                                        <p:cTn id="114" dur="1" fill="hold">
                                          <p:stCondLst>
                                            <p:cond delay="0"/>
                                          </p:stCondLst>
                                        </p:cTn>
                                        <p:tgtEl>
                                          <p:spTgt spid="31"/>
                                        </p:tgtEl>
                                        <p:attrNameLst>
                                          <p:attrName>style.visibility</p:attrName>
                                        </p:attrNameLst>
                                      </p:cBhvr>
                                      <p:to>
                                        <p:strVal val="visible"/>
                                      </p:to>
                                    </p:set>
                                    <p:animEffect transition="in" filter="barn(inVertical)">
                                      <p:cBhvr>
                                        <p:cTn id="11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 grpId="0"/>
      <p:bldP spid="31" grpId="0"/>
      <p:bldP spid="32" grpId="0" animBg="1"/>
      <p:bldP spid="49" grpId="0" animBg="1"/>
      <p:bldP spid="50" grpId="0" animBg="1"/>
      <p:bldP spid="51" grpId="0" animBg="1"/>
      <p:bldP spid="54" grpId="0" animBg="1"/>
      <p:bldP spid="5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891AA103-186B-42FF-AA25-CD92EAB47A60}"/>
              </a:ext>
            </a:extLst>
          </p:cNvPr>
          <p:cNvSpPr/>
          <p:nvPr/>
        </p:nvSpPr>
        <p:spPr>
          <a:xfrm>
            <a:off x="570365" y="1445417"/>
            <a:ext cx="3385001"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3" name="矩形 2">
            <a:extLst>
              <a:ext uri="{FF2B5EF4-FFF2-40B4-BE49-F238E27FC236}">
                <a16:creationId xmlns:a16="http://schemas.microsoft.com/office/drawing/2014/main" id="{37C083F2-0E99-4519-8938-09940A28B5F0}"/>
              </a:ext>
            </a:extLst>
          </p:cNvPr>
          <p:cNvSpPr/>
          <p:nvPr/>
        </p:nvSpPr>
        <p:spPr>
          <a:xfrm>
            <a:off x="580922" y="520573"/>
            <a:ext cx="6151318"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四、规模经济和长期平均成本曲线的形状</a:t>
            </a:r>
          </a:p>
        </p:txBody>
      </p:sp>
      <p:sp>
        <p:nvSpPr>
          <p:cNvPr id="4" name="矩形 3"/>
          <p:cNvSpPr/>
          <p:nvPr/>
        </p:nvSpPr>
        <p:spPr>
          <a:xfrm>
            <a:off x="622899" y="1451150"/>
            <a:ext cx="3095719" cy="400110"/>
          </a:xfrm>
          <a:prstGeom prst="rect">
            <a:avLst/>
          </a:prstGeom>
        </p:spPr>
        <p:txBody>
          <a:bodyPr wrap="none">
            <a:spAutoFit/>
          </a:bodyPr>
          <a:lstStyle/>
          <a:p>
            <a:pPr marL="342900" indent="-342900">
              <a:buFont typeface="Wingdings" panose="05000000000000000000" pitchFamily="2" charset="2"/>
              <a:buChar char="u"/>
            </a:pPr>
            <a:r>
              <a:rPr lang="en-US" sz="2000" dirty="0">
                <a:latin typeface="微软雅黑" panose="020B0503020204020204" pitchFamily="34" charset="-122"/>
                <a:ea typeface="微软雅黑" panose="020B0503020204020204" pitchFamily="34" charset="-122"/>
              </a:rPr>
              <a:t>规模经济和规模不经济</a:t>
            </a:r>
          </a:p>
        </p:txBody>
      </p:sp>
      <p:sp>
        <p:nvSpPr>
          <p:cNvPr id="5" name="矩形 4"/>
          <p:cNvSpPr/>
          <p:nvPr/>
        </p:nvSpPr>
        <p:spPr>
          <a:xfrm>
            <a:off x="763274" y="2306537"/>
            <a:ext cx="1512168" cy="369332"/>
          </a:xfrm>
          <a:prstGeom prst="rect">
            <a:avLst/>
          </a:prstGeom>
          <a:noFill/>
        </p:spPr>
        <p:txBody>
          <a:bodyPr wrap="square">
            <a:spAutoFit/>
          </a:bodyPr>
          <a:lstStyle/>
          <a:p>
            <a:pPr marL="285750" indent="-28575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规模经济</a:t>
            </a:r>
          </a:p>
        </p:txBody>
      </p:sp>
      <p:sp>
        <p:nvSpPr>
          <p:cNvPr id="6" name="矩形 5"/>
          <p:cNvSpPr/>
          <p:nvPr/>
        </p:nvSpPr>
        <p:spPr>
          <a:xfrm>
            <a:off x="730863" y="2969133"/>
            <a:ext cx="3385002" cy="738664"/>
          </a:xfrm>
          <a:prstGeom prst="rect">
            <a:avLst/>
          </a:prstGeom>
        </p:spPr>
        <p:txBody>
          <a:bodyPr wrap="square">
            <a:spAutoFit/>
          </a:bodyPr>
          <a:lstStyle/>
          <a:p>
            <a:pPr marL="285750" indent="-285750">
              <a:buFont typeface="Wingdings" panose="05000000000000000000" pitchFamily="2" charset="2"/>
              <a:buChar char="l"/>
            </a:pPr>
            <a:r>
              <a:rPr lang="en-US" sz="1400" dirty="0">
                <a:latin typeface="微软雅黑" panose="020B0503020204020204" pitchFamily="34" charset="-122"/>
                <a:ea typeface="微软雅黑" panose="020B0503020204020204" pitchFamily="34" charset="-122"/>
              </a:rPr>
              <a:t>在企业扩大生产的过程中，如果产量扩大一倍，而生产成本的增加小于一倍，则称企业的生产存在规模经济</a:t>
            </a:r>
            <a:r>
              <a:rPr lang="zh-CN" altLang="en-US" sz="1400" dirty="0">
                <a:latin typeface="微软雅黑" panose="020B0503020204020204" pitchFamily="34" charset="-122"/>
                <a:ea typeface="微软雅黑" panose="020B0503020204020204" pitchFamily="34" charset="-122"/>
              </a:rPr>
              <a:t>。</a:t>
            </a:r>
            <a:endParaRPr lang="en-US" sz="1400" dirty="0">
              <a:latin typeface="微软雅黑" panose="020B0503020204020204" pitchFamily="34" charset="-122"/>
              <a:ea typeface="微软雅黑" panose="020B0503020204020204" pitchFamily="34" charset="-122"/>
            </a:endParaRPr>
          </a:p>
        </p:txBody>
      </p:sp>
      <p:sp>
        <p:nvSpPr>
          <p:cNvPr id="7" name="矩形 6"/>
          <p:cNvSpPr/>
          <p:nvPr/>
        </p:nvSpPr>
        <p:spPr>
          <a:xfrm>
            <a:off x="728430" y="4118137"/>
            <a:ext cx="1769598" cy="369332"/>
          </a:xfrm>
          <a:prstGeom prst="rect">
            <a:avLst/>
          </a:prstGeom>
          <a:noFill/>
        </p:spPr>
        <p:txBody>
          <a:bodyPr wrap="square">
            <a:spAutoFit/>
          </a:bodyPr>
          <a:lstStyle/>
          <a:p>
            <a:pPr marL="285750" indent="-28575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规模不经济</a:t>
            </a:r>
          </a:p>
        </p:txBody>
      </p:sp>
      <p:sp>
        <p:nvSpPr>
          <p:cNvPr id="9" name="矩形 8"/>
          <p:cNvSpPr/>
          <p:nvPr/>
        </p:nvSpPr>
        <p:spPr>
          <a:xfrm>
            <a:off x="726461" y="4806021"/>
            <a:ext cx="3385001" cy="738664"/>
          </a:xfrm>
          <a:prstGeom prst="rect">
            <a:avLst/>
          </a:prstGeom>
        </p:spPr>
        <p:txBody>
          <a:bodyPr wrap="square">
            <a:spAutoFit/>
          </a:bodyPr>
          <a:lstStyle/>
          <a:p>
            <a:pPr marL="285750" indent="-285750">
              <a:buFont typeface="Wingdings" panose="05000000000000000000" pitchFamily="2" charset="2"/>
              <a:buChar char="l"/>
            </a:pPr>
            <a:r>
              <a:rPr lang="en-US" sz="1400" dirty="0">
                <a:latin typeface="微软雅黑" panose="020B0503020204020204" pitchFamily="34" charset="-122"/>
                <a:ea typeface="微软雅黑" panose="020B0503020204020204" pitchFamily="34" charset="-122"/>
              </a:rPr>
              <a:t>如果企业的产量扩大一倍，而生产成本的增加大于一倍，则称企业的生产存在规模不经济。</a:t>
            </a:r>
          </a:p>
        </p:txBody>
      </p:sp>
      <p:pic>
        <p:nvPicPr>
          <p:cNvPr id="12" name="图片 11">
            <a:extLst>
              <a:ext uri="{FF2B5EF4-FFF2-40B4-BE49-F238E27FC236}">
                <a16:creationId xmlns:a16="http://schemas.microsoft.com/office/drawing/2014/main" id="{0426E044-0DE8-47E4-87A0-E396D8FD11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5741" y="1521538"/>
            <a:ext cx="4965881" cy="4931362"/>
          </a:xfrm>
          <a:prstGeom prst="rect">
            <a:avLst/>
          </a:prstGeom>
        </p:spPr>
      </p:pic>
    </p:spTree>
    <p:extLst>
      <p:ext uri="{BB962C8B-B14F-4D97-AF65-F5344CB8AC3E}">
        <p14:creationId xmlns:p14="http://schemas.microsoft.com/office/powerpoint/2010/main" val="341582125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Effect transition="in" filter="fade">
                                      <p:cBhvr>
                                        <p:cTn id="24" dur="1000"/>
                                        <p:tgtEl>
                                          <p:spTgt spid="4"/>
                                        </p:tgtEl>
                                      </p:cBhvr>
                                    </p:animEffect>
                                    <p:anim calcmode="lin" valueType="num">
                                      <p:cBhvr>
                                        <p:cTn id="25" dur="1000" fill="hold"/>
                                        <p:tgtEl>
                                          <p:spTgt spid="4"/>
                                        </p:tgtEl>
                                        <p:attrNameLst>
                                          <p:attrName>ppt_x</p:attrName>
                                        </p:attrNameLst>
                                      </p:cBhvr>
                                      <p:tavLst>
                                        <p:tav tm="0">
                                          <p:val>
                                            <p:strVal val="#ppt_x"/>
                                          </p:val>
                                        </p:tav>
                                        <p:tav tm="100000">
                                          <p:val>
                                            <p:strVal val="#ppt_x"/>
                                          </p:val>
                                        </p:tav>
                                      </p:tavLst>
                                    </p:anim>
                                    <p:anim calcmode="lin" valueType="num">
                                      <p:cBhvr>
                                        <p:cTn id="2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wipe(down)">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wipe(down)">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wipe(down)">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down)">
                                      <p:cBhvr>
                                        <p:cTn id="4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3" grpId="0" animBg="1"/>
      <p:bldP spid="4" grpId="0"/>
      <p:bldP spid="5" grpId="0"/>
      <p:bldP spid="6" grpId="0"/>
      <p:bldP spid="7" grpId="0"/>
      <p:bldP spid="9"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圆角 13">
            <a:extLst>
              <a:ext uri="{FF2B5EF4-FFF2-40B4-BE49-F238E27FC236}">
                <a16:creationId xmlns:a16="http://schemas.microsoft.com/office/drawing/2014/main" id="{DDEB9E1E-8746-4976-BB23-76A095E55ADF}"/>
              </a:ext>
            </a:extLst>
          </p:cNvPr>
          <p:cNvSpPr/>
          <p:nvPr/>
        </p:nvSpPr>
        <p:spPr>
          <a:xfrm>
            <a:off x="505857" y="1324614"/>
            <a:ext cx="2579984"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3" name="矩形 2">
            <a:extLst>
              <a:ext uri="{FF2B5EF4-FFF2-40B4-BE49-F238E27FC236}">
                <a16:creationId xmlns:a16="http://schemas.microsoft.com/office/drawing/2014/main" id="{37C083F2-0E99-4519-8938-09940A28B5F0}"/>
              </a:ext>
            </a:extLst>
          </p:cNvPr>
          <p:cNvSpPr/>
          <p:nvPr/>
        </p:nvSpPr>
        <p:spPr>
          <a:xfrm>
            <a:off x="580922" y="520573"/>
            <a:ext cx="607931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四、规模经济和长期平均成本曲线的形状</a:t>
            </a:r>
          </a:p>
        </p:txBody>
      </p:sp>
      <p:sp>
        <p:nvSpPr>
          <p:cNvPr id="5" name="矩形 4"/>
          <p:cNvSpPr/>
          <p:nvPr/>
        </p:nvSpPr>
        <p:spPr>
          <a:xfrm>
            <a:off x="504390" y="2044594"/>
            <a:ext cx="4805286" cy="1323439"/>
          </a:xfrm>
          <a:prstGeom prst="rect">
            <a:avLst/>
          </a:prstGeom>
          <a:noFill/>
        </p:spPr>
        <p:txBody>
          <a:bodyPr wrap="square" anchor="t">
            <a:spAutoFit/>
          </a:bodyPr>
          <a:lstStyle/>
          <a:p>
            <a:r>
              <a:rPr lang="en-US" sz="1600" dirty="0">
                <a:latin typeface="微软雅黑" panose="020B0503020204020204" pitchFamily="34" charset="-122"/>
                <a:ea typeface="微软雅黑" panose="020B0503020204020204" pitchFamily="34" charset="-122"/>
              </a:rPr>
              <a:t>1.Specialization（专业化）：规模扩大后可以进行更精细地分工，实现专业化生产，从而提高效率。</a:t>
            </a:r>
          </a:p>
          <a:p>
            <a:endParaRPr lang="en-US" sz="1600" dirty="0">
              <a:latin typeface="微软雅黑" panose="020B0503020204020204" pitchFamily="34" charset="-122"/>
              <a:ea typeface="微软雅黑" panose="020B0503020204020204" pitchFamily="34" charset="-122"/>
            </a:endParaRPr>
          </a:p>
          <a:p>
            <a:endParaRPr lang="en-US" sz="1600" dirty="0">
              <a:latin typeface="微软雅黑" panose="020B0503020204020204" pitchFamily="34" charset="-122"/>
              <a:ea typeface="微软雅黑" panose="020B0503020204020204" pitchFamily="34" charset="-122"/>
            </a:endParaRPr>
          </a:p>
          <a:p>
            <a:endParaRPr lang="en-US" sz="1600" dirty="0">
              <a:latin typeface="微软雅黑" panose="020B0503020204020204" pitchFamily="34" charset="-122"/>
              <a:ea typeface="微软雅黑" panose="020B0503020204020204" pitchFamily="34" charset="-122"/>
            </a:endParaRPr>
          </a:p>
        </p:txBody>
      </p:sp>
      <p:sp>
        <p:nvSpPr>
          <p:cNvPr id="6" name="矩形 5"/>
          <p:cNvSpPr/>
          <p:nvPr/>
        </p:nvSpPr>
        <p:spPr>
          <a:xfrm>
            <a:off x="504390" y="3838388"/>
            <a:ext cx="4877294" cy="1323439"/>
          </a:xfrm>
          <a:prstGeom prst="rect">
            <a:avLst/>
          </a:prstGeom>
          <a:noFill/>
        </p:spPr>
        <p:txBody>
          <a:bodyPr wrap="square" anchor="t">
            <a:spAutoFit/>
          </a:bodyPr>
          <a:lstStyle/>
          <a:p>
            <a:r>
              <a:rPr lang="en-US" sz="1600" dirty="0">
                <a:latin typeface="微软雅黑" panose="020B0503020204020204" pitchFamily="34" charset="-122"/>
                <a:ea typeface="微软雅黑" panose="020B0503020204020204" pitchFamily="34" charset="-122"/>
              </a:rPr>
              <a:t>2.Indivisibility  of Lumpy Equipment（设备的不可分性）：很多设备具有不可分性，无论是少量生产还是大量生产，都需要一套设备，不能因为生产少就少用设备。</a:t>
            </a:r>
          </a:p>
          <a:p>
            <a:endParaRPr lang="en-US" sz="1600" dirty="0">
              <a:latin typeface="微软雅黑" panose="020B0503020204020204" pitchFamily="34" charset="-122"/>
              <a:ea typeface="微软雅黑" panose="020B0503020204020204" pitchFamily="34" charset="-122"/>
            </a:endParaRPr>
          </a:p>
        </p:txBody>
      </p:sp>
      <p:sp>
        <p:nvSpPr>
          <p:cNvPr id="7" name="矩形 6"/>
          <p:cNvSpPr/>
          <p:nvPr/>
        </p:nvSpPr>
        <p:spPr>
          <a:xfrm>
            <a:off x="504390" y="2706313"/>
            <a:ext cx="4877294" cy="1077218"/>
          </a:xfrm>
          <a:prstGeom prst="rect">
            <a:avLst/>
          </a:prstGeom>
          <a:noFill/>
        </p:spPr>
        <p:txBody>
          <a:bodyPr wrap="square" anchor="t">
            <a:spAutoFit/>
          </a:bodyPr>
          <a:lstStyle/>
          <a:p>
            <a:r>
              <a:rPr lang="en-US" sz="1600" dirty="0">
                <a:latin typeface="微软雅黑" panose="020B0503020204020204" pitchFamily="34" charset="-122"/>
                <a:ea typeface="微软雅黑" panose="020B0503020204020204" pitchFamily="34" charset="-122"/>
              </a:rPr>
              <a:t>例如：如果规模够大，一件衣服制作可以分成剪裁、缝纫、钉扣子、熨烫、包装等不同的工序进行流水化作业，这要比小作坊都由一个人完成效率高。</a:t>
            </a:r>
          </a:p>
          <a:p>
            <a:endParaRPr lang="en-US" sz="1600" dirty="0">
              <a:latin typeface="微软雅黑" panose="020B0503020204020204" pitchFamily="34" charset="-122"/>
              <a:ea typeface="微软雅黑" panose="020B0503020204020204" pitchFamily="34" charset="-122"/>
            </a:endParaRPr>
          </a:p>
        </p:txBody>
      </p:sp>
      <p:sp>
        <p:nvSpPr>
          <p:cNvPr id="8" name="矩形 7"/>
          <p:cNvSpPr/>
          <p:nvPr/>
        </p:nvSpPr>
        <p:spPr>
          <a:xfrm>
            <a:off x="504390" y="4968997"/>
            <a:ext cx="5021310" cy="1077218"/>
          </a:xfrm>
          <a:prstGeom prst="rect">
            <a:avLst/>
          </a:prstGeom>
          <a:noFill/>
        </p:spPr>
        <p:txBody>
          <a:bodyPr wrap="square" anchor="t">
            <a:spAutoFit/>
          </a:bodyPr>
          <a:lstStyle/>
          <a:p>
            <a:r>
              <a:rPr lang="en-US" sz="1600" dirty="0">
                <a:latin typeface="微软雅黑" panose="020B0503020204020204" pitchFamily="34" charset="-122"/>
                <a:ea typeface="微软雅黑" panose="020B0503020204020204" pitchFamily="34" charset="-122"/>
              </a:rPr>
              <a:t>例如炼钢炉，一旦点火就有一个最低炼钢量，要持续很长时间。一中型客机一旦执行飞行，不管乘客有200人，还是只有1人，都需要1架飞机。因此，规模大可以更好地利用这些优势。</a:t>
            </a:r>
          </a:p>
        </p:txBody>
      </p:sp>
      <p:sp>
        <p:nvSpPr>
          <p:cNvPr id="13" name="矩形 12">
            <a:extLst>
              <a:ext uri="{FF2B5EF4-FFF2-40B4-BE49-F238E27FC236}">
                <a16:creationId xmlns:a16="http://schemas.microsoft.com/office/drawing/2014/main" id="{4E1C1893-AB90-4458-A5F7-957881641DB7}"/>
              </a:ext>
            </a:extLst>
          </p:cNvPr>
          <p:cNvSpPr/>
          <p:nvPr/>
        </p:nvSpPr>
        <p:spPr>
          <a:xfrm>
            <a:off x="580922" y="1350345"/>
            <a:ext cx="2504919"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en-US" altLang="zh-CN" sz="2000" dirty="0">
                <a:latin typeface="微软雅黑" panose="020B0503020204020204" pitchFamily="34" charset="-122"/>
                <a:ea typeface="微软雅黑" panose="020B0503020204020204" pitchFamily="34" charset="-122"/>
              </a:rPr>
              <a:t> </a:t>
            </a:r>
            <a:r>
              <a:rPr lang="en-US" sz="2000" dirty="0">
                <a:latin typeface="微软雅黑" panose="020B0503020204020204" pitchFamily="34" charset="-122"/>
                <a:ea typeface="微软雅黑" panose="020B0503020204020204" pitchFamily="34" charset="-122"/>
              </a:rPr>
              <a:t>规模经济的原因</a:t>
            </a:r>
            <a:endParaRPr lang="zh-CN" altLang="en-US" sz="2000" dirty="0">
              <a:latin typeface="微软雅黑" panose="020B0503020204020204" pitchFamily="34" charset="-122"/>
              <a:ea typeface="微软雅黑" panose="020B0503020204020204" pitchFamily="34" charset="-122"/>
            </a:endParaRPr>
          </a:p>
        </p:txBody>
      </p:sp>
      <p:pic>
        <p:nvPicPr>
          <p:cNvPr id="17" name="图片 16">
            <a:extLst>
              <a:ext uri="{FF2B5EF4-FFF2-40B4-BE49-F238E27FC236}">
                <a16:creationId xmlns:a16="http://schemas.microsoft.com/office/drawing/2014/main" id="{3ABB01D2-8CF6-40DC-A0FD-03A33A887F2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29881" y="2996952"/>
            <a:ext cx="3423341" cy="3292705"/>
          </a:xfrm>
          <a:prstGeom prst="rect">
            <a:avLst/>
          </a:prstGeom>
        </p:spPr>
      </p:pic>
    </p:spTree>
    <p:extLst>
      <p:ext uri="{BB962C8B-B14F-4D97-AF65-F5344CB8AC3E}">
        <p14:creationId xmlns:p14="http://schemas.microsoft.com/office/powerpoint/2010/main" val="420112127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nodeType="with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p:cTn id="12" dur="500" fill="hold"/>
                                        <p:tgtEl>
                                          <p:spTgt spid="17"/>
                                        </p:tgtEl>
                                        <p:attrNameLst>
                                          <p:attrName>ppt_w</p:attrName>
                                        </p:attrNameLst>
                                      </p:cBhvr>
                                      <p:tavLst>
                                        <p:tav tm="0">
                                          <p:val>
                                            <p:fltVal val="0"/>
                                          </p:val>
                                        </p:tav>
                                        <p:tav tm="100000">
                                          <p:val>
                                            <p:strVal val="#ppt_w"/>
                                          </p:val>
                                        </p:tav>
                                      </p:tavLst>
                                    </p:anim>
                                    <p:anim calcmode="lin" valueType="num">
                                      <p:cBhvr>
                                        <p:cTn id="13" dur="500" fill="hold"/>
                                        <p:tgtEl>
                                          <p:spTgt spid="17"/>
                                        </p:tgtEl>
                                        <p:attrNameLst>
                                          <p:attrName>ppt_h</p:attrName>
                                        </p:attrNameLst>
                                      </p:cBhvr>
                                      <p:tavLst>
                                        <p:tav tm="0">
                                          <p:val>
                                            <p:fltVal val="0"/>
                                          </p:val>
                                        </p:tav>
                                        <p:tav tm="100000">
                                          <p:val>
                                            <p:strVal val="#ppt_h"/>
                                          </p:val>
                                        </p:tav>
                                      </p:tavLst>
                                    </p:anim>
                                    <p:animEffect transition="in" filter="fade">
                                      <p:cBhvr>
                                        <p:cTn id="14" dur="5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animEffect transition="in" filter="fade">
                                      <p:cBhvr>
                                        <p:cTn id="21" dur="500"/>
                                        <p:tgtEl>
                                          <p:spTgt spid="14"/>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 calcmode="lin" valueType="num">
                                      <p:cBhvr>
                                        <p:cTn id="24" dur="500" fill="hold"/>
                                        <p:tgtEl>
                                          <p:spTgt spid="13"/>
                                        </p:tgtEl>
                                        <p:attrNameLst>
                                          <p:attrName>ppt_w</p:attrName>
                                        </p:attrNameLst>
                                      </p:cBhvr>
                                      <p:tavLst>
                                        <p:tav tm="0">
                                          <p:val>
                                            <p:fltVal val="0"/>
                                          </p:val>
                                        </p:tav>
                                        <p:tav tm="100000">
                                          <p:val>
                                            <p:strVal val="#ppt_w"/>
                                          </p:val>
                                        </p:tav>
                                      </p:tavLst>
                                    </p:anim>
                                    <p:anim calcmode="lin" valueType="num">
                                      <p:cBhvr>
                                        <p:cTn id="25" dur="500" fill="hold"/>
                                        <p:tgtEl>
                                          <p:spTgt spid="13"/>
                                        </p:tgtEl>
                                        <p:attrNameLst>
                                          <p:attrName>ppt_h</p:attrName>
                                        </p:attrNameLst>
                                      </p:cBhvr>
                                      <p:tavLst>
                                        <p:tav tm="0">
                                          <p:val>
                                            <p:fltVal val="0"/>
                                          </p:val>
                                        </p:tav>
                                        <p:tav tm="100000">
                                          <p:val>
                                            <p:strVal val="#ppt_h"/>
                                          </p:val>
                                        </p:tav>
                                      </p:tavLst>
                                    </p:anim>
                                    <p:animEffect transition="in" filter="fade">
                                      <p:cBhvr>
                                        <p:cTn id="26" dur="5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0-#ppt_w/2"/>
                                          </p:val>
                                        </p:tav>
                                        <p:tav tm="100000">
                                          <p:val>
                                            <p:strVal val="#ppt_x"/>
                                          </p:val>
                                        </p:tav>
                                      </p:tavLst>
                                    </p:anim>
                                    <p:anim calcmode="lin" valueType="num">
                                      <p:cBhvr additive="base">
                                        <p:cTn id="3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0-#ppt_w/2"/>
                                          </p:val>
                                        </p:tav>
                                        <p:tav tm="100000">
                                          <p:val>
                                            <p:strVal val="#ppt_x"/>
                                          </p:val>
                                        </p:tav>
                                      </p:tavLst>
                                    </p:anim>
                                    <p:anim calcmode="lin" valueType="num">
                                      <p:cBhvr additive="base">
                                        <p:cTn id="38"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additive="base">
                                        <p:cTn id="43" dur="500" fill="hold"/>
                                        <p:tgtEl>
                                          <p:spTgt spid="6"/>
                                        </p:tgtEl>
                                        <p:attrNameLst>
                                          <p:attrName>ppt_x</p:attrName>
                                        </p:attrNameLst>
                                      </p:cBhvr>
                                      <p:tavLst>
                                        <p:tav tm="0">
                                          <p:val>
                                            <p:strVal val="#ppt_x"/>
                                          </p:val>
                                        </p:tav>
                                        <p:tav tm="100000">
                                          <p:val>
                                            <p:strVal val="#ppt_x"/>
                                          </p:val>
                                        </p:tav>
                                      </p:tavLst>
                                    </p:anim>
                                    <p:anim calcmode="lin" valueType="num">
                                      <p:cBhvr additive="base">
                                        <p:cTn id="4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3" grpId="0" animBg="1"/>
      <p:bldP spid="5" grpId="0"/>
      <p:bldP spid="6" grpId="0"/>
      <p:bldP spid="7" grpId="0"/>
      <p:bldP spid="8" grpId="0"/>
      <p:bldP spid="13"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a:extLst>
              <a:ext uri="{FF2B5EF4-FFF2-40B4-BE49-F238E27FC236}">
                <a16:creationId xmlns:a16="http://schemas.microsoft.com/office/drawing/2014/main" id="{E3B81EDD-4A4A-4AAC-B87C-F4BC5A236D81}"/>
              </a:ext>
            </a:extLst>
          </p:cNvPr>
          <p:cNvSpPr/>
          <p:nvPr/>
        </p:nvSpPr>
        <p:spPr>
          <a:xfrm>
            <a:off x="573813" y="1303722"/>
            <a:ext cx="2531024"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88AA7C45-9925-4470-9386-3350EDBC5315}"/>
              </a:ext>
            </a:extLst>
          </p:cNvPr>
          <p:cNvSpPr/>
          <p:nvPr/>
        </p:nvSpPr>
        <p:spPr>
          <a:xfrm>
            <a:off x="580922" y="520573"/>
            <a:ext cx="607931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四、规模经济和长期平均成本曲线的形状</a:t>
            </a:r>
          </a:p>
        </p:txBody>
      </p:sp>
      <p:sp>
        <p:nvSpPr>
          <p:cNvPr id="3" name="矩形 2">
            <a:extLst>
              <a:ext uri="{FF2B5EF4-FFF2-40B4-BE49-F238E27FC236}">
                <a16:creationId xmlns:a16="http://schemas.microsoft.com/office/drawing/2014/main" id="{C5E90995-5369-403B-BF11-BBA5EEF1A61B}"/>
              </a:ext>
            </a:extLst>
          </p:cNvPr>
          <p:cNvSpPr/>
          <p:nvPr/>
        </p:nvSpPr>
        <p:spPr>
          <a:xfrm>
            <a:off x="599918" y="1332134"/>
            <a:ext cx="2504919"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en-US" altLang="zh-CN" sz="2000" dirty="0">
                <a:latin typeface="微软雅黑" panose="020B0503020204020204" pitchFamily="34" charset="-122"/>
                <a:ea typeface="微软雅黑" panose="020B0503020204020204" pitchFamily="34" charset="-122"/>
              </a:rPr>
              <a:t> </a:t>
            </a:r>
            <a:r>
              <a:rPr lang="en-US" sz="2000" dirty="0">
                <a:latin typeface="微软雅黑" panose="020B0503020204020204" pitchFamily="34" charset="-122"/>
                <a:ea typeface="微软雅黑" panose="020B0503020204020204" pitchFamily="34" charset="-122"/>
              </a:rPr>
              <a:t>规模经济的原因</a:t>
            </a:r>
            <a:endParaRPr lang="zh-CN" altLang="en-US" sz="2000"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a16="http://schemas.microsoft.com/office/drawing/2014/main" id="{A6C0124D-0831-4D89-B303-B016741E9555}"/>
              </a:ext>
            </a:extLst>
          </p:cNvPr>
          <p:cNvSpPr/>
          <p:nvPr/>
        </p:nvSpPr>
        <p:spPr>
          <a:xfrm>
            <a:off x="599918" y="5322694"/>
            <a:ext cx="4764170" cy="338554"/>
          </a:xfrm>
          <a:prstGeom prst="rect">
            <a:avLst/>
          </a:prstGeom>
          <a:noFill/>
        </p:spPr>
        <p:txBody>
          <a:bodyPr wrap="square" anchor="t">
            <a:spAutoFit/>
          </a:bodyPr>
          <a:lstStyle/>
          <a:p>
            <a:r>
              <a:rPr lang="en-US" sz="1600" dirty="0">
                <a:latin typeface="微软雅黑" panose="020B0503020204020204" pitchFamily="34" charset="-122"/>
                <a:ea typeface="微软雅黑" panose="020B0503020204020204" pitchFamily="34" charset="-122"/>
              </a:rPr>
              <a:t>5. 获得融资优势、购货和销售优势</a:t>
            </a:r>
            <a:r>
              <a:rPr lang="zh-CN" altLang="en-US" sz="1600" dirty="0">
                <a:latin typeface="微软雅黑" panose="020B0503020204020204" pitchFamily="34" charset="-122"/>
                <a:ea typeface="微软雅黑" panose="020B0503020204020204" pitchFamily="34" charset="-122"/>
              </a:rPr>
              <a:t>。</a:t>
            </a:r>
            <a:endParaRPr lang="en-US" sz="16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E1CF06CB-709B-4D9D-A540-13E5E7538B72}"/>
              </a:ext>
            </a:extLst>
          </p:cNvPr>
          <p:cNvSpPr/>
          <p:nvPr/>
        </p:nvSpPr>
        <p:spPr>
          <a:xfrm>
            <a:off x="599918" y="2248123"/>
            <a:ext cx="4908186" cy="1077218"/>
          </a:xfrm>
          <a:prstGeom prst="rect">
            <a:avLst/>
          </a:prstGeom>
          <a:noFill/>
        </p:spPr>
        <p:txBody>
          <a:bodyPr wrap="square" anchor="t">
            <a:spAutoFit/>
          </a:bodyPr>
          <a:lstStyle/>
          <a:p>
            <a:r>
              <a:rPr lang="en-US" sz="1600" dirty="0">
                <a:latin typeface="微软雅黑" panose="020B0503020204020204" pitchFamily="34" charset="-122"/>
                <a:ea typeface="微软雅黑" panose="020B0503020204020204" pitchFamily="34" charset="-122"/>
              </a:rPr>
              <a:t>3.Economies in overhead（节约管理费用）：规模扩大后可以更好地利用各种基础设施如厂区运输、企业综合管理、仓储服务、研发开支、营销费用。</a:t>
            </a:r>
          </a:p>
          <a:p>
            <a:endParaRPr lang="en-US" sz="1600" dirty="0">
              <a:latin typeface="微软雅黑" panose="020B0503020204020204" pitchFamily="34" charset="-122"/>
              <a:ea typeface="微软雅黑" panose="020B0503020204020204" pitchFamily="34" charset="-122"/>
            </a:endParaRPr>
          </a:p>
        </p:txBody>
      </p:sp>
      <p:sp>
        <p:nvSpPr>
          <p:cNvPr id="6" name="矩形 5">
            <a:extLst>
              <a:ext uri="{FF2B5EF4-FFF2-40B4-BE49-F238E27FC236}">
                <a16:creationId xmlns:a16="http://schemas.microsoft.com/office/drawing/2014/main" id="{270CE1E4-224B-4676-9828-35C6737F0547}"/>
              </a:ext>
            </a:extLst>
          </p:cNvPr>
          <p:cNvSpPr/>
          <p:nvPr/>
        </p:nvSpPr>
        <p:spPr>
          <a:xfrm>
            <a:off x="580468" y="3246235"/>
            <a:ext cx="4927182" cy="1077218"/>
          </a:xfrm>
          <a:prstGeom prst="rect">
            <a:avLst/>
          </a:prstGeom>
          <a:noFill/>
        </p:spPr>
        <p:txBody>
          <a:bodyPr wrap="square" anchor="t">
            <a:spAutoFit/>
          </a:bodyPr>
          <a:lstStyle/>
          <a:p>
            <a:r>
              <a:rPr lang="en-US" sz="1600" dirty="0">
                <a:latin typeface="微软雅黑" panose="020B0503020204020204" pitchFamily="34" charset="-122"/>
                <a:ea typeface="微软雅黑" panose="020B0503020204020204" pitchFamily="34" charset="-122"/>
              </a:rPr>
              <a:t>4.Economies of scope (interactions among products)：范围经济是指当企业生产多种产品时，多种产品可以共用一套生产设施，从而节省成本。</a:t>
            </a:r>
          </a:p>
          <a:p>
            <a:endParaRPr lang="en-US" sz="1600" dirty="0">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56C834D4-9E6E-4254-9881-24898AD11E64}"/>
              </a:ext>
            </a:extLst>
          </p:cNvPr>
          <p:cNvSpPr/>
          <p:nvPr/>
        </p:nvSpPr>
        <p:spPr>
          <a:xfrm>
            <a:off x="599918" y="4245476"/>
            <a:ext cx="4946178" cy="1077218"/>
          </a:xfrm>
          <a:prstGeom prst="rect">
            <a:avLst/>
          </a:prstGeom>
          <a:noFill/>
        </p:spPr>
        <p:txBody>
          <a:bodyPr wrap="square" anchor="t">
            <a:spAutoFit/>
          </a:bodyPr>
          <a:lstStyle/>
          <a:p>
            <a:r>
              <a:rPr lang="en-US" sz="1600" dirty="0">
                <a:latin typeface="微软雅黑" panose="020B0503020204020204" pitchFamily="34" charset="-122"/>
                <a:ea typeface="微软雅黑" panose="020B0503020204020204" pitchFamily="34" charset="-122"/>
              </a:rPr>
              <a:t>例如发电</a:t>
            </a:r>
            <a:r>
              <a:rPr lang="zh-CN" altLang="en-US" sz="1600" dirty="0">
                <a:latin typeface="微软雅黑" panose="020B0503020204020204" pitchFamily="34" charset="-122"/>
                <a:ea typeface="微软雅黑" panose="020B0503020204020204" pitchFamily="34" charset="-122"/>
              </a:rPr>
              <a:t>厂</a:t>
            </a:r>
            <a:r>
              <a:rPr lang="en-US" sz="1600" dirty="0">
                <a:latin typeface="微软雅黑" panose="020B0503020204020204" pitchFamily="34" charset="-122"/>
                <a:ea typeface="微软雅黑" panose="020B0503020204020204" pitchFamily="34" charset="-122"/>
              </a:rPr>
              <a:t>可以发电和供热，苹果公司可以生产电脑、平板、手机、电子手表。只有扩大规模才能同时生产多样化的产品，从而提高每一类产品的生产效率。</a:t>
            </a:r>
          </a:p>
          <a:p>
            <a:endParaRPr lang="en-US" sz="1600"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a16="http://schemas.microsoft.com/office/drawing/2014/main" id="{80E7015D-2A9F-4115-9F26-433783AE37F7}"/>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pic>
        <p:nvPicPr>
          <p:cNvPr id="10" name="图片 9">
            <a:extLst>
              <a:ext uri="{FF2B5EF4-FFF2-40B4-BE49-F238E27FC236}">
                <a16:creationId xmlns:a16="http://schemas.microsoft.com/office/drawing/2014/main" id="{0984DCAB-3C30-4F38-BFBC-DFA8C96C611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56176" y="3212976"/>
            <a:ext cx="2782874" cy="2779820"/>
          </a:xfrm>
          <a:prstGeom prst="rect">
            <a:avLst/>
          </a:prstGeom>
        </p:spPr>
      </p:pic>
    </p:spTree>
    <p:extLst>
      <p:ext uri="{BB962C8B-B14F-4D97-AF65-F5344CB8AC3E}">
        <p14:creationId xmlns:p14="http://schemas.microsoft.com/office/powerpoint/2010/main" val="3302418019"/>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animEffect transition="in" filter="fade">
                                      <p:cBhvr>
                                        <p:cTn id="21" dur="500"/>
                                        <p:tgtEl>
                                          <p:spTgt spid="9"/>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1+#ppt_w/2"/>
                                          </p:val>
                                        </p:tav>
                                        <p:tav tm="100000">
                                          <p:val>
                                            <p:strVal val="#ppt_x"/>
                                          </p:val>
                                        </p:tav>
                                      </p:tavLst>
                                    </p:anim>
                                    <p:anim calcmode="lin" valueType="num">
                                      <p:cBhvr additive="base">
                                        <p:cTn id="3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1000"/>
                                        <p:tgtEl>
                                          <p:spTgt spid="6"/>
                                        </p:tgtEl>
                                      </p:cBhvr>
                                    </p:animEffect>
                                    <p:anim calcmode="lin" valueType="num">
                                      <p:cBhvr>
                                        <p:cTn id="38" dur="1000" fill="hold"/>
                                        <p:tgtEl>
                                          <p:spTgt spid="6"/>
                                        </p:tgtEl>
                                        <p:attrNameLst>
                                          <p:attrName>ppt_x</p:attrName>
                                        </p:attrNameLst>
                                      </p:cBhvr>
                                      <p:tavLst>
                                        <p:tav tm="0">
                                          <p:val>
                                            <p:strVal val="#ppt_x"/>
                                          </p:val>
                                        </p:tav>
                                        <p:tav tm="100000">
                                          <p:val>
                                            <p:strVal val="#ppt_x"/>
                                          </p:val>
                                        </p:tav>
                                      </p:tavLst>
                                    </p:anim>
                                    <p:anim calcmode="lin" valueType="num">
                                      <p:cBhvr>
                                        <p:cTn id="3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1000"/>
                                        <p:tgtEl>
                                          <p:spTgt spid="7"/>
                                        </p:tgtEl>
                                      </p:cBhvr>
                                    </p:animEffect>
                                    <p:anim calcmode="lin" valueType="num">
                                      <p:cBhvr>
                                        <p:cTn id="45" dur="1000" fill="hold"/>
                                        <p:tgtEl>
                                          <p:spTgt spid="7"/>
                                        </p:tgtEl>
                                        <p:attrNameLst>
                                          <p:attrName>ppt_x</p:attrName>
                                        </p:attrNameLst>
                                      </p:cBhvr>
                                      <p:tavLst>
                                        <p:tav tm="0">
                                          <p:val>
                                            <p:strVal val="#ppt_x"/>
                                          </p:val>
                                        </p:tav>
                                        <p:tav tm="100000">
                                          <p:val>
                                            <p:strVal val="#ppt_x"/>
                                          </p:val>
                                        </p:tav>
                                      </p:tavLst>
                                    </p:anim>
                                    <p:anim calcmode="lin" valueType="num">
                                      <p:cBhvr>
                                        <p:cTn id="4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6" presetClass="entr" presetSubtype="21" fill="hold" grpId="0" nodeType="clickEffect">
                                  <p:stCondLst>
                                    <p:cond delay="0"/>
                                  </p:stCondLst>
                                  <p:childTnLst>
                                    <p:set>
                                      <p:cBhvr>
                                        <p:cTn id="50" dur="1" fill="hold">
                                          <p:stCondLst>
                                            <p:cond delay="0"/>
                                          </p:stCondLst>
                                        </p:cTn>
                                        <p:tgtEl>
                                          <p:spTgt spid="4"/>
                                        </p:tgtEl>
                                        <p:attrNameLst>
                                          <p:attrName>style.visibility</p:attrName>
                                        </p:attrNameLst>
                                      </p:cBhvr>
                                      <p:to>
                                        <p:strVal val="visible"/>
                                      </p:to>
                                    </p:set>
                                    <p:animEffect transition="in" filter="barn(inVertical)">
                                      <p:cBhvr>
                                        <p:cTn id="5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2" grpId="0" animBg="1"/>
      <p:bldP spid="3" grpId="0"/>
      <p:bldP spid="4" grpId="0"/>
      <p:bldP spid="5" grpId="0"/>
      <p:bldP spid="6" grpId="0"/>
      <p:bldP spid="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圆角 19">
            <a:extLst>
              <a:ext uri="{FF2B5EF4-FFF2-40B4-BE49-F238E27FC236}">
                <a16:creationId xmlns:a16="http://schemas.microsoft.com/office/drawing/2014/main" id="{77443739-B14E-4A07-98C0-EF4A3BEE84DC}"/>
              </a:ext>
            </a:extLst>
          </p:cNvPr>
          <p:cNvSpPr/>
          <p:nvPr/>
        </p:nvSpPr>
        <p:spPr>
          <a:xfrm>
            <a:off x="455667" y="1383627"/>
            <a:ext cx="3024335" cy="45157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4E1C1893-AB90-4458-A5F7-957881641DB7}"/>
              </a:ext>
            </a:extLst>
          </p:cNvPr>
          <p:cNvSpPr/>
          <p:nvPr/>
        </p:nvSpPr>
        <p:spPr>
          <a:xfrm>
            <a:off x="596241" y="1412776"/>
            <a:ext cx="3024336"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en-US" sz="2000" dirty="0">
                <a:latin typeface="微软雅黑" panose="020B0503020204020204" pitchFamily="34" charset="-122"/>
                <a:ea typeface="微软雅黑" panose="020B0503020204020204" pitchFamily="34" charset="-122"/>
              </a:rPr>
              <a:t>规模不经济的原因</a:t>
            </a:r>
            <a:endParaRPr lang="zh-CN" altLang="en-US" sz="2000" dirty="0">
              <a:latin typeface="微软雅黑" panose="020B0503020204020204" pitchFamily="34" charset="-122"/>
              <a:ea typeface="微软雅黑" panose="020B0503020204020204" pitchFamily="34" charset="-122"/>
            </a:endParaRPr>
          </a:p>
        </p:txBody>
      </p:sp>
      <p:sp>
        <p:nvSpPr>
          <p:cNvPr id="4" name="矩形 3"/>
          <p:cNvSpPr/>
          <p:nvPr/>
        </p:nvSpPr>
        <p:spPr>
          <a:xfrm>
            <a:off x="756513" y="3550481"/>
            <a:ext cx="2347035" cy="1569660"/>
          </a:xfrm>
          <a:prstGeom prst="rect">
            <a:avLst/>
          </a:prstGeom>
        </p:spPr>
        <p:txBody>
          <a:bodyPr wrap="square">
            <a:spAutoFit/>
          </a:bodyPr>
          <a:lstStyle/>
          <a:p>
            <a:r>
              <a:rPr lang="en-US" sz="1600" dirty="0">
                <a:latin typeface="微软雅黑" panose="020B0503020204020204" pitchFamily="34" charset="-122"/>
                <a:ea typeface="微软雅黑" panose="020B0503020204020204" pitchFamily="34" charset="-122"/>
              </a:rPr>
              <a:t>管理和协调不灵活。规模扩大后，层级与部门增加，生产决策往往需要各个部门配合执行，其中管理和协调变得滞缓。</a:t>
            </a:r>
          </a:p>
        </p:txBody>
      </p:sp>
      <p:sp>
        <p:nvSpPr>
          <p:cNvPr id="5" name="矩形 4"/>
          <p:cNvSpPr/>
          <p:nvPr/>
        </p:nvSpPr>
        <p:spPr>
          <a:xfrm>
            <a:off x="3318686" y="3539302"/>
            <a:ext cx="2289509" cy="2308324"/>
          </a:xfrm>
          <a:prstGeom prst="rect">
            <a:avLst/>
          </a:prstGeom>
        </p:spPr>
        <p:txBody>
          <a:bodyPr wrap="square">
            <a:spAutoFit/>
          </a:bodyPr>
          <a:lstStyle/>
          <a:p>
            <a:r>
              <a:rPr lang="en-US" sz="1600" dirty="0">
                <a:latin typeface="微软雅黑" panose="020B0503020204020204" pitchFamily="34" charset="-122"/>
                <a:ea typeface="微软雅黑" panose="020B0503020204020204" pitchFamily="34" charset="-122"/>
              </a:rPr>
              <a:t>生产决策从</a:t>
            </a:r>
            <a:r>
              <a:rPr lang="zh-CN" altLang="en-US" sz="1600" dirty="0">
                <a:latin typeface="微软雅黑" panose="020B0503020204020204" pitchFamily="34" charset="-122"/>
                <a:ea typeface="微软雅黑" panose="020B0503020204020204" pitchFamily="34" charset="-122"/>
              </a:rPr>
              <a:t>制定</a:t>
            </a:r>
            <a:r>
              <a:rPr lang="en-US" sz="1600" dirty="0">
                <a:latin typeface="微软雅黑" panose="020B0503020204020204" pitchFamily="34" charset="-122"/>
                <a:ea typeface="微软雅黑" panose="020B0503020204020204" pitchFamily="34" charset="-122"/>
              </a:rPr>
              <a:t>到执行要经过不同的层级，传递速度变慢，而且决策信息在传递过程中也出现不同程度的失真。例如，中央总部的真实意图在西部某一个具体生产企业那里不一定得到清晰理解。</a:t>
            </a:r>
          </a:p>
        </p:txBody>
      </p:sp>
      <p:sp>
        <p:nvSpPr>
          <p:cNvPr id="6" name="矩形 5"/>
          <p:cNvSpPr/>
          <p:nvPr/>
        </p:nvSpPr>
        <p:spPr>
          <a:xfrm>
            <a:off x="5878707" y="3550481"/>
            <a:ext cx="2289509" cy="1815882"/>
          </a:xfrm>
          <a:prstGeom prst="rect">
            <a:avLst/>
          </a:prstGeom>
        </p:spPr>
        <p:txBody>
          <a:bodyPr wrap="square">
            <a:spAutoFit/>
          </a:bodyPr>
          <a:lstStyle/>
          <a:p>
            <a:r>
              <a:rPr lang="en-US" sz="1600" dirty="0">
                <a:latin typeface="微软雅黑" panose="020B0503020204020204" pitchFamily="34" charset="-122"/>
                <a:ea typeface="微软雅黑" panose="020B0503020204020204" pitchFamily="34" charset="-122"/>
              </a:rPr>
              <a:t>应变能力变弱。规模扩大后，固然能够抗击各种不确定性的冲击，但是及时调整战略就难以做到。如泰坦尼克固然可以抗击风浪，但是却难以灵活转向。</a:t>
            </a:r>
          </a:p>
        </p:txBody>
      </p:sp>
      <p:sp>
        <p:nvSpPr>
          <p:cNvPr id="7" name="矩形 6">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8" name="AutoShape 6">
            <a:extLst>
              <a:ext uri="{FF2B5EF4-FFF2-40B4-BE49-F238E27FC236}">
                <a16:creationId xmlns:a16="http://schemas.microsoft.com/office/drawing/2014/main" id="{689CCEB9-6A1B-4AE6-90D4-EA72A3A2B55E}"/>
              </a:ext>
            </a:extLst>
          </p:cNvPr>
          <p:cNvSpPr>
            <a:spLocks/>
          </p:cNvSpPr>
          <p:nvPr/>
        </p:nvSpPr>
        <p:spPr bwMode="auto">
          <a:xfrm>
            <a:off x="1589953" y="2236588"/>
            <a:ext cx="661109" cy="661195"/>
          </a:xfrm>
          <a:custGeom>
            <a:avLst/>
            <a:gdLst>
              <a:gd name="T0" fmla="*/ 661160 w 19679"/>
              <a:gd name="T1" fmla="*/ 725738 h 19679"/>
              <a:gd name="T2" fmla="*/ 661160 w 19679"/>
              <a:gd name="T3" fmla="*/ 725738 h 19679"/>
              <a:gd name="T4" fmla="*/ 661160 w 19679"/>
              <a:gd name="T5" fmla="*/ 725738 h 19679"/>
              <a:gd name="T6" fmla="*/ 661160 w 19679"/>
              <a:gd name="T7" fmla="*/ 725738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AFD9E6"/>
          </a:solidFill>
          <a:ln w="25400" cap="flat" cmpd="sng">
            <a:solidFill>
              <a:srgbClr val="000000">
                <a:alpha val="0"/>
              </a:srgbClr>
            </a:solidFill>
            <a:prstDash val="solid"/>
            <a:miter lim="0"/>
            <a:headEnd/>
            <a:tailEnd/>
          </a:ln>
          <a:effectLst/>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effectLst/>
              <a:uLnTx/>
              <a:uFillTx/>
              <a:latin typeface="印品黑体" panose="00000500000000000000" pitchFamily="2" charset="-122"/>
              <a:ea typeface="印品黑体" panose="00000500000000000000" pitchFamily="2" charset="-122"/>
            </a:endParaRPr>
          </a:p>
        </p:txBody>
      </p:sp>
      <p:sp>
        <p:nvSpPr>
          <p:cNvPr id="9" name="AutoShape 7">
            <a:extLst>
              <a:ext uri="{FF2B5EF4-FFF2-40B4-BE49-F238E27FC236}">
                <a16:creationId xmlns:a16="http://schemas.microsoft.com/office/drawing/2014/main" id="{B6A3EB1C-4E40-46CA-A056-F66DE6113CA7}"/>
              </a:ext>
            </a:extLst>
          </p:cNvPr>
          <p:cNvSpPr>
            <a:spLocks/>
          </p:cNvSpPr>
          <p:nvPr/>
        </p:nvSpPr>
        <p:spPr bwMode="auto">
          <a:xfrm>
            <a:off x="6656133" y="2221646"/>
            <a:ext cx="661107" cy="661195"/>
          </a:xfrm>
          <a:custGeom>
            <a:avLst/>
            <a:gdLst>
              <a:gd name="T0" fmla="*/ 661160 w 19679"/>
              <a:gd name="T1" fmla="*/ 725738 h 19679"/>
              <a:gd name="T2" fmla="*/ 661160 w 19679"/>
              <a:gd name="T3" fmla="*/ 725738 h 19679"/>
              <a:gd name="T4" fmla="*/ 661160 w 19679"/>
              <a:gd name="T5" fmla="*/ 725738 h 19679"/>
              <a:gd name="T6" fmla="*/ 661160 w 19679"/>
              <a:gd name="T7" fmla="*/ 725738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AFD9E6"/>
          </a:solidFill>
          <a:ln w="25400" cap="flat" cmpd="sng">
            <a:solidFill>
              <a:srgbClr val="000000">
                <a:alpha val="0"/>
              </a:srgbClr>
            </a:solidFill>
            <a:prstDash val="solid"/>
            <a:miter lim="0"/>
            <a:headEnd/>
            <a:tailEnd/>
          </a:ln>
          <a:effectLst/>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effectLst/>
              <a:uLnTx/>
              <a:uFillTx/>
              <a:latin typeface="印品黑体" panose="00000500000000000000" pitchFamily="2" charset="-122"/>
              <a:ea typeface="印品黑体" panose="00000500000000000000" pitchFamily="2" charset="-122"/>
            </a:endParaRPr>
          </a:p>
        </p:txBody>
      </p:sp>
      <p:sp>
        <p:nvSpPr>
          <p:cNvPr id="10" name="AutoShape 8">
            <a:extLst>
              <a:ext uri="{FF2B5EF4-FFF2-40B4-BE49-F238E27FC236}">
                <a16:creationId xmlns:a16="http://schemas.microsoft.com/office/drawing/2014/main" id="{0942D94B-2D7A-4034-B787-3CC89E736114}"/>
              </a:ext>
            </a:extLst>
          </p:cNvPr>
          <p:cNvSpPr>
            <a:spLocks/>
          </p:cNvSpPr>
          <p:nvPr/>
        </p:nvSpPr>
        <p:spPr bwMode="auto">
          <a:xfrm>
            <a:off x="4105003" y="2236588"/>
            <a:ext cx="661109" cy="661195"/>
          </a:xfrm>
          <a:custGeom>
            <a:avLst/>
            <a:gdLst>
              <a:gd name="T0" fmla="*/ 661160 w 19679"/>
              <a:gd name="T1" fmla="*/ 725738 h 19679"/>
              <a:gd name="T2" fmla="*/ 661160 w 19679"/>
              <a:gd name="T3" fmla="*/ 725738 h 19679"/>
              <a:gd name="T4" fmla="*/ 661160 w 19679"/>
              <a:gd name="T5" fmla="*/ 725738 h 19679"/>
              <a:gd name="T6" fmla="*/ 661160 w 19679"/>
              <a:gd name="T7" fmla="*/ 725738 h 1967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9679" h="19679">
                <a:moveTo>
                  <a:pt x="16796" y="2881"/>
                </a:moveTo>
                <a:cubicBezTo>
                  <a:pt x="20639" y="6724"/>
                  <a:pt x="20639" y="12953"/>
                  <a:pt x="16796" y="16796"/>
                </a:cubicBezTo>
                <a:cubicBezTo>
                  <a:pt x="12953" y="20638"/>
                  <a:pt x="6724" y="20638"/>
                  <a:pt x="2881" y="16796"/>
                </a:cubicBezTo>
                <a:cubicBezTo>
                  <a:pt x="-961" y="12953"/>
                  <a:pt x="-961" y="6724"/>
                  <a:pt x="2881" y="2881"/>
                </a:cubicBezTo>
                <a:cubicBezTo>
                  <a:pt x="6724" y="-961"/>
                  <a:pt x="12953" y="-961"/>
                  <a:pt x="16796" y="2881"/>
                </a:cubicBezTo>
              </a:path>
            </a:pathLst>
          </a:custGeom>
          <a:solidFill>
            <a:srgbClr val="AFD9E6"/>
          </a:solidFill>
          <a:ln w="25400" cap="flat" cmpd="sng">
            <a:solidFill>
              <a:srgbClr val="000000">
                <a:alpha val="0"/>
              </a:srgbClr>
            </a:solidFill>
            <a:prstDash val="solid"/>
            <a:miter lim="0"/>
            <a:headEnd/>
            <a:tailEnd/>
          </a:ln>
          <a:effectLst/>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effectLst/>
              <a:uLnTx/>
              <a:uFillTx/>
              <a:latin typeface="印品黑体" panose="00000500000000000000" pitchFamily="2" charset="-122"/>
              <a:ea typeface="印品黑体" panose="00000500000000000000" pitchFamily="2" charset="-122"/>
            </a:endParaRPr>
          </a:p>
        </p:txBody>
      </p:sp>
      <p:sp>
        <p:nvSpPr>
          <p:cNvPr id="12" name="AutoShape 10">
            <a:extLst>
              <a:ext uri="{FF2B5EF4-FFF2-40B4-BE49-F238E27FC236}">
                <a16:creationId xmlns:a16="http://schemas.microsoft.com/office/drawing/2014/main" id="{7338DBEB-0DE5-4B10-856C-A0AFC6403194}"/>
              </a:ext>
            </a:extLst>
          </p:cNvPr>
          <p:cNvSpPr>
            <a:spLocks/>
          </p:cNvSpPr>
          <p:nvPr/>
        </p:nvSpPr>
        <p:spPr bwMode="auto">
          <a:xfrm>
            <a:off x="6872004" y="2436752"/>
            <a:ext cx="239681" cy="240506"/>
          </a:xfrm>
          <a:custGeom>
            <a:avLst/>
            <a:gdLst>
              <a:gd name="T0" fmla="*/ 239713 w 21600"/>
              <a:gd name="T1" fmla="*/ 240506 h 21600"/>
              <a:gd name="T2" fmla="*/ 239713 w 21600"/>
              <a:gd name="T3" fmla="*/ 240506 h 21600"/>
              <a:gd name="T4" fmla="*/ 239713 w 21600"/>
              <a:gd name="T5" fmla="*/ 240506 h 21600"/>
              <a:gd name="T6" fmla="*/ 239713 w 21600"/>
              <a:gd name="T7" fmla="*/ 24050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5738" y="0"/>
                </a:moveTo>
                <a:cubicBezTo>
                  <a:pt x="16640" y="0"/>
                  <a:pt x="17458" y="155"/>
                  <a:pt x="18184" y="471"/>
                </a:cubicBezTo>
                <a:cubicBezTo>
                  <a:pt x="18910" y="787"/>
                  <a:pt x="19526" y="1231"/>
                  <a:pt x="20035" y="1804"/>
                </a:cubicBezTo>
                <a:cubicBezTo>
                  <a:pt x="20543" y="2377"/>
                  <a:pt x="20928" y="3077"/>
                  <a:pt x="21199" y="3905"/>
                </a:cubicBezTo>
                <a:cubicBezTo>
                  <a:pt x="21464" y="4735"/>
                  <a:pt x="21599" y="5659"/>
                  <a:pt x="21599" y="6675"/>
                </a:cubicBezTo>
                <a:cubicBezTo>
                  <a:pt x="21599" y="7271"/>
                  <a:pt x="21527" y="7855"/>
                  <a:pt x="21377" y="8432"/>
                </a:cubicBezTo>
                <a:cubicBezTo>
                  <a:pt x="21226" y="9010"/>
                  <a:pt x="21026" y="9572"/>
                  <a:pt x="20766" y="10115"/>
                </a:cubicBezTo>
                <a:cubicBezTo>
                  <a:pt x="20505" y="10660"/>
                  <a:pt x="20210" y="11179"/>
                  <a:pt x="19872" y="11671"/>
                </a:cubicBezTo>
                <a:cubicBezTo>
                  <a:pt x="19539" y="12162"/>
                  <a:pt x="19188" y="12611"/>
                  <a:pt x="18830" y="13015"/>
                </a:cubicBezTo>
                <a:lnTo>
                  <a:pt x="11457" y="21289"/>
                </a:lnTo>
                <a:cubicBezTo>
                  <a:pt x="11276" y="21495"/>
                  <a:pt x="11056" y="21600"/>
                  <a:pt x="10798" y="21600"/>
                </a:cubicBezTo>
                <a:cubicBezTo>
                  <a:pt x="10553" y="21600"/>
                  <a:pt x="10323" y="21495"/>
                  <a:pt x="10117" y="21289"/>
                </a:cubicBezTo>
                <a:lnTo>
                  <a:pt x="2746" y="12989"/>
                </a:lnTo>
                <a:cubicBezTo>
                  <a:pt x="2386" y="12583"/>
                  <a:pt x="2038" y="12137"/>
                  <a:pt x="1702" y="11642"/>
                </a:cubicBezTo>
                <a:cubicBezTo>
                  <a:pt x="1367" y="11151"/>
                  <a:pt x="1074" y="10640"/>
                  <a:pt x="821" y="10103"/>
                </a:cubicBezTo>
                <a:cubicBezTo>
                  <a:pt x="568" y="9570"/>
                  <a:pt x="370" y="9005"/>
                  <a:pt x="222" y="8426"/>
                </a:cubicBezTo>
                <a:cubicBezTo>
                  <a:pt x="72" y="7844"/>
                  <a:pt x="0" y="7263"/>
                  <a:pt x="0" y="6675"/>
                </a:cubicBezTo>
                <a:cubicBezTo>
                  <a:pt x="0" y="5659"/>
                  <a:pt x="137" y="4732"/>
                  <a:pt x="408" y="3905"/>
                </a:cubicBezTo>
                <a:cubicBezTo>
                  <a:pt x="678" y="3078"/>
                  <a:pt x="1071" y="2377"/>
                  <a:pt x="1577" y="1804"/>
                </a:cubicBezTo>
                <a:cubicBezTo>
                  <a:pt x="2083" y="1231"/>
                  <a:pt x="2699" y="787"/>
                  <a:pt x="3417" y="471"/>
                </a:cubicBezTo>
                <a:cubicBezTo>
                  <a:pt x="4136" y="155"/>
                  <a:pt x="4942" y="0"/>
                  <a:pt x="5838" y="0"/>
                </a:cubicBezTo>
                <a:cubicBezTo>
                  <a:pt x="6306" y="0"/>
                  <a:pt x="6777" y="81"/>
                  <a:pt x="7238" y="248"/>
                </a:cubicBezTo>
                <a:cubicBezTo>
                  <a:pt x="7701" y="412"/>
                  <a:pt x="8142" y="635"/>
                  <a:pt x="8557" y="903"/>
                </a:cubicBezTo>
                <a:cubicBezTo>
                  <a:pt x="8973" y="1174"/>
                  <a:pt x="9369" y="1482"/>
                  <a:pt x="9744" y="1830"/>
                </a:cubicBezTo>
                <a:cubicBezTo>
                  <a:pt x="10122" y="2177"/>
                  <a:pt x="10470" y="2527"/>
                  <a:pt x="10798" y="2880"/>
                </a:cubicBezTo>
                <a:cubicBezTo>
                  <a:pt x="11109" y="2527"/>
                  <a:pt x="11457" y="2177"/>
                  <a:pt x="11842" y="1830"/>
                </a:cubicBezTo>
                <a:cubicBezTo>
                  <a:pt x="12225" y="1482"/>
                  <a:pt x="12626" y="1174"/>
                  <a:pt x="13047" y="903"/>
                </a:cubicBezTo>
                <a:cubicBezTo>
                  <a:pt x="13467" y="635"/>
                  <a:pt x="13903" y="412"/>
                  <a:pt x="14351" y="248"/>
                </a:cubicBezTo>
                <a:cubicBezTo>
                  <a:pt x="14804" y="84"/>
                  <a:pt x="15267" y="0"/>
                  <a:pt x="15738" y="0"/>
                </a:cubicBezTo>
              </a:path>
            </a:pathLst>
          </a:custGeom>
          <a:solidFill>
            <a:schemeClr val="bg1"/>
          </a:solidFill>
          <a:ln>
            <a:noFill/>
          </a:ln>
          <a:effectLst/>
        </p:spPr>
        <p:txBody>
          <a:bodyPr lIns="19046" tIns="19046" rIns="19046" bIns="19046" anchor="ctr"/>
          <a:lstStyle/>
          <a:p>
            <a:pPr defTabSz="914400"/>
            <a:endParaRPr lang="zh-CN" altLang="en-US" dirty="0">
              <a:latin typeface="印品黑体" panose="00000500000000000000" pitchFamily="2" charset="-122"/>
              <a:ea typeface="印品黑体" panose="00000500000000000000" pitchFamily="2" charset="-122"/>
            </a:endParaRPr>
          </a:p>
        </p:txBody>
      </p:sp>
      <p:sp>
        <p:nvSpPr>
          <p:cNvPr id="14" name="AutoShape 12">
            <a:extLst>
              <a:ext uri="{FF2B5EF4-FFF2-40B4-BE49-F238E27FC236}">
                <a16:creationId xmlns:a16="http://schemas.microsoft.com/office/drawing/2014/main" id="{CED7395A-90F3-4885-A4A0-6ADF204274A2}"/>
              </a:ext>
            </a:extLst>
          </p:cNvPr>
          <p:cNvSpPr>
            <a:spLocks/>
          </p:cNvSpPr>
          <p:nvPr/>
        </p:nvSpPr>
        <p:spPr bwMode="auto">
          <a:xfrm>
            <a:off x="1809794" y="2431850"/>
            <a:ext cx="240475" cy="240507"/>
          </a:xfrm>
          <a:custGeom>
            <a:avLst/>
            <a:gdLst>
              <a:gd name="T0" fmla="*/ 240506 w 21376"/>
              <a:gd name="T1" fmla="*/ 240507 h 21600"/>
              <a:gd name="T2" fmla="*/ 240506 w 21376"/>
              <a:gd name="T3" fmla="*/ 240507 h 21600"/>
              <a:gd name="T4" fmla="*/ 240506 w 21376"/>
              <a:gd name="T5" fmla="*/ 240507 h 21600"/>
              <a:gd name="T6" fmla="*/ 240506 w 21376"/>
              <a:gd name="T7" fmla="*/ 240507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376" h="21600">
                <a:moveTo>
                  <a:pt x="21036" y="18604"/>
                </a:moveTo>
                <a:cubicBezTo>
                  <a:pt x="21454" y="19261"/>
                  <a:pt x="21486" y="19922"/>
                  <a:pt x="21134" y="20586"/>
                </a:cubicBezTo>
                <a:cubicBezTo>
                  <a:pt x="20969" y="20915"/>
                  <a:pt x="20731" y="21168"/>
                  <a:pt x="20427" y="21338"/>
                </a:cubicBezTo>
                <a:cubicBezTo>
                  <a:pt x="20122" y="21514"/>
                  <a:pt x="19797" y="21600"/>
                  <a:pt x="19455" y="21600"/>
                </a:cubicBezTo>
                <a:lnTo>
                  <a:pt x="1928" y="21600"/>
                </a:lnTo>
                <a:cubicBezTo>
                  <a:pt x="1585" y="21600"/>
                  <a:pt x="1263" y="21514"/>
                  <a:pt x="965" y="21338"/>
                </a:cubicBezTo>
                <a:cubicBezTo>
                  <a:pt x="663" y="21168"/>
                  <a:pt x="425" y="20915"/>
                  <a:pt x="248" y="20586"/>
                </a:cubicBezTo>
                <a:cubicBezTo>
                  <a:pt x="-114" y="19914"/>
                  <a:pt x="-80" y="19250"/>
                  <a:pt x="344" y="18604"/>
                </a:cubicBezTo>
                <a:lnTo>
                  <a:pt x="7509" y="7313"/>
                </a:lnTo>
                <a:lnTo>
                  <a:pt x="7509" y="2167"/>
                </a:lnTo>
                <a:lnTo>
                  <a:pt x="6427" y="2167"/>
                </a:lnTo>
                <a:cubicBezTo>
                  <a:pt x="6122" y="2167"/>
                  <a:pt x="5870" y="2061"/>
                  <a:pt x="5670" y="1850"/>
                </a:cubicBezTo>
                <a:cubicBezTo>
                  <a:pt x="5473" y="1638"/>
                  <a:pt x="5371" y="1380"/>
                  <a:pt x="5371" y="1072"/>
                </a:cubicBezTo>
                <a:cubicBezTo>
                  <a:pt x="5371" y="778"/>
                  <a:pt x="5473" y="528"/>
                  <a:pt x="5670" y="320"/>
                </a:cubicBezTo>
                <a:cubicBezTo>
                  <a:pt x="5870" y="108"/>
                  <a:pt x="6122" y="0"/>
                  <a:pt x="6427" y="0"/>
                </a:cubicBezTo>
                <a:lnTo>
                  <a:pt x="14953" y="0"/>
                </a:lnTo>
                <a:cubicBezTo>
                  <a:pt x="15260" y="0"/>
                  <a:pt x="15515" y="108"/>
                  <a:pt x="15724" y="320"/>
                </a:cubicBezTo>
                <a:cubicBezTo>
                  <a:pt x="15933" y="528"/>
                  <a:pt x="16038" y="778"/>
                  <a:pt x="16038" y="1072"/>
                </a:cubicBezTo>
                <a:cubicBezTo>
                  <a:pt x="16038" y="1380"/>
                  <a:pt x="15933" y="1638"/>
                  <a:pt x="15724" y="1850"/>
                </a:cubicBezTo>
                <a:cubicBezTo>
                  <a:pt x="15515" y="2061"/>
                  <a:pt x="15260" y="2167"/>
                  <a:pt x="14953" y="2167"/>
                </a:cubicBezTo>
                <a:lnTo>
                  <a:pt x="13900" y="2167"/>
                </a:lnTo>
                <a:lnTo>
                  <a:pt x="13900" y="7339"/>
                </a:lnTo>
                <a:lnTo>
                  <a:pt x="21036" y="18604"/>
                </a:lnTo>
                <a:close/>
                <a:moveTo>
                  <a:pt x="5261" y="14865"/>
                </a:moveTo>
                <a:lnTo>
                  <a:pt x="16122" y="14865"/>
                </a:lnTo>
                <a:lnTo>
                  <a:pt x="11773" y="7974"/>
                </a:lnTo>
                <a:lnTo>
                  <a:pt x="11773" y="2167"/>
                </a:lnTo>
                <a:lnTo>
                  <a:pt x="9635" y="2167"/>
                </a:lnTo>
                <a:lnTo>
                  <a:pt x="9635" y="7947"/>
                </a:lnTo>
                <a:lnTo>
                  <a:pt x="5261" y="14865"/>
                </a:lnTo>
                <a:close/>
              </a:path>
            </a:pathLst>
          </a:custGeom>
          <a:solidFill>
            <a:schemeClr val="bg1"/>
          </a:solidFill>
          <a:ln>
            <a:noFill/>
          </a:ln>
          <a:effectLst/>
        </p:spPr>
        <p:txBody>
          <a:bodyPr lIns="19046" tIns="19046" rIns="19046" bIns="19046" anchor="ctr"/>
          <a:lstStyle/>
          <a:p>
            <a:pPr defTabSz="914400"/>
            <a:endParaRPr lang="zh-CN" altLang="en-US" dirty="0">
              <a:latin typeface="印品黑体" panose="00000500000000000000" pitchFamily="2" charset="-122"/>
              <a:ea typeface="印品黑体" panose="00000500000000000000" pitchFamily="2" charset="-122"/>
            </a:endParaRPr>
          </a:p>
        </p:txBody>
      </p:sp>
      <p:sp>
        <p:nvSpPr>
          <p:cNvPr id="15" name="AutoShape 13">
            <a:extLst>
              <a:ext uri="{FF2B5EF4-FFF2-40B4-BE49-F238E27FC236}">
                <a16:creationId xmlns:a16="http://schemas.microsoft.com/office/drawing/2014/main" id="{3DEAEB06-E436-429E-9588-918BE465F1DA}"/>
              </a:ext>
            </a:extLst>
          </p:cNvPr>
          <p:cNvSpPr>
            <a:spLocks/>
          </p:cNvSpPr>
          <p:nvPr/>
        </p:nvSpPr>
        <p:spPr bwMode="auto">
          <a:xfrm>
            <a:off x="4329607" y="2431850"/>
            <a:ext cx="240475" cy="240507"/>
          </a:xfrm>
          <a:custGeom>
            <a:avLst/>
            <a:gdLst>
              <a:gd name="T0" fmla="*/ 240495 w 21591"/>
              <a:gd name="T1" fmla="*/ 241625 h 21498"/>
              <a:gd name="T2" fmla="*/ 240495 w 21591"/>
              <a:gd name="T3" fmla="*/ 241625 h 21498"/>
              <a:gd name="T4" fmla="*/ 240495 w 21591"/>
              <a:gd name="T5" fmla="*/ 241625 h 21498"/>
              <a:gd name="T6" fmla="*/ 240495 w 21591"/>
              <a:gd name="T7" fmla="*/ 241625 h 2149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591" h="21498">
                <a:moveTo>
                  <a:pt x="14059" y="6524"/>
                </a:moveTo>
                <a:cubicBezTo>
                  <a:pt x="13645" y="6524"/>
                  <a:pt x="13256" y="6670"/>
                  <a:pt x="12887" y="6962"/>
                </a:cubicBezTo>
                <a:cubicBezTo>
                  <a:pt x="12520" y="7257"/>
                  <a:pt x="12155" y="7651"/>
                  <a:pt x="11798" y="8138"/>
                </a:cubicBezTo>
                <a:cubicBezTo>
                  <a:pt x="11441" y="8626"/>
                  <a:pt x="11081" y="9183"/>
                  <a:pt x="10726" y="9814"/>
                </a:cubicBezTo>
                <a:cubicBezTo>
                  <a:pt x="10371" y="10444"/>
                  <a:pt x="10017" y="11093"/>
                  <a:pt x="9664" y="11764"/>
                </a:cubicBezTo>
                <a:cubicBezTo>
                  <a:pt x="9234" y="12584"/>
                  <a:pt x="8793" y="13393"/>
                  <a:pt x="8336" y="14196"/>
                </a:cubicBezTo>
                <a:cubicBezTo>
                  <a:pt x="7876" y="14996"/>
                  <a:pt x="7384" y="15717"/>
                  <a:pt x="6858" y="16356"/>
                </a:cubicBezTo>
                <a:cubicBezTo>
                  <a:pt x="6329" y="16995"/>
                  <a:pt x="5752" y="17509"/>
                  <a:pt x="5118" y="17897"/>
                </a:cubicBezTo>
                <a:cubicBezTo>
                  <a:pt x="4484" y="18289"/>
                  <a:pt x="3787" y="18487"/>
                  <a:pt x="3021" y="18487"/>
                </a:cubicBezTo>
                <a:lnTo>
                  <a:pt x="457" y="18487"/>
                </a:lnTo>
                <a:cubicBezTo>
                  <a:pt x="332" y="18487"/>
                  <a:pt x="225" y="18432"/>
                  <a:pt x="134" y="18324"/>
                </a:cubicBezTo>
                <a:cubicBezTo>
                  <a:pt x="44" y="18219"/>
                  <a:pt x="0" y="18090"/>
                  <a:pt x="0" y="17941"/>
                </a:cubicBezTo>
                <a:lnTo>
                  <a:pt x="0" y="15790"/>
                </a:lnTo>
                <a:cubicBezTo>
                  <a:pt x="0" y="15638"/>
                  <a:pt x="44" y="15512"/>
                  <a:pt x="134" y="15410"/>
                </a:cubicBezTo>
                <a:cubicBezTo>
                  <a:pt x="225" y="15311"/>
                  <a:pt x="332" y="15255"/>
                  <a:pt x="457" y="15255"/>
                </a:cubicBezTo>
                <a:lnTo>
                  <a:pt x="3021" y="15255"/>
                </a:lnTo>
                <a:cubicBezTo>
                  <a:pt x="3420" y="15255"/>
                  <a:pt x="3809" y="15112"/>
                  <a:pt x="4188" y="14823"/>
                </a:cubicBezTo>
                <a:cubicBezTo>
                  <a:pt x="4568" y="14537"/>
                  <a:pt x="4932" y="14149"/>
                  <a:pt x="5285" y="13664"/>
                </a:cubicBezTo>
                <a:cubicBezTo>
                  <a:pt x="5637" y="13180"/>
                  <a:pt x="5984" y="12622"/>
                  <a:pt x="6339" y="11995"/>
                </a:cubicBezTo>
                <a:cubicBezTo>
                  <a:pt x="6691" y="11367"/>
                  <a:pt x="7041" y="10716"/>
                  <a:pt x="7394" y="10044"/>
                </a:cubicBezTo>
                <a:cubicBezTo>
                  <a:pt x="7822" y="9224"/>
                  <a:pt x="8270" y="8407"/>
                  <a:pt x="8734" y="7598"/>
                </a:cubicBezTo>
                <a:cubicBezTo>
                  <a:pt x="9199" y="6789"/>
                  <a:pt x="9696" y="6063"/>
                  <a:pt x="10222" y="5420"/>
                </a:cubicBezTo>
                <a:cubicBezTo>
                  <a:pt x="10748" y="4775"/>
                  <a:pt x="11323" y="4261"/>
                  <a:pt x="11949" y="3876"/>
                </a:cubicBezTo>
                <a:cubicBezTo>
                  <a:pt x="12573" y="3488"/>
                  <a:pt x="13276" y="3292"/>
                  <a:pt x="14056" y="3292"/>
                </a:cubicBezTo>
                <a:lnTo>
                  <a:pt x="16434" y="3292"/>
                </a:lnTo>
                <a:lnTo>
                  <a:pt x="16434" y="711"/>
                </a:lnTo>
                <a:cubicBezTo>
                  <a:pt x="16434" y="329"/>
                  <a:pt x="16530" y="101"/>
                  <a:pt x="16721" y="22"/>
                </a:cubicBezTo>
                <a:cubicBezTo>
                  <a:pt x="16914" y="-50"/>
                  <a:pt x="17146" y="49"/>
                  <a:pt x="17418" y="317"/>
                </a:cubicBezTo>
                <a:lnTo>
                  <a:pt x="21330" y="4203"/>
                </a:lnTo>
                <a:cubicBezTo>
                  <a:pt x="21511" y="4372"/>
                  <a:pt x="21597" y="4582"/>
                  <a:pt x="21587" y="4834"/>
                </a:cubicBezTo>
                <a:cubicBezTo>
                  <a:pt x="21587" y="5102"/>
                  <a:pt x="21502" y="5321"/>
                  <a:pt x="21330" y="5487"/>
                </a:cubicBezTo>
                <a:lnTo>
                  <a:pt x="17418" y="9361"/>
                </a:lnTo>
                <a:cubicBezTo>
                  <a:pt x="17146" y="9630"/>
                  <a:pt x="16914" y="9726"/>
                  <a:pt x="16721" y="9644"/>
                </a:cubicBezTo>
                <a:cubicBezTo>
                  <a:pt x="16530" y="9569"/>
                  <a:pt x="16434" y="9338"/>
                  <a:pt x="16434" y="8956"/>
                </a:cubicBezTo>
                <a:lnTo>
                  <a:pt x="16434" y="6524"/>
                </a:lnTo>
                <a:lnTo>
                  <a:pt x="14059" y="6524"/>
                </a:lnTo>
                <a:close/>
                <a:moveTo>
                  <a:pt x="462" y="6495"/>
                </a:moveTo>
                <a:cubicBezTo>
                  <a:pt x="337" y="6495"/>
                  <a:pt x="229" y="6448"/>
                  <a:pt x="139" y="6349"/>
                </a:cubicBezTo>
                <a:cubicBezTo>
                  <a:pt x="48" y="6250"/>
                  <a:pt x="4" y="6127"/>
                  <a:pt x="4" y="5978"/>
                </a:cubicBezTo>
                <a:lnTo>
                  <a:pt x="4" y="3823"/>
                </a:lnTo>
                <a:cubicBezTo>
                  <a:pt x="4" y="3462"/>
                  <a:pt x="156" y="3286"/>
                  <a:pt x="462" y="3292"/>
                </a:cubicBezTo>
                <a:lnTo>
                  <a:pt x="3026" y="3292"/>
                </a:lnTo>
                <a:cubicBezTo>
                  <a:pt x="3560" y="3292"/>
                  <a:pt x="4054" y="3388"/>
                  <a:pt x="4514" y="3572"/>
                </a:cubicBezTo>
                <a:cubicBezTo>
                  <a:pt x="4974" y="3762"/>
                  <a:pt x="5409" y="4022"/>
                  <a:pt x="5820" y="4358"/>
                </a:cubicBezTo>
                <a:cubicBezTo>
                  <a:pt x="6229" y="4691"/>
                  <a:pt x="6608" y="5085"/>
                  <a:pt x="6963" y="5531"/>
                </a:cubicBezTo>
                <a:cubicBezTo>
                  <a:pt x="7318" y="5978"/>
                  <a:pt x="7655" y="6463"/>
                  <a:pt x="7993" y="6982"/>
                </a:cubicBezTo>
                <a:cubicBezTo>
                  <a:pt x="7518" y="7823"/>
                  <a:pt x="7058" y="8652"/>
                  <a:pt x="6620" y="9472"/>
                </a:cubicBezTo>
                <a:cubicBezTo>
                  <a:pt x="6589" y="9548"/>
                  <a:pt x="6557" y="9610"/>
                  <a:pt x="6515" y="9668"/>
                </a:cubicBezTo>
                <a:cubicBezTo>
                  <a:pt x="6476" y="9726"/>
                  <a:pt x="6442" y="9793"/>
                  <a:pt x="6410" y="9875"/>
                </a:cubicBezTo>
                <a:cubicBezTo>
                  <a:pt x="5862" y="8926"/>
                  <a:pt x="5319" y="8127"/>
                  <a:pt x="4776" y="7473"/>
                </a:cubicBezTo>
                <a:cubicBezTo>
                  <a:pt x="4232" y="6822"/>
                  <a:pt x="3650" y="6495"/>
                  <a:pt x="3024" y="6495"/>
                </a:cubicBezTo>
                <a:lnTo>
                  <a:pt x="462" y="6495"/>
                </a:lnTo>
                <a:close/>
                <a:moveTo>
                  <a:pt x="21333" y="15997"/>
                </a:moveTo>
                <a:cubicBezTo>
                  <a:pt x="21514" y="16166"/>
                  <a:pt x="21600" y="16385"/>
                  <a:pt x="21590" y="16657"/>
                </a:cubicBezTo>
                <a:cubicBezTo>
                  <a:pt x="21590" y="16908"/>
                  <a:pt x="21504" y="17115"/>
                  <a:pt x="21333" y="17284"/>
                </a:cubicBezTo>
                <a:lnTo>
                  <a:pt x="17420" y="21182"/>
                </a:lnTo>
                <a:cubicBezTo>
                  <a:pt x="17149" y="21453"/>
                  <a:pt x="16916" y="21550"/>
                  <a:pt x="16723" y="21471"/>
                </a:cubicBezTo>
                <a:cubicBezTo>
                  <a:pt x="16532" y="21392"/>
                  <a:pt x="16437" y="21161"/>
                  <a:pt x="16437" y="20779"/>
                </a:cubicBezTo>
                <a:lnTo>
                  <a:pt x="16437" y="18432"/>
                </a:lnTo>
                <a:lnTo>
                  <a:pt x="14059" y="18432"/>
                </a:lnTo>
                <a:cubicBezTo>
                  <a:pt x="13528" y="18432"/>
                  <a:pt x="13031" y="18335"/>
                  <a:pt x="12573" y="18143"/>
                </a:cubicBezTo>
                <a:cubicBezTo>
                  <a:pt x="12113" y="17953"/>
                  <a:pt x="11680" y="17690"/>
                  <a:pt x="11279" y="17354"/>
                </a:cubicBezTo>
                <a:cubicBezTo>
                  <a:pt x="10878" y="17019"/>
                  <a:pt x="10496" y="16628"/>
                  <a:pt x="10136" y="16181"/>
                </a:cubicBezTo>
                <a:cubicBezTo>
                  <a:pt x="9779" y="15731"/>
                  <a:pt x="9439" y="15253"/>
                  <a:pt x="9119" y="14739"/>
                </a:cubicBezTo>
                <a:cubicBezTo>
                  <a:pt x="9344" y="14359"/>
                  <a:pt x="9566" y="13962"/>
                  <a:pt x="9779" y="13551"/>
                </a:cubicBezTo>
                <a:cubicBezTo>
                  <a:pt x="9994" y="13142"/>
                  <a:pt x="10217" y="12739"/>
                  <a:pt x="10442" y="12336"/>
                </a:cubicBezTo>
                <a:cubicBezTo>
                  <a:pt x="10474" y="12246"/>
                  <a:pt x="10513" y="12164"/>
                  <a:pt x="10560" y="12091"/>
                </a:cubicBezTo>
                <a:cubicBezTo>
                  <a:pt x="10609" y="12024"/>
                  <a:pt x="10645" y="11939"/>
                  <a:pt x="10680" y="11846"/>
                </a:cubicBezTo>
                <a:cubicBezTo>
                  <a:pt x="11225" y="12797"/>
                  <a:pt x="11768" y="13591"/>
                  <a:pt x="12314" y="14231"/>
                </a:cubicBezTo>
                <a:cubicBezTo>
                  <a:pt x="12855" y="14867"/>
                  <a:pt x="13440" y="15188"/>
                  <a:pt x="14063" y="15188"/>
                </a:cubicBezTo>
                <a:lnTo>
                  <a:pt x="16442" y="15188"/>
                </a:lnTo>
                <a:lnTo>
                  <a:pt x="16442" y="12532"/>
                </a:lnTo>
                <a:cubicBezTo>
                  <a:pt x="16442" y="12152"/>
                  <a:pt x="16537" y="11922"/>
                  <a:pt x="16728" y="11846"/>
                </a:cubicBezTo>
                <a:cubicBezTo>
                  <a:pt x="16921" y="11773"/>
                  <a:pt x="17154" y="11866"/>
                  <a:pt x="17425" y="12126"/>
                </a:cubicBezTo>
                <a:lnTo>
                  <a:pt x="21333" y="15997"/>
                </a:lnTo>
                <a:close/>
              </a:path>
            </a:pathLst>
          </a:custGeom>
          <a:solidFill>
            <a:schemeClr val="bg1"/>
          </a:solidFill>
          <a:ln>
            <a:noFill/>
          </a:ln>
          <a:effectLst/>
        </p:spPr>
        <p:txBody>
          <a:bodyPr lIns="19046" tIns="19046" rIns="19046" bIns="19046" anchor="ctr"/>
          <a:lstStyle/>
          <a:p>
            <a:pPr defTabSz="914400"/>
            <a:endParaRPr lang="zh-CN" altLang="en-US" dirty="0">
              <a:latin typeface="印品黑体" panose="00000500000000000000" pitchFamily="2" charset="-122"/>
              <a:ea typeface="印品黑体" panose="00000500000000000000" pitchFamily="2" charset="-122"/>
            </a:endParaRPr>
          </a:p>
        </p:txBody>
      </p:sp>
      <p:sp>
        <p:nvSpPr>
          <p:cNvPr id="16" name="AutoShape 14">
            <a:extLst>
              <a:ext uri="{FF2B5EF4-FFF2-40B4-BE49-F238E27FC236}">
                <a16:creationId xmlns:a16="http://schemas.microsoft.com/office/drawing/2014/main" id="{D733F5CF-6E4E-4402-B7A7-9910084A136A}"/>
              </a:ext>
            </a:extLst>
          </p:cNvPr>
          <p:cNvSpPr>
            <a:spLocks/>
          </p:cNvSpPr>
          <p:nvPr/>
        </p:nvSpPr>
        <p:spPr bwMode="auto">
          <a:xfrm>
            <a:off x="820910" y="3008906"/>
            <a:ext cx="2199988" cy="484188"/>
          </a:xfrm>
          <a:custGeom>
            <a:avLst/>
            <a:gdLst>
              <a:gd name="T0" fmla="*/ 2200275 w 21600"/>
              <a:gd name="T1" fmla="*/ 484188 h 21600"/>
              <a:gd name="T2" fmla="*/ 2200275 w 21600"/>
              <a:gd name="T3" fmla="*/ 484188 h 21600"/>
              <a:gd name="T4" fmla="*/ 2200275 w 21600"/>
              <a:gd name="T5" fmla="*/ 484188 h 21600"/>
              <a:gd name="T6" fmla="*/ 2200275 w 21600"/>
              <a:gd name="T7" fmla="*/ 48418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40" y="0"/>
                </a:moveTo>
                <a:lnTo>
                  <a:pt x="9637" y="4975"/>
                </a:lnTo>
                <a:lnTo>
                  <a:pt x="1180" y="4975"/>
                </a:lnTo>
                <a:cubicBezTo>
                  <a:pt x="528" y="4975"/>
                  <a:pt x="0" y="7377"/>
                  <a:pt x="0" y="10339"/>
                </a:cubicBezTo>
                <a:lnTo>
                  <a:pt x="0" y="16235"/>
                </a:lnTo>
                <a:cubicBezTo>
                  <a:pt x="0" y="19197"/>
                  <a:pt x="528" y="21599"/>
                  <a:pt x="1180" y="21599"/>
                </a:cubicBezTo>
                <a:lnTo>
                  <a:pt x="20419" y="21599"/>
                </a:lnTo>
                <a:cubicBezTo>
                  <a:pt x="21071" y="21599"/>
                  <a:pt x="21599" y="19197"/>
                  <a:pt x="21599" y="16235"/>
                </a:cubicBezTo>
                <a:lnTo>
                  <a:pt x="21599" y="10339"/>
                </a:lnTo>
                <a:cubicBezTo>
                  <a:pt x="21599" y="7377"/>
                  <a:pt x="21071" y="4975"/>
                  <a:pt x="20419" y="4975"/>
                </a:cubicBezTo>
                <a:lnTo>
                  <a:pt x="11845" y="4975"/>
                </a:lnTo>
                <a:lnTo>
                  <a:pt x="10740" y="0"/>
                </a:lnTo>
                <a:close/>
              </a:path>
            </a:pathLst>
          </a:custGeom>
          <a:solidFill>
            <a:srgbClr val="AFD9E6"/>
          </a:solidFill>
          <a:ln w="25400" cap="flat" cmpd="sng">
            <a:solidFill>
              <a:srgbClr val="000000">
                <a:alpha val="0"/>
              </a:srgbClr>
            </a:solidFill>
            <a:prstDash val="solid"/>
            <a:miter lim="0"/>
            <a:headEnd/>
            <a:tailEnd/>
          </a:ln>
          <a:effectLst/>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effectLst/>
              <a:uLnTx/>
              <a:uFillTx/>
              <a:latin typeface="印品黑体" panose="00000500000000000000" pitchFamily="2" charset="-122"/>
              <a:ea typeface="印品黑体" panose="00000500000000000000" pitchFamily="2" charset="-122"/>
            </a:endParaRPr>
          </a:p>
        </p:txBody>
      </p:sp>
      <p:sp>
        <p:nvSpPr>
          <p:cNvPr id="17" name="AutoShape 15">
            <a:extLst>
              <a:ext uri="{FF2B5EF4-FFF2-40B4-BE49-F238E27FC236}">
                <a16:creationId xmlns:a16="http://schemas.microsoft.com/office/drawing/2014/main" id="{CF1549B2-4C7F-4582-BF8F-61637FCDE289}"/>
              </a:ext>
            </a:extLst>
          </p:cNvPr>
          <p:cNvSpPr>
            <a:spLocks/>
          </p:cNvSpPr>
          <p:nvPr/>
        </p:nvSpPr>
        <p:spPr bwMode="auto">
          <a:xfrm>
            <a:off x="3347864" y="3008906"/>
            <a:ext cx="2199988" cy="484188"/>
          </a:xfrm>
          <a:custGeom>
            <a:avLst/>
            <a:gdLst>
              <a:gd name="T0" fmla="*/ 2200275 w 21600"/>
              <a:gd name="T1" fmla="*/ 484188 h 21600"/>
              <a:gd name="T2" fmla="*/ 2200275 w 21600"/>
              <a:gd name="T3" fmla="*/ 484188 h 21600"/>
              <a:gd name="T4" fmla="*/ 2200275 w 21600"/>
              <a:gd name="T5" fmla="*/ 484188 h 21600"/>
              <a:gd name="T6" fmla="*/ 2200275 w 21600"/>
              <a:gd name="T7" fmla="*/ 48418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40" y="0"/>
                </a:moveTo>
                <a:lnTo>
                  <a:pt x="9637" y="4975"/>
                </a:lnTo>
                <a:lnTo>
                  <a:pt x="1180" y="4975"/>
                </a:lnTo>
                <a:cubicBezTo>
                  <a:pt x="528" y="4975"/>
                  <a:pt x="0" y="7377"/>
                  <a:pt x="0" y="10339"/>
                </a:cubicBezTo>
                <a:lnTo>
                  <a:pt x="0" y="16235"/>
                </a:lnTo>
                <a:cubicBezTo>
                  <a:pt x="0" y="19197"/>
                  <a:pt x="528" y="21599"/>
                  <a:pt x="1180" y="21599"/>
                </a:cubicBezTo>
                <a:lnTo>
                  <a:pt x="20419" y="21599"/>
                </a:lnTo>
                <a:cubicBezTo>
                  <a:pt x="21071" y="21599"/>
                  <a:pt x="21599" y="19197"/>
                  <a:pt x="21599" y="16235"/>
                </a:cubicBezTo>
                <a:lnTo>
                  <a:pt x="21599" y="10339"/>
                </a:lnTo>
                <a:cubicBezTo>
                  <a:pt x="21599" y="7377"/>
                  <a:pt x="21071" y="4975"/>
                  <a:pt x="20419" y="4975"/>
                </a:cubicBezTo>
                <a:lnTo>
                  <a:pt x="11845" y="4975"/>
                </a:lnTo>
                <a:lnTo>
                  <a:pt x="10740" y="0"/>
                </a:lnTo>
                <a:close/>
              </a:path>
            </a:pathLst>
          </a:custGeom>
          <a:solidFill>
            <a:srgbClr val="AFD9E6"/>
          </a:solidFill>
          <a:ln w="25400" cap="flat" cmpd="sng">
            <a:solidFill>
              <a:srgbClr val="000000">
                <a:alpha val="0"/>
              </a:srgbClr>
            </a:solidFill>
            <a:prstDash val="solid"/>
            <a:miter lim="0"/>
            <a:headEnd/>
            <a:tailEnd/>
          </a:ln>
          <a:effectLst/>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effectLst/>
              <a:uLnTx/>
              <a:uFillTx/>
              <a:latin typeface="印品黑体" panose="00000500000000000000" pitchFamily="2" charset="-122"/>
              <a:ea typeface="印品黑体" panose="00000500000000000000" pitchFamily="2" charset="-122"/>
            </a:endParaRPr>
          </a:p>
        </p:txBody>
      </p:sp>
      <p:sp>
        <p:nvSpPr>
          <p:cNvPr id="19" name="AutoShape 17">
            <a:extLst>
              <a:ext uri="{FF2B5EF4-FFF2-40B4-BE49-F238E27FC236}">
                <a16:creationId xmlns:a16="http://schemas.microsoft.com/office/drawing/2014/main" id="{5488C62B-4DAC-447D-A846-66209BF7DB65}"/>
              </a:ext>
            </a:extLst>
          </p:cNvPr>
          <p:cNvSpPr>
            <a:spLocks/>
          </p:cNvSpPr>
          <p:nvPr/>
        </p:nvSpPr>
        <p:spPr bwMode="auto">
          <a:xfrm>
            <a:off x="5892642" y="2987614"/>
            <a:ext cx="2199988" cy="484188"/>
          </a:xfrm>
          <a:custGeom>
            <a:avLst/>
            <a:gdLst>
              <a:gd name="T0" fmla="*/ 2200275 w 21600"/>
              <a:gd name="T1" fmla="*/ 484188 h 21600"/>
              <a:gd name="T2" fmla="*/ 2200275 w 21600"/>
              <a:gd name="T3" fmla="*/ 484188 h 21600"/>
              <a:gd name="T4" fmla="*/ 2200275 w 21600"/>
              <a:gd name="T5" fmla="*/ 484188 h 21600"/>
              <a:gd name="T6" fmla="*/ 2200275 w 21600"/>
              <a:gd name="T7" fmla="*/ 484188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10740" y="0"/>
                </a:moveTo>
                <a:lnTo>
                  <a:pt x="9637" y="4975"/>
                </a:lnTo>
                <a:lnTo>
                  <a:pt x="1180" y="4975"/>
                </a:lnTo>
                <a:cubicBezTo>
                  <a:pt x="528" y="4975"/>
                  <a:pt x="0" y="7377"/>
                  <a:pt x="0" y="10339"/>
                </a:cubicBezTo>
                <a:lnTo>
                  <a:pt x="0" y="16235"/>
                </a:lnTo>
                <a:cubicBezTo>
                  <a:pt x="0" y="19197"/>
                  <a:pt x="528" y="21599"/>
                  <a:pt x="1180" y="21599"/>
                </a:cubicBezTo>
                <a:lnTo>
                  <a:pt x="20419" y="21599"/>
                </a:lnTo>
                <a:cubicBezTo>
                  <a:pt x="21071" y="21599"/>
                  <a:pt x="21599" y="19197"/>
                  <a:pt x="21599" y="16235"/>
                </a:cubicBezTo>
                <a:lnTo>
                  <a:pt x="21599" y="10339"/>
                </a:lnTo>
                <a:cubicBezTo>
                  <a:pt x="21599" y="7377"/>
                  <a:pt x="21071" y="4975"/>
                  <a:pt x="20419" y="4975"/>
                </a:cubicBezTo>
                <a:lnTo>
                  <a:pt x="11845" y="4975"/>
                </a:lnTo>
                <a:lnTo>
                  <a:pt x="10740" y="0"/>
                </a:lnTo>
                <a:close/>
              </a:path>
            </a:pathLst>
          </a:custGeom>
          <a:solidFill>
            <a:srgbClr val="AFD9E6"/>
          </a:solidFill>
          <a:ln w="25400" cap="flat" cmpd="sng">
            <a:solidFill>
              <a:srgbClr val="000000">
                <a:alpha val="0"/>
              </a:srgbClr>
            </a:solidFill>
            <a:prstDash val="solid"/>
            <a:miter lim="0"/>
            <a:headEnd/>
            <a:tailEnd/>
          </a:ln>
          <a:effectLst/>
        </p:spPr>
        <p:txBody>
          <a:bodyPr lIns="0" tIns="0" rIns="0" bIns="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effectLst/>
              <a:uLnTx/>
              <a:uFillTx/>
              <a:latin typeface="印品黑体" panose="00000500000000000000" pitchFamily="2" charset="-122"/>
              <a:ea typeface="印品黑体" panose="00000500000000000000" pitchFamily="2" charset="-122"/>
            </a:endParaRPr>
          </a:p>
        </p:txBody>
      </p:sp>
      <p:sp>
        <p:nvSpPr>
          <p:cNvPr id="18" name="矩形 17">
            <a:extLst>
              <a:ext uri="{FF2B5EF4-FFF2-40B4-BE49-F238E27FC236}">
                <a16:creationId xmlns:a16="http://schemas.microsoft.com/office/drawing/2014/main" id="{5B885947-12BB-4C5D-9D3E-985213A9B1F0}"/>
              </a:ext>
            </a:extLst>
          </p:cNvPr>
          <p:cNvSpPr/>
          <p:nvPr/>
        </p:nvSpPr>
        <p:spPr>
          <a:xfrm>
            <a:off x="580922" y="520573"/>
            <a:ext cx="607931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四、规模经济和长期平均成本曲线的形状</a:t>
            </a:r>
          </a:p>
        </p:txBody>
      </p:sp>
    </p:spTree>
    <p:extLst>
      <p:ext uri="{BB962C8B-B14F-4D97-AF65-F5344CB8AC3E}">
        <p14:creationId xmlns:p14="http://schemas.microsoft.com/office/powerpoint/2010/main" val="277186593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0"/>
                                        </p:tgtEl>
                                        <p:attrNameLst>
                                          <p:attrName>style.visibility</p:attrName>
                                        </p:attrNameLst>
                                      </p:cBhvr>
                                      <p:to>
                                        <p:strVal val="visible"/>
                                      </p:to>
                                    </p:set>
                                    <p:anim calcmode="lin" valueType="num">
                                      <p:cBhvr>
                                        <p:cTn id="14" dur="500" fill="hold"/>
                                        <p:tgtEl>
                                          <p:spTgt spid="20"/>
                                        </p:tgtEl>
                                        <p:attrNameLst>
                                          <p:attrName>ppt_w</p:attrName>
                                        </p:attrNameLst>
                                      </p:cBhvr>
                                      <p:tavLst>
                                        <p:tav tm="0">
                                          <p:val>
                                            <p:fltVal val="0"/>
                                          </p:val>
                                        </p:tav>
                                        <p:tav tm="100000">
                                          <p:val>
                                            <p:strVal val="#ppt_w"/>
                                          </p:val>
                                        </p:tav>
                                      </p:tavLst>
                                    </p:anim>
                                    <p:anim calcmode="lin" valueType="num">
                                      <p:cBhvr>
                                        <p:cTn id="15" dur="500" fill="hold"/>
                                        <p:tgtEl>
                                          <p:spTgt spid="20"/>
                                        </p:tgtEl>
                                        <p:attrNameLst>
                                          <p:attrName>ppt_h</p:attrName>
                                        </p:attrNameLst>
                                      </p:cBhvr>
                                      <p:tavLst>
                                        <p:tav tm="0">
                                          <p:val>
                                            <p:fltVal val="0"/>
                                          </p:val>
                                        </p:tav>
                                        <p:tav tm="100000">
                                          <p:val>
                                            <p:strVal val="#ppt_h"/>
                                          </p:val>
                                        </p:tav>
                                      </p:tavLst>
                                    </p:anim>
                                    <p:animEffect transition="in" filter="fade">
                                      <p:cBhvr>
                                        <p:cTn id="16" dur="500"/>
                                        <p:tgtEl>
                                          <p:spTgt spid="20"/>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animEffect transition="in" filter="fade">
                                      <p:cBhvr>
                                        <p:cTn id="26" dur="1000"/>
                                        <p:tgtEl>
                                          <p:spTgt spid="4"/>
                                        </p:tgtEl>
                                      </p:cBhvr>
                                    </p:animEffect>
                                    <p:anim calcmode="lin" valueType="num">
                                      <p:cBhvr>
                                        <p:cTn id="27" dur="1000" fill="hold"/>
                                        <p:tgtEl>
                                          <p:spTgt spid="4"/>
                                        </p:tgtEl>
                                        <p:attrNameLst>
                                          <p:attrName>ppt_x</p:attrName>
                                        </p:attrNameLst>
                                      </p:cBhvr>
                                      <p:tavLst>
                                        <p:tav tm="0">
                                          <p:val>
                                            <p:strVal val="#ppt_x"/>
                                          </p:val>
                                        </p:tav>
                                        <p:tav tm="100000">
                                          <p:val>
                                            <p:strVal val="#ppt_x"/>
                                          </p:val>
                                        </p:tav>
                                      </p:tavLst>
                                    </p:anim>
                                    <p:anim calcmode="lin" valueType="num">
                                      <p:cBhvr>
                                        <p:cTn id="28" dur="1000" fill="hold"/>
                                        <p:tgtEl>
                                          <p:spTgt spid="4"/>
                                        </p:tgtEl>
                                        <p:attrNameLst>
                                          <p:attrName>ppt_y</p:attrName>
                                        </p:attrNameLst>
                                      </p:cBhvr>
                                      <p:tavLst>
                                        <p:tav tm="0">
                                          <p:val>
                                            <p:strVal val="#ppt_y-.1"/>
                                          </p:val>
                                        </p:tav>
                                        <p:tav tm="100000">
                                          <p:val>
                                            <p:strVal val="#ppt_y"/>
                                          </p:val>
                                        </p:tav>
                                      </p:tavLst>
                                    </p:anim>
                                  </p:childTnLst>
                                </p:cTn>
                              </p:par>
                              <p:par>
                                <p:cTn id="29" presetID="47"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1000"/>
                                        <p:tgtEl>
                                          <p:spTgt spid="8"/>
                                        </p:tgtEl>
                                      </p:cBhvr>
                                    </p:animEffect>
                                    <p:anim calcmode="lin" valueType="num">
                                      <p:cBhvr>
                                        <p:cTn id="32" dur="1000" fill="hold"/>
                                        <p:tgtEl>
                                          <p:spTgt spid="8"/>
                                        </p:tgtEl>
                                        <p:attrNameLst>
                                          <p:attrName>ppt_x</p:attrName>
                                        </p:attrNameLst>
                                      </p:cBhvr>
                                      <p:tavLst>
                                        <p:tav tm="0">
                                          <p:val>
                                            <p:strVal val="#ppt_x"/>
                                          </p:val>
                                        </p:tav>
                                        <p:tav tm="100000">
                                          <p:val>
                                            <p:strVal val="#ppt_x"/>
                                          </p:val>
                                        </p:tav>
                                      </p:tavLst>
                                    </p:anim>
                                    <p:anim calcmode="lin" valueType="num">
                                      <p:cBhvr>
                                        <p:cTn id="33" dur="1000" fill="hold"/>
                                        <p:tgtEl>
                                          <p:spTgt spid="8"/>
                                        </p:tgtEl>
                                        <p:attrNameLst>
                                          <p:attrName>ppt_y</p:attrName>
                                        </p:attrNameLst>
                                      </p:cBhvr>
                                      <p:tavLst>
                                        <p:tav tm="0">
                                          <p:val>
                                            <p:strVal val="#ppt_y-.1"/>
                                          </p:val>
                                        </p:tav>
                                        <p:tav tm="100000">
                                          <p:val>
                                            <p:strVal val="#ppt_y"/>
                                          </p:val>
                                        </p:tav>
                                      </p:tavLst>
                                    </p:anim>
                                  </p:childTnLst>
                                </p:cTn>
                              </p:par>
                              <p:par>
                                <p:cTn id="34" presetID="47"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1000"/>
                                        <p:tgtEl>
                                          <p:spTgt spid="14"/>
                                        </p:tgtEl>
                                      </p:cBhvr>
                                    </p:animEffect>
                                    <p:anim calcmode="lin" valueType="num">
                                      <p:cBhvr>
                                        <p:cTn id="37" dur="1000" fill="hold"/>
                                        <p:tgtEl>
                                          <p:spTgt spid="14"/>
                                        </p:tgtEl>
                                        <p:attrNameLst>
                                          <p:attrName>ppt_x</p:attrName>
                                        </p:attrNameLst>
                                      </p:cBhvr>
                                      <p:tavLst>
                                        <p:tav tm="0">
                                          <p:val>
                                            <p:strVal val="#ppt_x"/>
                                          </p:val>
                                        </p:tav>
                                        <p:tav tm="100000">
                                          <p:val>
                                            <p:strVal val="#ppt_x"/>
                                          </p:val>
                                        </p:tav>
                                      </p:tavLst>
                                    </p:anim>
                                    <p:anim calcmode="lin" valueType="num">
                                      <p:cBhvr>
                                        <p:cTn id="38" dur="1000" fill="hold"/>
                                        <p:tgtEl>
                                          <p:spTgt spid="14"/>
                                        </p:tgtEl>
                                        <p:attrNameLst>
                                          <p:attrName>ppt_y</p:attrName>
                                        </p:attrNameLst>
                                      </p:cBhvr>
                                      <p:tavLst>
                                        <p:tav tm="0">
                                          <p:val>
                                            <p:strVal val="#ppt_y-.1"/>
                                          </p:val>
                                        </p:tav>
                                        <p:tav tm="100000">
                                          <p:val>
                                            <p:strVal val="#ppt_y"/>
                                          </p:val>
                                        </p:tav>
                                      </p:tavLst>
                                    </p:anim>
                                  </p:childTnLst>
                                </p:cTn>
                              </p:par>
                              <p:par>
                                <p:cTn id="39" presetID="47"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1000"/>
                                        <p:tgtEl>
                                          <p:spTgt spid="16"/>
                                        </p:tgtEl>
                                      </p:cBhvr>
                                    </p:animEffect>
                                    <p:anim calcmode="lin" valueType="num">
                                      <p:cBhvr>
                                        <p:cTn id="42" dur="1000" fill="hold"/>
                                        <p:tgtEl>
                                          <p:spTgt spid="16"/>
                                        </p:tgtEl>
                                        <p:attrNameLst>
                                          <p:attrName>ppt_x</p:attrName>
                                        </p:attrNameLst>
                                      </p:cBhvr>
                                      <p:tavLst>
                                        <p:tav tm="0">
                                          <p:val>
                                            <p:strVal val="#ppt_x"/>
                                          </p:val>
                                        </p:tav>
                                        <p:tav tm="100000">
                                          <p:val>
                                            <p:strVal val="#ppt_x"/>
                                          </p:val>
                                        </p:tav>
                                      </p:tavLst>
                                    </p:anim>
                                    <p:anim calcmode="lin" valueType="num">
                                      <p:cBhvr>
                                        <p:cTn id="4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7" presetClass="entr" presetSubtype="0"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fade">
                                      <p:cBhvr>
                                        <p:cTn id="48" dur="1000"/>
                                        <p:tgtEl>
                                          <p:spTgt spid="5"/>
                                        </p:tgtEl>
                                      </p:cBhvr>
                                    </p:animEffect>
                                    <p:anim calcmode="lin" valueType="num">
                                      <p:cBhvr>
                                        <p:cTn id="49" dur="1000" fill="hold"/>
                                        <p:tgtEl>
                                          <p:spTgt spid="5"/>
                                        </p:tgtEl>
                                        <p:attrNameLst>
                                          <p:attrName>ppt_x</p:attrName>
                                        </p:attrNameLst>
                                      </p:cBhvr>
                                      <p:tavLst>
                                        <p:tav tm="0">
                                          <p:val>
                                            <p:strVal val="#ppt_x"/>
                                          </p:val>
                                        </p:tav>
                                        <p:tav tm="100000">
                                          <p:val>
                                            <p:strVal val="#ppt_x"/>
                                          </p:val>
                                        </p:tav>
                                      </p:tavLst>
                                    </p:anim>
                                    <p:anim calcmode="lin" valueType="num">
                                      <p:cBhvr>
                                        <p:cTn id="50" dur="1000" fill="hold"/>
                                        <p:tgtEl>
                                          <p:spTgt spid="5"/>
                                        </p:tgtEl>
                                        <p:attrNameLst>
                                          <p:attrName>ppt_y</p:attrName>
                                        </p:attrNameLst>
                                      </p:cBhvr>
                                      <p:tavLst>
                                        <p:tav tm="0">
                                          <p:val>
                                            <p:strVal val="#ppt_y-.1"/>
                                          </p:val>
                                        </p:tav>
                                        <p:tav tm="100000">
                                          <p:val>
                                            <p:strVal val="#ppt_y"/>
                                          </p:val>
                                        </p:tav>
                                      </p:tavLst>
                                    </p:anim>
                                  </p:childTnLst>
                                </p:cTn>
                              </p:par>
                              <p:par>
                                <p:cTn id="51" presetID="47" presetClass="entr" presetSubtype="0" fill="hold" grpId="0"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1000"/>
                                        <p:tgtEl>
                                          <p:spTgt spid="10"/>
                                        </p:tgtEl>
                                      </p:cBhvr>
                                    </p:animEffect>
                                    <p:anim calcmode="lin" valueType="num">
                                      <p:cBhvr>
                                        <p:cTn id="54" dur="1000" fill="hold"/>
                                        <p:tgtEl>
                                          <p:spTgt spid="10"/>
                                        </p:tgtEl>
                                        <p:attrNameLst>
                                          <p:attrName>ppt_x</p:attrName>
                                        </p:attrNameLst>
                                      </p:cBhvr>
                                      <p:tavLst>
                                        <p:tav tm="0">
                                          <p:val>
                                            <p:strVal val="#ppt_x"/>
                                          </p:val>
                                        </p:tav>
                                        <p:tav tm="100000">
                                          <p:val>
                                            <p:strVal val="#ppt_x"/>
                                          </p:val>
                                        </p:tav>
                                      </p:tavLst>
                                    </p:anim>
                                    <p:anim calcmode="lin" valueType="num">
                                      <p:cBhvr>
                                        <p:cTn id="55" dur="1000" fill="hold"/>
                                        <p:tgtEl>
                                          <p:spTgt spid="10"/>
                                        </p:tgtEl>
                                        <p:attrNameLst>
                                          <p:attrName>ppt_y</p:attrName>
                                        </p:attrNameLst>
                                      </p:cBhvr>
                                      <p:tavLst>
                                        <p:tav tm="0">
                                          <p:val>
                                            <p:strVal val="#ppt_y-.1"/>
                                          </p:val>
                                        </p:tav>
                                        <p:tav tm="100000">
                                          <p:val>
                                            <p:strVal val="#ppt_y"/>
                                          </p:val>
                                        </p:tav>
                                      </p:tavLst>
                                    </p:anim>
                                  </p:childTnLst>
                                </p:cTn>
                              </p:par>
                              <p:par>
                                <p:cTn id="56" presetID="47" presetClass="entr" presetSubtype="0"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fade">
                                      <p:cBhvr>
                                        <p:cTn id="58" dur="1000"/>
                                        <p:tgtEl>
                                          <p:spTgt spid="15"/>
                                        </p:tgtEl>
                                      </p:cBhvr>
                                    </p:animEffect>
                                    <p:anim calcmode="lin" valueType="num">
                                      <p:cBhvr>
                                        <p:cTn id="59" dur="1000" fill="hold"/>
                                        <p:tgtEl>
                                          <p:spTgt spid="15"/>
                                        </p:tgtEl>
                                        <p:attrNameLst>
                                          <p:attrName>ppt_x</p:attrName>
                                        </p:attrNameLst>
                                      </p:cBhvr>
                                      <p:tavLst>
                                        <p:tav tm="0">
                                          <p:val>
                                            <p:strVal val="#ppt_x"/>
                                          </p:val>
                                        </p:tav>
                                        <p:tav tm="100000">
                                          <p:val>
                                            <p:strVal val="#ppt_x"/>
                                          </p:val>
                                        </p:tav>
                                      </p:tavLst>
                                    </p:anim>
                                    <p:anim calcmode="lin" valueType="num">
                                      <p:cBhvr>
                                        <p:cTn id="60" dur="1000" fill="hold"/>
                                        <p:tgtEl>
                                          <p:spTgt spid="15"/>
                                        </p:tgtEl>
                                        <p:attrNameLst>
                                          <p:attrName>ppt_y</p:attrName>
                                        </p:attrNameLst>
                                      </p:cBhvr>
                                      <p:tavLst>
                                        <p:tav tm="0">
                                          <p:val>
                                            <p:strVal val="#ppt_y-.1"/>
                                          </p:val>
                                        </p:tav>
                                        <p:tav tm="100000">
                                          <p:val>
                                            <p:strVal val="#ppt_y"/>
                                          </p:val>
                                        </p:tav>
                                      </p:tavLst>
                                    </p:anim>
                                  </p:childTnLst>
                                </p:cTn>
                              </p:par>
                              <p:par>
                                <p:cTn id="61" presetID="47" presetClass="entr" presetSubtype="0" fill="hold" grpId="0"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fade">
                                      <p:cBhvr>
                                        <p:cTn id="63" dur="1000"/>
                                        <p:tgtEl>
                                          <p:spTgt spid="17"/>
                                        </p:tgtEl>
                                      </p:cBhvr>
                                    </p:animEffect>
                                    <p:anim calcmode="lin" valueType="num">
                                      <p:cBhvr>
                                        <p:cTn id="64" dur="1000" fill="hold"/>
                                        <p:tgtEl>
                                          <p:spTgt spid="17"/>
                                        </p:tgtEl>
                                        <p:attrNameLst>
                                          <p:attrName>ppt_x</p:attrName>
                                        </p:attrNameLst>
                                      </p:cBhvr>
                                      <p:tavLst>
                                        <p:tav tm="0">
                                          <p:val>
                                            <p:strVal val="#ppt_x"/>
                                          </p:val>
                                        </p:tav>
                                        <p:tav tm="100000">
                                          <p:val>
                                            <p:strVal val="#ppt_x"/>
                                          </p:val>
                                        </p:tav>
                                      </p:tavLst>
                                    </p:anim>
                                    <p:anim calcmode="lin" valueType="num">
                                      <p:cBhvr>
                                        <p:cTn id="65"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7" presetClass="entr" presetSubtype="0"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fade">
                                      <p:cBhvr>
                                        <p:cTn id="70" dur="1000"/>
                                        <p:tgtEl>
                                          <p:spTgt spid="6"/>
                                        </p:tgtEl>
                                      </p:cBhvr>
                                    </p:animEffect>
                                    <p:anim calcmode="lin" valueType="num">
                                      <p:cBhvr>
                                        <p:cTn id="71" dur="1000" fill="hold"/>
                                        <p:tgtEl>
                                          <p:spTgt spid="6"/>
                                        </p:tgtEl>
                                        <p:attrNameLst>
                                          <p:attrName>ppt_x</p:attrName>
                                        </p:attrNameLst>
                                      </p:cBhvr>
                                      <p:tavLst>
                                        <p:tav tm="0">
                                          <p:val>
                                            <p:strVal val="#ppt_x"/>
                                          </p:val>
                                        </p:tav>
                                        <p:tav tm="100000">
                                          <p:val>
                                            <p:strVal val="#ppt_x"/>
                                          </p:val>
                                        </p:tav>
                                      </p:tavLst>
                                    </p:anim>
                                    <p:anim calcmode="lin" valueType="num">
                                      <p:cBhvr>
                                        <p:cTn id="72" dur="1000" fill="hold"/>
                                        <p:tgtEl>
                                          <p:spTgt spid="6"/>
                                        </p:tgtEl>
                                        <p:attrNameLst>
                                          <p:attrName>ppt_y</p:attrName>
                                        </p:attrNameLst>
                                      </p:cBhvr>
                                      <p:tavLst>
                                        <p:tav tm="0">
                                          <p:val>
                                            <p:strVal val="#ppt_y-.1"/>
                                          </p:val>
                                        </p:tav>
                                        <p:tav tm="100000">
                                          <p:val>
                                            <p:strVal val="#ppt_y"/>
                                          </p:val>
                                        </p:tav>
                                      </p:tavLst>
                                    </p:anim>
                                  </p:childTnLst>
                                </p:cTn>
                              </p:par>
                              <p:par>
                                <p:cTn id="73" presetID="47" presetClass="entr" presetSubtype="0" fill="hold" grpId="0" nodeType="withEffect">
                                  <p:stCondLst>
                                    <p:cond delay="0"/>
                                  </p:stCondLst>
                                  <p:childTnLst>
                                    <p:set>
                                      <p:cBhvr>
                                        <p:cTn id="74" dur="1" fill="hold">
                                          <p:stCondLst>
                                            <p:cond delay="0"/>
                                          </p:stCondLst>
                                        </p:cTn>
                                        <p:tgtEl>
                                          <p:spTgt spid="9"/>
                                        </p:tgtEl>
                                        <p:attrNameLst>
                                          <p:attrName>style.visibility</p:attrName>
                                        </p:attrNameLst>
                                      </p:cBhvr>
                                      <p:to>
                                        <p:strVal val="visible"/>
                                      </p:to>
                                    </p:set>
                                    <p:animEffect transition="in" filter="fade">
                                      <p:cBhvr>
                                        <p:cTn id="75" dur="1000"/>
                                        <p:tgtEl>
                                          <p:spTgt spid="9"/>
                                        </p:tgtEl>
                                      </p:cBhvr>
                                    </p:animEffect>
                                    <p:anim calcmode="lin" valueType="num">
                                      <p:cBhvr>
                                        <p:cTn id="76" dur="1000" fill="hold"/>
                                        <p:tgtEl>
                                          <p:spTgt spid="9"/>
                                        </p:tgtEl>
                                        <p:attrNameLst>
                                          <p:attrName>ppt_x</p:attrName>
                                        </p:attrNameLst>
                                      </p:cBhvr>
                                      <p:tavLst>
                                        <p:tav tm="0">
                                          <p:val>
                                            <p:strVal val="#ppt_x"/>
                                          </p:val>
                                        </p:tav>
                                        <p:tav tm="100000">
                                          <p:val>
                                            <p:strVal val="#ppt_x"/>
                                          </p:val>
                                        </p:tav>
                                      </p:tavLst>
                                    </p:anim>
                                    <p:anim calcmode="lin" valueType="num">
                                      <p:cBhvr>
                                        <p:cTn id="77" dur="1000" fill="hold"/>
                                        <p:tgtEl>
                                          <p:spTgt spid="9"/>
                                        </p:tgtEl>
                                        <p:attrNameLst>
                                          <p:attrName>ppt_y</p:attrName>
                                        </p:attrNameLst>
                                      </p:cBhvr>
                                      <p:tavLst>
                                        <p:tav tm="0">
                                          <p:val>
                                            <p:strVal val="#ppt_y-.1"/>
                                          </p:val>
                                        </p:tav>
                                        <p:tav tm="100000">
                                          <p:val>
                                            <p:strVal val="#ppt_y"/>
                                          </p:val>
                                        </p:tav>
                                      </p:tavLst>
                                    </p:anim>
                                  </p:childTnLst>
                                </p:cTn>
                              </p:par>
                              <p:par>
                                <p:cTn id="78" presetID="47" presetClass="entr" presetSubtype="0" fill="hold" grpId="0" nodeType="withEffect">
                                  <p:stCondLst>
                                    <p:cond delay="0"/>
                                  </p:stCondLst>
                                  <p:childTnLst>
                                    <p:set>
                                      <p:cBhvr>
                                        <p:cTn id="79" dur="1" fill="hold">
                                          <p:stCondLst>
                                            <p:cond delay="0"/>
                                          </p:stCondLst>
                                        </p:cTn>
                                        <p:tgtEl>
                                          <p:spTgt spid="12"/>
                                        </p:tgtEl>
                                        <p:attrNameLst>
                                          <p:attrName>style.visibility</p:attrName>
                                        </p:attrNameLst>
                                      </p:cBhvr>
                                      <p:to>
                                        <p:strVal val="visible"/>
                                      </p:to>
                                    </p:set>
                                    <p:animEffect transition="in" filter="fade">
                                      <p:cBhvr>
                                        <p:cTn id="80" dur="1000"/>
                                        <p:tgtEl>
                                          <p:spTgt spid="12"/>
                                        </p:tgtEl>
                                      </p:cBhvr>
                                    </p:animEffect>
                                    <p:anim calcmode="lin" valueType="num">
                                      <p:cBhvr>
                                        <p:cTn id="81" dur="1000" fill="hold"/>
                                        <p:tgtEl>
                                          <p:spTgt spid="12"/>
                                        </p:tgtEl>
                                        <p:attrNameLst>
                                          <p:attrName>ppt_x</p:attrName>
                                        </p:attrNameLst>
                                      </p:cBhvr>
                                      <p:tavLst>
                                        <p:tav tm="0">
                                          <p:val>
                                            <p:strVal val="#ppt_x"/>
                                          </p:val>
                                        </p:tav>
                                        <p:tav tm="100000">
                                          <p:val>
                                            <p:strVal val="#ppt_x"/>
                                          </p:val>
                                        </p:tav>
                                      </p:tavLst>
                                    </p:anim>
                                    <p:anim calcmode="lin" valueType="num">
                                      <p:cBhvr>
                                        <p:cTn id="82" dur="1000" fill="hold"/>
                                        <p:tgtEl>
                                          <p:spTgt spid="12"/>
                                        </p:tgtEl>
                                        <p:attrNameLst>
                                          <p:attrName>ppt_y</p:attrName>
                                        </p:attrNameLst>
                                      </p:cBhvr>
                                      <p:tavLst>
                                        <p:tav tm="0">
                                          <p:val>
                                            <p:strVal val="#ppt_y-.1"/>
                                          </p:val>
                                        </p:tav>
                                        <p:tav tm="100000">
                                          <p:val>
                                            <p:strVal val="#ppt_y"/>
                                          </p:val>
                                        </p:tav>
                                      </p:tavLst>
                                    </p:anim>
                                  </p:childTnLst>
                                </p:cTn>
                              </p:par>
                              <p:par>
                                <p:cTn id="83" presetID="47" presetClass="entr" presetSubtype="0" fill="hold" grpId="0" nodeType="with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1000"/>
                                        <p:tgtEl>
                                          <p:spTgt spid="19"/>
                                        </p:tgtEl>
                                      </p:cBhvr>
                                    </p:animEffect>
                                    <p:anim calcmode="lin" valueType="num">
                                      <p:cBhvr>
                                        <p:cTn id="86" dur="1000" fill="hold"/>
                                        <p:tgtEl>
                                          <p:spTgt spid="19"/>
                                        </p:tgtEl>
                                        <p:attrNameLst>
                                          <p:attrName>ppt_x</p:attrName>
                                        </p:attrNameLst>
                                      </p:cBhvr>
                                      <p:tavLst>
                                        <p:tav tm="0">
                                          <p:val>
                                            <p:strVal val="#ppt_x"/>
                                          </p:val>
                                        </p:tav>
                                        <p:tav tm="100000">
                                          <p:val>
                                            <p:strVal val="#ppt_x"/>
                                          </p:val>
                                        </p:tav>
                                      </p:tavLst>
                                    </p:anim>
                                    <p:anim calcmode="lin" valueType="num">
                                      <p:cBhvr>
                                        <p:cTn id="87"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3" grpId="0"/>
      <p:bldP spid="4" grpId="0"/>
      <p:bldP spid="5" grpId="0"/>
      <p:bldP spid="6" grpId="0"/>
      <p:bldP spid="8" grpId="0" animBg="1"/>
      <p:bldP spid="9" grpId="0" animBg="1"/>
      <p:bldP spid="10" grpId="0" animBg="1"/>
      <p:bldP spid="12" grpId="0" animBg="1"/>
      <p:bldP spid="14" grpId="0" animBg="1"/>
      <p:bldP spid="15" grpId="0" animBg="1"/>
      <p:bldP spid="16" grpId="0" animBg="1"/>
      <p:bldP spid="17" grpId="0" animBg="1"/>
      <p:bldP spid="19" grpId="0" animBg="1"/>
      <p:bldP spid="1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圆角 11">
            <a:extLst>
              <a:ext uri="{FF2B5EF4-FFF2-40B4-BE49-F238E27FC236}">
                <a16:creationId xmlns:a16="http://schemas.microsoft.com/office/drawing/2014/main" id="{4F1C9B2C-7B03-4110-88A7-C3EB87601383}"/>
              </a:ext>
            </a:extLst>
          </p:cNvPr>
          <p:cNvSpPr/>
          <p:nvPr/>
        </p:nvSpPr>
        <p:spPr>
          <a:xfrm>
            <a:off x="838627" y="1605734"/>
            <a:ext cx="6397669" cy="45971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3" name="矩形 2">
            <a:extLst>
              <a:ext uri="{FF2B5EF4-FFF2-40B4-BE49-F238E27FC236}">
                <a16:creationId xmlns:a16="http://schemas.microsoft.com/office/drawing/2014/main" id="{4E1C1893-AB90-4458-A5F7-957881641DB7}"/>
              </a:ext>
            </a:extLst>
          </p:cNvPr>
          <p:cNvSpPr/>
          <p:nvPr/>
        </p:nvSpPr>
        <p:spPr>
          <a:xfrm>
            <a:off x="838627" y="1664323"/>
            <a:ext cx="6397669"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规模经济或不经济的原因之一：规模报酬的变化规律</a:t>
            </a:r>
          </a:p>
        </p:txBody>
      </p:sp>
      <p:sp>
        <p:nvSpPr>
          <p:cNvPr id="5" name="矩形 4"/>
          <p:cNvSpPr/>
          <p:nvPr/>
        </p:nvSpPr>
        <p:spPr>
          <a:xfrm>
            <a:off x="896387" y="3576160"/>
            <a:ext cx="3168352" cy="369332"/>
          </a:xfrm>
          <a:prstGeom prst="rect">
            <a:avLst/>
          </a:prstGeom>
        </p:spPr>
        <p:txBody>
          <a:bodyPr wrap="square">
            <a:spAutoFit/>
          </a:bodyPr>
          <a:lstStyle/>
          <a:p>
            <a:pPr marL="285750" indent="-285750">
              <a:buFont typeface="Wingdings" panose="05000000000000000000" pitchFamily="2" charset="2"/>
              <a:buChar char="Ø"/>
            </a:pPr>
            <a:r>
              <a:rPr lang="en-US" dirty="0">
                <a:latin typeface="微软雅黑" panose="020B0503020204020204" pitchFamily="34" charset="-122"/>
                <a:ea typeface="微软雅黑" panose="020B0503020204020204" pitchFamily="34" charset="-122"/>
              </a:rPr>
              <a:t>规模变化和规模报酬</a:t>
            </a:r>
            <a:r>
              <a:rPr lang="en-US" dirty="0"/>
              <a:t> </a:t>
            </a:r>
          </a:p>
        </p:txBody>
      </p:sp>
      <p:sp>
        <p:nvSpPr>
          <p:cNvPr id="6" name="矩形 5"/>
          <p:cNvSpPr/>
          <p:nvPr/>
        </p:nvSpPr>
        <p:spPr>
          <a:xfrm>
            <a:off x="896387" y="4346831"/>
            <a:ext cx="6707543" cy="369332"/>
          </a:xfrm>
          <a:prstGeom prst="rect">
            <a:avLst/>
          </a:prstGeom>
        </p:spPr>
        <p:txBody>
          <a:bodyPr wrap="square">
            <a:spAutoFit/>
          </a:bodyPr>
          <a:lstStyle/>
          <a:p>
            <a:pPr marL="285750" indent="-285750">
              <a:buFont typeface="Wingdings" panose="05000000000000000000" pitchFamily="2" charset="2"/>
              <a:buChar char="l"/>
            </a:pPr>
            <a:r>
              <a:rPr lang="en-US" dirty="0">
                <a:latin typeface="微软雅黑" panose="020B0503020204020204" pitchFamily="34" charset="-122"/>
                <a:ea typeface="微软雅黑" panose="020B0503020204020204" pitchFamily="34" charset="-122"/>
              </a:rPr>
              <a:t>规模变化——我们把所有投入要素同比例变化称之为规模变化</a:t>
            </a:r>
          </a:p>
        </p:txBody>
      </p:sp>
      <p:sp>
        <p:nvSpPr>
          <p:cNvPr id="7" name="矩形 6"/>
          <p:cNvSpPr/>
          <p:nvPr/>
        </p:nvSpPr>
        <p:spPr>
          <a:xfrm>
            <a:off x="896387" y="5033838"/>
            <a:ext cx="6798662" cy="369332"/>
          </a:xfrm>
          <a:prstGeom prst="rect">
            <a:avLst/>
          </a:prstGeom>
        </p:spPr>
        <p:txBody>
          <a:bodyPr wrap="square">
            <a:spAutoFit/>
          </a:bodyPr>
          <a:lstStyle/>
          <a:p>
            <a:pPr marL="285750" indent="-285750">
              <a:buFont typeface="Wingdings" panose="05000000000000000000" pitchFamily="2" charset="2"/>
              <a:buChar char="l"/>
            </a:pPr>
            <a:r>
              <a:rPr lang="en-US" dirty="0">
                <a:latin typeface="微软雅黑" panose="020B0503020204020204" pitchFamily="34" charset="-122"/>
                <a:ea typeface="微软雅黑" panose="020B0503020204020204" pitchFamily="34" charset="-122"/>
              </a:rPr>
              <a:t>规模报酬——规模报酬是指所有投入要素变化引起的产出变化</a:t>
            </a:r>
          </a:p>
        </p:txBody>
      </p:sp>
      <p:grpSp>
        <p:nvGrpSpPr>
          <p:cNvPr id="8" name="组合 7">
            <a:extLst>
              <a:ext uri="{FF2B5EF4-FFF2-40B4-BE49-F238E27FC236}">
                <a16:creationId xmlns:a16="http://schemas.microsoft.com/office/drawing/2014/main" id="{40B5D8C1-B0AC-46B6-A707-F22D4A96C07C}"/>
              </a:ext>
            </a:extLst>
          </p:cNvPr>
          <p:cNvGrpSpPr/>
          <p:nvPr/>
        </p:nvGrpSpPr>
        <p:grpSpPr>
          <a:xfrm>
            <a:off x="753087" y="2465933"/>
            <a:ext cx="7277040" cy="712142"/>
            <a:chOff x="467544" y="1268760"/>
            <a:chExt cx="8192278" cy="1306490"/>
          </a:xfrm>
          <a:noFill/>
        </p:grpSpPr>
        <p:sp>
          <p:nvSpPr>
            <p:cNvPr id="9" name="矩形 8">
              <a:extLst>
                <a:ext uri="{FF2B5EF4-FFF2-40B4-BE49-F238E27FC236}">
                  <a16:creationId xmlns:a16="http://schemas.microsoft.com/office/drawing/2014/main" id="{BCB917F9-84EA-4BFE-BAD9-E1C28FA186B6}"/>
                </a:ext>
              </a:extLst>
            </p:cNvPr>
            <p:cNvSpPr/>
            <p:nvPr/>
          </p:nvSpPr>
          <p:spPr>
            <a:xfrm>
              <a:off x="467544" y="1268760"/>
              <a:ext cx="8192278" cy="130649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a16="http://schemas.microsoft.com/office/drawing/2014/main" id="{1DF269ED-7FCA-4412-89CB-5B3A6D85C4B2}"/>
                </a:ext>
              </a:extLst>
            </p:cNvPr>
            <p:cNvSpPr/>
            <p:nvPr/>
          </p:nvSpPr>
          <p:spPr>
            <a:xfrm>
              <a:off x="538031" y="1342300"/>
              <a:ext cx="8051305" cy="115941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tx1"/>
                </a:solidFill>
                <a:latin typeface="微软雅黑" panose="020B0503020204020204" pitchFamily="34" charset="-122"/>
                <a:ea typeface="微软雅黑" panose="020B0503020204020204" pitchFamily="34" charset="-122"/>
              </a:endParaRPr>
            </a:p>
          </p:txBody>
        </p:sp>
      </p:grpSp>
      <p:pic>
        <p:nvPicPr>
          <p:cNvPr id="11" name="图片 10">
            <a:extLst>
              <a:ext uri="{FF2B5EF4-FFF2-40B4-BE49-F238E27FC236}">
                <a16:creationId xmlns:a16="http://schemas.microsoft.com/office/drawing/2014/main" id="{74193333-B5AA-4AFB-B80F-1F6E3416DD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113" y="2585133"/>
            <a:ext cx="448444" cy="448444"/>
          </a:xfrm>
          <a:prstGeom prst="rect">
            <a:avLst/>
          </a:prstGeom>
          <a:effectLst>
            <a:innerShdw blurRad="114300">
              <a:prstClr val="black"/>
            </a:innerShdw>
          </a:effectLst>
        </p:spPr>
      </p:pic>
      <p:sp>
        <p:nvSpPr>
          <p:cNvPr id="4" name="矩形 3"/>
          <p:cNvSpPr/>
          <p:nvPr/>
        </p:nvSpPr>
        <p:spPr>
          <a:xfrm>
            <a:off x="1403648" y="2486190"/>
            <a:ext cx="6724286" cy="646331"/>
          </a:xfrm>
          <a:prstGeom prst="rect">
            <a:avLst/>
          </a:prstGeom>
        </p:spPr>
        <p:txBody>
          <a:bodyPr wrap="square">
            <a:spAutoFit/>
          </a:bodyPr>
          <a:lstStyle/>
          <a:p>
            <a:r>
              <a:rPr lang="en-US" dirty="0">
                <a:latin typeface="微软雅黑" panose="020B0503020204020204" pitchFamily="34" charset="-122"/>
                <a:ea typeface="微软雅黑" panose="020B0503020204020204" pitchFamily="34" charset="-122"/>
              </a:rPr>
              <a:t>如果所有生产要素同时同方向同比例变化，产出结果如何变化？</a:t>
            </a:r>
          </a:p>
          <a:p>
            <a:r>
              <a:rPr lang="en-US" dirty="0">
                <a:latin typeface="微软雅黑" panose="020B0503020204020204" pitchFamily="34" charset="-122"/>
                <a:ea typeface="微软雅黑" panose="020B0503020204020204" pitchFamily="34" charset="-122"/>
              </a:rPr>
              <a:t>（与规模经济相比，这是一个</a:t>
            </a:r>
            <a:r>
              <a:rPr lang="zh-CN" altLang="en-US" dirty="0">
                <a:latin typeface="微软雅黑" panose="020B0503020204020204" pitchFamily="34" charset="-122"/>
                <a:ea typeface="微软雅黑" panose="020B0503020204020204" pitchFamily="34" charset="-122"/>
              </a:rPr>
              <a:t>纯粹的</a:t>
            </a:r>
            <a:r>
              <a:rPr lang="en-US" dirty="0">
                <a:latin typeface="微软雅黑" panose="020B0503020204020204" pitchFamily="34" charset="-122"/>
                <a:ea typeface="微软雅黑" panose="020B0503020204020204" pitchFamily="34" charset="-122"/>
              </a:rPr>
              <a:t>技术概念。）</a:t>
            </a:r>
          </a:p>
        </p:txBody>
      </p:sp>
      <p:sp>
        <p:nvSpPr>
          <p:cNvPr id="13" name="矩形 12">
            <a:extLst>
              <a:ext uri="{FF2B5EF4-FFF2-40B4-BE49-F238E27FC236}">
                <a16:creationId xmlns:a16="http://schemas.microsoft.com/office/drawing/2014/main" id="{AC6643AA-57FD-4E76-94F4-2772CAA8BD38}"/>
              </a:ext>
            </a:extLst>
          </p:cNvPr>
          <p:cNvSpPr/>
          <p:nvPr/>
        </p:nvSpPr>
        <p:spPr>
          <a:xfrm>
            <a:off x="580922" y="520573"/>
            <a:ext cx="607931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四、规模经济和长期平均成本曲线的形状</a:t>
            </a:r>
          </a:p>
        </p:txBody>
      </p:sp>
    </p:spTree>
    <p:extLst>
      <p:ext uri="{BB962C8B-B14F-4D97-AF65-F5344CB8AC3E}">
        <p14:creationId xmlns:p14="http://schemas.microsoft.com/office/powerpoint/2010/main" val="115991124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00" fill="hold"/>
                                        <p:tgtEl>
                                          <p:spTgt spid="12"/>
                                        </p:tgtEl>
                                        <p:attrNameLst>
                                          <p:attrName>ppt_w</p:attrName>
                                        </p:attrNameLst>
                                      </p:cBhvr>
                                      <p:tavLst>
                                        <p:tav tm="0">
                                          <p:val>
                                            <p:fltVal val="0"/>
                                          </p:val>
                                        </p:tav>
                                        <p:tav tm="100000">
                                          <p:val>
                                            <p:strVal val="#ppt_w"/>
                                          </p:val>
                                        </p:tav>
                                      </p:tavLst>
                                    </p:anim>
                                    <p:anim calcmode="lin" valueType="num">
                                      <p:cBhvr>
                                        <p:cTn id="15" dur="500" fill="hold"/>
                                        <p:tgtEl>
                                          <p:spTgt spid="12"/>
                                        </p:tgtEl>
                                        <p:attrNameLst>
                                          <p:attrName>ppt_h</p:attrName>
                                        </p:attrNameLst>
                                      </p:cBhvr>
                                      <p:tavLst>
                                        <p:tav tm="0">
                                          <p:val>
                                            <p:fltVal val="0"/>
                                          </p:val>
                                        </p:tav>
                                        <p:tav tm="100000">
                                          <p:val>
                                            <p:strVal val="#ppt_h"/>
                                          </p:val>
                                        </p:tav>
                                      </p:tavLst>
                                    </p:anim>
                                    <p:animEffect transition="in" filter="fade">
                                      <p:cBhvr>
                                        <p:cTn id="16" dur="500"/>
                                        <p:tgtEl>
                                          <p:spTgt spid="12"/>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arn(inVertical)">
                                      <p:cBhvr>
                                        <p:cTn id="26" dur="500"/>
                                        <p:tgtEl>
                                          <p:spTgt spid="8"/>
                                        </p:tgtEl>
                                      </p:cBhvr>
                                    </p:animEffect>
                                  </p:childTnLst>
                                </p:cTn>
                              </p:par>
                              <p:par>
                                <p:cTn id="27" presetID="16" presetClass="entr" presetSubtype="21"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arn(inVertical)">
                                      <p:cBhvr>
                                        <p:cTn id="29" dur="500"/>
                                        <p:tgtEl>
                                          <p:spTgt spid="11"/>
                                        </p:tgtEl>
                                      </p:cBhvr>
                                    </p:animEffect>
                                  </p:childTnLst>
                                </p:cTn>
                              </p:par>
                              <p:par>
                                <p:cTn id="30" presetID="16" presetClass="entr" presetSubtype="21" fill="hold" grpId="0"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arn(inVertical)">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fade">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arn(inVertical)">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21"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barn(inVertical)">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3" grpId="0"/>
      <p:bldP spid="5" grpId="0"/>
      <p:bldP spid="6" grpId="0"/>
      <p:bldP spid="7" grpId="0"/>
      <p:bldP spid="4" grpId="0"/>
      <p:bldP spid="1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3" name="矩形 2">
            <a:extLst>
              <a:ext uri="{FF2B5EF4-FFF2-40B4-BE49-F238E27FC236}">
                <a16:creationId xmlns:a16="http://schemas.microsoft.com/office/drawing/2014/main" id="{4E1C1893-AB90-4458-A5F7-957881641DB7}"/>
              </a:ext>
            </a:extLst>
          </p:cNvPr>
          <p:cNvSpPr/>
          <p:nvPr/>
        </p:nvSpPr>
        <p:spPr>
          <a:xfrm>
            <a:off x="847796" y="2087842"/>
            <a:ext cx="3384376" cy="369332"/>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Ø"/>
              <a:defRPr/>
            </a:pPr>
            <a:r>
              <a:rPr lang="zh-CN" altLang="en-US" b="1" dirty="0">
                <a:latin typeface="微软雅黑" panose="020B0503020204020204" pitchFamily="34" charset="-122"/>
                <a:ea typeface="微软雅黑" panose="020B0503020204020204" pitchFamily="34" charset="-122"/>
              </a:rPr>
              <a:t>三种形式的规模报酬</a:t>
            </a:r>
          </a:p>
        </p:txBody>
      </p:sp>
      <p:sp>
        <p:nvSpPr>
          <p:cNvPr id="4" name="矩形 3"/>
          <p:cNvSpPr/>
          <p:nvPr/>
        </p:nvSpPr>
        <p:spPr>
          <a:xfrm>
            <a:off x="876685" y="2663886"/>
            <a:ext cx="4572000" cy="307777"/>
          </a:xfrm>
          <a:prstGeom prst="rect">
            <a:avLst/>
          </a:prstGeom>
        </p:spPr>
        <p:txBody>
          <a:bodyPr>
            <a:spAutoFit/>
          </a:bodyPr>
          <a:lstStyle/>
          <a:p>
            <a:pPr marL="285750" indent="-285750">
              <a:buFont typeface="Wingdings" panose="05000000000000000000" pitchFamily="2" charset="2"/>
              <a:buChar char="l"/>
            </a:pPr>
            <a:r>
              <a:rPr lang="en-US" sz="1400" dirty="0">
                <a:latin typeface="微软雅黑" panose="020B0503020204020204" pitchFamily="34" charset="-122"/>
                <a:ea typeface="微软雅黑" panose="020B0503020204020204" pitchFamily="34" charset="-122"/>
              </a:rPr>
              <a:t>规模报酬不变 (CRS)</a:t>
            </a:r>
          </a:p>
        </p:txBody>
      </p:sp>
      <p:sp>
        <p:nvSpPr>
          <p:cNvPr id="5" name="矩形 4">
            <a:extLst>
              <a:ext uri="{FF2B5EF4-FFF2-40B4-BE49-F238E27FC236}">
                <a16:creationId xmlns:a16="http://schemas.microsoft.com/office/drawing/2014/main" id="{4E1C1893-AB90-4458-A5F7-957881641DB7}"/>
              </a:ext>
            </a:extLst>
          </p:cNvPr>
          <p:cNvSpPr/>
          <p:nvPr/>
        </p:nvSpPr>
        <p:spPr>
          <a:xfrm>
            <a:off x="910125" y="4437112"/>
            <a:ext cx="2736304" cy="369332"/>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Ø"/>
              <a:defRPr/>
            </a:pPr>
            <a:r>
              <a:rPr lang="zh-CN" altLang="en-US" b="1" dirty="0">
                <a:latin typeface="微软雅黑" panose="020B0503020204020204" pitchFamily="34" charset="-122"/>
                <a:ea typeface="微软雅黑" panose="020B0503020204020204" pitchFamily="34" charset="-122"/>
              </a:rPr>
              <a:t>规模报酬的趋势</a:t>
            </a:r>
          </a:p>
        </p:txBody>
      </p:sp>
      <p:sp>
        <p:nvSpPr>
          <p:cNvPr id="6" name="矩形 5"/>
          <p:cNvSpPr/>
          <p:nvPr/>
        </p:nvSpPr>
        <p:spPr>
          <a:xfrm>
            <a:off x="929585" y="4869160"/>
            <a:ext cx="2598834" cy="307777"/>
          </a:xfrm>
          <a:prstGeom prst="rect">
            <a:avLst/>
          </a:prstGeom>
        </p:spPr>
        <p:txBody>
          <a:bodyPr wrap="square">
            <a:spAutoFit/>
          </a:bodyPr>
          <a:lstStyle/>
          <a:p>
            <a:pPr marL="285750" indent="-285750">
              <a:buFont typeface="Wingdings" panose="05000000000000000000" pitchFamily="2" charset="2"/>
              <a:buChar char="l"/>
            </a:pPr>
            <a:r>
              <a:rPr lang="en-US" sz="1400" dirty="0">
                <a:latin typeface="微软雅黑" panose="020B0503020204020204" pitchFamily="34" charset="-122"/>
                <a:ea typeface="微软雅黑" panose="020B0503020204020204" pitchFamily="34" charset="-122"/>
              </a:rPr>
              <a:t>最开始规模报酬递增</a:t>
            </a:r>
          </a:p>
        </p:txBody>
      </p:sp>
      <p:sp>
        <p:nvSpPr>
          <p:cNvPr id="7" name="矩形 6">
            <a:extLst>
              <a:ext uri="{FF2B5EF4-FFF2-40B4-BE49-F238E27FC236}">
                <a16:creationId xmlns:a16="http://schemas.microsoft.com/office/drawing/2014/main" id="{3D065D92-6594-4275-AAB4-C4DF473E2FC4}"/>
              </a:ext>
            </a:extLst>
          </p:cNvPr>
          <p:cNvSpPr/>
          <p:nvPr/>
        </p:nvSpPr>
        <p:spPr>
          <a:xfrm>
            <a:off x="4807622" y="2663778"/>
            <a:ext cx="3240360" cy="307777"/>
          </a:xfrm>
          <a:prstGeom prst="rect">
            <a:avLst/>
          </a:prstGeom>
        </p:spPr>
        <p:txBody>
          <a:bodyPr wrap="square">
            <a:spAutoFit/>
          </a:bodyPr>
          <a:lstStyle/>
          <a:p>
            <a:pPr>
              <a:buClr>
                <a:schemeClr val="bg1">
                  <a:lumMod val="50000"/>
                </a:schemeClr>
              </a:buClr>
            </a:pPr>
            <a:r>
              <a:rPr lang="en-US" altLang="zh-CN" sz="1400" dirty="0">
                <a:latin typeface="微软雅黑" panose="020B0503020204020204" pitchFamily="34" charset="-122"/>
                <a:ea typeface="微软雅黑" panose="020B0503020204020204" pitchFamily="34" charset="-122"/>
              </a:rPr>
              <a:t>双倍的所有要素投入带来双倍的产出</a:t>
            </a:r>
          </a:p>
        </p:txBody>
      </p:sp>
      <p:sp>
        <p:nvSpPr>
          <p:cNvPr id="8" name="矩形 7">
            <a:extLst>
              <a:ext uri="{FF2B5EF4-FFF2-40B4-BE49-F238E27FC236}">
                <a16:creationId xmlns:a16="http://schemas.microsoft.com/office/drawing/2014/main" id="{1D502992-5653-4E85-BD87-E84458222E66}"/>
              </a:ext>
            </a:extLst>
          </p:cNvPr>
          <p:cNvSpPr/>
          <p:nvPr/>
        </p:nvSpPr>
        <p:spPr>
          <a:xfrm>
            <a:off x="882898" y="3181668"/>
            <a:ext cx="4572000" cy="307777"/>
          </a:xfrm>
          <a:prstGeom prst="rect">
            <a:avLst/>
          </a:prstGeom>
        </p:spPr>
        <p:txBody>
          <a:bodyPr>
            <a:spAutoFit/>
          </a:bodyPr>
          <a:lstStyle/>
          <a:p>
            <a:pPr marL="285750" indent="-285750">
              <a:buFont typeface="Wingdings" panose="05000000000000000000" pitchFamily="2" charset="2"/>
              <a:buChar char="l"/>
            </a:pPr>
            <a:r>
              <a:rPr lang="en-US" altLang="zh-CN" sz="1400" dirty="0">
                <a:latin typeface="微软雅黑" panose="020B0503020204020204" pitchFamily="34" charset="-122"/>
                <a:ea typeface="微软雅黑" panose="020B0503020204020204" pitchFamily="34" charset="-122"/>
              </a:rPr>
              <a:t>规模报酬递增(IRS), 或叫规模经济</a:t>
            </a:r>
          </a:p>
        </p:txBody>
      </p:sp>
      <p:sp>
        <p:nvSpPr>
          <p:cNvPr id="9" name="矩形 8">
            <a:extLst>
              <a:ext uri="{FF2B5EF4-FFF2-40B4-BE49-F238E27FC236}">
                <a16:creationId xmlns:a16="http://schemas.microsoft.com/office/drawing/2014/main" id="{DCF5CEB7-6A4F-4F15-8528-4CB5594571D6}"/>
              </a:ext>
            </a:extLst>
          </p:cNvPr>
          <p:cNvSpPr/>
          <p:nvPr/>
        </p:nvSpPr>
        <p:spPr>
          <a:xfrm>
            <a:off x="4807623" y="3177607"/>
            <a:ext cx="3576150" cy="307777"/>
          </a:xfrm>
          <a:prstGeom prst="rect">
            <a:avLst/>
          </a:prstGeom>
        </p:spPr>
        <p:txBody>
          <a:bodyPr wrap="square">
            <a:spAutoFit/>
          </a:bodyPr>
          <a:lstStyle/>
          <a:p>
            <a:pPr>
              <a:buClr>
                <a:schemeClr val="bg1">
                  <a:lumMod val="50000"/>
                </a:schemeClr>
              </a:buClr>
            </a:pPr>
            <a:r>
              <a:rPr lang="en-US" altLang="zh-CN" sz="1400" dirty="0">
                <a:latin typeface="微软雅黑" panose="020B0503020204020204" pitchFamily="34" charset="-122"/>
                <a:ea typeface="微软雅黑" panose="020B0503020204020204" pitchFamily="34" charset="-122"/>
              </a:rPr>
              <a:t>双倍的所有要素投入带来多于双倍的产出</a:t>
            </a:r>
          </a:p>
        </p:txBody>
      </p:sp>
      <p:sp>
        <p:nvSpPr>
          <p:cNvPr id="10" name="矩形 9">
            <a:extLst>
              <a:ext uri="{FF2B5EF4-FFF2-40B4-BE49-F238E27FC236}">
                <a16:creationId xmlns:a16="http://schemas.microsoft.com/office/drawing/2014/main" id="{220F3B48-4527-4A60-A6BE-03B429818A84}"/>
              </a:ext>
            </a:extLst>
          </p:cNvPr>
          <p:cNvSpPr/>
          <p:nvPr/>
        </p:nvSpPr>
        <p:spPr>
          <a:xfrm>
            <a:off x="894483" y="3724197"/>
            <a:ext cx="3794616" cy="307777"/>
          </a:xfrm>
          <a:prstGeom prst="rect">
            <a:avLst/>
          </a:prstGeom>
        </p:spPr>
        <p:txBody>
          <a:bodyPr wrap="square">
            <a:spAutoFit/>
          </a:bodyPr>
          <a:lstStyle/>
          <a:p>
            <a:pPr marL="285750" indent="-285750">
              <a:buFont typeface="Wingdings" panose="05000000000000000000" pitchFamily="2" charset="2"/>
              <a:buChar char="l"/>
            </a:pPr>
            <a:r>
              <a:rPr lang="en-US" altLang="zh-CN" sz="1400" dirty="0">
                <a:latin typeface="微软雅黑" panose="020B0503020204020204" pitchFamily="34" charset="-122"/>
                <a:ea typeface="微软雅黑" panose="020B0503020204020204" pitchFamily="34" charset="-122"/>
              </a:rPr>
              <a:t>规模报酬递减 (DRS) ，或叫规模不经济</a:t>
            </a:r>
          </a:p>
        </p:txBody>
      </p:sp>
      <p:sp>
        <p:nvSpPr>
          <p:cNvPr id="11" name="矩形 10">
            <a:extLst>
              <a:ext uri="{FF2B5EF4-FFF2-40B4-BE49-F238E27FC236}">
                <a16:creationId xmlns:a16="http://schemas.microsoft.com/office/drawing/2014/main" id="{DF261006-75BD-43C3-9047-84DF441526E5}"/>
              </a:ext>
            </a:extLst>
          </p:cNvPr>
          <p:cNvSpPr/>
          <p:nvPr/>
        </p:nvSpPr>
        <p:spPr>
          <a:xfrm>
            <a:off x="4822167" y="3720738"/>
            <a:ext cx="3416320" cy="307777"/>
          </a:xfrm>
          <a:prstGeom prst="rect">
            <a:avLst/>
          </a:prstGeom>
        </p:spPr>
        <p:txBody>
          <a:bodyPr wrap="none">
            <a:spAutoFit/>
          </a:bodyPr>
          <a:lstStyle/>
          <a:p>
            <a:pPr>
              <a:buClr>
                <a:schemeClr val="bg1">
                  <a:lumMod val="50000"/>
                </a:schemeClr>
              </a:buClr>
            </a:pPr>
            <a:r>
              <a:rPr lang="en-US" altLang="zh-CN" sz="1400" dirty="0">
                <a:latin typeface="微软雅黑" panose="020B0503020204020204" pitchFamily="34" charset="-122"/>
                <a:ea typeface="微软雅黑" panose="020B0503020204020204" pitchFamily="34" charset="-122"/>
              </a:rPr>
              <a:t>双倍的所有要素投入带来小于双倍的产出</a:t>
            </a:r>
            <a:endParaRPr lang="zh-CN" altLang="en-US" sz="1400" dirty="0"/>
          </a:p>
        </p:txBody>
      </p:sp>
      <p:sp>
        <p:nvSpPr>
          <p:cNvPr id="12" name="矩形 11">
            <a:extLst>
              <a:ext uri="{FF2B5EF4-FFF2-40B4-BE49-F238E27FC236}">
                <a16:creationId xmlns:a16="http://schemas.microsoft.com/office/drawing/2014/main" id="{6A7855B8-489A-48AA-9E62-0F8064BD829F}"/>
              </a:ext>
            </a:extLst>
          </p:cNvPr>
          <p:cNvSpPr/>
          <p:nvPr/>
        </p:nvSpPr>
        <p:spPr>
          <a:xfrm>
            <a:off x="940023" y="5286727"/>
            <a:ext cx="2959738" cy="307777"/>
          </a:xfrm>
          <a:prstGeom prst="rect">
            <a:avLst/>
          </a:prstGeom>
        </p:spPr>
        <p:txBody>
          <a:bodyPr wrap="square">
            <a:spAutoFit/>
          </a:bodyPr>
          <a:lstStyle/>
          <a:p>
            <a:pPr marL="285750" indent="-285750">
              <a:buFont typeface="Wingdings" panose="05000000000000000000" pitchFamily="2" charset="2"/>
              <a:buChar char="l"/>
            </a:pPr>
            <a:r>
              <a:rPr lang="en-US" altLang="zh-CN" sz="1400" dirty="0">
                <a:latin typeface="微软雅黑" panose="020B0503020204020204" pitchFamily="34" charset="-122"/>
                <a:ea typeface="微软雅黑" panose="020B0503020204020204" pitchFamily="34" charset="-122"/>
              </a:rPr>
              <a:t>然后规模报酬不变 </a:t>
            </a:r>
          </a:p>
        </p:txBody>
      </p:sp>
      <p:sp>
        <p:nvSpPr>
          <p:cNvPr id="13" name="矩形 12">
            <a:extLst>
              <a:ext uri="{FF2B5EF4-FFF2-40B4-BE49-F238E27FC236}">
                <a16:creationId xmlns:a16="http://schemas.microsoft.com/office/drawing/2014/main" id="{3D68EB57-0FCA-4DF2-90CF-152507B9463B}"/>
              </a:ext>
            </a:extLst>
          </p:cNvPr>
          <p:cNvSpPr/>
          <p:nvPr/>
        </p:nvSpPr>
        <p:spPr>
          <a:xfrm>
            <a:off x="929585" y="5707909"/>
            <a:ext cx="2862064" cy="307777"/>
          </a:xfrm>
          <a:prstGeom prst="rect">
            <a:avLst/>
          </a:prstGeom>
        </p:spPr>
        <p:txBody>
          <a:bodyPr wrap="square">
            <a:spAutoFit/>
          </a:bodyPr>
          <a:lstStyle/>
          <a:p>
            <a:pPr marL="285750" indent="-285750">
              <a:buFont typeface="Wingdings" panose="05000000000000000000" pitchFamily="2" charset="2"/>
              <a:buChar char="l"/>
            </a:pPr>
            <a:r>
              <a:rPr lang="en-US" altLang="zh-CN" sz="1400" dirty="0">
                <a:latin typeface="微软雅黑" panose="020B0503020204020204" pitchFamily="34" charset="-122"/>
                <a:ea typeface="微软雅黑" panose="020B0503020204020204" pitchFamily="34" charset="-122"/>
              </a:rPr>
              <a:t>最后规模报酬递减</a:t>
            </a:r>
          </a:p>
        </p:txBody>
      </p:sp>
      <p:sp>
        <p:nvSpPr>
          <p:cNvPr id="15" name="矩形: 圆角 14">
            <a:extLst>
              <a:ext uri="{FF2B5EF4-FFF2-40B4-BE49-F238E27FC236}">
                <a16:creationId xmlns:a16="http://schemas.microsoft.com/office/drawing/2014/main" id="{EDD3F7B9-1652-4FF4-9DCB-8D20629508B5}"/>
              </a:ext>
            </a:extLst>
          </p:cNvPr>
          <p:cNvSpPr/>
          <p:nvPr/>
        </p:nvSpPr>
        <p:spPr>
          <a:xfrm>
            <a:off x="827584" y="1329571"/>
            <a:ext cx="3029308" cy="45971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8F032B56-D340-4B2C-98FB-9D518623D3FC}"/>
              </a:ext>
            </a:extLst>
          </p:cNvPr>
          <p:cNvSpPr/>
          <p:nvPr/>
        </p:nvSpPr>
        <p:spPr>
          <a:xfrm>
            <a:off x="876685" y="1356815"/>
            <a:ext cx="2914964"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规模报酬的变化规律</a:t>
            </a:r>
          </a:p>
        </p:txBody>
      </p:sp>
      <p:sp>
        <p:nvSpPr>
          <p:cNvPr id="18" name="矩形 17">
            <a:extLst>
              <a:ext uri="{FF2B5EF4-FFF2-40B4-BE49-F238E27FC236}">
                <a16:creationId xmlns:a16="http://schemas.microsoft.com/office/drawing/2014/main" id="{33EE1689-CBED-4FA8-A07B-742744F5E1DB}"/>
              </a:ext>
            </a:extLst>
          </p:cNvPr>
          <p:cNvSpPr/>
          <p:nvPr/>
        </p:nvSpPr>
        <p:spPr>
          <a:xfrm>
            <a:off x="580922" y="520573"/>
            <a:ext cx="607931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四、规模经济和长期平均成本曲线的形状</a:t>
            </a:r>
          </a:p>
        </p:txBody>
      </p:sp>
    </p:spTree>
    <p:extLst>
      <p:ext uri="{BB962C8B-B14F-4D97-AF65-F5344CB8AC3E}">
        <p14:creationId xmlns:p14="http://schemas.microsoft.com/office/powerpoint/2010/main" val="300183415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5"/>
                                        </p:tgtEl>
                                        <p:attrNameLst>
                                          <p:attrName>style.visibility</p:attrName>
                                        </p:attrNameLst>
                                      </p:cBhvr>
                                      <p:to>
                                        <p:strVal val="visible"/>
                                      </p:to>
                                    </p:set>
                                    <p:anim calcmode="lin" valueType="num">
                                      <p:cBhvr>
                                        <p:cTn id="14" dur="500" fill="hold"/>
                                        <p:tgtEl>
                                          <p:spTgt spid="15"/>
                                        </p:tgtEl>
                                        <p:attrNameLst>
                                          <p:attrName>ppt_w</p:attrName>
                                        </p:attrNameLst>
                                      </p:cBhvr>
                                      <p:tavLst>
                                        <p:tav tm="0">
                                          <p:val>
                                            <p:fltVal val="0"/>
                                          </p:val>
                                        </p:tav>
                                        <p:tav tm="100000">
                                          <p:val>
                                            <p:strVal val="#ppt_w"/>
                                          </p:val>
                                        </p:tav>
                                      </p:tavLst>
                                    </p:anim>
                                    <p:anim calcmode="lin" valueType="num">
                                      <p:cBhvr>
                                        <p:cTn id="15" dur="500" fill="hold"/>
                                        <p:tgtEl>
                                          <p:spTgt spid="15"/>
                                        </p:tgtEl>
                                        <p:attrNameLst>
                                          <p:attrName>ppt_h</p:attrName>
                                        </p:attrNameLst>
                                      </p:cBhvr>
                                      <p:tavLst>
                                        <p:tav tm="0">
                                          <p:val>
                                            <p:fltVal val="0"/>
                                          </p:val>
                                        </p:tav>
                                        <p:tav tm="100000">
                                          <p:val>
                                            <p:strVal val="#ppt_h"/>
                                          </p:val>
                                        </p:tav>
                                      </p:tavLst>
                                    </p:anim>
                                    <p:animEffect transition="in" filter="fade">
                                      <p:cBhvr>
                                        <p:cTn id="16" dur="500"/>
                                        <p:tgtEl>
                                          <p:spTgt spid="15"/>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p:cTn id="19" dur="500" fill="hold"/>
                                        <p:tgtEl>
                                          <p:spTgt spid="16"/>
                                        </p:tgtEl>
                                        <p:attrNameLst>
                                          <p:attrName>ppt_w</p:attrName>
                                        </p:attrNameLst>
                                      </p:cBhvr>
                                      <p:tavLst>
                                        <p:tav tm="0">
                                          <p:val>
                                            <p:fltVal val="0"/>
                                          </p:val>
                                        </p:tav>
                                        <p:tav tm="100000">
                                          <p:val>
                                            <p:strVal val="#ppt_w"/>
                                          </p:val>
                                        </p:tav>
                                      </p:tavLst>
                                    </p:anim>
                                    <p:anim calcmode="lin" valueType="num">
                                      <p:cBhvr>
                                        <p:cTn id="20" dur="500" fill="hold"/>
                                        <p:tgtEl>
                                          <p:spTgt spid="16"/>
                                        </p:tgtEl>
                                        <p:attrNameLst>
                                          <p:attrName>ppt_h</p:attrName>
                                        </p:attrNameLst>
                                      </p:cBhvr>
                                      <p:tavLst>
                                        <p:tav tm="0">
                                          <p:val>
                                            <p:fltVal val="0"/>
                                          </p:val>
                                        </p:tav>
                                        <p:tav tm="100000">
                                          <p:val>
                                            <p:strVal val="#ppt_h"/>
                                          </p:val>
                                        </p:tav>
                                      </p:tavLst>
                                    </p:anim>
                                    <p:animEffect transition="in" filter="fade">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down)">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down)">
                                      <p:cBhvr>
                                        <p:cTn id="38" dur="5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wipe(down)">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wipe(down)">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wipe(down)">
                                      <p:cBhvr>
                                        <p:cTn id="53" dur="500"/>
                                        <p:tgtEl>
                                          <p:spTgt spid="1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11"/>
                                        </p:tgtEl>
                                        <p:attrNameLst>
                                          <p:attrName>style.visibility</p:attrName>
                                        </p:attrNameLst>
                                      </p:cBhvr>
                                      <p:to>
                                        <p:strVal val="visible"/>
                                      </p:to>
                                    </p:set>
                                    <p:animEffect transition="in" filter="wipe(down)">
                                      <p:cBhvr>
                                        <p:cTn id="58" dur="500"/>
                                        <p:tgtEl>
                                          <p:spTgt spid="11"/>
                                        </p:tgtEl>
                                      </p:cBhvr>
                                    </p:animEffect>
                                  </p:childTnLst>
                                </p:cTn>
                              </p:par>
                            </p:childTnLst>
                          </p:cTn>
                        </p:par>
                      </p:childTnLst>
                    </p:cTn>
                  </p:par>
                  <p:par>
                    <p:cTn id="59" fill="hold">
                      <p:stCondLst>
                        <p:cond delay="indefinite"/>
                      </p:stCondLst>
                      <p:childTnLst>
                        <p:par>
                          <p:cTn id="60" fill="hold">
                            <p:stCondLst>
                              <p:cond delay="0"/>
                            </p:stCondLst>
                            <p:childTnLst>
                              <p:par>
                                <p:cTn id="61" presetID="53" presetClass="entr" presetSubtype="16" fill="hold" grpId="0" nodeType="clickEffect">
                                  <p:stCondLst>
                                    <p:cond delay="0"/>
                                  </p:stCondLst>
                                  <p:childTnLst>
                                    <p:set>
                                      <p:cBhvr>
                                        <p:cTn id="62" dur="1" fill="hold">
                                          <p:stCondLst>
                                            <p:cond delay="0"/>
                                          </p:stCondLst>
                                        </p:cTn>
                                        <p:tgtEl>
                                          <p:spTgt spid="5"/>
                                        </p:tgtEl>
                                        <p:attrNameLst>
                                          <p:attrName>style.visibility</p:attrName>
                                        </p:attrNameLst>
                                      </p:cBhvr>
                                      <p:to>
                                        <p:strVal val="visible"/>
                                      </p:to>
                                    </p:set>
                                    <p:anim calcmode="lin" valueType="num">
                                      <p:cBhvr>
                                        <p:cTn id="63" dur="500" fill="hold"/>
                                        <p:tgtEl>
                                          <p:spTgt spid="5"/>
                                        </p:tgtEl>
                                        <p:attrNameLst>
                                          <p:attrName>ppt_w</p:attrName>
                                        </p:attrNameLst>
                                      </p:cBhvr>
                                      <p:tavLst>
                                        <p:tav tm="0">
                                          <p:val>
                                            <p:fltVal val="0"/>
                                          </p:val>
                                        </p:tav>
                                        <p:tav tm="100000">
                                          <p:val>
                                            <p:strVal val="#ppt_w"/>
                                          </p:val>
                                        </p:tav>
                                      </p:tavLst>
                                    </p:anim>
                                    <p:anim calcmode="lin" valueType="num">
                                      <p:cBhvr>
                                        <p:cTn id="64" dur="500" fill="hold"/>
                                        <p:tgtEl>
                                          <p:spTgt spid="5"/>
                                        </p:tgtEl>
                                        <p:attrNameLst>
                                          <p:attrName>ppt_h</p:attrName>
                                        </p:attrNameLst>
                                      </p:cBhvr>
                                      <p:tavLst>
                                        <p:tav tm="0">
                                          <p:val>
                                            <p:fltVal val="0"/>
                                          </p:val>
                                        </p:tav>
                                        <p:tav tm="100000">
                                          <p:val>
                                            <p:strVal val="#ppt_h"/>
                                          </p:val>
                                        </p:tav>
                                      </p:tavLst>
                                    </p:anim>
                                    <p:animEffect transition="in" filter="fade">
                                      <p:cBhvr>
                                        <p:cTn id="65" dur="500"/>
                                        <p:tgtEl>
                                          <p:spTgt spid="5"/>
                                        </p:tgtEl>
                                      </p:cBhvr>
                                    </p:animEffect>
                                  </p:childTnLst>
                                </p:cTn>
                              </p:par>
                            </p:childTnLst>
                          </p:cTn>
                        </p:par>
                      </p:childTnLst>
                    </p:cTn>
                  </p:par>
                  <p:par>
                    <p:cTn id="66" fill="hold">
                      <p:stCondLst>
                        <p:cond delay="indefinite"/>
                      </p:stCondLst>
                      <p:childTnLst>
                        <p:par>
                          <p:cTn id="67" fill="hold">
                            <p:stCondLst>
                              <p:cond delay="0"/>
                            </p:stCondLst>
                            <p:childTnLst>
                              <p:par>
                                <p:cTn id="68" presetID="16" presetClass="entr" presetSubtype="21" fill="hold" grpId="0" nodeType="clickEffect">
                                  <p:stCondLst>
                                    <p:cond delay="0"/>
                                  </p:stCondLst>
                                  <p:childTnLst>
                                    <p:set>
                                      <p:cBhvr>
                                        <p:cTn id="69" dur="1" fill="hold">
                                          <p:stCondLst>
                                            <p:cond delay="0"/>
                                          </p:stCondLst>
                                        </p:cTn>
                                        <p:tgtEl>
                                          <p:spTgt spid="6"/>
                                        </p:tgtEl>
                                        <p:attrNameLst>
                                          <p:attrName>style.visibility</p:attrName>
                                        </p:attrNameLst>
                                      </p:cBhvr>
                                      <p:to>
                                        <p:strVal val="visible"/>
                                      </p:to>
                                    </p:set>
                                    <p:animEffect transition="in" filter="barn(inVertical)">
                                      <p:cBhvr>
                                        <p:cTn id="70" dur="500"/>
                                        <p:tgtEl>
                                          <p:spTgt spid="6"/>
                                        </p:tgtEl>
                                      </p:cBhvr>
                                    </p:animEffect>
                                  </p:childTnLst>
                                </p:cTn>
                              </p:par>
                            </p:childTnLst>
                          </p:cTn>
                        </p:par>
                      </p:childTnLst>
                    </p:cTn>
                  </p:par>
                  <p:par>
                    <p:cTn id="71" fill="hold">
                      <p:stCondLst>
                        <p:cond delay="indefinite"/>
                      </p:stCondLst>
                      <p:childTnLst>
                        <p:par>
                          <p:cTn id="72" fill="hold">
                            <p:stCondLst>
                              <p:cond delay="0"/>
                            </p:stCondLst>
                            <p:childTnLst>
                              <p:par>
                                <p:cTn id="73" presetID="16" presetClass="entr" presetSubtype="21" fill="hold" grpId="0" nodeType="click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barn(inVertical)">
                                      <p:cBhvr>
                                        <p:cTn id="75" dur="500"/>
                                        <p:tgtEl>
                                          <p:spTgt spid="12"/>
                                        </p:tgtEl>
                                      </p:cBhvr>
                                    </p:animEffect>
                                  </p:childTnLst>
                                </p:cTn>
                              </p:par>
                            </p:childTnLst>
                          </p:cTn>
                        </p:par>
                      </p:childTnLst>
                    </p:cTn>
                  </p:par>
                  <p:par>
                    <p:cTn id="76" fill="hold">
                      <p:stCondLst>
                        <p:cond delay="indefinite"/>
                      </p:stCondLst>
                      <p:childTnLst>
                        <p:par>
                          <p:cTn id="77" fill="hold">
                            <p:stCondLst>
                              <p:cond delay="0"/>
                            </p:stCondLst>
                            <p:childTnLst>
                              <p:par>
                                <p:cTn id="78" presetID="16" presetClass="entr" presetSubtype="21" fill="hold" grpId="0" nodeType="click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barn(inVertical)">
                                      <p:cBhvr>
                                        <p:cTn id="8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P spid="8" grpId="0"/>
      <p:bldP spid="9" grpId="0"/>
      <p:bldP spid="10" grpId="0"/>
      <p:bldP spid="11" grpId="0"/>
      <p:bldP spid="12" grpId="0"/>
      <p:bldP spid="13" grpId="0"/>
      <p:bldP spid="15" grpId="0" animBg="1"/>
      <p:bldP spid="16" grpId="0"/>
      <p:bldP spid="18"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4E1C1893-AB90-4458-A5F7-957881641DB7}"/>
              </a:ext>
            </a:extLst>
          </p:cNvPr>
          <p:cNvSpPr/>
          <p:nvPr/>
        </p:nvSpPr>
        <p:spPr>
          <a:xfrm>
            <a:off x="811668" y="2073660"/>
            <a:ext cx="5616624" cy="369332"/>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Ø"/>
              <a:defRPr/>
            </a:pPr>
            <a:r>
              <a:rPr lang="zh-CN" altLang="en-US" sz="1700" b="1" dirty="0">
                <a:latin typeface="微软雅黑" panose="020B0503020204020204" pitchFamily="34" charset="-122"/>
                <a:ea typeface="微软雅黑" panose="020B0503020204020204" pitchFamily="34" charset="-122"/>
              </a:rPr>
              <a:t>柯布</a:t>
            </a:r>
            <a:r>
              <a:rPr lang="en-US" altLang="zh-CN" sz="1700" b="1" dirty="0">
                <a:latin typeface="微软雅黑" panose="020B0503020204020204" pitchFamily="34" charset="-122"/>
                <a:ea typeface="微软雅黑" panose="020B0503020204020204" pitchFamily="34" charset="-122"/>
              </a:rPr>
              <a:t>—</a:t>
            </a:r>
            <a:r>
              <a:rPr lang="zh-CN" altLang="en-US" b="1" dirty="0">
                <a:latin typeface="微软雅黑" panose="020B0503020204020204" pitchFamily="34" charset="-122"/>
                <a:ea typeface="微软雅黑" panose="020B0503020204020204" pitchFamily="34" charset="-122"/>
              </a:rPr>
              <a:t>道格拉斯</a:t>
            </a:r>
            <a:r>
              <a:rPr lang="zh-CN" altLang="en-US" sz="1700" b="1" dirty="0">
                <a:latin typeface="微软雅黑" panose="020B0503020204020204" pitchFamily="34" charset="-122"/>
                <a:ea typeface="微软雅黑" panose="020B0503020204020204" pitchFamily="34" charset="-122"/>
              </a:rPr>
              <a:t>生产函数和规模报酬</a:t>
            </a:r>
          </a:p>
        </p:txBody>
      </p:sp>
      <p:sp>
        <p:nvSpPr>
          <p:cNvPr id="6" name="矩形 5">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B92915A6-9904-4C6A-8530-C1117AAB45C3}"/>
                  </a:ext>
                </a:extLst>
              </p:cNvPr>
              <p:cNvSpPr txBox="1"/>
              <p:nvPr/>
            </p:nvSpPr>
            <p:spPr>
              <a:xfrm>
                <a:off x="1781679" y="2609000"/>
                <a:ext cx="2081595" cy="38664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b="1" i="1" smtClean="0">
                          <a:solidFill>
                            <a:schemeClr val="tx1"/>
                          </a:solidFill>
                          <a:latin typeface="Cambria Math" panose="02040503050406030204" pitchFamily="18" charset="0"/>
                        </a:rPr>
                        <m:t>𝑸</m:t>
                      </m:r>
                      <m:r>
                        <a:rPr lang="zh-CN" altLang="en-US" sz="2400" b="1" i="1" smtClean="0">
                          <a:solidFill>
                            <a:schemeClr val="tx1"/>
                          </a:solidFill>
                          <a:latin typeface="Cambria Math" panose="02040503050406030204" pitchFamily="18" charset="0"/>
                        </a:rPr>
                        <m:t>=</m:t>
                      </m:r>
                      <m:r>
                        <a:rPr lang="zh-CN" altLang="en-US" sz="2400" b="1" i="1" smtClean="0">
                          <a:solidFill>
                            <a:schemeClr val="tx1"/>
                          </a:solidFill>
                          <a:latin typeface="Cambria Math" panose="02040503050406030204" pitchFamily="18" charset="0"/>
                        </a:rPr>
                        <m:t>𝑨</m:t>
                      </m:r>
                      <m:r>
                        <a:rPr lang="zh-CN" altLang="en-US" sz="2400" b="1" i="1" smtClean="0">
                          <a:solidFill>
                            <a:schemeClr val="tx1"/>
                          </a:solidFill>
                          <a:latin typeface="Cambria Math" panose="02040503050406030204" pitchFamily="18" charset="0"/>
                        </a:rPr>
                        <m:t>⋅</m:t>
                      </m:r>
                      <m:sSup>
                        <m:sSupPr>
                          <m:ctrlPr>
                            <a:rPr lang="zh-CN" altLang="en-US" sz="2400" b="1" i="1" smtClean="0">
                              <a:solidFill>
                                <a:schemeClr val="tx1"/>
                              </a:solidFill>
                              <a:latin typeface="Cambria Math" panose="02040503050406030204" pitchFamily="18" charset="0"/>
                            </a:rPr>
                          </m:ctrlPr>
                        </m:sSupPr>
                        <m:e>
                          <m:r>
                            <a:rPr lang="en-US" altLang="zh-CN" sz="2400" b="1" i="1" smtClean="0">
                              <a:solidFill>
                                <a:schemeClr val="tx1"/>
                              </a:solidFill>
                              <a:latin typeface="Cambria Math" panose="02040503050406030204" pitchFamily="18" charset="0"/>
                            </a:rPr>
                            <m:t>𝑲</m:t>
                          </m:r>
                        </m:e>
                        <m:sup>
                          <m:r>
                            <a:rPr lang="zh-CN" altLang="en-US" sz="2400" b="1" i="1" smtClean="0">
                              <a:solidFill>
                                <a:schemeClr val="tx1"/>
                              </a:solidFill>
                              <a:latin typeface="Cambria Math" panose="02040503050406030204" pitchFamily="18" charset="0"/>
                            </a:rPr>
                            <m:t>𝜶</m:t>
                          </m:r>
                        </m:sup>
                      </m:sSup>
                      <m:r>
                        <a:rPr lang="zh-CN" altLang="en-US" sz="2400" b="1" i="1" smtClean="0">
                          <a:solidFill>
                            <a:schemeClr val="tx1"/>
                          </a:solidFill>
                          <a:latin typeface="Cambria Math" panose="02040503050406030204" pitchFamily="18" charset="0"/>
                        </a:rPr>
                        <m:t>⋅</m:t>
                      </m:r>
                      <m:sSup>
                        <m:sSupPr>
                          <m:ctrlPr>
                            <a:rPr lang="zh-CN" altLang="en-US" sz="2400" b="1" i="1" smtClean="0">
                              <a:solidFill>
                                <a:schemeClr val="tx1"/>
                              </a:solidFill>
                              <a:latin typeface="Cambria Math" panose="02040503050406030204" pitchFamily="18" charset="0"/>
                            </a:rPr>
                          </m:ctrlPr>
                        </m:sSupPr>
                        <m:e>
                          <m:r>
                            <a:rPr lang="zh-CN" altLang="en-US" sz="2400" b="1" i="1" smtClean="0">
                              <a:solidFill>
                                <a:schemeClr val="tx1"/>
                              </a:solidFill>
                              <a:latin typeface="Cambria Math" panose="02040503050406030204" pitchFamily="18" charset="0"/>
                            </a:rPr>
                            <m:t>𝑳</m:t>
                          </m:r>
                        </m:e>
                        <m:sup>
                          <m:r>
                            <a:rPr lang="zh-CN" altLang="en-US" sz="2400" b="1" i="1" smtClean="0">
                              <a:solidFill>
                                <a:schemeClr val="tx1"/>
                              </a:solidFill>
                              <a:latin typeface="Cambria Math" panose="02040503050406030204" pitchFamily="18" charset="0"/>
                            </a:rPr>
                            <m:t>𝜷</m:t>
                          </m:r>
                        </m:sup>
                      </m:sSup>
                    </m:oMath>
                  </m:oMathPara>
                </a14:m>
                <a:endParaRPr lang="zh-CN" altLang="en-US" sz="2400" b="1" dirty="0">
                  <a:solidFill>
                    <a:schemeClr val="tx1"/>
                  </a:solidFill>
                </a:endParaRPr>
              </a:p>
            </p:txBody>
          </p:sp>
        </mc:Choice>
        <mc:Fallback xmlns="">
          <p:sp>
            <p:nvSpPr>
              <p:cNvPr id="2" name="文本框 1">
                <a:extLst>
                  <a:ext uri="{FF2B5EF4-FFF2-40B4-BE49-F238E27FC236}">
                    <a16:creationId xmlns:a16="http://schemas.microsoft.com/office/drawing/2014/main" id="{B92915A6-9904-4C6A-8530-C1117AAB45C3}"/>
                  </a:ext>
                </a:extLst>
              </p:cNvPr>
              <p:cNvSpPr txBox="1">
                <a:spLocks noRot="1" noChangeAspect="1" noMove="1" noResize="1" noEditPoints="1" noAdjustHandles="1" noChangeArrowheads="1" noChangeShapeType="1" noTextEdit="1"/>
              </p:cNvSpPr>
              <p:nvPr/>
            </p:nvSpPr>
            <p:spPr>
              <a:xfrm>
                <a:off x="1781679" y="2609000"/>
                <a:ext cx="2081595" cy="386644"/>
              </a:xfrm>
              <a:prstGeom prst="rect">
                <a:avLst/>
              </a:prstGeom>
              <a:blipFill>
                <a:blip r:embed="rId2"/>
                <a:stretch>
                  <a:fillRect/>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D15EF161-A0A5-424D-89A9-B60A3CC58CF3}"/>
              </a:ext>
            </a:extLst>
          </p:cNvPr>
          <p:cNvSpPr/>
          <p:nvPr/>
        </p:nvSpPr>
        <p:spPr>
          <a:xfrm>
            <a:off x="811668" y="3265820"/>
            <a:ext cx="6064588" cy="523220"/>
          </a:xfrm>
          <a:prstGeom prst="rect">
            <a:avLst/>
          </a:prstGeom>
        </p:spPr>
        <p:txBody>
          <a:bodyPr wrap="square">
            <a:spAutoFit/>
          </a:bodyPr>
          <a:lstStyle/>
          <a:p>
            <a:pPr marL="285750" indent="-285750">
              <a:buFont typeface="Wingdings" panose="05000000000000000000" pitchFamily="2" charset="2"/>
              <a:buChar char="l"/>
            </a:pPr>
            <a:r>
              <a:rPr lang="en-US" altLang="zh-CN" sz="1400" dirty="0">
                <a:latin typeface="微软雅黑" panose="020B0503020204020204" pitchFamily="34" charset="-122"/>
                <a:ea typeface="微软雅黑" panose="020B0503020204020204" pitchFamily="34" charset="-122"/>
              </a:rPr>
              <a:t>IMPLIES</a:t>
            </a:r>
            <a:r>
              <a:rPr lang="zh-CN" altLang="en-US" sz="1400" dirty="0">
                <a:latin typeface="微软雅黑" panose="020B0503020204020204" pitchFamily="34" charset="-122"/>
                <a:ea typeface="微软雅黑" panose="020B0503020204020204" pitchFamily="34" charset="-122"/>
              </a:rPr>
              <a:t>：可以是</a:t>
            </a:r>
            <a:r>
              <a:rPr lang="en-US" altLang="zh-CN" sz="1400" dirty="0">
                <a:latin typeface="微软雅黑" panose="020B0503020204020204" pitchFamily="34" charset="-122"/>
                <a:ea typeface="微软雅黑" panose="020B0503020204020204" pitchFamily="34" charset="-122"/>
              </a:rPr>
              <a:t>IRS</a:t>
            </a:r>
            <a:r>
              <a:rPr lang="zh-CN" altLang="en-US" sz="1400" dirty="0">
                <a:latin typeface="微软雅黑" panose="020B0503020204020204" pitchFamily="34" charset="-122"/>
                <a:ea typeface="微软雅黑" panose="020B0503020204020204" pitchFamily="34" charset="-122"/>
              </a:rPr>
              <a:t>（规模报酬递增）</a:t>
            </a:r>
            <a:r>
              <a:rPr lang="en-US" altLang="zh-CN" sz="1400" dirty="0">
                <a:latin typeface="微软雅黑" panose="020B0503020204020204" pitchFamily="34" charset="-122"/>
                <a:ea typeface="微软雅黑" panose="020B0503020204020204" pitchFamily="34" charset="-122"/>
              </a:rPr>
              <a:t>, DRS</a:t>
            </a:r>
            <a:r>
              <a:rPr lang="zh-CN" altLang="en-US" sz="1400" dirty="0">
                <a:latin typeface="微软雅黑" panose="020B0503020204020204" pitchFamily="34" charset="-122"/>
                <a:ea typeface="微软雅黑" panose="020B0503020204020204" pitchFamily="34" charset="-122"/>
              </a:rPr>
              <a:t>（规模报酬递减）</a:t>
            </a:r>
            <a:r>
              <a:rPr lang="en-US" altLang="zh-CN" sz="1400" dirty="0">
                <a:latin typeface="微软雅黑" panose="020B0503020204020204" pitchFamily="34" charset="-122"/>
                <a:ea typeface="微软雅黑" panose="020B0503020204020204" pitchFamily="34" charset="-122"/>
              </a:rPr>
              <a:t> </a:t>
            </a:r>
            <a:r>
              <a:rPr lang="zh-CN" altLang="en-US" sz="1400" dirty="0">
                <a:latin typeface="微软雅黑" panose="020B0503020204020204" pitchFamily="34" charset="-122"/>
                <a:ea typeface="微软雅黑" panose="020B0503020204020204" pitchFamily="34" charset="-122"/>
              </a:rPr>
              <a:t>或者</a:t>
            </a:r>
            <a:r>
              <a:rPr lang="en-US" altLang="zh-CN" sz="1400" dirty="0">
                <a:latin typeface="微软雅黑" panose="020B0503020204020204" pitchFamily="34" charset="-122"/>
                <a:ea typeface="微软雅黑" panose="020B0503020204020204" pitchFamily="34" charset="-122"/>
              </a:rPr>
              <a:t> CRS</a:t>
            </a:r>
            <a:r>
              <a:rPr lang="zh-CN" altLang="en-US" sz="1400" dirty="0">
                <a:latin typeface="微软雅黑" panose="020B0503020204020204" pitchFamily="34" charset="-122"/>
                <a:ea typeface="微软雅黑" panose="020B0503020204020204" pitchFamily="34" charset="-122"/>
              </a:rPr>
              <a:t>（规模报酬不变）</a:t>
            </a:r>
            <a:r>
              <a:rPr lang="en-US" altLang="zh-CN" sz="1400" dirty="0">
                <a:latin typeface="微软雅黑" panose="020B0503020204020204" pitchFamily="34" charset="-122"/>
                <a:ea typeface="微软雅黑" panose="020B0503020204020204" pitchFamily="34" charset="-122"/>
              </a:rPr>
              <a:t>: </a:t>
            </a:r>
            <a:endParaRPr lang="zh-CN" altLang="en-US" sz="1400" dirty="0">
              <a:latin typeface="微软雅黑" panose="020B0503020204020204" pitchFamily="34" charset="-122"/>
              <a:ea typeface="微软雅黑" panose="020B0503020204020204" pitchFamily="34"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5258A40-2806-43C4-B036-D98BE44C69AC}"/>
                  </a:ext>
                </a:extLst>
              </p:cNvPr>
              <p:cNvSpPr txBox="1"/>
              <p:nvPr/>
            </p:nvSpPr>
            <p:spPr>
              <a:xfrm>
                <a:off x="876158" y="4005064"/>
                <a:ext cx="6567888" cy="383118"/>
              </a:xfrm>
              <a:prstGeom prst="rect">
                <a:avLst/>
              </a:prstGeom>
              <a:noFill/>
              <a:effectLst>
                <a:glow rad="63500">
                  <a:schemeClr val="accent2">
                    <a:satMod val="175000"/>
                    <a:alpha val="40000"/>
                  </a:schemeClr>
                </a:glow>
              </a:effectLst>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400" b="1" i="1" smtClean="0">
                          <a:solidFill>
                            <a:schemeClr val="tx1"/>
                          </a:solidFill>
                          <a:latin typeface="Cambria Math" panose="02040503050406030204" pitchFamily="18" charset="0"/>
                        </a:rPr>
                        <m:t>𝑸</m:t>
                      </m:r>
                      <m:r>
                        <a:rPr lang="zh-CN" altLang="en-US" sz="2400" b="1" i="1" smtClean="0">
                          <a:solidFill>
                            <a:schemeClr val="tx1"/>
                          </a:solidFill>
                          <a:latin typeface="Cambria Math" panose="02040503050406030204" pitchFamily="18" charset="0"/>
                        </a:rPr>
                        <m:t>=</m:t>
                      </m:r>
                      <m:r>
                        <a:rPr lang="zh-CN" altLang="en-US" sz="2400" b="1" i="1" smtClean="0">
                          <a:solidFill>
                            <a:schemeClr val="tx1"/>
                          </a:solidFill>
                          <a:latin typeface="Cambria Math" panose="02040503050406030204" pitchFamily="18" charset="0"/>
                        </a:rPr>
                        <m:t>𝑨</m:t>
                      </m:r>
                      <m:r>
                        <a:rPr lang="zh-CN" altLang="en-US" sz="2400" b="1" i="1" smtClean="0">
                          <a:solidFill>
                            <a:schemeClr val="tx1"/>
                          </a:solidFill>
                          <a:latin typeface="Cambria Math" panose="02040503050406030204" pitchFamily="18" charset="0"/>
                        </a:rPr>
                        <m:t>⋅</m:t>
                      </m:r>
                      <m:sSup>
                        <m:sSupPr>
                          <m:ctrlPr>
                            <a:rPr lang="zh-CN" altLang="en-US" sz="2400" b="1" i="1" smtClean="0">
                              <a:solidFill>
                                <a:schemeClr val="tx1"/>
                              </a:solidFill>
                              <a:latin typeface="Cambria Math" panose="02040503050406030204" pitchFamily="18" charset="0"/>
                            </a:rPr>
                          </m:ctrlPr>
                        </m:sSupPr>
                        <m:e>
                          <m:r>
                            <a:rPr lang="en-US" altLang="zh-CN" sz="2400" b="1" i="1" smtClean="0">
                              <a:solidFill>
                                <a:schemeClr val="tx1"/>
                              </a:solidFill>
                              <a:latin typeface="Cambria Math" panose="02040503050406030204" pitchFamily="18" charset="0"/>
                            </a:rPr>
                            <m:t>𝑲</m:t>
                          </m:r>
                        </m:e>
                        <m:sup>
                          <m:r>
                            <a:rPr lang="zh-CN" altLang="en-US" sz="2400" b="1" i="1" smtClean="0">
                              <a:solidFill>
                                <a:schemeClr val="tx1"/>
                              </a:solidFill>
                              <a:latin typeface="Cambria Math" panose="02040503050406030204" pitchFamily="18" charset="0"/>
                            </a:rPr>
                            <m:t>𝜶</m:t>
                          </m:r>
                        </m:sup>
                      </m:sSup>
                      <m:r>
                        <a:rPr lang="zh-CN" altLang="en-US" sz="2400" b="1" i="1" smtClean="0">
                          <a:solidFill>
                            <a:schemeClr val="tx1"/>
                          </a:solidFill>
                          <a:latin typeface="Cambria Math" panose="02040503050406030204" pitchFamily="18" charset="0"/>
                        </a:rPr>
                        <m:t>⋅</m:t>
                      </m:r>
                      <m:sSup>
                        <m:sSupPr>
                          <m:ctrlPr>
                            <a:rPr lang="zh-CN" altLang="en-US" sz="2400" b="1" i="1" smtClean="0">
                              <a:solidFill>
                                <a:schemeClr val="tx1"/>
                              </a:solidFill>
                              <a:latin typeface="Cambria Math" panose="02040503050406030204" pitchFamily="18" charset="0"/>
                            </a:rPr>
                          </m:ctrlPr>
                        </m:sSupPr>
                        <m:e>
                          <m:r>
                            <a:rPr lang="zh-CN" altLang="en-US" sz="2400" b="1" i="1" smtClean="0">
                              <a:solidFill>
                                <a:schemeClr val="tx1"/>
                              </a:solidFill>
                              <a:latin typeface="Cambria Math" panose="02040503050406030204" pitchFamily="18" charset="0"/>
                            </a:rPr>
                            <m:t>𝑳</m:t>
                          </m:r>
                        </m:e>
                        <m:sup>
                          <m:r>
                            <a:rPr lang="zh-CN" altLang="en-US" sz="2400" b="1" i="1" smtClean="0">
                              <a:solidFill>
                                <a:schemeClr val="tx1"/>
                              </a:solidFill>
                              <a:latin typeface="Cambria Math" panose="02040503050406030204" pitchFamily="18" charset="0"/>
                            </a:rPr>
                            <m:t>𝜷</m:t>
                          </m:r>
                        </m:sup>
                      </m:sSup>
                      <m:sSup>
                        <m:sSupPr>
                          <m:ctrlPr>
                            <a:rPr lang="zh-CN" altLang="en-US" sz="2400" b="1" i="1" smtClean="0">
                              <a:solidFill>
                                <a:schemeClr val="tx1"/>
                              </a:solidFill>
                              <a:latin typeface="Cambria Math" panose="02040503050406030204" pitchFamily="18" charset="0"/>
                            </a:rPr>
                          </m:ctrlPr>
                        </m:sSupPr>
                        <m:e>
                          <m:r>
                            <a:rPr lang="en-US" altLang="zh-CN" sz="2400" b="1" i="1" smtClean="0">
                              <a:solidFill>
                                <a:schemeClr val="tx1"/>
                              </a:solidFill>
                              <a:latin typeface="Cambria Math" panose="02040503050406030204" pitchFamily="18" charset="0"/>
                            </a:rPr>
                            <m:t>              </m:t>
                          </m:r>
                          <m:r>
                            <a:rPr lang="zh-CN" altLang="en-US" sz="2400" b="1" i="1" smtClean="0">
                              <a:solidFill>
                                <a:schemeClr val="tx1"/>
                              </a:solidFill>
                              <a:latin typeface="Cambria Math" panose="02040503050406030204" pitchFamily="18" charset="0"/>
                            </a:rPr>
                            <m:t>𝝀</m:t>
                          </m:r>
                        </m:e>
                        <m:sup>
                          <m:r>
                            <a:rPr lang="zh-CN" altLang="en-US" sz="2400" b="1" i="1" smtClean="0">
                              <a:solidFill>
                                <a:schemeClr val="tx1"/>
                              </a:solidFill>
                              <a:latin typeface="Cambria Math" panose="02040503050406030204" pitchFamily="18" charset="0"/>
                            </a:rPr>
                            <m:t>𝜶</m:t>
                          </m:r>
                          <m:r>
                            <a:rPr lang="zh-CN" altLang="en-US" sz="2400" b="1" i="1" smtClean="0">
                              <a:solidFill>
                                <a:schemeClr val="tx1"/>
                              </a:solidFill>
                              <a:latin typeface="Cambria Math" panose="02040503050406030204" pitchFamily="18" charset="0"/>
                            </a:rPr>
                            <m:t>+</m:t>
                          </m:r>
                          <m:r>
                            <a:rPr lang="zh-CN" altLang="en-US" sz="2400" b="1" i="1" smtClean="0">
                              <a:solidFill>
                                <a:schemeClr val="tx1"/>
                              </a:solidFill>
                              <a:latin typeface="Cambria Math" panose="02040503050406030204" pitchFamily="18" charset="0"/>
                            </a:rPr>
                            <m:t>𝜷</m:t>
                          </m:r>
                        </m:sup>
                      </m:sSup>
                      <m:r>
                        <a:rPr lang="zh-CN" altLang="en-US" sz="2400" b="1" i="1" smtClean="0">
                          <a:solidFill>
                            <a:schemeClr val="tx1"/>
                          </a:solidFill>
                          <a:latin typeface="Cambria Math" panose="02040503050406030204" pitchFamily="18" charset="0"/>
                        </a:rPr>
                        <m:t>𝑸</m:t>
                      </m:r>
                      <m:r>
                        <a:rPr lang="zh-CN" altLang="en-US" sz="2400" b="1" i="1" smtClean="0">
                          <a:solidFill>
                            <a:schemeClr val="tx1"/>
                          </a:solidFill>
                          <a:latin typeface="Cambria Math" panose="02040503050406030204" pitchFamily="18" charset="0"/>
                        </a:rPr>
                        <m:t>=</m:t>
                      </m:r>
                      <m:r>
                        <a:rPr lang="zh-CN" altLang="en-US" sz="2400" b="1" i="1" smtClean="0">
                          <a:solidFill>
                            <a:schemeClr val="tx1"/>
                          </a:solidFill>
                          <a:latin typeface="Cambria Math" panose="02040503050406030204" pitchFamily="18" charset="0"/>
                        </a:rPr>
                        <m:t>𝑨</m:t>
                      </m:r>
                      <m:r>
                        <a:rPr lang="zh-CN" altLang="en-US" sz="2400" b="1" i="1" smtClean="0">
                          <a:solidFill>
                            <a:schemeClr val="tx1"/>
                          </a:solidFill>
                          <a:latin typeface="Cambria Math" panose="02040503050406030204" pitchFamily="18" charset="0"/>
                        </a:rPr>
                        <m:t>⋅</m:t>
                      </m:r>
                      <m:sSup>
                        <m:sSupPr>
                          <m:ctrlPr>
                            <a:rPr lang="zh-CN" altLang="en-US" sz="2400" b="1" i="1">
                              <a:solidFill>
                                <a:schemeClr val="tx1"/>
                              </a:solidFill>
                              <a:latin typeface="Cambria Math" panose="02040503050406030204" pitchFamily="18" charset="0"/>
                            </a:rPr>
                          </m:ctrlPr>
                        </m:sSupPr>
                        <m:e>
                          <m:d>
                            <m:dPr>
                              <m:ctrlPr>
                                <a:rPr lang="zh-CN" altLang="en-US" sz="2400" b="1" i="1">
                                  <a:solidFill>
                                    <a:schemeClr val="tx1"/>
                                  </a:solidFill>
                                  <a:latin typeface="Cambria Math" panose="02040503050406030204" pitchFamily="18" charset="0"/>
                                </a:rPr>
                              </m:ctrlPr>
                            </m:dPr>
                            <m:e>
                              <m:r>
                                <a:rPr lang="zh-CN" altLang="en-US" sz="2400" b="1" i="1" smtClean="0">
                                  <a:solidFill>
                                    <a:schemeClr val="tx1"/>
                                  </a:solidFill>
                                  <a:latin typeface="Cambria Math" panose="02040503050406030204" pitchFamily="18" charset="0"/>
                                </a:rPr>
                                <m:t>𝝀</m:t>
                              </m:r>
                              <m:r>
                                <a:rPr lang="en-US" altLang="zh-CN" sz="2400" b="1" i="1" smtClean="0">
                                  <a:solidFill>
                                    <a:schemeClr val="tx1"/>
                                  </a:solidFill>
                                  <a:latin typeface="Cambria Math" panose="02040503050406030204" pitchFamily="18" charset="0"/>
                                </a:rPr>
                                <m:t>𝑲</m:t>
                              </m:r>
                            </m:e>
                          </m:d>
                        </m:e>
                        <m:sup>
                          <m:r>
                            <a:rPr lang="zh-CN" altLang="en-US" sz="2400" b="1" i="1" smtClean="0">
                              <a:solidFill>
                                <a:schemeClr val="tx1"/>
                              </a:solidFill>
                              <a:latin typeface="Cambria Math" panose="02040503050406030204" pitchFamily="18" charset="0"/>
                            </a:rPr>
                            <m:t>𝜶</m:t>
                          </m:r>
                        </m:sup>
                      </m:sSup>
                      <m:r>
                        <a:rPr lang="zh-CN" altLang="en-US" sz="2400" b="1" i="1" smtClean="0">
                          <a:solidFill>
                            <a:schemeClr val="tx1"/>
                          </a:solidFill>
                          <a:latin typeface="Cambria Math" panose="02040503050406030204" pitchFamily="18" charset="0"/>
                        </a:rPr>
                        <m:t>⋅</m:t>
                      </m:r>
                      <m:sSup>
                        <m:sSupPr>
                          <m:ctrlPr>
                            <a:rPr lang="zh-CN" altLang="en-US" sz="2400" b="1" i="1">
                              <a:solidFill>
                                <a:schemeClr val="tx1"/>
                              </a:solidFill>
                              <a:latin typeface="Cambria Math" panose="02040503050406030204" pitchFamily="18" charset="0"/>
                            </a:rPr>
                          </m:ctrlPr>
                        </m:sSupPr>
                        <m:e>
                          <m:d>
                            <m:dPr>
                              <m:ctrlPr>
                                <a:rPr lang="zh-CN" altLang="en-US" sz="2400" b="1" i="1">
                                  <a:solidFill>
                                    <a:schemeClr val="tx1"/>
                                  </a:solidFill>
                                  <a:latin typeface="Cambria Math" panose="02040503050406030204" pitchFamily="18" charset="0"/>
                                </a:rPr>
                              </m:ctrlPr>
                            </m:dPr>
                            <m:e>
                              <m:r>
                                <a:rPr lang="zh-CN" altLang="en-US" sz="2400" b="1" i="1" smtClean="0">
                                  <a:solidFill>
                                    <a:schemeClr val="tx1"/>
                                  </a:solidFill>
                                  <a:latin typeface="Cambria Math" panose="02040503050406030204" pitchFamily="18" charset="0"/>
                                </a:rPr>
                                <m:t>𝝀</m:t>
                              </m:r>
                              <m:r>
                                <a:rPr lang="zh-CN" altLang="en-US" sz="2400" b="1" i="1" smtClean="0">
                                  <a:solidFill>
                                    <a:schemeClr val="tx1"/>
                                  </a:solidFill>
                                  <a:latin typeface="Cambria Math" panose="02040503050406030204" pitchFamily="18" charset="0"/>
                                </a:rPr>
                                <m:t>𝑳</m:t>
                              </m:r>
                            </m:e>
                          </m:d>
                        </m:e>
                        <m:sup>
                          <m:r>
                            <a:rPr lang="zh-CN" altLang="en-US" sz="2400" b="1" i="1" smtClean="0">
                              <a:solidFill>
                                <a:schemeClr val="tx1"/>
                              </a:solidFill>
                              <a:latin typeface="Cambria Math" panose="02040503050406030204" pitchFamily="18" charset="0"/>
                            </a:rPr>
                            <m:t>𝜷</m:t>
                          </m:r>
                        </m:sup>
                      </m:sSup>
                    </m:oMath>
                  </m:oMathPara>
                </a14:m>
                <a:endParaRPr lang="zh-CN" altLang="en-US" sz="2400" b="1" dirty="0">
                  <a:solidFill>
                    <a:schemeClr val="tx1"/>
                  </a:solidFill>
                </a:endParaRPr>
              </a:p>
            </p:txBody>
          </p:sp>
        </mc:Choice>
        <mc:Fallback xmlns="">
          <p:sp>
            <p:nvSpPr>
              <p:cNvPr id="7" name="文本框 6">
                <a:extLst>
                  <a:ext uri="{FF2B5EF4-FFF2-40B4-BE49-F238E27FC236}">
                    <a16:creationId xmlns:a16="http://schemas.microsoft.com/office/drawing/2014/main" id="{75258A40-2806-43C4-B036-D98BE44C69AC}"/>
                  </a:ext>
                </a:extLst>
              </p:cNvPr>
              <p:cNvSpPr txBox="1">
                <a:spLocks noRot="1" noChangeAspect="1" noMove="1" noResize="1" noEditPoints="1" noAdjustHandles="1" noChangeArrowheads="1" noChangeShapeType="1" noTextEdit="1"/>
              </p:cNvSpPr>
              <p:nvPr/>
            </p:nvSpPr>
            <p:spPr>
              <a:xfrm>
                <a:off x="876158" y="4005064"/>
                <a:ext cx="6567888" cy="383118"/>
              </a:xfrm>
              <a:prstGeom prst="rect">
                <a:avLst/>
              </a:prstGeom>
              <a:blipFill>
                <a:blip r:embed="rId3"/>
                <a:stretch>
                  <a:fillRect/>
                </a:stretch>
              </a:blipFill>
              <a:effectLst>
                <a:glow rad="63500">
                  <a:schemeClr val="accent2">
                    <a:satMod val="175000"/>
                    <a:alpha val="40000"/>
                  </a:schemeClr>
                </a:glow>
              </a:effectLst>
            </p:spPr>
            <p:txBody>
              <a:bodyPr/>
              <a:lstStyle/>
              <a:p>
                <a:r>
                  <a:rPr lang="zh-CN" altLang="en-US">
                    <a:noFill/>
                  </a:rPr>
                  <a:t> </a:t>
                </a:r>
              </a:p>
            </p:txBody>
          </p:sp>
        </mc:Fallback>
      </mc:AlternateContent>
      <p:sp>
        <p:nvSpPr>
          <p:cNvPr id="9" name="矩形 8">
            <a:extLst>
              <a:ext uri="{FF2B5EF4-FFF2-40B4-BE49-F238E27FC236}">
                <a16:creationId xmlns:a16="http://schemas.microsoft.com/office/drawing/2014/main" id="{F94E0E0B-EDA6-4A9D-B182-E74890B20B79}"/>
              </a:ext>
            </a:extLst>
          </p:cNvPr>
          <p:cNvSpPr/>
          <p:nvPr/>
        </p:nvSpPr>
        <p:spPr>
          <a:xfrm>
            <a:off x="3161502" y="4031196"/>
            <a:ext cx="474394" cy="369332"/>
          </a:xfrm>
          <a:prstGeom prst="rect">
            <a:avLst/>
          </a:prstGeom>
          <a:noFill/>
        </p:spPr>
        <p:txBody>
          <a:bodyPr wrap="square">
            <a:spAutoFit/>
          </a:bodyPr>
          <a:lstStyle/>
          <a:p>
            <a:r>
              <a:rPr lang="en-US" altLang="zh-CN" b="1" dirty="0">
                <a:sym typeface="Wingdings" panose="05000000000000000000" pitchFamily="2" charset="2"/>
              </a:rPr>
              <a:t></a:t>
            </a:r>
            <a:endParaRPr lang="zh-CN" altLang="en-US" b="1" dirty="0"/>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0640DA31-9774-4A9C-978D-54AB9B69B820}"/>
                  </a:ext>
                </a:extLst>
              </p:cNvPr>
              <p:cNvSpPr/>
              <p:nvPr/>
            </p:nvSpPr>
            <p:spPr>
              <a:xfrm>
                <a:off x="829073" y="4712041"/>
                <a:ext cx="5792286" cy="307777"/>
              </a:xfrm>
              <a:prstGeom prst="rect">
                <a:avLst/>
              </a:prstGeom>
            </p:spPr>
            <p:txBody>
              <a:bodyPr wrap="square">
                <a:spAutoFit/>
              </a:bodyPr>
              <a:lstStyle/>
              <a:p>
                <a:pPr marL="285750" indent="-285750">
                  <a:spcBef>
                    <a:spcPct val="40000"/>
                  </a:spcBef>
                  <a:buFont typeface="Wingdings" panose="05000000000000000000" pitchFamily="2" charset="2"/>
                  <a:buChar char="l"/>
                </a:pPr>
                <a:r>
                  <a:rPr lang="en-US" altLang="zh-CN" sz="1400" dirty="0">
                    <a:solidFill>
                      <a:schemeClr val="tx1"/>
                    </a:solidFill>
                    <a:latin typeface="微软雅黑" panose="020B0503020204020204" pitchFamily="34" charset="-122"/>
                    <a:ea typeface="微软雅黑" panose="020B0503020204020204" pitchFamily="34" charset="-122"/>
                  </a:rPr>
                  <a:t>if</a:t>
                </a:r>
                <a14:m>
                  <m:oMath xmlns:m="http://schemas.openxmlformats.org/officeDocument/2006/math">
                    <m:r>
                      <a:rPr lang="en-US" altLang="zh-CN" sz="1400" b="0" i="0" smtClean="0">
                        <a:solidFill>
                          <a:schemeClr val="tx1"/>
                        </a:solidFill>
                        <a:latin typeface="Cambria Math" panose="02040503050406030204" pitchFamily="18" charset="0"/>
                      </a:rPr>
                      <m:t>  </m:t>
                    </m:r>
                    <m:r>
                      <a:rPr lang="en-US" altLang="zh-CN" sz="1400" b="0" i="1" smtClean="0">
                        <a:solidFill>
                          <a:schemeClr val="tx1"/>
                        </a:solidFill>
                        <a:latin typeface="Cambria Math" panose="02040503050406030204" pitchFamily="18" charset="0"/>
                      </a:rPr>
                      <m:t> </m:t>
                    </m:r>
                    <m:r>
                      <a:rPr lang="zh-CN" altLang="en-US" sz="1400" i="1">
                        <a:solidFill>
                          <a:schemeClr val="tx1"/>
                        </a:solidFill>
                        <a:latin typeface="Cambria Math" panose="02040503050406030204" pitchFamily="18" charset="0"/>
                      </a:rPr>
                      <m:t>𝛼</m:t>
                    </m:r>
                    <m:r>
                      <a:rPr lang="zh-CN" altLang="en-US" sz="1400" i="1">
                        <a:solidFill>
                          <a:schemeClr val="tx1"/>
                        </a:solidFill>
                        <a:latin typeface="Cambria Math" panose="02040503050406030204" pitchFamily="18" charset="0"/>
                      </a:rPr>
                      <m:t>+</m:t>
                    </m:r>
                    <m:r>
                      <a:rPr lang="zh-CN" altLang="en-US" sz="1400" i="1">
                        <a:solidFill>
                          <a:schemeClr val="tx1"/>
                        </a:solidFill>
                        <a:latin typeface="Cambria Math" panose="02040503050406030204" pitchFamily="18" charset="0"/>
                      </a:rPr>
                      <m:t>𝛽</m:t>
                    </m:r>
                    <m:r>
                      <a:rPr lang="zh-CN" altLang="en-US" sz="1400" i="1">
                        <a:solidFill>
                          <a:schemeClr val="tx1"/>
                        </a:solidFill>
                        <a:latin typeface="Cambria Math" panose="02040503050406030204" pitchFamily="18" charset="0"/>
                      </a:rPr>
                      <m:t>=1</m:t>
                    </m:r>
                  </m:oMath>
                </a14:m>
                <a:r>
                  <a:rPr lang="en-US" altLang="zh-CN" sz="1400" dirty="0">
                    <a:solidFill>
                      <a:schemeClr val="tx1"/>
                    </a:solidFill>
                    <a:latin typeface="微软雅黑" panose="020B0503020204020204" pitchFamily="34" charset="-122"/>
                    <a:ea typeface="微软雅黑" panose="020B0503020204020204" pitchFamily="34" charset="-122"/>
                  </a:rPr>
                  <a:t>, then constant return to scale </a:t>
                </a:r>
                <a:r>
                  <a:rPr lang="zh-CN" altLang="en-US" sz="1400" dirty="0">
                    <a:solidFill>
                      <a:schemeClr val="tx1"/>
                    </a:solidFill>
                    <a:latin typeface="微软雅黑" panose="020B0503020204020204" pitchFamily="34" charset="-122"/>
                    <a:ea typeface="微软雅黑" panose="020B0503020204020204" pitchFamily="34" charset="-122"/>
                  </a:rPr>
                  <a:t>（规模报酬不变）</a:t>
                </a:r>
              </a:p>
            </p:txBody>
          </p:sp>
        </mc:Choice>
        <mc:Fallback xmlns="">
          <p:sp>
            <p:nvSpPr>
              <p:cNvPr id="10" name="矩形 9">
                <a:extLst>
                  <a:ext uri="{FF2B5EF4-FFF2-40B4-BE49-F238E27FC236}">
                    <a16:creationId xmlns:a16="http://schemas.microsoft.com/office/drawing/2014/main" id="{0640DA31-9774-4A9C-978D-54AB9B69B820}"/>
                  </a:ext>
                </a:extLst>
              </p:cNvPr>
              <p:cNvSpPr>
                <a:spLocks noRot="1" noChangeAspect="1" noMove="1" noResize="1" noEditPoints="1" noAdjustHandles="1" noChangeArrowheads="1" noChangeShapeType="1" noTextEdit="1"/>
              </p:cNvSpPr>
              <p:nvPr/>
            </p:nvSpPr>
            <p:spPr>
              <a:xfrm>
                <a:off x="829073" y="4712041"/>
                <a:ext cx="5792286" cy="307777"/>
              </a:xfrm>
              <a:prstGeom prst="rect">
                <a:avLst/>
              </a:prstGeom>
              <a:blipFill>
                <a:blip r:embed="rId4"/>
                <a:stretch>
                  <a:fillRect l="-105" t="-4000" b="-2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4C6BBA8B-0174-448A-B8B1-0E64F1E1CE6C}"/>
                  </a:ext>
                </a:extLst>
              </p:cNvPr>
              <p:cNvSpPr/>
              <p:nvPr/>
            </p:nvSpPr>
            <p:spPr>
              <a:xfrm>
                <a:off x="829073" y="5189999"/>
                <a:ext cx="7131590" cy="307777"/>
              </a:xfrm>
              <a:prstGeom prst="rect">
                <a:avLst/>
              </a:prstGeom>
            </p:spPr>
            <p:txBody>
              <a:bodyPr wrap="square">
                <a:spAutoFit/>
              </a:bodyPr>
              <a:lstStyle/>
              <a:p>
                <a:pPr marL="285750" indent="-285750">
                  <a:spcBef>
                    <a:spcPct val="40000"/>
                  </a:spcBef>
                  <a:buFont typeface="Wingdings" panose="05000000000000000000" pitchFamily="2" charset="2"/>
                  <a:buChar char="l"/>
                </a:pPr>
                <a:r>
                  <a:rPr lang="en-US" altLang="zh-CN" sz="1400" dirty="0">
                    <a:solidFill>
                      <a:schemeClr val="tx1"/>
                    </a:solidFill>
                    <a:latin typeface="微软雅黑" panose="020B0503020204020204" pitchFamily="34" charset="-122"/>
                    <a:ea typeface="微软雅黑" panose="020B0503020204020204" pitchFamily="34" charset="-122"/>
                  </a:rPr>
                  <a:t>If  </a:t>
                </a:r>
                <a14:m>
                  <m:oMath xmlns:m="http://schemas.openxmlformats.org/officeDocument/2006/math">
                    <m:r>
                      <a:rPr lang="zh-CN" altLang="en-US" sz="1400" i="1">
                        <a:solidFill>
                          <a:schemeClr val="tx1"/>
                        </a:solidFill>
                        <a:latin typeface="Cambria Math" panose="02040503050406030204" pitchFamily="18" charset="0"/>
                      </a:rPr>
                      <m:t>𝛼</m:t>
                    </m:r>
                    <m:r>
                      <a:rPr lang="zh-CN" altLang="en-US" sz="1400" i="1">
                        <a:solidFill>
                          <a:schemeClr val="tx1"/>
                        </a:solidFill>
                        <a:latin typeface="Cambria Math" panose="02040503050406030204" pitchFamily="18" charset="0"/>
                      </a:rPr>
                      <m:t>+</m:t>
                    </m:r>
                    <m:r>
                      <a:rPr lang="zh-CN" altLang="en-US" sz="1400" i="1">
                        <a:solidFill>
                          <a:schemeClr val="tx1"/>
                        </a:solidFill>
                        <a:latin typeface="Cambria Math" panose="02040503050406030204" pitchFamily="18" charset="0"/>
                      </a:rPr>
                      <m:t>𝛽</m:t>
                    </m:r>
                    <m:r>
                      <a:rPr lang="zh-CN" altLang="en-US" sz="1400" i="1">
                        <a:solidFill>
                          <a:schemeClr val="tx1"/>
                        </a:solidFill>
                        <a:latin typeface="Cambria Math" panose="02040503050406030204" pitchFamily="18" charset="0"/>
                      </a:rPr>
                      <m:t>&lt;1</m:t>
                    </m:r>
                  </m:oMath>
                </a14:m>
                <a:r>
                  <a:rPr lang="en-US" altLang="zh-CN" sz="1400" dirty="0">
                    <a:solidFill>
                      <a:schemeClr val="tx1"/>
                    </a:solidFill>
                    <a:latin typeface="微软雅黑" panose="020B0503020204020204" pitchFamily="34" charset="-122"/>
                    <a:ea typeface="微软雅黑" panose="020B0503020204020204" pitchFamily="34" charset="-122"/>
                  </a:rPr>
                  <a:t>, then decreasing return to scale </a:t>
                </a:r>
                <a:r>
                  <a:rPr lang="zh-CN" altLang="en-US" sz="1400" dirty="0">
                    <a:solidFill>
                      <a:schemeClr val="tx1"/>
                    </a:solidFill>
                    <a:latin typeface="微软雅黑" panose="020B0503020204020204" pitchFamily="34" charset="-122"/>
                    <a:ea typeface="微软雅黑" panose="020B0503020204020204" pitchFamily="34" charset="-122"/>
                  </a:rPr>
                  <a:t>（规模报酬递减）</a:t>
                </a:r>
                <a:endParaRPr lang="en-US" altLang="zh-CN" sz="1400" dirty="0">
                  <a:solidFill>
                    <a:schemeClr val="tx1"/>
                  </a:solidFill>
                  <a:latin typeface="微软雅黑" panose="020B0503020204020204" pitchFamily="34" charset="-122"/>
                  <a:ea typeface="微软雅黑" panose="020B0503020204020204" pitchFamily="34" charset="-122"/>
                </a:endParaRPr>
              </a:p>
            </p:txBody>
          </p:sp>
        </mc:Choice>
        <mc:Fallback xmlns="">
          <p:sp>
            <p:nvSpPr>
              <p:cNvPr id="11" name="矩形 10">
                <a:extLst>
                  <a:ext uri="{FF2B5EF4-FFF2-40B4-BE49-F238E27FC236}">
                    <a16:creationId xmlns:a16="http://schemas.microsoft.com/office/drawing/2014/main" id="{4C6BBA8B-0174-448A-B8B1-0E64F1E1CE6C}"/>
                  </a:ext>
                </a:extLst>
              </p:cNvPr>
              <p:cNvSpPr>
                <a:spLocks noRot="1" noChangeAspect="1" noMove="1" noResize="1" noEditPoints="1" noAdjustHandles="1" noChangeArrowheads="1" noChangeShapeType="1" noTextEdit="1"/>
              </p:cNvSpPr>
              <p:nvPr/>
            </p:nvSpPr>
            <p:spPr>
              <a:xfrm>
                <a:off x="829073" y="5189999"/>
                <a:ext cx="7131590" cy="307777"/>
              </a:xfrm>
              <a:prstGeom prst="rect">
                <a:avLst/>
              </a:prstGeom>
              <a:blipFill>
                <a:blip r:embed="rId5"/>
                <a:stretch>
                  <a:fillRect l="-85" t="-1961" b="-196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EFE491B2-AA15-4CBC-8180-89AFEC14E6FD}"/>
                  </a:ext>
                </a:extLst>
              </p:cNvPr>
              <p:cNvSpPr/>
              <p:nvPr/>
            </p:nvSpPr>
            <p:spPr>
              <a:xfrm>
                <a:off x="829073" y="5667345"/>
                <a:ext cx="6661143" cy="307777"/>
              </a:xfrm>
              <a:prstGeom prst="rect">
                <a:avLst/>
              </a:prstGeom>
            </p:spPr>
            <p:txBody>
              <a:bodyPr wrap="square">
                <a:spAutoFit/>
              </a:bodyPr>
              <a:lstStyle/>
              <a:p>
                <a:pPr marL="285750" indent="-285750">
                  <a:spcBef>
                    <a:spcPct val="40000"/>
                  </a:spcBef>
                  <a:buFont typeface="Wingdings" panose="05000000000000000000" pitchFamily="2" charset="2"/>
                  <a:buChar char="l"/>
                </a:pPr>
                <a:r>
                  <a:rPr lang="en-US" altLang="zh-CN" sz="1400" dirty="0">
                    <a:solidFill>
                      <a:schemeClr val="tx1"/>
                    </a:solidFill>
                    <a:latin typeface="微软雅黑" panose="020B0503020204020204" pitchFamily="34" charset="-122"/>
                    <a:ea typeface="微软雅黑" panose="020B0503020204020204" pitchFamily="34" charset="-122"/>
                  </a:rPr>
                  <a:t>if</a:t>
                </a:r>
                <a14:m>
                  <m:oMath xmlns:m="http://schemas.openxmlformats.org/officeDocument/2006/math">
                    <m:r>
                      <a:rPr lang="en-US" altLang="zh-CN" sz="1400" b="0" i="0" smtClean="0">
                        <a:solidFill>
                          <a:schemeClr val="tx1"/>
                        </a:solidFill>
                        <a:latin typeface="Cambria Math" panose="02040503050406030204" pitchFamily="18" charset="0"/>
                      </a:rPr>
                      <m:t>  </m:t>
                    </m:r>
                    <m:r>
                      <a:rPr lang="en-US" altLang="zh-CN" sz="1400" b="0" i="1" smtClean="0">
                        <a:solidFill>
                          <a:schemeClr val="tx1"/>
                        </a:solidFill>
                        <a:latin typeface="Cambria Math" panose="02040503050406030204" pitchFamily="18" charset="0"/>
                      </a:rPr>
                      <m:t> </m:t>
                    </m:r>
                    <m:r>
                      <a:rPr lang="zh-CN" altLang="en-US" sz="1400" i="1">
                        <a:solidFill>
                          <a:schemeClr val="tx1"/>
                        </a:solidFill>
                        <a:latin typeface="Cambria Math" panose="02040503050406030204" pitchFamily="18" charset="0"/>
                      </a:rPr>
                      <m:t>𝛼</m:t>
                    </m:r>
                    <m:r>
                      <a:rPr lang="zh-CN" altLang="en-US" sz="1400" i="1">
                        <a:solidFill>
                          <a:schemeClr val="tx1"/>
                        </a:solidFill>
                        <a:latin typeface="Cambria Math" panose="02040503050406030204" pitchFamily="18" charset="0"/>
                      </a:rPr>
                      <m:t>+</m:t>
                    </m:r>
                    <m:r>
                      <a:rPr lang="zh-CN" altLang="en-US" sz="1400" i="1">
                        <a:solidFill>
                          <a:schemeClr val="tx1"/>
                        </a:solidFill>
                        <a:latin typeface="Cambria Math" panose="02040503050406030204" pitchFamily="18" charset="0"/>
                      </a:rPr>
                      <m:t>𝛽</m:t>
                    </m:r>
                    <m:r>
                      <a:rPr lang="zh-CN" altLang="en-US" sz="1400" i="1">
                        <a:solidFill>
                          <a:schemeClr val="tx1"/>
                        </a:solidFill>
                        <a:latin typeface="Cambria Math" panose="02040503050406030204" pitchFamily="18" charset="0"/>
                      </a:rPr>
                      <m:t>&gt;1</m:t>
                    </m:r>
                  </m:oMath>
                </a14:m>
                <a:r>
                  <a:rPr lang="en-US" altLang="zh-CN" sz="1400" dirty="0">
                    <a:solidFill>
                      <a:schemeClr val="tx1"/>
                    </a:solidFill>
                    <a:latin typeface="微软雅黑" panose="020B0503020204020204" pitchFamily="34" charset="-122"/>
                    <a:ea typeface="微软雅黑" panose="020B0503020204020204" pitchFamily="34" charset="-122"/>
                  </a:rPr>
                  <a:t>, then increasing return to scale </a:t>
                </a:r>
                <a:r>
                  <a:rPr lang="zh-CN" altLang="en-US" sz="1400" dirty="0">
                    <a:solidFill>
                      <a:schemeClr val="tx1"/>
                    </a:solidFill>
                    <a:latin typeface="微软雅黑" panose="020B0503020204020204" pitchFamily="34" charset="-122"/>
                    <a:ea typeface="微软雅黑" panose="020B0503020204020204" pitchFamily="34" charset="-122"/>
                  </a:rPr>
                  <a:t>（规模报酬递增）</a:t>
                </a:r>
              </a:p>
            </p:txBody>
          </p:sp>
        </mc:Choice>
        <mc:Fallback xmlns="">
          <p:sp>
            <p:nvSpPr>
              <p:cNvPr id="12" name="矩形 11">
                <a:extLst>
                  <a:ext uri="{FF2B5EF4-FFF2-40B4-BE49-F238E27FC236}">
                    <a16:creationId xmlns:a16="http://schemas.microsoft.com/office/drawing/2014/main" id="{EFE491B2-AA15-4CBC-8180-89AFEC14E6FD}"/>
                  </a:ext>
                </a:extLst>
              </p:cNvPr>
              <p:cNvSpPr>
                <a:spLocks noRot="1" noChangeAspect="1" noMove="1" noResize="1" noEditPoints="1" noAdjustHandles="1" noChangeArrowheads="1" noChangeShapeType="1" noTextEdit="1"/>
              </p:cNvSpPr>
              <p:nvPr/>
            </p:nvSpPr>
            <p:spPr>
              <a:xfrm>
                <a:off x="829073" y="5667345"/>
                <a:ext cx="6661143" cy="307777"/>
              </a:xfrm>
              <a:prstGeom prst="rect">
                <a:avLst/>
              </a:prstGeom>
              <a:blipFill>
                <a:blip r:embed="rId6"/>
                <a:stretch>
                  <a:fillRect l="-91" t="-4000" b="-20000"/>
                </a:stretch>
              </a:blipFill>
            </p:spPr>
            <p:txBody>
              <a:bodyPr/>
              <a:lstStyle/>
              <a:p>
                <a:r>
                  <a:rPr lang="zh-CN" altLang="en-US">
                    <a:noFill/>
                  </a:rPr>
                  <a:t> </a:t>
                </a:r>
              </a:p>
            </p:txBody>
          </p:sp>
        </mc:Fallback>
      </mc:AlternateContent>
      <p:sp>
        <p:nvSpPr>
          <p:cNvPr id="13" name="矩形: 圆角 12">
            <a:extLst>
              <a:ext uri="{FF2B5EF4-FFF2-40B4-BE49-F238E27FC236}">
                <a16:creationId xmlns:a16="http://schemas.microsoft.com/office/drawing/2014/main" id="{92A1E16E-101E-4E65-AE6F-2AD06972A389}"/>
              </a:ext>
            </a:extLst>
          </p:cNvPr>
          <p:cNvSpPr/>
          <p:nvPr/>
        </p:nvSpPr>
        <p:spPr>
          <a:xfrm>
            <a:off x="827584" y="1329571"/>
            <a:ext cx="3029308" cy="45971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66735C6B-7CD7-4F8B-9B45-9319EF80EE95}"/>
              </a:ext>
            </a:extLst>
          </p:cNvPr>
          <p:cNvSpPr/>
          <p:nvPr/>
        </p:nvSpPr>
        <p:spPr>
          <a:xfrm>
            <a:off x="876685" y="1356815"/>
            <a:ext cx="2914964"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规模报酬的变化规律</a:t>
            </a:r>
          </a:p>
        </p:txBody>
      </p:sp>
      <p:sp>
        <p:nvSpPr>
          <p:cNvPr id="15" name="矩形 14">
            <a:extLst>
              <a:ext uri="{FF2B5EF4-FFF2-40B4-BE49-F238E27FC236}">
                <a16:creationId xmlns:a16="http://schemas.microsoft.com/office/drawing/2014/main" id="{F3150184-AF65-4F7D-B1B7-434A5D9F7D4C}"/>
              </a:ext>
            </a:extLst>
          </p:cNvPr>
          <p:cNvSpPr/>
          <p:nvPr/>
        </p:nvSpPr>
        <p:spPr>
          <a:xfrm>
            <a:off x="580922" y="520573"/>
            <a:ext cx="607931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四、规模经济和长期平均成本曲线的形状</a:t>
            </a:r>
          </a:p>
        </p:txBody>
      </p:sp>
    </p:spTree>
    <p:extLst>
      <p:ext uri="{BB962C8B-B14F-4D97-AF65-F5344CB8AC3E}">
        <p14:creationId xmlns:p14="http://schemas.microsoft.com/office/powerpoint/2010/main" val="232632560"/>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3"/>
                                        </p:tgtEl>
                                        <p:attrNameLst>
                                          <p:attrName>style.visibility</p:attrName>
                                        </p:attrNameLst>
                                      </p:cBhvr>
                                      <p:to>
                                        <p:strVal val="visible"/>
                                      </p:to>
                                    </p:set>
                                    <p:anim calcmode="lin" valueType="num">
                                      <p:cBhvr>
                                        <p:cTn id="14" dur="500" fill="hold"/>
                                        <p:tgtEl>
                                          <p:spTgt spid="13"/>
                                        </p:tgtEl>
                                        <p:attrNameLst>
                                          <p:attrName>ppt_w</p:attrName>
                                        </p:attrNameLst>
                                      </p:cBhvr>
                                      <p:tavLst>
                                        <p:tav tm="0">
                                          <p:val>
                                            <p:fltVal val="0"/>
                                          </p:val>
                                        </p:tav>
                                        <p:tav tm="100000">
                                          <p:val>
                                            <p:strVal val="#ppt_w"/>
                                          </p:val>
                                        </p:tav>
                                      </p:tavLst>
                                    </p:anim>
                                    <p:anim calcmode="lin" valueType="num">
                                      <p:cBhvr>
                                        <p:cTn id="15" dur="500" fill="hold"/>
                                        <p:tgtEl>
                                          <p:spTgt spid="13"/>
                                        </p:tgtEl>
                                        <p:attrNameLst>
                                          <p:attrName>ppt_h</p:attrName>
                                        </p:attrNameLst>
                                      </p:cBhvr>
                                      <p:tavLst>
                                        <p:tav tm="0">
                                          <p:val>
                                            <p:fltVal val="0"/>
                                          </p:val>
                                        </p:tav>
                                        <p:tav tm="100000">
                                          <p:val>
                                            <p:strVal val="#ppt_h"/>
                                          </p:val>
                                        </p:tav>
                                      </p:tavLst>
                                    </p:anim>
                                    <p:animEffect transition="in" filter="fade">
                                      <p:cBhvr>
                                        <p:cTn id="16" dur="500"/>
                                        <p:tgtEl>
                                          <p:spTgt spid="13"/>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animEffect transition="in" filter="fade">
                                      <p:cBhvr>
                                        <p:cTn id="21" dur="500"/>
                                        <p:tgtEl>
                                          <p:spTgt spid="14"/>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fltVal val="0"/>
                                          </p:val>
                                        </p:tav>
                                        <p:tav tm="100000">
                                          <p:val>
                                            <p:strVal val="#ppt_h"/>
                                          </p:val>
                                        </p:tav>
                                      </p:tavLst>
                                    </p:anim>
                                    <p:animEffect transition="in" filter="fade">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wipe(down)">
                                      <p:cBhvr>
                                        <p:cTn id="38" dur="50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wipe(left)">
                                      <p:cBhvr>
                                        <p:cTn id="43" dur="500"/>
                                        <p:tgtEl>
                                          <p:spTgt spid="9"/>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left)">
                                      <p:cBhvr>
                                        <p:cTn id="46" dur="500"/>
                                        <p:tgtEl>
                                          <p:spTgt spid="7"/>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wipe(down)">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4" fill="hold" grpId="0"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wipe(down)">
                                      <p:cBhvr>
                                        <p:cTn id="56" dur="500"/>
                                        <p:tgtEl>
                                          <p:spTgt spid="11"/>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4" fill="hold" grpId="0" nodeType="clickEffect">
                                  <p:stCondLst>
                                    <p:cond delay="0"/>
                                  </p:stCondLst>
                                  <p:childTnLst>
                                    <p:set>
                                      <p:cBhvr>
                                        <p:cTn id="60" dur="1" fill="hold">
                                          <p:stCondLst>
                                            <p:cond delay="0"/>
                                          </p:stCondLst>
                                        </p:cTn>
                                        <p:tgtEl>
                                          <p:spTgt spid="12"/>
                                        </p:tgtEl>
                                        <p:attrNameLst>
                                          <p:attrName>style.visibility</p:attrName>
                                        </p:attrNameLst>
                                      </p:cBhvr>
                                      <p:to>
                                        <p:strVal val="visible"/>
                                      </p:to>
                                    </p:set>
                                    <p:animEffect transition="in" filter="wipe(down)">
                                      <p:cBhvr>
                                        <p:cTn id="6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P spid="7" grpId="0"/>
      <p:bldP spid="9" grpId="0"/>
      <p:bldP spid="10" grpId="0"/>
      <p:bldP spid="11" grpId="0"/>
      <p:bldP spid="12" grpId="0"/>
      <p:bldP spid="13" grpId="0" animBg="1"/>
      <p:bldP spid="14" grpId="0"/>
      <p:bldP spid="15"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4DA5741A-FDA1-4D3D-8ABD-03B097492E14}"/>
              </a:ext>
            </a:extLst>
          </p:cNvPr>
          <p:cNvSpPr/>
          <p:nvPr/>
        </p:nvSpPr>
        <p:spPr>
          <a:xfrm>
            <a:off x="684670" y="1416140"/>
            <a:ext cx="3553834" cy="45971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4E1C1893-AB90-4458-A5F7-957881641DB7}"/>
              </a:ext>
            </a:extLst>
          </p:cNvPr>
          <p:cNvSpPr/>
          <p:nvPr/>
        </p:nvSpPr>
        <p:spPr>
          <a:xfrm>
            <a:off x="755576" y="1445941"/>
            <a:ext cx="3960440"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规模报酬变化与规模经济</a:t>
            </a:r>
          </a:p>
        </p:txBody>
      </p:sp>
      <p:sp>
        <p:nvSpPr>
          <p:cNvPr id="3" name="矩形 2">
            <a:extLst>
              <a:ext uri="{FF2B5EF4-FFF2-40B4-BE49-F238E27FC236}">
                <a16:creationId xmlns:a16="http://schemas.microsoft.com/office/drawing/2014/main" id="{E18812AA-FFAC-4F7F-AD00-CCFD49B80D20}"/>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4" name="矩形 3">
            <a:extLst>
              <a:ext uri="{FF2B5EF4-FFF2-40B4-BE49-F238E27FC236}">
                <a16:creationId xmlns:a16="http://schemas.microsoft.com/office/drawing/2014/main" id="{790F8F64-1F8B-407B-9D4E-EA87083F5B85}"/>
              </a:ext>
            </a:extLst>
          </p:cNvPr>
          <p:cNvSpPr/>
          <p:nvPr/>
        </p:nvSpPr>
        <p:spPr>
          <a:xfrm>
            <a:off x="3203848" y="2420888"/>
            <a:ext cx="5400600" cy="630942"/>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规模经济</a:t>
            </a:r>
            <a:r>
              <a:rPr lang="zh-CN" altLang="en-US" sz="1700" dirty="0">
                <a:latin typeface="微软雅黑" panose="020B0503020204020204" pitchFamily="34" charset="-122"/>
                <a:ea typeface="微软雅黑" panose="020B0503020204020204" pitchFamily="34" charset="-122"/>
              </a:rPr>
              <a:t>与规模报酬递增非常类似，但是二者是不同的概念，是从不同的角度定义的。</a:t>
            </a:r>
          </a:p>
        </p:txBody>
      </p:sp>
      <p:sp>
        <p:nvSpPr>
          <p:cNvPr id="5" name="矩形 4">
            <a:extLst>
              <a:ext uri="{FF2B5EF4-FFF2-40B4-BE49-F238E27FC236}">
                <a16:creationId xmlns:a16="http://schemas.microsoft.com/office/drawing/2014/main" id="{62CA57CF-4BE7-4954-8FCA-BB3A4D476205}"/>
              </a:ext>
            </a:extLst>
          </p:cNvPr>
          <p:cNvSpPr/>
          <p:nvPr/>
        </p:nvSpPr>
        <p:spPr>
          <a:xfrm>
            <a:off x="3249593" y="3334878"/>
            <a:ext cx="3896795" cy="307777"/>
          </a:xfrm>
          <a:prstGeom prst="rect">
            <a:avLst/>
          </a:prstGeom>
        </p:spPr>
        <p:txBody>
          <a:bodyPr wrap="square">
            <a:spAutoFit/>
          </a:bodyPr>
          <a:lstStyle/>
          <a:p>
            <a:pPr marL="285750" indent="-285750">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规模报酬是从技术角度考量的</a:t>
            </a:r>
          </a:p>
        </p:txBody>
      </p:sp>
      <p:sp>
        <p:nvSpPr>
          <p:cNvPr id="6" name="矩形 5">
            <a:extLst>
              <a:ext uri="{FF2B5EF4-FFF2-40B4-BE49-F238E27FC236}">
                <a16:creationId xmlns:a16="http://schemas.microsoft.com/office/drawing/2014/main" id="{B02AE7F5-1324-4F5E-9479-76FF0E046E40}"/>
              </a:ext>
            </a:extLst>
          </p:cNvPr>
          <p:cNvSpPr/>
          <p:nvPr/>
        </p:nvSpPr>
        <p:spPr>
          <a:xfrm>
            <a:off x="3249593" y="3882092"/>
            <a:ext cx="4572000" cy="307777"/>
          </a:xfrm>
          <a:prstGeom prst="rect">
            <a:avLst/>
          </a:prstGeom>
        </p:spPr>
        <p:txBody>
          <a:bodyPr>
            <a:spAutoFit/>
          </a:bodyPr>
          <a:lstStyle/>
          <a:p>
            <a:pPr marL="285750" indent="-285750">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规模经济则包括了市场等方面</a:t>
            </a:r>
          </a:p>
        </p:txBody>
      </p:sp>
      <p:sp>
        <p:nvSpPr>
          <p:cNvPr id="7" name="矩形 6">
            <a:extLst>
              <a:ext uri="{FF2B5EF4-FFF2-40B4-BE49-F238E27FC236}">
                <a16:creationId xmlns:a16="http://schemas.microsoft.com/office/drawing/2014/main" id="{A729CD54-4690-4458-92D1-99FCC9D164D6}"/>
              </a:ext>
            </a:extLst>
          </p:cNvPr>
          <p:cNvSpPr/>
          <p:nvPr/>
        </p:nvSpPr>
        <p:spPr>
          <a:xfrm>
            <a:off x="3249593" y="4429306"/>
            <a:ext cx="4752528" cy="523220"/>
          </a:xfrm>
          <a:prstGeom prst="rect">
            <a:avLst/>
          </a:prstGeom>
        </p:spPr>
        <p:txBody>
          <a:bodyPr wrap="square">
            <a:spAutoFit/>
          </a:bodyPr>
          <a:lstStyle/>
          <a:p>
            <a:pPr marL="285750" indent="-285750">
              <a:buFont typeface="Wingdings" panose="05000000000000000000" pitchFamily="2" charset="2"/>
              <a:buChar char="l"/>
            </a:pPr>
            <a:r>
              <a:rPr lang="zh-CN" altLang="en-US" sz="1400" dirty="0">
                <a:latin typeface="微软雅黑" panose="020B0503020204020204" pitchFamily="34" charset="-122"/>
                <a:ea typeface="微软雅黑" panose="020B0503020204020204" pitchFamily="34" charset="-122"/>
              </a:rPr>
              <a:t>规模报酬递增必然导致规模经济，但是规模经济并不与规模报酬递增完全对应</a:t>
            </a:r>
          </a:p>
        </p:txBody>
      </p:sp>
      <p:pic>
        <p:nvPicPr>
          <p:cNvPr id="9" name="图片 8">
            <a:extLst>
              <a:ext uri="{FF2B5EF4-FFF2-40B4-BE49-F238E27FC236}">
                <a16:creationId xmlns:a16="http://schemas.microsoft.com/office/drawing/2014/main" id="{C204086D-C1E1-4936-A72F-FF034BA47E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4933" y="2258325"/>
            <a:ext cx="2245357" cy="3753915"/>
          </a:xfrm>
          <a:prstGeom prst="rect">
            <a:avLst/>
          </a:prstGeom>
        </p:spPr>
      </p:pic>
      <p:sp>
        <p:nvSpPr>
          <p:cNvPr id="10" name="矩形 9">
            <a:extLst>
              <a:ext uri="{FF2B5EF4-FFF2-40B4-BE49-F238E27FC236}">
                <a16:creationId xmlns:a16="http://schemas.microsoft.com/office/drawing/2014/main" id="{88E5FA6E-1799-4310-8BA0-2D1838482F7A}"/>
              </a:ext>
            </a:extLst>
          </p:cNvPr>
          <p:cNvSpPr/>
          <p:nvPr/>
        </p:nvSpPr>
        <p:spPr>
          <a:xfrm>
            <a:off x="3203848" y="5229200"/>
            <a:ext cx="5400600" cy="646331"/>
          </a:xfrm>
          <a:prstGeom prst="rect">
            <a:avLst/>
          </a:prstGeom>
        </p:spPr>
        <p:txBody>
          <a:bodyPr wrap="square">
            <a:spAutoFit/>
          </a:bodyPr>
          <a:lstStyle/>
          <a:p>
            <a:pPr marL="342900" indent="-34290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为了简化起见，这里假设规模报酬变化与规模经济或不经济是对应的。</a:t>
            </a:r>
          </a:p>
        </p:txBody>
      </p:sp>
      <p:sp>
        <p:nvSpPr>
          <p:cNvPr id="13" name="矩形 12">
            <a:extLst>
              <a:ext uri="{FF2B5EF4-FFF2-40B4-BE49-F238E27FC236}">
                <a16:creationId xmlns:a16="http://schemas.microsoft.com/office/drawing/2014/main" id="{A7F4A0CF-6FDA-4B77-B452-444B5D87B35E}"/>
              </a:ext>
            </a:extLst>
          </p:cNvPr>
          <p:cNvSpPr/>
          <p:nvPr/>
        </p:nvSpPr>
        <p:spPr>
          <a:xfrm>
            <a:off x="580922" y="520573"/>
            <a:ext cx="607931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四、规模经济和长期平均成本曲线的形状</a:t>
            </a:r>
          </a:p>
        </p:txBody>
      </p:sp>
    </p:spTree>
    <p:extLst>
      <p:ext uri="{BB962C8B-B14F-4D97-AF65-F5344CB8AC3E}">
        <p14:creationId xmlns:p14="http://schemas.microsoft.com/office/powerpoint/2010/main" val="793589718"/>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500" fill="hold"/>
                                        <p:tgtEl>
                                          <p:spTgt spid="13"/>
                                        </p:tgtEl>
                                        <p:attrNameLst>
                                          <p:attrName>ppt_w</p:attrName>
                                        </p:attrNameLst>
                                      </p:cBhvr>
                                      <p:tavLst>
                                        <p:tav tm="0">
                                          <p:val>
                                            <p:fltVal val="0"/>
                                          </p:val>
                                        </p:tav>
                                        <p:tav tm="100000">
                                          <p:val>
                                            <p:strVal val="#ppt_w"/>
                                          </p:val>
                                        </p:tav>
                                      </p:tavLst>
                                    </p:anim>
                                    <p:anim calcmode="lin" valueType="num">
                                      <p:cBhvr>
                                        <p:cTn id="8" dur="500" fill="hold"/>
                                        <p:tgtEl>
                                          <p:spTgt spid="13"/>
                                        </p:tgtEl>
                                        <p:attrNameLst>
                                          <p:attrName>ppt_h</p:attrName>
                                        </p:attrNameLst>
                                      </p:cBhvr>
                                      <p:tavLst>
                                        <p:tav tm="0">
                                          <p:val>
                                            <p:fltVal val="0"/>
                                          </p:val>
                                        </p:tav>
                                        <p:tav tm="100000">
                                          <p:val>
                                            <p:strVal val="#ppt_h"/>
                                          </p:val>
                                        </p:tav>
                                      </p:tavLst>
                                    </p:anim>
                                    <p:animEffect transition="in" filter="fade">
                                      <p:cBhvr>
                                        <p:cTn id="9" dur="500"/>
                                        <p:tgtEl>
                                          <p:spTgt spid="13"/>
                                        </p:tgtEl>
                                      </p:cBhvr>
                                    </p:animEffect>
                                  </p:childTnLst>
                                </p:cTn>
                              </p:par>
                              <p:par>
                                <p:cTn id="10" presetID="53" presetClass="entr" presetSubtype="16" fill="hold"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animEffect transition="in" filter="fade">
                                      <p:cBhvr>
                                        <p:cTn id="21" dur="500"/>
                                        <p:tgtEl>
                                          <p:spTgt spid="11"/>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500" fill="hold"/>
                                        <p:tgtEl>
                                          <p:spTgt spid="2"/>
                                        </p:tgtEl>
                                        <p:attrNameLst>
                                          <p:attrName>ppt_w</p:attrName>
                                        </p:attrNameLst>
                                      </p:cBhvr>
                                      <p:tavLst>
                                        <p:tav tm="0">
                                          <p:val>
                                            <p:fltVal val="0"/>
                                          </p:val>
                                        </p:tav>
                                        <p:tav tm="100000">
                                          <p:val>
                                            <p:strVal val="#ppt_w"/>
                                          </p:val>
                                        </p:tav>
                                      </p:tavLst>
                                    </p:anim>
                                    <p:anim calcmode="lin" valueType="num">
                                      <p:cBhvr>
                                        <p:cTn id="25" dur="500" fill="hold"/>
                                        <p:tgtEl>
                                          <p:spTgt spid="2"/>
                                        </p:tgtEl>
                                        <p:attrNameLst>
                                          <p:attrName>ppt_h</p:attrName>
                                        </p:attrNameLst>
                                      </p:cBhvr>
                                      <p:tavLst>
                                        <p:tav tm="0">
                                          <p:val>
                                            <p:fltVal val="0"/>
                                          </p:val>
                                        </p:tav>
                                        <p:tav tm="100000">
                                          <p:val>
                                            <p:strVal val="#ppt_h"/>
                                          </p:val>
                                        </p:tav>
                                      </p:tavLst>
                                    </p:anim>
                                    <p:animEffect transition="in" filter="fade">
                                      <p:cBhvr>
                                        <p:cTn id="26" dur="50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1+#ppt_w/2"/>
                                          </p:val>
                                        </p:tav>
                                        <p:tav tm="100000">
                                          <p:val>
                                            <p:strVal val="#ppt_x"/>
                                          </p:val>
                                        </p:tav>
                                      </p:tavLst>
                                    </p:anim>
                                    <p:anim calcmode="lin" valueType="num">
                                      <p:cBhvr additive="base">
                                        <p:cTn id="3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down)">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down)">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down)">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2" fill="hold" grpId="0" nodeType="clickEffect">
                                  <p:stCondLst>
                                    <p:cond delay="0"/>
                                  </p:stCondLst>
                                  <p:childTnLst>
                                    <p:set>
                                      <p:cBhvr>
                                        <p:cTn id="51" dur="1" fill="hold">
                                          <p:stCondLst>
                                            <p:cond delay="0"/>
                                          </p:stCondLst>
                                        </p:cTn>
                                        <p:tgtEl>
                                          <p:spTgt spid="10"/>
                                        </p:tgtEl>
                                        <p:attrNameLst>
                                          <p:attrName>style.visibility</p:attrName>
                                        </p:attrNameLst>
                                      </p:cBhvr>
                                      <p:to>
                                        <p:strVal val="visible"/>
                                      </p:to>
                                    </p:set>
                                    <p:anim calcmode="lin" valueType="num">
                                      <p:cBhvr additive="base">
                                        <p:cTn id="52" dur="500" fill="hold"/>
                                        <p:tgtEl>
                                          <p:spTgt spid="10"/>
                                        </p:tgtEl>
                                        <p:attrNameLst>
                                          <p:attrName>ppt_x</p:attrName>
                                        </p:attrNameLst>
                                      </p:cBhvr>
                                      <p:tavLst>
                                        <p:tav tm="0">
                                          <p:val>
                                            <p:strVal val="1+#ppt_w/2"/>
                                          </p:val>
                                        </p:tav>
                                        <p:tav tm="100000">
                                          <p:val>
                                            <p:strVal val="#ppt_x"/>
                                          </p:val>
                                        </p:tav>
                                      </p:tavLst>
                                    </p:anim>
                                    <p:anim calcmode="lin" valueType="num">
                                      <p:cBhvr additive="base">
                                        <p:cTn id="53"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 grpId="0"/>
      <p:bldP spid="4" grpId="0"/>
      <p:bldP spid="5" grpId="0"/>
      <p:bldP spid="6" grpId="0"/>
      <p:bldP spid="7" grpId="0"/>
      <p:bldP spid="10" grpId="0"/>
      <p:bldP spid="1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圆角 23">
            <a:extLst>
              <a:ext uri="{FF2B5EF4-FFF2-40B4-BE49-F238E27FC236}">
                <a16:creationId xmlns:a16="http://schemas.microsoft.com/office/drawing/2014/main" id="{A19D4F28-A660-4481-B41B-78F87EB9985E}"/>
              </a:ext>
            </a:extLst>
          </p:cNvPr>
          <p:cNvSpPr/>
          <p:nvPr/>
        </p:nvSpPr>
        <p:spPr>
          <a:xfrm>
            <a:off x="565328" y="1313105"/>
            <a:ext cx="4118181" cy="45971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DA909261-0172-4ADA-AFD7-F13CDC4CB836}"/>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3" name="矩形 2">
            <a:extLst>
              <a:ext uri="{FF2B5EF4-FFF2-40B4-BE49-F238E27FC236}">
                <a16:creationId xmlns:a16="http://schemas.microsoft.com/office/drawing/2014/main" id="{9AECEA6F-334C-4978-9854-78A2848A555B}"/>
              </a:ext>
            </a:extLst>
          </p:cNvPr>
          <p:cNvSpPr/>
          <p:nvPr/>
        </p:nvSpPr>
        <p:spPr>
          <a:xfrm>
            <a:off x="683568" y="1325207"/>
            <a:ext cx="4536504"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zh-CN" altLang="en-US" sz="2000" dirty="0">
                <a:latin typeface="微软雅黑" panose="020B0503020204020204" pitchFamily="34" charset="-122"/>
                <a:ea typeface="微软雅黑" panose="020B0503020204020204" pitchFamily="34" charset="-122"/>
              </a:rPr>
              <a:t>规模经济与长期平均成本曲线</a:t>
            </a:r>
          </a:p>
        </p:txBody>
      </p:sp>
      <p:sp>
        <p:nvSpPr>
          <p:cNvPr id="4" name="矩形 3">
            <a:extLst>
              <a:ext uri="{FF2B5EF4-FFF2-40B4-BE49-F238E27FC236}">
                <a16:creationId xmlns:a16="http://schemas.microsoft.com/office/drawing/2014/main" id="{B1E4DC84-44B3-4D19-989A-F9F07642BF9C}"/>
              </a:ext>
            </a:extLst>
          </p:cNvPr>
          <p:cNvSpPr/>
          <p:nvPr/>
        </p:nvSpPr>
        <p:spPr>
          <a:xfrm>
            <a:off x="2267744" y="5157192"/>
            <a:ext cx="5149929" cy="646331"/>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与此对应，长期平均成本先递减后递增。</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（注意，是长期“平均”成本，不是其他成本）</a:t>
            </a:r>
          </a:p>
        </p:txBody>
      </p:sp>
      <p:sp>
        <p:nvSpPr>
          <p:cNvPr id="5" name="Freeform 158">
            <a:extLst>
              <a:ext uri="{FF2B5EF4-FFF2-40B4-BE49-F238E27FC236}">
                <a16:creationId xmlns:a16="http://schemas.microsoft.com/office/drawing/2014/main" id="{90CDAE82-1448-4198-BA2C-C369570D0E3D}"/>
              </a:ext>
            </a:extLst>
          </p:cNvPr>
          <p:cNvSpPr>
            <a:spLocks/>
          </p:cNvSpPr>
          <p:nvPr/>
        </p:nvSpPr>
        <p:spPr bwMode="auto">
          <a:xfrm>
            <a:off x="2723566" y="2369311"/>
            <a:ext cx="1959944" cy="1302892"/>
          </a:xfrm>
          <a:custGeom>
            <a:avLst/>
            <a:gdLst>
              <a:gd name="T0" fmla="*/ 2147483646 w 1165"/>
              <a:gd name="T1" fmla="*/ 789211071 h 774"/>
              <a:gd name="T2" fmla="*/ 2147483646 w 1165"/>
              <a:gd name="T3" fmla="*/ 749467143 h 774"/>
              <a:gd name="T4" fmla="*/ 2147483646 w 1165"/>
              <a:gd name="T5" fmla="*/ 726756667 h 774"/>
              <a:gd name="T6" fmla="*/ 2147483646 w 1165"/>
              <a:gd name="T7" fmla="*/ 675656310 h 774"/>
              <a:gd name="T8" fmla="*/ 2147483646 w 1165"/>
              <a:gd name="T9" fmla="*/ 584812024 h 774"/>
              <a:gd name="T10" fmla="*/ 2147483646 w 1165"/>
              <a:gd name="T11" fmla="*/ 528034644 h 774"/>
              <a:gd name="T12" fmla="*/ 2147483646 w 1165"/>
              <a:gd name="T13" fmla="*/ 493967739 h 774"/>
              <a:gd name="T14" fmla="*/ 2147483646 w 1165"/>
              <a:gd name="T15" fmla="*/ 499644762 h 774"/>
              <a:gd name="T16" fmla="*/ 2147483646 w 1165"/>
              <a:gd name="T17" fmla="*/ 511001191 h 774"/>
              <a:gd name="T18" fmla="*/ 2147483646 w 1165"/>
              <a:gd name="T19" fmla="*/ 533711667 h 774"/>
              <a:gd name="T20" fmla="*/ 2147483646 w 1165"/>
              <a:gd name="T21" fmla="*/ 880055356 h 774"/>
              <a:gd name="T22" fmla="*/ 2147483646 w 1165"/>
              <a:gd name="T23" fmla="*/ 1027679406 h 774"/>
              <a:gd name="T24" fmla="*/ 2147483646 w 1165"/>
              <a:gd name="T25" fmla="*/ 1061746311 h 774"/>
              <a:gd name="T26" fmla="*/ 2147483646 w 1165"/>
              <a:gd name="T27" fmla="*/ 1107167262 h 774"/>
              <a:gd name="T28" fmla="*/ 2147483646 w 1165"/>
              <a:gd name="T29" fmla="*/ 1129880121 h 774"/>
              <a:gd name="T30" fmla="*/ 2147483646 w 1165"/>
              <a:gd name="T31" fmla="*/ 1073100357 h 774"/>
              <a:gd name="T32" fmla="*/ 2147483646 w 1165"/>
              <a:gd name="T33" fmla="*/ 1021999999 h 774"/>
              <a:gd name="T34" fmla="*/ 2147483646 w 1165"/>
              <a:gd name="T35" fmla="*/ 965222619 h 774"/>
              <a:gd name="T36" fmla="*/ 2147483646 w 1165"/>
              <a:gd name="T37" fmla="*/ 244145358 h 774"/>
              <a:gd name="T38" fmla="*/ 2147483646 w 1165"/>
              <a:gd name="T39" fmla="*/ 198722023 h 774"/>
              <a:gd name="T40" fmla="*/ 2147483646 w 1165"/>
              <a:gd name="T41" fmla="*/ 158978095 h 774"/>
              <a:gd name="T42" fmla="*/ 2147483646 w 1165"/>
              <a:gd name="T43" fmla="*/ 68133810 h 774"/>
              <a:gd name="T44" fmla="*/ 2147483646 w 1165"/>
              <a:gd name="T45" fmla="*/ 5677023 h 774"/>
              <a:gd name="T46" fmla="*/ 2147483646 w 1165"/>
              <a:gd name="T47" fmla="*/ 17033452 h 774"/>
              <a:gd name="T48" fmla="*/ 2147483646 w 1165"/>
              <a:gd name="T49" fmla="*/ 34066905 h 774"/>
              <a:gd name="T50" fmla="*/ 45382938 w 1165"/>
              <a:gd name="T51" fmla="*/ 1646558335 h 774"/>
              <a:gd name="T52" fmla="*/ 1378502265 w 1165"/>
              <a:gd name="T53" fmla="*/ 2147483646 h 774"/>
              <a:gd name="T54" fmla="*/ 1418211442 w 1165"/>
              <a:gd name="T55" fmla="*/ 2147483646 h 774"/>
              <a:gd name="T56" fmla="*/ 1457923001 w 1165"/>
              <a:gd name="T57" fmla="*/ 2147483646 h 774"/>
              <a:gd name="T58" fmla="*/ 1991170732 w 1165"/>
              <a:gd name="T59" fmla="*/ 2147483646 h 774"/>
              <a:gd name="T60" fmla="*/ 2064917708 w 1165"/>
              <a:gd name="T61" fmla="*/ 2147483646 h 774"/>
              <a:gd name="T62" fmla="*/ 2132990923 w 1165"/>
              <a:gd name="T63" fmla="*/ 2147483646 h 774"/>
              <a:gd name="T64" fmla="*/ 2147483646 w 1165"/>
              <a:gd name="T65" fmla="*/ 2147483646 h 774"/>
              <a:gd name="T66" fmla="*/ 2147483646 w 1165"/>
              <a:gd name="T67" fmla="*/ 2147483646 h 774"/>
              <a:gd name="T68" fmla="*/ 2147483646 w 1165"/>
              <a:gd name="T69" fmla="*/ 2147483646 h 774"/>
              <a:gd name="T70" fmla="*/ 2147483646 w 1165"/>
              <a:gd name="T71" fmla="*/ 2147483646 h 774"/>
              <a:gd name="T72" fmla="*/ 2147483646 w 1165"/>
              <a:gd name="T73" fmla="*/ 2147483646 h 774"/>
              <a:gd name="T74" fmla="*/ 2147483646 w 1165"/>
              <a:gd name="T75" fmla="*/ 2147483646 h 774"/>
              <a:gd name="T76" fmla="*/ 2147483646 w 1165"/>
              <a:gd name="T77" fmla="*/ 2147483646 h 774"/>
              <a:gd name="T78" fmla="*/ 2147483646 w 1165"/>
              <a:gd name="T79" fmla="*/ 2147483646 h 774"/>
              <a:gd name="T80" fmla="*/ 2147483646 w 1165"/>
              <a:gd name="T81" fmla="*/ 2147483646 h 774"/>
              <a:gd name="T82" fmla="*/ 2147483646 w 1165"/>
              <a:gd name="T83" fmla="*/ 2147483646 h 774"/>
              <a:gd name="T84" fmla="*/ 2147483646 w 1165"/>
              <a:gd name="T85" fmla="*/ 2147483646 h 774"/>
              <a:gd name="T86" fmla="*/ 2147483646 w 1165"/>
              <a:gd name="T87" fmla="*/ 2147483646 h 774"/>
              <a:gd name="T88" fmla="*/ 2147483646 w 1165"/>
              <a:gd name="T89" fmla="*/ 2147483646 h 774"/>
              <a:gd name="T90" fmla="*/ 2147483646 w 1165"/>
              <a:gd name="T91" fmla="*/ 2147483646 h 774"/>
              <a:gd name="T92" fmla="*/ 2147483646 w 1165"/>
              <a:gd name="T93" fmla="*/ 2147483646 h 774"/>
              <a:gd name="T94" fmla="*/ 2147483646 w 1165"/>
              <a:gd name="T95" fmla="*/ 2147483646 h 774"/>
              <a:gd name="T96" fmla="*/ 2147483646 w 1165"/>
              <a:gd name="T97" fmla="*/ 2147483646 h 774"/>
              <a:gd name="T98" fmla="*/ 2147483646 w 1165"/>
              <a:gd name="T99" fmla="*/ 2147483646 h 774"/>
              <a:gd name="T100" fmla="*/ 2147483646 w 1165"/>
              <a:gd name="T101" fmla="*/ 2147483646 h 774"/>
              <a:gd name="T102" fmla="*/ 2147483646 w 1165"/>
              <a:gd name="T103" fmla="*/ 2147483646 h 774"/>
              <a:gd name="T104" fmla="*/ 2147483646 w 1165"/>
              <a:gd name="T105" fmla="*/ 2147483646 h 774"/>
              <a:gd name="T106" fmla="*/ 2147483646 w 1165"/>
              <a:gd name="T107" fmla="*/ 2147483646 h 774"/>
              <a:gd name="T108" fmla="*/ 2147483646 w 1165"/>
              <a:gd name="T109" fmla="*/ 2147483646 h 774"/>
              <a:gd name="T110" fmla="*/ 2147483646 w 1165"/>
              <a:gd name="T111" fmla="*/ 2147483646 h 774"/>
              <a:gd name="T112" fmla="*/ 2147483646 w 1165"/>
              <a:gd name="T113" fmla="*/ 2147483646 h 774"/>
              <a:gd name="T114" fmla="*/ 2147483646 w 1165"/>
              <a:gd name="T115" fmla="*/ 1663591787 h 774"/>
              <a:gd name="T116" fmla="*/ 2147483646 w 1165"/>
              <a:gd name="T117" fmla="*/ 1657912381 h 77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1165" h="774">
                <a:moveTo>
                  <a:pt x="1164" y="187"/>
                </a:moveTo>
                <a:cubicBezTo>
                  <a:pt x="1162" y="173"/>
                  <a:pt x="1158" y="160"/>
                  <a:pt x="1149" y="147"/>
                </a:cubicBezTo>
                <a:cubicBezTo>
                  <a:pt x="1149" y="147"/>
                  <a:pt x="1148" y="146"/>
                  <a:pt x="1148" y="146"/>
                </a:cubicBezTo>
                <a:cubicBezTo>
                  <a:pt x="1148" y="145"/>
                  <a:pt x="1147" y="145"/>
                  <a:pt x="1147" y="144"/>
                </a:cubicBezTo>
                <a:cubicBezTo>
                  <a:pt x="1147" y="144"/>
                  <a:pt x="1146" y="143"/>
                  <a:pt x="1146" y="143"/>
                </a:cubicBezTo>
                <a:cubicBezTo>
                  <a:pt x="1145" y="142"/>
                  <a:pt x="1145" y="141"/>
                  <a:pt x="1144" y="141"/>
                </a:cubicBezTo>
                <a:cubicBezTo>
                  <a:pt x="1144" y="140"/>
                  <a:pt x="1144" y="140"/>
                  <a:pt x="1144" y="140"/>
                </a:cubicBezTo>
                <a:cubicBezTo>
                  <a:pt x="1143" y="140"/>
                  <a:pt x="1143" y="139"/>
                  <a:pt x="1143" y="139"/>
                </a:cubicBezTo>
                <a:cubicBezTo>
                  <a:pt x="1143" y="139"/>
                  <a:pt x="1142" y="138"/>
                  <a:pt x="1142" y="138"/>
                </a:cubicBezTo>
                <a:cubicBezTo>
                  <a:pt x="1141" y="137"/>
                  <a:pt x="1141" y="137"/>
                  <a:pt x="1140" y="136"/>
                </a:cubicBezTo>
                <a:cubicBezTo>
                  <a:pt x="1140" y="135"/>
                  <a:pt x="1140" y="135"/>
                  <a:pt x="1140" y="135"/>
                </a:cubicBezTo>
                <a:cubicBezTo>
                  <a:pt x="1139" y="134"/>
                  <a:pt x="1139" y="134"/>
                  <a:pt x="1139" y="134"/>
                </a:cubicBezTo>
                <a:cubicBezTo>
                  <a:pt x="1139" y="134"/>
                  <a:pt x="1139" y="134"/>
                  <a:pt x="1139" y="134"/>
                </a:cubicBezTo>
                <a:cubicBezTo>
                  <a:pt x="1138" y="133"/>
                  <a:pt x="1138" y="133"/>
                  <a:pt x="1138" y="133"/>
                </a:cubicBezTo>
                <a:cubicBezTo>
                  <a:pt x="1137" y="133"/>
                  <a:pt x="1137" y="133"/>
                  <a:pt x="1137" y="133"/>
                </a:cubicBezTo>
                <a:cubicBezTo>
                  <a:pt x="1137" y="132"/>
                  <a:pt x="1137" y="132"/>
                  <a:pt x="1137" y="132"/>
                </a:cubicBezTo>
                <a:cubicBezTo>
                  <a:pt x="1137" y="132"/>
                  <a:pt x="1137" y="132"/>
                  <a:pt x="1137" y="132"/>
                </a:cubicBezTo>
                <a:cubicBezTo>
                  <a:pt x="1136" y="131"/>
                  <a:pt x="1136" y="131"/>
                  <a:pt x="1136" y="131"/>
                </a:cubicBezTo>
                <a:cubicBezTo>
                  <a:pt x="1136" y="131"/>
                  <a:pt x="1136" y="131"/>
                  <a:pt x="1136" y="131"/>
                </a:cubicBezTo>
                <a:cubicBezTo>
                  <a:pt x="1135" y="130"/>
                  <a:pt x="1135" y="130"/>
                  <a:pt x="1135" y="130"/>
                </a:cubicBezTo>
                <a:cubicBezTo>
                  <a:pt x="1134" y="130"/>
                  <a:pt x="1134" y="130"/>
                  <a:pt x="1134" y="130"/>
                </a:cubicBezTo>
                <a:cubicBezTo>
                  <a:pt x="1134" y="129"/>
                  <a:pt x="1134" y="129"/>
                  <a:pt x="1134" y="129"/>
                </a:cubicBezTo>
                <a:cubicBezTo>
                  <a:pt x="1133" y="128"/>
                  <a:pt x="1133" y="128"/>
                  <a:pt x="1133" y="128"/>
                </a:cubicBezTo>
                <a:cubicBezTo>
                  <a:pt x="1133" y="128"/>
                  <a:pt x="1133" y="128"/>
                  <a:pt x="1133" y="128"/>
                </a:cubicBezTo>
                <a:cubicBezTo>
                  <a:pt x="1132" y="128"/>
                  <a:pt x="1132" y="127"/>
                  <a:pt x="1132" y="127"/>
                </a:cubicBezTo>
                <a:cubicBezTo>
                  <a:pt x="1131" y="127"/>
                  <a:pt x="1131" y="126"/>
                  <a:pt x="1130" y="126"/>
                </a:cubicBezTo>
                <a:cubicBezTo>
                  <a:pt x="1130" y="125"/>
                  <a:pt x="1130" y="125"/>
                  <a:pt x="1129" y="125"/>
                </a:cubicBezTo>
                <a:cubicBezTo>
                  <a:pt x="1129" y="124"/>
                  <a:pt x="1128" y="124"/>
                  <a:pt x="1128" y="124"/>
                </a:cubicBezTo>
                <a:cubicBezTo>
                  <a:pt x="1128" y="123"/>
                  <a:pt x="1127" y="123"/>
                  <a:pt x="1127" y="122"/>
                </a:cubicBezTo>
                <a:cubicBezTo>
                  <a:pt x="1126" y="122"/>
                  <a:pt x="1125" y="122"/>
                  <a:pt x="1125" y="121"/>
                </a:cubicBezTo>
                <a:cubicBezTo>
                  <a:pt x="1124" y="121"/>
                  <a:pt x="1124" y="120"/>
                  <a:pt x="1124" y="120"/>
                </a:cubicBezTo>
                <a:cubicBezTo>
                  <a:pt x="1123" y="120"/>
                  <a:pt x="1123" y="119"/>
                  <a:pt x="1122" y="119"/>
                </a:cubicBezTo>
                <a:cubicBezTo>
                  <a:pt x="1122" y="119"/>
                  <a:pt x="1121" y="118"/>
                  <a:pt x="1121" y="118"/>
                </a:cubicBezTo>
                <a:cubicBezTo>
                  <a:pt x="1120" y="117"/>
                  <a:pt x="1119" y="117"/>
                  <a:pt x="1119" y="116"/>
                </a:cubicBezTo>
                <a:cubicBezTo>
                  <a:pt x="1118" y="116"/>
                  <a:pt x="1118" y="116"/>
                  <a:pt x="1117" y="115"/>
                </a:cubicBezTo>
                <a:cubicBezTo>
                  <a:pt x="1117" y="115"/>
                  <a:pt x="1116" y="115"/>
                  <a:pt x="1116" y="114"/>
                </a:cubicBezTo>
                <a:cubicBezTo>
                  <a:pt x="1115" y="114"/>
                  <a:pt x="1115" y="114"/>
                  <a:pt x="1114" y="113"/>
                </a:cubicBezTo>
                <a:cubicBezTo>
                  <a:pt x="1114" y="113"/>
                  <a:pt x="1113" y="113"/>
                  <a:pt x="1113" y="112"/>
                </a:cubicBezTo>
                <a:cubicBezTo>
                  <a:pt x="1110" y="111"/>
                  <a:pt x="1107" y="109"/>
                  <a:pt x="1104" y="107"/>
                </a:cubicBezTo>
                <a:cubicBezTo>
                  <a:pt x="1102" y="106"/>
                  <a:pt x="1099" y="104"/>
                  <a:pt x="1096" y="103"/>
                </a:cubicBezTo>
                <a:cubicBezTo>
                  <a:pt x="1093" y="101"/>
                  <a:pt x="1090" y="100"/>
                  <a:pt x="1087" y="99"/>
                </a:cubicBezTo>
                <a:cubicBezTo>
                  <a:pt x="1083" y="98"/>
                  <a:pt x="1080" y="96"/>
                  <a:pt x="1077" y="95"/>
                </a:cubicBezTo>
                <a:cubicBezTo>
                  <a:pt x="1077" y="95"/>
                  <a:pt x="1076" y="95"/>
                  <a:pt x="1076" y="95"/>
                </a:cubicBezTo>
                <a:cubicBezTo>
                  <a:pt x="1075" y="95"/>
                  <a:pt x="1075" y="95"/>
                  <a:pt x="1074" y="95"/>
                </a:cubicBezTo>
                <a:cubicBezTo>
                  <a:pt x="1074" y="94"/>
                  <a:pt x="1074" y="94"/>
                  <a:pt x="1073" y="94"/>
                </a:cubicBezTo>
                <a:cubicBezTo>
                  <a:pt x="1073" y="94"/>
                  <a:pt x="1072" y="94"/>
                  <a:pt x="1072" y="94"/>
                </a:cubicBezTo>
                <a:cubicBezTo>
                  <a:pt x="1071" y="94"/>
                  <a:pt x="1071" y="94"/>
                  <a:pt x="1071" y="94"/>
                </a:cubicBezTo>
                <a:cubicBezTo>
                  <a:pt x="1070" y="93"/>
                  <a:pt x="1070" y="93"/>
                  <a:pt x="1070" y="93"/>
                </a:cubicBezTo>
                <a:cubicBezTo>
                  <a:pt x="1069" y="93"/>
                  <a:pt x="1069" y="93"/>
                  <a:pt x="1069" y="93"/>
                </a:cubicBezTo>
                <a:cubicBezTo>
                  <a:pt x="1069" y="93"/>
                  <a:pt x="1069" y="93"/>
                  <a:pt x="1069" y="93"/>
                </a:cubicBezTo>
                <a:cubicBezTo>
                  <a:pt x="1068" y="93"/>
                  <a:pt x="1068" y="93"/>
                  <a:pt x="1067" y="92"/>
                </a:cubicBezTo>
                <a:cubicBezTo>
                  <a:pt x="1067" y="92"/>
                  <a:pt x="1066" y="92"/>
                  <a:pt x="1066" y="92"/>
                </a:cubicBezTo>
                <a:cubicBezTo>
                  <a:pt x="1065" y="92"/>
                  <a:pt x="1065" y="92"/>
                  <a:pt x="1064" y="92"/>
                </a:cubicBezTo>
                <a:cubicBezTo>
                  <a:pt x="1063" y="91"/>
                  <a:pt x="1063" y="91"/>
                  <a:pt x="1062" y="91"/>
                </a:cubicBezTo>
                <a:cubicBezTo>
                  <a:pt x="1058" y="90"/>
                  <a:pt x="1053" y="89"/>
                  <a:pt x="1049" y="89"/>
                </a:cubicBezTo>
                <a:cubicBezTo>
                  <a:pt x="1044" y="88"/>
                  <a:pt x="1040" y="87"/>
                  <a:pt x="1036" y="87"/>
                </a:cubicBezTo>
                <a:cubicBezTo>
                  <a:pt x="1031" y="87"/>
                  <a:pt x="1027" y="86"/>
                  <a:pt x="1022" y="86"/>
                </a:cubicBezTo>
                <a:cubicBezTo>
                  <a:pt x="1018" y="86"/>
                  <a:pt x="1013" y="86"/>
                  <a:pt x="1009" y="87"/>
                </a:cubicBezTo>
                <a:cubicBezTo>
                  <a:pt x="1008" y="87"/>
                  <a:pt x="1008" y="87"/>
                  <a:pt x="1007" y="87"/>
                </a:cubicBezTo>
                <a:cubicBezTo>
                  <a:pt x="1007" y="87"/>
                  <a:pt x="1006" y="87"/>
                  <a:pt x="1006" y="87"/>
                </a:cubicBezTo>
                <a:cubicBezTo>
                  <a:pt x="1005" y="87"/>
                  <a:pt x="1004" y="87"/>
                  <a:pt x="1003" y="87"/>
                </a:cubicBezTo>
                <a:cubicBezTo>
                  <a:pt x="1003" y="87"/>
                  <a:pt x="1002" y="87"/>
                  <a:pt x="1001" y="88"/>
                </a:cubicBezTo>
                <a:cubicBezTo>
                  <a:pt x="1000" y="88"/>
                  <a:pt x="1000" y="88"/>
                  <a:pt x="1000" y="88"/>
                </a:cubicBezTo>
                <a:cubicBezTo>
                  <a:pt x="999" y="88"/>
                  <a:pt x="999" y="88"/>
                  <a:pt x="998" y="88"/>
                </a:cubicBezTo>
                <a:cubicBezTo>
                  <a:pt x="998" y="88"/>
                  <a:pt x="997" y="88"/>
                  <a:pt x="996" y="88"/>
                </a:cubicBezTo>
                <a:cubicBezTo>
                  <a:pt x="996" y="88"/>
                  <a:pt x="995" y="88"/>
                  <a:pt x="994" y="88"/>
                </a:cubicBezTo>
                <a:cubicBezTo>
                  <a:pt x="993" y="89"/>
                  <a:pt x="993" y="89"/>
                  <a:pt x="993" y="89"/>
                </a:cubicBezTo>
                <a:cubicBezTo>
                  <a:pt x="992" y="89"/>
                  <a:pt x="992" y="89"/>
                  <a:pt x="992" y="89"/>
                </a:cubicBezTo>
                <a:cubicBezTo>
                  <a:pt x="991" y="89"/>
                  <a:pt x="991" y="89"/>
                  <a:pt x="990" y="89"/>
                </a:cubicBezTo>
                <a:cubicBezTo>
                  <a:pt x="989" y="89"/>
                  <a:pt x="988" y="89"/>
                  <a:pt x="987" y="90"/>
                </a:cubicBezTo>
                <a:cubicBezTo>
                  <a:pt x="987" y="90"/>
                  <a:pt x="987" y="90"/>
                  <a:pt x="986" y="90"/>
                </a:cubicBezTo>
                <a:cubicBezTo>
                  <a:pt x="986" y="90"/>
                  <a:pt x="986" y="90"/>
                  <a:pt x="985" y="90"/>
                </a:cubicBezTo>
                <a:cubicBezTo>
                  <a:pt x="985" y="90"/>
                  <a:pt x="984" y="90"/>
                  <a:pt x="983" y="91"/>
                </a:cubicBezTo>
                <a:cubicBezTo>
                  <a:pt x="983" y="91"/>
                  <a:pt x="982" y="91"/>
                  <a:pt x="981" y="91"/>
                </a:cubicBezTo>
                <a:cubicBezTo>
                  <a:pt x="981" y="91"/>
                  <a:pt x="980" y="91"/>
                  <a:pt x="980" y="91"/>
                </a:cubicBezTo>
                <a:cubicBezTo>
                  <a:pt x="980" y="91"/>
                  <a:pt x="979" y="92"/>
                  <a:pt x="979" y="92"/>
                </a:cubicBezTo>
                <a:cubicBezTo>
                  <a:pt x="978" y="92"/>
                  <a:pt x="978" y="92"/>
                  <a:pt x="977" y="92"/>
                </a:cubicBezTo>
                <a:cubicBezTo>
                  <a:pt x="976" y="92"/>
                  <a:pt x="976" y="93"/>
                  <a:pt x="975" y="93"/>
                </a:cubicBezTo>
                <a:cubicBezTo>
                  <a:pt x="974" y="93"/>
                  <a:pt x="974" y="93"/>
                  <a:pt x="973" y="93"/>
                </a:cubicBezTo>
                <a:cubicBezTo>
                  <a:pt x="973" y="93"/>
                  <a:pt x="972" y="94"/>
                  <a:pt x="972" y="94"/>
                </a:cubicBezTo>
                <a:cubicBezTo>
                  <a:pt x="971" y="94"/>
                  <a:pt x="971" y="94"/>
                  <a:pt x="970" y="94"/>
                </a:cubicBezTo>
                <a:cubicBezTo>
                  <a:pt x="969" y="94"/>
                  <a:pt x="969" y="95"/>
                  <a:pt x="968" y="95"/>
                </a:cubicBezTo>
                <a:cubicBezTo>
                  <a:pt x="960" y="98"/>
                  <a:pt x="953" y="101"/>
                  <a:pt x="945" y="105"/>
                </a:cubicBezTo>
                <a:cubicBezTo>
                  <a:pt x="938" y="109"/>
                  <a:pt x="932" y="113"/>
                  <a:pt x="926" y="118"/>
                </a:cubicBezTo>
                <a:cubicBezTo>
                  <a:pt x="921" y="123"/>
                  <a:pt x="916" y="128"/>
                  <a:pt x="912" y="133"/>
                </a:cubicBezTo>
                <a:cubicBezTo>
                  <a:pt x="907" y="139"/>
                  <a:pt x="904" y="145"/>
                  <a:pt x="901" y="151"/>
                </a:cubicBezTo>
                <a:cubicBezTo>
                  <a:pt x="901" y="151"/>
                  <a:pt x="901" y="151"/>
                  <a:pt x="901" y="152"/>
                </a:cubicBezTo>
                <a:cubicBezTo>
                  <a:pt x="900" y="152"/>
                  <a:pt x="900" y="153"/>
                  <a:pt x="899" y="155"/>
                </a:cubicBezTo>
                <a:cubicBezTo>
                  <a:pt x="898" y="156"/>
                  <a:pt x="897" y="158"/>
                  <a:pt x="895" y="161"/>
                </a:cubicBezTo>
                <a:cubicBezTo>
                  <a:pt x="894" y="164"/>
                  <a:pt x="891" y="168"/>
                  <a:pt x="888" y="173"/>
                </a:cubicBezTo>
                <a:cubicBezTo>
                  <a:pt x="888" y="173"/>
                  <a:pt x="888" y="174"/>
                  <a:pt x="887" y="174"/>
                </a:cubicBezTo>
                <a:cubicBezTo>
                  <a:pt x="887" y="175"/>
                  <a:pt x="887" y="175"/>
                  <a:pt x="886" y="176"/>
                </a:cubicBezTo>
                <a:cubicBezTo>
                  <a:pt x="886" y="176"/>
                  <a:pt x="886" y="177"/>
                  <a:pt x="885" y="177"/>
                </a:cubicBezTo>
                <a:cubicBezTo>
                  <a:pt x="885" y="178"/>
                  <a:pt x="884" y="179"/>
                  <a:pt x="883" y="179"/>
                </a:cubicBezTo>
                <a:cubicBezTo>
                  <a:pt x="883" y="180"/>
                  <a:pt x="883" y="180"/>
                  <a:pt x="883" y="180"/>
                </a:cubicBezTo>
                <a:cubicBezTo>
                  <a:pt x="882" y="181"/>
                  <a:pt x="882" y="181"/>
                  <a:pt x="882" y="181"/>
                </a:cubicBezTo>
                <a:cubicBezTo>
                  <a:pt x="882" y="182"/>
                  <a:pt x="882" y="182"/>
                  <a:pt x="882" y="182"/>
                </a:cubicBezTo>
                <a:cubicBezTo>
                  <a:pt x="881" y="182"/>
                  <a:pt x="881" y="182"/>
                  <a:pt x="881" y="183"/>
                </a:cubicBezTo>
                <a:cubicBezTo>
                  <a:pt x="880" y="184"/>
                  <a:pt x="880" y="184"/>
                  <a:pt x="880" y="184"/>
                </a:cubicBezTo>
                <a:cubicBezTo>
                  <a:pt x="879" y="184"/>
                  <a:pt x="879" y="184"/>
                  <a:pt x="879" y="184"/>
                </a:cubicBezTo>
                <a:cubicBezTo>
                  <a:pt x="878" y="185"/>
                  <a:pt x="878" y="185"/>
                  <a:pt x="878" y="185"/>
                </a:cubicBezTo>
                <a:cubicBezTo>
                  <a:pt x="877" y="186"/>
                  <a:pt x="877" y="186"/>
                  <a:pt x="877" y="186"/>
                </a:cubicBezTo>
                <a:cubicBezTo>
                  <a:pt x="877" y="187"/>
                  <a:pt x="877" y="187"/>
                  <a:pt x="877" y="187"/>
                </a:cubicBezTo>
                <a:cubicBezTo>
                  <a:pt x="876" y="187"/>
                  <a:pt x="876" y="187"/>
                  <a:pt x="876" y="187"/>
                </a:cubicBezTo>
                <a:cubicBezTo>
                  <a:pt x="875" y="188"/>
                  <a:pt x="875" y="188"/>
                  <a:pt x="875" y="188"/>
                </a:cubicBezTo>
                <a:cubicBezTo>
                  <a:pt x="875" y="189"/>
                  <a:pt x="874" y="189"/>
                  <a:pt x="874" y="189"/>
                </a:cubicBezTo>
                <a:cubicBezTo>
                  <a:pt x="873" y="190"/>
                  <a:pt x="873" y="190"/>
                  <a:pt x="873" y="190"/>
                </a:cubicBezTo>
                <a:cubicBezTo>
                  <a:pt x="873" y="190"/>
                  <a:pt x="872" y="190"/>
                  <a:pt x="872" y="191"/>
                </a:cubicBezTo>
                <a:cubicBezTo>
                  <a:pt x="871" y="191"/>
                  <a:pt x="871" y="192"/>
                  <a:pt x="870" y="192"/>
                </a:cubicBezTo>
                <a:cubicBezTo>
                  <a:pt x="869" y="193"/>
                  <a:pt x="868" y="193"/>
                  <a:pt x="867" y="194"/>
                </a:cubicBezTo>
                <a:cubicBezTo>
                  <a:pt x="866" y="194"/>
                  <a:pt x="866" y="194"/>
                  <a:pt x="866" y="194"/>
                </a:cubicBezTo>
                <a:cubicBezTo>
                  <a:pt x="866" y="195"/>
                  <a:pt x="866" y="195"/>
                  <a:pt x="865" y="195"/>
                </a:cubicBezTo>
                <a:cubicBezTo>
                  <a:pt x="864" y="195"/>
                  <a:pt x="863" y="196"/>
                  <a:pt x="862" y="196"/>
                </a:cubicBezTo>
                <a:cubicBezTo>
                  <a:pt x="861" y="197"/>
                  <a:pt x="860" y="197"/>
                  <a:pt x="858" y="198"/>
                </a:cubicBezTo>
                <a:cubicBezTo>
                  <a:pt x="857" y="198"/>
                  <a:pt x="857" y="198"/>
                  <a:pt x="857" y="198"/>
                </a:cubicBezTo>
                <a:cubicBezTo>
                  <a:pt x="856" y="198"/>
                  <a:pt x="856" y="198"/>
                  <a:pt x="856" y="199"/>
                </a:cubicBezTo>
                <a:cubicBezTo>
                  <a:pt x="855" y="199"/>
                  <a:pt x="855" y="199"/>
                  <a:pt x="854" y="199"/>
                </a:cubicBezTo>
                <a:cubicBezTo>
                  <a:pt x="854" y="199"/>
                  <a:pt x="854" y="199"/>
                  <a:pt x="853" y="199"/>
                </a:cubicBezTo>
                <a:cubicBezTo>
                  <a:pt x="853" y="199"/>
                  <a:pt x="852" y="199"/>
                  <a:pt x="852" y="199"/>
                </a:cubicBezTo>
                <a:cubicBezTo>
                  <a:pt x="851" y="199"/>
                  <a:pt x="851" y="199"/>
                  <a:pt x="849" y="199"/>
                </a:cubicBezTo>
                <a:cubicBezTo>
                  <a:pt x="848" y="198"/>
                  <a:pt x="847" y="198"/>
                  <a:pt x="844" y="197"/>
                </a:cubicBezTo>
                <a:cubicBezTo>
                  <a:pt x="842" y="197"/>
                  <a:pt x="839" y="196"/>
                  <a:pt x="835" y="195"/>
                </a:cubicBezTo>
                <a:cubicBezTo>
                  <a:pt x="834" y="195"/>
                  <a:pt x="834" y="195"/>
                  <a:pt x="834" y="195"/>
                </a:cubicBezTo>
                <a:cubicBezTo>
                  <a:pt x="834" y="194"/>
                  <a:pt x="833" y="194"/>
                  <a:pt x="833" y="194"/>
                </a:cubicBezTo>
                <a:cubicBezTo>
                  <a:pt x="832" y="194"/>
                  <a:pt x="832" y="193"/>
                  <a:pt x="831" y="192"/>
                </a:cubicBezTo>
                <a:cubicBezTo>
                  <a:pt x="830" y="192"/>
                  <a:pt x="829" y="191"/>
                  <a:pt x="827" y="190"/>
                </a:cubicBezTo>
                <a:cubicBezTo>
                  <a:pt x="826" y="189"/>
                  <a:pt x="826" y="189"/>
                  <a:pt x="826" y="189"/>
                </a:cubicBezTo>
                <a:cubicBezTo>
                  <a:pt x="826" y="189"/>
                  <a:pt x="826" y="189"/>
                  <a:pt x="826" y="189"/>
                </a:cubicBezTo>
                <a:cubicBezTo>
                  <a:pt x="825" y="188"/>
                  <a:pt x="825" y="188"/>
                  <a:pt x="825" y="188"/>
                </a:cubicBezTo>
                <a:cubicBezTo>
                  <a:pt x="824" y="187"/>
                  <a:pt x="824" y="187"/>
                  <a:pt x="823" y="187"/>
                </a:cubicBezTo>
                <a:cubicBezTo>
                  <a:pt x="823" y="186"/>
                  <a:pt x="823" y="186"/>
                  <a:pt x="823" y="186"/>
                </a:cubicBezTo>
                <a:cubicBezTo>
                  <a:pt x="823" y="186"/>
                  <a:pt x="822" y="186"/>
                  <a:pt x="822" y="185"/>
                </a:cubicBezTo>
                <a:cubicBezTo>
                  <a:pt x="822" y="185"/>
                  <a:pt x="821" y="184"/>
                  <a:pt x="821" y="184"/>
                </a:cubicBezTo>
                <a:cubicBezTo>
                  <a:pt x="820" y="183"/>
                  <a:pt x="819" y="182"/>
                  <a:pt x="818" y="181"/>
                </a:cubicBezTo>
                <a:cubicBezTo>
                  <a:pt x="818" y="181"/>
                  <a:pt x="818" y="181"/>
                  <a:pt x="818" y="181"/>
                </a:cubicBezTo>
                <a:cubicBezTo>
                  <a:pt x="817" y="180"/>
                  <a:pt x="817" y="180"/>
                  <a:pt x="817" y="180"/>
                </a:cubicBezTo>
                <a:cubicBezTo>
                  <a:pt x="817" y="180"/>
                  <a:pt x="817" y="179"/>
                  <a:pt x="817" y="179"/>
                </a:cubicBezTo>
                <a:cubicBezTo>
                  <a:pt x="816" y="179"/>
                  <a:pt x="816" y="178"/>
                  <a:pt x="816" y="178"/>
                </a:cubicBezTo>
                <a:cubicBezTo>
                  <a:pt x="815" y="177"/>
                  <a:pt x="815" y="177"/>
                  <a:pt x="815" y="177"/>
                </a:cubicBezTo>
                <a:cubicBezTo>
                  <a:pt x="814" y="176"/>
                  <a:pt x="814" y="176"/>
                  <a:pt x="814" y="176"/>
                </a:cubicBezTo>
                <a:cubicBezTo>
                  <a:pt x="814" y="176"/>
                  <a:pt x="814" y="175"/>
                  <a:pt x="813" y="175"/>
                </a:cubicBezTo>
                <a:cubicBezTo>
                  <a:pt x="813" y="174"/>
                  <a:pt x="813" y="174"/>
                  <a:pt x="812" y="173"/>
                </a:cubicBezTo>
                <a:cubicBezTo>
                  <a:pt x="812" y="172"/>
                  <a:pt x="811" y="172"/>
                  <a:pt x="811" y="172"/>
                </a:cubicBezTo>
                <a:cubicBezTo>
                  <a:pt x="811" y="171"/>
                  <a:pt x="811" y="171"/>
                  <a:pt x="810" y="170"/>
                </a:cubicBezTo>
                <a:cubicBezTo>
                  <a:pt x="810" y="170"/>
                  <a:pt x="810" y="169"/>
                  <a:pt x="809" y="169"/>
                </a:cubicBezTo>
                <a:cubicBezTo>
                  <a:pt x="809" y="168"/>
                  <a:pt x="809" y="168"/>
                  <a:pt x="808" y="167"/>
                </a:cubicBezTo>
                <a:cubicBezTo>
                  <a:pt x="734" y="49"/>
                  <a:pt x="734" y="49"/>
                  <a:pt x="734" y="49"/>
                </a:cubicBezTo>
                <a:cubicBezTo>
                  <a:pt x="733" y="48"/>
                  <a:pt x="733" y="48"/>
                  <a:pt x="733" y="48"/>
                </a:cubicBezTo>
                <a:cubicBezTo>
                  <a:pt x="733" y="47"/>
                  <a:pt x="733" y="47"/>
                  <a:pt x="732" y="47"/>
                </a:cubicBezTo>
                <a:cubicBezTo>
                  <a:pt x="732" y="46"/>
                  <a:pt x="732" y="46"/>
                  <a:pt x="731" y="45"/>
                </a:cubicBezTo>
                <a:cubicBezTo>
                  <a:pt x="731" y="45"/>
                  <a:pt x="731" y="44"/>
                  <a:pt x="730" y="43"/>
                </a:cubicBezTo>
                <a:cubicBezTo>
                  <a:pt x="730" y="43"/>
                  <a:pt x="730" y="43"/>
                  <a:pt x="730" y="43"/>
                </a:cubicBezTo>
                <a:cubicBezTo>
                  <a:pt x="729" y="42"/>
                  <a:pt x="729" y="42"/>
                  <a:pt x="729" y="42"/>
                </a:cubicBezTo>
                <a:cubicBezTo>
                  <a:pt x="729" y="42"/>
                  <a:pt x="728" y="41"/>
                  <a:pt x="728" y="41"/>
                </a:cubicBezTo>
                <a:cubicBezTo>
                  <a:pt x="728" y="40"/>
                  <a:pt x="727" y="40"/>
                  <a:pt x="727" y="39"/>
                </a:cubicBezTo>
                <a:cubicBezTo>
                  <a:pt x="726" y="39"/>
                  <a:pt x="726" y="39"/>
                  <a:pt x="726" y="39"/>
                </a:cubicBezTo>
                <a:cubicBezTo>
                  <a:pt x="726" y="38"/>
                  <a:pt x="726" y="38"/>
                  <a:pt x="726" y="38"/>
                </a:cubicBezTo>
                <a:cubicBezTo>
                  <a:pt x="725" y="38"/>
                  <a:pt x="725" y="38"/>
                  <a:pt x="725" y="37"/>
                </a:cubicBezTo>
                <a:cubicBezTo>
                  <a:pt x="725" y="37"/>
                  <a:pt x="724" y="36"/>
                  <a:pt x="724" y="36"/>
                </a:cubicBezTo>
                <a:cubicBezTo>
                  <a:pt x="723" y="35"/>
                  <a:pt x="723" y="35"/>
                  <a:pt x="723" y="35"/>
                </a:cubicBezTo>
                <a:cubicBezTo>
                  <a:pt x="722" y="34"/>
                  <a:pt x="722" y="34"/>
                  <a:pt x="722" y="34"/>
                </a:cubicBezTo>
                <a:cubicBezTo>
                  <a:pt x="721" y="34"/>
                  <a:pt x="721" y="34"/>
                  <a:pt x="721" y="34"/>
                </a:cubicBezTo>
                <a:cubicBezTo>
                  <a:pt x="721" y="33"/>
                  <a:pt x="721" y="33"/>
                  <a:pt x="720" y="32"/>
                </a:cubicBezTo>
                <a:cubicBezTo>
                  <a:pt x="720" y="32"/>
                  <a:pt x="720" y="32"/>
                  <a:pt x="720" y="32"/>
                </a:cubicBezTo>
                <a:cubicBezTo>
                  <a:pt x="719" y="31"/>
                  <a:pt x="719" y="31"/>
                  <a:pt x="719" y="31"/>
                </a:cubicBezTo>
                <a:cubicBezTo>
                  <a:pt x="718" y="31"/>
                  <a:pt x="718" y="30"/>
                  <a:pt x="718" y="30"/>
                </a:cubicBezTo>
                <a:cubicBezTo>
                  <a:pt x="717" y="30"/>
                  <a:pt x="717" y="29"/>
                  <a:pt x="717" y="29"/>
                </a:cubicBezTo>
                <a:cubicBezTo>
                  <a:pt x="716" y="28"/>
                  <a:pt x="716" y="28"/>
                  <a:pt x="716" y="28"/>
                </a:cubicBezTo>
                <a:cubicBezTo>
                  <a:pt x="715" y="28"/>
                  <a:pt x="715" y="28"/>
                  <a:pt x="715" y="28"/>
                </a:cubicBezTo>
                <a:cubicBezTo>
                  <a:pt x="715" y="27"/>
                  <a:pt x="714" y="27"/>
                  <a:pt x="714" y="27"/>
                </a:cubicBezTo>
                <a:cubicBezTo>
                  <a:pt x="714" y="27"/>
                  <a:pt x="713" y="26"/>
                  <a:pt x="713" y="26"/>
                </a:cubicBezTo>
                <a:cubicBezTo>
                  <a:pt x="712" y="25"/>
                  <a:pt x="712" y="25"/>
                  <a:pt x="712" y="25"/>
                </a:cubicBezTo>
                <a:cubicBezTo>
                  <a:pt x="711" y="24"/>
                  <a:pt x="711" y="24"/>
                  <a:pt x="711" y="24"/>
                </a:cubicBezTo>
                <a:cubicBezTo>
                  <a:pt x="710" y="24"/>
                  <a:pt x="710" y="24"/>
                  <a:pt x="710" y="24"/>
                </a:cubicBezTo>
                <a:cubicBezTo>
                  <a:pt x="709" y="23"/>
                  <a:pt x="709" y="23"/>
                  <a:pt x="709" y="23"/>
                </a:cubicBezTo>
                <a:cubicBezTo>
                  <a:pt x="703" y="19"/>
                  <a:pt x="697" y="15"/>
                  <a:pt x="690" y="12"/>
                </a:cubicBezTo>
                <a:cubicBezTo>
                  <a:pt x="683" y="9"/>
                  <a:pt x="676" y="7"/>
                  <a:pt x="669" y="5"/>
                </a:cubicBezTo>
                <a:cubicBezTo>
                  <a:pt x="662" y="3"/>
                  <a:pt x="654" y="2"/>
                  <a:pt x="647" y="1"/>
                </a:cubicBezTo>
                <a:cubicBezTo>
                  <a:pt x="639" y="0"/>
                  <a:pt x="631" y="0"/>
                  <a:pt x="623" y="0"/>
                </a:cubicBezTo>
                <a:cubicBezTo>
                  <a:pt x="623" y="0"/>
                  <a:pt x="622" y="0"/>
                  <a:pt x="622" y="0"/>
                </a:cubicBezTo>
                <a:cubicBezTo>
                  <a:pt x="622" y="0"/>
                  <a:pt x="621" y="1"/>
                  <a:pt x="621" y="1"/>
                </a:cubicBezTo>
                <a:cubicBezTo>
                  <a:pt x="620" y="1"/>
                  <a:pt x="620" y="1"/>
                  <a:pt x="619" y="1"/>
                </a:cubicBezTo>
                <a:cubicBezTo>
                  <a:pt x="619" y="1"/>
                  <a:pt x="618" y="1"/>
                  <a:pt x="617" y="1"/>
                </a:cubicBezTo>
                <a:cubicBezTo>
                  <a:pt x="617" y="1"/>
                  <a:pt x="617" y="1"/>
                  <a:pt x="616" y="1"/>
                </a:cubicBezTo>
                <a:cubicBezTo>
                  <a:pt x="616" y="1"/>
                  <a:pt x="615" y="1"/>
                  <a:pt x="615" y="1"/>
                </a:cubicBezTo>
                <a:cubicBezTo>
                  <a:pt x="615" y="1"/>
                  <a:pt x="614" y="1"/>
                  <a:pt x="613" y="1"/>
                </a:cubicBezTo>
                <a:cubicBezTo>
                  <a:pt x="613" y="1"/>
                  <a:pt x="612" y="1"/>
                  <a:pt x="612" y="2"/>
                </a:cubicBezTo>
                <a:cubicBezTo>
                  <a:pt x="611" y="2"/>
                  <a:pt x="611" y="2"/>
                  <a:pt x="610" y="2"/>
                </a:cubicBezTo>
                <a:cubicBezTo>
                  <a:pt x="610" y="2"/>
                  <a:pt x="610" y="2"/>
                  <a:pt x="609" y="2"/>
                </a:cubicBezTo>
                <a:cubicBezTo>
                  <a:pt x="609" y="2"/>
                  <a:pt x="608" y="2"/>
                  <a:pt x="608" y="2"/>
                </a:cubicBezTo>
                <a:cubicBezTo>
                  <a:pt x="607" y="2"/>
                  <a:pt x="607" y="2"/>
                  <a:pt x="606" y="3"/>
                </a:cubicBezTo>
                <a:cubicBezTo>
                  <a:pt x="605" y="3"/>
                  <a:pt x="605" y="3"/>
                  <a:pt x="605" y="3"/>
                </a:cubicBezTo>
                <a:cubicBezTo>
                  <a:pt x="605" y="3"/>
                  <a:pt x="604" y="3"/>
                  <a:pt x="604" y="3"/>
                </a:cubicBezTo>
                <a:cubicBezTo>
                  <a:pt x="603" y="3"/>
                  <a:pt x="603" y="3"/>
                  <a:pt x="602" y="3"/>
                </a:cubicBezTo>
                <a:cubicBezTo>
                  <a:pt x="602" y="3"/>
                  <a:pt x="601" y="4"/>
                  <a:pt x="600" y="4"/>
                </a:cubicBezTo>
                <a:cubicBezTo>
                  <a:pt x="599" y="4"/>
                  <a:pt x="599" y="4"/>
                  <a:pt x="599" y="4"/>
                </a:cubicBezTo>
                <a:cubicBezTo>
                  <a:pt x="599" y="4"/>
                  <a:pt x="599" y="4"/>
                  <a:pt x="598" y="4"/>
                </a:cubicBezTo>
                <a:cubicBezTo>
                  <a:pt x="598" y="4"/>
                  <a:pt x="597" y="5"/>
                  <a:pt x="597" y="5"/>
                </a:cubicBezTo>
                <a:cubicBezTo>
                  <a:pt x="596" y="5"/>
                  <a:pt x="596" y="5"/>
                  <a:pt x="595" y="5"/>
                </a:cubicBezTo>
                <a:cubicBezTo>
                  <a:pt x="594" y="5"/>
                  <a:pt x="594" y="5"/>
                  <a:pt x="594" y="6"/>
                </a:cubicBezTo>
                <a:cubicBezTo>
                  <a:pt x="593" y="6"/>
                  <a:pt x="593" y="6"/>
                  <a:pt x="592" y="6"/>
                </a:cubicBezTo>
                <a:cubicBezTo>
                  <a:pt x="592" y="6"/>
                  <a:pt x="591" y="6"/>
                  <a:pt x="591" y="6"/>
                </a:cubicBezTo>
                <a:cubicBezTo>
                  <a:pt x="590" y="7"/>
                  <a:pt x="590" y="7"/>
                  <a:pt x="590" y="7"/>
                </a:cubicBezTo>
                <a:cubicBezTo>
                  <a:pt x="69" y="178"/>
                  <a:pt x="69" y="178"/>
                  <a:pt x="69" y="178"/>
                </a:cubicBezTo>
                <a:cubicBezTo>
                  <a:pt x="55" y="183"/>
                  <a:pt x="42" y="190"/>
                  <a:pt x="32" y="198"/>
                </a:cubicBezTo>
                <a:cubicBezTo>
                  <a:pt x="22" y="205"/>
                  <a:pt x="14" y="215"/>
                  <a:pt x="9" y="225"/>
                </a:cubicBezTo>
                <a:cubicBezTo>
                  <a:pt x="3" y="235"/>
                  <a:pt x="0" y="246"/>
                  <a:pt x="0" y="257"/>
                </a:cubicBezTo>
                <a:cubicBezTo>
                  <a:pt x="0" y="268"/>
                  <a:pt x="2" y="279"/>
                  <a:pt x="8" y="290"/>
                </a:cubicBezTo>
                <a:cubicBezTo>
                  <a:pt x="76" y="416"/>
                  <a:pt x="76" y="416"/>
                  <a:pt x="76" y="416"/>
                </a:cubicBezTo>
                <a:cubicBezTo>
                  <a:pt x="167" y="585"/>
                  <a:pt x="167" y="585"/>
                  <a:pt x="167" y="585"/>
                </a:cubicBezTo>
                <a:cubicBezTo>
                  <a:pt x="239" y="718"/>
                  <a:pt x="239" y="718"/>
                  <a:pt x="239" y="718"/>
                </a:cubicBezTo>
                <a:cubicBezTo>
                  <a:pt x="239" y="718"/>
                  <a:pt x="240" y="719"/>
                  <a:pt x="240" y="719"/>
                </a:cubicBezTo>
                <a:cubicBezTo>
                  <a:pt x="240" y="719"/>
                  <a:pt x="240" y="720"/>
                  <a:pt x="241" y="720"/>
                </a:cubicBezTo>
                <a:cubicBezTo>
                  <a:pt x="241" y="721"/>
                  <a:pt x="241" y="721"/>
                  <a:pt x="242" y="722"/>
                </a:cubicBezTo>
                <a:cubicBezTo>
                  <a:pt x="242" y="722"/>
                  <a:pt x="242" y="723"/>
                  <a:pt x="243" y="724"/>
                </a:cubicBezTo>
                <a:cubicBezTo>
                  <a:pt x="243" y="724"/>
                  <a:pt x="243" y="724"/>
                  <a:pt x="243" y="724"/>
                </a:cubicBezTo>
                <a:cubicBezTo>
                  <a:pt x="244" y="725"/>
                  <a:pt x="244" y="725"/>
                  <a:pt x="244" y="725"/>
                </a:cubicBezTo>
                <a:cubicBezTo>
                  <a:pt x="244" y="726"/>
                  <a:pt x="244" y="726"/>
                  <a:pt x="245" y="727"/>
                </a:cubicBezTo>
                <a:cubicBezTo>
                  <a:pt x="245" y="727"/>
                  <a:pt x="245" y="728"/>
                  <a:pt x="246" y="728"/>
                </a:cubicBezTo>
                <a:cubicBezTo>
                  <a:pt x="246" y="729"/>
                  <a:pt x="246" y="729"/>
                  <a:pt x="246" y="729"/>
                </a:cubicBezTo>
                <a:cubicBezTo>
                  <a:pt x="247" y="730"/>
                  <a:pt x="247" y="730"/>
                  <a:pt x="247" y="730"/>
                </a:cubicBezTo>
                <a:cubicBezTo>
                  <a:pt x="247" y="730"/>
                  <a:pt x="248" y="730"/>
                  <a:pt x="248" y="731"/>
                </a:cubicBezTo>
                <a:cubicBezTo>
                  <a:pt x="248" y="731"/>
                  <a:pt x="249" y="732"/>
                  <a:pt x="249" y="732"/>
                </a:cubicBezTo>
                <a:cubicBezTo>
                  <a:pt x="250" y="733"/>
                  <a:pt x="250" y="733"/>
                  <a:pt x="250" y="733"/>
                </a:cubicBezTo>
                <a:cubicBezTo>
                  <a:pt x="250" y="734"/>
                  <a:pt x="250" y="734"/>
                  <a:pt x="250" y="734"/>
                </a:cubicBezTo>
                <a:cubicBezTo>
                  <a:pt x="251" y="734"/>
                  <a:pt x="251" y="735"/>
                  <a:pt x="251" y="735"/>
                </a:cubicBezTo>
                <a:cubicBezTo>
                  <a:pt x="252" y="735"/>
                  <a:pt x="252" y="736"/>
                  <a:pt x="253" y="736"/>
                </a:cubicBezTo>
                <a:cubicBezTo>
                  <a:pt x="253" y="737"/>
                  <a:pt x="253" y="737"/>
                  <a:pt x="253" y="737"/>
                </a:cubicBezTo>
                <a:cubicBezTo>
                  <a:pt x="254" y="738"/>
                  <a:pt x="254" y="738"/>
                  <a:pt x="254" y="738"/>
                </a:cubicBezTo>
                <a:cubicBezTo>
                  <a:pt x="255" y="739"/>
                  <a:pt x="255" y="739"/>
                  <a:pt x="255" y="739"/>
                </a:cubicBezTo>
                <a:cubicBezTo>
                  <a:pt x="255" y="739"/>
                  <a:pt x="256" y="740"/>
                  <a:pt x="256" y="740"/>
                </a:cubicBezTo>
                <a:cubicBezTo>
                  <a:pt x="257" y="741"/>
                  <a:pt x="257" y="741"/>
                  <a:pt x="257" y="741"/>
                </a:cubicBezTo>
                <a:cubicBezTo>
                  <a:pt x="258" y="742"/>
                  <a:pt x="258" y="742"/>
                  <a:pt x="258" y="742"/>
                </a:cubicBezTo>
                <a:cubicBezTo>
                  <a:pt x="259" y="743"/>
                  <a:pt x="259" y="743"/>
                  <a:pt x="259" y="743"/>
                </a:cubicBezTo>
                <a:cubicBezTo>
                  <a:pt x="259" y="743"/>
                  <a:pt x="260" y="743"/>
                  <a:pt x="260" y="744"/>
                </a:cubicBezTo>
                <a:cubicBezTo>
                  <a:pt x="266" y="749"/>
                  <a:pt x="272" y="753"/>
                  <a:pt x="279" y="757"/>
                </a:cubicBezTo>
                <a:cubicBezTo>
                  <a:pt x="286" y="761"/>
                  <a:pt x="293" y="764"/>
                  <a:pt x="301" y="767"/>
                </a:cubicBezTo>
                <a:cubicBezTo>
                  <a:pt x="308" y="769"/>
                  <a:pt x="316" y="771"/>
                  <a:pt x="324" y="772"/>
                </a:cubicBezTo>
                <a:cubicBezTo>
                  <a:pt x="333" y="774"/>
                  <a:pt x="341" y="774"/>
                  <a:pt x="349" y="774"/>
                </a:cubicBezTo>
                <a:cubicBezTo>
                  <a:pt x="350" y="774"/>
                  <a:pt x="350" y="774"/>
                  <a:pt x="351" y="774"/>
                </a:cubicBezTo>
                <a:cubicBezTo>
                  <a:pt x="351" y="774"/>
                  <a:pt x="352" y="774"/>
                  <a:pt x="352" y="774"/>
                </a:cubicBezTo>
                <a:cubicBezTo>
                  <a:pt x="353" y="774"/>
                  <a:pt x="354" y="774"/>
                  <a:pt x="354" y="774"/>
                </a:cubicBezTo>
                <a:cubicBezTo>
                  <a:pt x="355" y="774"/>
                  <a:pt x="356" y="774"/>
                  <a:pt x="356" y="774"/>
                </a:cubicBezTo>
                <a:cubicBezTo>
                  <a:pt x="357" y="774"/>
                  <a:pt x="357" y="773"/>
                  <a:pt x="358" y="773"/>
                </a:cubicBezTo>
                <a:cubicBezTo>
                  <a:pt x="358" y="773"/>
                  <a:pt x="359" y="773"/>
                  <a:pt x="359" y="773"/>
                </a:cubicBezTo>
                <a:cubicBezTo>
                  <a:pt x="360" y="773"/>
                  <a:pt x="360" y="773"/>
                  <a:pt x="361" y="773"/>
                </a:cubicBezTo>
                <a:cubicBezTo>
                  <a:pt x="361" y="773"/>
                  <a:pt x="362" y="773"/>
                  <a:pt x="363" y="773"/>
                </a:cubicBezTo>
                <a:cubicBezTo>
                  <a:pt x="363" y="773"/>
                  <a:pt x="364" y="773"/>
                  <a:pt x="364" y="773"/>
                </a:cubicBezTo>
                <a:cubicBezTo>
                  <a:pt x="364" y="773"/>
                  <a:pt x="365" y="773"/>
                  <a:pt x="365" y="773"/>
                </a:cubicBezTo>
                <a:cubicBezTo>
                  <a:pt x="366" y="773"/>
                  <a:pt x="366" y="772"/>
                  <a:pt x="367" y="772"/>
                </a:cubicBezTo>
                <a:cubicBezTo>
                  <a:pt x="368" y="772"/>
                  <a:pt x="368" y="772"/>
                  <a:pt x="369" y="772"/>
                </a:cubicBezTo>
                <a:cubicBezTo>
                  <a:pt x="370" y="772"/>
                  <a:pt x="370" y="772"/>
                  <a:pt x="370" y="772"/>
                </a:cubicBezTo>
                <a:cubicBezTo>
                  <a:pt x="371" y="772"/>
                  <a:pt x="371" y="772"/>
                  <a:pt x="372" y="772"/>
                </a:cubicBezTo>
                <a:cubicBezTo>
                  <a:pt x="372" y="772"/>
                  <a:pt x="373" y="771"/>
                  <a:pt x="373" y="771"/>
                </a:cubicBezTo>
                <a:cubicBezTo>
                  <a:pt x="374" y="771"/>
                  <a:pt x="375" y="771"/>
                  <a:pt x="375" y="771"/>
                </a:cubicBezTo>
                <a:cubicBezTo>
                  <a:pt x="376" y="771"/>
                  <a:pt x="376" y="771"/>
                  <a:pt x="376" y="771"/>
                </a:cubicBezTo>
                <a:cubicBezTo>
                  <a:pt x="377" y="771"/>
                  <a:pt x="377" y="770"/>
                  <a:pt x="378" y="770"/>
                </a:cubicBezTo>
                <a:cubicBezTo>
                  <a:pt x="378" y="770"/>
                  <a:pt x="379" y="770"/>
                  <a:pt x="379" y="770"/>
                </a:cubicBezTo>
                <a:cubicBezTo>
                  <a:pt x="380" y="770"/>
                  <a:pt x="381" y="770"/>
                  <a:pt x="381" y="769"/>
                </a:cubicBezTo>
                <a:cubicBezTo>
                  <a:pt x="382" y="769"/>
                  <a:pt x="382" y="769"/>
                  <a:pt x="383" y="769"/>
                </a:cubicBezTo>
                <a:cubicBezTo>
                  <a:pt x="383" y="769"/>
                  <a:pt x="383" y="769"/>
                  <a:pt x="384" y="769"/>
                </a:cubicBezTo>
                <a:cubicBezTo>
                  <a:pt x="384" y="769"/>
                  <a:pt x="385" y="769"/>
                  <a:pt x="385" y="768"/>
                </a:cubicBezTo>
                <a:cubicBezTo>
                  <a:pt x="386" y="768"/>
                  <a:pt x="387" y="768"/>
                  <a:pt x="387" y="768"/>
                </a:cubicBezTo>
                <a:cubicBezTo>
                  <a:pt x="388" y="768"/>
                  <a:pt x="388" y="767"/>
                  <a:pt x="389" y="767"/>
                </a:cubicBezTo>
                <a:cubicBezTo>
                  <a:pt x="389" y="767"/>
                  <a:pt x="390" y="767"/>
                  <a:pt x="390" y="767"/>
                </a:cubicBezTo>
                <a:cubicBezTo>
                  <a:pt x="391" y="767"/>
                  <a:pt x="391" y="767"/>
                  <a:pt x="392" y="766"/>
                </a:cubicBezTo>
                <a:cubicBezTo>
                  <a:pt x="392" y="766"/>
                  <a:pt x="393" y="766"/>
                  <a:pt x="393" y="766"/>
                </a:cubicBezTo>
                <a:cubicBezTo>
                  <a:pt x="560" y="706"/>
                  <a:pt x="560" y="706"/>
                  <a:pt x="560" y="706"/>
                </a:cubicBezTo>
                <a:cubicBezTo>
                  <a:pt x="563" y="705"/>
                  <a:pt x="565" y="705"/>
                  <a:pt x="567" y="704"/>
                </a:cubicBezTo>
                <a:cubicBezTo>
                  <a:pt x="569" y="703"/>
                  <a:pt x="571" y="702"/>
                  <a:pt x="572" y="701"/>
                </a:cubicBezTo>
                <a:cubicBezTo>
                  <a:pt x="574" y="701"/>
                  <a:pt x="576" y="700"/>
                  <a:pt x="577" y="699"/>
                </a:cubicBezTo>
                <a:cubicBezTo>
                  <a:pt x="579" y="698"/>
                  <a:pt x="581" y="698"/>
                  <a:pt x="582" y="697"/>
                </a:cubicBezTo>
                <a:cubicBezTo>
                  <a:pt x="587" y="694"/>
                  <a:pt x="592" y="691"/>
                  <a:pt x="595" y="688"/>
                </a:cubicBezTo>
                <a:cubicBezTo>
                  <a:pt x="598" y="685"/>
                  <a:pt x="600" y="683"/>
                  <a:pt x="602" y="680"/>
                </a:cubicBezTo>
                <a:cubicBezTo>
                  <a:pt x="603" y="677"/>
                  <a:pt x="604" y="675"/>
                  <a:pt x="603" y="672"/>
                </a:cubicBezTo>
                <a:cubicBezTo>
                  <a:pt x="603" y="669"/>
                  <a:pt x="602" y="667"/>
                  <a:pt x="601" y="664"/>
                </a:cubicBezTo>
                <a:cubicBezTo>
                  <a:pt x="599" y="660"/>
                  <a:pt x="595" y="656"/>
                  <a:pt x="590" y="652"/>
                </a:cubicBezTo>
                <a:cubicBezTo>
                  <a:pt x="585" y="648"/>
                  <a:pt x="579" y="645"/>
                  <a:pt x="573" y="642"/>
                </a:cubicBezTo>
                <a:cubicBezTo>
                  <a:pt x="567" y="639"/>
                  <a:pt x="560" y="636"/>
                  <a:pt x="554" y="633"/>
                </a:cubicBezTo>
                <a:cubicBezTo>
                  <a:pt x="547" y="631"/>
                  <a:pt x="541" y="629"/>
                  <a:pt x="535" y="627"/>
                </a:cubicBezTo>
                <a:cubicBezTo>
                  <a:pt x="529" y="625"/>
                  <a:pt x="523" y="623"/>
                  <a:pt x="517" y="620"/>
                </a:cubicBezTo>
                <a:cubicBezTo>
                  <a:pt x="511" y="617"/>
                  <a:pt x="505" y="614"/>
                  <a:pt x="500" y="611"/>
                </a:cubicBezTo>
                <a:cubicBezTo>
                  <a:pt x="494" y="608"/>
                  <a:pt x="489" y="604"/>
                  <a:pt x="484" y="600"/>
                </a:cubicBezTo>
                <a:cubicBezTo>
                  <a:pt x="479" y="596"/>
                  <a:pt x="475" y="592"/>
                  <a:pt x="470" y="587"/>
                </a:cubicBezTo>
                <a:cubicBezTo>
                  <a:pt x="469" y="586"/>
                  <a:pt x="468" y="584"/>
                  <a:pt x="466" y="583"/>
                </a:cubicBezTo>
                <a:cubicBezTo>
                  <a:pt x="465" y="581"/>
                  <a:pt x="464" y="579"/>
                  <a:pt x="463" y="578"/>
                </a:cubicBezTo>
                <a:cubicBezTo>
                  <a:pt x="461" y="576"/>
                  <a:pt x="460" y="574"/>
                  <a:pt x="459" y="573"/>
                </a:cubicBezTo>
                <a:cubicBezTo>
                  <a:pt x="458" y="571"/>
                  <a:pt x="457" y="569"/>
                  <a:pt x="456" y="568"/>
                </a:cubicBezTo>
                <a:cubicBezTo>
                  <a:pt x="448" y="553"/>
                  <a:pt x="444" y="539"/>
                  <a:pt x="444" y="524"/>
                </a:cubicBezTo>
                <a:cubicBezTo>
                  <a:pt x="443" y="510"/>
                  <a:pt x="446" y="496"/>
                  <a:pt x="453" y="483"/>
                </a:cubicBezTo>
                <a:cubicBezTo>
                  <a:pt x="459" y="470"/>
                  <a:pt x="468" y="458"/>
                  <a:pt x="481" y="447"/>
                </a:cubicBezTo>
                <a:cubicBezTo>
                  <a:pt x="493" y="437"/>
                  <a:pt x="508" y="429"/>
                  <a:pt x="525" y="423"/>
                </a:cubicBezTo>
                <a:cubicBezTo>
                  <a:pt x="526" y="422"/>
                  <a:pt x="526" y="422"/>
                  <a:pt x="527" y="422"/>
                </a:cubicBezTo>
                <a:cubicBezTo>
                  <a:pt x="527" y="422"/>
                  <a:pt x="528" y="422"/>
                  <a:pt x="529" y="421"/>
                </a:cubicBezTo>
                <a:cubicBezTo>
                  <a:pt x="529" y="421"/>
                  <a:pt x="530" y="421"/>
                  <a:pt x="531" y="421"/>
                </a:cubicBezTo>
                <a:cubicBezTo>
                  <a:pt x="532" y="420"/>
                  <a:pt x="533" y="420"/>
                  <a:pt x="534" y="420"/>
                </a:cubicBezTo>
                <a:cubicBezTo>
                  <a:pt x="535" y="420"/>
                  <a:pt x="535" y="420"/>
                  <a:pt x="536" y="419"/>
                </a:cubicBezTo>
                <a:cubicBezTo>
                  <a:pt x="536" y="419"/>
                  <a:pt x="537" y="419"/>
                  <a:pt x="539" y="419"/>
                </a:cubicBezTo>
                <a:cubicBezTo>
                  <a:pt x="541" y="418"/>
                  <a:pt x="543" y="418"/>
                  <a:pt x="547" y="417"/>
                </a:cubicBezTo>
                <a:cubicBezTo>
                  <a:pt x="551" y="416"/>
                  <a:pt x="556" y="416"/>
                  <a:pt x="562" y="414"/>
                </a:cubicBezTo>
                <a:cubicBezTo>
                  <a:pt x="563" y="414"/>
                  <a:pt x="563" y="414"/>
                  <a:pt x="563" y="414"/>
                </a:cubicBezTo>
                <a:cubicBezTo>
                  <a:pt x="564" y="414"/>
                  <a:pt x="564" y="414"/>
                  <a:pt x="564" y="414"/>
                </a:cubicBezTo>
                <a:cubicBezTo>
                  <a:pt x="565" y="414"/>
                  <a:pt x="565" y="414"/>
                  <a:pt x="565" y="414"/>
                </a:cubicBezTo>
                <a:cubicBezTo>
                  <a:pt x="566" y="414"/>
                  <a:pt x="566" y="414"/>
                  <a:pt x="566" y="414"/>
                </a:cubicBezTo>
                <a:cubicBezTo>
                  <a:pt x="567" y="414"/>
                  <a:pt x="567" y="414"/>
                  <a:pt x="567" y="414"/>
                </a:cubicBezTo>
                <a:cubicBezTo>
                  <a:pt x="568" y="414"/>
                  <a:pt x="568" y="414"/>
                  <a:pt x="568" y="414"/>
                </a:cubicBezTo>
                <a:cubicBezTo>
                  <a:pt x="569" y="414"/>
                  <a:pt x="569" y="414"/>
                  <a:pt x="569" y="414"/>
                </a:cubicBezTo>
                <a:cubicBezTo>
                  <a:pt x="569" y="414"/>
                  <a:pt x="569" y="414"/>
                  <a:pt x="569" y="414"/>
                </a:cubicBezTo>
                <a:cubicBezTo>
                  <a:pt x="570" y="414"/>
                  <a:pt x="571" y="414"/>
                  <a:pt x="571" y="414"/>
                </a:cubicBezTo>
                <a:cubicBezTo>
                  <a:pt x="572" y="414"/>
                  <a:pt x="572" y="414"/>
                  <a:pt x="573" y="414"/>
                </a:cubicBezTo>
                <a:cubicBezTo>
                  <a:pt x="574" y="414"/>
                  <a:pt x="574" y="413"/>
                  <a:pt x="575" y="413"/>
                </a:cubicBezTo>
                <a:cubicBezTo>
                  <a:pt x="576" y="413"/>
                  <a:pt x="577" y="413"/>
                  <a:pt x="577" y="413"/>
                </a:cubicBezTo>
                <a:cubicBezTo>
                  <a:pt x="578" y="413"/>
                  <a:pt x="579" y="413"/>
                  <a:pt x="579" y="413"/>
                </a:cubicBezTo>
                <a:cubicBezTo>
                  <a:pt x="580" y="413"/>
                  <a:pt x="581" y="413"/>
                  <a:pt x="581" y="413"/>
                </a:cubicBezTo>
                <a:cubicBezTo>
                  <a:pt x="582" y="413"/>
                  <a:pt x="582" y="413"/>
                  <a:pt x="583" y="413"/>
                </a:cubicBezTo>
                <a:cubicBezTo>
                  <a:pt x="584" y="413"/>
                  <a:pt x="584" y="413"/>
                  <a:pt x="585" y="413"/>
                </a:cubicBezTo>
                <a:cubicBezTo>
                  <a:pt x="588" y="414"/>
                  <a:pt x="591" y="414"/>
                  <a:pt x="595" y="414"/>
                </a:cubicBezTo>
                <a:cubicBezTo>
                  <a:pt x="598" y="414"/>
                  <a:pt x="601" y="415"/>
                  <a:pt x="604" y="415"/>
                </a:cubicBezTo>
                <a:cubicBezTo>
                  <a:pt x="607" y="415"/>
                  <a:pt x="611" y="416"/>
                  <a:pt x="614" y="417"/>
                </a:cubicBezTo>
                <a:cubicBezTo>
                  <a:pt x="617" y="417"/>
                  <a:pt x="621" y="418"/>
                  <a:pt x="624" y="419"/>
                </a:cubicBezTo>
                <a:cubicBezTo>
                  <a:pt x="625" y="419"/>
                  <a:pt x="625" y="419"/>
                  <a:pt x="626" y="419"/>
                </a:cubicBezTo>
                <a:cubicBezTo>
                  <a:pt x="626" y="419"/>
                  <a:pt x="626" y="419"/>
                  <a:pt x="627" y="419"/>
                </a:cubicBezTo>
                <a:cubicBezTo>
                  <a:pt x="627" y="420"/>
                  <a:pt x="628" y="420"/>
                  <a:pt x="628" y="420"/>
                </a:cubicBezTo>
                <a:cubicBezTo>
                  <a:pt x="629" y="420"/>
                  <a:pt x="629" y="420"/>
                  <a:pt x="630" y="420"/>
                </a:cubicBezTo>
                <a:cubicBezTo>
                  <a:pt x="630" y="420"/>
                  <a:pt x="630" y="420"/>
                  <a:pt x="630" y="420"/>
                </a:cubicBezTo>
                <a:cubicBezTo>
                  <a:pt x="631" y="421"/>
                  <a:pt x="631" y="421"/>
                  <a:pt x="631" y="421"/>
                </a:cubicBezTo>
                <a:cubicBezTo>
                  <a:pt x="632" y="421"/>
                  <a:pt x="632" y="421"/>
                  <a:pt x="632" y="421"/>
                </a:cubicBezTo>
                <a:cubicBezTo>
                  <a:pt x="633" y="421"/>
                  <a:pt x="633" y="421"/>
                  <a:pt x="633" y="421"/>
                </a:cubicBezTo>
                <a:cubicBezTo>
                  <a:pt x="633" y="421"/>
                  <a:pt x="634" y="422"/>
                  <a:pt x="634" y="422"/>
                </a:cubicBezTo>
                <a:cubicBezTo>
                  <a:pt x="635" y="422"/>
                  <a:pt x="635" y="422"/>
                  <a:pt x="636" y="422"/>
                </a:cubicBezTo>
                <a:cubicBezTo>
                  <a:pt x="636" y="422"/>
                  <a:pt x="637" y="422"/>
                  <a:pt x="637" y="423"/>
                </a:cubicBezTo>
                <a:cubicBezTo>
                  <a:pt x="638" y="423"/>
                  <a:pt x="639" y="423"/>
                  <a:pt x="639" y="423"/>
                </a:cubicBezTo>
                <a:cubicBezTo>
                  <a:pt x="642" y="424"/>
                  <a:pt x="644" y="425"/>
                  <a:pt x="647" y="426"/>
                </a:cubicBezTo>
                <a:cubicBezTo>
                  <a:pt x="649" y="427"/>
                  <a:pt x="652" y="428"/>
                  <a:pt x="654" y="430"/>
                </a:cubicBezTo>
                <a:cubicBezTo>
                  <a:pt x="657" y="431"/>
                  <a:pt x="659" y="432"/>
                  <a:pt x="662" y="433"/>
                </a:cubicBezTo>
                <a:cubicBezTo>
                  <a:pt x="664" y="435"/>
                  <a:pt x="667" y="436"/>
                  <a:pt x="669" y="438"/>
                </a:cubicBezTo>
                <a:cubicBezTo>
                  <a:pt x="669" y="438"/>
                  <a:pt x="670" y="438"/>
                  <a:pt x="670" y="438"/>
                </a:cubicBezTo>
                <a:cubicBezTo>
                  <a:pt x="671" y="439"/>
                  <a:pt x="671" y="439"/>
                  <a:pt x="672" y="439"/>
                </a:cubicBezTo>
                <a:cubicBezTo>
                  <a:pt x="672" y="439"/>
                  <a:pt x="673" y="440"/>
                  <a:pt x="673" y="440"/>
                </a:cubicBezTo>
                <a:cubicBezTo>
                  <a:pt x="674" y="441"/>
                  <a:pt x="675" y="441"/>
                  <a:pt x="676" y="442"/>
                </a:cubicBezTo>
                <a:cubicBezTo>
                  <a:pt x="676" y="442"/>
                  <a:pt x="676" y="442"/>
                  <a:pt x="676" y="442"/>
                </a:cubicBezTo>
                <a:cubicBezTo>
                  <a:pt x="677" y="443"/>
                  <a:pt x="677" y="443"/>
                  <a:pt x="678" y="443"/>
                </a:cubicBezTo>
                <a:cubicBezTo>
                  <a:pt x="678" y="444"/>
                  <a:pt x="679" y="444"/>
                  <a:pt x="679" y="445"/>
                </a:cubicBezTo>
                <a:cubicBezTo>
                  <a:pt x="680" y="445"/>
                  <a:pt x="681" y="446"/>
                  <a:pt x="682" y="446"/>
                </a:cubicBezTo>
                <a:cubicBezTo>
                  <a:pt x="682" y="447"/>
                  <a:pt x="682" y="447"/>
                  <a:pt x="682" y="447"/>
                </a:cubicBezTo>
                <a:cubicBezTo>
                  <a:pt x="683" y="447"/>
                  <a:pt x="683" y="447"/>
                  <a:pt x="684" y="448"/>
                </a:cubicBezTo>
                <a:cubicBezTo>
                  <a:pt x="684" y="448"/>
                  <a:pt x="685" y="449"/>
                  <a:pt x="686" y="450"/>
                </a:cubicBezTo>
                <a:cubicBezTo>
                  <a:pt x="687" y="451"/>
                  <a:pt x="688" y="452"/>
                  <a:pt x="690" y="453"/>
                </a:cubicBezTo>
                <a:cubicBezTo>
                  <a:pt x="690" y="453"/>
                  <a:pt x="690" y="454"/>
                  <a:pt x="691" y="454"/>
                </a:cubicBezTo>
                <a:cubicBezTo>
                  <a:pt x="691" y="454"/>
                  <a:pt x="692" y="455"/>
                  <a:pt x="692" y="456"/>
                </a:cubicBezTo>
                <a:cubicBezTo>
                  <a:pt x="693" y="457"/>
                  <a:pt x="695" y="458"/>
                  <a:pt x="697" y="461"/>
                </a:cubicBezTo>
                <a:cubicBezTo>
                  <a:pt x="698" y="463"/>
                  <a:pt x="701" y="465"/>
                  <a:pt x="704" y="469"/>
                </a:cubicBezTo>
                <a:cubicBezTo>
                  <a:pt x="704" y="469"/>
                  <a:pt x="704" y="469"/>
                  <a:pt x="704" y="469"/>
                </a:cubicBezTo>
                <a:cubicBezTo>
                  <a:pt x="705" y="470"/>
                  <a:pt x="705" y="470"/>
                  <a:pt x="705" y="470"/>
                </a:cubicBezTo>
                <a:cubicBezTo>
                  <a:pt x="705" y="471"/>
                  <a:pt x="706" y="471"/>
                  <a:pt x="706" y="472"/>
                </a:cubicBezTo>
                <a:cubicBezTo>
                  <a:pt x="706" y="472"/>
                  <a:pt x="707" y="473"/>
                  <a:pt x="707" y="473"/>
                </a:cubicBezTo>
                <a:cubicBezTo>
                  <a:pt x="708" y="474"/>
                  <a:pt x="708" y="474"/>
                  <a:pt x="708" y="475"/>
                </a:cubicBezTo>
                <a:cubicBezTo>
                  <a:pt x="708" y="475"/>
                  <a:pt x="709" y="475"/>
                  <a:pt x="709" y="476"/>
                </a:cubicBezTo>
                <a:cubicBezTo>
                  <a:pt x="709" y="476"/>
                  <a:pt x="709" y="477"/>
                  <a:pt x="710" y="477"/>
                </a:cubicBezTo>
                <a:cubicBezTo>
                  <a:pt x="710" y="478"/>
                  <a:pt x="710" y="478"/>
                  <a:pt x="710" y="478"/>
                </a:cubicBezTo>
                <a:cubicBezTo>
                  <a:pt x="711" y="480"/>
                  <a:pt x="712" y="482"/>
                  <a:pt x="713" y="484"/>
                </a:cubicBezTo>
                <a:cubicBezTo>
                  <a:pt x="714" y="485"/>
                  <a:pt x="715" y="487"/>
                  <a:pt x="716" y="489"/>
                </a:cubicBezTo>
                <a:cubicBezTo>
                  <a:pt x="717" y="491"/>
                  <a:pt x="717" y="492"/>
                  <a:pt x="718" y="494"/>
                </a:cubicBezTo>
                <a:cubicBezTo>
                  <a:pt x="719" y="496"/>
                  <a:pt x="719" y="498"/>
                  <a:pt x="720" y="500"/>
                </a:cubicBezTo>
                <a:cubicBezTo>
                  <a:pt x="722" y="505"/>
                  <a:pt x="723" y="510"/>
                  <a:pt x="723" y="516"/>
                </a:cubicBezTo>
                <a:cubicBezTo>
                  <a:pt x="724" y="521"/>
                  <a:pt x="724" y="527"/>
                  <a:pt x="724" y="532"/>
                </a:cubicBezTo>
                <a:cubicBezTo>
                  <a:pt x="723" y="538"/>
                  <a:pt x="722" y="544"/>
                  <a:pt x="721" y="550"/>
                </a:cubicBezTo>
                <a:cubicBezTo>
                  <a:pt x="719" y="556"/>
                  <a:pt x="717" y="562"/>
                  <a:pt x="714" y="568"/>
                </a:cubicBezTo>
                <a:cubicBezTo>
                  <a:pt x="714" y="568"/>
                  <a:pt x="714" y="568"/>
                  <a:pt x="714" y="568"/>
                </a:cubicBezTo>
                <a:cubicBezTo>
                  <a:pt x="713" y="569"/>
                  <a:pt x="713" y="569"/>
                  <a:pt x="713" y="569"/>
                </a:cubicBezTo>
                <a:cubicBezTo>
                  <a:pt x="713" y="569"/>
                  <a:pt x="713" y="570"/>
                  <a:pt x="713" y="570"/>
                </a:cubicBezTo>
                <a:cubicBezTo>
                  <a:pt x="713" y="571"/>
                  <a:pt x="713" y="571"/>
                  <a:pt x="712" y="572"/>
                </a:cubicBezTo>
                <a:cubicBezTo>
                  <a:pt x="712" y="573"/>
                  <a:pt x="712" y="573"/>
                  <a:pt x="712" y="573"/>
                </a:cubicBezTo>
                <a:cubicBezTo>
                  <a:pt x="712" y="573"/>
                  <a:pt x="712" y="573"/>
                  <a:pt x="712" y="574"/>
                </a:cubicBezTo>
                <a:cubicBezTo>
                  <a:pt x="712" y="574"/>
                  <a:pt x="712" y="574"/>
                  <a:pt x="711" y="575"/>
                </a:cubicBezTo>
                <a:cubicBezTo>
                  <a:pt x="711" y="575"/>
                  <a:pt x="711" y="576"/>
                  <a:pt x="711" y="577"/>
                </a:cubicBezTo>
                <a:cubicBezTo>
                  <a:pt x="711" y="577"/>
                  <a:pt x="711" y="577"/>
                  <a:pt x="711" y="577"/>
                </a:cubicBezTo>
                <a:cubicBezTo>
                  <a:pt x="710" y="578"/>
                  <a:pt x="710" y="578"/>
                  <a:pt x="710" y="578"/>
                </a:cubicBezTo>
                <a:cubicBezTo>
                  <a:pt x="710" y="578"/>
                  <a:pt x="710" y="579"/>
                  <a:pt x="710" y="579"/>
                </a:cubicBezTo>
                <a:cubicBezTo>
                  <a:pt x="710" y="580"/>
                  <a:pt x="710" y="580"/>
                  <a:pt x="709" y="581"/>
                </a:cubicBezTo>
                <a:cubicBezTo>
                  <a:pt x="709" y="582"/>
                  <a:pt x="709" y="582"/>
                  <a:pt x="709" y="582"/>
                </a:cubicBezTo>
                <a:cubicBezTo>
                  <a:pt x="709" y="583"/>
                  <a:pt x="709" y="583"/>
                  <a:pt x="709" y="583"/>
                </a:cubicBezTo>
                <a:cubicBezTo>
                  <a:pt x="709" y="583"/>
                  <a:pt x="709" y="583"/>
                  <a:pt x="709" y="584"/>
                </a:cubicBezTo>
                <a:cubicBezTo>
                  <a:pt x="708" y="584"/>
                  <a:pt x="708" y="585"/>
                  <a:pt x="708" y="585"/>
                </a:cubicBezTo>
                <a:cubicBezTo>
                  <a:pt x="708" y="586"/>
                  <a:pt x="708" y="586"/>
                  <a:pt x="708" y="587"/>
                </a:cubicBezTo>
                <a:cubicBezTo>
                  <a:pt x="708" y="588"/>
                  <a:pt x="707" y="588"/>
                  <a:pt x="707" y="589"/>
                </a:cubicBezTo>
                <a:cubicBezTo>
                  <a:pt x="707" y="590"/>
                  <a:pt x="707" y="591"/>
                  <a:pt x="707" y="592"/>
                </a:cubicBezTo>
                <a:cubicBezTo>
                  <a:pt x="707" y="593"/>
                  <a:pt x="706" y="594"/>
                  <a:pt x="706" y="595"/>
                </a:cubicBezTo>
                <a:cubicBezTo>
                  <a:pt x="706" y="596"/>
                  <a:pt x="706" y="596"/>
                  <a:pt x="706" y="596"/>
                </a:cubicBezTo>
                <a:cubicBezTo>
                  <a:pt x="706" y="597"/>
                  <a:pt x="706" y="597"/>
                  <a:pt x="706" y="598"/>
                </a:cubicBezTo>
                <a:cubicBezTo>
                  <a:pt x="706" y="598"/>
                  <a:pt x="706" y="598"/>
                  <a:pt x="705" y="599"/>
                </a:cubicBezTo>
                <a:cubicBezTo>
                  <a:pt x="705" y="600"/>
                  <a:pt x="705" y="600"/>
                  <a:pt x="705" y="601"/>
                </a:cubicBezTo>
                <a:cubicBezTo>
                  <a:pt x="705" y="602"/>
                  <a:pt x="705" y="602"/>
                  <a:pt x="705" y="602"/>
                </a:cubicBezTo>
                <a:cubicBezTo>
                  <a:pt x="705" y="602"/>
                  <a:pt x="705" y="602"/>
                  <a:pt x="705" y="603"/>
                </a:cubicBezTo>
                <a:cubicBezTo>
                  <a:pt x="705" y="603"/>
                  <a:pt x="705" y="604"/>
                  <a:pt x="705" y="604"/>
                </a:cubicBezTo>
                <a:cubicBezTo>
                  <a:pt x="705" y="605"/>
                  <a:pt x="705" y="606"/>
                  <a:pt x="705" y="606"/>
                </a:cubicBezTo>
                <a:cubicBezTo>
                  <a:pt x="705" y="607"/>
                  <a:pt x="705" y="607"/>
                  <a:pt x="705" y="608"/>
                </a:cubicBezTo>
                <a:cubicBezTo>
                  <a:pt x="705" y="608"/>
                  <a:pt x="705" y="609"/>
                  <a:pt x="705" y="609"/>
                </a:cubicBezTo>
                <a:cubicBezTo>
                  <a:pt x="705" y="609"/>
                  <a:pt x="705" y="610"/>
                  <a:pt x="705" y="610"/>
                </a:cubicBezTo>
                <a:cubicBezTo>
                  <a:pt x="705" y="611"/>
                  <a:pt x="705" y="611"/>
                  <a:pt x="705" y="612"/>
                </a:cubicBezTo>
                <a:cubicBezTo>
                  <a:pt x="705" y="612"/>
                  <a:pt x="705" y="612"/>
                  <a:pt x="705" y="613"/>
                </a:cubicBezTo>
                <a:cubicBezTo>
                  <a:pt x="705" y="613"/>
                  <a:pt x="705" y="613"/>
                  <a:pt x="705" y="614"/>
                </a:cubicBezTo>
                <a:cubicBezTo>
                  <a:pt x="705" y="614"/>
                  <a:pt x="706" y="615"/>
                  <a:pt x="706" y="615"/>
                </a:cubicBezTo>
                <a:cubicBezTo>
                  <a:pt x="706" y="616"/>
                  <a:pt x="706" y="616"/>
                  <a:pt x="706" y="617"/>
                </a:cubicBezTo>
                <a:cubicBezTo>
                  <a:pt x="706" y="618"/>
                  <a:pt x="706" y="618"/>
                  <a:pt x="706" y="618"/>
                </a:cubicBezTo>
                <a:cubicBezTo>
                  <a:pt x="706" y="618"/>
                  <a:pt x="706" y="618"/>
                  <a:pt x="706" y="619"/>
                </a:cubicBezTo>
                <a:cubicBezTo>
                  <a:pt x="707" y="619"/>
                  <a:pt x="707" y="620"/>
                  <a:pt x="707" y="620"/>
                </a:cubicBezTo>
                <a:cubicBezTo>
                  <a:pt x="707" y="621"/>
                  <a:pt x="707" y="622"/>
                  <a:pt x="708" y="623"/>
                </a:cubicBezTo>
                <a:cubicBezTo>
                  <a:pt x="708" y="623"/>
                  <a:pt x="708" y="623"/>
                  <a:pt x="708" y="623"/>
                </a:cubicBezTo>
                <a:cubicBezTo>
                  <a:pt x="709" y="624"/>
                  <a:pt x="709" y="624"/>
                  <a:pt x="709" y="624"/>
                </a:cubicBezTo>
                <a:cubicBezTo>
                  <a:pt x="709" y="625"/>
                  <a:pt x="709" y="625"/>
                  <a:pt x="709" y="625"/>
                </a:cubicBezTo>
                <a:cubicBezTo>
                  <a:pt x="710" y="626"/>
                  <a:pt x="710" y="626"/>
                  <a:pt x="710" y="626"/>
                </a:cubicBezTo>
                <a:cubicBezTo>
                  <a:pt x="710" y="627"/>
                  <a:pt x="710" y="627"/>
                  <a:pt x="710" y="627"/>
                </a:cubicBezTo>
                <a:cubicBezTo>
                  <a:pt x="711" y="627"/>
                  <a:pt x="711" y="627"/>
                  <a:pt x="711" y="627"/>
                </a:cubicBezTo>
                <a:cubicBezTo>
                  <a:pt x="711" y="628"/>
                  <a:pt x="711" y="628"/>
                  <a:pt x="711" y="628"/>
                </a:cubicBezTo>
                <a:cubicBezTo>
                  <a:pt x="712" y="629"/>
                  <a:pt x="712" y="629"/>
                  <a:pt x="712" y="629"/>
                </a:cubicBezTo>
                <a:cubicBezTo>
                  <a:pt x="713" y="630"/>
                  <a:pt x="713" y="630"/>
                  <a:pt x="713" y="630"/>
                </a:cubicBezTo>
                <a:cubicBezTo>
                  <a:pt x="713" y="631"/>
                  <a:pt x="713" y="631"/>
                  <a:pt x="713" y="631"/>
                </a:cubicBezTo>
                <a:cubicBezTo>
                  <a:pt x="714" y="631"/>
                  <a:pt x="714" y="631"/>
                  <a:pt x="714" y="631"/>
                </a:cubicBezTo>
                <a:cubicBezTo>
                  <a:pt x="715" y="632"/>
                  <a:pt x="715" y="632"/>
                  <a:pt x="715" y="632"/>
                </a:cubicBezTo>
                <a:cubicBezTo>
                  <a:pt x="716" y="633"/>
                  <a:pt x="716" y="633"/>
                  <a:pt x="716" y="633"/>
                </a:cubicBezTo>
                <a:cubicBezTo>
                  <a:pt x="716" y="633"/>
                  <a:pt x="717" y="633"/>
                  <a:pt x="717" y="633"/>
                </a:cubicBezTo>
                <a:cubicBezTo>
                  <a:pt x="718" y="634"/>
                  <a:pt x="718" y="634"/>
                  <a:pt x="719" y="634"/>
                </a:cubicBezTo>
                <a:cubicBezTo>
                  <a:pt x="720" y="635"/>
                  <a:pt x="721" y="635"/>
                  <a:pt x="723" y="636"/>
                </a:cubicBezTo>
                <a:cubicBezTo>
                  <a:pt x="723" y="636"/>
                  <a:pt x="724" y="636"/>
                  <a:pt x="725" y="636"/>
                </a:cubicBezTo>
                <a:cubicBezTo>
                  <a:pt x="726" y="637"/>
                  <a:pt x="726" y="637"/>
                  <a:pt x="727" y="637"/>
                </a:cubicBezTo>
                <a:cubicBezTo>
                  <a:pt x="728" y="637"/>
                  <a:pt x="729" y="637"/>
                  <a:pt x="729" y="637"/>
                </a:cubicBezTo>
                <a:cubicBezTo>
                  <a:pt x="730" y="637"/>
                  <a:pt x="731" y="637"/>
                  <a:pt x="732" y="638"/>
                </a:cubicBezTo>
                <a:cubicBezTo>
                  <a:pt x="732" y="638"/>
                  <a:pt x="733" y="638"/>
                  <a:pt x="733" y="638"/>
                </a:cubicBezTo>
                <a:cubicBezTo>
                  <a:pt x="734" y="638"/>
                  <a:pt x="734" y="638"/>
                  <a:pt x="734" y="638"/>
                </a:cubicBezTo>
                <a:cubicBezTo>
                  <a:pt x="735" y="638"/>
                  <a:pt x="735" y="638"/>
                  <a:pt x="736" y="638"/>
                </a:cubicBezTo>
                <a:cubicBezTo>
                  <a:pt x="736" y="638"/>
                  <a:pt x="737" y="638"/>
                  <a:pt x="738" y="638"/>
                </a:cubicBezTo>
                <a:cubicBezTo>
                  <a:pt x="738" y="638"/>
                  <a:pt x="739" y="638"/>
                  <a:pt x="739" y="638"/>
                </a:cubicBezTo>
                <a:cubicBezTo>
                  <a:pt x="740" y="638"/>
                  <a:pt x="740" y="637"/>
                  <a:pt x="741" y="637"/>
                </a:cubicBezTo>
                <a:cubicBezTo>
                  <a:pt x="741" y="637"/>
                  <a:pt x="742" y="637"/>
                  <a:pt x="743" y="637"/>
                </a:cubicBezTo>
                <a:cubicBezTo>
                  <a:pt x="744" y="637"/>
                  <a:pt x="744" y="637"/>
                  <a:pt x="745" y="637"/>
                </a:cubicBezTo>
                <a:cubicBezTo>
                  <a:pt x="746" y="637"/>
                  <a:pt x="746" y="637"/>
                  <a:pt x="746" y="637"/>
                </a:cubicBezTo>
                <a:cubicBezTo>
                  <a:pt x="747" y="637"/>
                  <a:pt x="747" y="637"/>
                  <a:pt x="747" y="637"/>
                </a:cubicBezTo>
                <a:cubicBezTo>
                  <a:pt x="748" y="637"/>
                  <a:pt x="748" y="637"/>
                  <a:pt x="749" y="636"/>
                </a:cubicBezTo>
                <a:cubicBezTo>
                  <a:pt x="750" y="636"/>
                  <a:pt x="750" y="636"/>
                  <a:pt x="751" y="636"/>
                </a:cubicBezTo>
                <a:cubicBezTo>
                  <a:pt x="752" y="636"/>
                  <a:pt x="752" y="636"/>
                  <a:pt x="752" y="636"/>
                </a:cubicBezTo>
                <a:cubicBezTo>
                  <a:pt x="753" y="636"/>
                  <a:pt x="753" y="636"/>
                  <a:pt x="753" y="636"/>
                </a:cubicBezTo>
                <a:cubicBezTo>
                  <a:pt x="754" y="636"/>
                  <a:pt x="754" y="636"/>
                  <a:pt x="754" y="636"/>
                </a:cubicBezTo>
                <a:cubicBezTo>
                  <a:pt x="755" y="635"/>
                  <a:pt x="755" y="635"/>
                  <a:pt x="755" y="635"/>
                </a:cubicBezTo>
                <a:cubicBezTo>
                  <a:pt x="755" y="635"/>
                  <a:pt x="755" y="635"/>
                  <a:pt x="755" y="635"/>
                </a:cubicBezTo>
                <a:cubicBezTo>
                  <a:pt x="756" y="635"/>
                  <a:pt x="756" y="635"/>
                  <a:pt x="757" y="635"/>
                </a:cubicBezTo>
                <a:cubicBezTo>
                  <a:pt x="757" y="635"/>
                  <a:pt x="758" y="635"/>
                  <a:pt x="758" y="634"/>
                </a:cubicBezTo>
                <a:cubicBezTo>
                  <a:pt x="759" y="634"/>
                  <a:pt x="760" y="634"/>
                  <a:pt x="761" y="634"/>
                </a:cubicBezTo>
                <a:cubicBezTo>
                  <a:pt x="762" y="634"/>
                  <a:pt x="762" y="634"/>
                  <a:pt x="762" y="634"/>
                </a:cubicBezTo>
                <a:cubicBezTo>
                  <a:pt x="762" y="633"/>
                  <a:pt x="763" y="633"/>
                  <a:pt x="763" y="633"/>
                </a:cubicBezTo>
                <a:cubicBezTo>
                  <a:pt x="764" y="633"/>
                  <a:pt x="764" y="633"/>
                  <a:pt x="765" y="633"/>
                </a:cubicBezTo>
                <a:cubicBezTo>
                  <a:pt x="766" y="632"/>
                  <a:pt x="767" y="632"/>
                  <a:pt x="768" y="632"/>
                </a:cubicBezTo>
                <a:cubicBezTo>
                  <a:pt x="769" y="631"/>
                  <a:pt x="769" y="631"/>
                  <a:pt x="770" y="631"/>
                </a:cubicBezTo>
                <a:cubicBezTo>
                  <a:pt x="771" y="631"/>
                  <a:pt x="771" y="631"/>
                  <a:pt x="772" y="630"/>
                </a:cubicBezTo>
                <a:cubicBezTo>
                  <a:pt x="772" y="630"/>
                  <a:pt x="773" y="630"/>
                  <a:pt x="774" y="630"/>
                </a:cubicBezTo>
                <a:cubicBezTo>
                  <a:pt x="774" y="630"/>
                  <a:pt x="775" y="629"/>
                  <a:pt x="776" y="629"/>
                </a:cubicBezTo>
                <a:cubicBezTo>
                  <a:pt x="938" y="571"/>
                  <a:pt x="938" y="571"/>
                  <a:pt x="938" y="571"/>
                </a:cubicBezTo>
                <a:cubicBezTo>
                  <a:pt x="952" y="566"/>
                  <a:pt x="964" y="559"/>
                  <a:pt x="973" y="551"/>
                </a:cubicBezTo>
                <a:cubicBezTo>
                  <a:pt x="983" y="542"/>
                  <a:pt x="990" y="532"/>
                  <a:pt x="995" y="521"/>
                </a:cubicBezTo>
                <a:cubicBezTo>
                  <a:pt x="999" y="511"/>
                  <a:pt x="1001" y="499"/>
                  <a:pt x="1000" y="488"/>
                </a:cubicBezTo>
                <a:cubicBezTo>
                  <a:pt x="999" y="476"/>
                  <a:pt x="995" y="464"/>
                  <a:pt x="988" y="453"/>
                </a:cubicBezTo>
                <a:cubicBezTo>
                  <a:pt x="909" y="327"/>
                  <a:pt x="909" y="327"/>
                  <a:pt x="909" y="327"/>
                </a:cubicBezTo>
                <a:cubicBezTo>
                  <a:pt x="904" y="320"/>
                  <a:pt x="901" y="313"/>
                  <a:pt x="899" y="308"/>
                </a:cubicBezTo>
                <a:cubicBezTo>
                  <a:pt x="897" y="302"/>
                  <a:pt x="896" y="297"/>
                  <a:pt x="897" y="293"/>
                </a:cubicBezTo>
                <a:cubicBezTo>
                  <a:pt x="897" y="289"/>
                  <a:pt x="899" y="286"/>
                  <a:pt x="901" y="284"/>
                </a:cubicBezTo>
                <a:cubicBezTo>
                  <a:pt x="904" y="281"/>
                  <a:pt x="907" y="279"/>
                  <a:pt x="911" y="278"/>
                </a:cubicBezTo>
                <a:cubicBezTo>
                  <a:pt x="915" y="276"/>
                  <a:pt x="921" y="275"/>
                  <a:pt x="928" y="275"/>
                </a:cubicBezTo>
                <a:cubicBezTo>
                  <a:pt x="934" y="275"/>
                  <a:pt x="941" y="276"/>
                  <a:pt x="948" y="277"/>
                </a:cubicBezTo>
                <a:cubicBezTo>
                  <a:pt x="955" y="278"/>
                  <a:pt x="962" y="279"/>
                  <a:pt x="969" y="280"/>
                </a:cubicBezTo>
                <a:cubicBezTo>
                  <a:pt x="975" y="282"/>
                  <a:pt x="981" y="283"/>
                  <a:pt x="987" y="285"/>
                </a:cubicBezTo>
                <a:cubicBezTo>
                  <a:pt x="995" y="287"/>
                  <a:pt x="1004" y="289"/>
                  <a:pt x="1012" y="290"/>
                </a:cubicBezTo>
                <a:cubicBezTo>
                  <a:pt x="1021" y="292"/>
                  <a:pt x="1030" y="292"/>
                  <a:pt x="1039" y="292"/>
                </a:cubicBezTo>
                <a:cubicBezTo>
                  <a:pt x="1048" y="292"/>
                  <a:pt x="1057" y="291"/>
                  <a:pt x="1065" y="290"/>
                </a:cubicBezTo>
                <a:cubicBezTo>
                  <a:pt x="1074" y="288"/>
                  <a:pt x="1083" y="286"/>
                  <a:pt x="1091" y="283"/>
                </a:cubicBezTo>
                <a:cubicBezTo>
                  <a:pt x="1108" y="278"/>
                  <a:pt x="1122" y="269"/>
                  <a:pt x="1133" y="259"/>
                </a:cubicBezTo>
                <a:cubicBezTo>
                  <a:pt x="1144" y="250"/>
                  <a:pt x="1153" y="238"/>
                  <a:pt x="1158" y="226"/>
                </a:cubicBezTo>
                <a:cubicBezTo>
                  <a:pt x="1163" y="213"/>
                  <a:pt x="1165" y="200"/>
                  <a:pt x="1164" y="187"/>
                </a:cubicBezTo>
              </a:path>
            </a:pathLst>
          </a:custGeom>
          <a:solidFill>
            <a:srgbClr val="85B2D2"/>
          </a:solidFill>
          <a:ln>
            <a:noFill/>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6" name="Freeform 172">
            <a:extLst>
              <a:ext uri="{FF2B5EF4-FFF2-40B4-BE49-F238E27FC236}">
                <a16:creationId xmlns:a16="http://schemas.microsoft.com/office/drawing/2014/main" id="{AD1B8065-5D48-433C-A2C5-EF11CFF7418D}"/>
              </a:ext>
            </a:extLst>
          </p:cNvPr>
          <p:cNvSpPr>
            <a:spLocks/>
          </p:cNvSpPr>
          <p:nvPr/>
        </p:nvSpPr>
        <p:spPr bwMode="auto">
          <a:xfrm>
            <a:off x="4563705" y="2586750"/>
            <a:ext cx="1656086" cy="1517051"/>
          </a:xfrm>
          <a:custGeom>
            <a:avLst/>
            <a:gdLst>
              <a:gd name="T0" fmla="*/ 2147483646 w 985"/>
              <a:gd name="T1" fmla="*/ 232426723 h 902"/>
              <a:gd name="T2" fmla="*/ 2147483646 w 985"/>
              <a:gd name="T3" fmla="*/ 192745564 h 902"/>
              <a:gd name="T4" fmla="*/ 2147483646 w 985"/>
              <a:gd name="T5" fmla="*/ 153062023 h 902"/>
              <a:gd name="T6" fmla="*/ 2147483646 w 985"/>
              <a:gd name="T7" fmla="*/ 68027566 h 902"/>
              <a:gd name="T8" fmla="*/ 2147483646 w 985"/>
              <a:gd name="T9" fmla="*/ 5669758 h 902"/>
              <a:gd name="T10" fmla="*/ 2147483646 w 985"/>
              <a:gd name="T11" fmla="*/ 11337134 h 902"/>
              <a:gd name="T12" fmla="*/ 2147483646 w 985"/>
              <a:gd name="T13" fmla="*/ 28344025 h 902"/>
              <a:gd name="T14" fmla="*/ 45333188 w 985"/>
              <a:gd name="T15" fmla="*/ 1587310663 h 902"/>
              <a:gd name="T16" fmla="*/ 470337780 w 985"/>
              <a:gd name="T17" fmla="*/ 2147483646 h 902"/>
              <a:gd name="T18" fmla="*/ 532672104 w 985"/>
              <a:gd name="T19" fmla="*/ 2147483646 h 902"/>
              <a:gd name="T20" fmla="*/ 578005292 w 985"/>
              <a:gd name="T21" fmla="*/ 2147483646 h 902"/>
              <a:gd name="T22" fmla="*/ 634671777 w 985"/>
              <a:gd name="T23" fmla="*/ 2147483646 h 902"/>
              <a:gd name="T24" fmla="*/ 714007237 w 985"/>
              <a:gd name="T25" fmla="*/ 2147483646 h 902"/>
              <a:gd name="T26" fmla="*/ 793340317 w 985"/>
              <a:gd name="T27" fmla="*/ 2147483646 h 902"/>
              <a:gd name="T28" fmla="*/ 838673505 w 985"/>
              <a:gd name="T29" fmla="*/ 2147483646 h 902"/>
              <a:gd name="T30" fmla="*/ 884009074 w 985"/>
              <a:gd name="T31" fmla="*/ 2147483646 h 902"/>
              <a:gd name="T32" fmla="*/ 912341126 w 985"/>
              <a:gd name="T33" fmla="*/ 2147483646 h 902"/>
              <a:gd name="T34" fmla="*/ 946341018 w 985"/>
              <a:gd name="T35" fmla="*/ 2147483646 h 902"/>
              <a:gd name="T36" fmla="*/ 969007612 w 985"/>
              <a:gd name="T37" fmla="*/ 2147483646 h 902"/>
              <a:gd name="T38" fmla="*/ 1411013339 w 985"/>
              <a:gd name="T39" fmla="*/ 1842414035 h 902"/>
              <a:gd name="T40" fmla="*/ 1609347228 w 985"/>
              <a:gd name="T41" fmla="*/ 1802730495 h 902"/>
              <a:gd name="T42" fmla="*/ 1949350901 w 985"/>
              <a:gd name="T43" fmla="*/ 1836744278 h 902"/>
              <a:gd name="T44" fmla="*/ 2000351928 w 985"/>
              <a:gd name="T45" fmla="*/ 1853751169 h 902"/>
              <a:gd name="T46" fmla="*/ 2147483646 w 985"/>
              <a:gd name="T47" fmla="*/ 1972799409 h 902"/>
              <a:gd name="T48" fmla="*/ 2147483646 w 985"/>
              <a:gd name="T49" fmla="*/ 2057833867 h 902"/>
              <a:gd name="T50" fmla="*/ 2147483646 w 985"/>
              <a:gd name="T51" fmla="*/ 2147483646 h 902"/>
              <a:gd name="T52" fmla="*/ 1558346201 w 985"/>
              <a:gd name="T53" fmla="*/ 2147483646 h 902"/>
              <a:gd name="T54" fmla="*/ 895342371 w 985"/>
              <a:gd name="T55" fmla="*/ 2147483646 h 902"/>
              <a:gd name="T56" fmla="*/ 1382678906 w 985"/>
              <a:gd name="T57" fmla="*/ 2147483646 h 902"/>
              <a:gd name="T58" fmla="*/ 1416678797 w 985"/>
              <a:gd name="T59" fmla="*/ 2147483646 h 902"/>
              <a:gd name="T60" fmla="*/ 1462011986 w 985"/>
              <a:gd name="T61" fmla="*/ 2147483646 h 902"/>
              <a:gd name="T62" fmla="*/ 1989018631 w 985"/>
              <a:gd name="T63" fmla="*/ 2147483646 h 902"/>
              <a:gd name="T64" fmla="*/ 2057018414 w 985"/>
              <a:gd name="T65" fmla="*/ 2147483646 h 902"/>
              <a:gd name="T66" fmla="*/ 2125018196 w 985"/>
              <a:gd name="T67" fmla="*/ 2147483646 h 902"/>
              <a:gd name="T68" fmla="*/ 2147483646 w 985"/>
              <a:gd name="T69" fmla="*/ 2147483646 h 902"/>
              <a:gd name="T70" fmla="*/ 2147483646 w 985"/>
              <a:gd name="T71" fmla="*/ 2147483646 h 902"/>
              <a:gd name="T72" fmla="*/ 2147483646 w 985"/>
              <a:gd name="T73" fmla="*/ 2147483646 h 902"/>
              <a:gd name="T74" fmla="*/ 2147483646 w 985"/>
              <a:gd name="T75" fmla="*/ 2147483646 h 902"/>
              <a:gd name="T76" fmla="*/ 2147483646 w 985"/>
              <a:gd name="T77" fmla="*/ 2147483646 h 902"/>
              <a:gd name="T78" fmla="*/ 2147483646 w 985"/>
              <a:gd name="T79" fmla="*/ 2147483646 h 902"/>
              <a:gd name="T80" fmla="*/ 2147483646 w 985"/>
              <a:gd name="T81" fmla="*/ 2147483646 h 902"/>
              <a:gd name="T82" fmla="*/ 2147483646 w 985"/>
              <a:gd name="T83" fmla="*/ 2147483646 h 902"/>
              <a:gd name="T84" fmla="*/ 2147483646 w 985"/>
              <a:gd name="T85" fmla="*/ 2147483646 h 902"/>
              <a:gd name="T86" fmla="*/ 2147483646 w 985"/>
              <a:gd name="T87" fmla="*/ 2147483646 h 902"/>
              <a:gd name="T88" fmla="*/ 2147483646 w 985"/>
              <a:gd name="T89" fmla="*/ 2147483646 h 902"/>
              <a:gd name="T90" fmla="*/ 2147483646 w 985"/>
              <a:gd name="T91" fmla="*/ 2147483646 h 902"/>
              <a:gd name="T92" fmla="*/ 2147483646 w 985"/>
              <a:gd name="T93" fmla="*/ 2147483646 h 902"/>
              <a:gd name="T94" fmla="*/ 2147483646 w 985"/>
              <a:gd name="T95" fmla="*/ 2147483646 h 902"/>
              <a:gd name="T96" fmla="*/ 2147483646 w 985"/>
              <a:gd name="T97" fmla="*/ 2147483646 h 902"/>
              <a:gd name="T98" fmla="*/ 2147483646 w 985"/>
              <a:gd name="T99" fmla="*/ 2147483646 h 902"/>
              <a:gd name="T100" fmla="*/ 2147483646 w 985"/>
              <a:gd name="T101" fmla="*/ 2147483646 h 902"/>
              <a:gd name="T102" fmla="*/ 2147483646 w 985"/>
              <a:gd name="T103" fmla="*/ 2147483646 h 902"/>
              <a:gd name="T104" fmla="*/ 2147483646 w 985"/>
              <a:gd name="T105" fmla="*/ 2147483646 h 902"/>
              <a:gd name="T106" fmla="*/ 2147483646 w 985"/>
              <a:gd name="T107" fmla="*/ 2147483646 h 902"/>
              <a:gd name="T108" fmla="*/ 2147483646 w 985"/>
              <a:gd name="T109" fmla="*/ 2147483646 h 902"/>
              <a:gd name="T110" fmla="*/ 2147483646 w 985"/>
              <a:gd name="T111" fmla="*/ 2147483646 h 90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985" h="902">
                <a:moveTo>
                  <a:pt x="984" y="471"/>
                </a:moveTo>
                <a:cubicBezTo>
                  <a:pt x="983" y="460"/>
                  <a:pt x="979" y="448"/>
                  <a:pt x="972" y="438"/>
                </a:cubicBezTo>
                <a:cubicBezTo>
                  <a:pt x="719" y="47"/>
                  <a:pt x="719" y="47"/>
                  <a:pt x="719" y="47"/>
                </a:cubicBezTo>
                <a:cubicBezTo>
                  <a:pt x="718" y="46"/>
                  <a:pt x="718" y="46"/>
                  <a:pt x="718" y="46"/>
                </a:cubicBezTo>
                <a:cubicBezTo>
                  <a:pt x="718" y="46"/>
                  <a:pt x="718" y="45"/>
                  <a:pt x="717" y="45"/>
                </a:cubicBezTo>
                <a:cubicBezTo>
                  <a:pt x="717" y="44"/>
                  <a:pt x="717" y="44"/>
                  <a:pt x="717" y="43"/>
                </a:cubicBezTo>
                <a:cubicBezTo>
                  <a:pt x="716" y="43"/>
                  <a:pt x="716" y="42"/>
                  <a:pt x="715" y="42"/>
                </a:cubicBezTo>
                <a:cubicBezTo>
                  <a:pt x="715" y="41"/>
                  <a:pt x="715" y="41"/>
                  <a:pt x="715" y="41"/>
                </a:cubicBezTo>
                <a:cubicBezTo>
                  <a:pt x="714" y="40"/>
                  <a:pt x="714" y="40"/>
                  <a:pt x="714" y="40"/>
                </a:cubicBezTo>
                <a:cubicBezTo>
                  <a:pt x="714" y="40"/>
                  <a:pt x="714" y="40"/>
                  <a:pt x="713" y="39"/>
                </a:cubicBezTo>
                <a:cubicBezTo>
                  <a:pt x="713" y="39"/>
                  <a:pt x="713" y="38"/>
                  <a:pt x="712" y="38"/>
                </a:cubicBezTo>
                <a:cubicBezTo>
                  <a:pt x="712" y="37"/>
                  <a:pt x="712" y="37"/>
                  <a:pt x="712" y="37"/>
                </a:cubicBezTo>
                <a:cubicBezTo>
                  <a:pt x="711" y="37"/>
                  <a:pt x="711" y="37"/>
                  <a:pt x="711" y="37"/>
                </a:cubicBezTo>
                <a:cubicBezTo>
                  <a:pt x="711" y="36"/>
                  <a:pt x="710" y="36"/>
                  <a:pt x="710" y="36"/>
                </a:cubicBezTo>
                <a:cubicBezTo>
                  <a:pt x="710" y="35"/>
                  <a:pt x="709" y="35"/>
                  <a:pt x="709" y="34"/>
                </a:cubicBezTo>
                <a:cubicBezTo>
                  <a:pt x="708" y="34"/>
                  <a:pt x="708" y="34"/>
                  <a:pt x="708" y="34"/>
                </a:cubicBezTo>
                <a:cubicBezTo>
                  <a:pt x="708" y="33"/>
                  <a:pt x="708" y="33"/>
                  <a:pt x="708" y="33"/>
                </a:cubicBezTo>
                <a:cubicBezTo>
                  <a:pt x="707" y="32"/>
                  <a:pt x="707" y="32"/>
                  <a:pt x="707" y="32"/>
                </a:cubicBezTo>
                <a:cubicBezTo>
                  <a:pt x="706" y="32"/>
                  <a:pt x="706" y="31"/>
                  <a:pt x="705" y="31"/>
                </a:cubicBezTo>
                <a:cubicBezTo>
                  <a:pt x="705" y="30"/>
                  <a:pt x="705" y="30"/>
                  <a:pt x="705" y="30"/>
                </a:cubicBezTo>
                <a:cubicBezTo>
                  <a:pt x="704" y="30"/>
                  <a:pt x="704" y="30"/>
                  <a:pt x="704" y="30"/>
                </a:cubicBezTo>
                <a:cubicBezTo>
                  <a:pt x="703" y="29"/>
                  <a:pt x="703" y="29"/>
                  <a:pt x="703" y="29"/>
                </a:cubicBezTo>
                <a:cubicBezTo>
                  <a:pt x="703" y="29"/>
                  <a:pt x="702" y="28"/>
                  <a:pt x="702" y="28"/>
                </a:cubicBezTo>
                <a:cubicBezTo>
                  <a:pt x="701" y="27"/>
                  <a:pt x="701" y="27"/>
                  <a:pt x="701" y="27"/>
                </a:cubicBezTo>
                <a:cubicBezTo>
                  <a:pt x="700" y="27"/>
                  <a:pt x="700" y="27"/>
                  <a:pt x="700" y="27"/>
                </a:cubicBezTo>
                <a:cubicBezTo>
                  <a:pt x="700" y="26"/>
                  <a:pt x="700" y="26"/>
                  <a:pt x="699" y="26"/>
                </a:cubicBezTo>
                <a:cubicBezTo>
                  <a:pt x="699" y="25"/>
                  <a:pt x="699" y="25"/>
                  <a:pt x="698" y="25"/>
                </a:cubicBezTo>
                <a:cubicBezTo>
                  <a:pt x="697" y="24"/>
                  <a:pt x="697" y="24"/>
                  <a:pt x="697" y="24"/>
                </a:cubicBezTo>
                <a:cubicBezTo>
                  <a:pt x="696" y="23"/>
                  <a:pt x="696" y="23"/>
                  <a:pt x="696" y="23"/>
                </a:cubicBezTo>
                <a:cubicBezTo>
                  <a:pt x="695" y="23"/>
                  <a:pt x="695" y="23"/>
                  <a:pt x="695" y="23"/>
                </a:cubicBezTo>
                <a:cubicBezTo>
                  <a:pt x="695" y="22"/>
                  <a:pt x="695" y="22"/>
                  <a:pt x="694" y="22"/>
                </a:cubicBezTo>
                <a:cubicBezTo>
                  <a:pt x="688" y="18"/>
                  <a:pt x="682" y="15"/>
                  <a:pt x="676" y="12"/>
                </a:cubicBezTo>
                <a:cubicBezTo>
                  <a:pt x="669" y="9"/>
                  <a:pt x="662" y="6"/>
                  <a:pt x="655" y="4"/>
                </a:cubicBezTo>
                <a:cubicBezTo>
                  <a:pt x="648" y="3"/>
                  <a:pt x="641" y="1"/>
                  <a:pt x="633" y="1"/>
                </a:cubicBezTo>
                <a:cubicBezTo>
                  <a:pt x="625" y="0"/>
                  <a:pt x="618" y="0"/>
                  <a:pt x="610" y="0"/>
                </a:cubicBezTo>
                <a:cubicBezTo>
                  <a:pt x="610" y="0"/>
                  <a:pt x="609" y="0"/>
                  <a:pt x="609" y="0"/>
                </a:cubicBezTo>
                <a:cubicBezTo>
                  <a:pt x="608" y="0"/>
                  <a:pt x="608" y="0"/>
                  <a:pt x="607" y="0"/>
                </a:cubicBezTo>
                <a:cubicBezTo>
                  <a:pt x="607" y="0"/>
                  <a:pt x="607" y="0"/>
                  <a:pt x="606" y="0"/>
                </a:cubicBezTo>
                <a:cubicBezTo>
                  <a:pt x="605" y="0"/>
                  <a:pt x="605" y="0"/>
                  <a:pt x="604" y="1"/>
                </a:cubicBezTo>
                <a:cubicBezTo>
                  <a:pt x="604" y="1"/>
                  <a:pt x="603" y="1"/>
                  <a:pt x="603" y="1"/>
                </a:cubicBezTo>
                <a:cubicBezTo>
                  <a:pt x="603" y="1"/>
                  <a:pt x="602" y="1"/>
                  <a:pt x="602" y="1"/>
                </a:cubicBezTo>
                <a:cubicBezTo>
                  <a:pt x="601" y="1"/>
                  <a:pt x="601" y="1"/>
                  <a:pt x="600" y="1"/>
                </a:cubicBezTo>
                <a:cubicBezTo>
                  <a:pt x="600" y="1"/>
                  <a:pt x="599" y="1"/>
                  <a:pt x="598" y="1"/>
                </a:cubicBezTo>
                <a:cubicBezTo>
                  <a:pt x="597" y="1"/>
                  <a:pt x="597" y="1"/>
                  <a:pt x="597" y="1"/>
                </a:cubicBezTo>
                <a:cubicBezTo>
                  <a:pt x="597" y="1"/>
                  <a:pt x="597" y="2"/>
                  <a:pt x="596" y="2"/>
                </a:cubicBezTo>
                <a:cubicBezTo>
                  <a:pt x="596" y="2"/>
                  <a:pt x="595" y="2"/>
                  <a:pt x="595" y="2"/>
                </a:cubicBezTo>
                <a:cubicBezTo>
                  <a:pt x="594" y="2"/>
                  <a:pt x="594" y="2"/>
                  <a:pt x="593" y="2"/>
                </a:cubicBezTo>
                <a:cubicBezTo>
                  <a:pt x="592" y="2"/>
                  <a:pt x="592" y="2"/>
                  <a:pt x="592" y="2"/>
                </a:cubicBezTo>
                <a:cubicBezTo>
                  <a:pt x="592" y="2"/>
                  <a:pt x="591" y="3"/>
                  <a:pt x="591" y="3"/>
                </a:cubicBezTo>
                <a:cubicBezTo>
                  <a:pt x="590" y="3"/>
                  <a:pt x="590" y="3"/>
                  <a:pt x="589" y="3"/>
                </a:cubicBezTo>
                <a:cubicBezTo>
                  <a:pt x="589" y="3"/>
                  <a:pt x="588" y="3"/>
                  <a:pt x="587" y="3"/>
                </a:cubicBezTo>
                <a:cubicBezTo>
                  <a:pt x="586" y="4"/>
                  <a:pt x="586" y="4"/>
                  <a:pt x="586" y="4"/>
                </a:cubicBezTo>
                <a:cubicBezTo>
                  <a:pt x="586" y="4"/>
                  <a:pt x="586" y="4"/>
                  <a:pt x="585" y="4"/>
                </a:cubicBezTo>
                <a:cubicBezTo>
                  <a:pt x="585" y="4"/>
                  <a:pt x="585" y="4"/>
                  <a:pt x="584" y="4"/>
                </a:cubicBezTo>
                <a:cubicBezTo>
                  <a:pt x="583" y="4"/>
                  <a:pt x="583" y="4"/>
                  <a:pt x="582" y="5"/>
                </a:cubicBezTo>
                <a:cubicBezTo>
                  <a:pt x="582" y="5"/>
                  <a:pt x="581" y="5"/>
                  <a:pt x="581" y="5"/>
                </a:cubicBezTo>
                <a:cubicBezTo>
                  <a:pt x="580" y="5"/>
                  <a:pt x="580" y="5"/>
                  <a:pt x="579" y="5"/>
                </a:cubicBezTo>
                <a:cubicBezTo>
                  <a:pt x="579" y="6"/>
                  <a:pt x="579" y="6"/>
                  <a:pt x="578" y="6"/>
                </a:cubicBezTo>
                <a:cubicBezTo>
                  <a:pt x="578" y="6"/>
                  <a:pt x="577" y="6"/>
                  <a:pt x="577" y="6"/>
                </a:cubicBezTo>
                <a:cubicBezTo>
                  <a:pt x="67" y="172"/>
                  <a:pt x="67" y="172"/>
                  <a:pt x="67" y="172"/>
                </a:cubicBezTo>
                <a:cubicBezTo>
                  <a:pt x="53" y="176"/>
                  <a:pt x="41" y="182"/>
                  <a:pt x="31" y="190"/>
                </a:cubicBezTo>
                <a:cubicBezTo>
                  <a:pt x="21" y="198"/>
                  <a:pt x="13" y="207"/>
                  <a:pt x="8" y="217"/>
                </a:cubicBezTo>
                <a:cubicBezTo>
                  <a:pt x="3" y="226"/>
                  <a:pt x="0" y="237"/>
                  <a:pt x="0" y="248"/>
                </a:cubicBezTo>
                <a:cubicBezTo>
                  <a:pt x="0" y="258"/>
                  <a:pt x="3" y="269"/>
                  <a:pt x="8" y="280"/>
                </a:cubicBezTo>
                <a:cubicBezTo>
                  <a:pt x="76" y="401"/>
                  <a:pt x="76" y="401"/>
                  <a:pt x="76" y="401"/>
                </a:cubicBezTo>
                <a:cubicBezTo>
                  <a:pt x="76" y="401"/>
                  <a:pt x="77" y="402"/>
                  <a:pt x="77" y="402"/>
                </a:cubicBezTo>
                <a:cubicBezTo>
                  <a:pt x="77" y="403"/>
                  <a:pt x="78" y="403"/>
                  <a:pt x="78" y="404"/>
                </a:cubicBezTo>
                <a:cubicBezTo>
                  <a:pt x="78" y="404"/>
                  <a:pt x="79" y="405"/>
                  <a:pt x="79" y="406"/>
                </a:cubicBezTo>
                <a:cubicBezTo>
                  <a:pt x="79" y="406"/>
                  <a:pt x="80" y="407"/>
                  <a:pt x="81" y="408"/>
                </a:cubicBezTo>
                <a:cubicBezTo>
                  <a:pt x="81" y="409"/>
                  <a:pt x="81" y="409"/>
                  <a:pt x="81" y="409"/>
                </a:cubicBezTo>
                <a:cubicBezTo>
                  <a:pt x="81" y="409"/>
                  <a:pt x="82" y="410"/>
                  <a:pt x="82" y="410"/>
                </a:cubicBezTo>
                <a:cubicBezTo>
                  <a:pt x="82" y="411"/>
                  <a:pt x="83" y="411"/>
                  <a:pt x="83" y="412"/>
                </a:cubicBezTo>
                <a:cubicBezTo>
                  <a:pt x="84" y="413"/>
                  <a:pt x="85" y="414"/>
                  <a:pt x="86" y="415"/>
                </a:cubicBezTo>
                <a:cubicBezTo>
                  <a:pt x="86" y="416"/>
                  <a:pt x="86" y="416"/>
                  <a:pt x="86" y="416"/>
                </a:cubicBezTo>
                <a:cubicBezTo>
                  <a:pt x="87" y="417"/>
                  <a:pt x="87" y="417"/>
                  <a:pt x="87" y="417"/>
                </a:cubicBezTo>
                <a:cubicBezTo>
                  <a:pt x="87" y="417"/>
                  <a:pt x="87" y="417"/>
                  <a:pt x="87" y="417"/>
                </a:cubicBezTo>
                <a:cubicBezTo>
                  <a:pt x="88" y="418"/>
                  <a:pt x="88" y="418"/>
                  <a:pt x="89" y="419"/>
                </a:cubicBezTo>
                <a:cubicBezTo>
                  <a:pt x="89" y="419"/>
                  <a:pt x="90" y="420"/>
                  <a:pt x="90" y="421"/>
                </a:cubicBezTo>
                <a:cubicBezTo>
                  <a:pt x="91" y="421"/>
                  <a:pt x="92" y="422"/>
                  <a:pt x="92" y="423"/>
                </a:cubicBezTo>
                <a:cubicBezTo>
                  <a:pt x="93" y="423"/>
                  <a:pt x="94" y="424"/>
                  <a:pt x="94" y="424"/>
                </a:cubicBezTo>
                <a:cubicBezTo>
                  <a:pt x="95" y="425"/>
                  <a:pt x="96" y="425"/>
                  <a:pt x="96" y="426"/>
                </a:cubicBezTo>
                <a:cubicBezTo>
                  <a:pt x="97" y="427"/>
                  <a:pt x="97" y="427"/>
                  <a:pt x="97" y="427"/>
                </a:cubicBezTo>
                <a:cubicBezTo>
                  <a:pt x="98" y="427"/>
                  <a:pt x="98" y="427"/>
                  <a:pt x="98" y="427"/>
                </a:cubicBezTo>
                <a:cubicBezTo>
                  <a:pt x="99" y="428"/>
                  <a:pt x="99" y="428"/>
                  <a:pt x="99" y="428"/>
                </a:cubicBezTo>
                <a:cubicBezTo>
                  <a:pt x="99" y="428"/>
                  <a:pt x="99" y="428"/>
                  <a:pt x="99" y="428"/>
                </a:cubicBezTo>
                <a:cubicBezTo>
                  <a:pt x="100" y="429"/>
                  <a:pt x="100" y="429"/>
                  <a:pt x="100" y="429"/>
                </a:cubicBezTo>
                <a:cubicBezTo>
                  <a:pt x="101" y="429"/>
                  <a:pt x="101" y="429"/>
                  <a:pt x="101" y="429"/>
                </a:cubicBezTo>
                <a:cubicBezTo>
                  <a:pt x="102" y="430"/>
                  <a:pt x="102" y="430"/>
                  <a:pt x="102" y="430"/>
                </a:cubicBezTo>
                <a:cubicBezTo>
                  <a:pt x="103" y="430"/>
                  <a:pt x="103" y="430"/>
                  <a:pt x="103" y="430"/>
                </a:cubicBezTo>
                <a:cubicBezTo>
                  <a:pt x="104" y="431"/>
                  <a:pt x="104" y="431"/>
                  <a:pt x="104" y="431"/>
                </a:cubicBezTo>
                <a:cubicBezTo>
                  <a:pt x="105" y="431"/>
                  <a:pt x="105" y="431"/>
                  <a:pt x="105" y="431"/>
                </a:cubicBezTo>
                <a:cubicBezTo>
                  <a:pt x="106" y="431"/>
                  <a:pt x="106" y="431"/>
                  <a:pt x="106" y="431"/>
                </a:cubicBezTo>
                <a:cubicBezTo>
                  <a:pt x="107" y="432"/>
                  <a:pt x="107" y="432"/>
                  <a:pt x="107" y="432"/>
                </a:cubicBezTo>
                <a:cubicBezTo>
                  <a:pt x="108" y="432"/>
                  <a:pt x="108" y="432"/>
                  <a:pt x="108" y="432"/>
                </a:cubicBezTo>
                <a:cubicBezTo>
                  <a:pt x="109" y="432"/>
                  <a:pt x="109" y="432"/>
                  <a:pt x="110" y="432"/>
                </a:cubicBezTo>
                <a:cubicBezTo>
                  <a:pt x="110" y="432"/>
                  <a:pt x="111" y="433"/>
                  <a:pt x="112" y="433"/>
                </a:cubicBezTo>
                <a:cubicBezTo>
                  <a:pt x="113" y="433"/>
                  <a:pt x="114" y="433"/>
                  <a:pt x="116" y="433"/>
                </a:cubicBezTo>
                <a:cubicBezTo>
                  <a:pt x="117" y="433"/>
                  <a:pt x="117" y="433"/>
                  <a:pt x="117" y="433"/>
                </a:cubicBezTo>
                <a:cubicBezTo>
                  <a:pt x="117" y="433"/>
                  <a:pt x="117" y="433"/>
                  <a:pt x="118" y="433"/>
                </a:cubicBezTo>
                <a:cubicBezTo>
                  <a:pt x="118" y="433"/>
                  <a:pt x="118" y="433"/>
                  <a:pt x="119" y="433"/>
                </a:cubicBezTo>
                <a:cubicBezTo>
                  <a:pt x="119" y="433"/>
                  <a:pt x="120" y="433"/>
                  <a:pt x="120" y="433"/>
                </a:cubicBezTo>
                <a:cubicBezTo>
                  <a:pt x="120" y="433"/>
                  <a:pt x="121" y="433"/>
                  <a:pt x="121" y="433"/>
                </a:cubicBezTo>
                <a:cubicBezTo>
                  <a:pt x="122" y="433"/>
                  <a:pt x="122" y="432"/>
                  <a:pt x="123" y="432"/>
                </a:cubicBezTo>
                <a:cubicBezTo>
                  <a:pt x="124" y="432"/>
                  <a:pt x="125" y="432"/>
                  <a:pt x="126" y="431"/>
                </a:cubicBezTo>
                <a:cubicBezTo>
                  <a:pt x="127" y="431"/>
                  <a:pt x="129" y="430"/>
                  <a:pt x="131" y="429"/>
                </a:cubicBezTo>
                <a:cubicBezTo>
                  <a:pt x="132" y="429"/>
                  <a:pt x="132" y="429"/>
                  <a:pt x="132" y="429"/>
                </a:cubicBezTo>
                <a:cubicBezTo>
                  <a:pt x="132" y="429"/>
                  <a:pt x="132" y="429"/>
                  <a:pt x="133" y="428"/>
                </a:cubicBezTo>
                <a:cubicBezTo>
                  <a:pt x="133" y="428"/>
                  <a:pt x="134" y="428"/>
                  <a:pt x="135" y="427"/>
                </a:cubicBezTo>
                <a:cubicBezTo>
                  <a:pt x="136" y="427"/>
                  <a:pt x="136" y="426"/>
                  <a:pt x="138" y="425"/>
                </a:cubicBezTo>
                <a:cubicBezTo>
                  <a:pt x="138" y="425"/>
                  <a:pt x="138" y="425"/>
                  <a:pt x="138" y="425"/>
                </a:cubicBezTo>
                <a:cubicBezTo>
                  <a:pt x="139" y="424"/>
                  <a:pt x="139" y="424"/>
                  <a:pt x="139" y="424"/>
                </a:cubicBezTo>
                <a:cubicBezTo>
                  <a:pt x="140" y="424"/>
                  <a:pt x="140" y="424"/>
                  <a:pt x="140" y="423"/>
                </a:cubicBezTo>
                <a:cubicBezTo>
                  <a:pt x="141" y="423"/>
                  <a:pt x="141" y="423"/>
                  <a:pt x="142" y="422"/>
                </a:cubicBezTo>
                <a:cubicBezTo>
                  <a:pt x="142" y="422"/>
                  <a:pt x="142" y="422"/>
                  <a:pt x="142" y="422"/>
                </a:cubicBezTo>
                <a:cubicBezTo>
                  <a:pt x="143" y="421"/>
                  <a:pt x="143" y="421"/>
                  <a:pt x="143" y="421"/>
                </a:cubicBezTo>
                <a:cubicBezTo>
                  <a:pt x="144" y="420"/>
                  <a:pt x="144" y="420"/>
                  <a:pt x="144" y="420"/>
                </a:cubicBezTo>
                <a:cubicBezTo>
                  <a:pt x="145" y="419"/>
                  <a:pt x="145" y="419"/>
                  <a:pt x="145" y="419"/>
                </a:cubicBezTo>
                <a:cubicBezTo>
                  <a:pt x="146" y="419"/>
                  <a:pt x="146" y="419"/>
                  <a:pt x="146" y="419"/>
                </a:cubicBezTo>
                <a:cubicBezTo>
                  <a:pt x="147" y="418"/>
                  <a:pt x="147" y="418"/>
                  <a:pt x="147" y="418"/>
                </a:cubicBezTo>
                <a:cubicBezTo>
                  <a:pt x="147" y="417"/>
                  <a:pt x="147" y="417"/>
                  <a:pt x="148" y="417"/>
                </a:cubicBezTo>
                <a:cubicBezTo>
                  <a:pt x="148" y="416"/>
                  <a:pt x="149" y="416"/>
                  <a:pt x="149" y="415"/>
                </a:cubicBezTo>
                <a:cubicBezTo>
                  <a:pt x="150" y="415"/>
                  <a:pt x="150" y="415"/>
                  <a:pt x="150" y="415"/>
                </a:cubicBezTo>
                <a:cubicBezTo>
                  <a:pt x="151" y="414"/>
                  <a:pt x="151" y="414"/>
                  <a:pt x="151" y="414"/>
                </a:cubicBezTo>
                <a:cubicBezTo>
                  <a:pt x="151" y="413"/>
                  <a:pt x="151" y="413"/>
                  <a:pt x="151" y="413"/>
                </a:cubicBezTo>
                <a:cubicBezTo>
                  <a:pt x="152" y="412"/>
                  <a:pt x="152" y="412"/>
                  <a:pt x="152" y="412"/>
                </a:cubicBezTo>
                <a:cubicBezTo>
                  <a:pt x="152" y="412"/>
                  <a:pt x="153" y="411"/>
                  <a:pt x="153" y="411"/>
                </a:cubicBezTo>
                <a:cubicBezTo>
                  <a:pt x="154" y="410"/>
                  <a:pt x="154" y="410"/>
                  <a:pt x="154" y="409"/>
                </a:cubicBezTo>
                <a:cubicBezTo>
                  <a:pt x="155" y="409"/>
                  <a:pt x="155" y="408"/>
                  <a:pt x="156" y="408"/>
                </a:cubicBezTo>
                <a:cubicBezTo>
                  <a:pt x="156" y="407"/>
                  <a:pt x="157" y="407"/>
                  <a:pt x="157" y="406"/>
                </a:cubicBezTo>
                <a:cubicBezTo>
                  <a:pt x="157" y="406"/>
                  <a:pt x="157" y="406"/>
                  <a:pt x="157" y="406"/>
                </a:cubicBezTo>
                <a:cubicBezTo>
                  <a:pt x="158" y="405"/>
                  <a:pt x="158" y="405"/>
                  <a:pt x="158" y="405"/>
                </a:cubicBezTo>
                <a:cubicBezTo>
                  <a:pt x="158" y="404"/>
                  <a:pt x="158" y="404"/>
                  <a:pt x="158" y="404"/>
                </a:cubicBezTo>
                <a:cubicBezTo>
                  <a:pt x="159" y="404"/>
                  <a:pt x="159" y="404"/>
                  <a:pt x="159" y="403"/>
                </a:cubicBezTo>
                <a:cubicBezTo>
                  <a:pt x="160" y="402"/>
                  <a:pt x="160" y="402"/>
                  <a:pt x="160" y="402"/>
                </a:cubicBezTo>
                <a:cubicBezTo>
                  <a:pt x="161" y="402"/>
                  <a:pt x="161" y="402"/>
                  <a:pt x="161" y="402"/>
                </a:cubicBezTo>
                <a:cubicBezTo>
                  <a:pt x="161" y="401"/>
                  <a:pt x="161" y="401"/>
                  <a:pt x="161" y="400"/>
                </a:cubicBezTo>
                <a:cubicBezTo>
                  <a:pt x="162" y="400"/>
                  <a:pt x="162" y="400"/>
                  <a:pt x="162" y="399"/>
                </a:cubicBezTo>
                <a:cubicBezTo>
                  <a:pt x="163" y="398"/>
                  <a:pt x="163" y="398"/>
                  <a:pt x="163" y="398"/>
                </a:cubicBezTo>
                <a:cubicBezTo>
                  <a:pt x="163" y="397"/>
                  <a:pt x="163" y="397"/>
                  <a:pt x="163" y="397"/>
                </a:cubicBezTo>
                <a:cubicBezTo>
                  <a:pt x="164" y="397"/>
                  <a:pt x="164" y="397"/>
                  <a:pt x="164" y="396"/>
                </a:cubicBezTo>
                <a:cubicBezTo>
                  <a:pt x="164" y="396"/>
                  <a:pt x="164" y="396"/>
                  <a:pt x="165" y="395"/>
                </a:cubicBezTo>
                <a:cubicBezTo>
                  <a:pt x="165" y="394"/>
                  <a:pt x="165" y="394"/>
                  <a:pt x="165" y="394"/>
                </a:cubicBezTo>
                <a:cubicBezTo>
                  <a:pt x="166" y="393"/>
                  <a:pt x="166" y="393"/>
                  <a:pt x="166" y="393"/>
                </a:cubicBezTo>
                <a:cubicBezTo>
                  <a:pt x="166" y="393"/>
                  <a:pt x="166" y="393"/>
                  <a:pt x="167" y="392"/>
                </a:cubicBezTo>
                <a:cubicBezTo>
                  <a:pt x="167" y="392"/>
                  <a:pt x="167" y="391"/>
                  <a:pt x="167" y="391"/>
                </a:cubicBezTo>
                <a:cubicBezTo>
                  <a:pt x="168" y="390"/>
                  <a:pt x="168" y="390"/>
                  <a:pt x="168" y="390"/>
                </a:cubicBezTo>
                <a:cubicBezTo>
                  <a:pt x="168" y="389"/>
                  <a:pt x="168" y="389"/>
                  <a:pt x="168" y="389"/>
                </a:cubicBezTo>
                <a:cubicBezTo>
                  <a:pt x="168" y="389"/>
                  <a:pt x="169" y="389"/>
                  <a:pt x="169" y="388"/>
                </a:cubicBezTo>
                <a:cubicBezTo>
                  <a:pt x="169" y="388"/>
                  <a:pt x="169" y="388"/>
                  <a:pt x="170" y="387"/>
                </a:cubicBezTo>
                <a:cubicBezTo>
                  <a:pt x="170" y="386"/>
                  <a:pt x="170" y="386"/>
                  <a:pt x="170" y="386"/>
                </a:cubicBezTo>
                <a:cubicBezTo>
                  <a:pt x="170" y="385"/>
                  <a:pt x="170" y="385"/>
                  <a:pt x="170" y="385"/>
                </a:cubicBezTo>
                <a:cubicBezTo>
                  <a:pt x="171" y="385"/>
                  <a:pt x="171" y="385"/>
                  <a:pt x="171" y="385"/>
                </a:cubicBezTo>
                <a:cubicBezTo>
                  <a:pt x="171" y="384"/>
                  <a:pt x="171" y="384"/>
                  <a:pt x="171" y="384"/>
                </a:cubicBezTo>
                <a:cubicBezTo>
                  <a:pt x="174" y="378"/>
                  <a:pt x="178" y="372"/>
                  <a:pt x="183" y="366"/>
                </a:cubicBezTo>
                <a:cubicBezTo>
                  <a:pt x="188" y="360"/>
                  <a:pt x="193" y="355"/>
                  <a:pt x="199" y="350"/>
                </a:cubicBezTo>
                <a:cubicBezTo>
                  <a:pt x="205" y="345"/>
                  <a:pt x="212" y="341"/>
                  <a:pt x="220" y="337"/>
                </a:cubicBezTo>
                <a:cubicBezTo>
                  <a:pt x="227" y="333"/>
                  <a:pt x="235" y="329"/>
                  <a:pt x="244" y="327"/>
                </a:cubicBezTo>
                <a:cubicBezTo>
                  <a:pt x="244" y="326"/>
                  <a:pt x="245" y="326"/>
                  <a:pt x="245" y="326"/>
                </a:cubicBezTo>
                <a:cubicBezTo>
                  <a:pt x="246" y="326"/>
                  <a:pt x="246" y="326"/>
                  <a:pt x="247" y="325"/>
                </a:cubicBezTo>
                <a:cubicBezTo>
                  <a:pt x="248" y="325"/>
                  <a:pt x="248" y="325"/>
                  <a:pt x="249" y="325"/>
                </a:cubicBezTo>
                <a:cubicBezTo>
                  <a:pt x="250" y="325"/>
                  <a:pt x="251" y="324"/>
                  <a:pt x="252" y="324"/>
                </a:cubicBezTo>
                <a:cubicBezTo>
                  <a:pt x="253" y="324"/>
                  <a:pt x="253" y="324"/>
                  <a:pt x="254" y="324"/>
                </a:cubicBezTo>
                <a:cubicBezTo>
                  <a:pt x="254" y="323"/>
                  <a:pt x="255" y="323"/>
                  <a:pt x="257" y="323"/>
                </a:cubicBezTo>
                <a:cubicBezTo>
                  <a:pt x="259" y="323"/>
                  <a:pt x="261" y="322"/>
                  <a:pt x="265" y="321"/>
                </a:cubicBezTo>
                <a:cubicBezTo>
                  <a:pt x="269" y="321"/>
                  <a:pt x="273" y="320"/>
                  <a:pt x="280" y="319"/>
                </a:cubicBezTo>
                <a:cubicBezTo>
                  <a:pt x="280" y="319"/>
                  <a:pt x="281" y="319"/>
                  <a:pt x="281" y="319"/>
                </a:cubicBezTo>
                <a:cubicBezTo>
                  <a:pt x="281" y="319"/>
                  <a:pt x="282" y="319"/>
                  <a:pt x="282" y="319"/>
                </a:cubicBezTo>
                <a:cubicBezTo>
                  <a:pt x="283" y="319"/>
                  <a:pt x="283" y="319"/>
                  <a:pt x="284" y="318"/>
                </a:cubicBezTo>
                <a:cubicBezTo>
                  <a:pt x="284" y="318"/>
                  <a:pt x="285" y="318"/>
                  <a:pt x="285" y="318"/>
                </a:cubicBezTo>
                <a:cubicBezTo>
                  <a:pt x="290" y="318"/>
                  <a:pt x="294" y="318"/>
                  <a:pt x="299" y="318"/>
                </a:cubicBezTo>
                <a:cubicBezTo>
                  <a:pt x="303" y="318"/>
                  <a:pt x="308" y="318"/>
                  <a:pt x="312" y="319"/>
                </a:cubicBezTo>
                <a:cubicBezTo>
                  <a:pt x="317" y="319"/>
                  <a:pt x="321" y="320"/>
                  <a:pt x="326" y="320"/>
                </a:cubicBezTo>
                <a:cubicBezTo>
                  <a:pt x="331" y="321"/>
                  <a:pt x="335" y="322"/>
                  <a:pt x="340" y="323"/>
                </a:cubicBezTo>
                <a:cubicBezTo>
                  <a:pt x="340" y="323"/>
                  <a:pt x="341" y="323"/>
                  <a:pt x="341" y="323"/>
                </a:cubicBezTo>
                <a:cubicBezTo>
                  <a:pt x="342" y="324"/>
                  <a:pt x="342" y="324"/>
                  <a:pt x="343" y="324"/>
                </a:cubicBezTo>
                <a:cubicBezTo>
                  <a:pt x="343" y="324"/>
                  <a:pt x="344" y="324"/>
                  <a:pt x="344" y="324"/>
                </a:cubicBezTo>
                <a:cubicBezTo>
                  <a:pt x="345" y="324"/>
                  <a:pt x="345" y="324"/>
                  <a:pt x="345" y="324"/>
                </a:cubicBezTo>
                <a:cubicBezTo>
                  <a:pt x="346" y="325"/>
                  <a:pt x="346" y="325"/>
                  <a:pt x="346" y="325"/>
                </a:cubicBezTo>
                <a:cubicBezTo>
                  <a:pt x="347" y="325"/>
                  <a:pt x="347" y="325"/>
                  <a:pt x="347" y="325"/>
                </a:cubicBezTo>
                <a:cubicBezTo>
                  <a:pt x="348" y="325"/>
                  <a:pt x="348" y="325"/>
                  <a:pt x="348" y="325"/>
                </a:cubicBezTo>
                <a:cubicBezTo>
                  <a:pt x="349" y="325"/>
                  <a:pt x="349" y="325"/>
                  <a:pt x="349" y="325"/>
                </a:cubicBezTo>
                <a:cubicBezTo>
                  <a:pt x="349" y="326"/>
                  <a:pt x="350" y="326"/>
                  <a:pt x="350" y="326"/>
                </a:cubicBezTo>
                <a:cubicBezTo>
                  <a:pt x="350" y="326"/>
                  <a:pt x="351" y="326"/>
                  <a:pt x="351" y="326"/>
                </a:cubicBezTo>
                <a:cubicBezTo>
                  <a:pt x="352" y="326"/>
                  <a:pt x="352" y="327"/>
                  <a:pt x="353" y="327"/>
                </a:cubicBezTo>
                <a:cubicBezTo>
                  <a:pt x="354" y="327"/>
                  <a:pt x="354" y="327"/>
                  <a:pt x="355" y="327"/>
                </a:cubicBezTo>
                <a:cubicBezTo>
                  <a:pt x="358" y="329"/>
                  <a:pt x="361" y="330"/>
                  <a:pt x="364" y="331"/>
                </a:cubicBezTo>
                <a:cubicBezTo>
                  <a:pt x="367" y="332"/>
                  <a:pt x="370" y="334"/>
                  <a:pt x="373" y="335"/>
                </a:cubicBezTo>
                <a:cubicBezTo>
                  <a:pt x="376" y="336"/>
                  <a:pt x="378" y="338"/>
                  <a:pt x="381" y="340"/>
                </a:cubicBezTo>
                <a:cubicBezTo>
                  <a:pt x="384" y="341"/>
                  <a:pt x="387" y="343"/>
                  <a:pt x="390" y="345"/>
                </a:cubicBezTo>
                <a:cubicBezTo>
                  <a:pt x="390" y="345"/>
                  <a:pt x="390" y="345"/>
                  <a:pt x="391" y="346"/>
                </a:cubicBezTo>
                <a:cubicBezTo>
                  <a:pt x="391" y="346"/>
                  <a:pt x="392" y="346"/>
                  <a:pt x="392" y="347"/>
                </a:cubicBezTo>
                <a:cubicBezTo>
                  <a:pt x="393" y="347"/>
                  <a:pt x="393" y="348"/>
                  <a:pt x="394" y="348"/>
                </a:cubicBezTo>
                <a:cubicBezTo>
                  <a:pt x="395" y="348"/>
                  <a:pt x="395" y="349"/>
                  <a:pt x="396" y="350"/>
                </a:cubicBezTo>
                <a:cubicBezTo>
                  <a:pt x="397" y="350"/>
                  <a:pt x="397" y="350"/>
                  <a:pt x="397" y="350"/>
                </a:cubicBezTo>
                <a:cubicBezTo>
                  <a:pt x="397" y="350"/>
                  <a:pt x="397" y="351"/>
                  <a:pt x="398" y="351"/>
                </a:cubicBezTo>
                <a:cubicBezTo>
                  <a:pt x="398" y="351"/>
                  <a:pt x="399" y="352"/>
                  <a:pt x="400" y="353"/>
                </a:cubicBezTo>
                <a:cubicBezTo>
                  <a:pt x="401" y="354"/>
                  <a:pt x="402" y="355"/>
                  <a:pt x="404" y="356"/>
                </a:cubicBezTo>
                <a:cubicBezTo>
                  <a:pt x="404" y="356"/>
                  <a:pt x="404" y="356"/>
                  <a:pt x="404" y="357"/>
                </a:cubicBezTo>
                <a:cubicBezTo>
                  <a:pt x="405" y="357"/>
                  <a:pt x="405" y="358"/>
                  <a:pt x="406" y="359"/>
                </a:cubicBezTo>
                <a:cubicBezTo>
                  <a:pt x="407" y="360"/>
                  <a:pt x="408" y="361"/>
                  <a:pt x="410" y="363"/>
                </a:cubicBezTo>
                <a:cubicBezTo>
                  <a:pt x="412" y="365"/>
                  <a:pt x="414" y="367"/>
                  <a:pt x="417" y="371"/>
                </a:cubicBezTo>
                <a:cubicBezTo>
                  <a:pt x="418" y="371"/>
                  <a:pt x="418" y="371"/>
                  <a:pt x="418" y="371"/>
                </a:cubicBezTo>
                <a:cubicBezTo>
                  <a:pt x="418" y="372"/>
                  <a:pt x="418" y="372"/>
                  <a:pt x="418" y="372"/>
                </a:cubicBezTo>
                <a:cubicBezTo>
                  <a:pt x="418" y="373"/>
                  <a:pt x="419" y="373"/>
                  <a:pt x="419" y="373"/>
                </a:cubicBezTo>
                <a:cubicBezTo>
                  <a:pt x="419" y="374"/>
                  <a:pt x="420" y="374"/>
                  <a:pt x="420" y="375"/>
                </a:cubicBezTo>
                <a:cubicBezTo>
                  <a:pt x="421" y="376"/>
                  <a:pt x="421" y="376"/>
                  <a:pt x="421" y="376"/>
                </a:cubicBezTo>
                <a:cubicBezTo>
                  <a:pt x="421" y="377"/>
                  <a:pt x="422" y="377"/>
                  <a:pt x="422" y="377"/>
                </a:cubicBezTo>
                <a:cubicBezTo>
                  <a:pt x="422" y="378"/>
                  <a:pt x="422" y="378"/>
                  <a:pt x="423" y="379"/>
                </a:cubicBezTo>
                <a:cubicBezTo>
                  <a:pt x="423" y="379"/>
                  <a:pt x="423" y="379"/>
                  <a:pt x="423" y="380"/>
                </a:cubicBezTo>
                <a:cubicBezTo>
                  <a:pt x="431" y="393"/>
                  <a:pt x="435" y="407"/>
                  <a:pt x="436" y="420"/>
                </a:cubicBezTo>
                <a:cubicBezTo>
                  <a:pt x="436" y="434"/>
                  <a:pt x="433" y="448"/>
                  <a:pt x="427" y="460"/>
                </a:cubicBezTo>
                <a:cubicBezTo>
                  <a:pt x="421" y="473"/>
                  <a:pt x="412" y="484"/>
                  <a:pt x="400" y="495"/>
                </a:cubicBezTo>
                <a:cubicBezTo>
                  <a:pt x="387" y="505"/>
                  <a:pt x="373" y="513"/>
                  <a:pt x="355" y="519"/>
                </a:cubicBezTo>
                <a:cubicBezTo>
                  <a:pt x="346" y="522"/>
                  <a:pt x="338" y="524"/>
                  <a:pt x="329" y="526"/>
                </a:cubicBezTo>
                <a:cubicBezTo>
                  <a:pt x="320" y="527"/>
                  <a:pt x="310" y="528"/>
                  <a:pt x="301" y="528"/>
                </a:cubicBezTo>
                <a:cubicBezTo>
                  <a:pt x="292" y="528"/>
                  <a:pt x="283" y="527"/>
                  <a:pt x="275" y="526"/>
                </a:cubicBezTo>
                <a:cubicBezTo>
                  <a:pt x="266" y="525"/>
                  <a:pt x="257" y="523"/>
                  <a:pt x="249" y="521"/>
                </a:cubicBezTo>
                <a:cubicBezTo>
                  <a:pt x="244" y="519"/>
                  <a:pt x="238" y="517"/>
                  <a:pt x="231" y="516"/>
                </a:cubicBezTo>
                <a:cubicBezTo>
                  <a:pt x="224" y="514"/>
                  <a:pt x="217" y="513"/>
                  <a:pt x="210" y="512"/>
                </a:cubicBezTo>
                <a:cubicBezTo>
                  <a:pt x="203" y="511"/>
                  <a:pt x="196" y="511"/>
                  <a:pt x="190" y="511"/>
                </a:cubicBezTo>
                <a:cubicBezTo>
                  <a:pt x="183" y="511"/>
                  <a:pt x="177" y="512"/>
                  <a:pt x="172" y="513"/>
                </a:cubicBezTo>
                <a:cubicBezTo>
                  <a:pt x="168" y="515"/>
                  <a:pt x="165" y="517"/>
                  <a:pt x="162" y="519"/>
                </a:cubicBezTo>
                <a:cubicBezTo>
                  <a:pt x="160" y="522"/>
                  <a:pt x="158" y="525"/>
                  <a:pt x="157" y="529"/>
                </a:cubicBezTo>
                <a:cubicBezTo>
                  <a:pt x="157" y="533"/>
                  <a:pt x="157" y="538"/>
                  <a:pt x="158" y="544"/>
                </a:cubicBezTo>
                <a:cubicBezTo>
                  <a:pt x="160" y="549"/>
                  <a:pt x="163" y="556"/>
                  <a:pt x="167" y="564"/>
                </a:cubicBezTo>
                <a:cubicBezTo>
                  <a:pt x="239" y="692"/>
                  <a:pt x="239" y="692"/>
                  <a:pt x="239" y="692"/>
                </a:cubicBezTo>
                <a:cubicBezTo>
                  <a:pt x="239" y="693"/>
                  <a:pt x="239" y="693"/>
                  <a:pt x="239" y="693"/>
                </a:cubicBezTo>
                <a:cubicBezTo>
                  <a:pt x="240" y="694"/>
                  <a:pt x="240" y="694"/>
                  <a:pt x="240" y="695"/>
                </a:cubicBezTo>
                <a:cubicBezTo>
                  <a:pt x="241" y="695"/>
                  <a:pt x="241" y="696"/>
                  <a:pt x="241" y="696"/>
                </a:cubicBezTo>
                <a:cubicBezTo>
                  <a:pt x="242" y="697"/>
                  <a:pt x="242" y="697"/>
                  <a:pt x="242" y="698"/>
                </a:cubicBezTo>
                <a:cubicBezTo>
                  <a:pt x="243" y="699"/>
                  <a:pt x="243" y="699"/>
                  <a:pt x="243" y="699"/>
                </a:cubicBezTo>
                <a:cubicBezTo>
                  <a:pt x="244" y="700"/>
                  <a:pt x="244" y="700"/>
                  <a:pt x="244" y="700"/>
                </a:cubicBezTo>
                <a:cubicBezTo>
                  <a:pt x="244" y="700"/>
                  <a:pt x="244" y="700"/>
                  <a:pt x="244" y="701"/>
                </a:cubicBezTo>
                <a:cubicBezTo>
                  <a:pt x="245" y="701"/>
                  <a:pt x="245" y="702"/>
                  <a:pt x="245" y="702"/>
                </a:cubicBezTo>
                <a:cubicBezTo>
                  <a:pt x="246" y="703"/>
                  <a:pt x="246" y="703"/>
                  <a:pt x="246" y="703"/>
                </a:cubicBezTo>
                <a:cubicBezTo>
                  <a:pt x="247" y="704"/>
                  <a:pt x="247" y="704"/>
                  <a:pt x="247" y="704"/>
                </a:cubicBezTo>
                <a:cubicBezTo>
                  <a:pt x="247" y="704"/>
                  <a:pt x="247" y="705"/>
                  <a:pt x="248" y="705"/>
                </a:cubicBezTo>
                <a:cubicBezTo>
                  <a:pt x="248" y="705"/>
                  <a:pt x="248" y="706"/>
                  <a:pt x="249" y="706"/>
                </a:cubicBezTo>
                <a:cubicBezTo>
                  <a:pt x="249" y="707"/>
                  <a:pt x="249" y="707"/>
                  <a:pt x="249" y="707"/>
                </a:cubicBezTo>
                <a:cubicBezTo>
                  <a:pt x="250" y="708"/>
                  <a:pt x="250" y="708"/>
                  <a:pt x="250" y="708"/>
                </a:cubicBezTo>
                <a:cubicBezTo>
                  <a:pt x="250" y="708"/>
                  <a:pt x="251" y="708"/>
                  <a:pt x="251" y="709"/>
                </a:cubicBezTo>
                <a:cubicBezTo>
                  <a:pt x="251" y="709"/>
                  <a:pt x="252" y="710"/>
                  <a:pt x="252" y="710"/>
                </a:cubicBezTo>
                <a:cubicBezTo>
                  <a:pt x="253" y="711"/>
                  <a:pt x="253" y="711"/>
                  <a:pt x="253" y="711"/>
                </a:cubicBezTo>
                <a:cubicBezTo>
                  <a:pt x="254" y="712"/>
                  <a:pt x="254" y="712"/>
                  <a:pt x="254" y="712"/>
                </a:cubicBezTo>
                <a:cubicBezTo>
                  <a:pt x="255" y="713"/>
                  <a:pt x="255" y="713"/>
                  <a:pt x="255" y="713"/>
                </a:cubicBezTo>
                <a:cubicBezTo>
                  <a:pt x="255" y="713"/>
                  <a:pt x="255" y="713"/>
                  <a:pt x="256" y="714"/>
                </a:cubicBezTo>
                <a:cubicBezTo>
                  <a:pt x="257" y="715"/>
                  <a:pt x="257" y="715"/>
                  <a:pt x="257" y="715"/>
                </a:cubicBezTo>
                <a:cubicBezTo>
                  <a:pt x="258" y="715"/>
                  <a:pt x="258" y="715"/>
                  <a:pt x="258" y="715"/>
                </a:cubicBezTo>
                <a:cubicBezTo>
                  <a:pt x="258" y="716"/>
                  <a:pt x="258" y="716"/>
                  <a:pt x="258" y="716"/>
                </a:cubicBezTo>
                <a:cubicBezTo>
                  <a:pt x="259" y="717"/>
                  <a:pt x="259" y="717"/>
                  <a:pt x="260" y="717"/>
                </a:cubicBezTo>
                <a:cubicBezTo>
                  <a:pt x="265" y="722"/>
                  <a:pt x="271" y="726"/>
                  <a:pt x="278" y="730"/>
                </a:cubicBezTo>
                <a:cubicBezTo>
                  <a:pt x="285" y="734"/>
                  <a:pt x="292" y="737"/>
                  <a:pt x="300" y="739"/>
                </a:cubicBezTo>
                <a:cubicBezTo>
                  <a:pt x="307" y="742"/>
                  <a:pt x="315" y="744"/>
                  <a:pt x="323" y="745"/>
                </a:cubicBezTo>
                <a:cubicBezTo>
                  <a:pt x="331" y="746"/>
                  <a:pt x="339" y="747"/>
                  <a:pt x="348" y="746"/>
                </a:cubicBezTo>
                <a:cubicBezTo>
                  <a:pt x="348" y="746"/>
                  <a:pt x="348" y="746"/>
                  <a:pt x="349" y="746"/>
                </a:cubicBezTo>
                <a:cubicBezTo>
                  <a:pt x="349" y="746"/>
                  <a:pt x="350" y="746"/>
                  <a:pt x="351" y="746"/>
                </a:cubicBezTo>
                <a:cubicBezTo>
                  <a:pt x="351" y="746"/>
                  <a:pt x="352" y="746"/>
                  <a:pt x="352" y="746"/>
                </a:cubicBezTo>
                <a:cubicBezTo>
                  <a:pt x="353" y="746"/>
                  <a:pt x="354" y="746"/>
                  <a:pt x="354" y="746"/>
                </a:cubicBezTo>
                <a:cubicBezTo>
                  <a:pt x="355" y="746"/>
                  <a:pt x="355" y="746"/>
                  <a:pt x="356" y="746"/>
                </a:cubicBezTo>
                <a:cubicBezTo>
                  <a:pt x="356" y="746"/>
                  <a:pt x="356" y="746"/>
                  <a:pt x="357" y="746"/>
                </a:cubicBezTo>
                <a:cubicBezTo>
                  <a:pt x="357" y="746"/>
                  <a:pt x="358" y="746"/>
                  <a:pt x="359" y="746"/>
                </a:cubicBezTo>
                <a:cubicBezTo>
                  <a:pt x="359" y="746"/>
                  <a:pt x="360" y="746"/>
                  <a:pt x="361" y="746"/>
                </a:cubicBezTo>
                <a:cubicBezTo>
                  <a:pt x="361" y="745"/>
                  <a:pt x="361" y="745"/>
                  <a:pt x="362" y="745"/>
                </a:cubicBezTo>
                <a:cubicBezTo>
                  <a:pt x="362" y="745"/>
                  <a:pt x="363" y="745"/>
                  <a:pt x="363" y="745"/>
                </a:cubicBezTo>
                <a:cubicBezTo>
                  <a:pt x="364" y="745"/>
                  <a:pt x="364" y="745"/>
                  <a:pt x="365" y="745"/>
                </a:cubicBezTo>
                <a:cubicBezTo>
                  <a:pt x="365" y="745"/>
                  <a:pt x="366" y="745"/>
                  <a:pt x="367" y="745"/>
                </a:cubicBezTo>
                <a:cubicBezTo>
                  <a:pt x="367" y="745"/>
                  <a:pt x="368" y="745"/>
                  <a:pt x="368" y="744"/>
                </a:cubicBezTo>
                <a:cubicBezTo>
                  <a:pt x="368" y="744"/>
                  <a:pt x="369" y="744"/>
                  <a:pt x="369" y="744"/>
                </a:cubicBezTo>
                <a:cubicBezTo>
                  <a:pt x="370" y="744"/>
                  <a:pt x="370" y="744"/>
                  <a:pt x="371" y="744"/>
                </a:cubicBezTo>
                <a:cubicBezTo>
                  <a:pt x="371" y="744"/>
                  <a:pt x="372" y="744"/>
                  <a:pt x="373" y="744"/>
                </a:cubicBezTo>
                <a:cubicBezTo>
                  <a:pt x="374" y="743"/>
                  <a:pt x="374" y="743"/>
                  <a:pt x="374" y="743"/>
                </a:cubicBezTo>
                <a:cubicBezTo>
                  <a:pt x="374" y="743"/>
                  <a:pt x="375" y="743"/>
                  <a:pt x="375" y="743"/>
                </a:cubicBezTo>
                <a:cubicBezTo>
                  <a:pt x="376" y="743"/>
                  <a:pt x="376" y="743"/>
                  <a:pt x="377" y="743"/>
                </a:cubicBezTo>
                <a:cubicBezTo>
                  <a:pt x="377" y="743"/>
                  <a:pt x="378" y="742"/>
                  <a:pt x="379" y="742"/>
                </a:cubicBezTo>
                <a:cubicBezTo>
                  <a:pt x="379" y="742"/>
                  <a:pt x="380" y="742"/>
                  <a:pt x="380" y="742"/>
                </a:cubicBezTo>
                <a:cubicBezTo>
                  <a:pt x="380" y="742"/>
                  <a:pt x="381" y="742"/>
                  <a:pt x="381" y="742"/>
                </a:cubicBezTo>
                <a:cubicBezTo>
                  <a:pt x="382" y="741"/>
                  <a:pt x="382" y="741"/>
                  <a:pt x="383" y="741"/>
                </a:cubicBezTo>
                <a:cubicBezTo>
                  <a:pt x="383" y="741"/>
                  <a:pt x="384" y="741"/>
                  <a:pt x="385" y="741"/>
                </a:cubicBezTo>
                <a:cubicBezTo>
                  <a:pt x="385" y="740"/>
                  <a:pt x="386" y="740"/>
                  <a:pt x="386" y="740"/>
                </a:cubicBezTo>
                <a:cubicBezTo>
                  <a:pt x="387" y="740"/>
                  <a:pt x="387" y="740"/>
                  <a:pt x="388" y="740"/>
                </a:cubicBezTo>
                <a:cubicBezTo>
                  <a:pt x="388" y="740"/>
                  <a:pt x="389" y="739"/>
                  <a:pt x="389" y="739"/>
                </a:cubicBezTo>
                <a:cubicBezTo>
                  <a:pt x="390" y="739"/>
                  <a:pt x="390" y="739"/>
                  <a:pt x="391" y="739"/>
                </a:cubicBezTo>
                <a:cubicBezTo>
                  <a:pt x="554" y="681"/>
                  <a:pt x="554" y="681"/>
                  <a:pt x="554" y="681"/>
                </a:cubicBezTo>
                <a:cubicBezTo>
                  <a:pt x="555" y="681"/>
                  <a:pt x="555" y="681"/>
                  <a:pt x="556" y="681"/>
                </a:cubicBezTo>
                <a:cubicBezTo>
                  <a:pt x="557" y="680"/>
                  <a:pt x="557" y="680"/>
                  <a:pt x="558" y="680"/>
                </a:cubicBezTo>
                <a:cubicBezTo>
                  <a:pt x="559" y="680"/>
                  <a:pt x="560" y="679"/>
                  <a:pt x="561" y="679"/>
                </a:cubicBezTo>
                <a:cubicBezTo>
                  <a:pt x="562" y="679"/>
                  <a:pt x="563" y="678"/>
                  <a:pt x="564" y="678"/>
                </a:cubicBezTo>
                <a:cubicBezTo>
                  <a:pt x="564" y="678"/>
                  <a:pt x="565" y="678"/>
                  <a:pt x="565" y="678"/>
                </a:cubicBezTo>
                <a:cubicBezTo>
                  <a:pt x="566" y="678"/>
                  <a:pt x="566" y="677"/>
                  <a:pt x="567" y="677"/>
                </a:cubicBezTo>
                <a:cubicBezTo>
                  <a:pt x="568" y="677"/>
                  <a:pt x="570" y="677"/>
                  <a:pt x="572" y="676"/>
                </a:cubicBezTo>
                <a:cubicBezTo>
                  <a:pt x="573" y="676"/>
                  <a:pt x="576" y="675"/>
                  <a:pt x="579" y="674"/>
                </a:cubicBezTo>
                <a:cubicBezTo>
                  <a:pt x="580" y="674"/>
                  <a:pt x="580" y="674"/>
                  <a:pt x="580" y="674"/>
                </a:cubicBezTo>
                <a:cubicBezTo>
                  <a:pt x="581" y="674"/>
                  <a:pt x="581" y="674"/>
                  <a:pt x="581" y="674"/>
                </a:cubicBezTo>
                <a:cubicBezTo>
                  <a:pt x="581" y="674"/>
                  <a:pt x="581" y="674"/>
                  <a:pt x="582" y="674"/>
                </a:cubicBezTo>
                <a:cubicBezTo>
                  <a:pt x="582" y="674"/>
                  <a:pt x="583" y="674"/>
                  <a:pt x="583" y="674"/>
                </a:cubicBezTo>
                <a:cubicBezTo>
                  <a:pt x="584" y="674"/>
                  <a:pt x="584" y="674"/>
                  <a:pt x="585" y="674"/>
                </a:cubicBezTo>
                <a:cubicBezTo>
                  <a:pt x="585" y="673"/>
                  <a:pt x="586" y="673"/>
                  <a:pt x="586" y="673"/>
                </a:cubicBezTo>
                <a:cubicBezTo>
                  <a:pt x="587" y="673"/>
                  <a:pt x="588" y="673"/>
                  <a:pt x="590" y="673"/>
                </a:cubicBezTo>
                <a:cubicBezTo>
                  <a:pt x="591" y="673"/>
                  <a:pt x="592" y="673"/>
                  <a:pt x="594" y="673"/>
                </a:cubicBezTo>
                <a:cubicBezTo>
                  <a:pt x="595" y="673"/>
                  <a:pt x="595" y="673"/>
                  <a:pt x="596" y="673"/>
                </a:cubicBezTo>
                <a:cubicBezTo>
                  <a:pt x="596" y="673"/>
                  <a:pt x="597" y="673"/>
                  <a:pt x="598" y="674"/>
                </a:cubicBezTo>
                <a:cubicBezTo>
                  <a:pt x="599" y="674"/>
                  <a:pt x="601" y="674"/>
                  <a:pt x="604" y="675"/>
                </a:cubicBezTo>
                <a:cubicBezTo>
                  <a:pt x="606" y="676"/>
                  <a:pt x="609" y="677"/>
                  <a:pt x="613" y="678"/>
                </a:cubicBezTo>
                <a:cubicBezTo>
                  <a:pt x="614" y="678"/>
                  <a:pt x="614" y="678"/>
                  <a:pt x="614" y="678"/>
                </a:cubicBezTo>
                <a:cubicBezTo>
                  <a:pt x="615" y="679"/>
                  <a:pt x="615" y="679"/>
                  <a:pt x="615" y="679"/>
                </a:cubicBezTo>
                <a:cubicBezTo>
                  <a:pt x="615" y="680"/>
                  <a:pt x="615" y="680"/>
                  <a:pt x="615" y="680"/>
                </a:cubicBezTo>
                <a:cubicBezTo>
                  <a:pt x="616" y="681"/>
                  <a:pt x="616" y="681"/>
                  <a:pt x="616" y="681"/>
                </a:cubicBezTo>
                <a:cubicBezTo>
                  <a:pt x="617" y="681"/>
                  <a:pt x="617" y="681"/>
                  <a:pt x="617" y="681"/>
                </a:cubicBezTo>
                <a:cubicBezTo>
                  <a:pt x="617" y="682"/>
                  <a:pt x="618" y="682"/>
                  <a:pt x="618" y="683"/>
                </a:cubicBezTo>
                <a:cubicBezTo>
                  <a:pt x="618" y="683"/>
                  <a:pt x="619" y="684"/>
                  <a:pt x="619" y="685"/>
                </a:cubicBezTo>
                <a:cubicBezTo>
                  <a:pt x="620" y="686"/>
                  <a:pt x="621" y="687"/>
                  <a:pt x="622" y="689"/>
                </a:cubicBezTo>
                <a:cubicBezTo>
                  <a:pt x="622" y="690"/>
                  <a:pt x="622" y="690"/>
                  <a:pt x="622" y="690"/>
                </a:cubicBezTo>
                <a:cubicBezTo>
                  <a:pt x="622" y="690"/>
                  <a:pt x="622" y="691"/>
                  <a:pt x="622" y="691"/>
                </a:cubicBezTo>
                <a:cubicBezTo>
                  <a:pt x="622" y="691"/>
                  <a:pt x="623" y="692"/>
                  <a:pt x="623" y="693"/>
                </a:cubicBezTo>
                <a:cubicBezTo>
                  <a:pt x="623" y="694"/>
                  <a:pt x="623" y="695"/>
                  <a:pt x="623" y="696"/>
                </a:cubicBezTo>
                <a:cubicBezTo>
                  <a:pt x="624" y="697"/>
                  <a:pt x="624" y="697"/>
                  <a:pt x="624" y="697"/>
                </a:cubicBezTo>
                <a:cubicBezTo>
                  <a:pt x="624" y="697"/>
                  <a:pt x="624" y="697"/>
                  <a:pt x="624" y="697"/>
                </a:cubicBezTo>
                <a:cubicBezTo>
                  <a:pt x="624" y="698"/>
                  <a:pt x="624" y="698"/>
                  <a:pt x="624" y="698"/>
                </a:cubicBezTo>
                <a:cubicBezTo>
                  <a:pt x="624" y="699"/>
                  <a:pt x="624" y="699"/>
                  <a:pt x="624" y="699"/>
                </a:cubicBezTo>
                <a:cubicBezTo>
                  <a:pt x="624" y="700"/>
                  <a:pt x="624" y="700"/>
                  <a:pt x="624" y="700"/>
                </a:cubicBezTo>
                <a:cubicBezTo>
                  <a:pt x="624" y="701"/>
                  <a:pt x="624" y="701"/>
                  <a:pt x="624" y="701"/>
                </a:cubicBezTo>
                <a:cubicBezTo>
                  <a:pt x="624" y="702"/>
                  <a:pt x="624" y="702"/>
                  <a:pt x="624" y="702"/>
                </a:cubicBezTo>
                <a:cubicBezTo>
                  <a:pt x="624" y="702"/>
                  <a:pt x="624" y="702"/>
                  <a:pt x="624" y="703"/>
                </a:cubicBezTo>
                <a:cubicBezTo>
                  <a:pt x="624" y="703"/>
                  <a:pt x="624" y="703"/>
                  <a:pt x="624" y="703"/>
                </a:cubicBezTo>
                <a:cubicBezTo>
                  <a:pt x="624" y="704"/>
                  <a:pt x="624" y="704"/>
                  <a:pt x="624" y="705"/>
                </a:cubicBezTo>
                <a:cubicBezTo>
                  <a:pt x="624" y="705"/>
                  <a:pt x="624" y="706"/>
                  <a:pt x="624" y="707"/>
                </a:cubicBezTo>
                <a:cubicBezTo>
                  <a:pt x="624" y="708"/>
                  <a:pt x="624" y="709"/>
                  <a:pt x="624" y="710"/>
                </a:cubicBezTo>
                <a:cubicBezTo>
                  <a:pt x="623" y="711"/>
                  <a:pt x="623" y="711"/>
                  <a:pt x="623" y="711"/>
                </a:cubicBezTo>
                <a:cubicBezTo>
                  <a:pt x="623" y="712"/>
                  <a:pt x="623" y="712"/>
                  <a:pt x="623" y="712"/>
                </a:cubicBezTo>
                <a:cubicBezTo>
                  <a:pt x="623" y="712"/>
                  <a:pt x="623" y="713"/>
                  <a:pt x="623" y="713"/>
                </a:cubicBezTo>
                <a:cubicBezTo>
                  <a:pt x="623" y="713"/>
                  <a:pt x="623" y="714"/>
                  <a:pt x="623" y="715"/>
                </a:cubicBezTo>
                <a:cubicBezTo>
                  <a:pt x="623" y="715"/>
                  <a:pt x="623" y="716"/>
                  <a:pt x="623" y="717"/>
                </a:cubicBezTo>
                <a:cubicBezTo>
                  <a:pt x="622" y="718"/>
                  <a:pt x="622" y="719"/>
                  <a:pt x="621" y="721"/>
                </a:cubicBezTo>
                <a:cubicBezTo>
                  <a:pt x="621" y="723"/>
                  <a:pt x="620" y="726"/>
                  <a:pt x="618" y="730"/>
                </a:cubicBezTo>
                <a:cubicBezTo>
                  <a:pt x="617" y="734"/>
                  <a:pt x="615" y="740"/>
                  <a:pt x="613" y="747"/>
                </a:cubicBezTo>
                <a:cubicBezTo>
                  <a:pt x="610" y="753"/>
                  <a:pt x="608" y="760"/>
                  <a:pt x="607" y="766"/>
                </a:cubicBezTo>
                <a:cubicBezTo>
                  <a:pt x="605" y="773"/>
                  <a:pt x="604" y="780"/>
                  <a:pt x="605" y="787"/>
                </a:cubicBezTo>
                <a:cubicBezTo>
                  <a:pt x="605" y="794"/>
                  <a:pt x="606" y="801"/>
                  <a:pt x="608" y="807"/>
                </a:cubicBezTo>
                <a:cubicBezTo>
                  <a:pt x="609" y="814"/>
                  <a:pt x="612" y="821"/>
                  <a:pt x="615" y="828"/>
                </a:cubicBezTo>
                <a:cubicBezTo>
                  <a:pt x="616" y="829"/>
                  <a:pt x="616" y="829"/>
                  <a:pt x="616" y="830"/>
                </a:cubicBezTo>
                <a:cubicBezTo>
                  <a:pt x="616" y="830"/>
                  <a:pt x="617" y="830"/>
                  <a:pt x="617" y="831"/>
                </a:cubicBezTo>
                <a:cubicBezTo>
                  <a:pt x="617" y="831"/>
                  <a:pt x="617" y="832"/>
                  <a:pt x="618" y="832"/>
                </a:cubicBezTo>
                <a:cubicBezTo>
                  <a:pt x="618" y="833"/>
                  <a:pt x="618" y="833"/>
                  <a:pt x="618" y="834"/>
                </a:cubicBezTo>
                <a:cubicBezTo>
                  <a:pt x="619" y="834"/>
                  <a:pt x="619" y="835"/>
                  <a:pt x="619" y="835"/>
                </a:cubicBezTo>
                <a:cubicBezTo>
                  <a:pt x="620" y="835"/>
                  <a:pt x="620" y="836"/>
                  <a:pt x="620" y="836"/>
                </a:cubicBezTo>
                <a:cubicBezTo>
                  <a:pt x="621" y="837"/>
                  <a:pt x="621" y="838"/>
                  <a:pt x="621" y="838"/>
                </a:cubicBezTo>
                <a:cubicBezTo>
                  <a:pt x="622" y="839"/>
                  <a:pt x="622" y="840"/>
                  <a:pt x="623" y="841"/>
                </a:cubicBezTo>
                <a:cubicBezTo>
                  <a:pt x="624" y="841"/>
                  <a:pt x="624" y="841"/>
                  <a:pt x="624" y="841"/>
                </a:cubicBezTo>
                <a:cubicBezTo>
                  <a:pt x="624" y="842"/>
                  <a:pt x="624" y="842"/>
                  <a:pt x="624" y="843"/>
                </a:cubicBezTo>
                <a:cubicBezTo>
                  <a:pt x="625" y="843"/>
                  <a:pt x="625" y="843"/>
                  <a:pt x="625" y="844"/>
                </a:cubicBezTo>
                <a:cubicBezTo>
                  <a:pt x="626" y="845"/>
                  <a:pt x="626" y="845"/>
                  <a:pt x="627" y="846"/>
                </a:cubicBezTo>
                <a:cubicBezTo>
                  <a:pt x="628" y="847"/>
                  <a:pt x="628" y="847"/>
                  <a:pt x="628" y="847"/>
                </a:cubicBezTo>
                <a:cubicBezTo>
                  <a:pt x="628" y="847"/>
                  <a:pt x="628" y="847"/>
                  <a:pt x="628" y="848"/>
                </a:cubicBezTo>
                <a:cubicBezTo>
                  <a:pt x="629" y="848"/>
                  <a:pt x="629" y="849"/>
                  <a:pt x="629" y="849"/>
                </a:cubicBezTo>
                <a:cubicBezTo>
                  <a:pt x="630" y="850"/>
                  <a:pt x="630" y="850"/>
                  <a:pt x="631" y="851"/>
                </a:cubicBezTo>
                <a:cubicBezTo>
                  <a:pt x="632" y="852"/>
                  <a:pt x="632" y="852"/>
                  <a:pt x="632" y="852"/>
                </a:cubicBezTo>
                <a:cubicBezTo>
                  <a:pt x="633" y="853"/>
                  <a:pt x="633" y="853"/>
                  <a:pt x="633" y="853"/>
                </a:cubicBezTo>
                <a:cubicBezTo>
                  <a:pt x="633" y="853"/>
                  <a:pt x="633" y="853"/>
                  <a:pt x="634" y="854"/>
                </a:cubicBezTo>
                <a:cubicBezTo>
                  <a:pt x="634" y="854"/>
                  <a:pt x="635" y="855"/>
                  <a:pt x="635" y="856"/>
                </a:cubicBezTo>
                <a:cubicBezTo>
                  <a:pt x="636" y="856"/>
                  <a:pt x="636" y="856"/>
                  <a:pt x="636" y="856"/>
                </a:cubicBezTo>
                <a:cubicBezTo>
                  <a:pt x="636" y="857"/>
                  <a:pt x="637" y="857"/>
                  <a:pt x="637" y="857"/>
                </a:cubicBezTo>
                <a:cubicBezTo>
                  <a:pt x="637" y="858"/>
                  <a:pt x="638" y="858"/>
                  <a:pt x="639" y="859"/>
                </a:cubicBezTo>
                <a:cubicBezTo>
                  <a:pt x="639" y="859"/>
                  <a:pt x="640" y="860"/>
                  <a:pt x="641" y="861"/>
                </a:cubicBezTo>
                <a:cubicBezTo>
                  <a:pt x="641" y="861"/>
                  <a:pt x="642" y="862"/>
                  <a:pt x="642" y="862"/>
                </a:cubicBezTo>
                <a:cubicBezTo>
                  <a:pt x="642" y="862"/>
                  <a:pt x="643" y="863"/>
                  <a:pt x="643" y="863"/>
                </a:cubicBezTo>
                <a:cubicBezTo>
                  <a:pt x="644" y="864"/>
                  <a:pt x="644" y="864"/>
                  <a:pt x="645" y="865"/>
                </a:cubicBezTo>
                <a:cubicBezTo>
                  <a:pt x="645" y="865"/>
                  <a:pt x="646" y="866"/>
                  <a:pt x="647" y="866"/>
                </a:cubicBezTo>
                <a:cubicBezTo>
                  <a:pt x="650" y="869"/>
                  <a:pt x="653" y="871"/>
                  <a:pt x="657" y="874"/>
                </a:cubicBezTo>
                <a:cubicBezTo>
                  <a:pt x="660" y="876"/>
                  <a:pt x="664" y="878"/>
                  <a:pt x="667" y="880"/>
                </a:cubicBezTo>
                <a:cubicBezTo>
                  <a:pt x="671" y="882"/>
                  <a:pt x="675" y="884"/>
                  <a:pt x="679" y="886"/>
                </a:cubicBezTo>
                <a:cubicBezTo>
                  <a:pt x="683" y="888"/>
                  <a:pt x="687" y="890"/>
                  <a:pt x="691" y="891"/>
                </a:cubicBezTo>
                <a:cubicBezTo>
                  <a:pt x="691" y="891"/>
                  <a:pt x="692" y="892"/>
                  <a:pt x="693" y="892"/>
                </a:cubicBezTo>
                <a:cubicBezTo>
                  <a:pt x="693" y="892"/>
                  <a:pt x="694" y="892"/>
                  <a:pt x="695" y="893"/>
                </a:cubicBezTo>
                <a:cubicBezTo>
                  <a:pt x="695" y="893"/>
                  <a:pt x="696" y="893"/>
                  <a:pt x="697" y="893"/>
                </a:cubicBezTo>
                <a:cubicBezTo>
                  <a:pt x="698" y="893"/>
                  <a:pt x="699" y="894"/>
                  <a:pt x="699" y="894"/>
                </a:cubicBezTo>
                <a:cubicBezTo>
                  <a:pt x="700" y="894"/>
                  <a:pt x="701" y="894"/>
                  <a:pt x="702" y="895"/>
                </a:cubicBezTo>
                <a:cubicBezTo>
                  <a:pt x="702" y="895"/>
                  <a:pt x="703" y="895"/>
                  <a:pt x="704" y="895"/>
                </a:cubicBezTo>
                <a:cubicBezTo>
                  <a:pt x="704" y="896"/>
                  <a:pt x="705" y="896"/>
                  <a:pt x="706" y="896"/>
                </a:cubicBezTo>
                <a:cubicBezTo>
                  <a:pt x="707" y="896"/>
                  <a:pt x="707" y="896"/>
                  <a:pt x="708" y="896"/>
                </a:cubicBezTo>
                <a:cubicBezTo>
                  <a:pt x="711" y="897"/>
                  <a:pt x="715" y="898"/>
                  <a:pt x="718" y="899"/>
                </a:cubicBezTo>
                <a:cubicBezTo>
                  <a:pt x="722" y="899"/>
                  <a:pt x="725" y="900"/>
                  <a:pt x="729" y="900"/>
                </a:cubicBezTo>
                <a:cubicBezTo>
                  <a:pt x="733" y="901"/>
                  <a:pt x="736" y="901"/>
                  <a:pt x="740" y="902"/>
                </a:cubicBezTo>
                <a:cubicBezTo>
                  <a:pt x="744" y="902"/>
                  <a:pt x="747" y="902"/>
                  <a:pt x="751" y="902"/>
                </a:cubicBezTo>
                <a:cubicBezTo>
                  <a:pt x="752" y="902"/>
                  <a:pt x="753" y="902"/>
                  <a:pt x="753" y="902"/>
                </a:cubicBezTo>
                <a:cubicBezTo>
                  <a:pt x="754" y="902"/>
                  <a:pt x="755" y="902"/>
                  <a:pt x="755" y="902"/>
                </a:cubicBezTo>
                <a:cubicBezTo>
                  <a:pt x="756" y="902"/>
                  <a:pt x="757" y="902"/>
                  <a:pt x="758" y="902"/>
                </a:cubicBezTo>
                <a:cubicBezTo>
                  <a:pt x="759" y="902"/>
                  <a:pt x="760" y="902"/>
                  <a:pt x="761" y="902"/>
                </a:cubicBezTo>
                <a:cubicBezTo>
                  <a:pt x="761" y="902"/>
                  <a:pt x="762" y="902"/>
                  <a:pt x="763" y="902"/>
                </a:cubicBezTo>
                <a:cubicBezTo>
                  <a:pt x="763" y="902"/>
                  <a:pt x="764" y="902"/>
                  <a:pt x="765" y="902"/>
                </a:cubicBezTo>
                <a:cubicBezTo>
                  <a:pt x="765" y="901"/>
                  <a:pt x="766" y="901"/>
                  <a:pt x="767" y="901"/>
                </a:cubicBezTo>
                <a:cubicBezTo>
                  <a:pt x="768" y="901"/>
                  <a:pt x="768" y="901"/>
                  <a:pt x="769" y="901"/>
                </a:cubicBezTo>
                <a:cubicBezTo>
                  <a:pt x="770" y="901"/>
                  <a:pt x="771" y="901"/>
                  <a:pt x="771" y="901"/>
                </a:cubicBezTo>
                <a:cubicBezTo>
                  <a:pt x="772" y="901"/>
                  <a:pt x="772" y="901"/>
                  <a:pt x="773" y="901"/>
                </a:cubicBezTo>
                <a:cubicBezTo>
                  <a:pt x="774" y="901"/>
                  <a:pt x="775" y="900"/>
                  <a:pt x="776" y="900"/>
                </a:cubicBezTo>
                <a:cubicBezTo>
                  <a:pt x="776" y="900"/>
                  <a:pt x="777" y="900"/>
                  <a:pt x="778" y="900"/>
                </a:cubicBezTo>
                <a:cubicBezTo>
                  <a:pt x="779" y="900"/>
                  <a:pt x="779" y="900"/>
                  <a:pt x="779" y="900"/>
                </a:cubicBezTo>
                <a:cubicBezTo>
                  <a:pt x="780" y="900"/>
                  <a:pt x="780" y="900"/>
                  <a:pt x="780" y="900"/>
                </a:cubicBezTo>
                <a:cubicBezTo>
                  <a:pt x="781" y="900"/>
                  <a:pt x="781" y="900"/>
                  <a:pt x="781" y="900"/>
                </a:cubicBezTo>
                <a:cubicBezTo>
                  <a:pt x="782" y="899"/>
                  <a:pt x="782" y="899"/>
                  <a:pt x="782" y="899"/>
                </a:cubicBezTo>
                <a:cubicBezTo>
                  <a:pt x="783" y="899"/>
                  <a:pt x="783" y="899"/>
                  <a:pt x="783" y="899"/>
                </a:cubicBezTo>
                <a:cubicBezTo>
                  <a:pt x="784" y="899"/>
                  <a:pt x="784" y="899"/>
                  <a:pt x="784" y="899"/>
                </a:cubicBezTo>
                <a:cubicBezTo>
                  <a:pt x="785" y="899"/>
                  <a:pt x="785" y="899"/>
                  <a:pt x="785" y="899"/>
                </a:cubicBezTo>
                <a:cubicBezTo>
                  <a:pt x="786" y="899"/>
                  <a:pt x="786" y="899"/>
                  <a:pt x="786" y="899"/>
                </a:cubicBezTo>
                <a:cubicBezTo>
                  <a:pt x="786" y="899"/>
                  <a:pt x="786" y="899"/>
                  <a:pt x="786" y="899"/>
                </a:cubicBezTo>
                <a:cubicBezTo>
                  <a:pt x="787" y="898"/>
                  <a:pt x="787" y="898"/>
                  <a:pt x="787" y="898"/>
                </a:cubicBezTo>
                <a:cubicBezTo>
                  <a:pt x="788" y="898"/>
                  <a:pt x="788" y="898"/>
                  <a:pt x="788" y="898"/>
                </a:cubicBezTo>
                <a:cubicBezTo>
                  <a:pt x="789" y="898"/>
                  <a:pt x="789" y="898"/>
                  <a:pt x="789" y="898"/>
                </a:cubicBezTo>
                <a:cubicBezTo>
                  <a:pt x="789" y="898"/>
                  <a:pt x="789" y="898"/>
                  <a:pt x="790" y="898"/>
                </a:cubicBezTo>
                <a:cubicBezTo>
                  <a:pt x="790" y="898"/>
                  <a:pt x="791" y="898"/>
                  <a:pt x="791" y="897"/>
                </a:cubicBezTo>
                <a:cubicBezTo>
                  <a:pt x="792" y="897"/>
                  <a:pt x="792" y="897"/>
                  <a:pt x="793" y="897"/>
                </a:cubicBezTo>
                <a:cubicBezTo>
                  <a:pt x="794" y="897"/>
                  <a:pt x="795" y="897"/>
                  <a:pt x="796" y="896"/>
                </a:cubicBezTo>
                <a:cubicBezTo>
                  <a:pt x="796" y="896"/>
                  <a:pt x="796" y="896"/>
                  <a:pt x="797" y="896"/>
                </a:cubicBezTo>
                <a:cubicBezTo>
                  <a:pt x="797" y="896"/>
                  <a:pt x="798" y="896"/>
                  <a:pt x="798" y="896"/>
                </a:cubicBezTo>
                <a:cubicBezTo>
                  <a:pt x="799" y="896"/>
                  <a:pt x="799" y="895"/>
                  <a:pt x="800" y="895"/>
                </a:cubicBezTo>
                <a:cubicBezTo>
                  <a:pt x="801" y="895"/>
                  <a:pt x="801" y="895"/>
                  <a:pt x="802" y="894"/>
                </a:cubicBezTo>
                <a:cubicBezTo>
                  <a:pt x="803" y="894"/>
                  <a:pt x="804" y="894"/>
                  <a:pt x="804" y="894"/>
                </a:cubicBezTo>
                <a:cubicBezTo>
                  <a:pt x="805" y="894"/>
                  <a:pt x="805" y="894"/>
                  <a:pt x="806" y="893"/>
                </a:cubicBezTo>
                <a:cubicBezTo>
                  <a:pt x="806" y="893"/>
                  <a:pt x="807" y="893"/>
                  <a:pt x="808" y="893"/>
                </a:cubicBezTo>
                <a:cubicBezTo>
                  <a:pt x="808" y="893"/>
                  <a:pt x="809" y="892"/>
                  <a:pt x="809" y="892"/>
                </a:cubicBezTo>
                <a:cubicBezTo>
                  <a:pt x="827" y="886"/>
                  <a:pt x="842" y="877"/>
                  <a:pt x="854" y="866"/>
                </a:cubicBezTo>
                <a:cubicBezTo>
                  <a:pt x="866" y="855"/>
                  <a:pt x="875" y="842"/>
                  <a:pt x="881" y="829"/>
                </a:cubicBezTo>
                <a:cubicBezTo>
                  <a:pt x="886" y="815"/>
                  <a:pt x="889" y="801"/>
                  <a:pt x="888" y="786"/>
                </a:cubicBezTo>
                <a:cubicBezTo>
                  <a:pt x="886" y="771"/>
                  <a:pt x="882" y="757"/>
                  <a:pt x="873" y="742"/>
                </a:cubicBezTo>
                <a:cubicBezTo>
                  <a:pt x="873" y="742"/>
                  <a:pt x="872" y="741"/>
                  <a:pt x="872" y="741"/>
                </a:cubicBezTo>
                <a:cubicBezTo>
                  <a:pt x="872" y="741"/>
                  <a:pt x="871" y="740"/>
                  <a:pt x="871" y="740"/>
                </a:cubicBezTo>
                <a:cubicBezTo>
                  <a:pt x="871" y="739"/>
                  <a:pt x="871" y="739"/>
                  <a:pt x="870" y="738"/>
                </a:cubicBezTo>
                <a:cubicBezTo>
                  <a:pt x="870" y="738"/>
                  <a:pt x="870" y="738"/>
                  <a:pt x="869" y="737"/>
                </a:cubicBezTo>
                <a:cubicBezTo>
                  <a:pt x="865" y="731"/>
                  <a:pt x="860" y="725"/>
                  <a:pt x="854" y="719"/>
                </a:cubicBezTo>
                <a:cubicBezTo>
                  <a:pt x="849" y="714"/>
                  <a:pt x="842" y="709"/>
                  <a:pt x="836" y="704"/>
                </a:cubicBezTo>
                <a:cubicBezTo>
                  <a:pt x="829" y="700"/>
                  <a:pt x="822" y="696"/>
                  <a:pt x="815" y="692"/>
                </a:cubicBezTo>
                <a:cubicBezTo>
                  <a:pt x="807" y="689"/>
                  <a:pt x="799" y="686"/>
                  <a:pt x="791" y="683"/>
                </a:cubicBezTo>
                <a:cubicBezTo>
                  <a:pt x="786" y="682"/>
                  <a:pt x="780" y="680"/>
                  <a:pt x="773" y="677"/>
                </a:cubicBezTo>
                <a:cubicBezTo>
                  <a:pt x="767" y="675"/>
                  <a:pt x="760" y="672"/>
                  <a:pt x="754" y="669"/>
                </a:cubicBezTo>
                <a:cubicBezTo>
                  <a:pt x="748" y="666"/>
                  <a:pt x="742" y="663"/>
                  <a:pt x="737" y="659"/>
                </a:cubicBezTo>
                <a:cubicBezTo>
                  <a:pt x="732" y="655"/>
                  <a:pt x="728" y="651"/>
                  <a:pt x="726" y="647"/>
                </a:cubicBezTo>
                <a:cubicBezTo>
                  <a:pt x="726" y="647"/>
                  <a:pt x="725" y="646"/>
                  <a:pt x="725" y="645"/>
                </a:cubicBezTo>
                <a:cubicBezTo>
                  <a:pt x="725" y="645"/>
                  <a:pt x="724" y="644"/>
                  <a:pt x="724" y="643"/>
                </a:cubicBezTo>
                <a:cubicBezTo>
                  <a:pt x="724" y="643"/>
                  <a:pt x="724" y="642"/>
                  <a:pt x="724" y="641"/>
                </a:cubicBezTo>
                <a:cubicBezTo>
                  <a:pt x="723" y="641"/>
                  <a:pt x="723" y="640"/>
                  <a:pt x="723" y="639"/>
                </a:cubicBezTo>
                <a:cubicBezTo>
                  <a:pt x="723" y="638"/>
                  <a:pt x="723" y="637"/>
                  <a:pt x="724" y="636"/>
                </a:cubicBezTo>
                <a:cubicBezTo>
                  <a:pt x="724" y="635"/>
                  <a:pt x="724" y="635"/>
                  <a:pt x="724" y="634"/>
                </a:cubicBezTo>
                <a:cubicBezTo>
                  <a:pt x="725" y="633"/>
                  <a:pt x="725" y="632"/>
                  <a:pt x="726" y="631"/>
                </a:cubicBezTo>
                <a:cubicBezTo>
                  <a:pt x="726" y="630"/>
                  <a:pt x="727" y="629"/>
                  <a:pt x="728" y="628"/>
                </a:cubicBezTo>
                <a:cubicBezTo>
                  <a:pt x="728" y="627"/>
                  <a:pt x="729" y="627"/>
                  <a:pt x="729" y="626"/>
                </a:cubicBezTo>
                <a:cubicBezTo>
                  <a:pt x="730" y="626"/>
                  <a:pt x="730" y="625"/>
                  <a:pt x="731" y="625"/>
                </a:cubicBezTo>
                <a:cubicBezTo>
                  <a:pt x="731" y="624"/>
                  <a:pt x="732" y="624"/>
                  <a:pt x="732" y="623"/>
                </a:cubicBezTo>
                <a:cubicBezTo>
                  <a:pt x="733" y="623"/>
                  <a:pt x="734" y="622"/>
                  <a:pt x="734" y="622"/>
                </a:cubicBezTo>
                <a:cubicBezTo>
                  <a:pt x="736" y="621"/>
                  <a:pt x="738" y="620"/>
                  <a:pt x="740" y="618"/>
                </a:cubicBezTo>
                <a:cubicBezTo>
                  <a:pt x="742" y="617"/>
                  <a:pt x="744" y="616"/>
                  <a:pt x="747" y="615"/>
                </a:cubicBezTo>
                <a:cubicBezTo>
                  <a:pt x="749" y="613"/>
                  <a:pt x="752" y="612"/>
                  <a:pt x="755" y="611"/>
                </a:cubicBezTo>
                <a:cubicBezTo>
                  <a:pt x="758" y="610"/>
                  <a:pt x="761" y="608"/>
                  <a:pt x="764" y="607"/>
                </a:cubicBezTo>
                <a:cubicBezTo>
                  <a:pt x="923" y="552"/>
                  <a:pt x="923" y="552"/>
                  <a:pt x="923" y="552"/>
                </a:cubicBezTo>
                <a:cubicBezTo>
                  <a:pt x="937" y="547"/>
                  <a:pt x="949" y="540"/>
                  <a:pt x="958" y="532"/>
                </a:cubicBezTo>
                <a:cubicBezTo>
                  <a:pt x="967" y="523"/>
                  <a:pt x="974" y="514"/>
                  <a:pt x="979" y="503"/>
                </a:cubicBezTo>
                <a:cubicBezTo>
                  <a:pt x="983" y="493"/>
                  <a:pt x="985" y="482"/>
                  <a:pt x="984" y="471"/>
                </a:cubicBez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latin typeface="微软雅黑" panose="020B0503020204020204" pitchFamily="34" charset="-122"/>
              <a:ea typeface="微软雅黑" panose="020B0503020204020204" pitchFamily="34" charset="-122"/>
            </a:endParaRPr>
          </a:p>
        </p:txBody>
      </p:sp>
      <p:sp>
        <p:nvSpPr>
          <p:cNvPr id="7" name="Freeform 183">
            <a:extLst>
              <a:ext uri="{FF2B5EF4-FFF2-40B4-BE49-F238E27FC236}">
                <a16:creationId xmlns:a16="http://schemas.microsoft.com/office/drawing/2014/main" id="{640DE0C3-722C-4EA3-9B49-7E35CDAACD54}"/>
              </a:ext>
            </a:extLst>
          </p:cNvPr>
          <p:cNvSpPr>
            <a:spLocks/>
          </p:cNvSpPr>
          <p:nvPr/>
        </p:nvSpPr>
        <p:spPr bwMode="auto">
          <a:xfrm>
            <a:off x="3722093" y="3520099"/>
            <a:ext cx="1699814" cy="1547324"/>
          </a:xfrm>
          <a:custGeom>
            <a:avLst/>
            <a:gdLst>
              <a:gd name="T0" fmla="*/ 2147483646 w 1011"/>
              <a:gd name="T1" fmla="*/ 2147483646 h 920"/>
              <a:gd name="T2" fmla="*/ 2147483646 w 1011"/>
              <a:gd name="T3" fmla="*/ 2147483646 h 920"/>
              <a:gd name="T4" fmla="*/ 2147483646 w 1011"/>
              <a:gd name="T5" fmla="*/ 2147483646 h 920"/>
              <a:gd name="T6" fmla="*/ 2147483646 w 1011"/>
              <a:gd name="T7" fmla="*/ 2147483646 h 920"/>
              <a:gd name="T8" fmla="*/ 2147483646 w 1011"/>
              <a:gd name="T9" fmla="*/ 2147483646 h 920"/>
              <a:gd name="T10" fmla="*/ 2147483646 w 1011"/>
              <a:gd name="T11" fmla="*/ 2147483646 h 920"/>
              <a:gd name="T12" fmla="*/ 2147483646 w 1011"/>
              <a:gd name="T13" fmla="*/ 2147483646 h 920"/>
              <a:gd name="T14" fmla="*/ 2147483646 w 1011"/>
              <a:gd name="T15" fmla="*/ 2147483646 h 920"/>
              <a:gd name="T16" fmla="*/ 2147483646 w 1011"/>
              <a:gd name="T17" fmla="*/ 2147483646 h 920"/>
              <a:gd name="T18" fmla="*/ 2147483646 w 1011"/>
              <a:gd name="T19" fmla="*/ 2147483646 h 920"/>
              <a:gd name="T20" fmla="*/ 2147483646 w 1011"/>
              <a:gd name="T21" fmla="*/ 2147483646 h 920"/>
              <a:gd name="T22" fmla="*/ 2147483646 w 1011"/>
              <a:gd name="T23" fmla="*/ 2147483646 h 920"/>
              <a:gd name="T24" fmla="*/ 2147483646 w 1011"/>
              <a:gd name="T25" fmla="*/ 2147483646 h 920"/>
              <a:gd name="T26" fmla="*/ 2147483646 w 1011"/>
              <a:gd name="T27" fmla="*/ 2147483646 h 920"/>
              <a:gd name="T28" fmla="*/ 2147483646 w 1011"/>
              <a:gd name="T29" fmla="*/ 2147483646 h 920"/>
              <a:gd name="T30" fmla="*/ 2147483646 w 1011"/>
              <a:gd name="T31" fmla="*/ 1984776638 h 920"/>
              <a:gd name="T32" fmla="*/ 2147483646 w 1011"/>
              <a:gd name="T33" fmla="*/ 1979104500 h 920"/>
              <a:gd name="T34" fmla="*/ 2147483646 w 1011"/>
              <a:gd name="T35" fmla="*/ 1020741863 h 920"/>
              <a:gd name="T36" fmla="*/ 2147483646 w 1011"/>
              <a:gd name="T37" fmla="*/ 969704531 h 920"/>
              <a:gd name="T38" fmla="*/ 2147483646 w 1011"/>
              <a:gd name="T39" fmla="*/ 930009094 h 920"/>
              <a:gd name="T40" fmla="*/ 2147483646 w 1011"/>
              <a:gd name="T41" fmla="*/ 884643900 h 920"/>
              <a:gd name="T42" fmla="*/ 2147483646 w 1011"/>
              <a:gd name="T43" fmla="*/ 850618219 h 920"/>
              <a:gd name="T44" fmla="*/ 2147483646 w 1011"/>
              <a:gd name="T45" fmla="*/ 816592538 h 920"/>
              <a:gd name="T46" fmla="*/ 2147483646 w 1011"/>
              <a:gd name="T47" fmla="*/ 788238994 h 920"/>
              <a:gd name="T48" fmla="*/ 2147483646 w 1011"/>
              <a:gd name="T49" fmla="*/ 776897100 h 920"/>
              <a:gd name="T50" fmla="*/ 2147483646 w 1011"/>
              <a:gd name="T51" fmla="*/ 782569238 h 920"/>
              <a:gd name="T52" fmla="*/ 2147483646 w 1011"/>
              <a:gd name="T53" fmla="*/ 799580888 h 920"/>
              <a:gd name="T54" fmla="*/ 2147483646 w 1011"/>
              <a:gd name="T55" fmla="*/ 1117144388 h 920"/>
              <a:gd name="T56" fmla="*/ 2147483646 w 1011"/>
              <a:gd name="T57" fmla="*/ 1139828175 h 920"/>
              <a:gd name="T58" fmla="*/ 2102840788 w 1011"/>
              <a:gd name="T59" fmla="*/ 1105804875 h 920"/>
              <a:gd name="T60" fmla="*/ 2068831087 w 1011"/>
              <a:gd name="T61" fmla="*/ 1032083756 h 920"/>
              <a:gd name="T62" fmla="*/ 2068831087 w 1011"/>
              <a:gd name="T63" fmla="*/ 969704531 h 920"/>
              <a:gd name="T64" fmla="*/ 2102840788 w 1011"/>
              <a:gd name="T65" fmla="*/ 839276325 h 920"/>
              <a:gd name="T66" fmla="*/ 2102840788 w 1011"/>
              <a:gd name="T67" fmla="*/ 334577531 h 920"/>
              <a:gd name="T68" fmla="*/ 2057495313 w 1011"/>
              <a:gd name="T69" fmla="*/ 272198306 h 920"/>
              <a:gd name="T70" fmla="*/ 2017820105 w 1011"/>
              <a:gd name="T71" fmla="*/ 232502869 h 920"/>
              <a:gd name="T72" fmla="*/ 1955470968 w 1011"/>
              <a:gd name="T73" fmla="*/ 175793400 h 920"/>
              <a:gd name="T74" fmla="*/ 1836442963 w 1011"/>
              <a:gd name="T75" fmla="*/ 102074663 h 920"/>
              <a:gd name="T76" fmla="*/ 1751422279 w 1011"/>
              <a:gd name="T77" fmla="*/ 62379225 h 920"/>
              <a:gd name="T78" fmla="*/ 1655065821 w 1011"/>
              <a:gd name="T79" fmla="*/ 34025681 h 920"/>
              <a:gd name="T80" fmla="*/ 1354660675 w 1011"/>
              <a:gd name="T81" fmla="*/ 5669756 h 920"/>
              <a:gd name="T82" fmla="*/ 1258304217 w 1011"/>
              <a:gd name="T83" fmla="*/ 11341894 h 920"/>
              <a:gd name="T84" fmla="*/ 1178951420 w 1011"/>
              <a:gd name="T85" fmla="*/ 28353544 h 920"/>
              <a:gd name="T86" fmla="*/ 714172792 w 1011"/>
              <a:gd name="T87" fmla="*/ 357258938 h 920"/>
              <a:gd name="T88" fmla="*/ 1054253147 w 1011"/>
              <a:gd name="T89" fmla="*/ 1054767544 h 920"/>
              <a:gd name="T90" fmla="*/ 1400003770 w 1011"/>
              <a:gd name="T91" fmla="*/ 1451721919 h 920"/>
              <a:gd name="T92" fmla="*/ 51013363 w 1011"/>
              <a:gd name="T93" fmla="*/ 2147483646 h 920"/>
              <a:gd name="T94" fmla="*/ 1445349245 w 1011"/>
              <a:gd name="T95" fmla="*/ 2147483646 h 920"/>
              <a:gd name="T96" fmla="*/ 1485024454 w 1011"/>
              <a:gd name="T97" fmla="*/ 2147483646 h 920"/>
              <a:gd name="T98" fmla="*/ 1536037816 w 1011"/>
              <a:gd name="T99" fmla="*/ 2147483646 h 920"/>
              <a:gd name="T100" fmla="*/ 1638062161 w 1011"/>
              <a:gd name="T101" fmla="*/ 2147483646 h 920"/>
              <a:gd name="T102" fmla="*/ 1864782397 w 1011"/>
              <a:gd name="T103" fmla="*/ 2147483646 h 920"/>
              <a:gd name="T104" fmla="*/ 1949803081 w 1011"/>
              <a:gd name="T105" fmla="*/ 2147483646 h 920"/>
              <a:gd name="T106" fmla="*/ 2046159539 w 1011"/>
              <a:gd name="T107" fmla="*/ 2147483646 h 920"/>
              <a:gd name="T108" fmla="*/ 2131180223 w 1011"/>
              <a:gd name="T109" fmla="*/ 2147483646 h 920"/>
              <a:gd name="T110" fmla="*/ 2147483646 w 1011"/>
              <a:gd name="T111" fmla="*/ 2147483646 h 920"/>
              <a:gd name="T112" fmla="*/ 2147483646 w 1011"/>
              <a:gd name="T113" fmla="*/ 2147483646 h 920"/>
              <a:gd name="T114" fmla="*/ 2147483646 w 1011"/>
              <a:gd name="T115" fmla="*/ 2147483646 h 92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011" h="920">
                <a:moveTo>
                  <a:pt x="1010" y="630"/>
                </a:moveTo>
                <a:cubicBezTo>
                  <a:pt x="1008" y="618"/>
                  <a:pt x="1004" y="607"/>
                  <a:pt x="997" y="595"/>
                </a:cubicBezTo>
                <a:cubicBezTo>
                  <a:pt x="914" y="468"/>
                  <a:pt x="914" y="468"/>
                  <a:pt x="914" y="468"/>
                </a:cubicBezTo>
                <a:cubicBezTo>
                  <a:pt x="914" y="467"/>
                  <a:pt x="914" y="467"/>
                  <a:pt x="913" y="466"/>
                </a:cubicBezTo>
                <a:cubicBezTo>
                  <a:pt x="913" y="466"/>
                  <a:pt x="912" y="465"/>
                  <a:pt x="912" y="464"/>
                </a:cubicBezTo>
                <a:cubicBezTo>
                  <a:pt x="911" y="463"/>
                  <a:pt x="910" y="462"/>
                  <a:pt x="909" y="460"/>
                </a:cubicBezTo>
                <a:cubicBezTo>
                  <a:pt x="908" y="459"/>
                  <a:pt x="906" y="457"/>
                  <a:pt x="905" y="455"/>
                </a:cubicBezTo>
                <a:cubicBezTo>
                  <a:pt x="904" y="454"/>
                  <a:pt x="904" y="454"/>
                  <a:pt x="904" y="454"/>
                </a:cubicBezTo>
                <a:cubicBezTo>
                  <a:pt x="904" y="454"/>
                  <a:pt x="904" y="454"/>
                  <a:pt x="904" y="454"/>
                </a:cubicBezTo>
                <a:cubicBezTo>
                  <a:pt x="903" y="453"/>
                  <a:pt x="903" y="453"/>
                  <a:pt x="903" y="453"/>
                </a:cubicBezTo>
                <a:cubicBezTo>
                  <a:pt x="903" y="453"/>
                  <a:pt x="903" y="453"/>
                  <a:pt x="903" y="453"/>
                </a:cubicBezTo>
                <a:cubicBezTo>
                  <a:pt x="902" y="452"/>
                  <a:pt x="902" y="452"/>
                  <a:pt x="902" y="452"/>
                </a:cubicBezTo>
                <a:cubicBezTo>
                  <a:pt x="902" y="451"/>
                  <a:pt x="902" y="451"/>
                  <a:pt x="902" y="451"/>
                </a:cubicBezTo>
                <a:cubicBezTo>
                  <a:pt x="901" y="451"/>
                  <a:pt x="901" y="451"/>
                  <a:pt x="901" y="450"/>
                </a:cubicBezTo>
                <a:cubicBezTo>
                  <a:pt x="900" y="450"/>
                  <a:pt x="900" y="449"/>
                  <a:pt x="899" y="449"/>
                </a:cubicBezTo>
                <a:cubicBezTo>
                  <a:pt x="899" y="448"/>
                  <a:pt x="899" y="448"/>
                  <a:pt x="899" y="448"/>
                </a:cubicBezTo>
                <a:cubicBezTo>
                  <a:pt x="898" y="448"/>
                  <a:pt x="898" y="448"/>
                  <a:pt x="898" y="448"/>
                </a:cubicBezTo>
                <a:cubicBezTo>
                  <a:pt x="897" y="447"/>
                  <a:pt x="897" y="447"/>
                  <a:pt x="897" y="447"/>
                </a:cubicBezTo>
                <a:cubicBezTo>
                  <a:pt x="897" y="447"/>
                  <a:pt x="897" y="446"/>
                  <a:pt x="896" y="446"/>
                </a:cubicBezTo>
                <a:cubicBezTo>
                  <a:pt x="896" y="446"/>
                  <a:pt x="895" y="445"/>
                  <a:pt x="895" y="445"/>
                </a:cubicBezTo>
                <a:cubicBezTo>
                  <a:pt x="895" y="445"/>
                  <a:pt x="894" y="444"/>
                  <a:pt x="894" y="444"/>
                </a:cubicBezTo>
                <a:cubicBezTo>
                  <a:pt x="894" y="444"/>
                  <a:pt x="893" y="443"/>
                  <a:pt x="893" y="443"/>
                </a:cubicBezTo>
                <a:cubicBezTo>
                  <a:pt x="892" y="443"/>
                  <a:pt x="892" y="443"/>
                  <a:pt x="892" y="442"/>
                </a:cubicBezTo>
                <a:cubicBezTo>
                  <a:pt x="891" y="442"/>
                  <a:pt x="891" y="442"/>
                  <a:pt x="890" y="441"/>
                </a:cubicBezTo>
                <a:cubicBezTo>
                  <a:pt x="890" y="441"/>
                  <a:pt x="890" y="441"/>
                  <a:pt x="889" y="441"/>
                </a:cubicBezTo>
                <a:cubicBezTo>
                  <a:pt x="889" y="441"/>
                  <a:pt x="889" y="440"/>
                  <a:pt x="888" y="440"/>
                </a:cubicBezTo>
                <a:cubicBezTo>
                  <a:pt x="888" y="440"/>
                  <a:pt x="888" y="440"/>
                  <a:pt x="887" y="439"/>
                </a:cubicBezTo>
                <a:cubicBezTo>
                  <a:pt x="886" y="439"/>
                  <a:pt x="886" y="439"/>
                  <a:pt x="885" y="438"/>
                </a:cubicBezTo>
                <a:cubicBezTo>
                  <a:pt x="884" y="438"/>
                  <a:pt x="883" y="438"/>
                  <a:pt x="883" y="437"/>
                </a:cubicBezTo>
                <a:cubicBezTo>
                  <a:pt x="882" y="437"/>
                  <a:pt x="880" y="437"/>
                  <a:pt x="879" y="436"/>
                </a:cubicBezTo>
                <a:cubicBezTo>
                  <a:pt x="878" y="436"/>
                  <a:pt x="876" y="436"/>
                  <a:pt x="874" y="435"/>
                </a:cubicBezTo>
                <a:cubicBezTo>
                  <a:pt x="873" y="435"/>
                  <a:pt x="873" y="435"/>
                  <a:pt x="873" y="435"/>
                </a:cubicBezTo>
                <a:cubicBezTo>
                  <a:pt x="872" y="435"/>
                  <a:pt x="872" y="435"/>
                  <a:pt x="872" y="435"/>
                </a:cubicBezTo>
                <a:cubicBezTo>
                  <a:pt x="871" y="435"/>
                  <a:pt x="871" y="435"/>
                  <a:pt x="871" y="435"/>
                </a:cubicBezTo>
                <a:cubicBezTo>
                  <a:pt x="871" y="435"/>
                  <a:pt x="871" y="435"/>
                  <a:pt x="870" y="435"/>
                </a:cubicBezTo>
                <a:cubicBezTo>
                  <a:pt x="870" y="435"/>
                  <a:pt x="870" y="435"/>
                  <a:pt x="869" y="435"/>
                </a:cubicBezTo>
                <a:cubicBezTo>
                  <a:pt x="869" y="435"/>
                  <a:pt x="868" y="435"/>
                  <a:pt x="867" y="436"/>
                </a:cubicBezTo>
                <a:cubicBezTo>
                  <a:pt x="866" y="436"/>
                  <a:pt x="865" y="436"/>
                  <a:pt x="863" y="437"/>
                </a:cubicBezTo>
                <a:cubicBezTo>
                  <a:pt x="862" y="437"/>
                  <a:pt x="859" y="438"/>
                  <a:pt x="857" y="439"/>
                </a:cubicBezTo>
                <a:cubicBezTo>
                  <a:pt x="856" y="439"/>
                  <a:pt x="856" y="439"/>
                  <a:pt x="856" y="439"/>
                </a:cubicBezTo>
                <a:cubicBezTo>
                  <a:pt x="855" y="439"/>
                  <a:pt x="855" y="440"/>
                  <a:pt x="855" y="440"/>
                </a:cubicBezTo>
                <a:cubicBezTo>
                  <a:pt x="854" y="440"/>
                  <a:pt x="854" y="441"/>
                  <a:pt x="853" y="441"/>
                </a:cubicBezTo>
                <a:cubicBezTo>
                  <a:pt x="853" y="441"/>
                  <a:pt x="852" y="442"/>
                  <a:pt x="851" y="442"/>
                </a:cubicBezTo>
                <a:cubicBezTo>
                  <a:pt x="850" y="443"/>
                  <a:pt x="850" y="443"/>
                  <a:pt x="850" y="443"/>
                </a:cubicBezTo>
                <a:cubicBezTo>
                  <a:pt x="850" y="443"/>
                  <a:pt x="850" y="443"/>
                  <a:pt x="850" y="443"/>
                </a:cubicBezTo>
                <a:cubicBezTo>
                  <a:pt x="849" y="444"/>
                  <a:pt x="849" y="444"/>
                  <a:pt x="848" y="445"/>
                </a:cubicBezTo>
                <a:cubicBezTo>
                  <a:pt x="848" y="445"/>
                  <a:pt x="847" y="446"/>
                  <a:pt x="846" y="446"/>
                </a:cubicBezTo>
                <a:cubicBezTo>
                  <a:pt x="845" y="447"/>
                  <a:pt x="845" y="447"/>
                  <a:pt x="845" y="447"/>
                </a:cubicBezTo>
                <a:cubicBezTo>
                  <a:pt x="845" y="448"/>
                  <a:pt x="845" y="448"/>
                  <a:pt x="845" y="448"/>
                </a:cubicBezTo>
                <a:cubicBezTo>
                  <a:pt x="844" y="449"/>
                  <a:pt x="844" y="449"/>
                  <a:pt x="844" y="449"/>
                </a:cubicBezTo>
                <a:cubicBezTo>
                  <a:pt x="843" y="449"/>
                  <a:pt x="843" y="449"/>
                  <a:pt x="842" y="450"/>
                </a:cubicBezTo>
                <a:cubicBezTo>
                  <a:pt x="842" y="451"/>
                  <a:pt x="842" y="451"/>
                  <a:pt x="842" y="451"/>
                </a:cubicBezTo>
                <a:cubicBezTo>
                  <a:pt x="841" y="451"/>
                  <a:pt x="841" y="451"/>
                  <a:pt x="841" y="451"/>
                </a:cubicBezTo>
                <a:cubicBezTo>
                  <a:pt x="840" y="452"/>
                  <a:pt x="840" y="452"/>
                  <a:pt x="840" y="452"/>
                </a:cubicBezTo>
                <a:cubicBezTo>
                  <a:pt x="840" y="453"/>
                  <a:pt x="840" y="453"/>
                  <a:pt x="839" y="453"/>
                </a:cubicBezTo>
                <a:cubicBezTo>
                  <a:pt x="839" y="454"/>
                  <a:pt x="839" y="454"/>
                  <a:pt x="838" y="455"/>
                </a:cubicBezTo>
                <a:cubicBezTo>
                  <a:pt x="838" y="455"/>
                  <a:pt x="837" y="456"/>
                  <a:pt x="837" y="456"/>
                </a:cubicBezTo>
                <a:cubicBezTo>
                  <a:pt x="837" y="457"/>
                  <a:pt x="836" y="457"/>
                  <a:pt x="836" y="458"/>
                </a:cubicBezTo>
                <a:cubicBezTo>
                  <a:pt x="836" y="458"/>
                  <a:pt x="835" y="459"/>
                  <a:pt x="835" y="459"/>
                </a:cubicBezTo>
                <a:cubicBezTo>
                  <a:pt x="834" y="460"/>
                  <a:pt x="834" y="460"/>
                  <a:pt x="834" y="460"/>
                </a:cubicBezTo>
                <a:cubicBezTo>
                  <a:pt x="834" y="461"/>
                  <a:pt x="834" y="461"/>
                  <a:pt x="834" y="461"/>
                </a:cubicBezTo>
                <a:cubicBezTo>
                  <a:pt x="833" y="462"/>
                  <a:pt x="833" y="462"/>
                  <a:pt x="833" y="462"/>
                </a:cubicBezTo>
                <a:cubicBezTo>
                  <a:pt x="832" y="463"/>
                  <a:pt x="832" y="463"/>
                  <a:pt x="832" y="463"/>
                </a:cubicBezTo>
                <a:cubicBezTo>
                  <a:pt x="832" y="463"/>
                  <a:pt x="832" y="463"/>
                  <a:pt x="832" y="463"/>
                </a:cubicBezTo>
                <a:cubicBezTo>
                  <a:pt x="831" y="464"/>
                  <a:pt x="831" y="464"/>
                  <a:pt x="831" y="464"/>
                </a:cubicBezTo>
                <a:cubicBezTo>
                  <a:pt x="831" y="465"/>
                  <a:pt x="831" y="465"/>
                  <a:pt x="831" y="465"/>
                </a:cubicBezTo>
                <a:cubicBezTo>
                  <a:pt x="830" y="466"/>
                  <a:pt x="830" y="466"/>
                  <a:pt x="830" y="466"/>
                </a:cubicBezTo>
                <a:cubicBezTo>
                  <a:pt x="830" y="467"/>
                  <a:pt x="830" y="467"/>
                  <a:pt x="830" y="467"/>
                </a:cubicBezTo>
                <a:cubicBezTo>
                  <a:pt x="829" y="468"/>
                  <a:pt x="829" y="468"/>
                  <a:pt x="829" y="468"/>
                </a:cubicBezTo>
                <a:cubicBezTo>
                  <a:pt x="829" y="468"/>
                  <a:pt x="829" y="468"/>
                  <a:pt x="829" y="469"/>
                </a:cubicBezTo>
                <a:cubicBezTo>
                  <a:pt x="828" y="469"/>
                  <a:pt x="828" y="469"/>
                  <a:pt x="828" y="470"/>
                </a:cubicBezTo>
                <a:cubicBezTo>
                  <a:pt x="827" y="471"/>
                  <a:pt x="827" y="471"/>
                  <a:pt x="827" y="471"/>
                </a:cubicBezTo>
                <a:cubicBezTo>
                  <a:pt x="827" y="472"/>
                  <a:pt x="827" y="472"/>
                  <a:pt x="827" y="472"/>
                </a:cubicBezTo>
                <a:cubicBezTo>
                  <a:pt x="827" y="472"/>
                  <a:pt x="826" y="473"/>
                  <a:pt x="826" y="473"/>
                </a:cubicBezTo>
                <a:cubicBezTo>
                  <a:pt x="826" y="473"/>
                  <a:pt x="826" y="474"/>
                  <a:pt x="825" y="474"/>
                </a:cubicBezTo>
                <a:cubicBezTo>
                  <a:pt x="825" y="475"/>
                  <a:pt x="825" y="475"/>
                  <a:pt x="825" y="475"/>
                </a:cubicBezTo>
                <a:cubicBezTo>
                  <a:pt x="824" y="476"/>
                  <a:pt x="824" y="476"/>
                  <a:pt x="824" y="476"/>
                </a:cubicBezTo>
                <a:cubicBezTo>
                  <a:pt x="824" y="476"/>
                  <a:pt x="824" y="477"/>
                  <a:pt x="824" y="477"/>
                </a:cubicBezTo>
                <a:cubicBezTo>
                  <a:pt x="824" y="477"/>
                  <a:pt x="824" y="478"/>
                  <a:pt x="823" y="478"/>
                </a:cubicBezTo>
                <a:cubicBezTo>
                  <a:pt x="823" y="479"/>
                  <a:pt x="823" y="479"/>
                  <a:pt x="823" y="479"/>
                </a:cubicBezTo>
                <a:cubicBezTo>
                  <a:pt x="823" y="480"/>
                  <a:pt x="823" y="480"/>
                  <a:pt x="823" y="480"/>
                </a:cubicBezTo>
                <a:cubicBezTo>
                  <a:pt x="822" y="481"/>
                  <a:pt x="822" y="481"/>
                  <a:pt x="822" y="481"/>
                </a:cubicBezTo>
                <a:cubicBezTo>
                  <a:pt x="822" y="481"/>
                  <a:pt x="822" y="482"/>
                  <a:pt x="822" y="482"/>
                </a:cubicBezTo>
                <a:cubicBezTo>
                  <a:pt x="821" y="483"/>
                  <a:pt x="821" y="483"/>
                  <a:pt x="821" y="483"/>
                </a:cubicBezTo>
                <a:cubicBezTo>
                  <a:pt x="821" y="484"/>
                  <a:pt x="821" y="484"/>
                  <a:pt x="821" y="484"/>
                </a:cubicBezTo>
                <a:cubicBezTo>
                  <a:pt x="820" y="485"/>
                  <a:pt x="820" y="485"/>
                  <a:pt x="820" y="485"/>
                </a:cubicBezTo>
                <a:cubicBezTo>
                  <a:pt x="820" y="485"/>
                  <a:pt x="820" y="485"/>
                  <a:pt x="820" y="485"/>
                </a:cubicBezTo>
                <a:cubicBezTo>
                  <a:pt x="817" y="492"/>
                  <a:pt x="814" y="498"/>
                  <a:pt x="809" y="504"/>
                </a:cubicBezTo>
                <a:cubicBezTo>
                  <a:pt x="805" y="510"/>
                  <a:pt x="800" y="515"/>
                  <a:pt x="794" y="521"/>
                </a:cubicBezTo>
                <a:cubicBezTo>
                  <a:pt x="788" y="526"/>
                  <a:pt x="782" y="530"/>
                  <a:pt x="775" y="535"/>
                </a:cubicBezTo>
                <a:cubicBezTo>
                  <a:pt x="767" y="539"/>
                  <a:pt x="759" y="543"/>
                  <a:pt x="751" y="546"/>
                </a:cubicBezTo>
                <a:cubicBezTo>
                  <a:pt x="750" y="546"/>
                  <a:pt x="750" y="546"/>
                  <a:pt x="749" y="546"/>
                </a:cubicBezTo>
                <a:cubicBezTo>
                  <a:pt x="749" y="546"/>
                  <a:pt x="748" y="546"/>
                  <a:pt x="747" y="547"/>
                </a:cubicBezTo>
                <a:cubicBezTo>
                  <a:pt x="747" y="547"/>
                  <a:pt x="746" y="547"/>
                  <a:pt x="745" y="547"/>
                </a:cubicBezTo>
                <a:cubicBezTo>
                  <a:pt x="744" y="548"/>
                  <a:pt x="743" y="548"/>
                  <a:pt x="742" y="548"/>
                </a:cubicBezTo>
                <a:cubicBezTo>
                  <a:pt x="742" y="548"/>
                  <a:pt x="741" y="549"/>
                  <a:pt x="741" y="549"/>
                </a:cubicBezTo>
                <a:cubicBezTo>
                  <a:pt x="740" y="549"/>
                  <a:pt x="739" y="549"/>
                  <a:pt x="738" y="549"/>
                </a:cubicBezTo>
                <a:cubicBezTo>
                  <a:pt x="736" y="550"/>
                  <a:pt x="734" y="550"/>
                  <a:pt x="731" y="551"/>
                </a:cubicBezTo>
                <a:cubicBezTo>
                  <a:pt x="728" y="551"/>
                  <a:pt x="724" y="552"/>
                  <a:pt x="719" y="553"/>
                </a:cubicBezTo>
                <a:cubicBezTo>
                  <a:pt x="719" y="553"/>
                  <a:pt x="718" y="553"/>
                  <a:pt x="718" y="553"/>
                </a:cubicBezTo>
                <a:cubicBezTo>
                  <a:pt x="717" y="553"/>
                  <a:pt x="717" y="553"/>
                  <a:pt x="715" y="554"/>
                </a:cubicBezTo>
                <a:cubicBezTo>
                  <a:pt x="714" y="554"/>
                  <a:pt x="713" y="554"/>
                  <a:pt x="711" y="554"/>
                </a:cubicBezTo>
                <a:cubicBezTo>
                  <a:pt x="708" y="554"/>
                  <a:pt x="706" y="554"/>
                  <a:pt x="702" y="555"/>
                </a:cubicBezTo>
                <a:cubicBezTo>
                  <a:pt x="701" y="555"/>
                  <a:pt x="701" y="555"/>
                  <a:pt x="700" y="555"/>
                </a:cubicBezTo>
                <a:cubicBezTo>
                  <a:pt x="699" y="555"/>
                  <a:pt x="699" y="555"/>
                  <a:pt x="698" y="555"/>
                </a:cubicBezTo>
                <a:cubicBezTo>
                  <a:pt x="698" y="555"/>
                  <a:pt x="697" y="555"/>
                  <a:pt x="696" y="555"/>
                </a:cubicBezTo>
                <a:cubicBezTo>
                  <a:pt x="695" y="555"/>
                  <a:pt x="695" y="555"/>
                  <a:pt x="694" y="555"/>
                </a:cubicBezTo>
                <a:cubicBezTo>
                  <a:pt x="690" y="555"/>
                  <a:pt x="687" y="555"/>
                  <a:pt x="683" y="554"/>
                </a:cubicBezTo>
                <a:cubicBezTo>
                  <a:pt x="680" y="554"/>
                  <a:pt x="676" y="554"/>
                  <a:pt x="673" y="553"/>
                </a:cubicBezTo>
                <a:cubicBezTo>
                  <a:pt x="669" y="553"/>
                  <a:pt x="666" y="552"/>
                  <a:pt x="662" y="552"/>
                </a:cubicBezTo>
                <a:cubicBezTo>
                  <a:pt x="659" y="551"/>
                  <a:pt x="655" y="550"/>
                  <a:pt x="651" y="549"/>
                </a:cubicBezTo>
                <a:cubicBezTo>
                  <a:pt x="651" y="549"/>
                  <a:pt x="651" y="549"/>
                  <a:pt x="650" y="549"/>
                </a:cubicBezTo>
                <a:cubicBezTo>
                  <a:pt x="650" y="549"/>
                  <a:pt x="649" y="549"/>
                  <a:pt x="649" y="549"/>
                </a:cubicBezTo>
                <a:cubicBezTo>
                  <a:pt x="648" y="548"/>
                  <a:pt x="648" y="548"/>
                  <a:pt x="647" y="548"/>
                </a:cubicBezTo>
                <a:cubicBezTo>
                  <a:pt x="647" y="548"/>
                  <a:pt x="646" y="548"/>
                  <a:pt x="646" y="548"/>
                </a:cubicBezTo>
                <a:cubicBezTo>
                  <a:pt x="645" y="548"/>
                  <a:pt x="645" y="548"/>
                  <a:pt x="645" y="548"/>
                </a:cubicBezTo>
                <a:cubicBezTo>
                  <a:pt x="644" y="547"/>
                  <a:pt x="644" y="547"/>
                  <a:pt x="644" y="547"/>
                </a:cubicBezTo>
                <a:cubicBezTo>
                  <a:pt x="643" y="547"/>
                  <a:pt x="643" y="547"/>
                  <a:pt x="643" y="547"/>
                </a:cubicBezTo>
                <a:cubicBezTo>
                  <a:pt x="643" y="547"/>
                  <a:pt x="643" y="547"/>
                  <a:pt x="643" y="547"/>
                </a:cubicBezTo>
                <a:cubicBezTo>
                  <a:pt x="642" y="547"/>
                  <a:pt x="642" y="546"/>
                  <a:pt x="641" y="546"/>
                </a:cubicBezTo>
                <a:cubicBezTo>
                  <a:pt x="641" y="546"/>
                  <a:pt x="640" y="546"/>
                  <a:pt x="640" y="546"/>
                </a:cubicBezTo>
                <a:cubicBezTo>
                  <a:pt x="639" y="546"/>
                  <a:pt x="638" y="545"/>
                  <a:pt x="638" y="545"/>
                </a:cubicBezTo>
                <a:cubicBezTo>
                  <a:pt x="637" y="545"/>
                  <a:pt x="636" y="545"/>
                  <a:pt x="635" y="544"/>
                </a:cubicBezTo>
                <a:cubicBezTo>
                  <a:pt x="632" y="543"/>
                  <a:pt x="630" y="542"/>
                  <a:pt x="627" y="541"/>
                </a:cubicBezTo>
                <a:cubicBezTo>
                  <a:pt x="624" y="540"/>
                  <a:pt x="621" y="538"/>
                  <a:pt x="618" y="537"/>
                </a:cubicBezTo>
                <a:cubicBezTo>
                  <a:pt x="616" y="536"/>
                  <a:pt x="613" y="534"/>
                  <a:pt x="610" y="533"/>
                </a:cubicBezTo>
                <a:cubicBezTo>
                  <a:pt x="608" y="531"/>
                  <a:pt x="605" y="530"/>
                  <a:pt x="603" y="528"/>
                </a:cubicBezTo>
                <a:cubicBezTo>
                  <a:pt x="602" y="528"/>
                  <a:pt x="602" y="527"/>
                  <a:pt x="601" y="527"/>
                </a:cubicBezTo>
                <a:cubicBezTo>
                  <a:pt x="601" y="527"/>
                  <a:pt x="600" y="526"/>
                  <a:pt x="600" y="526"/>
                </a:cubicBezTo>
                <a:cubicBezTo>
                  <a:pt x="599" y="526"/>
                  <a:pt x="599" y="525"/>
                  <a:pt x="598" y="525"/>
                </a:cubicBezTo>
                <a:cubicBezTo>
                  <a:pt x="598" y="525"/>
                  <a:pt x="597" y="524"/>
                  <a:pt x="597" y="524"/>
                </a:cubicBezTo>
                <a:cubicBezTo>
                  <a:pt x="596" y="523"/>
                  <a:pt x="596" y="523"/>
                  <a:pt x="595" y="523"/>
                </a:cubicBezTo>
                <a:cubicBezTo>
                  <a:pt x="595" y="522"/>
                  <a:pt x="594" y="522"/>
                  <a:pt x="593" y="521"/>
                </a:cubicBezTo>
                <a:cubicBezTo>
                  <a:pt x="593" y="521"/>
                  <a:pt x="592" y="521"/>
                  <a:pt x="592" y="520"/>
                </a:cubicBezTo>
                <a:cubicBezTo>
                  <a:pt x="591" y="520"/>
                  <a:pt x="591" y="519"/>
                  <a:pt x="590" y="519"/>
                </a:cubicBezTo>
                <a:cubicBezTo>
                  <a:pt x="590" y="519"/>
                  <a:pt x="590" y="518"/>
                  <a:pt x="589" y="518"/>
                </a:cubicBezTo>
                <a:cubicBezTo>
                  <a:pt x="589" y="517"/>
                  <a:pt x="588" y="517"/>
                  <a:pt x="587" y="516"/>
                </a:cubicBezTo>
                <a:cubicBezTo>
                  <a:pt x="586" y="515"/>
                  <a:pt x="584" y="513"/>
                  <a:pt x="582" y="511"/>
                </a:cubicBezTo>
                <a:cubicBezTo>
                  <a:pt x="580" y="509"/>
                  <a:pt x="578" y="507"/>
                  <a:pt x="574" y="503"/>
                </a:cubicBezTo>
                <a:cubicBezTo>
                  <a:pt x="558" y="476"/>
                  <a:pt x="558" y="476"/>
                  <a:pt x="558" y="476"/>
                </a:cubicBezTo>
                <a:cubicBezTo>
                  <a:pt x="552" y="463"/>
                  <a:pt x="550" y="450"/>
                  <a:pt x="551" y="438"/>
                </a:cubicBezTo>
                <a:cubicBezTo>
                  <a:pt x="552" y="425"/>
                  <a:pt x="556" y="413"/>
                  <a:pt x="562" y="401"/>
                </a:cubicBezTo>
                <a:cubicBezTo>
                  <a:pt x="568" y="390"/>
                  <a:pt x="577" y="380"/>
                  <a:pt x="588" y="371"/>
                </a:cubicBezTo>
                <a:cubicBezTo>
                  <a:pt x="599" y="362"/>
                  <a:pt x="613" y="355"/>
                  <a:pt x="628" y="350"/>
                </a:cubicBezTo>
                <a:cubicBezTo>
                  <a:pt x="637" y="347"/>
                  <a:pt x="645" y="344"/>
                  <a:pt x="654" y="343"/>
                </a:cubicBezTo>
                <a:cubicBezTo>
                  <a:pt x="663" y="342"/>
                  <a:pt x="672" y="341"/>
                  <a:pt x="681" y="341"/>
                </a:cubicBezTo>
                <a:cubicBezTo>
                  <a:pt x="689" y="341"/>
                  <a:pt x="698" y="341"/>
                  <a:pt x="707" y="342"/>
                </a:cubicBezTo>
                <a:cubicBezTo>
                  <a:pt x="716" y="344"/>
                  <a:pt x="724" y="346"/>
                  <a:pt x="733" y="348"/>
                </a:cubicBezTo>
                <a:cubicBezTo>
                  <a:pt x="738" y="350"/>
                  <a:pt x="744" y="351"/>
                  <a:pt x="751" y="353"/>
                </a:cubicBezTo>
                <a:cubicBezTo>
                  <a:pt x="757" y="354"/>
                  <a:pt x="764" y="355"/>
                  <a:pt x="771" y="356"/>
                </a:cubicBezTo>
                <a:cubicBezTo>
                  <a:pt x="778" y="357"/>
                  <a:pt x="785" y="358"/>
                  <a:pt x="792" y="358"/>
                </a:cubicBezTo>
                <a:cubicBezTo>
                  <a:pt x="798" y="357"/>
                  <a:pt x="804" y="357"/>
                  <a:pt x="809" y="355"/>
                </a:cubicBezTo>
                <a:cubicBezTo>
                  <a:pt x="812" y="354"/>
                  <a:pt x="816" y="352"/>
                  <a:pt x="818" y="349"/>
                </a:cubicBezTo>
                <a:cubicBezTo>
                  <a:pt x="820" y="347"/>
                  <a:pt x="822" y="344"/>
                  <a:pt x="822" y="340"/>
                </a:cubicBezTo>
                <a:cubicBezTo>
                  <a:pt x="822" y="336"/>
                  <a:pt x="822" y="331"/>
                  <a:pt x="820" y="326"/>
                </a:cubicBezTo>
                <a:cubicBezTo>
                  <a:pt x="818" y="320"/>
                  <a:pt x="815" y="314"/>
                  <a:pt x="810" y="306"/>
                </a:cubicBezTo>
                <a:cubicBezTo>
                  <a:pt x="732" y="186"/>
                  <a:pt x="732" y="186"/>
                  <a:pt x="732" y="186"/>
                </a:cubicBezTo>
                <a:cubicBezTo>
                  <a:pt x="731" y="185"/>
                  <a:pt x="731" y="185"/>
                  <a:pt x="731" y="185"/>
                </a:cubicBezTo>
                <a:cubicBezTo>
                  <a:pt x="731" y="184"/>
                  <a:pt x="731" y="184"/>
                  <a:pt x="730" y="184"/>
                </a:cubicBezTo>
                <a:cubicBezTo>
                  <a:pt x="730" y="183"/>
                  <a:pt x="730" y="183"/>
                  <a:pt x="729" y="182"/>
                </a:cubicBezTo>
                <a:cubicBezTo>
                  <a:pt x="729" y="182"/>
                  <a:pt x="729" y="181"/>
                  <a:pt x="728" y="181"/>
                </a:cubicBezTo>
                <a:cubicBezTo>
                  <a:pt x="728" y="180"/>
                  <a:pt x="728" y="180"/>
                  <a:pt x="728" y="180"/>
                </a:cubicBezTo>
                <a:cubicBezTo>
                  <a:pt x="727" y="179"/>
                  <a:pt x="727" y="179"/>
                  <a:pt x="727" y="179"/>
                </a:cubicBezTo>
                <a:cubicBezTo>
                  <a:pt x="727" y="179"/>
                  <a:pt x="726" y="178"/>
                  <a:pt x="726" y="178"/>
                </a:cubicBezTo>
                <a:cubicBezTo>
                  <a:pt x="726" y="178"/>
                  <a:pt x="725" y="177"/>
                  <a:pt x="725" y="177"/>
                </a:cubicBezTo>
                <a:cubicBezTo>
                  <a:pt x="724" y="176"/>
                  <a:pt x="724" y="176"/>
                  <a:pt x="724" y="176"/>
                </a:cubicBezTo>
                <a:cubicBezTo>
                  <a:pt x="724" y="175"/>
                  <a:pt x="724" y="175"/>
                  <a:pt x="724" y="175"/>
                </a:cubicBezTo>
                <a:cubicBezTo>
                  <a:pt x="723" y="175"/>
                  <a:pt x="723" y="175"/>
                  <a:pt x="723" y="174"/>
                </a:cubicBezTo>
                <a:cubicBezTo>
                  <a:pt x="722" y="174"/>
                  <a:pt x="722" y="173"/>
                  <a:pt x="721" y="173"/>
                </a:cubicBezTo>
                <a:cubicBezTo>
                  <a:pt x="721" y="172"/>
                  <a:pt x="721" y="172"/>
                  <a:pt x="721" y="172"/>
                </a:cubicBezTo>
                <a:cubicBezTo>
                  <a:pt x="720" y="171"/>
                  <a:pt x="720" y="171"/>
                  <a:pt x="720" y="171"/>
                </a:cubicBezTo>
                <a:cubicBezTo>
                  <a:pt x="720" y="171"/>
                  <a:pt x="720" y="171"/>
                  <a:pt x="719" y="171"/>
                </a:cubicBezTo>
                <a:cubicBezTo>
                  <a:pt x="719" y="170"/>
                  <a:pt x="718" y="170"/>
                  <a:pt x="718" y="169"/>
                </a:cubicBezTo>
                <a:cubicBezTo>
                  <a:pt x="717" y="169"/>
                  <a:pt x="717" y="169"/>
                  <a:pt x="717" y="169"/>
                </a:cubicBezTo>
                <a:cubicBezTo>
                  <a:pt x="716" y="168"/>
                  <a:pt x="716" y="168"/>
                  <a:pt x="716" y="168"/>
                </a:cubicBezTo>
                <a:cubicBezTo>
                  <a:pt x="716" y="168"/>
                  <a:pt x="716" y="167"/>
                  <a:pt x="715" y="167"/>
                </a:cubicBezTo>
                <a:cubicBezTo>
                  <a:pt x="715" y="167"/>
                  <a:pt x="715" y="166"/>
                  <a:pt x="714" y="166"/>
                </a:cubicBezTo>
                <a:cubicBezTo>
                  <a:pt x="713" y="165"/>
                  <a:pt x="713" y="165"/>
                  <a:pt x="713" y="165"/>
                </a:cubicBezTo>
                <a:cubicBezTo>
                  <a:pt x="713" y="165"/>
                  <a:pt x="713" y="165"/>
                  <a:pt x="713" y="165"/>
                </a:cubicBezTo>
                <a:cubicBezTo>
                  <a:pt x="712" y="164"/>
                  <a:pt x="712" y="164"/>
                  <a:pt x="711" y="164"/>
                </a:cubicBezTo>
                <a:cubicBezTo>
                  <a:pt x="711" y="163"/>
                  <a:pt x="711" y="163"/>
                  <a:pt x="710" y="163"/>
                </a:cubicBezTo>
                <a:cubicBezTo>
                  <a:pt x="709" y="162"/>
                  <a:pt x="709" y="162"/>
                  <a:pt x="709" y="162"/>
                </a:cubicBezTo>
                <a:cubicBezTo>
                  <a:pt x="708" y="161"/>
                  <a:pt x="708" y="161"/>
                  <a:pt x="708" y="161"/>
                </a:cubicBezTo>
                <a:cubicBezTo>
                  <a:pt x="708" y="161"/>
                  <a:pt x="708" y="161"/>
                  <a:pt x="707" y="161"/>
                </a:cubicBezTo>
                <a:cubicBezTo>
                  <a:pt x="707" y="160"/>
                  <a:pt x="707" y="160"/>
                  <a:pt x="706" y="160"/>
                </a:cubicBezTo>
                <a:cubicBezTo>
                  <a:pt x="706" y="159"/>
                  <a:pt x="705" y="159"/>
                  <a:pt x="705" y="159"/>
                </a:cubicBezTo>
                <a:cubicBezTo>
                  <a:pt x="704" y="159"/>
                  <a:pt x="704" y="158"/>
                  <a:pt x="704" y="158"/>
                </a:cubicBezTo>
                <a:cubicBezTo>
                  <a:pt x="703" y="158"/>
                  <a:pt x="703" y="157"/>
                  <a:pt x="702" y="157"/>
                </a:cubicBezTo>
                <a:cubicBezTo>
                  <a:pt x="701" y="157"/>
                  <a:pt x="701" y="156"/>
                  <a:pt x="700" y="156"/>
                </a:cubicBezTo>
                <a:cubicBezTo>
                  <a:pt x="699" y="155"/>
                  <a:pt x="699" y="155"/>
                  <a:pt x="699" y="155"/>
                </a:cubicBezTo>
                <a:cubicBezTo>
                  <a:pt x="699" y="155"/>
                  <a:pt x="698" y="155"/>
                  <a:pt x="698" y="155"/>
                </a:cubicBezTo>
                <a:cubicBezTo>
                  <a:pt x="698" y="154"/>
                  <a:pt x="697" y="154"/>
                  <a:pt x="697" y="154"/>
                </a:cubicBezTo>
                <a:cubicBezTo>
                  <a:pt x="696" y="153"/>
                  <a:pt x="695" y="153"/>
                  <a:pt x="695" y="153"/>
                </a:cubicBezTo>
                <a:cubicBezTo>
                  <a:pt x="694" y="152"/>
                  <a:pt x="694" y="152"/>
                  <a:pt x="694" y="152"/>
                </a:cubicBezTo>
                <a:cubicBezTo>
                  <a:pt x="693" y="152"/>
                  <a:pt x="693" y="152"/>
                  <a:pt x="693" y="152"/>
                </a:cubicBezTo>
                <a:cubicBezTo>
                  <a:pt x="692" y="151"/>
                  <a:pt x="692" y="151"/>
                  <a:pt x="691" y="151"/>
                </a:cubicBezTo>
                <a:cubicBezTo>
                  <a:pt x="691" y="151"/>
                  <a:pt x="690" y="150"/>
                  <a:pt x="689" y="150"/>
                </a:cubicBezTo>
                <a:cubicBezTo>
                  <a:pt x="689" y="150"/>
                  <a:pt x="689" y="150"/>
                  <a:pt x="688" y="150"/>
                </a:cubicBezTo>
                <a:cubicBezTo>
                  <a:pt x="688" y="149"/>
                  <a:pt x="688" y="149"/>
                  <a:pt x="687" y="149"/>
                </a:cubicBezTo>
                <a:cubicBezTo>
                  <a:pt x="687" y="149"/>
                  <a:pt x="686" y="149"/>
                  <a:pt x="686" y="148"/>
                </a:cubicBezTo>
                <a:cubicBezTo>
                  <a:pt x="685" y="148"/>
                  <a:pt x="685" y="148"/>
                  <a:pt x="684" y="148"/>
                </a:cubicBezTo>
                <a:cubicBezTo>
                  <a:pt x="684" y="147"/>
                  <a:pt x="683" y="147"/>
                  <a:pt x="683" y="147"/>
                </a:cubicBezTo>
                <a:cubicBezTo>
                  <a:pt x="682" y="147"/>
                  <a:pt x="682" y="147"/>
                  <a:pt x="681" y="147"/>
                </a:cubicBezTo>
                <a:cubicBezTo>
                  <a:pt x="681" y="146"/>
                  <a:pt x="680" y="146"/>
                  <a:pt x="680" y="146"/>
                </a:cubicBezTo>
                <a:cubicBezTo>
                  <a:pt x="679" y="146"/>
                  <a:pt x="679" y="146"/>
                  <a:pt x="678" y="145"/>
                </a:cubicBezTo>
                <a:cubicBezTo>
                  <a:pt x="678" y="145"/>
                  <a:pt x="677" y="145"/>
                  <a:pt x="677" y="145"/>
                </a:cubicBezTo>
                <a:cubicBezTo>
                  <a:pt x="676" y="145"/>
                  <a:pt x="676" y="145"/>
                  <a:pt x="675" y="144"/>
                </a:cubicBezTo>
                <a:cubicBezTo>
                  <a:pt x="675" y="144"/>
                  <a:pt x="675" y="144"/>
                  <a:pt x="674" y="144"/>
                </a:cubicBezTo>
                <a:cubicBezTo>
                  <a:pt x="674" y="144"/>
                  <a:pt x="673" y="144"/>
                  <a:pt x="673" y="143"/>
                </a:cubicBezTo>
                <a:cubicBezTo>
                  <a:pt x="672" y="143"/>
                  <a:pt x="671" y="143"/>
                  <a:pt x="670" y="143"/>
                </a:cubicBezTo>
                <a:cubicBezTo>
                  <a:pt x="669" y="142"/>
                  <a:pt x="668" y="142"/>
                  <a:pt x="667" y="142"/>
                </a:cubicBezTo>
                <a:cubicBezTo>
                  <a:pt x="665" y="141"/>
                  <a:pt x="664" y="141"/>
                  <a:pt x="663" y="141"/>
                </a:cubicBezTo>
                <a:cubicBezTo>
                  <a:pt x="662" y="141"/>
                  <a:pt x="661" y="140"/>
                  <a:pt x="660" y="140"/>
                </a:cubicBezTo>
                <a:cubicBezTo>
                  <a:pt x="659" y="140"/>
                  <a:pt x="658" y="140"/>
                  <a:pt x="658" y="140"/>
                </a:cubicBezTo>
                <a:cubicBezTo>
                  <a:pt x="657" y="139"/>
                  <a:pt x="656" y="139"/>
                  <a:pt x="656" y="139"/>
                </a:cubicBezTo>
                <a:cubicBezTo>
                  <a:pt x="655" y="139"/>
                  <a:pt x="654" y="139"/>
                  <a:pt x="653" y="139"/>
                </a:cubicBezTo>
                <a:cubicBezTo>
                  <a:pt x="652" y="139"/>
                  <a:pt x="651" y="138"/>
                  <a:pt x="650" y="138"/>
                </a:cubicBezTo>
                <a:cubicBezTo>
                  <a:pt x="649" y="138"/>
                  <a:pt x="649" y="138"/>
                  <a:pt x="648" y="138"/>
                </a:cubicBezTo>
                <a:cubicBezTo>
                  <a:pt x="647" y="138"/>
                  <a:pt x="646" y="138"/>
                  <a:pt x="645" y="138"/>
                </a:cubicBezTo>
                <a:cubicBezTo>
                  <a:pt x="645" y="138"/>
                  <a:pt x="644" y="137"/>
                  <a:pt x="643" y="137"/>
                </a:cubicBezTo>
                <a:cubicBezTo>
                  <a:pt x="642" y="137"/>
                  <a:pt x="641" y="137"/>
                  <a:pt x="641" y="137"/>
                </a:cubicBezTo>
                <a:cubicBezTo>
                  <a:pt x="639" y="137"/>
                  <a:pt x="637" y="137"/>
                  <a:pt x="636" y="137"/>
                </a:cubicBezTo>
                <a:cubicBezTo>
                  <a:pt x="634" y="137"/>
                  <a:pt x="632" y="137"/>
                  <a:pt x="630" y="137"/>
                </a:cubicBezTo>
                <a:cubicBezTo>
                  <a:pt x="629" y="137"/>
                  <a:pt x="627" y="137"/>
                  <a:pt x="625" y="137"/>
                </a:cubicBezTo>
                <a:cubicBezTo>
                  <a:pt x="623" y="137"/>
                  <a:pt x="622" y="137"/>
                  <a:pt x="620" y="137"/>
                </a:cubicBezTo>
                <a:cubicBezTo>
                  <a:pt x="619" y="137"/>
                  <a:pt x="619" y="137"/>
                  <a:pt x="619" y="137"/>
                </a:cubicBezTo>
                <a:cubicBezTo>
                  <a:pt x="618" y="137"/>
                  <a:pt x="618" y="137"/>
                  <a:pt x="617" y="137"/>
                </a:cubicBezTo>
                <a:cubicBezTo>
                  <a:pt x="617" y="137"/>
                  <a:pt x="616" y="137"/>
                  <a:pt x="616" y="137"/>
                </a:cubicBezTo>
                <a:cubicBezTo>
                  <a:pt x="615" y="137"/>
                  <a:pt x="615" y="137"/>
                  <a:pt x="614" y="137"/>
                </a:cubicBezTo>
                <a:cubicBezTo>
                  <a:pt x="614" y="138"/>
                  <a:pt x="613" y="138"/>
                  <a:pt x="613" y="138"/>
                </a:cubicBezTo>
                <a:cubicBezTo>
                  <a:pt x="612" y="138"/>
                  <a:pt x="612" y="138"/>
                  <a:pt x="612" y="138"/>
                </a:cubicBezTo>
                <a:cubicBezTo>
                  <a:pt x="611" y="138"/>
                  <a:pt x="611" y="138"/>
                  <a:pt x="610" y="138"/>
                </a:cubicBezTo>
                <a:cubicBezTo>
                  <a:pt x="609" y="138"/>
                  <a:pt x="609" y="138"/>
                  <a:pt x="608" y="138"/>
                </a:cubicBezTo>
                <a:cubicBezTo>
                  <a:pt x="607" y="138"/>
                  <a:pt x="607" y="138"/>
                  <a:pt x="607" y="138"/>
                </a:cubicBezTo>
                <a:cubicBezTo>
                  <a:pt x="607" y="138"/>
                  <a:pt x="606" y="139"/>
                  <a:pt x="606" y="139"/>
                </a:cubicBezTo>
                <a:cubicBezTo>
                  <a:pt x="605" y="139"/>
                  <a:pt x="605" y="139"/>
                  <a:pt x="604" y="139"/>
                </a:cubicBezTo>
                <a:cubicBezTo>
                  <a:pt x="604" y="139"/>
                  <a:pt x="603" y="139"/>
                  <a:pt x="602" y="139"/>
                </a:cubicBezTo>
                <a:cubicBezTo>
                  <a:pt x="601" y="139"/>
                  <a:pt x="601" y="139"/>
                  <a:pt x="601" y="139"/>
                </a:cubicBezTo>
                <a:cubicBezTo>
                  <a:pt x="601" y="140"/>
                  <a:pt x="601" y="140"/>
                  <a:pt x="600" y="140"/>
                </a:cubicBezTo>
                <a:cubicBezTo>
                  <a:pt x="600" y="140"/>
                  <a:pt x="599" y="140"/>
                  <a:pt x="599" y="140"/>
                </a:cubicBezTo>
                <a:cubicBezTo>
                  <a:pt x="598" y="140"/>
                  <a:pt x="598" y="140"/>
                  <a:pt x="597" y="140"/>
                </a:cubicBezTo>
                <a:cubicBezTo>
                  <a:pt x="596" y="141"/>
                  <a:pt x="596" y="141"/>
                  <a:pt x="596" y="141"/>
                </a:cubicBezTo>
                <a:cubicBezTo>
                  <a:pt x="596" y="141"/>
                  <a:pt x="595" y="141"/>
                  <a:pt x="595" y="141"/>
                </a:cubicBezTo>
                <a:cubicBezTo>
                  <a:pt x="594" y="141"/>
                  <a:pt x="594" y="141"/>
                  <a:pt x="593" y="141"/>
                </a:cubicBezTo>
                <a:cubicBezTo>
                  <a:pt x="593" y="141"/>
                  <a:pt x="592" y="142"/>
                  <a:pt x="591" y="142"/>
                </a:cubicBezTo>
                <a:cubicBezTo>
                  <a:pt x="591" y="142"/>
                  <a:pt x="591" y="142"/>
                  <a:pt x="590" y="142"/>
                </a:cubicBezTo>
                <a:cubicBezTo>
                  <a:pt x="590" y="142"/>
                  <a:pt x="589" y="143"/>
                  <a:pt x="589" y="143"/>
                </a:cubicBezTo>
                <a:cubicBezTo>
                  <a:pt x="588" y="143"/>
                  <a:pt x="588" y="143"/>
                  <a:pt x="587" y="143"/>
                </a:cubicBezTo>
                <a:cubicBezTo>
                  <a:pt x="587" y="143"/>
                  <a:pt x="587" y="143"/>
                  <a:pt x="586" y="144"/>
                </a:cubicBezTo>
                <a:cubicBezTo>
                  <a:pt x="431" y="195"/>
                  <a:pt x="431" y="195"/>
                  <a:pt x="431" y="195"/>
                </a:cubicBezTo>
                <a:cubicBezTo>
                  <a:pt x="431" y="196"/>
                  <a:pt x="430" y="196"/>
                  <a:pt x="430" y="196"/>
                </a:cubicBezTo>
                <a:cubicBezTo>
                  <a:pt x="429" y="196"/>
                  <a:pt x="428" y="196"/>
                  <a:pt x="427" y="197"/>
                </a:cubicBezTo>
                <a:cubicBezTo>
                  <a:pt x="427" y="197"/>
                  <a:pt x="426" y="197"/>
                  <a:pt x="425" y="197"/>
                </a:cubicBezTo>
                <a:cubicBezTo>
                  <a:pt x="424" y="198"/>
                  <a:pt x="422" y="198"/>
                  <a:pt x="421" y="199"/>
                </a:cubicBezTo>
                <a:cubicBezTo>
                  <a:pt x="420" y="199"/>
                  <a:pt x="420" y="199"/>
                  <a:pt x="420" y="199"/>
                </a:cubicBezTo>
                <a:cubicBezTo>
                  <a:pt x="420" y="199"/>
                  <a:pt x="419" y="199"/>
                  <a:pt x="419" y="199"/>
                </a:cubicBezTo>
                <a:cubicBezTo>
                  <a:pt x="419" y="199"/>
                  <a:pt x="418" y="199"/>
                  <a:pt x="418" y="199"/>
                </a:cubicBezTo>
                <a:cubicBezTo>
                  <a:pt x="417" y="199"/>
                  <a:pt x="417" y="200"/>
                  <a:pt x="416" y="200"/>
                </a:cubicBezTo>
                <a:cubicBezTo>
                  <a:pt x="416" y="200"/>
                  <a:pt x="415" y="200"/>
                  <a:pt x="414" y="200"/>
                </a:cubicBezTo>
                <a:cubicBezTo>
                  <a:pt x="414" y="200"/>
                  <a:pt x="413" y="200"/>
                  <a:pt x="412" y="201"/>
                </a:cubicBezTo>
                <a:cubicBezTo>
                  <a:pt x="411" y="201"/>
                  <a:pt x="410" y="201"/>
                  <a:pt x="409" y="201"/>
                </a:cubicBezTo>
                <a:cubicBezTo>
                  <a:pt x="407" y="202"/>
                  <a:pt x="405" y="202"/>
                  <a:pt x="403" y="202"/>
                </a:cubicBezTo>
                <a:cubicBezTo>
                  <a:pt x="403" y="202"/>
                  <a:pt x="402" y="202"/>
                  <a:pt x="401" y="202"/>
                </a:cubicBezTo>
                <a:cubicBezTo>
                  <a:pt x="401" y="202"/>
                  <a:pt x="400" y="202"/>
                  <a:pt x="398" y="202"/>
                </a:cubicBezTo>
                <a:cubicBezTo>
                  <a:pt x="396" y="202"/>
                  <a:pt x="393" y="201"/>
                  <a:pt x="389" y="200"/>
                </a:cubicBezTo>
                <a:cubicBezTo>
                  <a:pt x="385" y="200"/>
                  <a:pt x="380" y="199"/>
                  <a:pt x="373" y="197"/>
                </a:cubicBezTo>
                <a:cubicBezTo>
                  <a:pt x="373" y="197"/>
                  <a:pt x="373" y="197"/>
                  <a:pt x="373" y="197"/>
                </a:cubicBezTo>
                <a:cubicBezTo>
                  <a:pt x="372" y="196"/>
                  <a:pt x="372" y="196"/>
                  <a:pt x="372" y="196"/>
                </a:cubicBezTo>
                <a:cubicBezTo>
                  <a:pt x="371" y="196"/>
                  <a:pt x="371" y="196"/>
                  <a:pt x="371" y="196"/>
                </a:cubicBezTo>
                <a:cubicBezTo>
                  <a:pt x="371" y="195"/>
                  <a:pt x="371" y="195"/>
                  <a:pt x="371" y="195"/>
                </a:cubicBezTo>
                <a:cubicBezTo>
                  <a:pt x="370" y="194"/>
                  <a:pt x="370" y="194"/>
                  <a:pt x="370" y="194"/>
                </a:cubicBezTo>
                <a:cubicBezTo>
                  <a:pt x="370" y="194"/>
                  <a:pt x="370" y="194"/>
                  <a:pt x="370" y="194"/>
                </a:cubicBezTo>
                <a:cubicBezTo>
                  <a:pt x="369" y="193"/>
                  <a:pt x="369" y="193"/>
                  <a:pt x="369" y="193"/>
                </a:cubicBezTo>
                <a:cubicBezTo>
                  <a:pt x="369" y="192"/>
                  <a:pt x="369" y="192"/>
                  <a:pt x="369" y="192"/>
                </a:cubicBezTo>
                <a:cubicBezTo>
                  <a:pt x="368" y="191"/>
                  <a:pt x="368" y="191"/>
                  <a:pt x="368" y="191"/>
                </a:cubicBezTo>
                <a:cubicBezTo>
                  <a:pt x="368" y="191"/>
                  <a:pt x="368" y="191"/>
                  <a:pt x="368" y="190"/>
                </a:cubicBezTo>
                <a:cubicBezTo>
                  <a:pt x="367" y="189"/>
                  <a:pt x="367" y="189"/>
                  <a:pt x="367" y="187"/>
                </a:cubicBezTo>
                <a:cubicBezTo>
                  <a:pt x="366" y="186"/>
                  <a:pt x="366" y="185"/>
                  <a:pt x="365" y="183"/>
                </a:cubicBezTo>
                <a:cubicBezTo>
                  <a:pt x="365" y="182"/>
                  <a:pt x="365" y="182"/>
                  <a:pt x="365" y="182"/>
                </a:cubicBezTo>
                <a:cubicBezTo>
                  <a:pt x="365" y="181"/>
                  <a:pt x="365" y="181"/>
                  <a:pt x="365" y="181"/>
                </a:cubicBezTo>
                <a:cubicBezTo>
                  <a:pt x="365" y="181"/>
                  <a:pt x="365" y="181"/>
                  <a:pt x="365" y="180"/>
                </a:cubicBezTo>
                <a:cubicBezTo>
                  <a:pt x="365" y="180"/>
                  <a:pt x="365" y="179"/>
                  <a:pt x="365" y="179"/>
                </a:cubicBezTo>
                <a:cubicBezTo>
                  <a:pt x="365" y="178"/>
                  <a:pt x="365" y="178"/>
                  <a:pt x="365" y="178"/>
                </a:cubicBezTo>
                <a:cubicBezTo>
                  <a:pt x="365" y="178"/>
                  <a:pt x="365" y="177"/>
                  <a:pt x="365" y="177"/>
                </a:cubicBezTo>
                <a:cubicBezTo>
                  <a:pt x="365" y="176"/>
                  <a:pt x="365" y="176"/>
                  <a:pt x="365" y="175"/>
                </a:cubicBezTo>
                <a:cubicBezTo>
                  <a:pt x="365" y="174"/>
                  <a:pt x="365" y="174"/>
                  <a:pt x="365" y="172"/>
                </a:cubicBezTo>
                <a:cubicBezTo>
                  <a:pt x="365" y="172"/>
                  <a:pt x="365" y="172"/>
                  <a:pt x="365" y="172"/>
                </a:cubicBezTo>
                <a:cubicBezTo>
                  <a:pt x="365" y="171"/>
                  <a:pt x="365" y="171"/>
                  <a:pt x="365" y="171"/>
                </a:cubicBezTo>
                <a:cubicBezTo>
                  <a:pt x="365" y="171"/>
                  <a:pt x="365" y="170"/>
                  <a:pt x="365" y="170"/>
                </a:cubicBezTo>
                <a:cubicBezTo>
                  <a:pt x="365" y="169"/>
                  <a:pt x="365" y="169"/>
                  <a:pt x="365" y="168"/>
                </a:cubicBezTo>
                <a:cubicBezTo>
                  <a:pt x="365" y="167"/>
                  <a:pt x="365" y="167"/>
                  <a:pt x="365" y="167"/>
                </a:cubicBezTo>
                <a:cubicBezTo>
                  <a:pt x="365" y="167"/>
                  <a:pt x="365" y="167"/>
                  <a:pt x="366" y="166"/>
                </a:cubicBezTo>
                <a:cubicBezTo>
                  <a:pt x="366" y="166"/>
                  <a:pt x="366" y="165"/>
                  <a:pt x="366" y="164"/>
                </a:cubicBezTo>
                <a:cubicBezTo>
                  <a:pt x="366" y="163"/>
                  <a:pt x="367" y="161"/>
                  <a:pt x="367" y="160"/>
                </a:cubicBezTo>
                <a:cubicBezTo>
                  <a:pt x="367" y="159"/>
                  <a:pt x="367" y="159"/>
                  <a:pt x="367" y="158"/>
                </a:cubicBezTo>
                <a:cubicBezTo>
                  <a:pt x="367" y="158"/>
                  <a:pt x="368" y="157"/>
                  <a:pt x="368" y="155"/>
                </a:cubicBezTo>
                <a:cubicBezTo>
                  <a:pt x="369" y="153"/>
                  <a:pt x="370" y="151"/>
                  <a:pt x="371" y="148"/>
                </a:cubicBezTo>
                <a:cubicBezTo>
                  <a:pt x="372" y="145"/>
                  <a:pt x="374" y="141"/>
                  <a:pt x="376" y="136"/>
                </a:cubicBezTo>
                <a:cubicBezTo>
                  <a:pt x="378" y="131"/>
                  <a:pt x="380" y="127"/>
                  <a:pt x="381" y="122"/>
                </a:cubicBezTo>
                <a:cubicBezTo>
                  <a:pt x="382" y="117"/>
                  <a:pt x="383" y="112"/>
                  <a:pt x="384" y="108"/>
                </a:cubicBezTo>
                <a:cubicBezTo>
                  <a:pt x="384" y="103"/>
                  <a:pt x="384" y="98"/>
                  <a:pt x="383" y="93"/>
                </a:cubicBezTo>
                <a:cubicBezTo>
                  <a:pt x="383" y="88"/>
                  <a:pt x="382" y="83"/>
                  <a:pt x="380" y="78"/>
                </a:cubicBezTo>
                <a:cubicBezTo>
                  <a:pt x="380" y="77"/>
                  <a:pt x="379" y="75"/>
                  <a:pt x="379" y="74"/>
                </a:cubicBezTo>
                <a:cubicBezTo>
                  <a:pt x="378" y="72"/>
                  <a:pt x="377" y="70"/>
                  <a:pt x="376" y="69"/>
                </a:cubicBezTo>
                <a:cubicBezTo>
                  <a:pt x="376" y="67"/>
                  <a:pt x="375" y="66"/>
                  <a:pt x="374" y="64"/>
                </a:cubicBezTo>
                <a:cubicBezTo>
                  <a:pt x="373" y="62"/>
                  <a:pt x="372" y="61"/>
                  <a:pt x="371" y="59"/>
                </a:cubicBezTo>
                <a:cubicBezTo>
                  <a:pt x="371" y="59"/>
                  <a:pt x="371" y="58"/>
                  <a:pt x="371" y="58"/>
                </a:cubicBezTo>
                <a:cubicBezTo>
                  <a:pt x="370" y="58"/>
                  <a:pt x="370" y="57"/>
                  <a:pt x="370" y="57"/>
                </a:cubicBezTo>
                <a:cubicBezTo>
                  <a:pt x="369" y="56"/>
                  <a:pt x="369" y="56"/>
                  <a:pt x="369" y="55"/>
                </a:cubicBezTo>
                <a:cubicBezTo>
                  <a:pt x="368" y="54"/>
                  <a:pt x="368" y="54"/>
                  <a:pt x="367" y="53"/>
                </a:cubicBezTo>
                <a:cubicBezTo>
                  <a:pt x="367" y="52"/>
                  <a:pt x="367" y="52"/>
                  <a:pt x="367" y="52"/>
                </a:cubicBezTo>
                <a:cubicBezTo>
                  <a:pt x="366" y="51"/>
                  <a:pt x="366" y="51"/>
                  <a:pt x="366" y="51"/>
                </a:cubicBezTo>
                <a:cubicBezTo>
                  <a:pt x="366" y="51"/>
                  <a:pt x="365" y="51"/>
                  <a:pt x="365" y="50"/>
                </a:cubicBezTo>
                <a:cubicBezTo>
                  <a:pt x="364" y="50"/>
                  <a:pt x="364" y="49"/>
                  <a:pt x="363" y="48"/>
                </a:cubicBezTo>
                <a:cubicBezTo>
                  <a:pt x="363" y="48"/>
                  <a:pt x="363" y="48"/>
                  <a:pt x="363" y="48"/>
                </a:cubicBezTo>
                <a:cubicBezTo>
                  <a:pt x="362" y="47"/>
                  <a:pt x="362" y="47"/>
                  <a:pt x="362" y="47"/>
                </a:cubicBezTo>
                <a:cubicBezTo>
                  <a:pt x="362" y="46"/>
                  <a:pt x="362" y="46"/>
                  <a:pt x="361" y="46"/>
                </a:cubicBezTo>
                <a:cubicBezTo>
                  <a:pt x="361" y="45"/>
                  <a:pt x="360" y="45"/>
                  <a:pt x="360" y="44"/>
                </a:cubicBezTo>
                <a:cubicBezTo>
                  <a:pt x="359" y="43"/>
                  <a:pt x="359" y="43"/>
                  <a:pt x="359" y="43"/>
                </a:cubicBezTo>
                <a:cubicBezTo>
                  <a:pt x="359" y="43"/>
                  <a:pt x="359" y="43"/>
                  <a:pt x="359" y="43"/>
                </a:cubicBezTo>
                <a:cubicBezTo>
                  <a:pt x="358" y="42"/>
                  <a:pt x="358" y="42"/>
                  <a:pt x="358" y="42"/>
                </a:cubicBezTo>
                <a:cubicBezTo>
                  <a:pt x="358" y="42"/>
                  <a:pt x="358" y="42"/>
                  <a:pt x="358" y="42"/>
                </a:cubicBezTo>
                <a:cubicBezTo>
                  <a:pt x="357" y="41"/>
                  <a:pt x="357" y="41"/>
                  <a:pt x="357" y="41"/>
                </a:cubicBezTo>
                <a:cubicBezTo>
                  <a:pt x="356" y="41"/>
                  <a:pt x="356" y="41"/>
                  <a:pt x="356" y="41"/>
                </a:cubicBezTo>
                <a:cubicBezTo>
                  <a:pt x="355" y="40"/>
                  <a:pt x="355" y="40"/>
                  <a:pt x="355" y="40"/>
                </a:cubicBezTo>
                <a:cubicBezTo>
                  <a:pt x="355" y="39"/>
                  <a:pt x="355" y="39"/>
                  <a:pt x="354" y="39"/>
                </a:cubicBezTo>
                <a:cubicBezTo>
                  <a:pt x="353" y="38"/>
                  <a:pt x="353" y="38"/>
                  <a:pt x="353" y="38"/>
                </a:cubicBezTo>
                <a:cubicBezTo>
                  <a:pt x="353" y="37"/>
                  <a:pt x="352" y="37"/>
                  <a:pt x="352" y="37"/>
                </a:cubicBezTo>
                <a:cubicBezTo>
                  <a:pt x="352" y="36"/>
                  <a:pt x="351" y="36"/>
                  <a:pt x="351" y="35"/>
                </a:cubicBezTo>
                <a:cubicBezTo>
                  <a:pt x="350" y="35"/>
                  <a:pt x="350" y="34"/>
                  <a:pt x="349" y="34"/>
                </a:cubicBezTo>
                <a:cubicBezTo>
                  <a:pt x="349" y="34"/>
                  <a:pt x="348" y="33"/>
                  <a:pt x="348" y="33"/>
                </a:cubicBezTo>
                <a:cubicBezTo>
                  <a:pt x="348" y="33"/>
                  <a:pt x="347" y="32"/>
                  <a:pt x="347" y="32"/>
                </a:cubicBezTo>
                <a:cubicBezTo>
                  <a:pt x="346" y="32"/>
                  <a:pt x="346" y="31"/>
                  <a:pt x="345" y="31"/>
                </a:cubicBezTo>
                <a:cubicBezTo>
                  <a:pt x="345" y="30"/>
                  <a:pt x="344" y="30"/>
                  <a:pt x="343" y="29"/>
                </a:cubicBezTo>
                <a:cubicBezTo>
                  <a:pt x="343" y="29"/>
                  <a:pt x="342" y="29"/>
                  <a:pt x="342" y="29"/>
                </a:cubicBezTo>
                <a:cubicBezTo>
                  <a:pt x="342" y="28"/>
                  <a:pt x="341" y="28"/>
                  <a:pt x="341" y="28"/>
                </a:cubicBezTo>
                <a:cubicBezTo>
                  <a:pt x="340" y="27"/>
                  <a:pt x="340" y="27"/>
                  <a:pt x="339" y="27"/>
                </a:cubicBezTo>
                <a:cubicBezTo>
                  <a:pt x="339" y="26"/>
                  <a:pt x="338" y="26"/>
                  <a:pt x="338" y="25"/>
                </a:cubicBezTo>
                <a:cubicBezTo>
                  <a:pt x="337" y="25"/>
                  <a:pt x="336" y="24"/>
                  <a:pt x="335" y="24"/>
                </a:cubicBezTo>
                <a:cubicBezTo>
                  <a:pt x="334" y="23"/>
                  <a:pt x="333" y="22"/>
                  <a:pt x="331" y="22"/>
                </a:cubicBezTo>
                <a:cubicBezTo>
                  <a:pt x="330" y="21"/>
                  <a:pt x="329" y="20"/>
                  <a:pt x="328" y="20"/>
                </a:cubicBezTo>
                <a:cubicBezTo>
                  <a:pt x="327" y="19"/>
                  <a:pt x="325" y="18"/>
                  <a:pt x="324" y="18"/>
                </a:cubicBezTo>
                <a:cubicBezTo>
                  <a:pt x="324" y="18"/>
                  <a:pt x="323" y="17"/>
                  <a:pt x="323" y="17"/>
                </a:cubicBezTo>
                <a:cubicBezTo>
                  <a:pt x="322" y="17"/>
                  <a:pt x="322" y="17"/>
                  <a:pt x="321" y="16"/>
                </a:cubicBezTo>
                <a:cubicBezTo>
                  <a:pt x="321" y="16"/>
                  <a:pt x="320" y="16"/>
                  <a:pt x="320" y="16"/>
                </a:cubicBezTo>
                <a:cubicBezTo>
                  <a:pt x="319" y="15"/>
                  <a:pt x="318" y="15"/>
                  <a:pt x="317" y="14"/>
                </a:cubicBezTo>
                <a:cubicBezTo>
                  <a:pt x="317" y="14"/>
                  <a:pt x="316" y="14"/>
                  <a:pt x="316" y="14"/>
                </a:cubicBezTo>
                <a:cubicBezTo>
                  <a:pt x="316" y="14"/>
                  <a:pt x="315" y="14"/>
                  <a:pt x="315" y="13"/>
                </a:cubicBezTo>
                <a:cubicBezTo>
                  <a:pt x="314" y="13"/>
                  <a:pt x="314" y="13"/>
                  <a:pt x="313" y="13"/>
                </a:cubicBezTo>
                <a:cubicBezTo>
                  <a:pt x="312" y="12"/>
                  <a:pt x="311" y="12"/>
                  <a:pt x="310" y="12"/>
                </a:cubicBezTo>
                <a:cubicBezTo>
                  <a:pt x="310" y="12"/>
                  <a:pt x="310" y="11"/>
                  <a:pt x="309" y="11"/>
                </a:cubicBezTo>
                <a:cubicBezTo>
                  <a:pt x="309" y="11"/>
                  <a:pt x="308" y="11"/>
                  <a:pt x="308" y="11"/>
                </a:cubicBezTo>
                <a:cubicBezTo>
                  <a:pt x="307" y="11"/>
                  <a:pt x="307" y="10"/>
                  <a:pt x="306" y="10"/>
                </a:cubicBezTo>
                <a:cubicBezTo>
                  <a:pt x="306" y="10"/>
                  <a:pt x="305" y="10"/>
                  <a:pt x="304" y="9"/>
                </a:cubicBezTo>
                <a:cubicBezTo>
                  <a:pt x="303" y="9"/>
                  <a:pt x="302" y="9"/>
                  <a:pt x="302" y="9"/>
                </a:cubicBezTo>
                <a:cubicBezTo>
                  <a:pt x="301" y="9"/>
                  <a:pt x="300" y="8"/>
                  <a:pt x="300" y="8"/>
                </a:cubicBezTo>
                <a:cubicBezTo>
                  <a:pt x="299" y="8"/>
                  <a:pt x="298" y="8"/>
                  <a:pt x="297" y="8"/>
                </a:cubicBezTo>
                <a:cubicBezTo>
                  <a:pt x="297" y="8"/>
                  <a:pt x="296" y="8"/>
                  <a:pt x="295" y="7"/>
                </a:cubicBezTo>
                <a:cubicBezTo>
                  <a:pt x="295" y="7"/>
                  <a:pt x="294" y="7"/>
                  <a:pt x="294" y="7"/>
                </a:cubicBezTo>
                <a:cubicBezTo>
                  <a:pt x="293" y="7"/>
                  <a:pt x="292" y="6"/>
                  <a:pt x="292" y="6"/>
                </a:cubicBezTo>
                <a:cubicBezTo>
                  <a:pt x="291" y="6"/>
                  <a:pt x="291" y="6"/>
                  <a:pt x="290" y="6"/>
                </a:cubicBezTo>
                <a:cubicBezTo>
                  <a:pt x="290" y="5"/>
                  <a:pt x="289" y="5"/>
                  <a:pt x="289" y="5"/>
                </a:cubicBezTo>
                <a:cubicBezTo>
                  <a:pt x="285" y="4"/>
                  <a:pt x="282" y="3"/>
                  <a:pt x="278" y="3"/>
                </a:cubicBezTo>
                <a:cubicBezTo>
                  <a:pt x="274" y="2"/>
                  <a:pt x="271" y="2"/>
                  <a:pt x="267" y="1"/>
                </a:cubicBezTo>
                <a:cubicBezTo>
                  <a:pt x="263" y="1"/>
                  <a:pt x="260" y="1"/>
                  <a:pt x="256" y="0"/>
                </a:cubicBezTo>
                <a:cubicBezTo>
                  <a:pt x="252" y="0"/>
                  <a:pt x="248" y="0"/>
                  <a:pt x="244" y="0"/>
                </a:cubicBezTo>
                <a:cubicBezTo>
                  <a:pt x="243" y="0"/>
                  <a:pt x="243" y="0"/>
                  <a:pt x="242" y="0"/>
                </a:cubicBezTo>
                <a:cubicBezTo>
                  <a:pt x="242" y="0"/>
                  <a:pt x="241" y="0"/>
                  <a:pt x="241" y="0"/>
                </a:cubicBezTo>
                <a:cubicBezTo>
                  <a:pt x="240" y="0"/>
                  <a:pt x="239" y="1"/>
                  <a:pt x="239" y="1"/>
                </a:cubicBezTo>
                <a:cubicBezTo>
                  <a:pt x="238" y="1"/>
                  <a:pt x="237" y="1"/>
                  <a:pt x="236" y="1"/>
                </a:cubicBezTo>
                <a:cubicBezTo>
                  <a:pt x="236" y="1"/>
                  <a:pt x="235" y="1"/>
                  <a:pt x="235" y="1"/>
                </a:cubicBezTo>
                <a:cubicBezTo>
                  <a:pt x="234" y="1"/>
                  <a:pt x="234" y="1"/>
                  <a:pt x="233" y="1"/>
                </a:cubicBezTo>
                <a:cubicBezTo>
                  <a:pt x="233" y="1"/>
                  <a:pt x="232" y="1"/>
                  <a:pt x="231" y="1"/>
                </a:cubicBezTo>
                <a:cubicBezTo>
                  <a:pt x="230" y="1"/>
                  <a:pt x="229" y="1"/>
                  <a:pt x="228" y="1"/>
                </a:cubicBezTo>
                <a:cubicBezTo>
                  <a:pt x="228" y="1"/>
                  <a:pt x="228" y="2"/>
                  <a:pt x="227" y="2"/>
                </a:cubicBezTo>
                <a:cubicBezTo>
                  <a:pt x="227" y="2"/>
                  <a:pt x="226" y="2"/>
                  <a:pt x="226" y="2"/>
                </a:cubicBezTo>
                <a:cubicBezTo>
                  <a:pt x="225" y="2"/>
                  <a:pt x="225" y="2"/>
                  <a:pt x="224" y="2"/>
                </a:cubicBezTo>
                <a:cubicBezTo>
                  <a:pt x="223" y="2"/>
                  <a:pt x="223" y="2"/>
                  <a:pt x="222" y="2"/>
                </a:cubicBezTo>
                <a:cubicBezTo>
                  <a:pt x="221" y="2"/>
                  <a:pt x="221" y="2"/>
                  <a:pt x="220" y="3"/>
                </a:cubicBezTo>
                <a:cubicBezTo>
                  <a:pt x="220" y="3"/>
                  <a:pt x="220" y="3"/>
                  <a:pt x="219" y="3"/>
                </a:cubicBezTo>
                <a:cubicBezTo>
                  <a:pt x="219" y="3"/>
                  <a:pt x="218" y="3"/>
                  <a:pt x="217" y="3"/>
                </a:cubicBezTo>
                <a:cubicBezTo>
                  <a:pt x="217" y="3"/>
                  <a:pt x="216" y="3"/>
                  <a:pt x="215" y="3"/>
                </a:cubicBezTo>
                <a:cubicBezTo>
                  <a:pt x="214" y="4"/>
                  <a:pt x="214" y="4"/>
                  <a:pt x="214" y="4"/>
                </a:cubicBezTo>
                <a:cubicBezTo>
                  <a:pt x="214" y="4"/>
                  <a:pt x="213" y="4"/>
                  <a:pt x="213" y="4"/>
                </a:cubicBezTo>
                <a:cubicBezTo>
                  <a:pt x="212" y="4"/>
                  <a:pt x="212" y="4"/>
                  <a:pt x="211" y="4"/>
                </a:cubicBezTo>
                <a:cubicBezTo>
                  <a:pt x="210" y="4"/>
                  <a:pt x="210" y="5"/>
                  <a:pt x="209" y="5"/>
                </a:cubicBezTo>
                <a:cubicBezTo>
                  <a:pt x="208" y="5"/>
                  <a:pt x="208" y="5"/>
                  <a:pt x="208" y="5"/>
                </a:cubicBezTo>
                <a:cubicBezTo>
                  <a:pt x="207" y="5"/>
                  <a:pt x="207" y="5"/>
                  <a:pt x="206" y="5"/>
                </a:cubicBezTo>
                <a:cubicBezTo>
                  <a:pt x="206" y="6"/>
                  <a:pt x="205" y="6"/>
                  <a:pt x="205" y="6"/>
                </a:cubicBezTo>
                <a:cubicBezTo>
                  <a:pt x="204" y="6"/>
                  <a:pt x="203" y="6"/>
                  <a:pt x="202" y="6"/>
                </a:cubicBezTo>
                <a:cubicBezTo>
                  <a:pt x="202" y="7"/>
                  <a:pt x="201" y="7"/>
                  <a:pt x="201" y="7"/>
                </a:cubicBezTo>
                <a:cubicBezTo>
                  <a:pt x="200" y="7"/>
                  <a:pt x="200" y="7"/>
                  <a:pt x="199" y="7"/>
                </a:cubicBezTo>
                <a:cubicBezTo>
                  <a:pt x="199" y="8"/>
                  <a:pt x="198" y="8"/>
                  <a:pt x="198" y="8"/>
                </a:cubicBezTo>
                <a:cubicBezTo>
                  <a:pt x="197" y="8"/>
                  <a:pt x="197" y="8"/>
                  <a:pt x="196" y="8"/>
                </a:cubicBezTo>
                <a:cubicBezTo>
                  <a:pt x="179" y="14"/>
                  <a:pt x="165" y="21"/>
                  <a:pt x="153" y="31"/>
                </a:cubicBezTo>
                <a:cubicBezTo>
                  <a:pt x="141" y="40"/>
                  <a:pt x="132" y="51"/>
                  <a:pt x="126" y="63"/>
                </a:cubicBezTo>
                <a:cubicBezTo>
                  <a:pt x="120" y="74"/>
                  <a:pt x="117" y="87"/>
                  <a:pt x="117" y="100"/>
                </a:cubicBezTo>
                <a:cubicBezTo>
                  <a:pt x="117" y="113"/>
                  <a:pt x="121" y="126"/>
                  <a:pt x="129" y="139"/>
                </a:cubicBezTo>
                <a:cubicBezTo>
                  <a:pt x="130" y="141"/>
                  <a:pt x="130" y="142"/>
                  <a:pt x="132" y="144"/>
                </a:cubicBezTo>
                <a:cubicBezTo>
                  <a:pt x="133" y="145"/>
                  <a:pt x="134" y="147"/>
                  <a:pt x="135" y="148"/>
                </a:cubicBezTo>
                <a:cubicBezTo>
                  <a:pt x="136" y="150"/>
                  <a:pt x="137" y="151"/>
                  <a:pt x="138" y="153"/>
                </a:cubicBezTo>
                <a:cubicBezTo>
                  <a:pt x="139" y="154"/>
                  <a:pt x="141" y="155"/>
                  <a:pt x="142" y="157"/>
                </a:cubicBezTo>
                <a:cubicBezTo>
                  <a:pt x="146" y="161"/>
                  <a:pt x="150" y="165"/>
                  <a:pt x="155" y="168"/>
                </a:cubicBezTo>
                <a:cubicBezTo>
                  <a:pt x="159" y="172"/>
                  <a:pt x="164" y="175"/>
                  <a:pt x="169" y="178"/>
                </a:cubicBezTo>
                <a:cubicBezTo>
                  <a:pt x="175" y="181"/>
                  <a:pt x="180" y="184"/>
                  <a:pt x="186" y="186"/>
                </a:cubicBezTo>
                <a:cubicBezTo>
                  <a:pt x="191" y="189"/>
                  <a:pt x="197" y="191"/>
                  <a:pt x="203" y="193"/>
                </a:cubicBezTo>
                <a:cubicBezTo>
                  <a:pt x="209" y="194"/>
                  <a:pt x="214" y="196"/>
                  <a:pt x="221" y="198"/>
                </a:cubicBezTo>
                <a:cubicBezTo>
                  <a:pt x="227" y="201"/>
                  <a:pt x="233" y="203"/>
                  <a:pt x="239" y="206"/>
                </a:cubicBezTo>
                <a:cubicBezTo>
                  <a:pt x="245" y="209"/>
                  <a:pt x="250" y="212"/>
                  <a:pt x="255" y="216"/>
                </a:cubicBezTo>
                <a:cubicBezTo>
                  <a:pt x="259" y="219"/>
                  <a:pt x="263" y="223"/>
                  <a:pt x="265" y="226"/>
                </a:cubicBezTo>
                <a:cubicBezTo>
                  <a:pt x="267" y="229"/>
                  <a:pt x="267" y="231"/>
                  <a:pt x="268" y="233"/>
                </a:cubicBezTo>
                <a:cubicBezTo>
                  <a:pt x="268" y="236"/>
                  <a:pt x="267" y="238"/>
                  <a:pt x="266" y="241"/>
                </a:cubicBezTo>
                <a:cubicBezTo>
                  <a:pt x="264" y="243"/>
                  <a:pt x="262" y="246"/>
                  <a:pt x="259" y="248"/>
                </a:cubicBezTo>
                <a:cubicBezTo>
                  <a:pt x="256" y="251"/>
                  <a:pt x="252" y="253"/>
                  <a:pt x="247" y="256"/>
                </a:cubicBezTo>
                <a:cubicBezTo>
                  <a:pt x="246" y="256"/>
                  <a:pt x="244" y="257"/>
                  <a:pt x="243" y="258"/>
                </a:cubicBezTo>
                <a:cubicBezTo>
                  <a:pt x="241" y="258"/>
                  <a:pt x="239" y="259"/>
                  <a:pt x="238" y="260"/>
                </a:cubicBezTo>
                <a:cubicBezTo>
                  <a:pt x="236" y="261"/>
                  <a:pt x="234" y="261"/>
                  <a:pt x="232" y="262"/>
                </a:cubicBezTo>
                <a:cubicBezTo>
                  <a:pt x="230" y="263"/>
                  <a:pt x="228" y="263"/>
                  <a:pt x="226" y="264"/>
                </a:cubicBezTo>
                <a:cubicBezTo>
                  <a:pt x="67" y="317"/>
                  <a:pt x="67" y="317"/>
                  <a:pt x="67" y="317"/>
                </a:cubicBezTo>
                <a:cubicBezTo>
                  <a:pt x="53" y="322"/>
                  <a:pt x="41" y="329"/>
                  <a:pt x="31" y="337"/>
                </a:cubicBezTo>
                <a:cubicBezTo>
                  <a:pt x="21" y="345"/>
                  <a:pt x="13" y="354"/>
                  <a:pt x="8" y="365"/>
                </a:cubicBezTo>
                <a:cubicBezTo>
                  <a:pt x="2" y="375"/>
                  <a:pt x="0" y="386"/>
                  <a:pt x="0" y="397"/>
                </a:cubicBezTo>
                <a:cubicBezTo>
                  <a:pt x="0" y="408"/>
                  <a:pt x="3" y="420"/>
                  <a:pt x="9" y="431"/>
                </a:cubicBezTo>
                <a:cubicBezTo>
                  <a:pt x="80" y="558"/>
                  <a:pt x="80" y="558"/>
                  <a:pt x="80" y="558"/>
                </a:cubicBezTo>
                <a:cubicBezTo>
                  <a:pt x="175" y="729"/>
                  <a:pt x="175" y="729"/>
                  <a:pt x="175" y="729"/>
                </a:cubicBezTo>
                <a:cubicBezTo>
                  <a:pt x="223" y="814"/>
                  <a:pt x="223" y="814"/>
                  <a:pt x="223" y="814"/>
                </a:cubicBezTo>
                <a:cubicBezTo>
                  <a:pt x="251" y="864"/>
                  <a:pt x="251" y="864"/>
                  <a:pt x="251" y="864"/>
                </a:cubicBezTo>
                <a:cubicBezTo>
                  <a:pt x="251" y="864"/>
                  <a:pt x="251" y="864"/>
                  <a:pt x="251" y="865"/>
                </a:cubicBezTo>
                <a:cubicBezTo>
                  <a:pt x="252" y="865"/>
                  <a:pt x="252" y="866"/>
                  <a:pt x="252" y="866"/>
                </a:cubicBezTo>
                <a:cubicBezTo>
                  <a:pt x="252" y="867"/>
                  <a:pt x="253" y="867"/>
                  <a:pt x="253" y="868"/>
                </a:cubicBezTo>
                <a:cubicBezTo>
                  <a:pt x="253" y="868"/>
                  <a:pt x="254" y="869"/>
                  <a:pt x="254" y="870"/>
                </a:cubicBezTo>
                <a:cubicBezTo>
                  <a:pt x="255" y="870"/>
                  <a:pt x="255" y="870"/>
                  <a:pt x="255" y="870"/>
                </a:cubicBezTo>
                <a:cubicBezTo>
                  <a:pt x="255" y="871"/>
                  <a:pt x="255" y="871"/>
                  <a:pt x="255" y="871"/>
                </a:cubicBezTo>
                <a:cubicBezTo>
                  <a:pt x="256" y="872"/>
                  <a:pt x="256" y="872"/>
                  <a:pt x="256" y="873"/>
                </a:cubicBezTo>
                <a:cubicBezTo>
                  <a:pt x="257" y="873"/>
                  <a:pt x="257" y="874"/>
                  <a:pt x="257" y="874"/>
                </a:cubicBezTo>
                <a:cubicBezTo>
                  <a:pt x="258" y="875"/>
                  <a:pt x="258" y="875"/>
                  <a:pt x="258" y="875"/>
                </a:cubicBezTo>
                <a:cubicBezTo>
                  <a:pt x="259" y="876"/>
                  <a:pt x="259" y="876"/>
                  <a:pt x="259" y="876"/>
                </a:cubicBezTo>
                <a:cubicBezTo>
                  <a:pt x="259" y="876"/>
                  <a:pt x="259" y="877"/>
                  <a:pt x="260" y="877"/>
                </a:cubicBezTo>
                <a:cubicBezTo>
                  <a:pt x="260" y="877"/>
                  <a:pt x="260" y="878"/>
                  <a:pt x="261" y="878"/>
                </a:cubicBezTo>
                <a:cubicBezTo>
                  <a:pt x="262" y="879"/>
                  <a:pt x="262" y="879"/>
                  <a:pt x="262" y="879"/>
                </a:cubicBezTo>
                <a:cubicBezTo>
                  <a:pt x="262" y="880"/>
                  <a:pt x="262" y="880"/>
                  <a:pt x="262" y="880"/>
                </a:cubicBezTo>
                <a:cubicBezTo>
                  <a:pt x="263" y="880"/>
                  <a:pt x="263" y="881"/>
                  <a:pt x="263" y="881"/>
                </a:cubicBezTo>
                <a:cubicBezTo>
                  <a:pt x="264" y="881"/>
                  <a:pt x="264" y="882"/>
                  <a:pt x="264" y="882"/>
                </a:cubicBezTo>
                <a:cubicBezTo>
                  <a:pt x="265" y="883"/>
                  <a:pt x="265" y="883"/>
                  <a:pt x="265" y="883"/>
                </a:cubicBezTo>
                <a:cubicBezTo>
                  <a:pt x="266" y="884"/>
                  <a:pt x="266" y="884"/>
                  <a:pt x="266" y="884"/>
                </a:cubicBezTo>
                <a:cubicBezTo>
                  <a:pt x="266" y="884"/>
                  <a:pt x="267" y="885"/>
                  <a:pt x="267" y="885"/>
                </a:cubicBezTo>
                <a:cubicBezTo>
                  <a:pt x="267" y="885"/>
                  <a:pt x="268" y="886"/>
                  <a:pt x="268" y="886"/>
                </a:cubicBezTo>
                <a:cubicBezTo>
                  <a:pt x="269" y="887"/>
                  <a:pt x="269" y="887"/>
                  <a:pt x="269" y="887"/>
                </a:cubicBezTo>
                <a:cubicBezTo>
                  <a:pt x="270" y="888"/>
                  <a:pt x="270" y="888"/>
                  <a:pt x="270" y="888"/>
                </a:cubicBezTo>
                <a:cubicBezTo>
                  <a:pt x="271" y="889"/>
                  <a:pt x="271" y="889"/>
                  <a:pt x="271" y="889"/>
                </a:cubicBezTo>
                <a:cubicBezTo>
                  <a:pt x="271" y="889"/>
                  <a:pt x="272" y="889"/>
                  <a:pt x="272" y="890"/>
                </a:cubicBezTo>
                <a:cubicBezTo>
                  <a:pt x="273" y="890"/>
                  <a:pt x="273" y="891"/>
                  <a:pt x="274" y="891"/>
                </a:cubicBezTo>
                <a:cubicBezTo>
                  <a:pt x="275" y="892"/>
                  <a:pt x="275" y="892"/>
                  <a:pt x="276" y="893"/>
                </a:cubicBezTo>
                <a:cubicBezTo>
                  <a:pt x="277" y="893"/>
                  <a:pt x="277" y="894"/>
                  <a:pt x="278" y="895"/>
                </a:cubicBezTo>
                <a:cubicBezTo>
                  <a:pt x="279" y="895"/>
                  <a:pt x="280" y="896"/>
                  <a:pt x="280" y="896"/>
                </a:cubicBezTo>
                <a:cubicBezTo>
                  <a:pt x="281" y="897"/>
                  <a:pt x="282" y="897"/>
                  <a:pt x="282" y="898"/>
                </a:cubicBezTo>
                <a:cubicBezTo>
                  <a:pt x="283" y="898"/>
                  <a:pt x="284" y="899"/>
                  <a:pt x="284" y="899"/>
                </a:cubicBezTo>
                <a:cubicBezTo>
                  <a:pt x="285" y="899"/>
                  <a:pt x="286" y="900"/>
                  <a:pt x="287" y="900"/>
                </a:cubicBezTo>
                <a:cubicBezTo>
                  <a:pt x="287" y="901"/>
                  <a:pt x="288" y="901"/>
                  <a:pt x="289" y="902"/>
                </a:cubicBezTo>
                <a:cubicBezTo>
                  <a:pt x="291" y="903"/>
                  <a:pt x="294" y="904"/>
                  <a:pt x="296" y="906"/>
                </a:cubicBezTo>
                <a:cubicBezTo>
                  <a:pt x="299" y="907"/>
                  <a:pt x="301" y="908"/>
                  <a:pt x="304" y="909"/>
                </a:cubicBezTo>
                <a:cubicBezTo>
                  <a:pt x="307" y="911"/>
                  <a:pt x="309" y="912"/>
                  <a:pt x="312" y="913"/>
                </a:cubicBezTo>
                <a:cubicBezTo>
                  <a:pt x="315" y="913"/>
                  <a:pt x="318" y="914"/>
                  <a:pt x="321" y="915"/>
                </a:cubicBezTo>
                <a:cubicBezTo>
                  <a:pt x="321" y="915"/>
                  <a:pt x="322" y="915"/>
                  <a:pt x="322" y="916"/>
                </a:cubicBezTo>
                <a:cubicBezTo>
                  <a:pt x="323" y="916"/>
                  <a:pt x="323" y="916"/>
                  <a:pt x="324" y="916"/>
                </a:cubicBezTo>
                <a:cubicBezTo>
                  <a:pt x="324" y="916"/>
                  <a:pt x="325" y="916"/>
                  <a:pt x="326" y="916"/>
                </a:cubicBezTo>
                <a:cubicBezTo>
                  <a:pt x="326" y="917"/>
                  <a:pt x="327" y="917"/>
                  <a:pt x="328" y="917"/>
                </a:cubicBezTo>
                <a:cubicBezTo>
                  <a:pt x="328" y="917"/>
                  <a:pt x="329" y="917"/>
                  <a:pt x="329" y="917"/>
                </a:cubicBezTo>
                <a:cubicBezTo>
                  <a:pt x="330" y="917"/>
                  <a:pt x="330" y="918"/>
                  <a:pt x="331" y="918"/>
                </a:cubicBezTo>
                <a:cubicBezTo>
                  <a:pt x="331" y="918"/>
                  <a:pt x="332" y="918"/>
                  <a:pt x="333" y="918"/>
                </a:cubicBezTo>
                <a:cubicBezTo>
                  <a:pt x="333" y="918"/>
                  <a:pt x="334" y="918"/>
                  <a:pt x="335" y="918"/>
                </a:cubicBezTo>
                <a:cubicBezTo>
                  <a:pt x="335" y="918"/>
                  <a:pt x="336" y="919"/>
                  <a:pt x="336" y="919"/>
                </a:cubicBezTo>
                <a:cubicBezTo>
                  <a:pt x="337" y="919"/>
                  <a:pt x="337" y="919"/>
                  <a:pt x="338" y="919"/>
                </a:cubicBezTo>
                <a:cubicBezTo>
                  <a:pt x="338" y="919"/>
                  <a:pt x="339" y="919"/>
                  <a:pt x="339" y="919"/>
                </a:cubicBezTo>
                <a:cubicBezTo>
                  <a:pt x="340" y="919"/>
                  <a:pt x="341" y="919"/>
                  <a:pt x="342" y="919"/>
                </a:cubicBezTo>
                <a:cubicBezTo>
                  <a:pt x="342" y="919"/>
                  <a:pt x="343" y="919"/>
                  <a:pt x="343" y="920"/>
                </a:cubicBezTo>
                <a:cubicBezTo>
                  <a:pt x="343" y="920"/>
                  <a:pt x="344" y="920"/>
                  <a:pt x="344" y="920"/>
                </a:cubicBezTo>
                <a:cubicBezTo>
                  <a:pt x="345" y="920"/>
                  <a:pt x="346" y="920"/>
                  <a:pt x="346" y="920"/>
                </a:cubicBezTo>
                <a:cubicBezTo>
                  <a:pt x="347" y="920"/>
                  <a:pt x="348" y="920"/>
                  <a:pt x="349" y="920"/>
                </a:cubicBezTo>
                <a:cubicBezTo>
                  <a:pt x="349" y="920"/>
                  <a:pt x="349" y="920"/>
                  <a:pt x="350" y="920"/>
                </a:cubicBezTo>
                <a:cubicBezTo>
                  <a:pt x="350" y="920"/>
                  <a:pt x="351" y="920"/>
                  <a:pt x="351" y="920"/>
                </a:cubicBezTo>
                <a:cubicBezTo>
                  <a:pt x="352" y="920"/>
                  <a:pt x="353" y="920"/>
                  <a:pt x="353" y="920"/>
                </a:cubicBezTo>
                <a:cubicBezTo>
                  <a:pt x="354" y="920"/>
                  <a:pt x="355" y="920"/>
                  <a:pt x="355" y="920"/>
                </a:cubicBezTo>
                <a:cubicBezTo>
                  <a:pt x="356" y="920"/>
                  <a:pt x="357" y="920"/>
                  <a:pt x="357" y="920"/>
                </a:cubicBezTo>
                <a:cubicBezTo>
                  <a:pt x="358" y="920"/>
                  <a:pt x="358" y="920"/>
                  <a:pt x="359" y="920"/>
                </a:cubicBezTo>
                <a:cubicBezTo>
                  <a:pt x="360" y="920"/>
                  <a:pt x="360" y="920"/>
                  <a:pt x="361" y="920"/>
                </a:cubicBezTo>
                <a:cubicBezTo>
                  <a:pt x="361" y="920"/>
                  <a:pt x="362" y="920"/>
                  <a:pt x="363" y="920"/>
                </a:cubicBezTo>
                <a:cubicBezTo>
                  <a:pt x="363" y="920"/>
                  <a:pt x="364" y="920"/>
                  <a:pt x="364" y="920"/>
                </a:cubicBezTo>
                <a:cubicBezTo>
                  <a:pt x="365" y="920"/>
                  <a:pt x="365" y="920"/>
                  <a:pt x="366" y="920"/>
                </a:cubicBezTo>
                <a:cubicBezTo>
                  <a:pt x="366" y="920"/>
                  <a:pt x="367" y="920"/>
                  <a:pt x="368" y="920"/>
                </a:cubicBezTo>
                <a:cubicBezTo>
                  <a:pt x="368" y="920"/>
                  <a:pt x="369" y="920"/>
                  <a:pt x="370" y="920"/>
                </a:cubicBezTo>
                <a:cubicBezTo>
                  <a:pt x="370" y="920"/>
                  <a:pt x="370" y="920"/>
                  <a:pt x="371" y="920"/>
                </a:cubicBezTo>
                <a:cubicBezTo>
                  <a:pt x="371" y="920"/>
                  <a:pt x="372" y="920"/>
                  <a:pt x="372" y="920"/>
                </a:cubicBezTo>
                <a:cubicBezTo>
                  <a:pt x="373" y="920"/>
                  <a:pt x="373" y="920"/>
                  <a:pt x="374" y="920"/>
                </a:cubicBezTo>
                <a:cubicBezTo>
                  <a:pt x="375" y="920"/>
                  <a:pt x="375" y="920"/>
                  <a:pt x="376" y="919"/>
                </a:cubicBezTo>
                <a:cubicBezTo>
                  <a:pt x="377" y="919"/>
                  <a:pt x="377" y="919"/>
                  <a:pt x="377" y="919"/>
                </a:cubicBezTo>
                <a:cubicBezTo>
                  <a:pt x="378" y="919"/>
                  <a:pt x="378" y="919"/>
                  <a:pt x="379" y="919"/>
                </a:cubicBezTo>
                <a:cubicBezTo>
                  <a:pt x="379" y="919"/>
                  <a:pt x="380" y="919"/>
                  <a:pt x="380" y="919"/>
                </a:cubicBezTo>
                <a:cubicBezTo>
                  <a:pt x="381" y="919"/>
                  <a:pt x="382" y="919"/>
                  <a:pt x="382" y="919"/>
                </a:cubicBezTo>
                <a:cubicBezTo>
                  <a:pt x="383" y="918"/>
                  <a:pt x="383" y="918"/>
                  <a:pt x="384" y="918"/>
                </a:cubicBezTo>
                <a:cubicBezTo>
                  <a:pt x="384" y="918"/>
                  <a:pt x="384" y="918"/>
                  <a:pt x="385" y="918"/>
                </a:cubicBezTo>
                <a:cubicBezTo>
                  <a:pt x="385" y="918"/>
                  <a:pt x="386" y="918"/>
                  <a:pt x="386" y="918"/>
                </a:cubicBezTo>
                <a:cubicBezTo>
                  <a:pt x="387" y="918"/>
                  <a:pt x="388" y="918"/>
                  <a:pt x="389" y="917"/>
                </a:cubicBezTo>
                <a:cubicBezTo>
                  <a:pt x="389" y="917"/>
                  <a:pt x="389" y="917"/>
                  <a:pt x="390" y="917"/>
                </a:cubicBezTo>
                <a:cubicBezTo>
                  <a:pt x="390" y="917"/>
                  <a:pt x="390" y="917"/>
                  <a:pt x="391" y="917"/>
                </a:cubicBezTo>
                <a:cubicBezTo>
                  <a:pt x="391" y="917"/>
                  <a:pt x="392" y="917"/>
                  <a:pt x="392" y="916"/>
                </a:cubicBezTo>
                <a:cubicBezTo>
                  <a:pt x="393" y="916"/>
                  <a:pt x="394" y="916"/>
                  <a:pt x="395" y="916"/>
                </a:cubicBezTo>
                <a:cubicBezTo>
                  <a:pt x="395" y="916"/>
                  <a:pt x="395" y="916"/>
                  <a:pt x="396" y="916"/>
                </a:cubicBezTo>
                <a:cubicBezTo>
                  <a:pt x="396" y="916"/>
                  <a:pt x="397" y="915"/>
                  <a:pt x="397" y="915"/>
                </a:cubicBezTo>
                <a:cubicBezTo>
                  <a:pt x="397" y="915"/>
                  <a:pt x="398" y="915"/>
                  <a:pt x="399" y="915"/>
                </a:cubicBezTo>
                <a:cubicBezTo>
                  <a:pt x="399" y="915"/>
                  <a:pt x="400" y="914"/>
                  <a:pt x="401" y="914"/>
                </a:cubicBezTo>
                <a:cubicBezTo>
                  <a:pt x="401" y="914"/>
                  <a:pt x="402" y="914"/>
                  <a:pt x="402" y="914"/>
                </a:cubicBezTo>
                <a:cubicBezTo>
                  <a:pt x="403" y="914"/>
                  <a:pt x="403" y="913"/>
                  <a:pt x="404" y="913"/>
                </a:cubicBezTo>
                <a:cubicBezTo>
                  <a:pt x="404" y="913"/>
                  <a:pt x="405" y="913"/>
                  <a:pt x="405" y="913"/>
                </a:cubicBezTo>
                <a:cubicBezTo>
                  <a:pt x="406" y="913"/>
                  <a:pt x="406" y="912"/>
                  <a:pt x="407" y="912"/>
                </a:cubicBezTo>
                <a:cubicBezTo>
                  <a:pt x="439" y="901"/>
                  <a:pt x="439" y="901"/>
                  <a:pt x="439" y="901"/>
                </a:cubicBezTo>
                <a:cubicBezTo>
                  <a:pt x="573" y="852"/>
                  <a:pt x="573" y="852"/>
                  <a:pt x="573" y="852"/>
                </a:cubicBezTo>
                <a:cubicBezTo>
                  <a:pt x="608" y="839"/>
                  <a:pt x="608" y="839"/>
                  <a:pt x="608" y="839"/>
                </a:cubicBezTo>
                <a:cubicBezTo>
                  <a:pt x="728" y="795"/>
                  <a:pt x="728" y="795"/>
                  <a:pt x="728" y="795"/>
                </a:cubicBezTo>
                <a:cubicBezTo>
                  <a:pt x="787" y="774"/>
                  <a:pt x="787" y="774"/>
                  <a:pt x="787" y="774"/>
                </a:cubicBezTo>
                <a:cubicBezTo>
                  <a:pt x="949" y="715"/>
                  <a:pt x="949" y="715"/>
                  <a:pt x="949" y="715"/>
                </a:cubicBezTo>
                <a:cubicBezTo>
                  <a:pt x="963" y="710"/>
                  <a:pt x="975" y="703"/>
                  <a:pt x="984" y="694"/>
                </a:cubicBezTo>
                <a:cubicBezTo>
                  <a:pt x="994" y="685"/>
                  <a:pt x="1001" y="675"/>
                  <a:pt x="1005" y="664"/>
                </a:cubicBezTo>
                <a:cubicBezTo>
                  <a:pt x="1009" y="654"/>
                  <a:pt x="1011" y="642"/>
                  <a:pt x="1010" y="630"/>
                </a:cubicBezTo>
              </a:path>
            </a:pathLst>
          </a:custGeom>
          <a:solidFill>
            <a:schemeClr val="bg1">
              <a:lumMod val="50000"/>
            </a:schemeClr>
          </a:solidFill>
          <a:ln>
            <a:noFill/>
          </a:ln>
        </p:spPr>
        <p:txBody>
          <a:bodyPr/>
          <a:lstStyle/>
          <a:p>
            <a:endParaRPr lang="zh-CN" altLang="en-US">
              <a:latin typeface="微软雅黑" panose="020B0503020204020204" pitchFamily="34" charset="-122"/>
              <a:ea typeface="微软雅黑" panose="020B0503020204020204" pitchFamily="34" charset="-122"/>
            </a:endParaRPr>
          </a:p>
        </p:txBody>
      </p:sp>
      <p:sp>
        <p:nvSpPr>
          <p:cNvPr id="8" name="Freeform 26">
            <a:extLst>
              <a:ext uri="{FF2B5EF4-FFF2-40B4-BE49-F238E27FC236}">
                <a16:creationId xmlns:a16="http://schemas.microsoft.com/office/drawing/2014/main" id="{14F28886-F82F-4211-9417-1E1C797C789F}"/>
              </a:ext>
            </a:extLst>
          </p:cNvPr>
          <p:cNvSpPr>
            <a:spLocks noEditPoints="1"/>
          </p:cNvSpPr>
          <p:nvPr/>
        </p:nvSpPr>
        <p:spPr bwMode="auto">
          <a:xfrm>
            <a:off x="3327920" y="2613484"/>
            <a:ext cx="375618" cy="362164"/>
          </a:xfrm>
          <a:custGeom>
            <a:avLst/>
            <a:gdLst>
              <a:gd name="T0" fmla="*/ 770540991 w 263"/>
              <a:gd name="T1" fmla="*/ 0 h 256"/>
              <a:gd name="T2" fmla="*/ 454947978 w 263"/>
              <a:gd name="T3" fmla="*/ 216760543 h 256"/>
              <a:gd name="T4" fmla="*/ 454947978 w 263"/>
              <a:gd name="T5" fmla="*/ 220774516 h 256"/>
              <a:gd name="T6" fmla="*/ 114762199 w 263"/>
              <a:gd name="T7" fmla="*/ 553944278 h 256"/>
              <a:gd name="T8" fmla="*/ 4098794 w 263"/>
              <a:gd name="T9" fmla="*/ 883100068 h 256"/>
              <a:gd name="T10" fmla="*/ 114762199 w 263"/>
              <a:gd name="T11" fmla="*/ 1027607097 h 256"/>
              <a:gd name="T12" fmla="*/ 430355212 w 263"/>
              <a:gd name="T13" fmla="*/ 951339609 h 256"/>
              <a:gd name="T14" fmla="*/ 987769005 w 263"/>
              <a:gd name="T15" fmla="*/ 421479168 h 256"/>
              <a:gd name="T16" fmla="*/ 524623439 w 263"/>
              <a:gd name="T17" fmla="*/ 762676876 h 256"/>
              <a:gd name="T18" fmla="*/ 811526913 w 263"/>
              <a:gd name="T19" fmla="*/ 377325467 h 256"/>
              <a:gd name="T20" fmla="*/ 778738580 w 263"/>
              <a:gd name="T21" fmla="*/ 537888387 h 256"/>
              <a:gd name="T22" fmla="*/ 524623439 w 263"/>
              <a:gd name="T23" fmla="*/ 786760713 h 256"/>
              <a:gd name="T24" fmla="*/ 483637517 w 263"/>
              <a:gd name="T25" fmla="*/ 650281630 h 256"/>
              <a:gd name="T26" fmla="*/ 372974113 w 263"/>
              <a:gd name="T27" fmla="*/ 545916333 h 256"/>
              <a:gd name="T28" fmla="*/ 754147836 w 263"/>
              <a:gd name="T29" fmla="*/ 289014058 h 256"/>
              <a:gd name="T30" fmla="*/ 483637517 w 263"/>
              <a:gd name="T31" fmla="*/ 650281630 h 256"/>
              <a:gd name="T32" fmla="*/ 250016347 w 263"/>
              <a:gd name="T33" fmla="*/ 513804550 h 256"/>
              <a:gd name="T34" fmla="*/ 651682020 w 263"/>
              <a:gd name="T35" fmla="*/ 228802462 h 256"/>
              <a:gd name="T36" fmla="*/ 135254149 w 263"/>
              <a:gd name="T37" fmla="*/ 959367555 h 256"/>
              <a:gd name="T38" fmla="*/ 65578688 w 263"/>
              <a:gd name="T39" fmla="*/ 915211851 h 256"/>
              <a:gd name="T40" fmla="*/ 102465815 w 263"/>
              <a:gd name="T41" fmla="*/ 774718795 h 256"/>
              <a:gd name="T42" fmla="*/ 258213936 w 263"/>
              <a:gd name="T43" fmla="*/ 927255772 h 256"/>
              <a:gd name="T44" fmla="*/ 291002269 w 263"/>
              <a:gd name="T45" fmla="*/ 919225824 h 256"/>
              <a:gd name="T46" fmla="*/ 110663404 w 263"/>
              <a:gd name="T47" fmla="*/ 742607012 h 256"/>
              <a:gd name="T48" fmla="*/ 159846915 w 263"/>
              <a:gd name="T49" fmla="*/ 602113956 h 256"/>
              <a:gd name="T50" fmla="*/ 422157623 w 263"/>
              <a:gd name="T51" fmla="*/ 883100068 h 256"/>
              <a:gd name="T52" fmla="*/ 291002269 w 263"/>
              <a:gd name="T53" fmla="*/ 919225824 h 256"/>
              <a:gd name="T54" fmla="*/ 885303190 w 263"/>
              <a:gd name="T55" fmla="*/ 433521087 h 256"/>
              <a:gd name="T56" fmla="*/ 803331346 w 263"/>
              <a:gd name="T57" fmla="*/ 240846383 h 256"/>
              <a:gd name="T58" fmla="*/ 663976381 w 263"/>
              <a:gd name="T59" fmla="*/ 104367300 h 256"/>
              <a:gd name="T60" fmla="*/ 918091523 w 263"/>
              <a:gd name="T61" fmla="*/ 128451137 h 256"/>
              <a:gd name="T62" fmla="*/ 942684289 w 263"/>
              <a:gd name="T63" fmla="*/ 377325467 h 25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263" h="256">
                <a:moveTo>
                  <a:pt x="235" y="21"/>
                </a:moveTo>
                <a:cubicBezTo>
                  <a:pt x="222" y="8"/>
                  <a:pt x="205" y="0"/>
                  <a:pt x="188" y="0"/>
                </a:cubicBezTo>
                <a:cubicBezTo>
                  <a:pt x="173" y="0"/>
                  <a:pt x="160" y="5"/>
                  <a:pt x="150" y="15"/>
                </a:cubicBezTo>
                <a:cubicBezTo>
                  <a:pt x="111" y="54"/>
                  <a:pt x="111" y="54"/>
                  <a:pt x="111" y="54"/>
                </a:cubicBezTo>
                <a:cubicBezTo>
                  <a:pt x="111" y="54"/>
                  <a:pt x="111" y="54"/>
                  <a:pt x="111" y="55"/>
                </a:cubicBezTo>
                <a:cubicBezTo>
                  <a:pt x="111" y="55"/>
                  <a:pt x="111" y="55"/>
                  <a:pt x="111" y="55"/>
                </a:cubicBezTo>
                <a:cubicBezTo>
                  <a:pt x="111" y="55"/>
                  <a:pt x="111" y="55"/>
                  <a:pt x="111" y="55"/>
                </a:cubicBezTo>
                <a:cubicBezTo>
                  <a:pt x="28" y="138"/>
                  <a:pt x="28" y="138"/>
                  <a:pt x="28" y="138"/>
                </a:cubicBezTo>
                <a:cubicBezTo>
                  <a:pt x="24" y="142"/>
                  <a:pt x="22" y="147"/>
                  <a:pt x="20" y="152"/>
                </a:cubicBezTo>
                <a:cubicBezTo>
                  <a:pt x="1" y="220"/>
                  <a:pt x="1" y="220"/>
                  <a:pt x="1" y="220"/>
                </a:cubicBezTo>
                <a:cubicBezTo>
                  <a:pt x="1" y="220"/>
                  <a:pt x="0" y="225"/>
                  <a:pt x="0" y="228"/>
                </a:cubicBezTo>
                <a:cubicBezTo>
                  <a:pt x="0" y="243"/>
                  <a:pt x="13" y="256"/>
                  <a:pt x="28" y="256"/>
                </a:cubicBezTo>
                <a:cubicBezTo>
                  <a:pt x="31" y="256"/>
                  <a:pt x="37" y="255"/>
                  <a:pt x="37" y="255"/>
                </a:cubicBezTo>
                <a:cubicBezTo>
                  <a:pt x="105" y="237"/>
                  <a:pt x="105" y="237"/>
                  <a:pt x="105" y="237"/>
                </a:cubicBezTo>
                <a:cubicBezTo>
                  <a:pt x="110" y="235"/>
                  <a:pt x="115" y="232"/>
                  <a:pt x="119" y="229"/>
                </a:cubicBezTo>
                <a:cubicBezTo>
                  <a:pt x="241" y="105"/>
                  <a:pt x="241" y="105"/>
                  <a:pt x="241" y="105"/>
                </a:cubicBezTo>
                <a:cubicBezTo>
                  <a:pt x="263" y="83"/>
                  <a:pt x="261" y="46"/>
                  <a:pt x="235" y="21"/>
                </a:cubicBezTo>
                <a:close/>
                <a:moveTo>
                  <a:pt x="128" y="190"/>
                </a:moveTo>
                <a:cubicBezTo>
                  <a:pt x="127" y="183"/>
                  <a:pt x="125" y="176"/>
                  <a:pt x="122" y="169"/>
                </a:cubicBezTo>
                <a:cubicBezTo>
                  <a:pt x="198" y="94"/>
                  <a:pt x="198" y="94"/>
                  <a:pt x="198" y="94"/>
                </a:cubicBezTo>
                <a:cubicBezTo>
                  <a:pt x="203" y="108"/>
                  <a:pt x="200" y="124"/>
                  <a:pt x="190" y="134"/>
                </a:cubicBezTo>
                <a:cubicBezTo>
                  <a:pt x="190" y="134"/>
                  <a:pt x="190" y="134"/>
                  <a:pt x="190" y="134"/>
                </a:cubicBezTo>
                <a:cubicBezTo>
                  <a:pt x="190" y="134"/>
                  <a:pt x="190" y="134"/>
                  <a:pt x="190" y="134"/>
                </a:cubicBezTo>
                <a:cubicBezTo>
                  <a:pt x="128" y="196"/>
                  <a:pt x="128" y="196"/>
                  <a:pt x="128" y="196"/>
                </a:cubicBezTo>
                <a:cubicBezTo>
                  <a:pt x="128" y="194"/>
                  <a:pt x="128" y="192"/>
                  <a:pt x="128" y="190"/>
                </a:cubicBezTo>
                <a:close/>
                <a:moveTo>
                  <a:pt x="118" y="162"/>
                </a:moveTo>
                <a:cubicBezTo>
                  <a:pt x="115" y="157"/>
                  <a:pt x="112" y="152"/>
                  <a:pt x="108" y="148"/>
                </a:cubicBezTo>
                <a:cubicBezTo>
                  <a:pt x="103" y="143"/>
                  <a:pt x="97" y="140"/>
                  <a:pt x="91" y="136"/>
                </a:cubicBezTo>
                <a:cubicBezTo>
                  <a:pt x="168" y="60"/>
                  <a:pt x="168" y="60"/>
                  <a:pt x="168" y="60"/>
                </a:cubicBezTo>
                <a:cubicBezTo>
                  <a:pt x="174" y="63"/>
                  <a:pt x="179" y="66"/>
                  <a:pt x="184" y="72"/>
                </a:cubicBezTo>
                <a:cubicBezTo>
                  <a:pt x="189" y="76"/>
                  <a:pt x="192" y="81"/>
                  <a:pt x="195" y="86"/>
                </a:cubicBezTo>
                <a:lnTo>
                  <a:pt x="118" y="162"/>
                </a:lnTo>
                <a:close/>
                <a:moveTo>
                  <a:pt x="84" y="133"/>
                </a:moveTo>
                <a:cubicBezTo>
                  <a:pt x="76" y="130"/>
                  <a:pt x="69" y="128"/>
                  <a:pt x="61" y="128"/>
                </a:cubicBezTo>
                <a:cubicBezTo>
                  <a:pt x="123" y="66"/>
                  <a:pt x="123" y="66"/>
                  <a:pt x="123" y="66"/>
                </a:cubicBezTo>
                <a:cubicBezTo>
                  <a:pt x="132" y="56"/>
                  <a:pt x="146" y="54"/>
                  <a:pt x="159" y="57"/>
                </a:cubicBezTo>
                <a:lnTo>
                  <a:pt x="84" y="133"/>
                </a:lnTo>
                <a:close/>
                <a:moveTo>
                  <a:pt x="33" y="239"/>
                </a:moveTo>
                <a:cubicBezTo>
                  <a:pt x="32" y="239"/>
                  <a:pt x="30" y="240"/>
                  <a:pt x="28" y="240"/>
                </a:cubicBezTo>
                <a:cubicBezTo>
                  <a:pt x="21" y="240"/>
                  <a:pt x="16" y="235"/>
                  <a:pt x="16" y="228"/>
                </a:cubicBezTo>
                <a:cubicBezTo>
                  <a:pt x="16" y="227"/>
                  <a:pt x="17" y="224"/>
                  <a:pt x="17" y="224"/>
                </a:cubicBezTo>
                <a:cubicBezTo>
                  <a:pt x="25" y="193"/>
                  <a:pt x="25" y="193"/>
                  <a:pt x="25" y="193"/>
                </a:cubicBezTo>
                <a:cubicBezTo>
                  <a:pt x="34" y="193"/>
                  <a:pt x="44" y="196"/>
                  <a:pt x="52" y="204"/>
                </a:cubicBezTo>
                <a:cubicBezTo>
                  <a:pt x="60" y="212"/>
                  <a:pt x="64" y="222"/>
                  <a:pt x="63" y="231"/>
                </a:cubicBezTo>
                <a:lnTo>
                  <a:pt x="33" y="239"/>
                </a:lnTo>
                <a:close/>
                <a:moveTo>
                  <a:pt x="71" y="229"/>
                </a:moveTo>
                <a:cubicBezTo>
                  <a:pt x="71" y="218"/>
                  <a:pt x="66" y="207"/>
                  <a:pt x="58" y="198"/>
                </a:cubicBezTo>
                <a:cubicBezTo>
                  <a:pt x="49" y="190"/>
                  <a:pt x="38" y="185"/>
                  <a:pt x="27" y="185"/>
                </a:cubicBezTo>
                <a:cubicBezTo>
                  <a:pt x="35" y="156"/>
                  <a:pt x="35" y="156"/>
                  <a:pt x="35" y="156"/>
                </a:cubicBezTo>
                <a:cubicBezTo>
                  <a:pt x="36" y="154"/>
                  <a:pt x="37" y="152"/>
                  <a:pt x="39" y="150"/>
                </a:cubicBezTo>
                <a:cubicBezTo>
                  <a:pt x="55" y="139"/>
                  <a:pt x="79" y="142"/>
                  <a:pt x="96" y="160"/>
                </a:cubicBezTo>
                <a:cubicBezTo>
                  <a:pt x="115" y="178"/>
                  <a:pt x="117" y="204"/>
                  <a:pt x="103" y="220"/>
                </a:cubicBezTo>
                <a:cubicBezTo>
                  <a:pt x="103" y="221"/>
                  <a:pt x="102" y="221"/>
                  <a:pt x="101" y="221"/>
                </a:cubicBezTo>
                <a:lnTo>
                  <a:pt x="71" y="229"/>
                </a:lnTo>
                <a:close/>
                <a:moveTo>
                  <a:pt x="230" y="94"/>
                </a:moveTo>
                <a:cubicBezTo>
                  <a:pt x="216" y="108"/>
                  <a:pt x="216" y="108"/>
                  <a:pt x="216" y="108"/>
                </a:cubicBezTo>
                <a:cubicBezTo>
                  <a:pt x="216" y="106"/>
                  <a:pt x="216" y="104"/>
                  <a:pt x="216" y="102"/>
                </a:cubicBezTo>
                <a:cubicBezTo>
                  <a:pt x="215" y="87"/>
                  <a:pt x="207" y="72"/>
                  <a:pt x="196" y="60"/>
                </a:cubicBezTo>
                <a:cubicBezTo>
                  <a:pt x="183" y="47"/>
                  <a:pt x="165" y="40"/>
                  <a:pt x="148" y="40"/>
                </a:cubicBezTo>
                <a:cubicBezTo>
                  <a:pt x="162" y="26"/>
                  <a:pt x="162" y="26"/>
                  <a:pt x="162" y="26"/>
                </a:cubicBezTo>
                <a:cubicBezTo>
                  <a:pt x="168" y="20"/>
                  <a:pt x="177" y="16"/>
                  <a:pt x="188" y="16"/>
                </a:cubicBezTo>
                <a:cubicBezTo>
                  <a:pt x="200" y="16"/>
                  <a:pt x="214" y="22"/>
                  <a:pt x="224" y="32"/>
                </a:cubicBezTo>
                <a:cubicBezTo>
                  <a:pt x="233" y="41"/>
                  <a:pt x="239" y="53"/>
                  <a:pt x="240" y="65"/>
                </a:cubicBezTo>
                <a:cubicBezTo>
                  <a:pt x="241" y="76"/>
                  <a:pt x="237" y="87"/>
                  <a:pt x="230" y="94"/>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latin typeface="微软雅黑" panose="020B0503020204020204" pitchFamily="34" charset="-122"/>
              <a:ea typeface="微软雅黑" panose="020B0503020204020204" pitchFamily="34" charset="-122"/>
            </a:endParaRPr>
          </a:p>
        </p:txBody>
      </p:sp>
      <p:grpSp>
        <p:nvGrpSpPr>
          <p:cNvPr id="9" name="Group 143">
            <a:extLst>
              <a:ext uri="{FF2B5EF4-FFF2-40B4-BE49-F238E27FC236}">
                <a16:creationId xmlns:a16="http://schemas.microsoft.com/office/drawing/2014/main" id="{38242393-0E05-4A51-8C66-FD25AE024921}"/>
              </a:ext>
            </a:extLst>
          </p:cNvPr>
          <p:cNvGrpSpPr/>
          <p:nvPr/>
        </p:nvGrpSpPr>
        <p:grpSpPr>
          <a:xfrm>
            <a:off x="4140074" y="4294034"/>
            <a:ext cx="423631" cy="315255"/>
            <a:chOff x="8236208" y="2550087"/>
            <a:chExt cx="188218" cy="175580"/>
          </a:xfrm>
          <a:solidFill>
            <a:schemeClr val="bg1"/>
          </a:solidFill>
        </p:grpSpPr>
        <p:sp>
          <p:nvSpPr>
            <p:cNvPr id="10" name="Freeform 597">
              <a:extLst>
                <a:ext uri="{FF2B5EF4-FFF2-40B4-BE49-F238E27FC236}">
                  <a16:creationId xmlns:a16="http://schemas.microsoft.com/office/drawing/2014/main" id="{062B3D37-F117-4C48-8E00-D94A9F3C90CB}"/>
                </a:ext>
              </a:extLst>
            </p:cNvPr>
            <p:cNvSpPr>
              <a:spLocks noEditPoints="1"/>
            </p:cNvSpPr>
            <p:nvPr/>
          </p:nvSpPr>
          <p:spPr bwMode="auto">
            <a:xfrm>
              <a:off x="8236208" y="2550087"/>
              <a:ext cx="188218" cy="175580"/>
            </a:xfrm>
            <a:custGeom>
              <a:avLst/>
              <a:gdLst>
                <a:gd name="T0" fmla="*/ 124 w 125"/>
                <a:gd name="T1" fmla="*/ 19 h 121"/>
                <a:gd name="T2" fmla="*/ 121 w 125"/>
                <a:gd name="T3" fmla="*/ 17 h 121"/>
                <a:gd name="T4" fmla="*/ 52 w 125"/>
                <a:gd name="T5" fmla="*/ 1 h 121"/>
                <a:gd name="T6" fmla="*/ 47 w 125"/>
                <a:gd name="T7" fmla="*/ 4 h 121"/>
                <a:gd name="T8" fmla="*/ 20 w 125"/>
                <a:gd name="T9" fmla="*/ 70 h 121"/>
                <a:gd name="T10" fmla="*/ 29 w 125"/>
                <a:gd name="T11" fmla="*/ 74 h 121"/>
                <a:gd name="T12" fmla="*/ 54 w 125"/>
                <a:gd name="T13" fmla="*/ 10 h 121"/>
                <a:gd name="T14" fmla="*/ 114 w 125"/>
                <a:gd name="T15" fmla="*/ 25 h 121"/>
                <a:gd name="T16" fmla="*/ 93 w 125"/>
                <a:gd name="T17" fmla="*/ 84 h 121"/>
                <a:gd name="T18" fmla="*/ 73 w 125"/>
                <a:gd name="T19" fmla="*/ 112 h 121"/>
                <a:gd name="T20" fmla="*/ 73 w 125"/>
                <a:gd name="T21" fmla="*/ 112 h 121"/>
                <a:gd name="T22" fmla="*/ 57 w 125"/>
                <a:gd name="T23" fmla="*/ 93 h 121"/>
                <a:gd name="T24" fmla="*/ 3 w 125"/>
                <a:gd name="T25" fmla="*/ 71 h 121"/>
                <a:gd name="T26" fmla="*/ 18 w 125"/>
                <a:gd name="T27" fmla="*/ 101 h 121"/>
                <a:gd name="T28" fmla="*/ 57 w 125"/>
                <a:gd name="T29" fmla="*/ 119 h 121"/>
                <a:gd name="T30" fmla="*/ 70 w 125"/>
                <a:gd name="T31" fmla="*/ 121 h 121"/>
                <a:gd name="T32" fmla="*/ 102 w 125"/>
                <a:gd name="T33" fmla="*/ 87 h 121"/>
                <a:gd name="T34" fmla="*/ 124 w 125"/>
                <a:gd name="T35" fmla="*/ 23 h 121"/>
                <a:gd name="T36" fmla="*/ 124 w 125"/>
                <a:gd name="T37" fmla="*/ 19 h 121"/>
                <a:gd name="T38" fmla="*/ 124 w 125"/>
                <a:gd name="T39" fmla="*/ 19 h 121"/>
                <a:gd name="T40" fmla="*/ 124 w 125"/>
                <a:gd name="T41" fmla="*/ 19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5" h="121">
                  <a:moveTo>
                    <a:pt x="124" y="19"/>
                  </a:moveTo>
                  <a:cubicBezTo>
                    <a:pt x="123" y="18"/>
                    <a:pt x="122" y="17"/>
                    <a:pt x="121" y="17"/>
                  </a:cubicBezTo>
                  <a:cubicBezTo>
                    <a:pt x="52" y="1"/>
                    <a:pt x="52" y="1"/>
                    <a:pt x="52" y="1"/>
                  </a:cubicBezTo>
                  <a:cubicBezTo>
                    <a:pt x="50" y="0"/>
                    <a:pt x="47" y="1"/>
                    <a:pt x="47" y="4"/>
                  </a:cubicBezTo>
                  <a:cubicBezTo>
                    <a:pt x="20" y="70"/>
                    <a:pt x="20" y="70"/>
                    <a:pt x="20" y="70"/>
                  </a:cubicBezTo>
                  <a:cubicBezTo>
                    <a:pt x="29" y="74"/>
                    <a:pt x="29" y="74"/>
                    <a:pt x="29" y="74"/>
                  </a:cubicBezTo>
                  <a:cubicBezTo>
                    <a:pt x="54" y="10"/>
                    <a:pt x="54" y="10"/>
                    <a:pt x="54" y="10"/>
                  </a:cubicBezTo>
                  <a:cubicBezTo>
                    <a:pt x="114" y="25"/>
                    <a:pt x="114" y="25"/>
                    <a:pt x="114" y="25"/>
                  </a:cubicBezTo>
                  <a:cubicBezTo>
                    <a:pt x="110" y="37"/>
                    <a:pt x="101" y="61"/>
                    <a:pt x="93" y="84"/>
                  </a:cubicBezTo>
                  <a:cubicBezTo>
                    <a:pt x="85" y="103"/>
                    <a:pt x="81" y="110"/>
                    <a:pt x="73" y="112"/>
                  </a:cubicBezTo>
                  <a:cubicBezTo>
                    <a:pt x="73" y="112"/>
                    <a:pt x="73" y="112"/>
                    <a:pt x="73" y="112"/>
                  </a:cubicBezTo>
                  <a:cubicBezTo>
                    <a:pt x="56" y="114"/>
                    <a:pt x="57" y="93"/>
                    <a:pt x="57" y="93"/>
                  </a:cubicBezTo>
                  <a:cubicBezTo>
                    <a:pt x="3" y="71"/>
                    <a:pt x="3" y="71"/>
                    <a:pt x="3" y="71"/>
                  </a:cubicBezTo>
                  <a:cubicBezTo>
                    <a:pt x="0" y="95"/>
                    <a:pt x="18" y="101"/>
                    <a:pt x="18" y="101"/>
                  </a:cubicBezTo>
                  <a:cubicBezTo>
                    <a:pt x="57" y="119"/>
                    <a:pt x="57" y="119"/>
                    <a:pt x="57" y="119"/>
                  </a:cubicBezTo>
                  <a:cubicBezTo>
                    <a:pt x="57" y="119"/>
                    <a:pt x="63" y="121"/>
                    <a:pt x="70" y="121"/>
                  </a:cubicBezTo>
                  <a:cubicBezTo>
                    <a:pt x="87" y="121"/>
                    <a:pt x="94" y="108"/>
                    <a:pt x="102" y="87"/>
                  </a:cubicBezTo>
                  <a:cubicBezTo>
                    <a:pt x="113" y="57"/>
                    <a:pt x="124" y="24"/>
                    <a:pt x="124" y="23"/>
                  </a:cubicBezTo>
                  <a:cubicBezTo>
                    <a:pt x="125" y="22"/>
                    <a:pt x="125" y="21"/>
                    <a:pt x="124" y="19"/>
                  </a:cubicBezTo>
                  <a:close/>
                  <a:moveTo>
                    <a:pt x="124" y="19"/>
                  </a:moveTo>
                  <a:cubicBezTo>
                    <a:pt x="124" y="19"/>
                    <a:pt x="124" y="19"/>
                    <a:pt x="124" y="19"/>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11" name="Freeform 598">
              <a:extLst>
                <a:ext uri="{FF2B5EF4-FFF2-40B4-BE49-F238E27FC236}">
                  <a16:creationId xmlns:a16="http://schemas.microsoft.com/office/drawing/2014/main" id="{9B425A02-72C8-487F-BE4E-E7EB0F43706F}"/>
                </a:ext>
              </a:extLst>
            </p:cNvPr>
            <p:cNvSpPr>
              <a:spLocks noEditPoints="1"/>
            </p:cNvSpPr>
            <p:nvPr/>
          </p:nvSpPr>
          <p:spPr bwMode="auto">
            <a:xfrm>
              <a:off x="8337556" y="2594679"/>
              <a:ext cx="46331" cy="25083"/>
            </a:xfrm>
            <a:custGeom>
              <a:avLst/>
              <a:gdLst>
                <a:gd name="T0" fmla="*/ 25 w 31"/>
                <a:gd name="T1" fmla="*/ 16 h 17"/>
                <a:gd name="T2" fmla="*/ 26 w 31"/>
                <a:gd name="T3" fmla="*/ 17 h 17"/>
                <a:gd name="T4" fmla="*/ 30 w 31"/>
                <a:gd name="T5" fmla="*/ 13 h 17"/>
                <a:gd name="T6" fmla="*/ 27 w 31"/>
                <a:gd name="T7" fmla="*/ 7 h 17"/>
                <a:gd name="T8" fmla="*/ 7 w 31"/>
                <a:gd name="T9" fmla="*/ 1 h 17"/>
                <a:gd name="T10" fmla="*/ 1 w 31"/>
                <a:gd name="T11" fmla="*/ 4 h 17"/>
                <a:gd name="T12" fmla="*/ 4 w 31"/>
                <a:gd name="T13" fmla="*/ 10 h 17"/>
                <a:gd name="T14" fmla="*/ 25 w 31"/>
                <a:gd name="T15" fmla="*/ 16 h 17"/>
                <a:gd name="T16" fmla="*/ 25 w 31"/>
                <a:gd name="T17" fmla="*/ 16 h 17"/>
                <a:gd name="T18" fmla="*/ 25 w 31"/>
                <a:gd name="T19" fmla="*/ 16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17">
                  <a:moveTo>
                    <a:pt x="25" y="16"/>
                  </a:moveTo>
                  <a:cubicBezTo>
                    <a:pt x="25" y="16"/>
                    <a:pt x="25" y="17"/>
                    <a:pt x="26" y="17"/>
                  </a:cubicBezTo>
                  <a:cubicBezTo>
                    <a:pt x="28" y="17"/>
                    <a:pt x="30" y="15"/>
                    <a:pt x="30" y="13"/>
                  </a:cubicBezTo>
                  <a:cubicBezTo>
                    <a:pt x="31" y="11"/>
                    <a:pt x="30" y="8"/>
                    <a:pt x="27" y="7"/>
                  </a:cubicBezTo>
                  <a:cubicBezTo>
                    <a:pt x="7" y="1"/>
                    <a:pt x="7" y="1"/>
                    <a:pt x="7" y="1"/>
                  </a:cubicBezTo>
                  <a:cubicBezTo>
                    <a:pt x="4" y="0"/>
                    <a:pt x="2" y="2"/>
                    <a:pt x="1" y="4"/>
                  </a:cubicBezTo>
                  <a:cubicBezTo>
                    <a:pt x="0" y="7"/>
                    <a:pt x="2" y="9"/>
                    <a:pt x="4" y="10"/>
                  </a:cubicBezTo>
                  <a:lnTo>
                    <a:pt x="25" y="16"/>
                  </a:lnTo>
                  <a:close/>
                  <a:moveTo>
                    <a:pt x="25" y="16"/>
                  </a:moveTo>
                  <a:cubicBezTo>
                    <a:pt x="25" y="16"/>
                    <a:pt x="25" y="16"/>
                    <a:pt x="25" y="1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12" name="Freeform 599">
              <a:extLst>
                <a:ext uri="{FF2B5EF4-FFF2-40B4-BE49-F238E27FC236}">
                  <a16:creationId xmlns:a16="http://schemas.microsoft.com/office/drawing/2014/main" id="{6915C927-762C-4492-B123-445488E54F5D}"/>
                </a:ext>
              </a:extLst>
            </p:cNvPr>
            <p:cNvSpPr>
              <a:spLocks noEditPoints="1"/>
            </p:cNvSpPr>
            <p:nvPr/>
          </p:nvSpPr>
          <p:spPr bwMode="auto">
            <a:xfrm>
              <a:off x="8325974" y="2622549"/>
              <a:ext cx="46331" cy="22296"/>
            </a:xfrm>
            <a:custGeom>
              <a:avLst/>
              <a:gdLst>
                <a:gd name="T0" fmla="*/ 1 w 31"/>
                <a:gd name="T1" fmla="*/ 4 h 17"/>
                <a:gd name="T2" fmla="*/ 4 w 31"/>
                <a:gd name="T3" fmla="*/ 10 h 17"/>
                <a:gd name="T4" fmla="*/ 24 w 31"/>
                <a:gd name="T5" fmla="*/ 17 h 17"/>
                <a:gd name="T6" fmla="*/ 25 w 31"/>
                <a:gd name="T7" fmla="*/ 17 h 17"/>
                <a:gd name="T8" fmla="*/ 30 w 31"/>
                <a:gd name="T9" fmla="*/ 14 h 17"/>
                <a:gd name="T10" fmla="*/ 27 w 31"/>
                <a:gd name="T11" fmla="*/ 8 h 17"/>
                <a:gd name="T12" fmla="*/ 7 w 31"/>
                <a:gd name="T13" fmla="*/ 1 h 17"/>
                <a:gd name="T14" fmla="*/ 1 w 31"/>
                <a:gd name="T15" fmla="*/ 4 h 17"/>
                <a:gd name="T16" fmla="*/ 1 w 31"/>
                <a:gd name="T17" fmla="*/ 4 h 17"/>
                <a:gd name="T18" fmla="*/ 1 w 31"/>
                <a:gd name="T19" fmla="*/ 4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17">
                  <a:moveTo>
                    <a:pt x="1" y="4"/>
                  </a:moveTo>
                  <a:cubicBezTo>
                    <a:pt x="0" y="7"/>
                    <a:pt x="1" y="9"/>
                    <a:pt x="4" y="10"/>
                  </a:cubicBezTo>
                  <a:cubicBezTo>
                    <a:pt x="24" y="17"/>
                    <a:pt x="24" y="17"/>
                    <a:pt x="24" y="17"/>
                  </a:cubicBezTo>
                  <a:cubicBezTo>
                    <a:pt x="25" y="17"/>
                    <a:pt x="25" y="17"/>
                    <a:pt x="25" y="17"/>
                  </a:cubicBezTo>
                  <a:cubicBezTo>
                    <a:pt x="27" y="17"/>
                    <a:pt x="29" y="16"/>
                    <a:pt x="30" y="14"/>
                  </a:cubicBezTo>
                  <a:cubicBezTo>
                    <a:pt x="31" y="12"/>
                    <a:pt x="29" y="9"/>
                    <a:pt x="27" y="8"/>
                  </a:cubicBezTo>
                  <a:cubicBezTo>
                    <a:pt x="7" y="1"/>
                    <a:pt x="7" y="1"/>
                    <a:pt x="7" y="1"/>
                  </a:cubicBezTo>
                  <a:cubicBezTo>
                    <a:pt x="4" y="0"/>
                    <a:pt x="2" y="2"/>
                    <a:pt x="1" y="4"/>
                  </a:cubicBezTo>
                  <a:close/>
                  <a:moveTo>
                    <a:pt x="1" y="4"/>
                  </a:moveTo>
                  <a:cubicBezTo>
                    <a:pt x="1" y="4"/>
                    <a:pt x="1" y="4"/>
                    <a:pt x="1" y="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13" name="Freeform 600">
              <a:extLst>
                <a:ext uri="{FF2B5EF4-FFF2-40B4-BE49-F238E27FC236}">
                  <a16:creationId xmlns:a16="http://schemas.microsoft.com/office/drawing/2014/main" id="{7C847D11-589D-4DC9-A9DB-38EC3C21F082}"/>
                </a:ext>
              </a:extLst>
            </p:cNvPr>
            <p:cNvSpPr>
              <a:spLocks noEditPoints="1"/>
            </p:cNvSpPr>
            <p:nvPr/>
          </p:nvSpPr>
          <p:spPr bwMode="auto">
            <a:xfrm>
              <a:off x="8297816" y="2634188"/>
              <a:ext cx="62905" cy="41314"/>
            </a:xfrm>
            <a:custGeom>
              <a:avLst/>
              <a:gdLst>
                <a:gd name="T0" fmla="*/ 7 w 31"/>
                <a:gd name="T1" fmla="*/ 1 h 17"/>
                <a:gd name="T2" fmla="*/ 1 w 31"/>
                <a:gd name="T3" fmla="*/ 4 h 17"/>
                <a:gd name="T4" fmla="*/ 4 w 31"/>
                <a:gd name="T5" fmla="*/ 10 h 17"/>
                <a:gd name="T6" fmla="*/ 24 w 31"/>
                <a:gd name="T7" fmla="*/ 17 h 17"/>
                <a:gd name="T8" fmla="*/ 26 w 31"/>
                <a:gd name="T9" fmla="*/ 17 h 17"/>
                <a:gd name="T10" fmla="*/ 30 w 31"/>
                <a:gd name="T11" fmla="*/ 14 h 17"/>
                <a:gd name="T12" fmla="*/ 27 w 31"/>
                <a:gd name="T13" fmla="*/ 8 h 17"/>
                <a:gd name="T14" fmla="*/ 7 w 31"/>
                <a:gd name="T15" fmla="*/ 1 h 17"/>
                <a:gd name="T16" fmla="*/ 7 w 31"/>
                <a:gd name="T17" fmla="*/ 1 h 17"/>
                <a:gd name="T18" fmla="*/ 7 w 31"/>
                <a:gd name="T19" fmla="*/ 1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1" h="17">
                  <a:moveTo>
                    <a:pt x="7" y="1"/>
                  </a:moveTo>
                  <a:cubicBezTo>
                    <a:pt x="5" y="0"/>
                    <a:pt x="2" y="1"/>
                    <a:pt x="1" y="4"/>
                  </a:cubicBezTo>
                  <a:cubicBezTo>
                    <a:pt x="0" y="6"/>
                    <a:pt x="2" y="9"/>
                    <a:pt x="4" y="10"/>
                  </a:cubicBezTo>
                  <a:cubicBezTo>
                    <a:pt x="24" y="17"/>
                    <a:pt x="24" y="17"/>
                    <a:pt x="24" y="17"/>
                  </a:cubicBezTo>
                  <a:cubicBezTo>
                    <a:pt x="25" y="17"/>
                    <a:pt x="25" y="17"/>
                    <a:pt x="26" y="17"/>
                  </a:cubicBezTo>
                  <a:cubicBezTo>
                    <a:pt x="28" y="17"/>
                    <a:pt x="30" y="16"/>
                    <a:pt x="30" y="14"/>
                  </a:cubicBezTo>
                  <a:cubicBezTo>
                    <a:pt x="31" y="11"/>
                    <a:pt x="30" y="9"/>
                    <a:pt x="27" y="8"/>
                  </a:cubicBezTo>
                  <a:lnTo>
                    <a:pt x="7" y="1"/>
                  </a:lnTo>
                  <a:close/>
                  <a:moveTo>
                    <a:pt x="7" y="1"/>
                  </a:moveTo>
                  <a:cubicBezTo>
                    <a:pt x="7" y="1"/>
                    <a:pt x="7" y="1"/>
                    <a:pt x="7"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id-ID" dirty="0">
                <a:latin typeface="微软雅黑" panose="020B0503020204020204" pitchFamily="34" charset="-122"/>
                <a:ea typeface="微软雅黑" panose="020B0503020204020204" pitchFamily="34" charset="-122"/>
              </a:endParaRPr>
            </a:p>
          </p:txBody>
        </p:sp>
        <p:sp>
          <p:nvSpPr>
            <p:cNvPr id="14" name="Freeform 601">
              <a:extLst>
                <a:ext uri="{FF2B5EF4-FFF2-40B4-BE49-F238E27FC236}">
                  <a16:creationId xmlns:a16="http://schemas.microsoft.com/office/drawing/2014/main" id="{365E815A-2D77-441D-A1F6-2A6AC5FC19AB}"/>
                </a:ext>
              </a:extLst>
            </p:cNvPr>
            <p:cNvSpPr>
              <a:spLocks noEditPoints="1"/>
            </p:cNvSpPr>
            <p:nvPr/>
          </p:nvSpPr>
          <p:spPr bwMode="auto">
            <a:xfrm>
              <a:off x="8314390" y="2589106"/>
              <a:ext cx="17374" cy="13935"/>
            </a:xfrm>
            <a:custGeom>
              <a:avLst/>
              <a:gdLst>
                <a:gd name="T0" fmla="*/ 5 w 11"/>
                <a:gd name="T1" fmla="*/ 0 h 10"/>
                <a:gd name="T2" fmla="*/ 11 w 11"/>
                <a:gd name="T3" fmla="*/ 5 h 10"/>
                <a:gd name="T4" fmla="*/ 5 w 11"/>
                <a:gd name="T5" fmla="*/ 10 h 10"/>
                <a:gd name="T6" fmla="*/ 0 w 11"/>
                <a:gd name="T7" fmla="*/ 5 h 10"/>
                <a:gd name="T8" fmla="*/ 5 w 11"/>
                <a:gd name="T9" fmla="*/ 0 h 10"/>
                <a:gd name="T10" fmla="*/ 5 w 11"/>
                <a:gd name="T11" fmla="*/ 0 h 10"/>
                <a:gd name="T12" fmla="*/ 5 w 11"/>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1" h="10">
                  <a:moveTo>
                    <a:pt x="5" y="0"/>
                  </a:moveTo>
                  <a:cubicBezTo>
                    <a:pt x="8" y="0"/>
                    <a:pt x="11" y="2"/>
                    <a:pt x="11" y="5"/>
                  </a:cubicBezTo>
                  <a:cubicBezTo>
                    <a:pt x="11" y="7"/>
                    <a:pt x="8" y="10"/>
                    <a:pt x="5" y="10"/>
                  </a:cubicBezTo>
                  <a:cubicBezTo>
                    <a:pt x="3" y="10"/>
                    <a:pt x="0" y="7"/>
                    <a:pt x="0" y="5"/>
                  </a:cubicBezTo>
                  <a:cubicBezTo>
                    <a:pt x="0" y="2"/>
                    <a:pt x="3" y="0"/>
                    <a:pt x="5" y="0"/>
                  </a:cubicBezTo>
                  <a:close/>
                  <a:moveTo>
                    <a:pt x="5" y="0"/>
                  </a:moveTo>
                  <a:cubicBezTo>
                    <a:pt x="5" y="0"/>
                    <a:pt x="5" y="0"/>
                    <a:pt x="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15" name="Freeform 602">
              <a:extLst>
                <a:ext uri="{FF2B5EF4-FFF2-40B4-BE49-F238E27FC236}">
                  <a16:creationId xmlns:a16="http://schemas.microsoft.com/office/drawing/2014/main" id="{A9033E17-7F66-4277-8107-0221F3553EF0}"/>
                </a:ext>
              </a:extLst>
            </p:cNvPr>
            <p:cNvSpPr>
              <a:spLocks noEditPoints="1"/>
            </p:cNvSpPr>
            <p:nvPr/>
          </p:nvSpPr>
          <p:spPr bwMode="auto">
            <a:xfrm>
              <a:off x="8305704" y="2614187"/>
              <a:ext cx="14479" cy="13935"/>
            </a:xfrm>
            <a:custGeom>
              <a:avLst/>
              <a:gdLst>
                <a:gd name="T0" fmla="*/ 5 w 10"/>
                <a:gd name="T1" fmla="*/ 0 h 10"/>
                <a:gd name="T2" fmla="*/ 10 w 10"/>
                <a:gd name="T3" fmla="*/ 5 h 10"/>
                <a:gd name="T4" fmla="*/ 5 w 10"/>
                <a:gd name="T5" fmla="*/ 10 h 10"/>
                <a:gd name="T6" fmla="*/ 0 w 10"/>
                <a:gd name="T7" fmla="*/ 5 h 10"/>
                <a:gd name="T8" fmla="*/ 5 w 10"/>
                <a:gd name="T9" fmla="*/ 0 h 10"/>
                <a:gd name="T10" fmla="*/ 5 w 10"/>
                <a:gd name="T11" fmla="*/ 0 h 10"/>
                <a:gd name="T12" fmla="*/ 5 w 10"/>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5" y="0"/>
                  </a:moveTo>
                  <a:cubicBezTo>
                    <a:pt x="8" y="0"/>
                    <a:pt x="10" y="3"/>
                    <a:pt x="10" y="5"/>
                  </a:cubicBezTo>
                  <a:cubicBezTo>
                    <a:pt x="10" y="8"/>
                    <a:pt x="8" y="10"/>
                    <a:pt x="5" y="10"/>
                  </a:cubicBezTo>
                  <a:cubicBezTo>
                    <a:pt x="2" y="10"/>
                    <a:pt x="0" y="8"/>
                    <a:pt x="0" y="5"/>
                  </a:cubicBezTo>
                  <a:cubicBezTo>
                    <a:pt x="0" y="3"/>
                    <a:pt x="2" y="0"/>
                    <a:pt x="5" y="0"/>
                  </a:cubicBezTo>
                  <a:close/>
                  <a:moveTo>
                    <a:pt x="5" y="0"/>
                  </a:moveTo>
                  <a:cubicBezTo>
                    <a:pt x="5" y="0"/>
                    <a:pt x="5" y="0"/>
                    <a:pt x="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16" name="Freeform 603">
              <a:extLst>
                <a:ext uri="{FF2B5EF4-FFF2-40B4-BE49-F238E27FC236}">
                  <a16:creationId xmlns:a16="http://schemas.microsoft.com/office/drawing/2014/main" id="{7F15924C-778D-4118-8D29-2F27B15C17B4}"/>
                </a:ext>
              </a:extLst>
            </p:cNvPr>
            <p:cNvSpPr>
              <a:spLocks noEditPoints="1"/>
            </p:cNvSpPr>
            <p:nvPr/>
          </p:nvSpPr>
          <p:spPr bwMode="auto">
            <a:xfrm>
              <a:off x="8291225" y="2642058"/>
              <a:ext cx="17374" cy="16722"/>
            </a:xfrm>
            <a:custGeom>
              <a:avLst/>
              <a:gdLst>
                <a:gd name="T0" fmla="*/ 5 w 10"/>
                <a:gd name="T1" fmla="*/ 0 h 10"/>
                <a:gd name="T2" fmla="*/ 10 w 10"/>
                <a:gd name="T3" fmla="*/ 5 h 10"/>
                <a:gd name="T4" fmla="*/ 5 w 10"/>
                <a:gd name="T5" fmla="*/ 10 h 10"/>
                <a:gd name="T6" fmla="*/ 0 w 10"/>
                <a:gd name="T7" fmla="*/ 5 h 10"/>
                <a:gd name="T8" fmla="*/ 5 w 10"/>
                <a:gd name="T9" fmla="*/ 0 h 10"/>
                <a:gd name="T10" fmla="*/ 5 w 10"/>
                <a:gd name="T11" fmla="*/ 0 h 10"/>
                <a:gd name="T12" fmla="*/ 5 w 10"/>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5" y="0"/>
                  </a:moveTo>
                  <a:cubicBezTo>
                    <a:pt x="8" y="0"/>
                    <a:pt x="10" y="2"/>
                    <a:pt x="10" y="5"/>
                  </a:cubicBezTo>
                  <a:cubicBezTo>
                    <a:pt x="10" y="8"/>
                    <a:pt x="8" y="10"/>
                    <a:pt x="5" y="10"/>
                  </a:cubicBezTo>
                  <a:cubicBezTo>
                    <a:pt x="2" y="10"/>
                    <a:pt x="0" y="8"/>
                    <a:pt x="0" y="5"/>
                  </a:cubicBezTo>
                  <a:cubicBezTo>
                    <a:pt x="0" y="2"/>
                    <a:pt x="2" y="0"/>
                    <a:pt x="5" y="0"/>
                  </a:cubicBezTo>
                  <a:close/>
                  <a:moveTo>
                    <a:pt x="5" y="0"/>
                  </a:moveTo>
                  <a:cubicBezTo>
                    <a:pt x="5" y="0"/>
                    <a:pt x="5" y="0"/>
                    <a:pt x="5" y="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grpSp>
      <p:grpSp>
        <p:nvGrpSpPr>
          <p:cNvPr id="17" name="Group 138">
            <a:extLst>
              <a:ext uri="{FF2B5EF4-FFF2-40B4-BE49-F238E27FC236}">
                <a16:creationId xmlns:a16="http://schemas.microsoft.com/office/drawing/2014/main" id="{25AEBC80-DF10-42CD-B32E-59D8699B0392}"/>
              </a:ext>
            </a:extLst>
          </p:cNvPr>
          <p:cNvGrpSpPr/>
          <p:nvPr/>
        </p:nvGrpSpPr>
        <p:grpSpPr>
          <a:xfrm>
            <a:off x="5433985" y="2960533"/>
            <a:ext cx="328674" cy="384742"/>
            <a:chOff x="6980238" y="-342900"/>
            <a:chExt cx="1150937" cy="1311275"/>
          </a:xfrm>
          <a:solidFill>
            <a:schemeClr val="bg1"/>
          </a:solidFill>
        </p:grpSpPr>
        <p:sp>
          <p:nvSpPr>
            <p:cNvPr id="18" name="Freeform 30">
              <a:extLst>
                <a:ext uri="{FF2B5EF4-FFF2-40B4-BE49-F238E27FC236}">
                  <a16:creationId xmlns:a16="http://schemas.microsoft.com/office/drawing/2014/main" id="{56C96389-0B6E-42F7-8DF6-4BE97BD54287}"/>
                </a:ext>
              </a:extLst>
            </p:cNvPr>
            <p:cNvSpPr>
              <a:spLocks noEditPoints="1"/>
            </p:cNvSpPr>
            <p:nvPr/>
          </p:nvSpPr>
          <p:spPr bwMode="auto">
            <a:xfrm>
              <a:off x="6980238" y="-342900"/>
              <a:ext cx="1150937" cy="1311275"/>
            </a:xfrm>
            <a:custGeom>
              <a:avLst/>
              <a:gdLst>
                <a:gd name="T0" fmla="*/ 152 w 304"/>
                <a:gd name="T1" fmla="*/ 0 h 347"/>
                <a:gd name="T2" fmla="*/ 0 w 304"/>
                <a:gd name="T3" fmla="*/ 71 h 347"/>
                <a:gd name="T4" fmla="*/ 0 w 304"/>
                <a:gd name="T5" fmla="*/ 277 h 347"/>
                <a:gd name="T6" fmla="*/ 152 w 304"/>
                <a:gd name="T7" fmla="*/ 347 h 347"/>
                <a:gd name="T8" fmla="*/ 304 w 304"/>
                <a:gd name="T9" fmla="*/ 277 h 347"/>
                <a:gd name="T10" fmla="*/ 304 w 304"/>
                <a:gd name="T11" fmla="*/ 71 h 347"/>
                <a:gd name="T12" fmla="*/ 152 w 304"/>
                <a:gd name="T13" fmla="*/ 0 h 347"/>
                <a:gd name="T14" fmla="*/ 282 w 304"/>
                <a:gd name="T15" fmla="*/ 277 h 347"/>
                <a:gd name="T16" fmla="*/ 152 w 304"/>
                <a:gd name="T17" fmla="*/ 326 h 347"/>
                <a:gd name="T18" fmla="*/ 22 w 304"/>
                <a:gd name="T19" fmla="*/ 277 h 347"/>
                <a:gd name="T20" fmla="*/ 22 w 304"/>
                <a:gd name="T21" fmla="*/ 236 h 347"/>
                <a:gd name="T22" fmla="*/ 152 w 304"/>
                <a:gd name="T23" fmla="*/ 271 h 347"/>
                <a:gd name="T24" fmla="*/ 282 w 304"/>
                <a:gd name="T25" fmla="*/ 236 h 347"/>
                <a:gd name="T26" fmla="*/ 282 w 304"/>
                <a:gd name="T27" fmla="*/ 277 h 347"/>
                <a:gd name="T28" fmla="*/ 282 w 304"/>
                <a:gd name="T29" fmla="*/ 212 h 347"/>
                <a:gd name="T30" fmla="*/ 282 w 304"/>
                <a:gd name="T31" fmla="*/ 212 h 347"/>
                <a:gd name="T32" fmla="*/ 282 w 304"/>
                <a:gd name="T33" fmla="*/ 212 h 347"/>
                <a:gd name="T34" fmla="*/ 152 w 304"/>
                <a:gd name="T35" fmla="*/ 261 h 347"/>
                <a:gd name="T36" fmla="*/ 22 w 304"/>
                <a:gd name="T37" fmla="*/ 212 h 347"/>
                <a:gd name="T38" fmla="*/ 22 w 304"/>
                <a:gd name="T39" fmla="*/ 212 h 347"/>
                <a:gd name="T40" fmla="*/ 22 w 304"/>
                <a:gd name="T41" fmla="*/ 212 h 347"/>
                <a:gd name="T42" fmla="*/ 22 w 304"/>
                <a:gd name="T43" fmla="*/ 171 h 347"/>
                <a:gd name="T44" fmla="*/ 152 w 304"/>
                <a:gd name="T45" fmla="*/ 206 h 347"/>
                <a:gd name="T46" fmla="*/ 282 w 304"/>
                <a:gd name="T47" fmla="*/ 171 h 347"/>
                <a:gd name="T48" fmla="*/ 282 w 304"/>
                <a:gd name="T49" fmla="*/ 212 h 347"/>
                <a:gd name="T50" fmla="*/ 282 w 304"/>
                <a:gd name="T51" fmla="*/ 147 h 347"/>
                <a:gd name="T52" fmla="*/ 282 w 304"/>
                <a:gd name="T53" fmla="*/ 147 h 347"/>
                <a:gd name="T54" fmla="*/ 282 w 304"/>
                <a:gd name="T55" fmla="*/ 147 h 347"/>
                <a:gd name="T56" fmla="*/ 152 w 304"/>
                <a:gd name="T57" fmla="*/ 195 h 347"/>
                <a:gd name="T58" fmla="*/ 22 w 304"/>
                <a:gd name="T59" fmla="*/ 147 h 347"/>
                <a:gd name="T60" fmla="*/ 22 w 304"/>
                <a:gd name="T61" fmla="*/ 147 h 347"/>
                <a:gd name="T62" fmla="*/ 22 w 304"/>
                <a:gd name="T63" fmla="*/ 147 h 347"/>
                <a:gd name="T64" fmla="*/ 22 w 304"/>
                <a:gd name="T65" fmla="*/ 109 h 347"/>
                <a:gd name="T66" fmla="*/ 152 w 304"/>
                <a:gd name="T67" fmla="*/ 141 h 347"/>
                <a:gd name="T68" fmla="*/ 282 w 304"/>
                <a:gd name="T69" fmla="*/ 109 h 347"/>
                <a:gd name="T70" fmla="*/ 282 w 304"/>
                <a:gd name="T71" fmla="*/ 147 h 347"/>
                <a:gd name="T72" fmla="*/ 152 w 304"/>
                <a:gd name="T73" fmla="*/ 119 h 347"/>
                <a:gd name="T74" fmla="*/ 22 w 304"/>
                <a:gd name="T75" fmla="*/ 71 h 347"/>
                <a:gd name="T76" fmla="*/ 152 w 304"/>
                <a:gd name="T77" fmla="*/ 22 h 347"/>
                <a:gd name="T78" fmla="*/ 282 w 304"/>
                <a:gd name="T79" fmla="*/ 71 h 347"/>
                <a:gd name="T80" fmla="*/ 152 w 304"/>
                <a:gd name="T81" fmla="*/ 119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04" h="347">
                  <a:moveTo>
                    <a:pt x="152" y="0"/>
                  </a:moveTo>
                  <a:cubicBezTo>
                    <a:pt x="79" y="0"/>
                    <a:pt x="0" y="22"/>
                    <a:pt x="0" y="71"/>
                  </a:cubicBezTo>
                  <a:cubicBezTo>
                    <a:pt x="0" y="277"/>
                    <a:pt x="0" y="277"/>
                    <a:pt x="0" y="277"/>
                  </a:cubicBezTo>
                  <a:cubicBezTo>
                    <a:pt x="0" y="325"/>
                    <a:pt x="79" y="347"/>
                    <a:pt x="152" y="347"/>
                  </a:cubicBezTo>
                  <a:cubicBezTo>
                    <a:pt x="225" y="347"/>
                    <a:pt x="304" y="325"/>
                    <a:pt x="304" y="277"/>
                  </a:cubicBezTo>
                  <a:cubicBezTo>
                    <a:pt x="304" y="71"/>
                    <a:pt x="304" y="71"/>
                    <a:pt x="304" y="71"/>
                  </a:cubicBezTo>
                  <a:cubicBezTo>
                    <a:pt x="304" y="22"/>
                    <a:pt x="225" y="0"/>
                    <a:pt x="152" y="0"/>
                  </a:cubicBezTo>
                  <a:close/>
                  <a:moveTo>
                    <a:pt x="282" y="277"/>
                  </a:moveTo>
                  <a:cubicBezTo>
                    <a:pt x="282" y="304"/>
                    <a:pt x="224" y="326"/>
                    <a:pt x="152" y="326"/>
                  </a:cubicBezTo>
                  <a:cubicBezTo>
                    <a:pt x="80" y="326"/>
                    <a:pt x="22" y="304"/>
                    <a:pt x="22" y="277"/>
                  </a:cubicBezTo>
                  <a:cubicBezTo>
                    <a:pt x="22" y="236"/>
                    <a:pt x="22" y="236"/>
                    <a:pt x="22" y="236"/>
                  </a:cubicBezTo>
                  <a:cubicBezTo>
                    <a:pt x="44" y="259"/>
                    <a:pt x="98" y="271"/>
                    <a:pt x="152" y="271"/>
                  </a:cubicBezTo>
                  <a:cubicBezTo>
                    <a:pt x="206" y="271"/>
                    <a:pt x="260" y="259"/>
                    <a:pt x="282" y="236"/>
                  </a:cubicBezTo>
                  <a:lnTo>
                    <a:pt x="282" y="277"/>
                  </a:lnTo>
                  <a:close/>
                  <a:moveTo>
                    <a:pt x="282" y="212"/>
                  </a:moveTo>
                  <a:cubicBezTo>
                    <a:pt x="282" y="212"/>
                    <a:pt x="282" y="212"/>
                    <a:pt x="282" y="212"/>
                  </a:cubicBezTo>
                  <a:cubicBezTo>
                    <a:pt x="282" y="212"/>
                    <a:pt x="282" y="212"/>
                    <a:pt x="282" y="212"/>
                  </a:cubicBezTo>
                  <a:cubicBezTo>
                    <a:pt x="282" y="239"/>
                    <a:pt x="224" y="261"/>
                    <a:pt x="152" y="261"/>
                  </a:cubicBezTo>
                  <a:cubicBezTo>
                    <a:pt x="80" y="261"/>
                    <a:pt x="22" y="239"/>
                    <a:pt x="22" y="212"/>
                  </a:cubicBezTo>
                  <a:cubicBezTo>
                    <a:pt x="22" y="212"/>
                    <a:pt x="22" y="212"/>
                    <a:pt x="22" y="212"/>
                  </a:cubicBezTo>
                  <a:cubicBezTo>
                    <a:pt x="22" y="212"/>
                    <a:pt x="22" y="212"/>
                    <a:pt x="22" y="212"/>
                  </a:cubicBezTo>
                  <a:cubicBezTo>
                    <a:pt x="22" y="171"/>
                    <a:pt x="22" y="171"/>
                    <a:pt x="22" y="171"/>
                  </a:cubicBezTo>
                  <a:cubicBezTo>
                    <a:pt x="44" y="194"/>
                    <a:pt x="98" y="206"/>
                    <a:pt x="152" y="206"/>
                  </a:cubicBezTo>
                  <a:cubicBezTo>
                    <a:pt x="206" y="206"/>
                    <a:pt x="260" y="194"/>
                    <a:pt x="282" y="171"/>
                  </a:cubicBezTo>
                  <a:lnTo>
                    <a:pt x="282" y="212"/>
                  </a:lnTo>
                  <a:close/>
                  <a:moveTo>
                    <a:pt x="282" y="147"/>
                  </a:moveTo>
                  <a:cubicBezTo>
                    <a:pt x="282" y="147"/>
                    <a:pt x="282" y="147"/>
                    <a:pt x="282" y="147"/>
                  </a:cubicBezTo>
                  <a:cubicBezTo>
                    <a:pt x="282" y="147"/>
                    <a:pt x="282" y="147"/>
                    <a:pt x="282" y="147"/>
                  </a:cubicBezTo>
                  <a:cubicBezTo>
                    <a:pt x="282" y="174"/>
                    <a:pt x="224" y="195"/>
                    <a:pt x="152" y="195"/>
                  </a:cubicBezTo>
                  <a:cubicBezTo>
                    <a:pt x="80" y="195"/>
                    <a:pt x="22" y="174"/>
                    <a:pt x="22" y="147"/>
                  </a:cubicBezTo>
                  <a:cubicBezTo>
                    <a:pt x="22" y="147"/>
                    <a:pt x="22" y="147"/>
                    <a:pt x="22" y="147"/>
                  </a:cubicBezTo>
                  <a:cubicBezTo>
                    <a:pt x="22" y="147"/>
                    <a:pt x="22" y="147"/>
                    <a:pt x="22" y="147"/>
                  </a:cubicBezTo>
                  <a:cubicBezTo>
                    <a:pt x="22" y="109"/>
                    <a:pt x="22" y="109"/>
                    <a:pt x="22" y="109"/>
                  </a:cubicBezTo>
                  <a:cubicBezTo>
                    <a:pt x="50" y="131"/>
                    <a:pt x="102" y="141"/>
                    <a:pt x="152" y="141"/>
                  </a:cubicBezTo>
                  <a:cubicBezTo>
                    <a:pt x="202" y="141"/>
                    <a:pt x="254" y="131"/>
                    <a:pt x="282" y="109"/>
                  </a:cubicBezTo>
                  <a:lnTo>
                    <a:pt x="282" y="147"/>
                  </a:lnTo>
                  <a:close/>
                  <a:moveTo>
                    <a:pt x="152" y="119"/>
                  </a:moveTo>
                  <a:cubicBezTo>
                    <a:pt x="80" y="119"/>
                    <a:pt x="22" y="98"/>
                    <a:pt x="22" y="71"/>
                  </a:cubicBezTo>
                  <a:cubicBezTo>
                    <a:pt x="22" y="44"/>
                    <a:pt x="80" y="22"/>
                    <a:pt x="152" y="22"/>
                  </a:cubicBezTo>
                  <a:cubicBezTo>
                    <a:pt x="224" y="22"/>
                    <a:pt x="282" y="44"/>
                    <a:pt x="282" y="71"/>
                  </a:cubicBezTo>
                  <a:cubicBezTo>
                    <a:pt x="282" y="98"/>
                    <a:pt x="224" y="119"/>
                    <a:pt x="152" y="119"/>
                  </a:cubicBezTo>
                  <a:close/>
                </a:path>
              </a:pathLst>
            </a:cu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19" name="Oval 31">
              <a:extLst>
                <a:ext uri="{FF2B5EF4-FFF2-40B4-BE49-F238E27FC236}">
                  <a16:creationId xmlns:a16="http://schemas.microsoft.com/office/drawing/2014/main" id="{F092179E-C0CF-41A6-8217-C6CCD6F368FC}"/>
                </a:ext>
              </a:extLst>
            </p:cNvPr>
            <p:cNvSpPr>
              <a:spLocks noChangeArrowheads="1"/>
            </p:cNvSpPr>
            <p:nvPr/>
          </p:nvSpPr>
          <p:spPr bwMode="auto">
            <a:xfrm>
              <a:off x="7885113" y="681038"/>
              <a:ext cx="82550" cy="84138"/>
            </a:xfrm>
            <a:prstGeom prst="ellipse">
              <a:avLst/>
            </a:pr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20" name="Oval 32">
              <a:extLst>
                <a:ext uri="{FF2B5EF4-FFF2-40B4-BE49-F238E27FC236}">
                  <a16:creationId xmlns:a16="http://schemas.microsoft.com/office/drawing/2014/main" id="{ACA6A1FB-4071-4E16-8186-57E2E9EE8186}"/>
                </a:ext>
              </a:extLst>
            </p:cNvPr>
            <p:cNvSpPr>
              <a:spLocks noChangeArrowheads="1"/>
            </p:cNvSpPr>
            <p:nvPr/>
          </p:nvSpPr>
          <p:spPr bwMode="auto">
            <a:xfrm>
              <a:off x="7885113" y="434975"/>
              <a:ext cx="82550" cy="84138"/>
            </a:xfrm>
            <a:prstGeom prst="ellipse">
              <a:avLst/>
            </a:pr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sp>
          <p:nvSpPr>
            <p:cNvPr id="21" name="Oval 33">
              <a:extLst>
                <a:ext uri="{FF2B5EF4-FFF2-40B4-BE49-F238E27FC236}">
                  <a16:creationId xmlns:a16="http://schemas.microsoft.com/office/drawing/2014/main" id="{E7D55655-7F79-47CC-A2FE-E3CA900DAB90}"/>
                </a:ext>
              </a:extLst>
            </p:cNvPr>
            <p:cNvSpPr>
              <a:spLocks noChangeArrowheads="1"/>
            </p:cNvSpPr>
            <p:nvPr/>
          </p:nvSpPr>
          <p:spPr bwMode="auto">
            <a:xfrm>
              <a:off x="7885113" y="190500"/>
              <a:ext cx="82550" cy="82550"/>
            </a:xfrm>
            <a:prstGeom prst="ellipse">
              <a:avLst/>
            </a:prstGeom>
            <a:grpFill/>
            <a:ln>
              <a:noFill/>
            </a:ln>
            <a:extLst>
              <a:ext uri="{91240B29-F687-4f45-9708-019B960494DF}"/>
            </a:extLst>
          </p:spPr>
          <p:txBody>
            <a:bodyPr/>
            <a:lstStyle/>
            <a:p>
              <a:pPr eaLnBrk="1" fontAlgn="auto" hangingPunct="1">
                <a:spcBef>
                  <a:spcPts val="0"/>
                </a:spcBef>
                <a:spcAft>
                  <a:spcPts val="0"/>
                </a:spcAft>
                <a:defRPr/>
              </a:pPr>
              <a:endParaRPr lang="id-ID">
                <a:latin typeface="微软雅黑" panose="020B0503020204020204" pitchFamily="34" charset="-122"/>
                <a:ea typeface="微软雅黑" panose="020B0503020204020204" pitchFamily="34" charset="-122"/>
              </a:endParaRPr>
            </a:p>
          </p:txBody>
        </p:sp>
      </p:grpSp>
      <p:sp>
        <p:nvSpPr>
          <p:cNvPr id="22" name="矩形 21">
            <a:extLst>
              <a:ext uri="{FF2B5EF4-FFF2-40B4-BE49-F238E27FC236}">
                <a16:creationId xmlns:a16="http://schemas.microsoft.com/office/drawing/2014/main" id="{63763ED2-511B-4D88-9B47-F213E304348D}"/>
              </a:ext>
            </a:extLst>
          </p:cNvPr>
          <p:cNvSpPr/>
          <p:nvPr/>
        </p:nvSpPr>
        <p:spPr>
          <a:xfrm>
            <a:off x="395536" y="3379124"/>
            <a:ext cx="2817195" cy="923330"/>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在企业扩张中，会先出现规模报酬递增，然后出现规模报酬递减</a:t>
            </a:r>
          </a:p>
        </p:txBody>
      </p:sp>
      <p:sp>
        <p:nvSpPr>
          <p:cNvPr id="23" name="矩形 22">
            <a:extLst>
              <a:ext uri="{FF2B5EF4-FFF2-40B4-BE49-F238E27FC236}">
                <a16:creationId xmlns:a16="http://schemas.microsoft.com/office/drawing/2014/main" id="{9EFD2C45-0DD2-40B2-AD1A-CDB8B4596660}"/>
              </a:ext>
            </a:extLst>
          </p:cNvPr>
          <p:cNvSpPr/>
          <p:nvPr/>
        </p:nvSpPr>
        <p:spPr>
          <a:xfrm>
            <a:off x="5974371" y="2369311"/>
            <a:ext cx="2789654" cy="923330"/>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同样，在企业扩张中，企业会先出现规模经济，然后出现规模不经济</a:t>
            </a:r>
          </a:p>
        </p:txBody>
      </p:sp>
      <p:sp>
        <p:nvSpPr>
          <p:cNvPr id="26" name="矩形 25">
            <a:extLst>
              <a:ext uri="{FF2B5EF4-FFF2-40B4-BE49-F238E27FC236}">
                <a16:creationId xmlns:a16="http://schemas.microsoft.com/office/drawing/2014/main" id="{CE3A59A1-0FA7-4B07-BCC4-5AEF94692A9C}"/>
              </a:ext>
            </a:extLst>
          </p:cNvPr>
          <p:cNvSpPr/>
          <p:nvPr/>
        </p:nvSpPr>
        <p:spPr>
          <a:xfrm>
            <a:off x="580922" y="520573"/>
            <a:ext cx="6079310"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四、规模经济和长期平均成本曲线的形状</a:t>
            </a:r>
          </a:p>
        </p:txBody>
      </p:sp>
    </p:spTree>
    <p:extLst>
      <p:ext uri="{BB962C8B-B14F-4D97-AF65-F5344CB8AC3E}">
        <p14:creationId xmlns:p14="http://schemas.microsoft.com/office/powerpoint/2010/main" val="2319409075"/>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p:cTn id="7" dur="500" fill="hold"/>
                                        <p:tgtEl>
                                          <p:spTgt spid="26"/>
                                        </p:tgtEl>
                                        <p:attrNameLst>
                                          <p:attrName>ppt_w</p:attrName>
                                        </p:attrNameLst>
                                      </p:cBhvr>
                                      <p:tavLst>
                                        <p:tav tm="0">
                                          <p:val>
                                            <p:fltVal val="0"/>
                                          </p:val>
                                        </p:tav>
                                        <p:tav tm="100000">
                                          <p:val>
                                            <p:strVal val="#ppt_w"/>
                                          </p:val>
                                        </p:tav>
                                      </p:tavLst>
                                    </p:anim>
                                    <p:anim calcmode="lin" valueType="num">
                                      <p:cBhvr>
                                        <p:cTn id="8" dur="500" fill="hold"/>
                                        <p:tgtEl>
                                          <p:spTgt spid="26"/>
                                        </p:tgtEl>
                                        <p:attrNameLst>
                                          <p:attrName>ppt_h</p:attrName>
                                        </p:attrNameLst>
                                      </p:cBhvr>
                                      <p:tavLst>
                                        <p:tav tm="0">
                                          <p:val>
                                            <p:fltVal val="0"/>
                                          </p:val>
                                        </p:tav>
                                        <p:tav tm="100000">
                                          <p:val>
                                            <p:strVal val="#ppt_h"/>
                                          </p:val>
                                        </p:tav>
                                      </p:tavLst>
                                    </p:anim>
                                    <p:animEffect transition="in" filter="fade">
                                      <p:cBhvr>
                                        <p:cTn id="9" dur="500"/>
                                        <p:tgtEl>
                                          <p:spTgt spid="26"/>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 calcmode="lin" valueType="num">
                                      <p:cBhvr>
                                        <p:cTn id="14" dur="500" fill="hold"/>
                                        <p:tgtEl>
                                          <p:spTgt spid="24"/>
                                        </p:tgtEl>
                                        <p:attrNameLst>
                                          <p:attrName>ppt_w</p:attrName>
                                        </p:attrNameLst>
                                      </p:cBhvr>
                                      <p:tavLst>
                                        <p:tav tm="0">
                                          <p:val>
                                            <p:fltVal val="0"/>
                                          </p:val>
                                        </p:tav>
                                        <p:tav tm="100000">
                                          <p:val>
                                            <p:strVal val="#ppt_w"/>
                                          </p:val>
                                        </p:tav>
                                      </p:tavLst>
                                    </p:anim>
                                    <p:anim calcmode="lin" valueType="num">
                                      <p:cBhvr>
                                        <p:cTn id="15" dur="500" fill="hold"/>
                                        <p:tgtEl>
                                          <p:spTgt spid="24"/>
                                        </p:tgtEl>
                                        <p:attrNameLst>
                                          <p:attrName>ppt_h</p:attrName>
                                        </p:attrNameLst>
                                      </p:cBhvr>
                                      <p:tavLst>
                                        <p:tav tm="0">
                                          <p:val>
                                            <p:fltVal val="0"/>
                                          </p:val>
                                        </p:tav>
                                        <p:tav tm="100000">
                                          <p:val>
                                            <p:strVal val="#ppt_h"/>
                                          </p:val>
                                        </p:tav>
                                      </p:tavLst>
                                    </p:anim>
                                    <p:animEffect transition="in" filter="fade">
                                      <p:cBhvr>
                                        <p:cTn id="16" dur="500"/>
                                        <p:tgtEl>
                                          <p:spTgt spid="24"/>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ppt_x</p:attrName>
                                        </p:attrNameLst>
                                      </p:cBhvr>
                                      <p:tavLst>
                                        <p:tav tm="0">
                                          <p:val>
                                            <p:strVal val="#ppt_x"/>
                                          </p:val>
                                        </p:tav>
                                        <p:tav tm="100000">
                                          <p:val>
                                            <p:strVal val="#ppt_x"/>
                                          </p:val>
                                        </p:tav>
                                      </p:tavLst>
                                    </p:anim>
                                    <p:anim calcmode="lin" valueType="num">
                                      <p:cBhvr additive="base">
                                        <p:cTn id="31" dur="500" fill="hold"/>
                                        <p:tgtEl>
                                          <p:spTgt spid="8"/>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 calcmode="lin" valueType="num">
                                      <p:cBhvr additive="base">
                                        <p:cTn id="34" dur="500" fill="hold"/>
                                        <p:tgtEl>
                                          <p:spTgt spid="22"/>
                                        </p:tgtEl>
                                        <p:attrNameLst>
                                          <p:attrName>ppt_x</p:attrName>
                                        </p:attrNameLst>
                                      </p:cBhvr>
                                      <p:tavLst>
                                        <p:tav tm="0">
                                          <p:val>
                                            <p:strVal val="#ppt_x"/>
                                          </p:val>
                                        </p:tav>
                                        <p:tav tm="100000">
                                          <p:val>
                                            <p:strVal val="#ppt_x"/>
                                          </p:val>
                                        </p:tav>
                                      </p:tavLst>
                                    </p:anim>
                                    <p:anim calcmode="lin" valueType="num">
                                      <p:cBhvr additive="base">
                                        <p:cTn id="35"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additive="base">
                                        <p:cTn id="40" dur="500" fill="hold"/>
                                        <p:tgtEl>
                                          <p:spTgt spid="9"/>
                                        </p:tgtEl>
                                        <p:attrNameLst>
                                          <p:attrName>ppt_x</p:attrName>
                                        </p:attrNameLst>
                                      </p:cBhvr>
                                      <p:tavLst>
                                        <p:tav tm="0">
                                          <p:val>
                                            <p:strVal val="#ppt_x"/>
                                          </p:val>
                                        </p:tav>
                                        <p:tav tm="100000">
                                          <p:val>
                                            <p:strVal val="#ppt_x"/>
                                          </p:val>
                                        </p:tav>
                                      </p:tavLst>
                                    </p:anim>
                                    <p:anim calcmode="lin" valueType="num">
                                      <p:cBhvr additive="base">
                                        <p:cTn id="41" dur="500" fill="hold"/>
                                        <p:tgtEl>
                                          <p:spTgt spid="9"/>
                                        </p:tgtEl>
                                        <p:attrNameLst>
                                          <p:attrName>ppt_y</p:attrName>
                                        </p:attrNameLst>
                                      </p:cBhvr>
                                      <p:tavLst>
                                        <p:tav tm="0">
                                          <p:val>
                                            <p:strVal val="1+#ppt_h/2"/>
                                          </p:val>
                                        </p:tav>
                                        <p:tav tm="100000">
                                          <p:val>
                                            <p:strVal val="#ppt_y"/>
                                          </p:val>
                                        </p:tav>
                                      </p:tavLst>
                                    </p:anim>
                                  </p:childTnLst>
                                </p:cTn>
                              </p:par>
                              <p:par>
                                <p:cTn id="42" presetID="2" presetClass="entr" presetSubtype="4" fill="hold" grpId="0" nodeType="withEffect">
                                  <p:stCondLst>
                                    <p:cond delay="0"/>
                                  </p:stCondLst>
                                  <p:childTnLst>
                                    <p:set>
                                      <p:cBhvr>
                                        <p:cTn id="43" dur="1" fill="hold">
                                          <p:stCondLst>
                                            <p:cond delay="0"/>
                                          </p:stCondLst>
                                        </p:cTn>
                                        <p:tgtEl>
                                          <p:spTgt spid="7"/>
                                        </p:tgtEl>
                                        <p:attrNameLst>
                                          <p:attrName>style.visibility</p:attrName>
                                        </p:attrNameLst>
                                      </p:cBhvr>
                                      <p:to>
                                        <p:strVal val="visible"/>
                                      </p:to>
                                    </p:set>
                                    <p:anim calcmode="lin" valueType="num">
                                      <p:cBhvr additive="base">
                                        <p:cTn id="44" dur="500" fill="hold"/>
                                        <p:tgtEl>
                                          <p:spTgt spid="7"/>
                                        </p:tgtEl>
                                        <p:attrNameLst>
                                          <p:attrName>ppt_x</p:attrName>
                                        </p:attrNameLst>
                                      </p:cBhvr>
                                      <p:tavLst>
                                        <p:tav tm="0">
                                          <p:val>
                                            <p:strVal val="#ppt_x"/>
                                          </p:val>
                                        </p:tav>
                                        <p:tav tm="100000">
                                          <p:val>
                                            <p:strVal val="#ppt_x"/>
                                          </p:val>
                                        </p:tav>
                                      </p:tavLst>
                                    </p:anim>
                                    <p:anim calcmode="lin" valueType="num">
                                      <p:cBhvr additive="base">
                                        <p:cTn id="45" dur="500" fill="hold"/>
                                        <p:tgtEl>
                                          <p:spTgt spid="7"/>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4"/>
                                        </p:tgtEl>
                                        <p:attrNameLst>
                                          <p:attrName>style.visibility</p:attrName>
                                        </p:attrNameLst>
                                      </p:cBhvr>
                                      <p:to>
                                        <p:strVal val="visible"/>
                                      </p:to>
                                    </p:set>
                                    <p:anim calcmode="lin" valueType="num">
                                      <p:cBhvr additive="base">
                                        <p:cTn id="48" dur="500" fill="hold"/>
                                        <p:tgtEl>
                                          <p:spTgt spid="4"/>
                                        </p:tgtEl>
                                        <p:attrNameLst>
                                          <p:attrName>ppt_x</p:attrName>
                                        </p:attrNameLst>
                                      </p:cBhvr>
                                      <p:tavLst>
                                        <p:tav tm="0">
                                          <p:val>
                                            <p:strVal val="#ppt_x"/>
                                          </p:val>
                                        </p:tav>
                                        <p:tav tm="100000">
                                          <p:val>
                                            <p:strVal val="#ppt_x"/>
                                          </p:val>
                                        </p:tav>
                                      </p:tavLst>
                                    </p:anim>
                                    <p:anim calcmode="lin" valueType="num">
                                      <p:cBhvr additive="base">
                                        <p:cTn id="49"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nodeType="clickEffect">
                                  <p:stCondLst>
                                    <p:cond delay="0"/>
                                  </p:stCondLst>
                                  <p:childTnLst>
                                    <p:set>
                                      <p:cBhvr>
                                        <p:cTn id="53" dur="1" fill="hold">
                                          <p:stCondLst>
                                            <p:cond delay="0"/>
                                          </p:stCondLst>
                                        </p:cTn>
                                        <p:tgtEl>
                                          <p:spTgt spid="17"/>
                                        </p:tgtEl>
                                        <p:attrNameLst>
                                          <p:attrName>style.visibility</p:attrName>
                                        </p:attrNameLst>
                                      </p:cBhvr>
                                      <p:to>
                                        <p:strVal val="visible"/>
                                      </p:to>
                                    </p:set>
                                    <p:anim calcmode="lin" valueType="num">
                                      <p:cBhvr additive="base">
                                        <p:cTn id="54" dur="500" fill="hold"/>
                                        <p:tgtEl>
                                          <p:spTgt spid="17"/>
                                        </p:tgtEl>
                                        <p:attrNameLst>
                                          <p:attrName>ppt_x</p:attrName>
                                        </p:attrNameLst>
                                      </p:cBhvr>
                                      <p:tavLst>
                                        <p:tav tm="0">
                                          <p:val>
                                            <p:strVal val="1+#ppt_w/2"/>
                                          </p:val>
                                        </p:tav>
                                        <p:tav tm="100000">
                                          <p:val>
                                            <p:strVal val="#ppt_x"/>
                                          </p:val>
                                        </p:tav>
                                      </p:tavLst>
                                    </p:anim>
                                    <p:anim calcmode="lin" valueType="num">
                                      <p:cBhvr additive="base">
                                        <p:cTn id="55" dur="500" fill="hold"/>
                                        <p:tgtEl>
                                          <p:spTgt spid="17"/>
                                        </p:tgtEl>
                                        <p:attrNameLst>
                                          <p:attrName>ppt_y</p:attrName>
                                        </p:attrNameLst>
                                      </p:cBhvr>
                                      <p:tavLst>
                                        <p:tav tm="0">
                                          <p:val>
                                            <p:strVal val="#ppt_y"/>
                                          </p:val>
                                        </p:tav>
                                        <p:tav tm="100000">
                                          <p:val>
                                            <p:strVal val="#ppt_y"/>
                                          </p:val>
                                        </p:tav>
                                      </p:tavLst>
                                    </p:anim>
                                  </p:childTnLst>
                                </p:cTn>
                              </p:par>
                              <p:par>
                                <p:cTn id="56" presetID="2" presetClass="entr" presetSubtype="2" fill="hold" grpId="0" nodeType="withEffect">
                                  <p:stCondLst>
                                    <p:cond delay="0"/>
                                  </p:stCondLst>
                                  <p:childTnLst>
                                    <p:set>
                                      <p:cBhvr>
                                        <p:cTn id="57" dur="1" fill="hold">
                                          <p:stCondLst>
                                            <p:cond delay="0"/>
                                          </p:stCondLst>
                                        </p:cTn>
                                        <p:tgtEl>
                                          <p:spTgt spid="6"/>
                                        </p:tgtEl>
                                        <p:attrNameLst>
                                          <p:attrName>style.visibility</p:attrName>
                                        </p:attrNameLst>
                                      </p:cBhvr>
                                      <p:to>
                                        <p:strVal val="visible"/>
                                      </p:to>
                                    </p:set>
                                    <p:anim calcmode="lin" valueType="num">
                                      <p:cBhvr additive="base">
                                        <p:cTn id="58" dur="500" fill="hold"/>
                                        <p:tgtEl>
                                          <p:spTgt spid="6"/>
                                        </p:tgtEl>
                                        <p:attrNameLst>
                                          <p:attrName>ppt_x</p:attrName>
                                        </p:attrNameLst>
                                      </p:cBhvr>
                                      <p:tavLst>
                                        <p:tav tm="0">
                                          <p:val>
                                            <p:strVal val="1+#ppt_w/2"/>
                                          </p:val>
                                        </p:tav>
                                        <p:tav tm="100000">
                                          <p:val>
                                            <p:strVal val="#ppt_x"/>
                                          </p:val>
                                        </p:tav>
                                      </p:tavLst>
                                    </p:anim>
                                    <p:anim calcmode="lin" valueType="num">
                                      <p:cBhvr additive="base">
                                        <p:cTn id="59" dur="500" fill="hold"/>
                                        <p:tgtEl>
                                          <p:spTgt spid="6"/>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 calcmode="lin" valueType="num">
                                      <p:cBhvr additive="base">
                                        <p:cTn id="62" dur="500" fill="hold"/>
                                        <p:tgtEl>
                                          <p:spTgt spid="23"/>
                                        </p:tgtEl>
                                        <p:attrNameLst>
                                          <p:attrName>ppt_x</p:attrName>
                                        </p:attrNameLst>
                                      </p:cBhvr>
                                      <p:tavLst>
                                        <p:tav tm="0">
                                          <p:val>
                                            <p:strVal val="1+#ppt_w/2"/>
                                          </p:val>
                                        </p:tav>
                                        <p:tav tm="100000">
                                          <p:val>
                                            <p:strVal val="#ppt_x"/>
                                          </p:val>
                                        </p:tav>
                                      </p:tavLst>
                                    </p:anim>
                                    <p:anim calcmode="lin" valueType="num">
                                      <p:cBhvr additive="base">
                                        <p:cTn id="63"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3" grpId="0"/>
      <p:bldP spid="4" grpId="0"/>
      <p:bldP spid="5" grpId="0" animBg="1"/>
      <p:bldP spid="6" grpId="0" animBg="1"/>
      <p:bldP spid="7" grpId="0" animBg="1"/>
      <p:bldP spid="8" grpId="0" animBg="1"/>
      <p:bldP spid="22" grpId="0"/>
      <p:bldP spid="23" grpId="0"/>
      <p:bldP spid="26"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0">
            <a:extLst>
              <a:ext uri="{FF2B5EF4-FFF2-40B4-BE49-F238E27FC236}">
                <a16:creationId xmlns:a16="http://schemas.microsoft.com/office/drawing/2014/main" id="{C6E4FC1E-7234-41CC-8863-C8C3E724B3BB}"/>
              </a:ext>
            </a:extLst>
          </p:cNvPr>
          <p:cNvSpPr/>
          <p:nvPr/>
        </p:nvSpPr>
        <p:spPr>
          <a:xfrm>
            <a:off x="579429" y="3651780"/>
            <a:ext cx="4815246" cy="45971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543F3705-3BAA-4D47-8FE3-322BF71133F8}"/>
              </a:ext>
            </a:extLst>
          </p:cNvPr>
          <p:cNvSpPr/>
          <p:nvPr/>
        </p:nvSpPr>
        <p:spPr>
          <a:xfrm>
            <a:off x="518204" y="1460760"/>
            <a:ext cx="3951150" cy="45971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B99973AB-F4B1-48D6-AD90-8B88EEA260FC}"/>
              </a:ext>
            </a:extLst>
          </p:cNvPr>
          <p:cNvSpPr/>
          <p:nvPr/>
        </p:nvSpPr>
        <p:spPr>
          <a:xfrm>
            <a:off x="580922" y="520573"/>
            <a:ext cx="478316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五、长期边际成本曲线（</a:t>
            </a:r>
            <a:r>
              <a:rPr lang="en-US" altLang="zh-CN" sz="2400" b="1" spc="150" dirty="0">
                <a:solidFill>
                  <a:schemeClr val="bg1"/>
                </a:solidFill>
                <a:latin typeface="微软雅黑" panose="020B0503020204020204" pitchFamily="34" charset="-122"/>
                <a:ea typeface="微软雅黑" panose="020B0503020204020204" pitchFamily="34" charset="-122"/>
              </a:rPr>
              <a:t>LMC</a:t>
            </a:r>
            <a:r>
              <a:rPr lang="zh-CN" altLang="en-US" sz="2400" b="1" spc="150" dirty="0">
                <a:solidFill>
                  <a:schemeClr val="bg1"/>
                </a:solidFill>
                <a:latin typeface="微软雅黑" panose="020B0503020204020204" pitchFamily="34" charset="-122"/>
                <a:ea typeface="微软雅黑" panose="020B0503020204020204" pitchFamily="34" charset="-122"/>
              </a:rPr>
              <a:t>）</a:t>
            </a:r>
          </a:p>
        </p:txBody>
      </p:sp>
      <p:sp>
        <p:nvSpPr>
          <p:cNvPr id="3" name="矩形 2">
            <a:extLst>
              <a:ext uri="{FF2B5EF4-FFF2-40B4-BE49-F238E27FC236}">
                <a16:creationId xmlns:a16="http://schemas.microsoft.com/office/drawing/2014/main" id="{5A149304-2226-4652-A86C-970CAB90AA7D}"/>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4" name="矩形 3">
            <a:extLst>
              <a:ext uri="{FF2B5EF4-FFF2-40B4-BE49-F238E27FC236}">
                <a16:creationId xmlns:a16="http://schemas.microsoft.com/office/drawing/2014/main" id="{39FF0FB7-5D11-4382-93ED-6A8027B9B218}"/>
              </a:ext>
            </a:extLst>
          </p:cNvPr>
          <p:cNvSpPr/>
          <p:nvPr/>
        </p:nvSpPr>
        <p:spPr>
          <a:xfrm>
            <a:off x="634674" y="1494989"/>
            <a:ext cx="4464496"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en-US" altLang="zh-CN" sz="2000" dirty="0">
                <a:latin typeface="微软雅黑" panose="020B0503020204020204" pitchFamily="34" charset="-122"/>
                <a:ea typeface="微软雅黑" panose="020B0503020204020204" pitchFamily="34" charset="-122"/>
              </a:rPr>
              <a:t>LMC</a:t>
            </a:r>
            <a:r>
              <a:rPr lang="zh-CN" altLang="en-US" sz="2000" dirty="0">
                <a:latin typeface="微软雅黑" panose="020B0503020204020204" pitchFamily="34" charset="-122"/>
                <a:ea typeface="微软雅黑" panose="020B0503020204020204" pitchFamily="34" charset="-122"/>
              </a:rPr>
              <a:t>曲线与</a:t>
            </a:r>
            <a:r>
              <a:rPr lang="en-US" altLang="zh-CN" sz="2000" dirty="0">
                <a:latin typeface="微软雅黑" panose="020B0503020204020204" pitchFamily="34" charset="-122"/>
                <a:ea typeface="微软雅黑" panose="020B0503020204020204" pitchFamily="34" charset="-122"/>
              </a:rPr>
              <a:t>SMC</a:t>
            </a:r>
            <a:r>
              <a:rPr lang="zh-CN" altLang="en-US" sz="2000" dirty="0">
                <a:latin typeface="微软雅黑" panose="020B0503020204020204" pitchFamily="34" charset="-122"/>
                <a:ea typeface="微软雅黑" panose="020B0503020204020204" pitchFamily="34" charset="-122"/>
              </a:rPr>
              <a:t>曲线的关系</a:t>
            </a:r>
          </a:p>
        </p:txBody>
      </p:sp>
      <p:sp>
        <p:nvSpPr>
          <p:cNvPr id="5" name="矩形 4">
            <a:extLst>
              <a:ext uri="{FF2B5EF4-FFF2-40B4-BE49-F238E27FC236}">
                <a16:creationId xmlns:a16="http://schemas.microsoft.com/office/drawing/2014/main" id="{77C4D315-FAAF-4056-92F0-E31F16EE83DA}"/>
              </a:ext>
            </a:extLst>
          </p:cNvPr>
          <p:cNvSpPr/>
          <p:nvPr/>
        </p:nvSpPr>
        <p:spPr>
          <a:xfrm>
            <a:off x="580922" y="2403669"/>
            <a:ext cx="3096344" cy="369332"/>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LMC曲线由SMC曲线构成</a:t>
            </a:r>
          </a:p>
        </p:txBody>
      </p:sp>
      <p:sp>
        <p:nvSpPr>
          <p:cNvPr id="6" name="矩形 5">
            <a:extLst>
              <a:ext uri="{FF2B5EF4-FFF2-40B4-BE49-F238E27FC236}">
                <a16:creationId xmlns:a16="http://schemas.microsoft.com/office/drawing/2014/main" id="{78138C08-A9C9-4F67-B652-CF6173666A88}"/>
              </a:ext>
            </a:extLst>
          </p:cNvPr>
          <p:cNvSpPr/>
          <p:nvPr/>
        </p:nvSpPr>
        <p:spPr>
          <a:xfrm>
            <a:off x="580922" y="2886997"/>
            <a:ext cx="4254691" cy="369332"/>
          </a:xfrm>
          <a:prstGeom prst="rect">
            <a:avLst/>
          </a:prstGeom>
        </p:spPr>
        <p:txBody>
          <a:bodyPr wrap="non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但是LMC曲线不是SMC曲线包络曲线</a:t>
            </a:r>
          </a:p>
        </p:txBody>
      </p:sp>
      <p:sp>
        <p:nvSpPr>
          <p:cNvPr id="7" name="矩形 6">
            <a:extLst>
              <a:ext uri="{FF2B5EF4-FFF2-40B4-BE49-F238E27FC236}">
                <a16:creationId xmlns:a16="http://schemas.microsoft.com/office/drawing/2014/main" id="{157D51FD-1E4D-4623-9857-514FCA3108B8}"/>
              </a:ext>
            </a:extLst>
          </p:cNvPr>
          <p:cNvSpPr/>
          <p:nvPr/>
        </p:nvSpPr>
        <p:spPr>
          <a:xfrm>
            <a:off x="579429" y="3681581"/>
            <a:ext cx="5544616"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en-US" altLang="zh-CN" sz="2000" dirty="0">
                <a:latin typeface="微软雅黑" panose="020B0503020204020204" pitchFamily="34" charset="-122"/>
                <a:ea typeface="微软雅黑" panose="020B0503020204020204" pitchFamily="34" charset="-122"/>
              </a:rPr>
              <a:t>LMC</a:t>
            </a:r>
            <a:r>
              <a:rPr lang="zh-CN" altLang="en-US" sz="2000" dirty="0">
                <a:latin typeface="微软雅黑" panose="020B0503020204020204" pitchFamily="34" charset="-122"/>
                <a:ea typeface="微软雅黑" panose="020B0503020204020204" pitchFamily="34" charset="-122"/>
              </a:rPr>
              <a:t>曲线的形状（</a:t>
            </a:r>
            <a:r>
              <a:rPr lang="en-US" altLang="zh-CN" sz="2000" dirty="0">
                <a:latin typeface="微软雅黑" panose="020B0503020204020204" pitchFamily="34" charset="-122"/>
                <a:ea typeface="微软雅黑" panose="020B0503020204020204" pitchFamily="34" charset="-122"/>
              </a:rPr>
              <a:t>LMC</a:t>
            </a:r>
            <a:r>
              <a:rPr lang="zh-CN" altLang="en-US" sz="2000" dirty="0">
                <a:latin typeface="微软雅黑" panose="020B0503020204020204" pitchFamily="34" charset="-122"/>
                <a:ea typeface="微软雅黑" panose="020B0503020204020204" pitchFamily="34" charset="-122"/>
              </a:rPr>
              <a:t>的变化规律）</a:t>
            </a:r>
          </a:p>
        </p:txBody>
      </p:sp>
      <p:sp>
        <p:nvSpPr>
          <p:cNvPr id="8" name="矩形 7">
            <a:extLst>
              <a:ext uri="{FF2B5EF4-FFF2-40B4-BE49-F238E27FC236}">
                <a16:creationId xmlns:a16="http://schemas.microsoft.com/office/drawing/2014/main" id="{09EF77DC-BF50-45CA-BBF1-2DAB7EBDE06B}"/>
              </a:ext>
            </a:extLst>
          </p:cNvPr>
          <p:cNvSpPr/>
          <p:nvPr/>
        </p:nvSpPr>
        <p:spPr>
          <a:xfrm>
            <a:off x="580922" y="4431518"/>
            <a:ext cx="4572000" cy="369332"/>
          </a:xfrm>
          <a:prstGeom prst="rect">
            <a:avLst/>
          </a:prstGeom>
        </p:spPr>
        <p:txBody>
          <a:bodyPr>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LMC是U型的</a:t>
            </a:r>
          </a:p>
        </p:txBody>
      </p:sp>
      <p:sp>
        <p:nvSpPr>
          <p:cNvPr id="9" name="矩形 8">
            <a:extLst>
              <a:ext uri="{FF2B5EF4-FFF2-40B4-BE49-F238E27FC236}">
                <a16:creationId xmlns:a16="http://schemas.microsoft.com/office/drawing/2014/main" id="{A0E3DC15-7045-46D3-AB30-AFEDCAFB3023}"/>
              </a:ext>
            </a:extLst>
          </p:cNvPr>
          <p:cNvSpPr/>
          <p:nvPr/>
        </p:nvSpPr>
        <p:spPr>
          <a:xfrm>
            <a:off x="580922" y="4941168"/>
            <a:ext cx="5112568" cy="369332"/>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LMC呈现U型的原因在于规模经济的变化规律</a:t>
            </a:r>
          </a:p>
        </p:txBody>
      </p:sp>
      <p:pic>
        <p:nvPicPr>
          <p:cNvPr id="12" name="图片 11">
            <a:extLst>
              <a:ext uri="{FF2B5EF4-FFF2-40B4-BE49-F238E27FC236}">
                <a16:creationId xmlns:a16="http://schemas.microsoft.com/office/drawing/2014/main" id="{714F22D9-5B22-4FBA-8DA7-61429BC123D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80112" y="3068960"/>
            <a:ext cx="3249510" cy="3024222"/>
          </a:xfrm>
          <a:prstGeom prst="rect">
            <a:avLst/>
          </a:prstGeom>
        </p:spPr>
      </p:pic>
    </p:spTree>
    <p:extLst>
      <p:ext uri="{BB962C8B-B14F-4D97-AF65-F5344CB8AC3E}">
        <p14:creationId xmlns:p14="http://schemas.microsoft.com/office/powerpoint/2010/main" val="2448920044"/>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p:cTn id="19" dur="500" fill="hold"/>
                                        <p:tgtEl>
                                          <p:spTgt spid="10"/>
                                        </p:tgtEl>
                                        <p:attrNameLst>
                                          <p:attrName>ppt_w</p:attrName>
                                        </p:attrNameLst>
                                      </p:cBhvr>
                                      <p:tavLst>
                                        <p:tav tm="0">
                                          <p:val>
                                            <p:fltVal val="0"/>
                                          </p:val>
                                        </p:tav>
                                        <p:tav tm="100000">
                                          <p:val>
                                            <p:strVal val="#ppt_w"/>
                                          </p:val>
                                        </p:tav>
                                      </p:tavLst>
                                    </p:anim>
                                    <p:anim calcmode="lin" valueType="num">
                                      <p:cBhvr>
                                        <p:cTn id="20" dur="500" fill="hold"/>
                                        <p:tgtEl>
                                          <p:spTgt spid="10"/>
                                        </p:tgtEl>
                                        <p:attrNameLst>
                                          <p:attrName>ppt_h</p:attrName>
                                        </p:attrNameLst>
                                      </p:cBhvr>
                                      <p:tavLst>
                                        <p:tav tm="0">
                                          <p:val>
                                            <p:fltVal val="0"/>
                                          </p:val>
                                        </p:tav>
                                        <p:tav tm="100000">
                                          <p:val>
                                            <p:strVal val="#ppt_h"/>
                                          </p:val>
                                        </p:tav>
                                      </p:tavLst>
                                    </p:anim>
                                    <p:animEffect transition="in" filter="fade">
                                      <p:cBhvr>
                                        <p:cTn id="21" dur="500"/>
                                        <p:tgtEl>
                                          <p:spTgt spid="10"/>
                                        </p:tgtEl>
                                      </p:cBhvr>
                                    </p:animEffect>
                                  </p:childTnLst>
                                </p:cTn>
                              </p:par>
                              <p:par>
                                <p:cTn id="22" presetID="53" presetClass="entr" presetSubtype="16" fill="hold" grpId="0" nodeType="with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barn(inVertical)">
                                      <p:cBhvr>
                                        <p:cTn id="31" dur="500"/>
                                        <p:tgtEl>
                                          <p:spTgt spid="5"/>
                                        </p:tgtEl>
                                      </p:cBhvr>
                                    </p:animEffect>
                                  </p:childTnLst>
                                </p:cTn>
                              </p:par>
                            </p:childTnLst>
                          </p:cTn>
                        </p:par>
                      </p:childTnLst>
                    </p:cTn>
                  </p:par>
                  <p:par>
                    <p:cTn id="32" fill="hold">
                      <p:stCondLst>
                        <p:cond delay="indefinite"/>
                      </p:stCondLst>
                      <p:childTnLst>
                        <p:par>
                          <p:cTn id="33" fill="hold">
                            <p:stCondLst>
                              <p:cond delay="0"/>
                            </p:stCondLst>
                            <p:childTnLst>
                              <p:par>
                                <p:cTn id="34" presetID="16" presetClass="entr" presetSubtype="21" fill="hold" grpId="0" nodeType="click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barn(inVertical)">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53" presetClass="entr" presetSubtype="16"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p:cTn id="41" dur="500" fill="hold"/>
                                        <p:tgtEl>
                                          <p:spTgt spid="11"/>
                                        </p:tgtEl>
                                        <p:attrNameLst>
                                          <p:attrName>ppt_w</p:attrName>
                                        </p:attrNameLst>
                                      </p:cBhvr>
                                      <p:tavLst>
                                        <p:tav tm="0">
                                          <p:val>
                                            <p:fltVal val="0"/>
                                          </p:val>
                                        </p:tav>
                                        <p:tav tm="100000">
                                          <p:val>
                                            <p:strVal val="#ppt_w"/>
                                          </p:val>
                                        </p:tav>
                                      </p:tavLst>
                                    </p:anim>
                                    <p:anim calcmode="lin" valueType="num">
                                      <p:cBhvr>
                                        <p:cTn id="42" dur="500" fill="hold"/>
                                        <p:tgtEl>
                                          <p:spTgt spid="11"/>
                                        </p:tgtEl>
                                        <p:attrNameLst>
                                          <p:attrName>ppt_h</p:attrName>
                                        </p:attrNameLst>
                                      </p:cBhvr>
                                      <p:tavLst>
                                        <p:tav tm="0">
                                          <p:val>
                                            <p:fltVal val="0"/>
                                          </p:val>
                                        </p:tav>
                                        <p:tav tm="100000">
                                          <p:val>
                                            <p:strVal val="#ppt_h"/>
                                          </p:val>
                                        </p:tav>
                                      </p:tavLst>
                                    </p:anim>
                                    <p:animEffect transition="in" filter="fade">
                                      <p:cBhvr>
                                        <p:cTn id="43" dur="500"/>
                                        <p:tgtEl>
                                          <p:spTgt spid="11"/>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7"/>
                                        </p:tgtEl>
                                        <p:attrNameLst>
                                          <p:attrName>style.visibility</p:attrName>
                                        </p:attrNameLst>
                                      </p:cBhvr>
                                      <p:to>
                                        <p:strVal val="visible"/>
                                      </p:to>
                                    </p:set>
                                    <p:anim calcmode="lin" valueType="num">
                                      <p:cBhvr>
                                        <p:cTn id="46" dur="500" fill="hold"/>
                                        <p:tgtEl>
                                          <p:spTgt spid="7"/>
                                        </p:tgtEl>
                                        <p:attrNameLst>
                                          <p:attrName>ppt_w</p:attrName>
                                        </p:attrNameLst>
                                      </p:cBhvr>
                                      <p:tavLst>
                                        <p:tav tm="0">
                                          <p:val>
                                            <p:fltVal val="0"/>
                                          </p:val>
                                        </p:tav>
                                        <p:tav tm="100000">
                                          <p:val>
                                            <p:strVal val="#ppt_w"/>
                                          </p:val>
                                        </p:tav>
                                      </p:tavLst>
                                    </p:anim>
                                    <p:anim calcmode="lin" valueType="num">
                                      <p:cBhvr>
                                        <p:cTn id="47" dur="500" fill="hold"/>
                                        <p:tgtEl>
                                          <p:spTgt spid="7"/>
                                        </p:tgtEl>
                                        <p:attrNameLst>
                                          <p:attrName>ppt_h</p:attrName>
                                        </p:attrNameLst>
                                      </p:cBhvr>
                                      <p:tavLst>
                                        <p:tav tm="0">
                                          <p:val>
                                            <p:fltVal val="0"/>
                                          </p:val>
                                        </p:tav>
                                        <p:tav tm="100000">
                                          <p:val>
                                            <p:strVal val="#ppt_h"/>
                                          </p:val>
                                        </p:tav>
                                      </p:tavLst>
                                    </p:anim>
                                    <p:animEffect transition="in" filter="fade">
                                      <p:cBhvr>
                                        <p:cTn id="48" dur="500"/>
                                        <p:tgtEl>
                                          <p:spTgt spid="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grpId="0"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wipe(down)">
                                      <p:cBhvr>
                                        <p:cTn id="53" dur="500"/>
                                        <p:tgtEl>
                                          <p:spTgt spid="8"/>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grpId="0" nodeType="click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wipe(down)">
                                      <p:cBhvr>
                                        <p:cTn id="5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animBg="1"/>
      <p:bldP spid="2" grpId="0" animBg="1"/>
      <p:bldP spid="4" grpId="0"/>
      <p:bldP spid="5" grpId="0"/>
      <p:bldP spid="6" grpId="0"/>
      <p:bldP spid="7" grpId="0"/>
      <p:bldP spid="8" grpId="0"/>
      <p:bldP spid="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圆角 16">
            <a:extLst>
              <a:ext uri="{FF2B5EF4-FFF2-40B4-BE49-F238E27FC236}">
                <a16:creationId xmlns:a16="http://schemas.microsoft.com/office/drawing/2014/main" id="{E9674454-894F-497D-AB30-F264398ED3F9}"/>
              </a:ext>
            </a:extLst>
          </p:cNvPr>
          <p:cNvSpPr/>
          <p:nvPr/>
        </p:nvSpPr>
        <p:spPr>
          <a:xfrm>
            <a:off x="593611" y="1541646"/>
            <a:ext cx="3339701" cy="45971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3F558D68-4900-4153-9BED-BD31FCF0AEB1}"/>
              </a:ext>
            </a:extLst>
          </p:cNvPr>
          <p:cNvSpPr/>
          <p:nvPr/>
        </p:nvSpPr>
        <p:spPr>
          <a:xfrm>
            <a:off x="593611" y="1558135"/>
            <a:ext cx="3816424"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en-US" altLang="zh-CN" sz="2000" dirty="0">
                <a:latin typeface="微软雅黑" panose="020B0503020204020204" pitchFamily="34" charset="-122"/>
                <a:ea typeface="微软雅黑" panose="020B0503020204020204" pitchFamily="34" charset="-122"/>
              </a:rPr>
              <a:t>LMC</a:t>
            </a:r>
            <a:r>
              <a:rPr lang="zh-CN" altLang="en-US" sz="2000" dirty="0">
                <a:latin typeface="微软雅黑" panose="020B0503020204020204" pitchFamily="34" charset="-122"/>
                <a:ea typeface="微软雅黑" panose="020B0503020204020204" pitchFamily="34" charset="-122"/>
              </a:rPr>
              <a:t>与</a:t>
            </a:r>
            <a:r>
              <a:rPr lang="en-US" altLang="zh-CN" sz="2000" dirty="0">
                <a:latin typeface="微软雅黑" panose="020B0503020204020204" pitchFamily="34" charset="-122"/>
                <a:ea typeface="微软雅黑" panose="020B0503020204020204" pitchFamily="34" charset="-122"/>
              </a:rPr>
              <a:t>LAC</a:t>
            </a:r>
            <a:r>
              <a:rPr lang="zh-CN" altLang="en-US" sz="2000" dirty="0">
                <a:latin typeface="微软雅黑" panose="020B0503020204020204" pitchFamily="34" charset="-122"/>
                <a:ea typeface="微软雅黑" panose="020B0503020204020204" pitchFamily="34" charset="-122"/>
              </a:rPr>
              <a:t>曲线的关系</a:t>
            </a:r>
          </a:p>
        </p:txBody>
      </p:sp>
      <p:grpSp>
        <p:nvGrpSpPr>
          <p:cNvPr id="3" name="组合 23">
            <a:extLst>
              <a:ext uri="{FF2B5EF4-FFF2-40B4-BE49-F238E27FC236}">
                <a16:creationId xmlns:a16="http://schemas.microsoft.com/office/drawing/2014/main" id="{AEFA58BB-7D3A-47E5-8AC8-ED9480554C03}"/>
              </a:ext>
            </a:extLst>
          </p:cNvPr>
          <p:cNvGrpSpPr>
            <a:grpSpLocks/>
          </p:cNvGrpSpPr>
          <p:nvPr/>
        </p:nvGrpSpPr>
        <p:grpSpPr bwMode="auto">
          <a:xfrm>
            <a:off x="827584" y="188640"/>
            <a:ext cx="3857625" cy="5703888"/>
            <a:chOff x="0" y="0"/>
            <a:chExt cx="3857625" cy="5703887"/>
          </a:xfrm>
        </p:grpSpPr>
        <p:grpSp>
          <p:nvGrpSpPr>
            <p:cNvPr id="4" name="组合 4">
              <a:extLst>
                <a:ext uri="{FF2B5EF4-FFF2-40B4-BE49-F238E27FC236}">
                  <a16:creationId xmlns:a16="http://schemas.microsoft.com/office/drawing/2014/main" id="{055CA57C-2AEA-4629-8010-351D25E27B2A}"/>
                </a:ext>
              </a:extLst>
            </p:cNvPr>
            <p:cNvGrpSpPr>
              <a:grpSpLocks/>
            </p:cNvGrpSpPr>
            <p:nvPr/>
          </p:nvGrpSpPr>
          <p:grpSpPr bwMode="auto">
            <a:xfrm>
              <a:off x="0" y="1063625"/>
              <a:ext cx="3857625" cy="4640262"/>
              <a:chOff x="0" y="0"/>
              <a:chExt cx="3877505" cy="4693476"/>
            </a:xfrm>
          </p:grpSpPr>
          <p:grpSp>
            <p:nvGrpSpPr>
              <p:cNvPr id="8" name="组合 4">
                <a:extLst>
                  <a:ext uri="{FF2B5EF4-FFF2-40B4-BE49-F238E27FC236}">
                    <a16:creationId xmlns:a16="http://schemas.microsoft.com/office/drawing/2014/main" id="{95FB4391-CE82-41E7-9003-2DADCBB61D15}"/>
                  </a:ext>
                </a:extLst>
              </p:cNvPr>
              <p:cNvGrpSpPr>
                <a:grpSpLocks/>
              </p:cNvGrpSpPr>
              <p:nvPr/>
            </p:nvGrpSpPr>
            <p:grpSpPr bwMode="auto">
              <a:xfrm>
                <a:off x="0" y="1445099"/>
                <a:ext cx="3877505" cy="3248377"/>
                <a:chOff x="0" y="0"/>
                <a:chExt cx="2082720" cy="2471366"/>
              </a:xfrm>
            </p:grpSpPr>
            <p:cxnSp>
              <p:nvCxnSpPr>
                <p:cNvPr id="10" name="直接箭头连接符 7">
                  <a:extLst>
                    <a:ext uri="{FF2B5EF4-FFF2-40B4-BE49-F238E27FC236}">
                      <a16:creationId xmlns:a16="http://schemas.microsoft.com/office/drawing/2014/main" id="{09C457F0-A5C1-4ACC-A046-0261442EA2AD}"/>
                    </a:ext>
                  </a:extLst>
                </p:cNvPr>
                <p:cNvCxnSpPr>
                  <a:cxnSpLocks noChangeShapeType="1"/>
                </p:cNvCxnSpPr>
                <p:nvPr/>
              </p:nvCxnSpPr>
              <p:spPr bwMode="auto">
                <a:xfrm flipV="1">
                  <a:off x="154276" y="2198944"/>
                  <a:ext cx="1928444" cy="10995"/>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11" name="直接箭头连接符 8">
                  <a:extLst>
                    <a:ext uri="{FF2B5EF4-FFF2-40B4-BE49-F238E27FC236}">
                      <a16:creationId xmlns:a16="http://schemas.microsoft.com/office/drawing/2014/main" id="{FEABDCE9-DBFC-4749-B592-D4B5726E0254}"/>
                    </a:ext>
                  </a:extLst>
                </p:cNvPr>
                <p:cNvCxnSpPr>
                  <a:cxnSpLocks noChangeShapeType="1"/>
                </p:cNvCxnSpPr>
                <p:nvPr/>
              </p:nvCxnSpPr>
              <p:spPr bwMode="auto">
                <a:xfrm rot="16200000" flipV="1">
                  <a:off x="-962286" y="1116584"/>
                  <a:ext cx="2233123" cy="0"/>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12" name="Object 8">
                  <a:extLst>
                    <a:ext uri="{FF2B5EF4-FFF2-40B4-BE49-F238E27FC236}">
                      <a16:creationId xmlns:a16="http://schemas.microsoft.com/office/drawing/2014/main" id="{00ECDB53-5D32-4B11-830B-8B325A780AA4}"/>
                    </a:ext>
                  </a:extLst>
                </p:cNvPr>
                <p:cNvGraphicFramePr>
                  <a:graphicFrameLocks noChangeAspect="1"/>
                </p:cNvGraphicFramePr>
                <p:nvPr/>
              </p:nvGraphicFramePr>
              <p:xfrm>
                <a:off x="0" y="2253873"/>
                <a:ext cx="125991" cy="189349"/>
              </p:xfrm>
              <a:graphic>
                <a:graphicData uri="http://schemas.openxmlformats.org/presentationml/2006/ole">
                  <mc:AlternateContent xmlns:mc="http://schemas.openxmlformats.org/markup-compatibility/2006">
                    <mc:Choice xmlns:v="urn:schemas-microsoft-com:vml" Requires="v">
                      <p:oleObj spid="_x0000_s110040" r:id="rId3" imgW="153248" imgH="178737" progId="">
                        <p:embed/>
                      </p:oleObj>
                    </mc:Choice>
                    <mc:Fallback>
                      <p:oleObj r:id="rId3" imgW="153248" imgH="178737" progId="">
                        <p:embed/>
                        <p:pic>
                          <p:nvPicPr>
                            <p:cNvPr id="83976"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2253873"/>
                              <a:ext cx="125991" cy="189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Object 9">
                  <a:extLst>
                    <a:ext uri="{FF2B5EF4-FFF2-40B4-BE49-F238E27FC236}">
                      <a16:creationId xmlns:a16="http://schemas.microsoft.com/office/drawing/2014/main" id="{3C1AC148-93F4-474A-B613-DE006729A0EB}"/>
                    </a:ext>
                  </a:extLst>
                </p:cNvPr>
                <p:cNvGraphicFramePr>
                  <a:graphicFrameLocks noChangeAspect="1"/>
                </p:cNvGraphicFramePr>
                <p:nvPr/>
              </p:nvGraphicFramePr>
              <p:xfrm>
                <a:off x="0" y="54973"/>
                <a:ext cx="125991" cy="189348"/>
              </p:xfrm>
              <a:graphic>
                <a:graphicData uri="http://schemas.openxmlformats.org/presentationml/2006/ole">
                  <mc:AlternateContent xmlns:mc="http://schemas.openxmlformats.org/markup-compatibility/2006">
                    <mc:Choice xmlns:v="urn:schemas-microsoft-com:vml" Requires="v">
                      <p:oleObj spid="_x0000_s110041" r:id="rId5" imgW="153248" imgH="178737" progId="">
                        <p:embed/>
                      </p:oleObj>
                    </mc:Choice>
                    <mc:Fallback>
                      <p:oleObj r:id="rId5" imgW="153248" imgH="178737" progId="">
                        <p:embed/>
                        <p:pic>
                          <p:nvPicPr>
                            <p:cNvPr id="83977"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54973"/>
                              <a:ext cx="125991" cy="1893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 name="Object 10">
                  <a:extLst>
                    <a:ext uri="{FF2B5EF4-FFF2-40B4-BE49-F238E27FC236}">
                      <a16:creationId xmlns:a16="http://schemas.microsoft.com/office/drawing/2014/main" id="{53C2EFDE-FCD2-4A51-9C63-28240615DF5E}"/>
                    </a:ext>
                  </a:extLst>
                </p:cNvPr>
                <p:cNvGraphicFramePr>
                  <a:graphicFrameLocks noChangeAspect="1"/>
                </p:cNvGraphicFramePr>
                <p:nvPr/>
              </p:nvGraphicFramePr>
              <p:xfrm>
                <a:off x="1889876" y="2253921"/>
                <a:ext cx="125991" cy="217445"/>
              </p:xfrm>
              <a:graphic>
                <a:graphicData uri="http://schemas.openxmlformats.org/presentationml/2006/ole">
                  <mc:AlternateContent xmlns:mc="http://schemas.openxmlformats.org/markup-compatibility/2006">
                    <mc:Choice xmlns:v="urn:schemas-microsoft-com:vml" Requires="v">
                      <p:oleObj spid="_x0000_s110042" r:id="rId7" imgW="153381" imgH="204403" progId="">
                        <p:embed/>
                      </p:oleObj>
                    </mc:Choice>
                    <mc:Fallback>
                      <p:oleObj r:id="rId7" imgW="153381" imgH="204403" progId="">
                        <p:embed/>
                        <p:pic>
                          <p:nvPicPr>
                            <p:cNvPr id="83978"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89876" y="2253921"/>
                              <a:ext cx="125991" cy="2174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9" name="弧形 6">
                <a:extLst>
                  <a:ext uri="{FF2B5EF4-FFF2-40B4-BE49-F238E27FC236}">
                    <a16:creationId xmlns:a16="http://schemas.microsoft.com/office/drawing/2014/main" id="{C5324AB2-718F-47FC-98C9-70CE4A8F8D98}"/>
                  </a:ext>
                </a:extLst>
              </p:cNvPr>
              <p:cNvSpPr>
                <a:spLocks noChangeArrowheads="1"/>
              </p:cNvSpPr>
              <p:nvPr/>
            </p:nvSpPr>
            <p:spPr bwMode="auto">
              <a:xfrm rot="5400000">
                <a:off x="851740" y="440754"/>
                <a:ext cx="3179296" cy="2297781"/>
              </a:xfrm>
              <a:custGeom>
                <a:avLst/>
                <a:gdLst>
                  <a:gd name="T0" fmla="*/ 2100517 w 3179296"/>
                  <a:gd name="T1" fmla="*/ 60945 h 2297781"/>
                  <a:gd name="T2" fmla="*/ 1589648 w 3179296"/>
                  <a:gd name="T3" fmla="*/ 1148891 h 2297781"/>
                  <a:gd name="T4" fmla="*/ 2224968 w 3179296"/>
                  <a:gd name="T5" fmla="*/ 2202036 h 2297781"/>
                  <a:gd name="T6" fmla="*/ 11796480 60000 65536"/>
                  <a:gd name="T7" fmla="*/ 11796480 60000 65536"/>
                  <a:gd name="T8" fmla="*/ 11796480 60000 65536"/>
                  <a:gd name="T9" fmla="*/ 2100517 w 3179296"/>
                  <a:gd name="T10" fmla="*/ 60945 h 2297781"/>
                  <a:gd name="T11" fmla="*/ 3179296 w 3179296"/>
                  <a:gd name="T12" fmla="*/ 2202036 h 2297781"/>
                </a:gdLst>
                <a:ahLst/>
                <a:cxnLst>
                  <a:cxn ang="T6">
                    <a:pos x="T0" y="T1"/>
                  </a:cxn>
                  <a:cxn ang="T7">
                    <a:pos x="T2" y="T3"/>
                  </a:cxn>
                  <a:cxn ang="T8">
                    <a:pos x="T4" y="T5"/>
                  </a:cxn>
                </a:cxnLst>
                <a:rect l="T9" t="T10" r="T11" b="T12"/>
                <a:pathLst>
                  <a:path w="3179296" h="2297781" stroke="0">
                    <a:moveTo>
                      <a:pt x="2100517" y="60945"/>
                    </a:moveTo>
                    <a:lnTo>
                      <a:pt x="2100516" y="60945"/>
                    </a:lnTo>
                    <a:cubicBezTo>
                      <a:pt x="2745447" y="219132"/>
                      <a:pt x="3179296" y="656667"/>
                      <a:pt x="3179296" y="1148891"/>
                    </a:cubicBezTo>
                    <a:cubicBezTo>
                      <a:pt x="3179296" y="1605870"/>
                      <a:pt x="2804566" y="2019401"/>
                      <a:pt x="2224965" y="2202037"/>
                    </a:cubicBezTo>
                    <a:lnTo>
                      <a:pt x="1589648" y="1148891"/>
                    </a:lnTo>
                    <a:close/>
                  </a:path>
                  <a:path w="3179296" h="2297781" fill="none">
                    <a:moveTo>
                      <a:pt x="2100517" y="60945"/>
                    </a:moveTo>
                    <a:lnTo>
                      <a:pt x="2100516" y="60945"/>
                    </a:lnTo>
                    <a:cubicBezTo>
                      <a:pt x="2745447" y="219132"/>
                      <a:pt x="3179296" y="656667"/>
                      <a:pt x="3179296" y="1148891"/>
                    </a:cubicBezTo>
                    <a:cubicBezTo>
                      <a:pt x="3179296" y="1605870"/>
                      <a:pt x="2804566" y="2019401"/>
                      <a:pt x="2224965" y="2202037"/>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pSp>
        <p:sp>
          <p:nvSpPr>
            <p:cNvPr id="5" name="弧形 13">
              <a:extLst>
                <a:ext uri="{FF2B5EF4-FFF2-40B4-BE49-F238E27FC236}">
                  <a16:creationId xmlns:a16="http://schemas.microsoft.com/office/drawing/2014/main" id="{3E220FB5-6531-4C1C-86FB-511282CE2829}"/>
                </a:ext>
              </a:extLst>
            </p:cNvPr>
            <p:cNvSpPr>
              <a:spLocks noChangeArrowheads="1"/>
            </p:cNvSpPr>
            <p:nvPr/>
          </p:nvSpPr>
          <p:spPr bwMode="auto">
            <a:xfrm rot="5702452">
              <a:off x="-199232" y="1250157"/>
              <a:ext cx="4500562" cy="2000250"/>
            </a:xfrm>
            <a:custGeom>
              <a:avLst/>
              <a:gdLst>
                <a:gd name="T0" fmla="*/ 3041648 w 4500562"/>
                <a:gd name="T1" fmla="*/ 63886 h 2000250"/>
                <a:gd name="T2" fmla="*/ 2250281 w 4500562"/>
                <a:gd name="T3" fmla="*/ 1000125 h 2000250"/>
                <a:gd name="T4" fmla="*/ 3862589 w 4500562"/>
                <a:gd name="T5" fmla="*/ 1697808 h 2000250"/>
                <a:gd name="T6" fmla="*/ 11796480 60000 65536"/>
                <a:gd name="T7" fmla="*/ 11796480 60000 65536"/>
                <a:gd name="T8" fmla="*/ 5898240 60000 65536"/>
                <a:gd name="T9" fmla="*/ 3041648 w 4500562"/>
                <a:gd name="T10" fmla="*/ 63886 h 2000250"/>
                <a:gd name="T11" fmla="*/ 4500562 w 4500562"/>
                <a:gd name="T12" fmla="*/ 1697808 h 2000250"/>
              </a:gdLst>
              <a:ahLst/>
              <a:cxnLst>
                <a:cxn ang="T6">
                  <a:pos x="T0" y="T1"/>
                </a:cxn>
                <a:cxn ang="T7">
                  <a:pos x="T2" y="T3"/>
                </a:cxn>
                <a:cxn ang="T8">
                  <a:pos x="T4" y="T5"/>
                </a:cxn>
              </a:cxnLst>
              <a:rect l="T9" t="T10" r="T11" b="T12"/>
              <a:pathLst>
                <a:path w="4500562" h="2000250" stroke="0">
                  <a:moveTo>
                    <a:pt x="3041648" y="63886"/>
                  </a:moveTo>
                  <a:lnTo>
                    <a:pt x="3041648" y="63885"/>
                  </a:lnTo>
                  <a:cubicBezTo>
                    <a:pt x="3919293" y="210422"/>
                    <a:pt x="4500562" y="583443"/>
                    <a:pt x="4500562" y="1000125"/>
                  </a:cubicBezTo>
                  <a:cubicBezTo>
                    <a:pt x="4500562" y="1260747"/>
                    <a:pt x="4271656" y="1511076"/>
                    <a:pt x="3862583" y="1697809"/>
                  </a:cubicBezTo>
                  <a:lnTo>
                    <a:pt x="2250281" y="1000125"/>
                  </a:lnTo>
                  <a:close/>
                </a:path>
                <a:path w="4500562" h="2000250" fill="none">
                  <a:moveTo>
                    <a:pt x="3041648" y="63886"/>
                  </a:moveTo>
                  <a:lnTo>
                    <a:pt x="3041648" y="63885"/>
                  </a:lnTo>
                  <a:cubicBezTo>
                    <a:pt x="3919293" y="210422"/>
                    <a:pt x="4500562" y="583443"/>
                    <a:pt x="4500562" y="1000125"/>
                  </a:cubicBezTo>
                  <a:cubicBezTo>
                    <a:pt x="4500562" y="1260747"/>
                    <a:pt x="4271656" y="1511076"/>
                    <a:pt x="3862583" y="1697809"/>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6" name="Object 13">
              <a:extLst>
                <a:ext uri="{FF2B5EF4-FFF2-40B4-BE49-F238E27FC236}">
                  <a16:creationId xmlns:a16="http://schemas.microsoft.com/office/drawing/2014/main" id="{F5767C27-36B0-4543-90BF-F2E3C3AD8720}"/>
                </a:ext>
              </a:extLst>
            </p:cNvPr>
            <p:cNvGraphicFramePr>
              <a:graphicFrameLocks noChangeAspect="1"/>
            </p:cNvGraphicFramePr>
            <p:nvPr/>
          </p:nvGraphicFramePr>
          <p:xfrm>
            <a:off x="2714625" y="2849562"/>
            <a:ext cx="533400" cy="249238"/>
          </p:xfrm>
          <a:graphic>
            <a:graphicData uri="http://schemas.openxmlformats.org/presentationml/2006/ole">
              <mc:AlternateContent xmlns:mc="http://schemas.openxmlformats.org/markup-compatibility/2006">
                <mc:Choice xmlns:v="urn:schemas-microsoft-com:vml" Requires="v">
                  <p:oleObj spid="_x0000_s110043" r:id="rId9" imgW="381648" imgH="178271" progId="">
                    <p:embed/>
                  </p:oleObj>
                </mc:Choice>
                <mc:Fallback>
                  <p:oleObj r:id="rId9" imgW="381648" imgH="178271" progId="">
                    <p:embed/>
                    <p:pic>
                      <p:nvPicPr>
                        <p:cNvPr id="83981"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14625" y="2849562"/>
                          <a:ext cx="533400"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Object 14">
              <a:extLst>
                <a:ext uri="{FF2B5EF4-FFF2-40B4-BE49-F238E27FC236}">
                  <a16:creationId xmlns:a16="http://schemas.microsoft.com/office/drawing/2014/main" id="{D515CC83-A237-4242-A20B-10214A8448AA}"/>
                </a:ext>
              </a:extLst>
            </p:cNvPr>
            <p:cNvGraphicFramePr>
              <a:graphicFrameLocks noChangeAspect="1"/>
            </p:cNvGraphicFramePr>
            <p:nvPr/>
          </p:nvGraphicFramePr>
          <p:xfrm>
            <a:off x="3286125" y="2849562"/>
            <a:ext cx="479425" cy="249238"/>
          </p:xfrm>
          <a:graphic>
            <a:graphicData uri="http://schemas.openxmlformats.org/presentationml/2006/ole">
              <mc:AlternateContent xmlns:mc="http://schemas.openxmlformats.org/markup-compatibility/2006">
                <mc:Choice xmlns:v="urn:schemas-microsoft-com:vml" Requires="v">
                  <p:oleObj spid="_x0000_s110044" r:id="rId11" imgW="343515" imgH="178271" progId="">
                    <p:embed/>
                  </p:oleObj>
                </mc:Choice>
                <mc:Fallback>
                  <p:oleObj r:id="rId11" imgW="343515" imgH="178271" progId="">
                    <p:embed/>
                    <p:pic>
                      <p:nvPicPr>
                        <p:cNvPr id="83982"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86125" y="2849562"/>
                          <a:ext cx="479425" cy="249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5" name="矩形 14">
            <a:extLst>
              <a:ext uri="{FF2B5EF4-FFF2-40B4-BE49-F238E27FC236}">
                <a16:creationId xmlns:a16="http://schemas.microsoft.com/office/drawing/2014/main" id="{2D0FD2A0-8A4C-4091-9D05-00180AEEFF78}"/>
              </a:ext>
            </a:extLst>
          </p:cNvPr>
          <p:cNvSpPr/>
          <p:nvPr/>
        </p:nvSpPr>
        <p:spPr>
          <a:xfrm>
            <a:off x="5364088" y="2492896"/>
            <a:ext cx="3274454" cy="2400594"/>
          </a:xfrm>
          <a:prstGeom prst="rect">
            <a:avLst/>
          </a:prstGeom>
        </p:spPr>
        <p:txBody>
          <a:bodyPr wrap="square">
            <a:spAutoFit/>
          </a:bodyPr>
          <a:lstStyle/>
          <a:p>
            <a:pPr marL="285750" indent="-285750">
              <a:lnSpc>
                <a:spcPct val="150000"/>
              </a:lnSpc>
              <a:buFont typeface="Wingdings" panose="05000000000000000000" pitchFamily="2" charset="2"/>
              <a:buChar char="Ø"/>
            </a:pPr>
            <a:r>
              <a:rPr lang="zh-CN" altLang="en-US" sz="1700" dirty="0">
                <a:latin typeface="微软雅黑" panose="020B0503020204020204" pitchFamily="34" charset="-122"/>
                <a:ea typeface="微软雅黑" panose="020B0503020204020204" pitchFamily="34" charset="-122"/>
              </a:rPr>
              <a:t>对应于U形的长期平均成本，长期边际成本会随着产量增加最初在LAC下方逐渐下降，之后转而增加，并最终穿过LAC曲线的最低点，上升到长期平均成本曲线的上方</a:t>
            </a:r>
          </a:p>
        </p:txBody>
      </p:sp>
      <p:sp>
        <p:nvSpPr>
          <p:cNvPr id="16" name="矩形 15">
            <a:extLst>
              <a:ext uri="{FF2B5EF4-FFF2-40B4-BE49-F238E27FC236}">
                <a16:creationId xmlns:a16="http://schemas.microsoft.com/office/drawing/2014/main" id="{358C8720-E546-4928-8590-ED873505CC38}"/>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18" name="矩形 17">
            <a:extLst>
              <a:ext uri="{FF2B5EF4-FFF2-40B4-BE49-F238E27FC236}">
                <a16:creationId xmlns:a16="http://schemas.microsoft.com/office/drawing/2014/main" id="{7025D81A-AE7E-498A-A4D6-2B52A05DEB50}"/>
              </a:ext>
            </a:extLst>
          </p:cNvPr>
          <p:cNvSpPr/>
          <p:nvPr/>
        </p:nvSpPr>
        <p:spPr>
          <a:xfrm>
            <a:off x="580922" y="520573"/>
            <a:ext cx="478316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五、长期边际成本曲线（</a:t>
            </a:r>
            <a:r>
              <a:rPr lang="en-US" altLang="zh-CN" sz="2400" b="1" spc="150" dirty="0">
                <a:solidFill>
                  <a:schemeClr val="bg1"/>
                </a:solidFill>
                <a:latin typeface="微软雅黑" panose="020B0503020204020204" pitchFamily="34" charset="-122"/>
                <a:ea typeface="微软雅黑" panose="020B0503020204020204" pitchFamily="34" charset="-122"/>
              </a:rPr>
              <a:t>LMC</a:t>
            </a:r>
            <a:r>
              <a:rPr lang="zh-CN" altLang="en-US" sz="2400" b="1" spc="150" dirty="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105548921"/>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fltVal val="0"/>
                                          </p:val>
                                        </p:tav>
                                        <p:tav tm="100000">
                                          <p:val>
                                            <p:strVal val="#ppt_w"/>
                                          </p:val>
                                        </p:tav>
                                      </p:tavLst>
                                    </p:anim>
                                    <p:anim calcmode="lin" valueType="num">
                                      <p:cBhvr>
                                        <p:cTn id="8" dur="500" fill="hold"/>
                                        <p:tgtEl>
                                          <p:spTgt spid="18"/>
                                        </p:tgtEl>
                                        <p:attrNameLst>
                                          <p:attrName>ppt_h</p:attrName>
                                        </p:attrNameLst>
                                      </p:cBhvr>
                                      <p:tavLst>
                                        <p:tav tm="0">
                                          <p:val>
                                            <p:fltVal val="0"/>
                                          </p:val>
                                        </p:tav>
                                        <p:tav tm="100000">
                                          <p:val>
                                            <p:strVal val="#ppt_h"/>
                                          </p:val>
                                        </p:tav>
                                      </p:tavLst>
                                    </p:anim>
                                    <p:animEffect transition="in" filter="fade">
                                      <p:cBhvr>
                                        <p:cTn id="9" dur="500"/>
                                        <p:tgtEl>
                                          <p:spTgt spid="1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p:cTn id="14" dur="500" fill="hold"/>
                                        <p:tgtEl>
                                          <p:spTgt spid="17"/>
                                        </p:tgtEl>
                                        <p:attrNameLst>
                                          <p:attrName>ppt_w</p:attrName>
                                        </p:attrNameLst>
                                      </p:cBhvr>
                                      <p:tavLst>
                                        <p:tav tm="0">
                                          <p:val>
                                            <p:fltVal val="0"/>
                                          </p:val>
                                        </p:tav>
                                        <p:tav tm="100000">
                                          <p:val>
                                            <p:strVal val="#ppt_w"/>
                                          </p:val>
                                        </p:tav>
                                      </p:tavLst>
                                    </p:anim>
                                    <p:anim calcmode="lin" valueType="num">
                                      <p:cBhvr>
                                        <p:cTn id="15" dur="500" fill="hold"/>
                                        <p:tgtEl>
                                          <p:spTgt spid="17"/>
                                        </p:tgtEl>
                                        <p:attrNameLst>
                                          <p:attrName>ppt_h</p:attrName>
                                        </p:attrNameLst>
                                      </p:cBhvr>
                                      <p:tavLst>
                                        <p:tav tm="0">
                                          <p:val>
                                            <p:fltVal val="0"/>
                                          </p:val>
                                        </p:tav>
                                        <p:tav tm="100000">
                                          <p:val>
                                            <p:strVal val="#ppt_h"/>
                                          </p:val>
                                        </p:tav>
                                      </p:tavLst>
                                    </p:anim>
                                    <p:animEffect transition="in" filter="fade">
                                      <p:cBhvr>
                                        <p:cTn id="16" dur="500"/>
                                        <p:tgtEl>
                                          <p:spTgt spid="17"/>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fltVal val="0"/>
                                          </p:val>
                                        </p:tav>
                                        <p:tav tm="100000">
                                          <p:val>
                                            <p:strVal val="#ppt_w"/>
                                          </p:val>
                                        </p:tav>
                                      </p:tavLst>
                                    </p:anim>
                                    <p:anim calcmode="lin" valueType="num">
                                      <p:cBhvr>
                                        <p:cTn id="20" dur="500" fill="hold"/>
                                        <p:tgtEl>
                                          <p:spTgt spid="2"/>
                                        </p:tgtEl>
                                        <p:attrNameLst>
                                          <p:attrName>ppt_h</p:attrName>
                                        </p:attrNameLst>
                                      </p:cBhvr>
                                      <p:tavLst>
                                        <p:tav tm="0">
                                          <p:val>
                                            <p:fltVal val="0"/>
                                          </p:val>
                                        </p:tav>
                                        <p:tav tm="100000">
                                          <p:val>
                                            <p:strVal val="#ppt_h"/>
                                          </p:val>
                                        </p:tav>
                                      </p:tavLst>
                                    </p:anim>
                                    <p:animEffect transition="in" filter="fade">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fade">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circle(in)">
                                      <p:cBhvr>
                                        <p:cTn id="31"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2" grpId="0"/>
      <p:bldP spid="15" grpId="0"/>
      <p:bldP spid="18"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矩形: 圆角 60">
            <a:extLst>
              <a:ext uri="{FF2B5EF4-FFF2-40B4-BE49-F238E27FC236}">
                <a16:creationId xmlns:a16="http://schemas.microsoft.com/office/drawing/2014/main" id="{B220D416-341E-4985-95A6-29C17A2CA4A7}"/>
              </a:ext>
            </a:extLst>
          </p:cNvPr>
          <p:cNvSpPr/>
          <p:nvPr/>
        </p:nvSpPr>
        <p:spPr>
          <a:xfrm>
            <a:off x="878087" y="1435461"/>
            <a:ext cx="2557458" cy="459711"/>
          </a:xfrm>
          <a:prstGeom prst="roundRect">
            <a:avLst/>
          </a:prstGeom>
          <a:solidFill>
            <a:srgbClr val="C3C9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箭头连接符 41">
            <a:extLst>
              <a:ext uri="{FF2B5EF4-FFF2-40B4-BE49-F238E27FC236}">
                <a16:creationId xmlns:a16="http://schemas.microsoft.com/office/drawing/2014/main" id="{2092ED26-68B3-4984-A94D-91A178F127C9}"/>
              </a:ext>
            </a:extLst>
          </p:cNvPr>
          <p:cNvCxnSpPr>
            <a:cxnSpLocks noChangeShapeType="1"/>
          </p:cNvCxnSpPr>
          <p:nvPr/>
        </p:nvCxnSpPr>
        <p:spPr bwMode="auto">
          <a:xfrm flipV="1">
            <a:off x="879674" y="5326115"/>
            <a:ext cx="3429002" cy="12699"/>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cxnSp>
        <p:nvCxnSpPr>
          <p:cNvPr id="8" name="直接箭头连接符 42">
            <a:extLst>
              <a:ext uri="{FF2B5EF4-FFF2-40B4-BE49-F238E27FC236}">
                <a16:creationId xmlns:a16="http://schemas.microsoft.com/office/drawing/2014/main" id="{6D597D02-17F9-4A41-B367-F8FBF457DF4B}"/>
              </a:ext>
            </a:extLst>
          </p:cNvPr>
          <p:cNvCxnSpPr>
            <a:cxnSpLocks noChangeShapeType="1"/>
          </p:cNvCxnSpPr>
          <p:nvPr/>
        </p:nvCxnSpPr>
        <p:spPr bwMode="auto">
          <a:xfrm rot="5400000" flipH="1" flipV="1">
            <a:off x="-564951" y="3881490"/>
            <a:ext cx="2889251" cy="0"/>
          </a:xfrm>
          <a:prstGeom prst="straightConnector1">
            <a:avLst/>
          </a:prstGeom>
          <a:noFill/>
          <a:ln w="9525" cmpd="sng">
            <a:solidFill>
              <a:srgbClr val="A6A6A6"/>
            </a:solidFill>
            <a:round/>
            <a:headEnd/>
            <a:tailEnd type="stealth" w="med" len="lg"/>
          </a:ln>
          <a:extLst>
            <a:ext uri="{909E8E84-426E-40DD-AFC4-6F175D3DCCD1}">
              <a14:hiddenFill xmlns:a14="http://schemas.microsoft.com/office/drawing/2010/main">
                <a:noFill/>
              </a14:hiddenFill>
            </a:ext>
          </a:extLst>
        </p:spPr>
      </p:cxnSp>
      <p:graphicFrame>
        <p:nvGraphicFramePr>
          <p:cNvPr id="9" name="Object 17">
            <a:extLst>
              <a:ext uri="{FF2B5EF4-FFF2-40B4-BE49-F238E27FC236}">
                <a16:creationId xmlns:a16="http://schemas.microsoft.com/office/drawing/2014/main" id="{90918ED9-042D-477E-A195-E34867E7C5DB}"/>
              </a:ext>
            </a:extLst>
          </p:cNvPr>
          <p:cNvGraphicFramePr>
            <a:graphicFrameLocks noChangeAspect="1"/>
          </p:cNvGraphicFramePr>
          <p:nvPr>
            <p:extLst>
              <p:ext uri="{D42A27DB-BD31-4B8C-83A1-F6EECF244321}">
                <p14:modId xmlns:p14="http://schemas.microsoft.com/office/powerpoint/2010/main" val="4025837637"/>
              </p:ext>
            </p:extLst>
          </p:nvPr>
        </p:nvGraphicFramePr>
        <p:xfrm>
          <a:off x="665361" y="5430874"/>
          <a:ext cx="212725" cy="247651"/>
        </p:xfrm>
        <a:graphic>
          <a:graphicData uri="http://schemas.openxmlformats.org/presentationml/2006/ole">
            <mc:AlternateContent xmlns:mc="http://schemas.openxmlformats.org/markup-compatibility/2006">
              <mc:Choice xmlns:v="urn:schemas-microsoft-com:vml" Requires="v">
                <p:oleObj spid="_x0000_s124172" r:id="rId3" imgW="153248" imgH="178737" progId="">
                  <p:embed/>
                </p:oleObj>
              </mc:Choice>
              <mc:Fallback>
                <p:oleObj r:id="rId3" imgW="153248" imgH="178737" progId="">
                  <p:embed/>
                  <p:pic>
                    <p:nvPicPr>
                      <p:cNvPr id="124" name="Object 17">
                        <a:extLst>
                          <a:ext uri="{FF2B5EF4-FFF2-40B4-BE49-F238E27FC236}">
                            <a16:creationId xmlns:a16="http://schemas.microsoft.com/office/drawing/2014/main" id="{6C69CBAA-1ABA-419F-BFEE-EAF1F8E899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361" y="5430874"/>
                        <a:ext cx="212725" cy="247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 name="Object 18">
            <a:extLst>
              <a:ext uri="{FF2B5EF4-FFF2-40B4-BE49-F238E27FC236}">
                <a16:creationId xmlns:a16="http://schemas.microsoft.com/office/drawing/2014/main" id="{51DCDB2D-BC27-413B-B60A-FBE47EF52C5E}"/>
              </a:ext>
            </a:extLst>
          </p:cNvPr>
          <p:cNvGraphicFramePr>
            <a:graphicFrameLocks noChangeAspect="1"/>
          </p:cNvGraphicFramePr>
          <p:nvPr>
            <p:extLst>
              <p:ext uri="{D42A27DB-BD31-4B8C-83A1-F6EECF244321}">
                <p14:modId xmlns:p14="http://schemas.microsoft.com/office/powerpoint/2010/main" val="858109684"/>
              </p:ext>
            </p:extLst>
          </p:nvPr>
        </p:nvGraphicFramePr>
        <p:xfrm>
          <a:off x="665361" y="2501928"/>
          <a:ext cx="190499" cy="247651"/>
        </p:xfrm>
        <a:graphic>
          <a:graphicData uri="http://schemas.openxmlformats.org/presentationml/2006/ole">
            <mc:AlternateContent xmlns:mc="http://schemas.openxmlformats.org/markup-compatibility/2006">
              <mc:Choice xmlns:v="urn:schemas-microsoft-com:vml" Requires="v">
                <p:oleObj spid="_x0000_s124173" r:id="rId5" imgW="153248" imgH="178737" progId="">
                  <p:embed/>
                </p:oleObj>
              </mc:Choice>
              <mc:Fallback>
                <p:oleObj r:id="rId5" imgW="153248" imgH="178737" progId="">
                  <p:embed/>
                  <p:pic>
                    <p:nvPicPr>
                      <p:cNvPr id="125" name="Object 18">
                        <a:extLst>
                          <a:ext uri="{FF2B5EF4-FFF2-40B4-BE49-F238E27FC236}">
                            <a16:creationId xmlns:a16="http://schemas.microsoft.com/office/drawing/2014/main" id="{50AB2559-3817-4C78-B16A-3C4C15783C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5361" y="2501928"/>
                        <a:ext cx="190499" cy="247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 name="Object 19">
            <a:extLst>
              <a:ext uri="{FF2B5EF4-FFF2-40B4-BE49-F238E27FC236}">
                <a16:creationId xmlns:a16="http://schemas.microsoft.com/office/drawing/2014/main" id="{C30FD174-3659-4D6F-9EBA-BCBFF47E054E}"/>
              </a:ext>
            </a:extLst>
          </p:cNvPr>
          <p:cNvGraphicFramePr>
            <a:graphicFrameLocks noChangeAspect="1"/>
          </p:cNvGraphicFramePr>
          <p:nvPr>
            <p:extLst>
              <p:ext uri="{D42A27DB-BD31-4B8C-83A1-F6EECF244321}">
                <p14:modId xmlns:p14="http://schemas.microsoft.com/office/powerpoint/2010/main" val="687339570"/>
              </p:ext>
            </p:extLst>
          </p:nvPr>
        </p:nvGraphicFramePr>
        <p:xfrm>
          <a:off x="4022916" y="5430874"/>
          <a:ext cx="212725" cy="284163"/>
        </p:xfrm>
        <a:graphic>
          <a:graphicData uri="http://schemas.openxmlformats.org/presentationml/2006/ole">
            <mc:AlternateContent xmlns:mc="http://schemas.openxmlformats.org/markup-compatibility/2006">
              <mc:Choice xmlns:v="urn:schemas-microsoft-com:vml" Requires="v">
                <p:oleObj spid="_x0000_s124174" r:id="rId7" imgW="153381" imgH="204403" progId="">
                  <p:embed/>
                </p:oleObj>
              </mc:Choice>
              <mc:Fallback>
                <p:oleObj r:id="rId7" imgW="153381" imgH="204403" progId="">
                  <p:embed/>
                  <p:pic>
                    <p:nvPicPr>
                      <p:cNvPr id="126" name="Object 19">
                        <a:extLst>
                          <a:ext uri="{FF2B5EF4-FFF2-40B4-BE49-F238E27FC236}">
                            <a16:creationId xmlns:a16="http://schemas.microsoft.com/office/drawing/2014/main" id="{5DD2DCD4-581A-409C-BF6D-00034205E7E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22916" y="5430874"/>
                        <a:ext cx="212725"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矩形 11">
            <a:extLst>
              <a:ext uri="{FF2B5EF4-FFF2-40B4-BE49-F238E27FC236}">
                <a16:creationId xmlns:a16="http://schemas.microsoft.com/office/drawing/2014/main" id="{E957116B-CA4C-4BF7-83AF-07997AAD2B58}"/>
              </a:ext>
            </a:extLst>
          </p:cNvPr>
          <p:cNvSpPr/>
          <p:nvPr/>
        </p:nvSpPr>
        <p:spPr>
          <a:xfrm>
            <a:off x="937413" y="1468360"/>
            <a:ext cx="2907656" cy="400110"/>
          </a:xfrm>
          <a:prstGeom prst="rect">
            <a:avLst/>
          </a:prstGeom>
          <a:noFill/>
          <a:effectLst>
            <a:outerShdw blurRad="63500" sx="102000" sy="102000" algn="ctr" rotWithShape="0">
              <a:prstClr val="black">
                <a:alpha val="40000"/>
              </a:prstClr>
            </a:outerShdw>
          </a:effectLst>
        </p:spPr>
        <p:txBody>
          <a:bodyPr wrap="square">
            <a:spAutoFit/>
          </a:bodyPr>
          <a:lstStyle/>
          <a:p>
            <a:pPr marL="342900" indent="-342900">
              <a:buFont typeface="Wingdings" panose="05000000000000000000" pitchFamily="2" charset="2"/>
              <a:buChar char="u"/>
              <a:defRPr/>
            </a:pPr>
            <a:r>
              <a:rPr lang="en-US" altLang="zh-CN" sz="2000" dirty="0">
                <a:latin typeface="微软雅黑" panose="020B0503020204020204" pitchFamily="34" charset="-122"/>
                <a:ea typeface="微软雅黑" panose="020B0503020204020204" pitchFamily="34" charset="-122"/>
              </a:rPr>
              <a:t>LMC</a:t>
            </a:r>
            <a:r>
              <a:rPr lang="zh-CN" altLang="en-US" sz="2000" dirty="0">
                <a:latin typeface="微软雅黑" panose="020B0503020204020204" pitchFamily="34" charset="-122"/>
                <a:ea typeface="微软雅黑" panose="020B0503020204020204" pitchFamily="34" charset="-122"/>
              </a:rPr>
              <a:t>曲线的推导</a:t>
            </a:r>
          </a:p>
        </p:txBody>
      </p:sp>
      <p:sp>
        <p:nvSpPr>
          <p:cNvPr id="13" name="矩形 12">
            <a:extLst>
              <a:ext uri="{FF2B5EF4-FFF2-40B4-BE49-F238E27FC236}">
                <a16:creationId xmlns:a16="http://schemas.microsoft.com/office/drawing/2014/main" id="{425F50AE-ECC7-48F2-B071-7E980811605D}"/>
              </a:ext>
            </a:extLst>
          </p:cNvPr>
          <p:cNvSpPr/>
          <p:nvPr/>
        </p:nvSpPr>
        <p:spPr>
          <a:xfrm>
            <a:off x="6660232" y="0"/>
            <a:ext cx="2492990" cy="369332"/>
          </a:xfrm>
          <a:prstGeom prst="rect">
            <a:avLst/>
          </a:prstGeom>
        </p:spPr>
        <p:txBody>
          <a:bodyPr wrap="none">
            <a:spAutoFit/>
          </a:bodyPr>
          <a:lstStyle/>
          <a:p>
            <a:r>
              <a:rPr lang="zh-CN" altLang="en-US" dirty="0">
                <a:latin typeface="微软雅黑" panose="020B0503020204020204" pitchFamily="34" charset="-122"/>
                <a:ea typeface="微软雅黑" panose="020B0503020204020204" pitchFamily="34" charset="-122"/>
              </a:rPr>
              <a:t>第六节	长期成本函数</a:t>
            </a:r>
          </a:p>
        </p:txBody>
      </p:sp>
      <p:sp>
        <p:nvSpPr>
          <p:cNvPr id="14" name="矩形 13">
            <a:extLst>
              <a:ext uri="{FF2B5EF4-FFF2-40B4-BE49-F238E27FC236}">
                <a16:creationId xmlns:a16="http://schemas.microsoft.com/office/drawing/2014/main" id="{1CCAF954-5B21-4F48-8175-C621E654B184}"/>
              </a:ext>
            </a:extLst>
          </p:cNvPr>
          <p:cNvSpPr/>
          <p:nvPr/>
        </p:nvSpPr>
        <p:spPr>
          <a:xfrm>
            <a:off x="5181958" y="2683997"/>
            <a:ext cx="3499089" cy="646331"/>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在每一个产量水平上都存在一条SAC曲线与LAC曲线相切。</a:t>
            </a:r>
          </a:p>
        </p:txBody>
      </p:sp>
      <p:sp>
        <p:nvSpPr>
          <p:cNvPr id="15" name="弧形 40">
            <a:extLst>
              <a:ext uri="{FF2B5EF4-FFF2-40B4-BE49-F238E27FC236}">
                <a16:creationId xmlns:a16="http://schemas.microsoft.com/office/drawing/2014/main" id="{F62D03C8-2234-4EDA-A536-ACCB8CD1ECE1}"/>
              </a:ext>
            </a:extLst>
          </p:cNvPr>
          <p:cNvSpPr>
            <a:spLocks noChangeArrowheads="1"/>
          </p:cNvSpPr>
          <p:nvPr/>
        </p:nvSpPr>
        <p:spPr bwMode="auto">
          <a:xfrm rot="5400000">
            <a:off x="274837" y="838252"/>
            <a:ext cx="4530725" cy="3000375"/>
          </a:xfrm>
          <a:custGeom>
            <a:avLst/>
            <a:gdLst>
              <a:gd name="T0" fmla="*/ 3134734 w 4986234"/>
              <a:gd name="T1" fmla="*/ 67753 h 4022960"/>
              <a:gd name="T2" fmla="*/ 2493117 w 4986234"/>
              <a:gd name="T3" fmla="*/ 2011480 h 4022960"/>
              <a:gd name="T4" fmla="*/ 3096791 w 4986234"/>
              <a:gd name="T5" fmla="*/ 3963103 h 4022960"/>
              <a:gd name="T6" fmla="*/ 11796480 60000 65536"/>
              <a:gd name="T7" fmla="*/ 11796480 60000 65536"/>
              <a:gd name="T8" fmla="*/ 11796480 60000 65536"/>
              <a:gd name="T9" fmla="*/ 3096791 w 4986234"/>
              <a:gd name="T10" fmla="*/ 67753 h 4022960"/>
              <a:gd name="T11" fmla="*/ 4986234 w 4986234"/>
              <a:gd name="T12" fmla="*/ 3963103 h 4022960"/>
            </a:gdLst>
            <a:ahLst/>
            <a:cxnLst>
              <a:cxn ang="T6">
                <a:pos x="T0" y="T1"/>
              </a:cxn>
              <a:cxn ang="T7">
                <a:pos x="T2" y="T3"/>
              </a:cxn>
              <a:cxn ang="T8">
                <a:pos x="T4" y="T5"/>
              </a:cxn>
            </a:cxnLst>
            <a:rect l="T9" t="T10" r="T11" b="T12"/>
            <a:pathLst>
              <a:path w="4986234" h="4022960" stroke="0">
                <a:moveTo>
                  <a:pt x="3134734" y="67753"/>
                </a:moveTo>
                <a:lnTo>
                  <a:pt x="3134733" y="67753"/>
                </a:lnTo>
                <a:cubicBezTo>
                  <a:pt x="4226481" y="302342"/>
                  <a:pt x="4986234" y="1099939"/>
                  <a:pt x="4986234" y="2011480"/>
                </a:cubicBezTo>
                <a:cubicBezTo>
                  <a:pt x="4986234" y="2934793"/>
                  <a:pt x="4207127" y="3739538"/>
                  <a:pt x="3096785" y="3963103"/>
                </a:cubicBezTo>
                <a:lnTo>
                  <a:pt x="2493117" y="2011480"/>
                </a:lnTo>
                <a:close/>
              </a:path>
              <a:path w="4986234" h="4022960" fill="none">
                <a:moveTo>
                  <a:pt x="3134734" y="67753"/>
                </a:moveTo>
                <a:lnTo>
                  <a:pt x="3134733" y="67753"/>
                </a:lnTo>
                <a:cubicBezTo>
                  <a:pt x="4226481" y="302342"/>
                  <a:pt x="4986234" y="1099939"/>
                  <a:pt x="4986234" y="2011480"/>
                </a:cubicBezTo>
                <a:cubicBezTo>
                  <a:pt x="4986234" y="2934793"/>
                  <a:pt x="4207127" y="3739538"/>
                  <a:pt x="3096785" y="3963103"/>
                </a:cubicBezTo>
              </a:path>
            </a:pathLst>
          </a:custGeom>
          <a:noFill/>
          <a:ln w="38100" cmpd="sng">
            <a:solidFill>
              <a:srgbClr val="2D2D8A"/>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6" name="弧形 54">
            <a:extLst>
              <a:ext uri="{FF2B5EF4-FFF2-40B4-BE49-F238E27FC236}">
                <a16:creationId xmlns:a16="http://schemas.microsoft.com/office/drawing/2014/main" id="{C77F45CA-09F9-4C81-995F-D1DC824011CB}"/>
              </a:ext>
            </a:extLst>
          </p:cNvPr>
          <p:cNvSpPr>
            <a:spLocks noChangeArrowheads="1"/>
          </p:cNvSpPr>
          <p:nvPr/>
        </p:nvSpPr>
        <p:spPr bwMode="auto">
          <a:xfrm rot="4694191">
            <a:off x="-784819" y="2215404"/>
            <a:ext cx="3179762" cy="2835275"/>
          </a:xfrm>
          <a:custGeom>
            <a:avLst/>
            <a:gdLst>
              <a:gd name="T0" fmla="*/ 1867113 w 3179733"/>
              <a:gd name="T1" fmla="*/ 21721 h 2835274"/>
              <a:gd name="T2" fmla="*/ 1589867 w 3179733"/>
              <a:gd name="T3" fmla="*/ 1417637 h 2835274"/>
              <a:gd name="T4" fmla="*/ 3156915 w 3179733"/>
              <a:gd name="T5" fmla="*/ 1178319 h 2835274"/>
              <a:gd name="T6" fmla="*/ 11796480 60000 65536"/>
              <a:gd name="T7" fmla="*/ 23592960 60000 65536"/>
              <a:gd name="T8" fmla="*/ 5898240 60000 65536"/>
              <a:gd name="T9" fmla="*/ 1867113 w 3179733"/>
              <a:gd name="T10" fmla="*/ 21721 h 2835274"/>
              <a:gd name="T11" fmla="*/ 3156915 w 3179733"/>
              <a:gd name="T12" fmla="*/ 1178319 h 2835274"/>
            </a:gdLst>
            <a:ahLst/>
            <a:cxnLst>
              <a:cxn ang="T6">
                <a:pos x="T0" y="T1"/>
              </a:cxn>
              <a:cxn ang="T7">
                <a:pos x="T2" y="T3"/>
              </a:cxn>
              <a:cxn ang="T8">
                <a:pos x="T4" y="T5"/>
              </a:cxn>
            </a:cxnLst>
            <a:rect l="T9" t="T10" r="T11" b="T12"/>
            <a:pathLst>
              <a:path w="3179733" h="2835274" stroke="0">
                <a:moveTo>
                  <a:pt x="1867113" y="21721"/>
                </a:moveTo>
                <a:lnTo>
                  <a:pt x="1867112" y="21721"/>
                </a:lnTo>
                <a:cubicBezTo>
                  <a:pt x="2527636" y="126025"/>
                  <a:pt x="3043674" y="588769"/>
                  <a:pt x="3156915" y="1178319"/>
                </a:cubicBezTo>
                <a:lnTo>
                  <a:pt x="1589867" y="1417637"/>
                </a:lnTo>
                <a:close/>
              </a:path>
              <a:path w="3179733" h="2835274" fill="none">
                <a:moveTo>
                  <a:pt x="1867113" y="21721"/>
                </a:moveTo>
                <a:lnTo>
                  <a:pt x="1867112" y="21721"/>
                </a:lnTo>
                <a:cubicBezTo>
                  <a:pt x="2527636" y="126025"/>
                  <a:pt x="3043674" y="588769"/>
                  <a:pt x="3156915" y="1178319"/>
                </a:cubicBezTo>
              </a:path>
            </a:pathLst>
          </a:custGeom>
          <a:noFill/>
          <a:ln w="38100" cmpd="sng">
            <a:solidFill>
              <a:srgbClr val="8CC705"/>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sp>
        <p:nvSpPr>
          <p:cNvPr id="17" name="弧形 56">
            <a:extLst>
              <a:ext uri="{FF2B5EF4-FFF2-40B4-BE49-F238E27FC236}">
                <a16:creationId xmlns:a16="http://schemas.microsoft.com/office/drawing/2014/main" id="{5545F1FC-34A7-4A0B-B6C7-3FD19ABAFD43}"/>
              </a:ext>
            </a:extLst>
          </p:cNvPr>
          <p:cNvSpPr>
            <a:spLocks noChangeArrowheads="1"/>
          </p:cNvSpPr>
          <p:nvPr/>
        </p:nvSpPr>
        <p:spPr bwMode="auto">
          <a:xfrm rot="4694191">
            <a:off x="-70445" y="2143971"/>
            <a:ext cx="3179763" cy="2835275"/>
          </a:xfrm>
          <a:custGeom>
            <a:avLst/>
            <a:gdLst>
              <a:gd name="T0" fmla="*/ 2347300 w 3179734"/>
              <a:gd name="T1" fmla="*/ 171220 h 2835274"/>
              <a:gd name="T2" fmla="*/ 1589867 w 3179734"/>
              <a:gd name="T3" fmla="*/ 1417637 h 2835274"/>
              <a:gd name="T4" fmla="*/ 3060334 w 3179734"/>
              <a:gd name="T5" fmla="*/ 878634 h 2835274"/>
              <a:gd name="T6" fmla="*/ 11796480 60000 65536"/>
              <a:gd name="T7" fmla="*/ 23592960 60000 65536"/>
              <a:gd name="T8" fmla="*/ 5898240 60000 65536"/>
              <a:gd name="T9" fmla="*/ 2347300 w 3179734"/>
              <a:gd name="T10" fmla="*/ 171220 h 2835274"/>
              <a:gd name="T11" fmla="*/ 3060334 w 3179734"/>
              <a:gd name="T12" fmla="*/ 878634 h 2835274"/>
            </a:gdLst>
            <a:ahLst/>
            <a:cxnLst>
              <a:cxn ang="T6">
                <a:pos x="T0" y="T1"/>
              </a:cxn>
              <a:cxn ang="T7">
                <a:pos x="T2" y="T3"/>
              </a:cxn>
              <a:cxn ang="T8">
                <a:pos x="T4" y="T5"/>
              </a:cxn>
            </a:cxnLst>
            <a:rect l="T9" t="T10" r="T11" b="T12"/>
            <a:pathLst>
              <a:path w="3179734" h="2835274" stroke="0">
                <a:moveTo>
                  <a:pt x="2347300" y="171220"/>
                </a:moveTo>
                <a:lnTo>
                  <a:pt x="2347300" y="171219"/>
                </a:lnTo>
                <a:cubicBezTo>
                  <a:pt x="2669248" y="326771"/>
                  <a:pt x="2921109" y="576648"/>
                  <a:pt x="3060333" y="878634"/>
                </a:cubicBezTo>
                <a:lnTo>
                  <a:pt x="1589867" y="1417637"/>
                </a:lnTo>
                <a:close/>
              </a:path>
              <a:path w="3179734" h="2835274" fill="none">
                <a:moveTo>
                  <a:pt x="2347300" y="171220"/>
                </a:moveTo>
                <a:lnTo>
                  <a:pt x="2347300" y="171219"/>
                </a:lnTo>
                <a:cubicBezTo>
                  <a:pt x="2669248" y="326771"/>
                  <a:pt x="2921109" y="576648"/>
                  <a:pt x="3060333" y="878634"/>
                </a:cubicBezTo>
              </a:path>
            </a:pathLst>
          </a:custGeom>
          <a:noFill/>
          <a:ln w="38100" cmpd="sng">
            <a:solidFill>
              <a:srgbClr val="8CC705"/>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8" name="弧形 57">
            <a:extLst>
              <a:ext uri="{FF2B5EF4-FFF2-40B4-BE49-F238E27FC236}">
                <a16:creationId xmlns:a16="http://schemas.microsoft.com/office/drawing/2014/main" id="{10BBC433-2B97-4941-9E16-2F2694EB13DD}"/>
              </a:ext>
            </a:extLst>
          </p:cNvPr>
          <p:cNvSpPr>
            <a:spLocks noChangeArrowheads="1"/>
          </p:cNvSpPr>
          <p:nvPr/>
        </p:nvSpPr>
        <p:spPr bwMode="auto">
          <a:xfrm rot="4967991">
            <a:off x="-971351" y="758874"/>
            <a:ext cx="5238749" cy="3721100"/>
          </a:xfrm>
          <a:custGeom>
            <a:avLst/>
            <a:gdLst>
              <a:gd name="T0" fmla="*/ 2833143 w 5238702"/>
              <a:gd name="T1" fmla="*/ 6208 h 3721099"/>
              <a:gd name="T2" fmla="*/ 2619351 w 5238702"/>
              <a:gd name="T3" fmla="*/ 1860550 h 3721099"/>
              <a:gd name="T4" fmla="*/ 4998269 w 5238702"/>
              <a:gd name="T5" fmla="*/ 1081878 h 3721099"/>
              <a:gd name="T6" fmla="*/ 11796480 60000 65536"/>
              <a:gd name="T7" fmla="*/ 17694720 60000 65536"/>
              <a:gd name="T8" fmla="*/ 5898240 60000 65536"/>
              <a:gd name="T9" fmla="*/ 2833143 w 5238702"/>
              <a:gd name="T10" fmla="*/ 6208 h 3721099"/>
              <a:gd name="T11" fmla="*/ 4998269 w 5238702"/>
              <a:gd name="T12" fmla="*/ 1081878 h 3721099"/>
            </a:gdLst>
            <a:ahLst/>
            <a:cxnLst>
              <a:cxn ang="T6">
                <a:pos x="T0" y="T1"/>
              </a:cxn>
              <a:cxn ang="T7">
                <a:pos x="T2" y="T3"/>
              </a:cxn>
              <a:cxn ang="T8">
                <a:pos x="T4" y="T5"/>
              </a:cxn>
            </a:cxnLst>
            <a:rect l="T9" t="T10" r="T11" b="T12"/>
            <a:pathLst>
              <a:path w="5238702" h="3721099" stroke="0">
                <a:moveTo>
                  <a:pt x="2833143" y="6208"/>
                </a:moveTo>
                <a:lnTo>
                  <a:pt x="2833143" y="6207"/>
                </a:lnTo>
                <a:cubicBezTo>
                  <a:pt x="3775228" y="61008"/>
                  <a:pt x="4602670" y="472095"/>
                  <a:pt x="4998269" y="1081878"/>
                </a:cubicBezTo>
                <a:lnTo>
                  <a:pt x="2619351" y="1860550"/>
                </a:lnTo>
                <a:close/>
              </a:path>
              <a:path w="5238702" h="3721099" fill="none">
                <a:moveTo>
                  <a:pt x="2833143" y="6208"/>
                </a:moveTo>
                <a:lnTo>
                  <a:pt x="2833143" y="6207"/>
                </a:lnTo>
                <a:cubicBezTo>
                  <a:pt x="3775228" y="61008"/>
                  <a:pt x="4602670" y="472095"/>
                  <a:pt x="4998269" y="1081878"/>
                </a:cubicBezTo>
              </a:path>
            </a:pathLst>
          </a:custGeom>
          <a:noFill/>
          <a:ln w="38100" cmpd="sng">
            <a:solidFill>
              <a:srgbClr val="8CC705"/>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dirty="0"/>
          </a:p>
        </p:txBody>
      </p:sp>
      <p:graphicFrame>
        <p:nvGraphicFramePr>
          <p:cNvPr id="34" name="Object 33">
            <a:extLst>
              <a:ext uri="{FF2B5EF4-FFF2-40B4-BE49-F238E27FC236}">
                <a16:creationId xmlns:a16="http://schemas.microsoft.com/office/drawing/2014/main" id="{74A0CA1F-8278-4CEB-AEDB-39B7DC7B2281}"/>
              </a:ext>
            </a:extLst>
          </p:cNvPr>
          <p:cNvGraphicFramePr>
            <a:graphicFrameLocks noChangeAspect="1"/>
          </p:cNvGraphicFramePr>
          <p:nvPr>
            <p:extLst>
              <p:ext uri="{D42A27DB-BD31-4B8C-83A1-F6EECF244321}">
                <p14:modId xmlns:p14="http://schemas.microsoft.com/office/powerpoint/2010/main" val="1754966707"/>
              </p:ext>
            </p:extLst>
          </p:nvPr>
        </p:nvGraphicFramePr>
        <p:xfrm>
          <a:off x="879674" y="4859382"/>
          <a:ext cx="427037" cy="320678"/>
        </p:xfrm>
        <a:graphic>
          <a:graphicData uri="http://schemas.openxmlformats.org/presentationml/2006/ole">
            <mc:AlternateContent xmlns:mc="http://schemas.openxmlformats.org/markup-compatibility/2006">
              <mc:Choice xmlns:v="urn:schemas-microsoft-com:vml" Requires="v">
                <p:oleObj spid="_x0000_s124175" r:id="rId9" imgW="305647" imgH="229315" progId="">
                  <p:embed/>
                </p:oleObj>
              </mc:Choice>
              <mc:Fallback>
                <p:oleObj r:id="rId9" imgW="305647" imgH="229315" progId="">
                  <p:embed/>
                  <p:pic>
                    <p:nvPicPr>
                      <p:cNvPr id="128" name="Object 33">
                        <a:extLst>
                          <a:ext uri="{FF2B5EF4-FFF2-40B4-BE49-F238E27FC236}">
                            <a16:creationId xmlns:a16="http://schemas.microsoft.com/office/drawing/2014/main" id="{965DD501-6B7D-489A-A9E9-B8476AD69CA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9674" y="4859382"/>
                        <a:ext cx="427037" cy="320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5" name="Object 34">
            <a:extLst>
              <a:ext uri="{FF2B5EF4-FFF2-40B4-BE49-F238E27FC236}">
                <a16:creationId xmlns:a16="http://schemas.microsoft.com/office/drawing/2014/main" id="{82DA7506-6AE3-43A2-9C11-B1E29D6AE612}"/>
              </a:ext>
            </a:extLst>
          </p:cNvPr>
          <p:cNvGraphicFramePr>
            <a:graphicFrameLocks noChangeAspect="1"/>
          </p:cNvGraphicFramePr>
          <p:nvPr>
            <p:extLst>
              <p:ext uri="{D42A27DB-BD31-4B8C-83A1-F6EECF244321}">
                <p14:modId xmlns:p14="http://schemas.microsoft.com/office/powerpoint/2010/main" val="1890791534"/>
              </p:ext>
            </p:extLst>
          </p:nvPr>
        </p:nvGraphicFramePr>
        <p:xfrm>
          <a:off x="1879800" y="4859382"/>
          <a:ext cx="461962" cy="320678"/>
        </p:xfrm>
        <a:graphic>
          <a:graphicData uri="http://schemas.openxmlformats.org/presentationml/2006/ole">
            <mc:AlternateContent xmlns:mc="http://schemas.openxmlformats.org/markup-compatibility/2006">
              <mc:Choice xmlns:v="urn:schemas-microsoft-com:vml" Requires="v">
                <p:oleObj spid="_x0000_s124176" r:id="rId11" imgW="331235" imgH="229414" progId="">
                  <p:embed/>
                </p:oleObj>
              </mc:Choice>
              <mc:Fallback>
                <p:oleObj r:id="rId11" imgW="331235" imgH="229414" progId="">
                  <p:embed/>
                  <p:pic>
                    <p:nvPicPr>
                      <p:cNvPr id="129" name="Object 34">
                        <a:extLst>
                          <a:ext uri="{FF2B5EF4-FFF2-40B4-BE49-F238E27FC236}">
                            <a16:creationId xmlns:a16="http://schemas.microsoft.com/office/drawing/2014/main" id="{599522B1-F7C8-471E-91F9-7E3CB0391F3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79800" y="4859382"/>
                        <a:ext cx="461962" cy="320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 name="Object 35">
            <a:extLst>
              <a:ext uri="{FF2B5EF4-FFF2-40B4-BE49-F238E27FC236}">
                <a16:creationId xmlns:a16="http://schemas.microsoft.com/office/drawing/2014/main" id="{ACFAF863-655B-4B6D-9AD0-BA21150CDB54}"/>
              </a:ext>
            </a:extLst>
          </p:cNvPr>
          <p:cNvGraphicFramePr>
            <a:graphicFrameLocks noChangeAspect="1"/>
          </p:cNvGraphicFramePr>
          <p:nvPr>
            <p:extLst>
              <p:ext uri="{D42A27DB-BD31-4B8C-83A1-F6EECF244321}">
                <p14:modId xmlns:p14="http://schemas.microsoft.com/office/powerpoint/2010/main" val="1145831760"/>
              </p:ext>
            </p:extLst>
          </p:nvPr>
        </p:nvGraphicFramePr>
        <p:xfrm>
          <a:off x="2737050" y="4887091"/>
          <a:ext cx="444500" cy="320678"/>
        </p:xfrm>
        <a:graphic>
          <a:graphicData uri="http://schemas.openxmlformats.org/presentationml/2006/ole">
            <mc:AlternateContent xmlns:mc="http://schemas.openxmlformats.org/markup-compatibility/2006">
              <mc:Choice xmlns:v="urn:schemas-microsoft-com:vml" Requires="v">
                <p:oleObj spid="_x0000_s124177" r:id="rId13" imgW="318369" imgH="229315" progId="">
                  <p:embed/>
                </p:oleObj>
              </mc:Choice>
              <mc:Fallback>
                <p:oleObj r:id="rId13" imgW="318369" imgH="229315" progId="">
                  <p:embed/>
                  <p:pic>
                    <p:nvPicPr>
                      <p:cNvPr id="130" name="Object 35">
                        <a:extLst>
                          <a:ext uri="{FF2B5EF4-FFF2-40B4-BE49-F238E27FC236}">
                            <a16:creationId xmlns:a16="http://schemas.microsoft.com/office/drawing/2014/main" id="{F5812462-8627-4FBF-BCFD-C445B8C39CA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37050" y="4887091"/>
                        <a:ext cx="444500" cy="3206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7" name="弧形 28">
            <a:extLst>
              <a:ext uri="{FF2B5EF4-FFF2-40B4-BE49-F238E27FC236}">
                <a16:creationId xmlns:a16="http://schemas.microsoft.com/office/drawing/2014/main" id="{11A40521-CD0C-4BA6-AFBB-8D668B2B8C9B}"/>
              </a:ext>
            </a:extLst>
          </p:cNvPr>
          <p:cNvSpPr>
            <a:spLocks noChangeArrowheads="1"/>
          </p:cNvSpPr>
          <p:nvPr/>
        </p:nvSpPr>
        <p:spPr bwMode="auto">
          <a:xfrm rot="5400000">
            <a:off x="1008260" y="2873424"/>
            <a:ext cx="1903412" cy="1017589"/>
          </a:xfrm>
          <a:custGeom>
            <a:avLst/>
            <a:gdLst>
              <a:gd name="T0" fmla="*/ 1293829 w 2071026"/>
              <a:gd name="T1" fmla="*/ 21454 h 1357223"/>
              <a:gd name="T2" fmla="*/ 1035513 w 2071026"/>
              <a:gd name="T3" fmla="*/ 678612 h 1357223"/>
              <a:gd name="T4" fmla="*/ 1218161 w 2071026"/>
              <a:gd name="T5" fmla="*/ 1346583 h 1357223"/>
              <a:gd name="T6" fmla="*/ 11796480 60000 65536"/>
              <a:gd name="T7" fmla="*/ 11796480 60000 65536"/>
              <a:gd name="T8" fmla="*/ 11796480 60000 65536"/>
              <a:gd name="T9" fmla="*/ 1218161 w 2071026"/>
              <a:gd name="T10" fmla="*/ 21454 h 1357223"/>
              <a:gd name="T11" fmla="*/ 2071026 w 2071026"/>
              <a:gd name="T12" fmla="*/ 1346583 h 1357223"/>
            </a:gdLst>
            <a:ahLst/>
            <a:cxnLst>
              <a:cxn ang="T6">
                <a:pos x="T0" y="T1"/>
              </a:cxn>
              <a:cxn ang="T7">
                <a:pos x="T2" y="T3"/>
              </a:cxn>
              <a:cxn ang="T8">
                <a:pos x="T4" y="T5"/>
              </a:cxn>
            </a:cxnLst>
            <a:rect l="T9" t="T10" r="T11" b="T12"/>
            <a:pathLst>
              <a:path w="2071026" h="1357223" stroke="0">
                <a:moveTo>
                  <a:pt x="1293829" y="21454"/>
                </a:moveTo>
                <a:lnTo>
                  <a:pt x="1293829" y="21453"/>
                </a:lnTo>
                <a:cubicBezTo>
                  <a:pt x="1751302" y="98682"/>
                  <a:pt x="2071026" y="369024"/>
                  <a:pt x="2071026" y="678612"/>
                </a:cubicBezTo>
                <a:cubicBezTo>
                  <a:pt x="2071026" y="1007226"/>
                  <a:pt x="1711740" y="1288622"/>
                  <a:pt x="1218159" y="1346584"/>
                </a:cubicBezTo>
                <a:lnTo>
                  <a:pt x="1035513" y="678612"/>
                </a:lnTo>
                <a:close/>
              </a:path>
              <a:path w="2071026" h="1357223" fill="none">
                <a:moveTo>
                  <a:pt x="1293829" y="21454"/>
                </a:moveTo>
                <a:lnTo>
                  <a:pt x="1293829" y="21453"/>
                </a:lnTo>
                <a:cubicBezTo>
                  <a:pt x="1751302" y="98682"/>
                  <a:pt x="2071026" y="369024"/>
                  <a:pt x="2071026" y="678612"/>
                </a:cubicBezTo>
                <a:cubicBezTo>
                  <a:pt x="2071026" y="1007226"/>
                  <a:pt x="1711740" y="1288622"/>
                  <a:pt x="1218159" y="1346584"/>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38" name="Object 9">
            <a:extLst>
              <a:ext uri="{FF2B5EF4-FFF2-40B4-BE49-F238E27FC236}">
                <a16:creationId xmlns:a16="http://schemas.microsoft.com/office/drawing/2014/main" id="{B020CD18-0197-4AAC-8478-FE6889262F87}"/>
              </a:ext>
            </a:extLst>
          </p:cNvPr>
          <p:cNvGraphicFramePr>
            <a:graphicFrameLocks noChangeAspect="1"/>
          </p:cNvGraphicFramePr>
          <p:nvPr>
            <p:extLst>
              <p:ext uri="{D42A27DB-BD31-4B8C-83A1-F6EECF244321}">
                <p14:modId xmlns:p14="http://schemas.microsoft.com/office/powerpoint/2010/main" val="232660131"/>
              </p:ext>
            </p:extLst>
          </p:nvPr>
        </p:nvGraphicFramePr>
        <p:xfrm>
          <a:off x="1362273" y="3290916"/>
          <a:ext cx="390524" cy="320675"/>
        </p:xfrm>
        <a:graphic>
          <a:graphicData uri="http://schemas.openxmlformats.org/presentationml/2006/ole">
            <mc:AlternateContent xmlns:mc="http://schemas.openxmlformats.org/markup-compatibility/2006">
              <mc:Choice xmlns:v="urn:schemas-microsoft-com:vml" Requires="v">
                <p:oleObj spid="_x0000_s124178" r:id="rId15" imgW="280813" imgH="229813" progId="">
                  <p:embed/>
                </p:oleObj>
              </mc:Choice>
              <mc:Fallback>
                <p:oleObj r:id="rId15" imgW="280813" imgH="229813" progId="">
                  <p:embed/>
                  <p:pic>
                    <p:nvPicPr>
                      <p:cNvPr id="157" name="Object 9">
                        <a:extLst>
                          <a:ext uri="{FF2B5EF4-FFF2-40B4-BE49-F238E27FC236}">
                            <a16:creationId xmlns:a16="http://schemas.microsoft.com/office/drawing/2014/main" id="{3EB1912F-67E7-4868-8F63-92BDB698754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62273" y="3290916"/>
                        <a:ext cx="390524"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9" name="弧形 29">
            <a:extLst>
              <a:ext uri="{FF2B5EF4-FFF2-40B4-BE49-F238E27FC236}">
                <a16:creationId xmlns:a16="http://schemas.microsoft.com/office/drawing/2014/main" id="{826BAEC6-0A70-4C9A-864F-CEC37D9E96F2}"/>
              </a:ext>
            </a:extLst>
          </p:cNvPr>
          <p:cNvSpPr>
            <a:spLocks noChangeArrowheads="1"/>
          </p:cNvSpPr>
          <p:nvPr/>
        </p:nvSpPr>
        <p:spPr bwMode="auto">
          <a:xfrm rot="5400000">
            <a:off x="1805978" y="3386980"/>
            <a:ext cx="1576387" cy="857250"/>
          </a:xfrm>
          <a:custGeom>
            <a:avLst/>
            <a:gdLst>
              <a:gd name="T0" fmla="*/ 863071 w 1715203"/>
              <a:gd name="T1" fmla="*/ 12 h 1143369"/>
              <a:gd name="T2" fmla="*/ 857602 w 1715203"/>
              <a:gd name="T3" fmla="*/ 571685 h 1143369"/>
              <a:gd name="T4" fmla="*/ 1118551 w 1715203"/>
              <a:gd name="T5" fmla="*/ 1116261 h 1143369"/>
              <a:gd name="T6" fmla="*/ 11796480 60000 65536"/>
              <a:gd name="T7" fmla="*/ 11796480 60000 65536"/>
              <a:gd name="T8" fmla="*/ 11796480 60000 65536"/>
              <a:gd name="T9" fmla="*/ 863071 w 1715203"/>
              <a:gd name="T10" fmla="*/ 12 h 1143369"/>
              <a:gd name="T11" fmla="*/ 1715203 w 1715203"/>
              <a:gd name="T12" fmla="*/ 1116261 h 1143369"/>
            </a:gdLst>
            <a:ahLst/>
            <a:cxnLst>
              <a:cxn ang="T6">
                <a:pos x="T0" y="T1"/>
              </a:cxn>
              <a:cxn ang="T7">
                <a:pos x="T2" y="T3"/>
              </a:cxn>
              <a:cxn ang="T8">
                <a:pos x="T4" y="T5"/>
              </a:cxn>
            </a:cxnLst>
            <a:rect l="T9" t="T10" r="T11" b="T12"/>
            <a:pathLst>
              <a:path w="1715203" h="1143369" stroke="0">
                <a:moveTo>
                  <a:pt x="863071" y="12"/>
                </a:moveTo>
                <a:lnTo>
                  <a:pt x="863071" y="11"/>
                </a:lnTo>
                <a:cubicBezTo>
                  <a:pt x="1334567" y="2016"/>
                  <a:pt x="1715203" y="257375"/>
                  <a:pt x="1715203" y="571685"/>
                </a:cubicBezTo>
                <a:cubicBezTo>
                  <a:pt x="1715203" y="820403"/>
                  <a:pt x="1473968" y="1040583"/>
                  <a:pt x="1118549" y="1116262"/>
                </a:cubicBezTo>
                <a:lnTo>
                  <a:pt x="857602" y="571685"/>
                </a:lnTo>
                <a:close/>
              </a:path>
              <a:path w="1715203" h="1143369" fill="none">
                <a:moveTo>
                  <a:pt x="863071" y="12"/>
                </a:moveTo>
                <a:lnTo>
                  <a:pt x="863071" y="11"/>
                </a:lnTo>
                <a:cubicBezTo>
                  <a:pt x="1334567" y="2016"/>
                  <a:pt x="1715203" y="257375"/>
                  <a:pt x="1715203" y="571685"/>
                </a:cubicBezTo>
                <a:cubicBezTo>
                  <a:pt x="1715203" y="820403"/>
                  <a:pt x="1473968" y="1040583"/>
                  <a:pt x="1118549" y="1116262"/>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40" name="Object 10">
            <a:extLst>
              <a:ext uri="{FF2B5EF4-FFF2-40B4-BE49-F238E27FC236}">
                <a16:creationId xmlns:a16="http://schemas.microsoft.com/office/drawing/2014/main" id="{15B3F621-0839-4DE1-8DA1-A6CB6AF08027}"/>
              </a:ext>
            </a:extLst>
          </p:cNvPr>
          <p:cNvGraphicFramePr>
            <a:graphicFrameLocks noChangeAspect="1"/>
          </p:cNvGraphicFramePr>
          <p:nvPr>
            <p:extLst>
              <p:ext uri="{D42A27DB-BD31-4B8C-83A1-F6EECF244321}">
                <p14:modId xmlns:p14="http://schemas.microsoft.com/office/powerpoint/2010/main" val="1550739407"/>
              </p:ext>
            </p:extLst>
          </p:nvPr>
        </p:nvGraphicFramePr>
        <p:xfrm>
          <a:off x="2003621" y="3749705"/>
          <a:ext cx="427036" cy="320675"/>
        </p:xfrm>
        <a:graphic>
          <a:graphicData uri="http://schemas.openxmlformats.org/presentationml/2006/ole">
            <mc:AlternateContent xmlns:mc="http://schemas.openxmlformats.org/markup-compatibility/2006">
              <mc:Choice xmlns:v="urn:schemas-microsoft-com:vml" Requires="v">
                <p:oleObj spid="_x0000_s124179" r:id="rId17" imgW="305647" imgH="229315" progId="">
                  <p:embed/>
                </p:oleObj>
              </mc:Choice>
              <mc:Fallback>
                <p:oleObj r:id="rId17" imgW="305647" imgH="229315" progId="">
                  <p:embed/>
                  <p:pic>
                    <p:nvPicPr>
                      <p:cNvPr id="158" name="Object 10">
                        <a:extLst>
                          <a:ext uri="{FF2B5EF4-FFF2-40B4-BE49-F238E27FC236}">
                            <a16:creationId xmlns:a16="http://schemas.microsoft.com/office/drawing/2014/main" id="{80E18FEF-59A8-46C2-A8AC-2691ADA38197}"/>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03621" y="3749705"/>
                        <a:ext cx="427036"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1" name="弧形 30">
            <a:extLst>
              <a:ext uri="{FF2B5EF4-FFF2-40B4-BE49-F238E27FC236}">
                <a16:creationId xmlns:a16="http://schemas.microsoft.com/office/drawing/2014/main" id="{451B68E5-6C8D-44A2-9A21-6F4D38F38DC5}"/>
              </a:ext>
            </a:extLst>
          </p:cNvPr>
          <p:cNvSpPr>
            <a:spLocks noChangeArrowheads="1"/>
          </p:cNvSpPr>
          <p:nvPr/>
        </p:nvSpPr>
        <p:spPr bwMode="auto">
          <a:xfrm rot="5400000">
            <a:off x="2408435" y="2954385"/>
            <a:ext cx="1708150" cy="803275"/>
          </a:xfrm>
          <a:custGeom>
            <a:avLst/>
            <a:gdLst>
              <a:gd name="T0" fmla="*/ 934410 w 1858569"/>
              <a:gd name="T1" fmla="*/ 8 h 1071379"/>
              <a:gd name="T2" fmla="*/ 929285 w 1858569"/>
              <a:gd name="T3" fmla="*/ 535690 h 1071379"/>
              <a:gd name="T4" fmla="*/ 1195344 w 1858569"/>
              <a:gd name="T5" fmla="*/ 1048954 h 1071379"/>
              <a:gd name="T6" fmla="*/ 11796480 60000 65536"/>
              <a:gd name="T7" fmla="*/ 11796480 60000 65536"/>
              <a:gd name="T8" fmla="*/ 11796480 60000 65536"/>
              <a:gd name="T9" fmla="*/ 934410 w 1858569"/>
              <a:gd name="T10" fmla="*/ 8 h 1071379"/>
              <a:gd name="T11" fmla="*/ 1858569 w 1858569"/>
              <a:gd name="T12" fmla="*/ 1048954 h 1071379"/>
            </a:gdLst>
            <a:ahLst/>
            <a:cxnLst>
              <a:cxn ang="T6">
                <a:pos x="T0" y="T1"/>
              </a:cxn>
              <a:cxn ang="T7">
                <a:pos x="T2" y="T3"/>
              </a:cxn>
              <a:cxn ang="T8">
                <a:pos x="T4" y="T5"/>
              </a:cxn>
            </a:cxnLst>
            <a:rect l="T9" t="T10" r="T11" b="T12"/>
            <a:pathLst>
              <a:path w="1858569" h="1071379" stroke="0">
                <a:moveTo>
                  <a:pt x="934410" y="8"/>
                </a:moveTo>
                <a:lnTo>
                  <a:pt x="934409" y="8"/>
                </a:lnTo>
                <a:cubicBezTo>
                  <a:pt x="1445631" y="1633"/>
                  <a:pt x="1858569" y="240989"/>
                  <a:pt x="1858569" y="535690"/>
                </a:cubicBezTo>
                <a:cubicBezTo>
                  <a:pt x="1858569" y="772470"/>
                  <a:pt x="1588902" y="981163"/>
                  <a:pt x="1195343" y="1048955"/>
                </a:cubicBezTo>
                <a:lnTo>
                  <a:pt x="929285" y="535690"/>
                </a:lnTo>
                <a:close/>
              </a:path>
              <a:path w="1858569" h="1071379" fill="none">
                <a:moveTo>
                  <a:pt x="934410" y="8"/>
                </a:moveTo>
                <a:lnTo>
                  <a:pt x="934409" y="8"/>
                </a:lnTo>
                <a:cubicBezTo>
                  <a:pt x="1445631" y="1633"/>
                  <a:pt x="1858569" y="240989"/>
                  <a:pt x="1858569" y="535690"/>
                </a:cubicBezTo>
                <a:cubicBezTo>
                  <a:pt x="1858569" y="772470"/>
                  <a:pt x="1588902" y="981163"/>
                  <a:pt x="1195343" y="1048955"/>
                </a:cubicBezTo>
              </a:path>
            </a:pathLst>
          </a:custGeom>
          <a:noFill/>
          <a:ln w="38100" cmpd="sng">
            <a:solidFill>
              <a:srgbClr val="000000"/>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42" name="Object 11">
            <a:extLst>
              <a:ext uri="{FF2B5EF4-FFF2-40B4-BE49-F238E27FC236}">
                <a16:creationId xmlns:a16="http://schemas.microsoft.com/office/drawing/2014/main" id="{B8C3516C-663C-4586-AB4D-AF2B1D5005A8}"/>
              </a:ext>
            </a:extLst>
          </p:cNvPr>
          <p:cNvGraphicFramePr>
            <a:graphicFrameLocks noChangeAspect="1"/>
          </p:cNvGraphicFramePr>
          <p:nvPr>
            <p:extLst>
              <p:ext uri="{D42A27DB-BD31-4B8C-83A1-F6EECF244321}">
                <p14:modId xmlns:p14="http://schemas.microsoft.com/office/powerpoint/2010/main" val="1426808298"/>
              </p:ext>
            </p:extLst>
          </p:nvPr>
        </p:nvGraphicFramePr>
        <p:xfrm>
          <a:off x="2665606" y="3287741"/>
          <a:ext cx="407987" cy="320675"/>
        </p:xfrm>
        <a:graphic>
          <a:graphicData uri="http://schemas.openxmlformats.org/presentationml/2006/ole">
            <mc:AlternateContent xmlns:mc="http://schemas.openxmlformats.org/markup-compatibility/2006">
              <mc:Choice xmlns:v="urn:schemas-microsoft-com:vml" Requires="v">
                <p:oleObj spid="_x0000_s124180" r:id="rId19" imgW="293052" imgH="229414" progId="">
                  <p:embed/>
                </p:oleObj>
              </mc:Choice>
              <mc:Fallback>
                <p:oleObj r:id="rId19" imgW="293052" imgH="229414" progId="">
                  <p:embed/>
                  <p:pic>
                    <p:nvPicPr>
                      <p:cNvPr id="159" name="Object 11">
                        <a:extLst>
                          <a:ext uri="{FF2B5EF4-FFF2-40B4-BE49-F238E27FC236}">
                            <a16:creationId xmlns:a16="http://schemas.microsoft.com/office/drawing/2014/main" id="{28BAA04C-1A56-40E4-BA2A-14F6A5A6AD5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65606" y="3287741"/>
                        <a:ext cx="407987"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43" name="直接连接符 31">
            <a:extLst>
              <a:ext uri="{FF2B5EF4-FFF2-40B4-BE49-F238E27FC236}">
                <a16:creationId xmlns:a16="http://schemas.microsoft.com/office/drawing/2014/main" id="{E0DC0A48-00A3-4949-B4FA-595378D55BCB}"/>
              </a:ext>
            </a:extLst>
          </p:cNvPr>
          <p:cNvCxnSpPr>
            <a:cxnSpLocks noChangeShapeType="1"/>
          </p:cNvCxnSpPr>
          <p:nvPr/>
        </p:nvCxnSpPr>
        <p:spPr bwMode="auto">
          <a:xfrm rot="5400000">
            <a:off x="2201269" y="4998296"/>
            <a:ext cx="785812" cy="0"/>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cxnSp>
        <p:nvCxnSpPr>
          <p:cNvPr id="44" name="直接连接符 33">
            <a:extLst>
              <a:ext uri="{FF2B5EF4-FFF2-40B4-BE49-F238E27FC236}">
                <a16:creationId xmlns:a16="http://schemas.microsoft.com/office/drawing/2014/main" id="{85E7B8D2-4C94-4325-BE97-A1E155C5E481}"/>
              </a:ext>
            </a:extLst>
          </p:cNvPr>
          <p:cNvCxnSpPr>
            <a:cxnSpLocks noChangeShapeType="1"/>
          </p:cNvCxnSpPr>
          <p:nvPr/>
        </p:nvCxnSpPr>
        <p:spPr bwMode="auto">
          <a:xfrm rot="16200000" flipH="1">
            <a:off x="1201144" y="4823671"/>
            <a:ext cx="1071562" cy="0"/>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cxnSp>
        <p:nvCxnSpPr>
          <p:cNvPr id="45" name="直接连接符 34">
            <a:extLst>
              <a:ext uri="{FF2B5EF4-FFF2-40B4-BE49-F238E27FC236}">
                <a16:creationId xmlns:a16="http://schemas.microsoft.com/office/drawing/2014/main" id="{64E14BC8-77B2-4A25-9083-24125099FC3C}"/>
              </a:ext>
            </a:extLst>
          </p:cNvPr>
          <p:cNvCxnSpPr>
            <a:cxnSpLocks noChangeShapeType="1"/>
          </p:cNvCxnSpPr>
          <p:nvPr/>
        </p:nvCxnSpPr>
        <p:spPr bwMode="auto">
          <a:xfrm rot="5400000">
            <a:off x="2387006" y="4190259"/>
            <a:ext cx="2252663" cy="19050"/>
          </a:xfrm>
          <a:prstGeom prst="line">
            <a:avLst/>
          </a:prstGeom>
          <a:noFill/>
          <a:ln w="9525" cmpd="sng">
            <a:solidFill>
              <a:srgbClr val="BFBFBF"/>
            </a:solidFill>
            <a:prstDash val="lgDash"/>
            <a:round/>
            <a:headEnd/>
            <a:tailEnd/>
          </a:ln>
          <a:extLst>
            <a:ext uri="{909E8E84-426E-40DD-AFC4-6F175D3DCCD1}">
              <a14:hiddenFill xmlns:a14="http://schemas.microsoft.com/office/drawing/2010/main">
                <a:noFill/>
              </a14:hiddenFill>
            </a:ext>
          </a:extLst>
        </p:spPr>
      </p:cxnSp>
      <p:graphicFrame>
        <p:nvGraphicFramePr>
          <p:cNvPr id="46" name="Object 27">
            <a:extLst>
              <a:ext uri="{FF2B5EF4-FFF2-40B4-BE49-F238E27FC236}">
                <a16:creationId xmlns:a16="http://schemas.microsoft.com/office/drawing/2014/main" id="{B452B888-3873-4D37-99DB-BC9D626A3489}"/>
              </a:ext>
            </a:extLst>
          </p:cNvPr>
          <p:cNvGraphicFramePr>
            <a:graphicFrameLocks noChangeAspect="1"/>
          </p:cNvGraphicFramePr>
          <p:nvPr>
            <p:extLst>
              <p:ext uri="{D42A27DB-BD31-4B8C-83A1-F6EECF244321}">
                <p14:modId xmlns:p14="http://schemas.microsoft.com/office/powerpoint/2010/main" val="1073725772"/>
              </p:ext>
            </p:extLst>
          </p:nvPr>
        </p:nvGraphicFramePr>
        <p:xfrm>
          <a:off x="1665484" y="5430873"/>
          <a:ext cx="247650" cy="320675"/>
        </p:xfrm>
        <a:graphic>
          <a:graphicData uri="http://schemas.openxmlformats.org/presentationml/2006/ole">
            <mc:AlternateContent xmlns:mc="http://schemas.openxmlformats.org/markup-compatibility/2006">
              <mc:Choice xmlns:v="urn:schemas-microsoft-com:vml" Requires="v">
                <p:oleObj spid="_x0000_s124181" r:id="rId21" imgW="178504" imgH="229414" progId="">
                  <p:embed/>
                </p:oleObj>
              </mc:Choice>
              <mc:Fallback>
                <p:oleObj r:id="rId21" imgW="178504" imgH="229414" progId="">
                  <p:embed/>
                  <p:pic>
                    <p:nvPicPr>
                      <p:cNvPr id="154" name="Object 27">
                        <a:extLst>
                          <a:ext uri="{FF2B5EF4-FFF2-40B4-BE49-F238E27FC236}">
                            <a16:creationId xmlns:a16="http://schemas.microsoft.com/office/drawing/2014/main" id="{E34281CB-D785-4444-94CF-F687EF09FE91}"/>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65484" y="5430873"/>
                        <a:ext cx="247650"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 name="Object 28">
            <a:extLst>
              <a:ext uri="{FF2B5EF4-FFF2-40B4-BE49-F238E27FC236}">
                <a16:creationId xmlns:a16="http://schemas.microsoft.com/office/drawing/2014/main" id="{BC2F6F41-6E55-482A-8297-D6BD62EBC480}"/>
              </a:ext>
            </a:extLst>
          </p:cNvPr>
          <p:cNvGraphicFramePr>
            <a:graphicFrameLocks noChangeAspect="1"/>
          </p:cNvGraphicFramePr>
          <p:nvPr>
            <p:extLst>
              <p:ext uri="{D42A27DB-BD31-4B8C-83A1-F6EECF244321}">
                <p14:modId xmlns:p14="http://schemas.microsoft.com/office/powerpoint/2010/main" val="2634803793"/>
              </p:ext>
            </p:extLst>
          </p:nvPr>
        </p:nvGraphicFramePr>
        <p:xfrm>
          <a:off x="2451293" y="5430890"/>
          <a:ext cx="266699" cy="320675"/>
        </p:xfrm>
        <a:graphic>
          <a:graphicData uri="http://schemas.openxmlformats.org/presentationml/2006/ole">
            <mc:AlternateContent xmlns:mc="http://schemas.openxmlformats.org/markup-compatibility/2006">
              <mc:Choice xmlns:v="urn:schemas-microsoft-com:vml" Requires="v">
                <p:oleObj spid="_x0000_s124182" r:id="rId23" imgW="191481" imgH="229714" progId="">
                  <p:embed/>
                </p:oleObj>
              </mc:Choice>
              <mc:Fallback>
                <p:oleObj r:id="rId23" imgW="191481" imgH="229714" progId="">
                  <p:embed/>
                  <p:pic>
                    <p:nvPicPr>
                      <p:cNvPr id="155" name="Object 28">
                        <a:extLst>
                          <a:ext uri="{FF2B5EF4-FFF2-40B4-BE49-F238E27FC236}">
                            <a16:creationId xmlns:a16="http://schemas.microsoft.com/office/drawing/2014/main" id="{EE190358-B3AC-4786-B93F-FE548840B288}"/>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451293" y="5430890"/>
                        <a:ext cx="266699"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 name="Object 29">
            <a:extLst>
              <a:ext uri="{FF2B5EF4-FFF2-40B4-BE49-F238E27FC236}">
                <a16:creationId xmlns:a16="http://schemas.microsoft.com/office/drawing/2014/main" id="{C6485743-490C-403B-B689-A73869BB41D9}"/>
              </a:ext>
            </a:extLst>
          </p:cNvPr>
          <p:cNvGraphicFramePr>
            <a:graphicFrameLocks noChangeAspect="1"/>
          </p:cNvGraphicFramePr>
          <p:nvPr>
            <p:extLst>
              <p:ext uri="{D42A27DB-BD31-4B8C-83A1-F6EECF244321}">
                <p14:modId xmlns:p14="http://schemas.microsoft.com/office/powerpoint/2010/main" val="3107336309"/>
              </p:ext>
            </p:extLst>
          </p:nvPr>
        </p:nvGraphicFramePr>
        <p:xfrm>
          <a:off x="3379985" y="5430890"/>
          <a:ext cx="266699" cy="320675"/>
        </p:xfrm>
        <a:graphic>
          <a:graphicData uri="http://schemas.openxmlformats.org/presentationml/2006/ole">
            <mc:AlternateContent xmlns:mc="http://schemas.openxmlformats.org/markup-compatibility/2006">
              <mc:Choice xmlns:v="urn:schemas-microsoft-com:vml" Requires="v">
                <p:oleObj spid="_x0000_s124183" r:id="rId25" imgW="191481" imgH="229714" progId="">
                  <p:embed/>
                </p:oleObj>
              </mc:Choice>
              <mc:Fallback>
                <p:oleObj r:id="rId25" imgW="191481" imgH="229714" progId="">
                  <p:embed/>
                  <p:pic>
                    <p:nvPicPr>
                      <p:cNvPr id="156" name="Object 29">
                        <a:extLst>
                          <a:ext uri="{FF2B5EF4-FFF2-40B4-BE49-F238E27FC236}">
                            <a16:creationId xmlns:a16="http://schemas.microsoft.com/office/drawing/2014/main" id="{55B77C8B-8C31-40C5-BE59-EFE6266454FC}"/>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379985" y="5430890"/>
                        <a:ext cx="266699" cy="32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 name="Object 37">
            <a:extLst>
              <a:ext uri="{FF2B5EF4-FFF2-40B4-BE49-F238E27FC236}">
                <a16:creationId xmlns:a16="http://schemas.microsoft.com/office/drawing/2014/main" id="{E688CA68-6EE3-4083-BFA7-F282A4686D63}"/>
              </a:ext>
            </a:extLst>
          </p:cNvPr>
          <p:cNvGraphicFramePr>
            <a:graphicFrameLocks noChangeAspect="1"/>
          </p:cNvGraphicFramePr>
          <p:nvPr>
            <p:extLst>
              <p:ext uri="{D42A27DB-BD31-4B8C-83A1-F6EECF244321}">
                <p14:modId xmlns:p14="http://schemas.microsoft.com/office/powerpoint/2010/main" val="1178659349"/>
              </p:ext>
            </p:extLst>
          </p:nvPr>
        </p:nvGraphicFramePr>
        <p:xfrm>
          <a:off x="3951487" y="2672508"/>
          <a:ext cx="479425" cy="249239"/>
        </p:xfrm>
        <a:graphic>
          <a:graphicData uri="http://schemas.openxmlformats.org/presentationml/2006/ole">
            <mc:AlternateContent xmlns:mc="http://schemas.openxmlformats.org/markup-compatibility/2006">
              <mc:Choice xmlns:v="urn:schemas-microsoft-com:vml" Requires="v">
                <p:oleObj spid="_x0000_s124184" r:id="rId27" imgW="343515" imgH="178271" progId="">
                  <p:embed/>
                </p:oleObj>
              </mc:Choice>
              <mc:Fallback>
                <p:oleObj r:id="rId27" imgW="343515" imgH="178271" progId="">
                  <p:embed/>
                  <p:pic>
                    <p:nvPicPr>
                      <p:cNvPr id="132" name="Object 37">
                        <a:extLst>
                          <a:ext uri="{FF2B5EF4-FFF2-40B4-BE49-F238E27FC236}">
                            <a16:creationId xmlns:a16="http://schemas.microsoft.com/office/drawing/2014/main" id="{BCB402E0-5B57-4F36-A0D1-79A1E78B86E9}"/>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951487" y="2672508"/>
                        <a:ext cx="479425" cy="249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 name="矩形 49">
            <a:extLst>
              <a:ext uri="{FF2B5EF4-FFF2-40B4-BE49-F238E27FC236}">
                <a16:creationId xmlns:a16="http://schemas.microsoft.com/office/drawing/2014/main" id="{1691BC36-54B5-4D9C-867F-464D749F7B05}"/>
              </a:ext>
            </a:extLst>
          </p:cNvPr>
          <p:cNvSpPr/>
          <p:nvPr/>
        </p:nvSpPr>
        <p:spPr>
          <a:xfrm>
            <a:off x="5181155" y="3578626"/>
            <a:ext cx="3499089" cy="646331"/>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切点处对应的SMC就构成该产量下的LMC，如A、B、C点。</a:t>
            </a:r>
          </a:p>
        </p:txBody>
      </p:sp>
      <p:sp>
        <p:nvSpPr>
          <p:cNvPr id="51" name="矩形 50">
            <a:extLst>
              <a:ext uri="{FF2B5EF4-FFF2-40B4-BE49-F238E27FC236}">
                <a16:creationId xmlns:a16="http://schemas.microsoft.com/office/drawing/2014/main" id="{93AF9092-267E-4F27-8990-DC8B2DF55F24}"/>
              </a:ext>
            </a:extLst>
          </p:cNvPr>
          <p:cNvSpPr/>
          <p:nvPr/>
        </p:nvSpPr>
        <p:spPr>
          <a:xfrm>
            <a:off x="1501903" y="4486112"/>
            <a:ext cx="338554" cy="369332"/>
          </a:xfrm>
          <a:prstGeom prst="rect">
            <a:avLst/>
          </a:prstGeom>
        </p:spPr>
        <p:txBody>
          <a:bodyPr wrap="none">
            <a:spAutoFit/>
          </a:bodyPr>
          <a:lstStyle/>
          <a:p>
            <a:r>
              <a:rPr lang="en-US" altLang="zh-CN" dirty="0"/>
              <a:t>A</a:t>
            </a:r>
            <a:endParaRPr lang="zh-CN" altLang="en-US" dirty="0"/>
          </a:p>
        </p:txBody>
      </p:sp>
      <p:sp>
        <p:nvSpPr>
          <p:cNvPr id="52" name="矩形 51">
            <a:extLst>
              <a:ext uri="{FF2B5EF4-FFF2-40B4-BE49-F238E27FC236}">
                <a16:creationId xmlns:a16="http://schemas.microsoft.com/office/drawing/2014/main" id="{25D1AF75-15F1-4D71-B66E-6A82F048D58F}"/>
              </a:ext>
            </a:extLst>
          </p:cNvPr>
          <p:cNvSpPr/>
          <p:nvPr/>
        </p:nvSpPr>
        <p:spPr>
          <a:xfrm>
            <a:off x="2391241" y="4098090"/>
            <a:ext cx="338554" cy="369332"/>
          </a:xfrm>
          <a:prstGeom prst="rect">
            <a:avLst/>
          </a:prstGeom>
        </p:spPr>
        <p:txBody>
          <a:bodyPr wrap="none">
            <a:spAutoFit/>
          </a:bodyPr>
          <a:lstStyle/>
          <a:p>
            <a:r>
              <a:rPr lang="en-US" altLang="zh-CN" dirty="0"/>
              <a:t>B</a:t>
            </a:r>
            <a:endParaRPr lang="zh-CN" altLang="en-US" dirty="0"/>
          </a:p>
        </p:txBody>
      </p:sp>
      <p:sp>
        <p:nvSpPr>
          <p:cNvPr id="53" name="矩形 52">
            <a:extLst>
              <a:ext uri="{FF2B5EF4-FFF2-40B4-BE49-F238E27FC236}">
                <a16:creationId xmlns:a16="http://schemas.microsoft.com/office/drawing/2014/main" id="{9EF1D0C1-1BB1-4C8C-9D3C-326D8A626BBB}"/>
              </a:ext>
            </a:extLst>
          </p:cNvPr>
          <p:cNvSpPr/>
          <p:nvPr/>
        </p:nvSpPr>
        <p:spPr>
          <a:xfrm>
            <a:off x="3152226" y="2959210"/>
            <a:ext cx="351378" cy="369332"/>
          </a:xfrm>
          <a:prstGeom prst="rect">
            <a:avLst/>
          </a:prstGeom>
        </p:spPr>
        <p:txBody>
          <a:bodyPr wrap="none">
            <a:spAutoFit/>
          </a:bodyPr>
          <a:lstStyle/>
          <a:p>
            <a:r>
              <a:rPr lang="en-US" altLang="zh-CN" dirty="0"/>
              <a:t>C</a:t>
            </a:r>
            <a:endParaRPr lang="zh-CN" altLang="en-US" dirty="0"/>
          </a:p>
        </p:txBody>
      </p:sp>
      <p:sp>
        <p:nvSpPr>
          <p:cNvPr id="54" name="椭圆 53">
            <a:extLst>
              <a:ext uri="{FF2B5EF4-FFF2-40B4-BE49-F238E27FC236}">
                <a16:creationId xmlns:a16="http://schemas.microsoft.com/office/drawing/2014/main" id="{559A0DAD-C40A-44B1-84D7-912C84BA3569}"/>
              </a:ext>
            </a:extLst>
          </p:cNvPr>
          <p:cNvSpPr/>
          <p:nvPr/>
        </p:nvSpPr>
        <p:spPr bwMode="auto">
          <a:xfrm>
            <a:off x="3435544" y="3143876"/>
            <a:ext cx="142807" cy="171575"/>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effectLst/>
              <a:latin typeface="Arial" panose="020B0604020202020204" pitchFamily="34" charset="0"/>
              <a:ea typeface="宋体" panose="02010600030101010101" pitchFamily="2" charset="-122"/>
            </a:endParaRPr>
          </a:p>
        </p:txBody>
      </p:sp>
      <p:sp>
        <p:nvSpPr>
          <p:cNvPr id="55" name="椭圆 54">
            <a:extLst>
              <a:ext uri="{FF2B5EF4-FFF2-40B4-BE49-F238E27FC236}">
                <a16:creationId xmlns:a16="http://schemas.microsoft.com/office/drawing/2014/main" id="{E8906EE7-020F-4669-BFE3-8D7A930F9316}"/>
              </a:ext>
            </a:extLst>
          </p:cNvPr>
          <p:cNvSpPr/>
          <p:nvPr/>
        </p:nvSpPr>
        <p:spPr bwMode="auto">
          <a:xfrm>
            <a:off x="2516383" y="4538857"/>
            <a:ext cx="161013" cy="19257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effectLst/>
              <a:latin typeface="Arial" panose="020B0604020202020204" pitchFamily="34" charset="0"/>
              <a:ea typeface="宋体" panose="02010600030101010101" pitchFamily="2" charset="-122"/>
            </a:endParaRPr>
          </a:p>
        </p:txBody>
      </p:sp>
      <p:sp>
        <p:nvSpPr>
          <p:cNvPr id="56" name="椭圆 55">
            <a:extLst>
              <a:ext uri="{FF2B5EF4-FFF2-40B4-BE49-F238E27FC236}">
                <a16:creationId xmlns:a16="http://schemas.microsoft.com/office/drawing/2014/main" id="{5B6F0744-EEA6-4888-9FB8-A7AA0775CCCA}"/>
              </a:ext>
            </a:extLst>
          </p:cNvPr>
          <p:cNvSpPr/>
          <p:nvPr/>
        </p:nvSpPr>
        <p:spPr bwMode="auto">
          <a:xfrm>
            <a:off x="1665484" y="4731435"/>
            <a:ext cx="214316" cy="267458"/>
          </a:xfrm>
          <a:prstGeom prst="ellips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pPr>
            <a:endParaRPr kumimoji="0" lang="zh-CN" altLang="en-US" sz="1800" b="0" i="0" u="none" strike="noStrike" cap="none" normalizeH="0" baseline="0">
              <a:ln>
                <a:noFill/>
              </a:ln>
              <a:effectLst/>
              <a:latin typeface="Arial" panose="020B0604020202020204" pitchFamily="34" charset="0"/>
              <a:ea typeface="宋体" panose="02010600030101010101" pitchFamily="2" charset="-122"/>
            </a:endParaRPr>
          </a:p>
        </p:txBody>
      </p:sp>
      <p:sp>
        <p:nvSpPr>
          <p:cNvPr id="57" name="矩形 56">
            <a:extLst>
              <a:ext uri="{FF2B5EF4-FFF2-40B4-BE49-F238E27FC236}">
                <a16:creationId xmlns:a16="http://schemas.microsoft.com/office/drawing/2014/main" id="{ABC66258-D5E9-4759-A3E8-070719C81812}"/>
              </a:ext>
            </a:extLst>
          </p:cNvPr>
          <p:cNvSpPr/>
          <p:nvPr/>
        </p:nvSpPr>
        <p:spPr>
          <a:xfrm>
            <a:off x="5181155" y="4468702"/>
            <a:ext cx="3499089" cy="646331"/>
          </a:xfrm>
          <a:prstGeom prst="rect">
            <a:avLst/>
          </a:prstGeom>
        </p:spPr>
        <p:txBody>
          <a:bodyPr wrap="square">
            <a:spAutoFit/>
          </a:bodyPr>
          <a:lstStyle/>
          <a:p>
            <a:pPr marL="285750" indent="-285750">
              <a:buFont typeface="Wingdings" panose="05000000000000000000" pitchFamily="2" charset="2"/>
              <a:buChar char="Ø"/>
            </a:pPr>
            <a:r>
              <a:rPr lang="zh-CN" altLang="en-US" dirty="0">
                <a:latin typeface="微软雅黑" panose="020B0503020204020204" pitchFamily="34" charset="-122"/>
                <a:ea typeface="微软雅黑" panose="020B0503020204020204" pitchFamily="34" charset="-122"/>
              </a:rPr>
              <a:t>将这些点串起来，就得到LMC曲线。</a:t>
            </a:r>
          </a:p>
        </p:txBody>
      </p:sp>
      <p:sp>
        <p:nvSpPr>
          <p:cNvPr id="58" name="弧形 60">
            <a:extLst>
              <a:ext uri="{FF2B5EF4-FFF2-40B4-BE49-F238E27FC236}">
                <a16:creationId xmlns:a16="http://schemas.microsoft.com/office/drawing/2014/main" id="{44A5C304-3AD5-40CE-90E1-98B06DF4AF99}"/>
              </a:ext>
            </a:extLst>
          </p:cNvPr>
          <p:cNvSpPr>
            <a:spLocks noChangeArrowheads="1"/>
          </p:cNvSpPr>
          <p:nvPr/>
        </p:nvSpPr>
        <p:spPr bwMode="auto">
          <a:xfrm rot="6355997">
            <a:off x="-230786" y="951758"/>
            <a:ext cx="5494338" cy="2562225"/>
          </a:xfrm>
          <a:custGeom>
            <a:avLst/>
            <a:gdLst>
              <a:gd name="T0" fmla="*/ 2813668 w 5494287"/>
              <a:gd name="T1" fmla="*/ 376 h 2562224"/>
              <a:gd name="T2" fmla="*/ 2747144 w 5494287"/>
              <a:gd name="T3" fmla="*/ 1281112 h 2562224"/>
              <a:gd name="T4" fmla="*/ 5253189 w 5494287"/>
              <a:gd name="T5" fmla="*/ 1805936 h 2562224"/>
              <a:gd name="T6" fmla="*/ 11796480 60000 65536"/>
              <a:gd name="T7" fmla="*/ 11796480 60000 65536"/>
              <a:gd name="T8" fmla="*/ 5898240 60000 65536"/>
              <a:gd name="T9" fmla="*/ 2813668 w 5494287"/>
              <a:gd name="T10" fmla="*/ 376 h 2562224"/>
              <a:gd name="T11" fmla="*/ 5494287 w 5494287"/>
              <a:gd name="T12" fmla="*/ 1805936 h 2562224"/>
            </a:gdLst>
            <a:ahLst/>
            <a:cxnLst>
              <a:cxn ang="T6">
                <a:pos x="T0" y="T1"/>
              </a:cxn>
              <a:cxn ang="T7">
                <a:pos x="T2" y="T3"/>
              </a:cxn>
              <a:cxn ang="T8">
                <a:pos x="T4" y="T5"/>
              </a:cxn>
            </a:cxnLst>
            <a:rect l="T9" t="T10" r="T11" b="T12"/>
            <a:pathLst>
              <a:path w="5494287" h="2562224" stroke="0">
                <a:moveTo>
                  <a:pt x="2813668" y="376"/>
                </a:moveTo>
                <a:lnTo>
                  <a:pt x="2813668" y="375"/>
                </a:lnTo>
                <a:cubicBezTo>
                  <a:pt x="4304519" y="17216"/>
                  <a:pt x="5494288" y="585659"/>
                  <a:pt x="5494288" y="1281112"/>
                </a:cubicBezTo>
                <a:cubicBezTo>
                  <a:pt x="5494288" y="1462031"/>
                  <a:pt x="5412117" y="1640899"/>
                  <a:pt x="5253185" y="1805941"/>
                </a:cubicBezTo>
                <a:lnTo>
                  <a:pt x="2747144" y="1281112"/>
                </a:lnTo>
                <a:close/>
              </a:path>
              <a:path w="5494287" h="2562224" fill="none">
                <a:moveTo>
                  <a:pt x="2813668" y="376"/>
                </a:moveTo>
                <a:lnTo>
                  <a:pt x="2813668" y="375"/>
                </a:lnTo>
                <a:cubicBezTo>
                  <a:pt x="4304519" y="17216"/>
                  <a:pt x="5494288" y="585659"/>
                  <a:pt x="5494288" y="1281112"/>
                </a:cubicBezTo>
                <a:cubicBezTo>
                  <a:pt x="5494288" y="1462031"/>
                  <a:pt x="5412117" y="1640899"/>
                  <a:pt x="5253185" y="1805941"/>
                </a:cubicBezTo>
              </a:path>
            </a:pathLst>
          </a:custGeom>
          <a:noFill/>
          <a:ln w="38100" cmpd="sng">
            <a:solidFill>
              <a:srgbClr val="CB0528">
                <a:alpha val="89000"/>
              </a:srgbClr>
            </a:solidFill>
            <a:miter lim="800000"/>
            <a:headEnd/>
            <a:tailEnd/>
          </a:ln>
          <a:effectLst>
            <a:outerShdw dist="23000" dir="5400000" algn="ctr" rotWithShape="0">
              <a:srgbClr val="000000">
                <a:alpha val="31000"/>
              </a:srgbClr>
            </a:outerShdw>
          </a:effectLst>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graphicFrame>
        <p:nvGraphicFramePr>
          <p:cNvPr id="59" name="Object 36">
            <a:extLst>
              <a:ext uri="{FF2B5EF4-FFF2-40B4-BE49-F238E27FC236}">
                <a16:creationId xmlns:a16="http://schemas.microsoft.com/office/drawing/2014/main" id="{483B856F-584A-481F-93EF-252FFC005102}"/>
              </a:ext>
            </a:extLst>
          </p:cNvPr>
          <p:cNvGraphicFramePr>
            <a:graphicFrameLocks noChangeAspect="1"/>
          </p:cNvGraphicFramePr>
          <p:nvPr>
            <p:extLst>
              <p:ext uri="{D42A27DB-BD31-4B8C-83A1-F6EECF244321}">
                <p14:modId xmlns:p14="http://schemas.microsoft.com/office/powerpoint/2010/main" val="2988513662"/>
              </p:ext>
            </p:extLst>
          </p:nvPr>
        </p:nvGraphicFramePr>
        <p:xfrm>
          <a:off x="3594300" y="2359047"/>
          <a:ext cx="533400" cy="249239"/>
        </p:xfrm>
        <a:graphic>
          <a:graphicData uri="http://schemas.openxmlformats.org/presentationml/2006/ole">
            <mc:AlternateContent xmlns:mc="http://schemas.openxmlformats.org/markup-compatibility/2006">
              <mc:Choice xmlns:v="urn:schemas-microsoft-com:vml" Requires="v">
                <p:oleObj spid="_x0000_s124185" r:id="rId29" imgW="381648" imgH="178271" progId="">
                  <p:embed/>
                </p:oleObj>
              </mc:Choice>
              <mc:Fallback>
                <p:oleObj r:id="rId29" imgW="381648" imgH="178271" progId="">
                  <p:embed/>
                  <p:pic>
                    <p:nvPicPr>
                      <p:cNvPr id="131" name="Object 36">
                        <a:extLst>
                          <a:ext uri="{FF2B5EF4-FFF2-40B4-BE49-F238E27FC236}">
                            <a16:creationId xmlns:a16="http://schemas.microsoft.com/office/drawing/2014/main" id="{467F87AE-08C4-402C-BCE3-4D01BEB8FCDF}"/>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594300" y="2359047"/>
                        <a:ext cx="533400" cy="249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 name="矩形 59">
            <a:extLst>
              <a:ext uri="{FF2B5EF4-FFF2-40B4-BE49-F238E27FC236}">
                <a16:creationId xmlns:a16="http://schemas.microsoft.com/office/drawing/2014/main" id="{025E86F8-328E-4132-AFE5-0535826EF5E1}"/>
              </a:ext>
            </a:extLst>
          </p:cNvPr>
          <p:cNvSpPr/>
          <p:nvPr/>
        </p:nvSpPr>
        <p:spPr>
          <a:xfrm>
            <a:off x="580922" y="520573"/>
            <a:ext cx="4783166" cy="461665"/>
          </a:xfrm>
          <a:prstGeom prst="rect">
            <a:avLst/>
          </a:prstGeom>
          <a:solidFill>
            <a:srgbClr val="F3C97F"/>
          </a:solidFill>
          <a:effectLst>
            <a:outerShdw blurRad="63500" sx="102000" sy="102000" algn="ctr" rotWithShape="0">
              <a:prstClr val="black">
                <a:alpha val="40000"/>
              </a:prstClr>
            </a:outerShdw>
          </a:effectLst>
        </p:spPr>
        <p:txBody>
          <a:bodyPr wrap="square">
            <a:spAutoFit/>
          </a:bodyPr>
          <a:lstStyle/>
          <a:p>
            <a:pPr>
              <a:defRPr/>
            </a:pPr>
            <a:r>
              <a:rPr lang="zh-CN" altLang="en-US" sz="2400" b="1" spc="150" dirty="0">
                <a:solidFill>
                  <a:schemeClr val="bg1"/>
                </a:solidFill>
                <a:latin typeface="微软雅黑" panose="020B0503020204020204" pitchFamily="34" charset="-122"/>
                <a:ea typeface="微软雅黑" panose="020B0503020204020204" pitchFamily="34" charset="-122"/>
              </a:rPr>
              <a:t>五、长期边际成本曲线（</a:t>
            </a:r>
            <a:r>
              <a:rPr lang="en-US" altLang="zh-CN" sz="2400" b="1" spc="150" dirty="0">
                <a:solidFill>
                  <a:schemeClr val="bg1"/>
                </a:solidFill>
                <a:latin typeface="微软雅黑" panose="020B0503020204020204" pitchFamily="34" charset="-122"/>
                <a:ea typeface="微软雅黑" panose="020B0503020204020204" pitchFamily="34" charset="-122"/>
              </a:rPr>
              <a:t>LMC</a:t>
            </a:r>
            <a:r>
              <a:rPr lang="zh-CN" altLang="en-US" sz="2400" b="1" spc="150" dirty="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66622246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p:cTn id="7" dur="500" fill="hold"/>
                                        <p:tgtEl>
                                          <p:spTgt spid="60"/>
                                        </p:tgtEl>
                                        <p:attrNameLst>
                                          <p:attrName>ppt_w</p:attrName>
                                        </p:attrNameLst>
                                      </p:cBhvr>
                                      <p:tavLst>
                                        <p:tav tm="0">
                                          <p:val>
                                            <p:fltVal val="0"/>
                                          </p:val>
                                        </p:tav>
                                        <p:tav tm="100000">
                                          <p:val>
                                            <p:strVal val="#ppt_w"/>
                                          </p:val>
                                        </p:tav>
                                      </p:tavLst>
                                    </p:anim>
                                    <p:anim calcmode="lin" valueType="num">
                                      <p:cBhvr>
                                        <p:cTn id="8" dur="500" fill="hold"/>
                                        <p:tgtEl>
                                          <p:spTgt spid="60"/>
                                        </p:tgtEl>
                                        <p:attrNameLst>
                                          <p:attrName>ppt_h</p:attrName>
                                        </p:attrNameLst>
                                      </p:cBhvr>
                                      <p:tavLst>
                                        <p:tav tm="0">
                                          <p:val>
                                            <p:fltVal val="0"/>
                                          </p:val>
                                        </p:tav>
                                        <p:tav tm="100000">
                                          <p:val>
                                            <p:strVal val="#ppt_h"/>
                                          </p:val>
                                        </p:tav>
                                      </p:tavLst>
                                    </p:anim>
                                    <p:animEffect transition="in" filter="fade">
                                      <p:cBhvr>
                                        <p:cTn id="9" dur="500"/>
                                        <p:tgtEl>
                                          <p:spTgt spid="60"/>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61"/>
                                        </p:tgtEl>
                                        <p:attrNameLst>
                                          <p:attrName>style.visibility</p:attrName>
                                        </p:attrNameLst>
                                      </p:cBhvr>
                                      <p:to>
                                        <p:strVal val="visible"/>
                                      </p:to>
                                    </p:set>
                                    <p:anim calcmode="lin" valueType="num">
                                      <p:cBhvr>
                                        <p:cTn id="14" dur="500" fill="hold"/>
                                        <p:tgtEl>
                                          <p:spTgt spid="61"/>
                                        </p:tgtEl>
                                        <p:attrNameLst>
                                          <p:attrName>ppt_w</p:attrName>
                                        </p:attrNameLst>
                                      </p:cBhvr>
                                      <p:tavLst>
                                        <p:tav tm="0">
                                          <p:val>
                                            <p:fltVal val="0"/>
                                          </p:val>
                                        </p:tav>
                                        <p:tav tm="100000">
                                          <p:val>
                                            <p:strVal val="#ppt_w"/>
                                          </p:val>
                                        </p:tav>
                                      </p:tavLst>
                                    </p:anim>
                                    <p:anim calcmode="lin" valueType="num">
                                      <p:cBhvr>
                                        <p:cTn id="15" dur="500" fill="hold"/>
                                        <p:tgtEl>
                                          <p:spTgt spid="61"/>
                                        </p:tgtEl>
                                        <p:attrNameLst>
                                          <p:attrName>ppt_h</p:attrName>
                                        </p:attrNameLst>
                                      </p:cBhvr>
                                      <p:tavLst>
                                        <p:tav tm="0">
                                          <p:val>
                                            <p:fltVal val="0"/>
                                          </p:val>
                                        </p:tav>
                                        <p:tav tm="100000">
                                          <p:val>
                                            <p:strVal val="#ppt_h"/>
                                          </p:val>
                                        </p:tav>
                                      </p:tavLst>
                                    </p:anim>
                                    <p:animEffect transition="in" filter="fade">
                                      <p:cBhvr>
                                        <p:cTn id="16" dur="500"/>
                                        <p:tgtEl>
                                          <p:spTgt spid="61"/>
                                        </p:tgtEl>
                                      </p:cBhvr>
                                    </p:animEffect>
                                  </p:childTnLst>
                                </p:cTn>
                              </p:par>
                              <p:par>
                                <p:cTn id="17" presetID="53" presetClass="entr" presetSubtype="16"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500" fill="hold"/>
                                        <p:tgtEl>
                                          <p:spTgt spid="12"/>
                                        </p:tgtEl>
                                        <p:attrNameLst>
                                          <p:attrName>ppt_w</p:attrName>
                                        </p:attrNameLst>
                                      </p:cBhvr>
                                      <p:tavLst>
                                        <p:tav tm="0">
                                          <p:val>
                                            <p:fltVal val="0"/>
                                          </p:val>
                                        </p:tav>
                                        <p:tav tm="100000">
                                          <p:val>
                                            <p:strVal val="#ppt_w"/>
                                          </p:val>
                                        </p:tav>
                                      </p:tavLst>
                                    </p:anim>
                                    <p:anim calcmode="lin" valueType="num">
                                      <p:cBhvr>
                                        <p:cTn id="20" dur="500" fill="hold"/>
                                        <p:tgtEl>
                                          <p:spTgt spid="12"/>
                                        </p:tgtEl>
                                        <p:attrNameLst>
                                          <p:attrName>ppt_h</p:attrName>
                                        </p:attrNameLst>
                                      </p:cBhvr>
                                      <p:tavLst>
                                        <p:tav tm="0">
                                          <p:val>
                                            <p:fltVal val="0"/>
                                          </p:val>
                                        </p:tav>
                                        <p:tav tm="100000">
                                          <p:val>
                                            <p:strVal val="#ppt_h"/>
                                          </p:val>
                                        </p:tav>
                                      </p:tavLst>
                                    </p:anim>
                                    <p:animEffect transition="in" filter="fade">
                                      <p:cBhvr>
                                        <p:cTn id="21" dur="5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500"/>
                                        <p:tgtEl>
                                          <p:spTgt spid="11"/>
                                        </p:tgtEl>
                                      </p:cBhvr>
                                    </p:animEffect>
                                  </p:childTnLst>
                                </p:cTn>
                              </p:par>
                              <p:par>
                                <p:cTn id="27" presetID="10" presetClass="entr" presetSubtype="0" fill="hold"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childTnLst>
                                </p:cTn>
                              </p:par>
                              <p:par>
                                <p:cTn id="30" presetID="10" presetClass="entr" presetSubtype="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par>
                                <p:cTn id="36" presetID="10" presetClass="entr" presetSubtype="0" fill="hold"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49"/>
                                        </p:tgtEl>
                                        <p:attrNameLst>
                                          <p:attrName>style.visibility</p:attrName>
                                        </p:attrNameLst>
                                      </p:cBhvr>
                                      <p:to>
                                        <p:strVal val="visible"/>
                                      </p:to>
                                    </p:set>
                                    <p:animEffect transition="in" filter="wipe(down)">
                                      <p:cBhvr>
                                        <p:cTn id="43" dur="500"/>
                                        <p:tgtEl>
                                          <p:spTgt spid="49"/>
                                        </p:tgtEl>
                                      </p:cBhvr>
                                    </p:animEffect>
                                  </p:childTnLst>
                                </p:cTn>
                              </p:par>
                              <p:par>
                                <p:cTn id="44" presetID="22" presetClass="entr" presetSubtype="4"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wipe(down)">
                                      <p:cBhvr>
                                        <p:cTn id="46" dur="5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wipe(down)">
                                      <p:cBhvr>
                                        <p:cTn id="51" dur="500"/>
                                        <p:tgtEl>
                                          <p:spTgt spid="34"/>
                                        </p:tgtEl>
                                      </p:cBhvr>
                                    </p:animEffect>
                                  </p:childTnLst>
                                </p:cTn>
                              </p:par>
                              <p:par>
                                <p:cTn id="52" presetID="22" presetClass="entr" presetSubtype="4"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wipe(down)">
                                      <p:cBhvr>
                                        <p:cTn id="54" dur="500"/>
                                        <p:tgtEl>
                                          <p:spTgt spid="16"/>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35"/>
                                        </p:tgtEl>
                                        <p:attrNameLst>
                                          <p:attrName>style.visibility</p:attrName>
                                        </p:attrNameLst>
                                      </p:cBhvr>
                                      <p:to>
                                        <p:strVal val="visible"/>
                                      </p:to>
                                    </p:set>
                                    <p:animEffect transition="in" filter="wipe(down)">
                                      <p:cBhvr>
                                        <p:cTn id="59" dur="500"/>
                                        <p:tgtEl>
                                          <p:spTgt spid="35"/>
                                        </p:tgtEl>
                                      </p:cBhvr>
                                    </p:animEffect>
                                  </p:childTnLst>
                                </p:cTn>
                              </p:par>
                              <p:par>
                                <p:cTn id="60" presetID="22" presetClass="entr" presetSubtype="4"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wipe(down)">
                                      <p:cBhvr>
                                        <p:cTn id="62" dur="500"/>
                                        <p:tgtEl>
                                          <p:spTgt spid="17"/>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wipe(down)">
                                      <p:cBhvr>
                                        <p:cTn id="67" dur="500"/>
                                        <p:tgtEl>
                                          <p:spTgt spid="36"/>
                                        </p:tgtEl>
                                      </p:cBhvr>
                                    </p:animEffect>
                                  </p:childTnLst>
                                </p:cTn>
                              </p:par>
                              <p:par>
                                <p:cTn id="68" presetID="22" presetClass="entr" presetSubtype="4"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Effect transition="in" filter="wipe(down)">
                                      <p:cBhvr>
                                        <p:cTn id="70" dur="500"/>
                                        <p:tgtEl>
                                          <p:spTgt spid="1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7"/>
                                        </p:tgtEl>
                                        <p:attrNameLst>
                                          <p:attrName>style.visibility</p:attrName>
                                        </p:attrNameLst>
                                      </p:cBhvr>
                                      <p:to>
                                        <p:strVal val="visible"/>
                                      </p:to>
                                    </p:set>
                                    <p:animEffect transition="in" filter="fade">
                                      <p:cBhvr>
                                        <p:cTn id="75" dur="500"/>
                                        <p:tgtEl>
                                          <p:spTgt spid="37"/>
                                        </p:tgtEl>
                                      </p:cBhvr>
                                    </p:animEffect>
                                  </p:childTnLst>
                                </p:cTn>
                              </p:par>
                              <p:par>
                                <p:cTn id="76" presetID="10" presetClass="entr" presetSubtype="0" fill="hold" nodeType="withEffect">
                                  <p:stCondLst>
                                    <p:cond delay="0"/>
                                  </p:stCondLst>
                                  <p:childTnLst>
                                    <p:set>
                                      <p:cBhvr>
                                        <p:cTn id="77" dur="1" fill="hold">
                                          <p:stCondLst>
                                            <p:cond delay="0"/>
                                          </p:stCondLst>
                                        </p:cTn>
                                        <p:tgtEl>
                                          <p:spTgt spid="38"/>
                                        </p:tgtEl>
                                        <p:attrNameLst>
                                          <p:attrName>style.visibility</p:attrName>
                                        </p:attrNameLst>
                                      </p:cBhvr>
                                      <p:to>
                                        <p:strVal val="visible"/>
                                      </p:to>
                                    </p:set>
                                    <p:animEffect transition="in" filter="fade">
                                      <p:cBhvr>
                                        <p:cTn id="78" dur="500"/>
                                        <p:tgtEl>
                                          <p:spTgt spid="38"/>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9"/>
                                        </p:tgtEl>
                                        <p:attrNameLst>
                                          <p:attrName>style.visibility</p:attrName>
                                        </p:attrNameLst>
                                      </p:cBhvr>
                                      <p:to>
                                        <p:strVal val="visible"/>
                                      </p:to>
                                    </p:set>
                                    <p:animEffect transition="in" filter="fade">
                                      <p:cBhvr>
                                        <p:cTn id="83" dur="500"/>
                                        <p:tgtEl>
                                          <p:spTgt spid="39"/>
                                        </p:tgtEl>
                                      </p:cBhvr>
                                    </p:animEffect>
                                  </p:childTnLst>
                                </p:cTn>
                              </p:par>
                              <p:par>
                                <p:cTn id="84" presetID="10" presetClass="entr" presetSubtype="0" fill="hold" nodeType="withEffect">
                                  <p:stCondLst>
                                    <p:cond delay="0"/>
                                  </p:stCondLst>
                                  <p:childTnLst>
                                    <p:set>
                                      <p:cBhvr>
                                        <p:cTn id="85" dur="1" fill="hold">
                                          <p:stCondLst>
                                            <p:cond delay="0"/>
                                          </p:stCondLst>
                                        </p:cTn>
                                        <p:tgtEl>
                                          <p:spTgt spid="40"/>
                                        </p:tgtEl>
                                        <p:attrNameLst>
                                          <p:attrName>style.visibility</p:attrName>
                                        </p:attrNameLst>
                                      </p:cBhvr>
                                      <p:to>
                                        <p:strVal val="visible"/>
                                      </p:to>
                                    </p:set>
                                    <p:animEffect transition="in" filter="fade">
                                      <p:cBhvr>
                                        <p:cTn id="86" dur="500"/>
                                        <p:tgtEl>
                                          <p:spTgt spid="40"/>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41"/>
                                        </p:tgtEl>
                                        <p:attrNameLst>
                                          <p:attrName>style.visibility</p:attrName>
                                        </p:attrNameLst>
                                      </p:cBhvr>
                                      <p:to>
                                        <p:strVal val="visible"/>
                                      </p:to>
                                    </p:set>
                                    <p:animEffect transition="in" filter="fade">
                                      <p:cBhvr>
                                        <p:cTn id="91" dur="500"/>
                                        <p:tgtEl>
                                          <p:spTgt spid="41"/>
                                        </p:tgtEl>
                                      </p:cBhvr>
                                    </p:animEffect>
                                  </p:childTnLst>
                                </p:cTn>
                              </p:par>
                              <p:par>
                                <p:cTn id="92" presetID="10" presetClass="entr" presetSubtype="0" fill="hold" nodeType="withEffect">
                                  <p:stCondLst>
                                    <p:cond delay="0"/>
                                  </p:stCondLst>
                                  <p:childTnLst>
                                    <p:set>
                                      <p:cBhvr>
                                        <p:cTn id="93" dur="1" fill="hold">
                                          <p:stCondLst>
                                            <p:cond delay="0"/>
                                          </p:stCondLst>
                                        </p:cTn>
                                        <p:tgtEl>
                                          <p:spTgt spid="42"/>
                                        </p:tgtEl>
                                        <p:attrNameLst>
                                          <p:attrName>style.visibility</p:attrName>
                                        </p:attrNameLst>
                                      </p:cBhvr>
                                      <p:to>
                                        <p:strVal val="visible"/>
                                      </p:to>
                                    </p:set>
                                    <p:animEffect transition="in" filter="fade">
                                      <p:cBhvr>
                                        <p:cTn id="94" dur="500"/>
                                        <p:tgtEl>
                                          <p:spTgt spid="42"/>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nodeType="clickEffect">
                                  <p:stCondLst>
                                    <p:cond delay="0"/>
                                  </p:stCondLst>
                                  <p:childTnLst>
                                    <p:set>
                                      <p:cBhvr>
                                        <p:cTn id="98" dur="1" fill="hold">
                                          <p:stCondLst>
                                            <p:cond delay="0"/>
                                          </p:stCondLst>
                                        </p:cTn>
                                        <p:tgtEl>
                                          <p:spTgt spid="43"/>
                                        </p:tgtEl>
                                        <p:attrNameLst>
                                          <p:attrName>style.visibility</p:attrName>
                                        </p:attrNameLst>
                                      </p:cBhvr>
                                      <p:to>
                                        <p:strVal val="visible"/>
                                      </p:to>
                                    </p:set>
                                    <p:animEffect transition="in" filter="fade">
                                      <p:cBhvr>
                                        <p:cTn id="99" dur="500"/>
                                        <p:tgtEl>
                                          <p:spTgt spid="43"/>
                                        </p:tgtEl>
                                      </p:cBhvr>
                                    </p:animEffect>
                                  </p:childTnLst>
                                </p:cTn>
                              </p:par>
                              <p:par>
                                <p:cTn id="100" presetID="10" presetClass="entr" presetSubtype="0" fill="hold" nodeType="withEffect">
                                  <p:stCondLst>
                                    <p:cond delay="0"/>
                                  </p:stCondLst>
                                  <p:childTnLst>
                                    <p:set>
                                      <p:cBhvr>
                                        <p:cTn id="101" dur="1" fill="hold">
                                          <p:stCondLst>
                                            <p:cond delay="0"/>
                                          </p:stCondLst>
                                        </p:cTn>
                                        <p:tgtEl>
                                          <p:spTgt spid="44"/>
                                        </p:tgtEl>
                                        <p:attrNameLst>
                                          <p:attrName>style.visibility</p:attrName>
                                        </p:attrNameLst>
                                      </p:cBhvr>
                                      <p:to>
                                        <p:strVal val="visible"/>
                                      </p:to>
                                    </p:set>
                                    <p:animEffect transition="in" filter="fade">
                                      <p:cBhvr>
                                        <p:cTn id="102" dur="500"/>
                                        <p:tgtEl>
                                          <p:spTgt spid="44"/>
                                        </p:tgtEl>
                                      </p:cBhvr>
                                    </p:animEffect>
                                  </p:childTnLst>
                                </p:cTn>
                              </p:par>
                              <p:par>
                                <p:cTn id="103" presetID="10" presetClass="entr" presetSubtype="0" fill="hold" nodeType="withEffect">
                                  <p:stCondLst>
                                    <p:cond delay="0"/>
                                  </p:stCondLst>
                                  <p:childTnLst>
                                    <p:set>
                                      <p:cBhvr>
                                        <p:cTn id="104" dur="1" fill="hold">
                                          <p:stCondLst>
                                            <p:cond delay="0"/>
                                          </p:stCondLst>
                                        </p:cTn>
                                        <p:tgtEl>
                                          <p:spTgt spid="45"/>
                                        </p:tgtEl>
                                        <p:attrNameLst>
                                          <p:attrName>style.visibility</p:attrName>
                                        </p:attrNameLst>
                                      </p:cBhvr>
                                      <p:to>
                                        <p:strVal val="visible"/>
                                      </p:to>
                                    </p:set>
                                    <p:animEffect transition="in" filter="fade">
                                      <p:cBhvr>
                                        <p:cTn id="105" dur="500"/>
                                        <p:tgtEl>
                                          <p:spTgt spid="45"/>
                                        </p:tgtEl>
                                      </p:cBhvr>
                                    </p:animEffect>
                                  </p:childTnLst>
                                </p:cTn>
                              </p:par>
                              <p:par>
                                <p:cTn id="106" presetID="10" presetClass="entr" presetSubtype="0" fill="hold" nodeType="withEffect">
                                  <p:stCondLst>
                                    <p:cond delay="0"/>
                                  </p:stCondLst>
                                  <p:childTnLst>
                                    <p:set>
                                      <p:cBhvr>
                                        <p:cTn id="107" dur="1" fill="hold">
                                          <p:stCondLst>
                                            <p:cond delay="0"/>
                                          </p:stCondLst>
                                        </p:cTn>
                                        <p:tgtEl>
                                          <p:spTgt spid="46"/>
                                        </p:tgtEl>
                                        <p:attrNameLst>
                                          <p:attrName>style.visibility</p:attrName>
                                        </p:attrNameLst>
                                      </p:cBhvr>
                                      <p:to>
                                        <p:strVal val="visible"/>
                                      </p:to>
                                    </p:set>
                                    <p:animEffect transition="in" filter="fade">
                                      <p:cBhvr>
                                        <p:cTn id="108" dur="500"/>
                                        <p:tgtEl>
                                          <p:spTgt spid="46"/>
                                        </p:tgtEl>
                                      </p:cBhvr>
                                    </p:animEffect>
                                  </p:childTnLst>
                                </p:cTn>
                              </p:par>
                              <p:par>
                                <p:cTn id="109" presetID="10" presetClass="entr" presetSubtype="0" fill="hold" nodeType="withEffect">
                                  <p:stCondLst>
                                    <p:cond delay="0"/>
                                  </p:stCondLst>
                                  <p:childTnLst>
                                    <p:set>
                                      <p:cBhvr>
                                        <p:cTn id="110" dur="1" fill="hold">
                                          <p:stCondLst>
                                            <p:cond delay="0"/>
                                          </p:stCondLst>
                                        </p:cTn>
                                        <p:tgtEl>
                                          <p:spTgt spid="47"/>
                                        </p:tgtEl>
                                        <p:attrNameLst>
                                          <p:attrName>style.visibility</p:attrName>
                                        </p:attrNameLst>
                                      </p:cBhvr>
                                      <p:to>
                                        <p:strVal val="visible"/>
                                      </p:to>
                                    </p:set>
                                    <p:animEffect transition="in" filter="fade">
                                      <p:cBhvr>
                                        <p:cTn id="111" dur="500"/>
                                        <p:tgtEl>
                                          <p:spTgt spid="47"/>
                                        </p:tgtEl>
                                      </p:cBhvr>
                                    </p:animEffect>
                                  </p:childTnLst>
                                </p:cTn>
                              </p:par>
                              <p:par>
                                <p:cTn id="112" presetID="10" presetClass="entr" presetSubtype="0" fill="hold" nodeType="withEffect">
                                  <p:stCondLst>
                                    <p:cond delay="0"/>
                                  </p:stCondLst>
                                  <p:childTnLst>
                                    <p:set>
                                      <p:cBhvr>
                                        <p:cTn id="113" dur="1" fill="hold">
                                          <p:stCondLst>
                                            <p:cond delay="0"/>
                                          </p:stCondLst>
                                        </p:cTn>
                                        <p:tgtEl>
                                          <p:spTgt spid="48"/>
                                        </p:tgtEl>
                                        <p:attrNameLst>
                                          <p:attrName>style.visibility</p:attrName>
                                        </p:attrNameLst>
                                      </p:cBhvr>
                                      <p:to>
                                        <p:strVal val="visible"/>
                                      </p:to>
                                    </p:set>
                                    <p:animEffect transition="in" filter="fade">
                                      <p:cBhvr>
                                        <p:cTn id="114" dur="500"/>
                                        <p:tgtEl>
                                          <p:spTgt spid="48"/>
                                        </p:tgtEl>
                                      </p:cBhvr>
                                    </p:animEffect>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grpId="0" nodeType="clickEffect">
                                  <p:stCondLst>
                                    <p:cond delay="0"/>
                                  </p:stCondLst>
                                  <p:childTnLst>
                                    <p:set>
                                      <p:cBhvr>
                                        <p:cTn id="118" dur="1" fill="hold">
                                          <p:stCondLst>
                                            <p:cond delay="0"/>
                                          </p:stCondLst>
                                        </p:cTn>
                                        <p:tgtEl>
                                          <p:spTgt spid="14"/>
                                        </p:tgtEl>
                                        <p:attrNameLst>
                                          <p:attrName>style.visibility</p:attrName>
                                        </p:attrNameLst>
                                      </p:cBhvr>
                                      <p:to>
                                        <p:strVal val="visible"/>
                                      </p:to>
                                    </p:set>
                                    <p:animEffect transition="in" filter="fade">
                                      <p:cBhvr>
                                        <p:cTn id="119" dur="1000"/>
                                        <p:tgtEl>
                                          <p:spTgt spid="14"/>
                                        </p:tgtEl>
                                      </p:cBhvr>
                                    </p:animEffect>
                                    <p:anim calcmode="lin" valueType="num">
                                      <p:cBhvr>
                                        <p:cTn id="120" dur="1000" fill="hold"/>
                                        <p:tgtEl>
                                          <p:spTgt spid="14"/>
                                        </p:tgtEl>
                                        <p:attrNameLst>
                                          <p:attrName>ppt_x</p:attrName>
                                        </p:attrNameLst>
                                      </p:cBhvr>
                                      <p:tavLst>
                                        <p:tav tm="0">
                                          <p:val>
                                            <p:strVal val="#ppt_x"/>
                                          </p:val>
                                        </p:tav>
                                        <p:tav tm="100000">
                                          <p:val>
                                            <p:strVal val="#ppt_x"/>
                                          </p:val>
                                        </p:tav>
                                      </p:tavLst>
                                    </p:anim>
                                    <p:anim calcmode="lin" valueType="num">
                                      <p:cBhvr>
                                        <p:cTn id="1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grpId="0" nodeType="clickEffect">
                                  <p:stCondLst>
                                    <p:cond delay="0"/>
                                  </p:stCondLst>
                                  <p:childTnLst>
                                    <p:set>
                                      <p:cBhvr>
                                        <p:cTn id="125" dur="1" fill="hold">
                                          <p:stCondLst>
                                            <p:cond delay="0"/>
                                          </p:stCondLst>
                                        </p:cTn>
                                        <p:tgtEl>
                                          <p:spTgt spid="51"/>
                                        </p:tgtEl>
                                        <p:attrNameLst>
                                          <p:attrName>style.visibility</p:attrName>
                                        </p:attrNameLst>
                                      </p:cBhvr>
                                      <p:to>
                                        <p:strVal val="visible"/>
                                      </p:to>
                                    </p:set>
                                    <p:animEffect transition="in" filter="fade">
                                      <p:cBhvr>
                                        <p:cTn id="126" dur="500"/>
                                        <p:tgtEl>
                                          <p:spTgt spid="51"/>
                                        </p:tgtEl>
                                      </p:cBhvr>
                                    </p:animEffect>
                                  </p:childTnLst>
                                </p:cTn>
                              </p:par>
                              <p:par>
                                <p:cTn id="127" presetID="10" presetClass="entr" presetSubtype="0" fill="hold" grpId="0" nodeType="withEffect">
                                  <p:stCondLst>
                                    <p:cond delay="0"/>
                                  </p:stCondLst>
                                  <p:childTnLst>
                                    <p:set>
                                      <p:cBhvr>
                                        <p:cTn id="128" dur="1" fill="hold">
                                          <p:stCondLst>
                                            <p:cond delay="0"/>
                                          </p:stCondLst>
                                        </p:cTn>
                                        <p:tgtEl>
                                          <p:spTgt spid="52"/>
                                        </p:tgtEl>
                                        <p:attrNameLst>
                                          <p:attrName>style.visibility</p:attrName>
                                        </p:attrNameLst>
                                      </p:cBhvr>
                                      <p:to>
                                        <p:strVal val="visible"/>
                                      </p:to>
                                    </p:set>
                                    <p:animEffect transition="in" filter="fade">
                                      <p:cBhvr>
                                        <p:cTn id="129" dur="500"/>
                                        <p:tgtEl>
                                          <p:spTgt spid="52"/>
                                        </p:tgtEl>
                                      </p:cBhvr>
                                    </p:animEffect>
                                  </p:childTnLst>
                                </p:cTn>
                              </p:par>
                              <p:par>
                                <p:cTn id="130" presetID="10" presetClass="entr" presetSubtype="0" fill="hold" grpId="0" nodeType="withEffect">
                                  <p:stCondLst>
                                    <p:cond delay="0"/>
                                  </p:stCondLst>
                                  <p:childTnLst>
                                    <p:set>
                                      <p:cBhvr>
                                        <p:cTn id="131" dur="1" fill="hold">
                                          <p:stCondLst>
                                            <p:cond delay="0"/>
                                          </p:stCondLst>
                                        </p:cTn>
                                        <p:tgtEl>
                                          <p:spTgt spid="53"/>
                                        </p:tgtEl>
                                        <p:attrNameLst>
                                          <p:attrName>style.visibility</p:attrName>
                                        </p:attrNameLst>
                                      </p:cBhvr>
                                      <p:to>
                                        <p:strVal val="visible"/>
                                      </p:to>
                                    </p:set>
                                    <p:animEffect transition="in" filter="fade">
                                      <p:cBhvr>
                                        <p:cTn id="132" dur="500"/>
                                        <p:tgtEl>
                                          <p:spTgt spid="53"/>
                                        </p:tgtEl>
                                      </p:cBhvr>
                                    </p:animEffect>
                                  </p:childTnLst>
                                </p:cTn>
                              </p:par>
                              <p:par>
                                <p:cTn id="133" presetID="10" presetClass="entr" presetSubtype="0" fill="hold" grpId="0" nodeType="withEffect">
                                  <p:stCondLst>
                                    <p:cond delay="0"/>
                                  </p:stCondLst>
                                  <p:childTnLst>
                                    <p:set>
                                      <p:cBhvr>
                                        <p:cTn id="134" dur="1" fill="hold">
                                          <p:stCondLst>
                                            <p:cond delay="0"/>
                                          </p:stCondLst>
                                        </p:cTn>
                                        <p:tgtEl>
                                          <p:spTgt spid="54"/>
                                        </p:tgtEl>
                                        <p:attrNameLst>
                                          <p:attrName>style.visibility</p:attrName>
                                        </p:attrNameLst>
                                      </p:cBhvr>
                                      <p:to>
                                        <p:strVal val="visible"/>
                                      </p:to>
                                    </p:set>
                                    <p:animEffect transition="in" filter="fade">
                                      <p:cBhvr>
                                        <p:cTn id="135" dur="500"/>
                                        <p:tgtEl>
                                          <p:spTgt spid="54"/>
                                        </p:tgtEl>
                                      </p:cBhvr>
                                    </p:animEffect>
                                  </p:childTnLst>
                                </p:cTn>
                              </p:par>
                              <p:par>
                                <p:cTn id="136" presetID="10" presetClass="entr" presetSubtype="0" fill="hold" grpId="0" nodeType="withEffect">
                                  <p:stCondLst>
                                    <p:cond delay="0"/>
                                  </p:stCondLst>
                                  <p:childTnLst>
                                    <p:set>
                                      <p:cBhvr>
                                        <p:cTn id="137" dur="1" fill="hold">
                                          <p:stCondLst>
                                            <p:cond delay="0"/>
                                          </p:stCondLst>
                                        </p:cTn>
                                        <p:tgtEl>
                                          <p:spTgt spid="55"/>
                                        </p:tgtEl>
                                        <p:attrNameLst>
                                          <p:attrName>style.visibility</p:attrName>
                                        </p:attrNameLst>
                                      </p:cBhvr>
                                      <p:to>
                                        <p:strVal val="visible"/>
                                      </p:to>
                                    </p:set>
                                    <p:animEffect transition="in" filter="fade">
                                      <p:cBhvr>
                                        <p:cTn id="138" dur="500"/>
                                        <p:tgtEl>
                                          <p:spTgt spid="55"/>
                                        </p:tgtEl>
                                      </p:cBhvr>
                                    </p:animEffect>
                                  </p:childTnLst>
                                </p:cTn>
                              </p:par>
                              <p:par>
                                <p:cTn id="139" presetID="10" presetClass="entr" presetSubtype="0" fill="hold" grpId="0" nodeType="withEffect">
                                  <p:stCondLst>
                                    <p:cond delay="0"/>
                                  </p:stCondLst>
                                  <p:childTnLst>
                                    <p:set>
                                      <p:cBhvr>
                                        <p:cTn id="140" dur="1" fill="hold">
                                          <p:stCondLst>
                                            <p:cond delay="0"/>
                                          </p:stCondLst>
                                        </p:cTn>
                                        <p:tgtEl>
                                          <p:spTgt spid="56"/>
                                        </p:tgtEl>
                                        <p:attrNameLst>
                                          <p:attrName>style.visibility</p:attrName>
                                        </p:attrNameLst>
                                      </p:cBhvr>
                                      <p:to>
                                        <p:strVal val="visible"/>
                                      </p:to>
                                    </p:set>
                                    <p:animEffect transition="in" filter="fade">
                                      <p:cBhvr>
                                        <p:cTn id="141" dur="500"/>
                                        <p:tgtEl>
                                          <p:spTgt spid="56"/>
                                        </p:tgtEl>
                                      </p:cBhvr>
                                    </p:animEffect>
                                  </p:childTnLst>
                                </p:cTn>
                              </p:par>
                              <p:par>
                                <p:cTn id="142" presetID="10" presetClass="entr" presetSubtype="0" fill="hold" grpId="0" nodeType="withEffect">
                                  <p:stCondLst>
                                    <p:cond delay="0"/>
                                  </p:stCondLst>
                                  <p:childTnLst>
                                    <p:set>
                                      <p:cBhvr>
                                        <p:cTn id="143" dur="1" fill="hold">
                                          <p:stCondLst>
                                            <p:cond delay="0"/>
                                          </p:stCondLst>
                                        </p:cTn>
                                        <p:tgtEl>
                                          <p:spTgt spid="50"/>
                                        </p:tgtEl>
                                        <p:attrNameLst>
                                          <p:attrName>style.visibility</p:attrName>
                                        </p:attrNameLst>
                                      </p:cBhvr>
                                      <p:to>
                                        <p:strVal val="visible"/>
                                      </p:to>
                                    </p:set>
                                    <p:animEffect transition="in" filter="fade">
                                      <p:cBhvr>
                                        <p:cTn id="144" dur="500"/>
                                        <p:tgtEl>
                                          <p:spTgt spid="50"/>
                                        </p:tgtEl>
                                      </p:cBhvr>
                                    </p:animEffect>
                                  </p:childTnLst>
                                </p:cTn>
                              </p:par>
                            </p:childTnLst>
                          </p:cTn>
                        </p:par>
                      </p:childTnLst>
                    </p:cTn>
                  </p:par>
                  <p:par>
                    <p:cTn id="145" fill="hold">
                      <p:stCondLst>
                        <p:cond delay="indefinite"/>
                      </p:stCondLst>
                      <p:childTnLst>
                        <p:par>
                          <p:cTn id="146" fill="hold">
                            <p:stCondLst>
                              <p:cond delay="0"/>
                            </p:stCondLst>
                            <p:childTnLst>
                              <p:par>
                                <p:cTn id="147" presetID="22" presetClass="entr" presetSubtype="4" fill="hold" grpId="0" nodeType="clickEffect">
                                  <p:stCondLst>
                                    <p:cond delay="0"/>
                                  </p:stCondLst>
                                  <p:childTnLst>
                                    <p:set>
                                      <p:cBhvr>
                                        <p:cTn id="148" dur="1" fill="hold">
                                          <p:stCondLst>
                                            <p:cond delay="0"/>
                                          </p:stCondLst>
                                        </p:cTn>
                                        <p:tgtEl>
                                          <p:spTgt spid="58"/>
                                        </p:tgtEl>
                                        <p:attrNameLst>
                                          <p:attrName>style.visibility</p:attrName>
                                        </p:attrNameLst>
                                      </p:cBhvr>
                                      <p:to>
                                        <p:strVal val="visible"/>
                                      </p:to>
                                    </p:set>
                                    <p:animEffect transition="in" filter="wipe(down)">
                                      <p:cBhvr>
                                        <p:cTn id="149" dur="500"/>
                                        <p:tgtEl>
                                          <p:spTgt spid="58"/>
                                        </p:tgtEl>
                                      </p:cBhvr>
                                    </p:animEffect>
                                  </p:childTnLst>
                                </p:cTn>
                              </p:par>
                              <p:par>
                                <p:cTn id="150" presetID="22" presetClass="entr" presetSubtype="4" fill="hold" nodeType="withEffect">
                                  <p:stCondLst>
                                    <p:cond delay="0"/>
                                  </p:stCondLst>
                                  <p:childTnLst>
                                    <p:set>
                                      <p:cBhvr>
                                        <p:cTn id="151" dur="1" fill="hold">
                                          <p:stCondLst>
                                            <p:cond delay="0"/>
                                          </p:stCondLst>
                                        </p:cTn>
                                        <p:tgtEl>
                                          <p:spTgt spid="59"/>
                                        </p:tgtEl>
                                        <p:attrNameLst>
                                          <p:attrName>style.visibility</p:attrName>
                                        </p:attrNameLst>
                                      </p:cBhvr>
                                      <p:to>
                                        <p:strVal val="visible"/>
                                      </p:to>
                                    </p:set>
                                    <p:animEffect transition="in" filter="wipe(down)">
                                      <p:cBhvr>
                                        <p:cTn id="152" dur="500"/>
                                        <p:tgtEl>
                                          <p:spTgt spid="59"/>
                                        </p:tgtEl>
                                      </p:cBhvr>
                                    </p:animEffect>
                                  </p:childTnLst>
                                </p:cTn>
                              </p:par>
                              <p:par>
                                <p:cTn id="153" presetID="22" presetClass="entr" presetSubtype="4" fill="hold" grpId="0" nodeType="withEffect">
                                  <p:stCondLst>
                                    <p:cond delay="0"/>
                                  </p:stCondLst>
                                  <p:childTnLst>
                                    <p:set>
                                      <p:cBhvr>
                                        <p:cTn id="154" dur="1" fill="hold">
                                          <p:stCondLst>
                                            <p:cond delay="0"/>
                                          </p:stCondLst>
                                        </p:cTn>
                                        <p:tgtEl>
                                          <p:spTgt spid="57"/>
                                        </p:tgtEl>
                                        <p:attrNameLst>
                                          <p:attrName>style.visibility</p:attrName>
                                        </p:attrNameLst>
                                      </p:cBhvr>
                                      <p:to>
                                        <p:strVal val="visible"/>
                                      </p:to>
                                    </p:set>
                                    <p:animEffect transition="in" filter="wipe(down)">
                                      <p:cBhvr>
                                        <p:cTn id="155" dur="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P spid="12" grpId="0"/>
      <p:bldP spid="14" grpId="0"/>
      <p:bldP spid="15" grpId="0" animBg="1"/>
      <p:bldP spid="16" grpId="0" animBg="1"/>
      <p:bldP spid="17" grpId="0" animBg="1"/>
      <p:bldP spid="18" grpId="0" animBg="1"/>
      <p:bldP spid="37" grpId="0" animBg="1"/>
      <p:bldP spid="39" grpId="0" animBg="1"/>
      <p:bldP spid="41" grpId="0" animBg="1"/>
      <p:bldP spid="50" grpId="0"/>
      <p:bldP spid="51" grpId="0"/>
      <p:bldP spid="52" grpId="0"/>
      <p:bldP spid="53" grpId="0"/>
      <p:bldP spid="54" grpId="0" animBg="1"/>
      <p:bldP spid="55" grpId="0" animBg="1"/>
      <p:bldP spid="56" grpId="0" animBg="1"/>
      <p:bldP spid="57" grpId="0"/>
      <p:bldP spid="58" grpId="0" animBg="1"/>
      <p:bldP spid="60"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3.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ags/tag5.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Text"/>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90815120206"/>
  <p:tag name="MH_LIBRARY" val="GRAPHIC"/>
  <p:tag name="MH_TYPE" val="Other"/>
  <p:tag name="MH_ORDER" val="2"/>
</p:tagLst>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noFill/>
        <a:ln w="50800" cap="rnd">
          <a:solidFill>
            <a:srgbClr val="CC6600"/>
          </a:solidFill>
          <a:round/>
          <a:headEnd/>
          <a:tailEnd/>
        </a:ln>
        <a:extLst>
          <a:ext uri="{909E8E84-426E-40DD-AFC4-6F175D3DCCD1}">
            <a14:hiddenFill xmlns:a14="http://schemas.microsoft.com/office/drawing/2010/main">
              <a:solidFill>
                <a:srgbClr val="FFFFFF"/>
              </a:solidFill>
            </a14:hiddenFill>
          </a:ext>
        </a:extLst>
      </a:spPr>
      <a:bodyPr/>
      <a:lstStyle>
        <a:defPPr>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tabLst/>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6188</TotalTime>
  <Pages>0</Pages>
  <Words>6056</Words>
  <Characters>0</Characters>
  <Application>Microsoft Office PowerPoint</Application>
  <DocSecurity>0</DocSecurity>
  <PresentationFormat>全屏显示(4:3)</PresentationFormat>
  <Lines>0</Lines>
  <Paragraphs>924</Paragraphs>
  <Slides>82</Slides>
  <Notes>2</Notes>
  <HiddenSlides>0</HiddenSlides>
  <MMClips>0</MMClips>
  <ScaleCrop>false</ScaleCrop>
  <HeadingPairs>
    <vt:vector size="8" baseType="variant">
      <vt:variant>
        <vt:lpstr>已用的字体</vt:lpstr>
      </vt:variant>
      <vt:variant>
        <vt:i4>12</vt:i4>
      </vt:variant>
      <vt:variant>
        <vt:lpstr>主题</vt:lpstr>
      </vt:variant>
      <vt:variant>
        <vt:i4>2</vt:i4>
      </vt:variant>
      <vt:variant>
        <vt:lpstr>嵌入 OLE 服务器</vt:lpstr>
      </vt:variant>
      <vt:variant>
        <vt:i4>0</vt:i4>
      </vt:variant>
      <vt:variant>
        <vt:lpstr>幻灯片标题</vt:lpstr>
      </vt:variant>
      <vt:variant>
        <vt:i4>82</vt:i4>
      </vt:variant>
    </vt:vector>
  </HeadingPairs>
  <TitlesOfParts>
    <vt:vector size="96" baseType="lpstr">
      <vt:lpstr>FontAwesome</vt:lpstr>
      <vt:lpstr>Helvetica Light</vt:lpstr>
      <vt:lpstr>等线</vt:lpstr>
      <vt:lpstr>宋体</vt:lpstr>
      <vt:lpstr>微软雅黑</vt:lpstr>
      <vt:lpstr>印品黑体</vt:lpstr>
      <vt:lpstr>字魂59号-创粗黑</vt:lpstr>
      <vt:lpstr>Arial</vt:lpstr>
      <vt:lpstr>Calibri</vt:lpstr>
      <vt:lpstr>Cambria Math</vt:lpstr>
      <vt:lpstr>Times New Roman</vt:lpstr>
      <vt:lpstr>Wingdings</vt:lpstr>
      <vt:lpstr>默认设计模板</vt:lpstr>
      <vt:lpstr>1_默认设计模板</vt:lpstr>
      <vt:lpstr>第三章 企业的生产和成本</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规模变动中的投入与产出</vt:lpstr>
      <vt:lpstr>规模报酬变化的直观描述</vt:lpstr>
      <vt:lpstr>PowerPoint 演示文稿</vt:lpstr>
      <vt:lpstr>PowerPoint 演示文稿</vt:lpstr>
      <vt:lpstr>PowerPoint 演示文稿</vt:lpstr>
      <vt:lpstr>概念辨析：经济利润 VS 会计利润</vt:lpstr>
      <vt:lpstr>PowerPoint 演示文稿</vt:lpstr>
      <vt:lpstr>补充概念</vt:lpstr>
      <vt:lpstr>例题</vt:lpstr>
      <vt:lpstr>例题</vt:lpstr>
      <vt:lpstr>例题</vt:lpstr>
      <vt:lpstr>例题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第**章 章名称</dc:title>
  <dc:subject/>
  <dc:creator>Administrator</dc:creator>
  <cp:keywords/>
  <dc:description/>
  <cp:lastModifiedBy>qiang wu</cp:lastModifiedBy>
  <cp:revision>556</cp:revision>
  <dcterms:created xsi:type="dcterms:W3CDTF">2015-04-07T08:07:25Z</dcterms:created>
  <dcterms:modified xsi:type="dcterms:W3CDTF">2024-04-11T10:20:39Z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2052-9.1.0.5060</vt:lpwstr>
  </property>
</Properties>
</file>