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heme/themeOverride1.xml" ContentType="application/vnd.openxmlformats-officedocument.themeOverride+xml"/>
  <Override PartName="/ppt/notesSlides/notesSlide5.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6.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745" r:id="rId2"/>
  </p:sldMasterIdLst>
  <p:notesMasterIdLst>
    <p:notesMasterId r:id="rId76"/>
  </p:notesMasterIdLst>
  <p:sldIdLst>
    <p:sldId id="256" r:id="rId3"/>
    <p:sldId id="458" r:id="rId4"/>
    <p:sldId id="319" r:id="rId5"/>
    <p:sldId id="320" r:id="rId6"/>
    <p:sldId id="265" r:id="rId7"/>
    <p:sldId id="305" r:id="rId8"/>
    <p:sldId id="284" r:id="rId9"/>
    <p:sldId id="459" r:id="rId10"/>
    <p:sldId id="460" r:id="rId11"/>
    <p:sldId id="461" r:id="rId12"/>
    <p:sldId id="462" r:id="rId13"/>
    <p:sldId id="463" r:id="rId14"/>
    <p:sldId id="306" r:id="rId15"/>
    <p:sldId id="266" r:id="rId16"/>
    <p:sldId id="285" r:id="rId17"/>
    <p:sldId id="267" r:id="rId18"/>
    <p:sldId id="286" r:id="rId19"/>
    <p:sldId id="288" r:id="rId20"/>
    <p:sldId id="287" r:id="rId21"/>
    <p:sldId id="310" r:id="rId22"/>
    <p:sldId id="464" r:id="rId23"/>
    <p:sldId id="289" r:id="rId24"/>
    <p:sldId id="311" r:id="rId25"/>
    <p:sldId id="269" r:id="rId26"/>
    <p:sldId id="290" r:id="rId27"/>
    <p:sldId id="291" r:id="rId28"/>
    <p:sldId id="302" r:id="rId29"/>
    <p:sldId id="410" r:id="rId30"/>
    <p:sldId id="465" r:id="rId31"/>
    <p:sldId id="466" r:id="rId32"/>
    <p:sldId id="467" r:id="rId33"/>
    <p:sldId id="469" r:id="rId34"/>
    <p:sldId id="321" r:id="rId35"/>
    <p:sldId id="270" r:id="rId36"/>
    <p:sldId id="271" r:id="rId37"/>
    <p:sldId id="312" r:id="rId38"/>
    <p:sldId id="292" r:id="rId39"/>
    <p:sldId id="272" r:id="rId40"/>
    <p:sldId id="294" r:id="rId41"/>
    <p:sldId id="295" r:id="rId42"/>
    <p:sldId id="273" r:id="rId43"/>
    <p:sldId id="322" r:id="rId44"/>
    <p:sldId id="274" r:id="rId45"/>
    <p:sldId id="470" r:id="rId46"/>
    <p:sldId id="275" r:id="rId47"/>
    <p:sldId id="472" r:id="rId48"/>
    <p:sldId id="313" r:id="rId49"/>
    <p:sldId id="473" r:id="rId50"/>
    <p:sldId id="474" r:id="rId51"/>
    <p:sldId id="475" r:id="rId52"/>
    <p:sldId id="315" r:id="rId53"/>
    <p:sldId id="476" r:id="rId54"/>
    <p:sldId id="314" r:id="rId55"/>
    <p:sldId id="277" r:id="rId56"/>
    <p:sldId id="477" r:id="rId57"/>
    <p:sldId id="307" r:id="rId58"/>
    <p:sldId id="296" r:id="rId59"/>
    <p:sldId id="278" r:id="rId60"/>
    <p:sldId id="308" r:id="rId61"/>
    <p:sldId id="323" r:id="rId62"/>
    <p:sldId id="279" r:id="rId63"/>
    <p:sldId id="480" r:id="rId64"/>
    <p:sldId id="280" r:id="rId65"/>
    <p:sldId id="309" r:id="rId66"/>
    <p:sldId id="281" r:id="rId67"/>
    <p:sldId id="298" r:id="rId68"/>
    <p:sldId id="481" r:id="rId69"/>
    <p:sldId id="324" r:id="rId70"/>
    <p:sldId id="282" r:id="rId71"/>
    <p:sldId id="412" r:id="rId72"/>
    <p:sldId id="413" r:id="rId73"/>
    <p:sldId id="283" r:id="rId74"/>
    <p:sldId id="482" r:id="rId75"/>
  </p:sldIdLst>
  <p:sldSz cx="9144000" cy="6858000" type="screen4x3"/>
  <p:notesSz cx="6858000" cy="9144000"/>
  <p:defaultTextStyle>
    <a:defPPr>
      <a:defRPr lang="zh-CN"/>
    </a:defPPr>
    <a:lvl1pPr algn="l" rtl="0" eaLnBrk="0" fontAlgn="base" hangingPunct="0">
      <a:spcBef>
        <a:spcPct val="0"/>
      </a:spcBef>
      <a:spcAft>
        <a:spcPct val="0"/>
      </a:spcAft>
      <a:buFont typeface="Arial" panose="020B0604020202020204" pitchFamily="34" charset="0"/>
      <a:defRPr sz="1600" b="1"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buFont typeface="Arial" panose="020B0604020202020204" pitchFamily="34" charset="0"/>
      <a:defRPr sz="16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buFont typeface="Arial" panose="020B0604020202020204" pitchFamily="34" charset="0"/>
      <a:defRPr sz="16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buFont typeface="Arial" panose="020B0604020202020204" pitchFamily="34" charset="0"/>
      <a:defRPr sz="16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buFont typeface="Arial" panose="020B0604020202020204" pitchFamily="34" charset="0"/>
      <a:defRPr sz="16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6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6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6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600" b="1"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Owner" initials="O" lastIdx="1" clrIdx="0">
    <p:extLst>
      <p:ext uri="{19B8F6BF-5375-455C-9EA6-DF929625EA0E}">
        <p15:presenceInfo xmlns:p15="http://schemas.microsoft.com/office/powerpoint/2012/main" userId="Own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C00000"/>
    <a:srgbClr val="F8F8F9"/>
    <a:srgbClr val="F3C97F"/>
    <a:srgbClr val="9DA2AD"/>
    <a:srgbClr val="BB1528"/>
    <a:srgbClr val="C3C9D7"/>
    <a:srgbClr val="333399"/>
    <a:srgbClr val="CCFF33"/>
    <a:srgbClr val="E6E6E6"/>
    <a:srgbClr val="03EDB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68" autoAdjust="0"/>
    <p:restoredTop sz="94660"/>
  </p:normalViewPr>
  <p:slideViewPr>
    <p:cSldViewPr>
      <p:cViewPr varScale="1">
        <p:scale>
          <a:sx n="90" d="100"/>
          <a:sy n="90" d="100"/>
        </p:scale>
        <p:origin x="90" y="2838"/>
      </p:cViewPr>
      <p:guideLst>
        <p:guide orient="horz" pos="2160"/>
        <p:guide pos="2880"/>
      </p:guideLst>
    </p:cSldViewPr>
  </p:slideViewPr>
  <p:notesTextViewPr>
    <p:cViewPr>
      <p:scale>
        <a:sx n="1" d="1"/>
        <a:sy n="1" d="1"/>
      </p:scale>
      <p:origin x="0" y="0"/>
    </p:cViewPr>
  </p:notesTextViewPr>
  <p:gridSpacing cx="72005" cy="72005"/>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viewProps" Target="view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commentAuthors" Target="commentAuthor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notesMaster" Target="notesMasters/notesMaster1.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074" name="页眉占位符 1"/>
          <p:cNvSpPr>
            <a:spLocks noGrp="1" noChangeArrowheads="1"/>
          </p:cNvSpPr>
          <p:nvPr>
            <p:ph type="hdr" sz="quarter" idx="4294967295"/>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1200"/>
            </a:lvl1pPr>
          </a:lstStyle>
          <a:p>
            <a:endParaRPr lang="zh-CN" altLang="zh-CN"/>
          </a:p>
        </p:txBody>
      </p:sp>
      <p:sp>
        <p:nvSpPr>
          <p:cNvPr id="3075" name="日期占位符 2"/>
          <p:cNvSpPr>
            <a:spLocks noGrp="1" noChangeArrowheads="1"/>
          </p:cNvSpPr>
          <p:nvPr>
            <p:ph type="dt" idx="1"/>
          </p:nvPr>
        </p:nvSpPr>
        <p:spPr bwMode="auto">
          <a:xfrm>
            <a:off x="3884613"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a:lvl1pPr>
          </a:lstStyle>
          <a:p>
            <a:fld id="{83120E26-BD21-43E1-B94F-DACD1F58B69D}" type="datetime1">
              <a:rPr lang="zh-CN" altLang="en-US"/>
              <a:pPr/>
              <a:t>2024/5/23</a:t>
            </a:fld>
            <a:endParaRPr lang="zh-CN" altLang="en-US" sz="1200"/>
          </a:p>
        </p:txBody>
      </p:sp>
      <p:sp>
        <p:nvSpPr>
          <p:cNvPr id="3076" name="幻灯片图像占位符 3"/>
          <p:cNvSpPr>
            <a:spLocks noGrp="1" noRot="1" noChangeAspect="1" noChangeArrowheads="1"/>
          </p:cNvSpPr>
          <p:nvPr>
            <p:ph type="sldImg" idx="2"/>
          </p:nvPr>
        </p:nvSpPr>
        <p:spPr bwMode="auto">
          <a:xfrm>
            <a:off x="1143000" y="685800"/>
            <a:ext cx="4572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3077" name="备注占位符 4"/>
          <p:cNvSpPr>
            <a:spLocks noGrp="1" noRot="1" noChangeAspect="1" noChangeArrowheads="1"/>
          </p:cNvSpPr>
          <p:nvPr/>
        </p:nvSpPr>
        <p:spPr bwMode="auto">
          <a:xfrm>
            <a:off x="685800" y="4343400"/>
            <a:ext cx="5486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0">
              <a:spcBef>
                <a:spcPct val="30000"/>
              </a:spcBef>
              <a:defRPr sz="1200">
                <a:solidFill>
                  <a:schemeClr val="tx1"/>
                </a:solidFill>
                <a:latin typeface="Arial" panose="020B0604020202020204" pitchFamily="34" charset="0"/>
              </a:defRPr>
            </a:lvl1pPr>
            <a:lvl2pPr defTabSz="0">
              <a:spcBef>
                <a:spcPct val="30000"/>
              </a:spcBef>
              <a:defRPr sz="1200">
                <a:solidFill>
                  <a:schemeClr val="tx1"/>
                </a:solidFill>
                <a:latin typeface="Arial" panose="020B0604020202020204" pitchFamily="34" charset="0"/>
              </a:defRPr>
            </a:lvl2pPr>
            <a:lvl3pPr defTabSz="0">
              <a:spcBef>
                <a:spcPct val="30000"/>
              </a:spcBef>
              <a:defRPr sz="1200">
                <a:solidFill>
                  <a:schemeClr val="tx1"/>
                </a:solidFill>
                <a:latin typeface="Arial" panose="020B0604020202020204" pitchFamily="34" charset="0"/>
              </a:defRPr>
            </a:lvl3pPr>
            <a:lvl4pPr defTabSz="0">
              <a:spcBef>
                <a:spcPct val="30000"/>
              </a:spcBef>
              <a:defRPr sz="1200">
                <a:solidFill>
                  <a:schemeClr val="tx1"/>
                </a:solidFill>
                <a:latin typeface="Arial" panose="020B0604020202020204" pitchFamily="34" charset="0"/>
              </a:defRPr>
            </a:lvl4pPr>
            <a:lvl5pPr defTabSz="0">
              <a:spcBef>
                <a:spcPct val="30000"/>
              </a:spcBef>
              <a:defRPr sz="1200">
                <a:solidFill>
                  <a:schemeClr val="tx1"/>
                </a:solidFill>
                <a:latin typeface="Arial" panose="020B0604020202020204" pitchFamily="34" charset="0"/>
              </a:defRPr>
            </a:lvl5pPr>
            <a:lvl6pPr marL="457200" defTabSz="0" eaLnBrk="0" fontAlgn="base" hangingPunct="0">
              <a:spcBef>
                <a:spcPct val="30000"/>
              </a:spcBef>
              <a:spcAft>
                <a:spcPct val="0"/>
              </a:spcAft>
              <a:defRPr sz="1200">
                <a:solidFill>
                  <a:schemeClr val="tx1"/>
                </a:solidFill>
                <a:latin typeface="Arial" panose="020B0604020202020204" pitchFamily="34" charset="0"/>
              </a:defRPr>
            </a:lvl6pPr>
            <a:lvl7pPr marL="914400" defTabSz="0" eaLnBrk="0" fontAlgn="base" hangingPunct="0">
              <a:spcBef>
                <a:spcPct val="30000"/>
              </a:spcBef>
              <a:spcAft>
                <a:spcPct val="0"/>
              </a:spcAft>
              <a:defRPr sz="1200">
                <a:solidFill>
                  <a:schemeClr val="tx1"/>
                </a:solidFill>
                <a:latin typeface="Arial" panose="020B0604020202020204" pitchFamily="34" charset="0"/>
              </a:defRPr>
            </a:lvl7pPr>
            <a:lvl8pPr marL="1371600" defTabSz="0" eaLnBrk="0" fontAlgn="base" hangingPunct="0">
              <a:spcBef>
                <a:spcPct val="30000"/>
              </a:spcBef>
              <a:spcAft>
                <a:spcPct val="0"/>
              </a:spcAft>
              <a:defRPr sz="1200">
                <a:solidFill>
                  <a:schemeClr val="tx1"/>
                </a:solidFill>
                <a:latin typeface="Arial" panose="020B0604020202020204" pitchFamily="34" charset="0"/>
              </a:defRPr>
            </a:lvl8pPr>
            <a:lvl9pPr marL="1828800" defTabSz="0" eaLnBrk="0" fontAlgn="base" hangingPunct="0">
              <a:spcBef>
                <a:spcPct val="30000"/>
              </a:spcBef>
              <a:spcAft>
                <a:spcPct val="0"/>
              </a:spcAft>
              <a:defRPr sz="1200">
                <a:solidFill>
                  <a:schemeClr val="tx1"/>
                </a:solidFill>
                <a:latin typeface="Arial" panose="020B0604020202020204" pitchFamily="34" charset="0"/>
              </a:defRPr>
            </a:lvl9pPr>
          </a:lstStyle>
          <a:p>
            <a:pPr>
              <a:buFontTx/>
              <a:buNone/>
            </a:pPr>
            <a:r>
              <a:rPr lang="zh-CN" altLang="zh-CN" b="0"/>
              <a:t>单击此处编辑母版文本样式</a:t>
            </a:r>
          </a:p>
          <a:p>
            <a:pPr>
              <a:buFontTx/>
              <a:buNone/>
            </a:pPr>
            <a:r>
              <a:rPr lang="zh-CN" altLang="zh-CN" b="0"/>
              <a:t>第二级</a:t>
            </a:r>
          </a:p>
          <a:p>
            <a:pPr>
              <a:buFontTx/>
              <a:buNone/>
            </a:pPr>
            <a:r>
              <a:rPr lang="zh-CN" altLang="zh-CN" b="0"/>
              <a:t>第三级</a:t>
            </a:r>
          </a:p>
          <a:p>
            <a:pPr>
              <a:buFontTx/>
              <a:buNone/>
            </a:pPr>
            <a:r>
              <a:rPr lang="zh-CN" altLang="zh-CN" b="0"/>
              <a:t>第四级</a:t>
            </a:r>
          </a:p>
          <a:p>
            <a:pPr>
              <a:buFontTx/>
              <a:buNone/>
            </a:pPr>
            <a:r>
              <a:rPr lang="zh-CN" altLang="zh-CN" b="0"/>
              <a:t>第五级</a:t>
            </a:r>
          </a:p>
        </p:txBody>
      </p:sp>
      <p:sp>
        <p:nvSpPr>
          <p:cNvPr id="3078" name="页脚占位符 5"/>
          <p:cNvSpPr>
            <a:spLocks noGrp="1" noChangeArrowheads="1"/>
          </p:cNvSpPr>
          <p:nvPr>
            <p:ph type="ftr" sz="quarter" idx="4"/>
          </p:nvPr>
        </p:nvSpPr>
        <p:spPr bwMode="auto">
          <a:xfrm>
            <a:off x="0"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defRPr sz="1200"/>
            </a:lvl1pPr>
          </a:lstStyle>
          <a:p>
            <a:endParaRPr lang="zh-CN" altLang="zh-CN"/>
          </a:p>
        </p:txBody>
      </p:sp>
      <p:sp>
        <p:nvSpPr>
          <p:cNvPr id="3079" name="灯片编号占位符 6"/>
          <p:cNvSpPr>
            <a:spLocks noGrp="1" noChangeArrowheads="1"/>
          </p:cNvSpPr>
          <p:nvPr>
            <p:ph type="sldNum" sz="quarter" idx="5"/>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r">
              <a:defRPr/>
            </a:lvl1pPr>
          </a:lstStyle>
          <a:p>
            <a:fld id="{C889872C-2F3D-4D82-A62B-1C99DC6B01AA}" type="slidenum">
              <a:rPr lang="zh-CN" altLang="en-US"/>
              <a:pPr/>
              <a:t>‹#›</a:t>
            </a:fld>
            <a:endParaRPr lang="zh-CN" altLang="en-US" sz="1200"/>
          </a:p>
        </p:txBody>
      </p:sp>
    </p:spTree>
    <p:extLst>
      <p:ext uri="{BB962C8B-B14F-4D97-AF65-F5344CB8AC3E}">
        <p14:creationId xmlns:p14="http://schemas.microsoft.com/office/powerpoint/2010/main" val="2753567573"/>
      </p:ext>
    </p:extLst>
  </p:cSld>
  <p:clrMap bg1="lt1" tx1="dk1" bg2="lt2" tx2="dk2" accent1="accent1" accent2="accent2" accent3="accent3" accent4="accent4" accent5="accent5" accent6="accent6" hlink="hlink" folHlink="folHlink"/>
  <p:hf hdr="0" ftr="0"/>
  <p:notesStyle>
    <a:lvl1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E6ED51-A667-445D-B581-2B6949E8F21F}" type="slidenum">
              <a:rPr lang="en-US" altLang="zh-CN" smtClean="0"/>
              <a:pPr/>
              <a:t>2</a:t>
            </a:fld>
            <a:endParaRPr lang="en-US" altLang="zh-CN"/>
          </a:p>
        </p:txBody>
      </p:sp>
    </p:spTree>
    <p:extLst>
      <p:ext uri="{BB962C8B-B14F-4D97-AF65-F5344CB8AC3E}">
        <p14:creationId xmlns:p14="http://schemas.microsoft.com/office/powerpoint/2010/main" val="31795118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E6ED51-A667-445D-B581-2B6949E8F21F}" type="slidenum">
              <a:rPr lang="en-US" altLang="zh-CN" smtClean="0"/>
              <a:pPr/>
              <a:t>8</a:t>
            </a:fld>
            <a:endParaRPr lang="en-US" altLang="zh-CN"/>
          </a:p>
        </p:txBody>
      </p:sp>
    </p:spTree>
    <p:extLst>
      <p:ext uri="{BB962C8B-B14F-4D97-AF65-F5344CB8AC3E}">
        <p14:creationId xmlns:p14="http://schemas.microsoft.com/office/powerpoint/2010/main" val="16875661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E6ED51-A667-445D-B581-2B6949E8F21F}" type="slidenum">
              <a:rPr lang="en-US" altLang="zh-CN" smtClean="0"/>
              <a:pPr/>
              <a:t>9</a:t>
            </a:fld>
            <a:endParaRPr lang="en-US" altLang="zh-CN"/>
          </a:p>
        </p:txBody>
      </p:sp>
    </p:spTree>
    <p:extLst>
      <p:ext uri="{BB962C8B-B14F-4D97-AF65-F5344CB8AC3E}">
        <p14:creationId xmlns:p14="http://schemas.microsoft.com/office/powerpoint/2010/main" val="10760883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E6ED51-A667-445D-B581-2B6949E8F21F}" type="slidenum">
              <a:rPr lang="en-US" altLang="zh-CN" smtClean="0"/>
              <a:pPr/>
              <a:t>10</a:t>
            </a:fld>
            <a:endParaRPr lang="en-US" altLang="zh-CN"/>
          </a:p>
        </p:txBody>
      </p:sp>
    </p:spTree>
    <p:extLst>
      <p:ext uri="{BB962C8B-B14F-4D97-AF65-F5344CB8AC3E}">
        <p14:creationId xmlns:p14="http://schemas.microsoft.com/office/powerpoint/2010/main" val="21188927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83120E26-BD21-43E1-B94F-DACD1F58B69D}" type="datetime1">
              <a:rPr lang="zh-CN" altLang="en-US" smtClean="0"/>
              <a:pPr/>
              <a:t>2024/5/23</a:t>
            </a:fld>
            <a:endParaRPr lang="zh-CN" altLang="en-US" sz="1200"/>
          </a:p>
        </p:txBody>
      </p:sp>
      <p:sp>
        <p:nvSpPr>
          <p:cNvPr id="5" name="灯片编号占位符 4"/>
          <p:cNvSpPr>
            <a:spLocks noGrp="1"/>
          </p:cNvSpPr>
          <p:nvPr>
            <p:ph type="sldNum" sz="quarter" idx="11"/>
          </p:nvPr>
        </p:nvSpPr>
        <p:spPr/>
        <p:txBody>
          <a:bodyPr/>
          <a:lstStyle/>
          <a:p>
            <a:fld id="{C889872C-2F3D-4D82-A62B-1C99DC6B01AA}" type="slidenum">
              <a:rPr lang="zh-CN" altLang="en-US" smtClean="0"/>
              <a:pPr/>
              <a:t>29</a:t>
            </a:fld>
            <a:endParaRPr lang="zh-CN" altLang="en-US" sz="1200"/>
          </a:p>
        </p:txBody>
      </p:sp>
    </p:spTree>
    <p:extLst>
      <p:ext uri="{BB962C8B-B14F-4D97-AF65-F5344CB8AC3E}">
        <p14:creationId xmlns:p14="http://schemas.microsoft.com/office/powerpoint/2010/main" val="40605462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dirty="0"/>
          </a:p>
        </p:txBody>
      </p:sp>
      <p:sp>
        <p:nvSpPr>
          <p:cNvPr id="4" name="日期占位符 3"/>
          <p:cNvSpPr>
            <a:spLocks noGrp="1"/>
          </p:cNvSpPr>
          <p:nvPr>
            <p:ph type="dt" idx="1"/>
          </p:nvPr>
        </p:nvSpPr>
        <p:spPr/>
        <p:txBody>
          <a:bodyPr/>
          <a:lstStyle/>
          <a:p>
            <a:fld id="{83120E26-BD21-43E1-B94F-DACD1F58B69D}" type="datetime1">
              <a:rPr lang="zh-CN" altLang="en-US" smtClean="0"/>
              <a:pPr/>
              <a:t>2024/5/23</a:t>
            </a:fld>
            <a:endParaRPr lang="zh-CN" altLang="en-US" sz="1200"/>
          </a:p>
        </p:txBody>
      </p:sp>
      <p:sp>
        <p:nvSpPr>
          <p:cNvPr id="5" name="灯片编号占位符 4"/>
          <p:cNvSpPr>
            <a:spLocks noGrp="1"/>
          </p:cNvSpPr>
          <p:nvPr>
            <p:ph type="sldNum" sz="quarter" idx="5"/>
          </p:nvPr>
        </p:nvSpPr>
        <p:spPr/>
        <p:txBody>
          <a:bodyPr/>
          <a:lstStyle/>
          <a:p>
            <a:fld id="{C889872C-2F3D-4D82-A62B-1C99DC6B01AA}" type="slidenum">
              <a:rPr lang="zh-CN" altLang="en-US" smtClean="0"/>
              <a:pPr/>
              <a:t>36</a:t>
            </a:fld>
            <a:endParaRPr lang="zh-CN" altLang="en-US" sz="1200"/>
          </a:p>
        </p:txBody>
      </p:sp>
    </p:spTree>
    <p:extLst>
      <p:ext uri="{BB962C8B-B14F-4D97-AF65-F5344CB8AC3E}">
        <p14:creationId xmlns:p14="http://schemas.microsoft.com/office/powerpoint/2010/main" val="24775223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lvl1pPr>
              <a:defRPr/>
            </a:lvl1pPr>
          </a:lstStyle>
          <a:p>
            <a:endParaRPr lang="zh-CN" altLang="zh-CN"/>
          </a:p>
        </p:txBody>
      </p:sp>
      <p:sp>
        <p:nvSpPr>
          <p:cNvPr id="5" name="页脚占位符 4"/>
          <p:cNvSpPr>
            <a:spLocks noGrp="1"/>
          </p:cNvSpPr>
          <p:nvPr>
            <p:ph type="ftr" sz="quarter" idx="11"/>
          </p:nvPr>
        </p:nvSpPr>
        <p:spPr/>
        <p:txBody>
          <a:bodyPr/>
          <a:lstStyle>
            <a:lvl1pPr>
              <a:defRPr/>
            </a:lvl1pPr>
          </a:lstStyle>
          <a:p>
            <a:endParaRPr lang="zh-CN" altLang="zh-CN"/>
          </a:p>
        </p:txBody>
      </p:sp>
      <p:sp>
        <p:nvSpPr>
          <p:cNvPr id="6" name="灯片编号占位符 5"/>
          <p:cNvSpPr>
            <a:spLocks noGrp="1"/>
          </p:cNvSpPr>
          <p:nvPr>
            <p:ph type="sldNum" sz="quarter" idx="12"/>
          </p:nvPr>
        </p:nvSpPr>
        <p:spPr/>
        <p:txBody>
          <a:bodyPr/>
          <a:lstStyle>
            <a:lvl1pPr>
              <a:defRPr/>
            </a:lvl1pPr>
          </a:lstStyle>
          <a:p>
            <a:fld id="{E0CF0F09-61E9-4BEE-8B60-F0571DDD910A}" type="slidenum">
              <a:rPr lang="zh-CN" altLang="en-US"/>
              <a:pPr/>
              <a:t>‹#›</a:t>
            </a:fld>
            <a:endParaRPr lang="en-US" altLang="zh-CN" sz="1800" b="1"/>
          </a:p>
        </p:txBody>
      </p:sp>
    </p:spTree>
    <p:extLst>
      <p:ext uri="{BB962C8B-B14F-4D97-AF65-F5344CB8AC3E}">
        <p14:creationId xmlns:p14="http://schemas.microsoft.com/office/powerpoint/2010/main" val="1336923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zh-CN" altLang="zh-CN"/>
          </a:p>
        </p:txBody>
      </p:sp>
      <p:sp>
        <p:nvSpPr>
          <p:cNvPr id="5" name="页脚占位符 4"/>
          <p:cNvSpPr>
            <a:spLocks noGrp="1"/>
          </p:cNvSpPr>
          <p:nvPr>
            <p:ph type="ftr" sz="quarter" idx="11"/>
          </p:nvPr>
        </p:nvSpPr>
        <p:spPr/>
        <p:txBody>
          <a:bodyPr/>
          <a:lstStyle>
            <a:lvl1pPr>
              <a:defRPr/>
            </a:lvl1pPr>
          </a:lstStyle>
          <a:p>
            <a:endParaRPr lang="zh-CN" altLang="zh-CN"/>
          </a:p>
        </p:txBody>
      </p:sp>
      <p:sp>
        <p:nvSpPr>
          <p:cNvPr id="6" name="灯片编号占位符 5"/>
          <p:cNvSpPr>
            <a:spLocks noGrp="1"/>
          </p:cNvSpPr>
          <p:nvPr>
            <p:ph type="sldNum" sz="quarter" idx="12"/>
          </p:nvPr>
        </p:nvSpPr>
        <p:spPr/>
        <p:txBody>
          <a:bodyPr/>
          <a:lstStyle>
            <a:lvl1pPr>
              <a:defRPr/>
            </a:lvl1pPr>
          </a:lstStyle>
          <a:p>
            <a:fld id="{784C3D24-47E4-4F22-A381-181C73BD814B}" type="slidenum">
              <a:rPr lang="zh-CN" altLang="en-US"/>
              <a:pPr/>
              <a:t>‹#›</a:t>
            </a:fld>
            <a:endParaRPr lang="en-US" altLang="zh-CN" sz="1800" b="1"/>
          </a:p>
        </p:txBody>
      </p:sp>
    </p:spTree>
    <p:extLst>
      <p:ext uri="{BB962C8B-B14F-4D97-AF65-F5344CB8AC3E}">
        <p14:creationId xmlns:p14="http://schemas.microsoft.com/office/powerpoint/2010/main" val="36034697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4" name="日期占位符 3"/>
          <p:cNvSpPr>
            <a:spLocks noGrp="1"/>
          </p:cNvSpPr>
          <p:nvPr>
            <p:ph type="dt" sz="half" idx="10"/>
          </p:nvPr>
        </p:nvSpPr>
        <p:spPr/>
        <p:txBody>
          <a:bodyPr/>
          <a:lstStyle>
            <a:lvl1pPr>
              <a:defRPr/>
            </a:lvl1pPr>
          </a:lstStyle>
          <a:p>
            <a:endParaRPr lang="zh-CN" altLang="zh-CN"/>
          </a:p>
        </p:txBody>
      </p:sp>
      <p:sp>
        <p:nvSpPr>
          <p:cNvPr id="5" name="页脚占位符 4"/>
          <p:cNvSpPr>
            <a:spLocks noGrp="1"/>
          </p:cNvSpPr>
          <p:nvPr>
            <p:ph type="ftr" sz="quarter" idx="11"/>
          </p:nvPr>
        </p:nvSpPr>
        <p:spPr/>
        <p:txBody>
          <a:bodyPr/>
          <a:lstStyle>
            <a:lvl1pPr>
              <a:defRPr/>
            </a:lvl1pPr>
          </a:lstStyle>
          <a:p>
            <a:endParaRPr lang="zh-CN" altLang="zh-CN"/>
          </a:p>
        </p:txBody>
      </p:sp>
      <p:sp>
        <p:nvSpPr>
          <p:cNvPr id="6" name="灯片编号占位符 5"/>
          <p:cNvSpPr>
            <a:spLocks noGrp="1"/>
          </p:cNvSpPr>
          <p:nvPr>
            <p:ph type="sldNum" sz="quarter" idx="12"/>
          </p:nvPr>
        </p:nvSpPr>
        <p:spPr/>
        <p:txBody>
          <a:bodyPr/>
          <a:lstStyle>
            <a:lvl1pPr>
              <a:defRPr/>
            </a:lvl1pPr>
          </a:lstStyle>
          <a:p>
            <a:fld id="{947882EB-FC90-46FF-88D7-D59A40AEC8CA}" type="slidenum">
              <a:rPr lang="zh-CN" altLang="en-US"/>
              <a:pPr/>
              <a:t>‹#›</a:t>
            </a:fld>
            <a:endParaRPr lang="en-US" altLang="zh-CN" sz="1800" b="1"/>
          </a:p>
        </p:txBody>
      </p:sp>
    </p:spTree>
    <p:extLst>
      <p:ext uri="{BB962C8B-B14F-4D97-AF65-F5344CB8AC3E}">
        <p14:creationId xmlns:p14="http://schemas.microsoft.com/office/powerpoint/2010/main" val="10339827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341438"/>
            <a:ext cx="4038600" cy="478472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41438"/>
            <a:ext cx="4038600" cy="478472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defRPr/>
            </a:lvl1pPr>
          </a:lstStyle>
          <a:p>
            <a:endParaRPr lang="zh-CN" altLang="zh-CN"/>
          </a:p>
        </p:txBody>
      </p:sp>
      <p:sp>
        <p:nvSpPr>
          <p:cNvPr id="6" name="页脚占位符 5"/>
          <p:cNvSpPr>
            <a:spLocks noGrp="1"/>
          </p:cNvSpPr>
          <p:nvPr>
            <p:ph type="ftr" sz="quarter" idx="11"/>
          </p:nvPr>
        </p:nvSpPr>
        <p:spPr/>
        <p:txBody>
          <a:bodyPr/>
          <a:lstStyle>
            <a:lvl1pPr>
              <a:defRPr/>
            </a:lvl1pPr>
          </a:lstStyle>
          <a:p>
            <a:endParaRPr lang="zh-CN" altLang="zh-CN"/>
          </a:p>
        </p:txBody>
      </p:sp>
      <p:sp>
        <p:nvSpPr>
          <p:cNvPr id="7" name="灯片编号占位符 6"/>
          <p:cNvSpPr>
            <a:spLocks noGrp="1"/>
          </p:cNvSpPr>
          <p:nvPr>
            <p:ph type="sldNum" sz="quarter" idx="12"/>
          </p:nvPr>
        </p:nvSpPr>
        <p:spPr/>
        <p:txBody>
          <a:bodyPr/>
          <a:lstStyle>
            <a:lvl1pPr>
              <a:defRPr/>
            </a:lvl1pPr>
          </a:lstStyle>
          <a:p>
            <a:fld id="{2D5CFD24-C807-4134-85BF-5FC064AA4B32}" type="slidenum">
              <a:rPr lang="zh-CN" altLang="en-US"/>
              <a:pPr/>
              <a:t>‹#›</a:t>
            </a:fld>
            <a:endParaRPr lang="en-US" altLang="zh-CN" sz="1800" b="1"/>
          </a:p>
        </p:txBody>
      </p:sp>
    </p:spTree>
    <p:extLst>
      <p:ext uri="{BB962C8B-B14F-4D97-AF65-F5344CB8AC3E}">
        <p14:creationId xmlns:p14="http://schemas.microsoft.com/office/powerpoint/2010/main" val="36516500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lvl1pPr>
              <a:defRPr/>
            </a:lvl1pPr>
          </a:lstStyle>
          <a:p>
            <a:endParaRPr lang="zh-CN" altLang="zh-CN"/>
          </a:p>
        </p:txBody>
      </p:sp>
      <p:sp>
        <p:nvSpPr>
          <p:cNvPr id="8" name="页脚占位符 7"/>
          <p:cNvSpPr>
            <a:spLocks noGrp="1"/>
          </p:cNvSpPr>
          <p:nvPr>
            <p:ph type="ftr" sz="quarter" idx="11"/>
          </p:nvPr>
        </p:nvSpPr>
        <p:spPr/>
        <p:txBody>
          <a:bodyPr/>
          <a:lstStyle>
            <a:lvl1pPr>
              <a:defRPr/>
            </a:lvl1pPr>
          </a:lstStyle>
          <a:p>
            <a:endParaRPr lang="zh-CN" altLang="zh-CN"/>
          </a:p>
        </p:txBody>
      </p:sp>
      <p:sp>
        <p:nvSpPr>
          <p:cNvPr id="9" name="灯片编号占位符 8"/>
          <p:cNvSpPr>
            <a:spLocks noGrp="1"/>
          </p:cNvSpPr>
          <p:nvPr>
            <p:ph type="sldNum" sz="quarter" idx="12"/>
          </p:nvPr>
        </p:nvSpPr>
        <p:spPr/>
        <p:txBody>
          <a:bodyPr/>
          <a:lstStyle>
            <a:lvl1pPr>
              <a:defRPr/>
            </a:lvl1pPr>
          </a:lstStyle>
          <a:p>
            <a:fld id="{18E265CE-5DB8-4BD2-B1C3-01529D893952}" type="slidenum">
              <a:rPr lang="zh-CN" altLang="en-US"/>
              <a:pPr/>
              <a:t>‹#›</a:t>
            </a:fld>
            <a:endParaRPr lang="en-US" altLang="zh-CN" sz="1800" b="1"/>
          </a:p>
        </p:txBody>
      </p:sp>
    </p:spTree>
    <p:extLst>
      <p:ext uri="{BB962C8B-B14F-4D97-AF65-F5344CB8AC3E}">
        <p14:creationId xmlns:p14="http://schemas.microsoft.com/office/powerpoint/2010/main" val="26942888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endParaRPr lang="zh-CN" altLang="zh-CN"/>
          </a:p>
        </p:txBody>
      </p:sp>
      <p:sp>
        <p:nvSpPr>
          <p:cNvPr id="4" name="页脚占位符 3"/>
          <p:cNvSpPr>
            <a:spLocks noGrp="1"/>
          </p:cNvSpPr>
          <p:nvPr>
            <p:ph type="ftr" sz="quarter" idx="11"/>
          </p:nvPr>
        </p:nvSpPr>
        <p:spPr/>
        <p:txBody>
          <a:bodyPr/>
          <a:lstStyle>
            <a:lvl1pPr>
              <a:defRPr/>
            </a:lvl1pPr>
          </a:lstStyle>
          <a:p>
            <a:endParaRPr lang="zh-CN" altLang="zh-CN"/>
          </a:p>
        </p:txBody>
      </p:sp>
      <p:sp>
        <p:nvSpPr>
          <p:cNvPr id="5" name="灯片编号占位符 4"/>
          <p:cNvSpPr>
            <a:spLocks noGrp="1"/>
          </p:cNvSpPr>
          <p:nvPr>
            <p:ph type="sldNum" sz="quarter" idx="12"/>
          </p:nvPr>
        </p:nvSpPr>
        <p:spPr/>
        <p:txBody>
          <a:bodyPr/>
          <a:lstStyle>
            <a:lvl1pPr>
              <a:defRPr/>
            </a:lvl1pPr>
          </a:lstStyle>
          <a:p>
            <a:fld id="{5AC26CD0-B05E-4C39-9E51-973A0CD06D23}" type="slidenum">
              <a:rPr lang="zh-CN" altLang="en-US"/>
              <a:pPr/>
              <a:t>‹#›</a:t>
            </a:fld>
            <a:endParaRPr lang="en-US" altLang="zh-CN" sz="1800" b="1"/>
          </a:p>
        </p:txBody>
      </p:sp>
    </p:spTree>
    <p:extLst>
      <p:ext uri="{BB962C8B-B14F-4D97-AF65-F5344CB8AC3E}">
        <p14:creationId xmlns:p14="http://schemas.microsoft.com/office/powerpoint/2010/main" val="5539488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zh-CN" altLang="zh-CN"/>
          </a:p>
        </p:txBody>
      </p:sp>
      <p:sp>
        <p:nvSpPr>
          <p:cNvPr id="3" name="页脚占位符 2"/>
          <p:cNvSpPr>
            <a:spLocks noGrp="1"/>
          </p:cNvSpPr>
          <p:nvPr>
            <p:ph type="ftr" sz="quarter" idx="11"/>
          </p:nvPr>
        </p:nvSpPr>
        <p:spPr/>
        <p:txBody>
          <a:bodyPr/>
          <a:lstStyle>
            <a:lvl1pPr>
              <a:defRPr/>
            </a:lvl1pPr>
          </a:lstStyle>
          <a:p>
            <a:endParaRPr lang="zh-CN" altLang="zh-CN"/>
          </a:p>
        </p:txBody>
      </p:sp>
      <p:sp>
        <p:nvSpPr>
          <p:cNvPr id="4" name="灯片编号占位符 3"/>
          <p:cNvSpPr>
            <a:spLocks noGrp="1"/>
          </p:cNvSpPr>
          <p:nvPr>
            <p:ph type="sldNum" sz="quarter" idx="12"/>
          </p:nvPr>
        </p:nvSpPr>
        <p:spPr/>
        <p:txBody>
          <a:bodyPr/>
          <a:lstStyle>
            <a:lvl1pPr>
              <a:defRPr/>
            </a:lvl1pPr>
          </a:lstStyle>
          <a:p>
            <a:fld id="{7BBA2A16-CFB7-42DC-A68D-08D0CE02F08E}" type="slidenum">
              <a:rPr lang="zh-CN" altLang="en-US"/>
              <a:pPr/>
              <a:t>‹#›</a:t>
            </a:fld>
            <a:endParaRPr lang="en-US" altLang="zh-CN" sz="1800" b="1"/>
          </a:p>
        </p:txBody>
      </p:sp>
    </p:spTree>
    <p:extLst>
      <p:ext uri="{BB962C8B-B14F-4D97-AF65-F5344CB8AC3E}">
        <p14:creationId xmlns:p14="http://schemas.microsoft.com/office/powerpoint/2010/main" val="40569326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lvl1pPr>
              <a:defRPr/>
            </a:lvl1pPr>
          </a:lstStyle>
          <a:p>
            <a:endParaRPr lang="zh-CN" altLang="zh-CN"/>
          </a:p>
        </p:txBody>
      </p:sp>
      <p:sp>
        <p:nvSpPr>
          <p:cNvPr id="6" name="页脚占位符 5"/>
          <p:cNvSpPr>
            <a:spLocks noGrp="1"/>
          </p:cNvSpPr>
          <p:nvPr>
            <p:ph type="ftr" sz="quarter" idx="11"/>
          </p:nvPr>
        </p:nvSpPr>
        <p:spPr/>
        <p:txBody>
          <a:bodyPr/>
          <a:lstStyle>
            <a:lvl1pPr>
              <a:defRPr/>
            </a:lvl1pPr>
          </a:lstStyle>
          <a:p>
            <a:endParaRPr lang="zh-CN" altLang="zh-CN"/>
          </a:p>
        </p:txBody>
      </p:sp>
      <p:sp>
        <p:nvSpPr>
          <p:cNvPr id="7" name="灯片编号占位符 6"/>
          <p:cNvSpPr>
            <a:spLocks noGrp="1"/>
          </p:cNvSpPr>
          <p:nvPr>
            <p:ph type="sldNum" sz="quarter" idx="12"/>
          </p:nvPr>
        </p:nvSpPr>
        <p:spPr/>
        <p:txBody>
          <a:bodyPr/>
          <a:lstStyle>
            <a:lvl1pPr>
              <a:defRPr/>
            </a:lvl1pPr>
          </a:lstStyle>
          <a:p>
            <a:fld id="{638539E1-F60A-4514-B189-0C7B6378F411}" type="slidenum">
              <a:rPr lang="zh-CN" altLang="en-US"/>
              <a:pPr/>
              <a:t>‹#›</a:t>
            </a:fld>
            <a:endParaRPr lang="en-US" altLang="zh-CN" sz="1800" b="1"/>
          </a:p>
        </p:txBody>
      </p:sp>
    </p:spTree>
    <p:extLst>
      <p:ext uri="{BB962C8B-B14F-4D97-AF65-F5344CB8AC3E}">
        <p14:creationId xmlns:p14="http://schemas.microsoft.com/office/powerpoint/2010/main" val="29461081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lvl1pPr>
              <a:defRPr/>
            </a:lvl1pPr>
          </a:lstStyle>
          <a:p>
            <a:endParaRPr lang="zh-CN" altLang="zh-CN"/>
          </a:p>
        </p:txBody>
      </p:sp>
      <p:sp>
        <p:nvSpPr>
          <p:cNvPr id="6" name="页脚占位符 5"/>
          <p:cNvSpPr>
            <a:spLocks noGrp="1"/>
          </p:cNvSpPr>
          <p:nvPr>
            <p:ph type="ftr" sz="quarter" idx="11"/>
          </p:nvPr>
        </p:nvSpPr>
        <p:spPr/>
        <p:txBody>
          <a:bodyPr/>
          <a:lstStyle>
            <a:lvl1pPr>
              <a:defRPr/>
            </a:lvl1pPr>
          </a:lstStyle>
          <a:p>
            <a:endParaRPr lang="zh-CN" altLang="zh-CN"/>
          </a:p>
        </p:txBody>
      </p:sp>
      <p:sp>
        <p:nvSpPr>
          <p:cNvPr id="7" name="灯片编号占位符 6"/>
          <p:cNvSpPr>
            <a:spLocks noGrp="1"/>
          </p:cNvSpPr>
          <p:nvPr>
            <p:ph type="sldNum" sz="quarter" idx="12"/>
          </p:nvPr>
        </p:nvSpPr>
        <p:spPr/>
        <p:txBody>
          <a:bodyPr/>
          <a:lstStyle>
            <a:lvl1pPr>
              <a:defRPr/>
            </a:lvl1pPr>
          </a:lstStyle>
          <a:p>
            <a:fld id="{4EC73D34-C293-4165-96B7-34844970386F}" type="slidenum">
              <a:rPr lang="zh-CN" altLang="en-US"/>
              <a:pPr/>
              <a:t>‹#›</a:t>
            </a:fld>
            <a:endParaRPr lang="en-US" altLang="zh-CN" sz="1800" b="1"/>
          </a:p>
        </p:txBody>
      </p:sp>
    </p:spTree>
    <p:extLst>
      <p:ext uri="{BB962C8B-B14F-4D97-AF65-F5344CB8AC3E}">
        <p14:creationId xmlns:p14="http://schemas.microsoft.com/office/powerpoint/2010/main" val="36311069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zh-CN" altLang="zh-CN"/>
          </a:p>
        </p:txBody>
      </p:sp>
      <p:sp>
        <p:nvSpPr>
          <p:cNvPr id="5" name="页脚占位符 4"/>
          <p:cNvSpPr>
            <a:spLocks noGrp="1"/>
          </p:cNvSpPr>
          <p:nvPr>
            <p:ph type="ftr" sz="quarter" idx="11"/>
          </p:nvPr>
        </p:nvSpPr>
        <p:spPr/>
        <p:txBody>
          <a:bodyPr/>
          <a:lstStyle>
            <a:lvl1pPr>
              <a:defRPr/>
            </a:lvl1pPr>
          </a:lstStyle>
          <a:p>
            <a:endParaRPr lang="zh-CN" altLang="zh-CN"/>
          </a:p>
        </p:txBody>
      </p:sp>
      <p:sp>
        <p:nvSpPr>
          <p:cNvPr id="6" name="灯片编号占位符 5"/>
          <p:cNvSpPr>
            <a:spLocks noGrp="1"/>
          </p:cNvSpPr>
          <p:nvPr>
            <p:ph type="sldNum" sz="quarter" idx="12"/>
          </p:nvPr>
        </p:nvSpPr>
        <p:spPr/>
        <p:txBody>
          <a:bodyPr/>
          <a:lstStyle>
            <a:lvl1pPr>
              <a:defRPr/>
            </a:lvl1pPr>
          </a:lstStyle>
          <a:p>
            <a:fld id="{D2329A34-76F8-4291-867B-9BE9D33B1EA5}" type="slidenum">
              <a:rPr lang="zh-CN" altLang="en-US"/>
              <a:pPr/>
              <a:t>‹#›</a:t>
            </a:fld>
            <a:endParaRPr lang="en-US" altLang="zh-CN" sz="1800" b="1"/>
          </a:p>
        </p:txBody>
      </p:sp>
    </p:spTree>
    <p:extLst>
      <p:ext uri="{BB962C8B-B14F-4D97-AF65-F5344CB8AC3E}">
        <p14:creationId xmlns:p14="http://schemas.microsoft.com/office/powerpoint/2010/main" val="42641899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38925" y="333375"/>
            <a:ext cx="2058988" cy="579278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333375"/>
            <a:ext cx="6029325" cy="579278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zh-CN" altLang="zh-CN"/>
          </a:p>
        </p:txBody>
      </p:sp>
      <p:sp>
        <p:nvSpPr>
          <p:cNvPr id="5" name="页脚占位符 4"/>
          <p:cNvSpPr>
            <a:spLocks noGrp="1"/>
          </p:cNvSpPr>
          <p:nvPr>
            <p:ph type="ftr" sz="quarter" idx="11"/>
          </p:nvPr>
        </p:nvSpPr>
        <p:spPr/>
        <p:txBody>
          <a:bodyPr/>
          <a:lstStyle>
            <a:lvl1pPr>
              <a:defRPr/>
            </a:lvl1pPr>
          </a:lstStyle>
          <a:p>
            <a:endParaRPr lang="zh-CN" altLang="zh-CN"/>
          </a:p>
        </p:txBody>
      </p:sp>
      <p:sp>
        <p:nvSpPr>
          <p:cNvPr id="6" name="灯片编号占位符 5"/>
          <p:cNvSpPr>
            <a:spLocks noGrp="1"/>
          </p:cNvSpPr>
          <p:nvPr>
            <p:ph type="sldNum" sz="quarter" idx="12"/>
          </p:nvPr>
        </p:nvSpPr>
        <p:spPr/>
        <p:txBody>
          <a:bodyPr/>
          <a:lstStyle>
            <a:lvl1pPr>
              <a:defRPr/>
            </a:lvl1pPr>
          </a:lstStyle>
          <a:p>
            <a:fld id="{7B52D9E8-37E5-4470-A149-741BDBFF8CEE}" type="slidenum">
              <a:rPr lang="zh-CN" altLang="en-US"/>
              <a:pPr/>
              <a:t>‹#›</a:t>
            </a:fld>
            <a:endParaRPr lang="en-US" altLang="zh-CN" sz="1800" b="1"/>
          </a:p>
        </p:txBody>
      </p:sp>
    </p:spTree>
    <p:extLst>
      <p:ext uri="{BB962C8B-B14F-4D97-AF65-F5344CB8AC3E}">
        <p14:creationId xmlns:p14="http://schemas.microsoft.com/office/powerpoint/2010/main" val="4093504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lvl1pPr>
              <a:defRPr/>
            </a:lvl1pPr>
          </a:lstStyle>
          <a:p>
            <a:endParaRPr lang="zh-CN" altLang="zh-CN"/>
          </a:p>
        </p:txBody>
      </p:sp>
      <p:sp>
        <p:nvSpPr>
          <p:cNvPr id="5" name="页脚占位符 4"/>
          <p:cNvSpPr>
            <a:spLocks noGrp="1"/>
          </p:cNvSpPr>
          <p:nvPr>
            <p:ph type="ftr" sz="quarter" idx="11"/>
          </p:nvPr>
        </p:nvSpPr>
        <p:spPr/>
        <p:txBody>
          <a:bodyPr/>
          <a:lstStyle>
            <a:lvl1pPr>
              <a:defRPr/>
            </a:lvl1pPr>
          </a:lstStyle>
          <a:p>
            <a:endParaRPr lang="zh-CN" altLang="zh-CN"/>
          </a:p>
        </p:txBody>
      </p:sp>
      <p:sp>
        <p:nvSpPr>
          <p:cNvPr id="6" name="灯片编号占位符 5"/>
          <p:cNvSpPr>
            <a:spLocks noGrp="1"/>
          </p:cNvSpPr>
          <p:nvPr>
            <p:ph type="sldNum" sz="quarter" idx="12"/>
          </p:nvPr>
        </p:nvSpPr>
        <p:spPr/>
        <p:txBody>
          <a:bodyPr/>
          <a:lstStyle>
            <a:lvl1pPr>
              <a:defRPr/>
            </a:lvl1pPr>
          </a:lstStyle>
          <a:p>
            <a:fld id="{0F516AB2-DE2F-41EC-967D-CAE9071D2D3F}" type="slidenum">
              <a:rPr lang="zh-CN" altLang="en-US"/>
              <a:pPr/>
              <a:t>‹#›</a:t>
            </a:fld>
            <a:endParaRPr lang="en-US" altLang="zh-CN" sz="1800" b="1"/>
          </a:p>
        </p:txBody>
      </p:sp>
    </p:spTree>
    <p:extLst>
      <p:ext uri="{BB962C8B-B14F-4D97-AF65-F5344CB8AC3E}">
        <p14:creationId xmlns:p14="http://schemas.microsoft.com/office/powerpoint/2010/main" val="18301162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zh-CN" altLang="zh-CN"/>
          </a:p>
        </p:txBody>
      </p:sp>
      <p:sp>
        <p:nvSpPr>
          <p:cNvPr id="5" name="页脚占位符 4"/>
          <p:cNvSpPr>
            <a:spLocks noGrp="1"/>
          </p:cNvSpPr>
          <p:nvPr>
            <p:ph type="ftr" sz="quarter" idx="11"/>
          </p:nvPr>
        </p:nvSpPr>
        <p:spPr/>
        <p:txBody>
          <a:bodyPr/>
          <a:lstStyle>
            <a:lvl1pPr>
              <a:defRPr/>
            </a:lvl1pPr>
          </a:lstStyle>
          <a:p>
            <a:endParaRPr lang="zh-CN" altLang="zh-CN"/>
          </a:p>
        </p:txBody>
      </p:sp>
      <p:sp>
        <p:nvSpPr>
          <p:cNvPr id="6" name="灯片编号占位符 5"/>
          <p:cNvSpPr>
            <a:spLocks noGrp="1"/>
          </p:cNvSpPr>
          <p:nvPr>
            <p:ph type="sldNum" sz="quarter" idx="12"/>
          </p:nvPr>
        </p:nvSpPr>
        <p:spPr/>
        <p:txBody>
          <a:bodyPr/>
          <a:lstStyle>
            <a:lvl1pPr>
              <a:defRPr/>
            </a:lvl1pPr>
          </a:lstStyle>
          <a:p>
            <a:fld id="{E1867585-7BB4-489B-9294-BCFEDA7E38D8}" type="slidenum">
              <a:rPr lang="zh-CN" altLang="en-US"/>
              <a:pPr/>
              <a:t>‹#›</a:t>
            </a:fld>
            <a:endParaRPr lang="en-US" altLang="zh-CN" sz="1800" b="1"/>
          </a:p>
        </p:txBody>
      </p:sp>
    </p:spTree>
    <p:extLst>
      <p:ext uri="{BB962C8B-B14F-4D97-AF65-F5344CB8AC3E}">
        <p14:creationId xmlns:p14="http://schemas.microsoft.com/office/powerpoint/2010/main" val="40669153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4" name="日期占位符 3"/>
          <p:cNvSpPr>
            <a:spLocks noGrp="1"/>
          </p:cNvSpPr>
          <p:nvPr>
            <p:ph type="dt" sz="half" idx="10"/>
          </p:nvPr>
        </p:nvSpPr>
        <p:spPr/>
        <p:txBody>
          <a:bodyPr/>
          <a:lstStyle>
            <a:lvl1pPr>
              <a:defRPr/>
            </a:lvl1pPr>
          </a:lstStyle>
          <a:p>
            <a:endParaRPr lang="zh-CN" altLang="zh-CN"/>
          </a:p>
        </p:txBody>
      </p:sp>
      <p:sp>
        <p:nvSpPr>
          <p:cNvPr id="5" name="页脚占位符 4"/>
          <p:cNvSpPr>
            <a:spLocks noGrp="1"/>
          </p:cNvSpPr>
          <p:nvPr>
            <p:ph type="ftr" sz="quarter" idx="11"/>
          </p:nvPr>
        </p:nvSpPr>
        <p:spPr/>
        <p:txBody>
          <a:bodyPr/>
          <a:lstStyle>
            <a:lvl1pPr>
              <a:defRPr/>
            </a:lvl1pPr>
          </a:lstStyle>
          <a:p>
            <a:endParaRPr lang="zh-CN" altLang="zh-CN"/>
          </a:p>
        </p:txBody>
      </p:sp>
      <p:sp>
        <p:nvSpPr>
          <p:cNvPr id="6" name="灯片编号占位符 5"/>
          <p:cNvSpPr>
            <a:spLocks noGrp="1"/>
          </p:cNvSpPr>
          <p:nvPr>
            <p:ph type="sldNum" sz="quarter" idx="12"/>
          </p:nvPr>
        </p:nvSpPr>
        <p:spPr/>
        <p:txBody>
          <a:bodyPr/>
          <a:lstStyle>
            <a:lvl1pPr>
              <a:defRPr/>
            </a:lvl1pPr>
          </a:lstStyle>
          <a:p>
            <a:fld id="{8FB0F3E1-6E7D-4CC6-AAB0-F47BC1E11CCF}" type="slidenum">
              <a:rPr lang="zh-CN" altLang="en-US"/>
              <a:pPr/>
              <a:t>‹#›</a:t>
            </a:fld>
            <a:endParaRPr lang="en-US" altLang="zh-CN" sz="1800" b="1"/>
          </a:p>
        </p:txBody>
      </p:sp>
    </p:spTree>
    <p:extLst>
      <p:ext uri="{BB962C8B-B14F-4D97-AF65-F5344CB8AC3E}">
        <p14:creationId xmlns:p14="http://schemas.microsoft.com/office/powerpoint/2010/main" val="899911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341438"/>
            <a:ext cx="4038600" cy="478472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41438"/>
            <a:ext cx="4038600" cy="478472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defRPr/>
            </a:lvl1pPr>
          </a:lstStyle>
          <a:p>
            <a:endParaRPr lang="zh-CN" altLang="zh-CN"/>
          </a:p>
        </p:txBody>
      </p:sp>
      <p:sp>
        <p:nvSpPr>
          <p:cNvPr id="6" name="页脚占位符 5"/>
          <p:cNvSpPr>
            <a:spLocks noGrp="1"/>
          </p:cNvSpPr>
          <p:nvPr>
            <p:ph type="ftr" sz="quarter" idx="11"/>
          </p:nvPr>
        </p:nvSpPr>
        <p:spPr/>
        <p:txBody>
          <a:bodyPr/>
          <a:lstStyle>
            <a:lvl1pPr>
              <a:defRPr/>
            </a:lvl1pPr>
          </a:lstStyle>
          <a:p>
            <a:endParaRPr lang="zh-CN" altLang="zh-CN"/>
          </a:p>
        </p:txBody>
      </p:sp>
      <p:sp>
        <p:nvSpPr>
          <p:cNvPr id="7" name="灯片编号占位符 6"/>
          <p:cNvSpPr>
            <a:spLocks noGrp="1"/>
          </p:cNvSpPr>
          <p:nvPr>
            <p:ph type="sldNum" sz="quarter" idx="12"/>
          </p:nvPr>
        </p:nvSpPr>
        <p:spPr/>
        <p:txBody>
          <a:bodyPr/>
          <a:lstStyle>
            <a:lvl1pPr>
              <a:defRPr/>
            </a:lvl1pPr>
          </a:lstStyle>
          <a:p>
            <a:fld id="{67C92EEE-23B1-4A7F-BD41-1E30AD8C7033}" type="slidenum">
              <a:rPr lang="zh-CN" altLang="en-US"/>
              <a:pPr/>
              <a:t>‹#›</a:t>
            </a:fld>
            <a:endParaRPr lang="en-US" altLang="zh-CN" sz="1800" b="1"/>
          </a:p>
        </p:txBody>
      </p:sp>
    </p:spTree>
    <p:extLst>
      <p:ext uri="{BB962C8B-B14F-4D97-AF65-F5344CB8AC3E}">
        <p14:creationId xmlns:p14="http://schemas.microsoft.com/office/powerpoint/2010/main" val="29299154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lvl1pPr>
              <a:defRPr/>
            </a:lvl1pPr>
          </a:lstStyle>
          <a:p>
            <a:endParaRPr lang="zh-CN" altLang="zh-CN"/>
          </a:p>
        </p:txBody>
      </p:sp>
      <p:sp>
        <p:nvSpPr>
          <p:cNvPr id="8" name="页脚占位符 7"/>
          <p:cNvSpPr>
            <a:spLocks noGrp="1"/>
          </p:cNvSpPr>
          <p:nvPr>
            <p:ph type="ftr" sz="quarter" idx="11"/>
          </p:nvPr>
        </p:nvSpPr>
        <p:spPr/>
        <p:txBody>
          <a:bodyPr/>
          <a:lstStyle>
            <a:lvl1pPr>
              <a:defRPr/>
            </a:lvl1pPr>
          </a:lstStyle>
          <a:p>
            <a:endParaRPr lang="zh-CN" altLang="zh-CN"/>
          </a:p>
        </p:txBody>
      </p:sp>
      <p:sp>
        <p:nvSpPr>
          <p:cNvPr id="9" name="灯片编号占位符 8"/>
          <p:cNvSpPr>
            <a:spLocks noGrp="1"/>
          </p:cNvSpPr>
          <p:nvPr>
            <p:ph type="sldNum" sz="quarter" idx="12"/>
          </p:nvPr>
        </p:nvSpPr>
        <p:spPr/>
        <p:txBody>
          <a:bodyPr/>
          <a:lstStyle>
            <a:lvl1pPr>
              <a:defRPr/>
            </a:lvl1pPr>
          </a:lstStyle>
          <a:p>
            <a:fld id="{FC321F26-3046-4968-AE94-51D9B79D53BB}" type="slidenum">
              <a:rPr lang="zh-CN" altLang="en-US"/>
              <a:pPr/>
              <a:t>‹#›</a:t>
            </a:fld>
            <a:endParaRPr lang="en-US" altLang="zh-CN" sz="1800" b="1"/>
          </a:p>
        </p:txBody>
      </p:sp>
    </p:spTree>
    <p:extLst>
      <p:ext uri="{BB962C8B-B14F-4D97-AF65-F5344CB8AC3E}">
        <p14:creationId xmlns:p14="http://schemas.microsoft.com/office/powerpoint/2010/main" val="37457888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endParaRPr lang="zh-CN" altLang="zh-CN"/>
          </a:p>
        </p:txBody>
      </p:sp>
      <p:sp>
        <p:nvSpPr>
          <p:cNvPr id="4" name="页脚占位符 3"/>
          <p:cNvSpPr>
            <a:spLocks noGrp="1"/>
          </p:cNvSpPr>
          <p:nvPr>
            <p:ph type="ftr" sz="quarter" idx="11"/>
          </p:nvPr>
        </p:nvSpPr>
        <p:spPr/>
        <p:txBody>
          <a:bodyPr/>
          <a:lstStyle>
            <a:lvl1pPr>
              <a:defRPr/>
            </a:lvl1pPr>
          </a:lstStyle>
          <a:p>
            <a:endParaRPr lang="zh-CN" altLang="zh-CN"/>
          </a:p>
        </p:txBody>
      </p:sp>
      <p:sp>
        <p:nvSpPr>
          <p:cNvPr id="5" name="灯片编号占位符 4"/>
          <p:cNvSpPr>
            <a:spLocks noGrp="1"/>
          </p:cNvSpPr>
          <p:nvPr>
            <p:ph type="sldNum" sz="quarter" idx="12"/>
          </p:nvPr>
        </p:nvSpPr>
        <p:spPr/>
        <p:txBody>
          <a:bodyPr/>
          <a:lstStyle>
            <a:lvl1pPr>
              <a:defRPr/>
            </a:lvl1pPr>
          </a:lstStyle>
          <a:p>
            <a:fld id="{F1BFCD71-20B1-4691-8CC9-81C86157FE4E}" type="slidenum">
              <a:rPr lang="zh-CN" altLang="en-US"/>
              <a:pPr/>
              <a:t>‹#›</a:t>
            </a:fld>
            <a:endParaRPr lang="en-US" altLang="zh-CN" sz="1800" b="1"/>
          </a:p>
        </p:txBody>
      </p:sp>
    </p:spTree>
    <p:extLst>
      <p:ext uri="{BB962C8B-B14F-4D97-AF65-F5344CB8AC3E}">
        <p14:creationId xmlns:p14="http://schemas.microsoft.com/office/powerpoint/2010/main" val="417552732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zh-CN" altLang="zh-CN"/>
          </a:p>
        </p:txBody>
      </p:sp>
      <p:sp>
        <p:nvSpPr>
          <p:cNvPr id="3" name="页脚占位符 2"/>
          <p:cNvSpPr>
            <a:spLocks noGrp="1"/>
          </p:cNvSpPr>
          <p:nvPr>
            <p:ph type="ftr" sz="quarter" idx="11"/>
          </p:nvPr>
        </p:nvSpPr>
        <p:spPr/>
        <p:txBody>
          <a:bodyPr/>
          <a:lstStyle>
            <a:lvl1pPr>
              <a:defRPr/>
            </a:lvl1pPr>
          </a:lstStyle>
          <a:p>
            <a:endParaRPr lang="zh-CN" altLang="zh-CN"/>
          </a:p>
        </p:txBody>
      </p:sp>
      <p:sp>
        <p:nvSpPr>
          <p:cNvPr id="4" name="灯片编号占位符 3"/>
          <p:cNvSpPr>
            <a:spLocks noGrp="1"/>
          </p:cNvSpPr>
          <p:nvPr>
            <p:ph type="sldNum" sz="quarter" idx="12"/>
          </p:nvPr>
        </p:nvSpPr>
        <p:spPr/>
        <p:txBody>
          <a:bodyPr/>
          <a:lstStyle>
            <a:lvl1pPr>
              <a:defRPr/>
            </a:lvl1pPr>
          </a:lstStyle>
          <a:p>
            <a:fld id="{DDA26532-B5C2-4BB3-80E3-8E42F643E28B}" type="slidenum">
              <a:rPr lang="zh-CN" altLang="en-US"/>
              <a:pPr/>
              <a:t>‹#›</a:t>
            </a:fld>
            <a:endParaRPr lang="en-US" altLang="zh-CN" sz="1800" b="1"/>
          </a:p>
        </p:txBody>
      </p:sp>
    </p:spTree>
    <p:extLst>
      <p:ext uri="{BB962C8B-B14F-4D97-AF65-F5344CB8AC3E}">
        <p14:creationId xmlns:p14="http://schemas.microsoft.com/office/powerpoint/2010/main" val="6290638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lvl1pPr>
              <a:defRPr/>
            </a:lvl1pPr>
          </a:lstStyle>
          <a:p>
            <a:endParaRPr lang="zh-CN" altLang="zh-CN"/>
          </a:p>
        </p:txBody>
      </p:sp>
      <p:sp>
        <p:nvSpPr>
          <p:cNvPr id="6" name="页脚占位符 5"/>
          <p:cNvSpPr>
            <a:spLocks noGrp="1"/>
          </p:cNvSpPr>
          <p:nvPr>
            <p:ph type="ftr" sz="quarter" idx="11"/>
          </p:nvPr>
        </p:nvSpPr>
        <p:spPr/>
        <p:txBody>
          <a:bodyPr/>
          <a:lstStyle>
            <a:lvl1pPr>
              <a:defRPr/>
            </a:lvl1pPr>
          </a:lstStyle>
          <a:p>
            <a:endParaRPr lang="zh-CN" altLang="zh-CN"/>
          </a:p>
        </p:txBody>
      </p:sp>
      <p:sp>
        <p:nvSpPr>
          <p:cNvPr id="7" name="灯片编号占位符 6"/>
          <p:cNvSpPr>
            <a:spLocks noGrp="1"/>
          </p:cNvSpPr>
          <p:nvPr>
            <p:ph type="sldNum" sz="quarter" idx="12"/>
          </p:nvPr>
        </p:nvSpPr>
        <p:spPr/>
        <p:txBody>
          <a:bodyPr/>
          <a:lstStyle>
            <a:lvl1pPr>
              <a:defRPr/>
            </a:lvl1pPr>
          </a:lstStyle>
          <a:p>
            <a:fld id="{55CC7E60-CDBC-4B07-ADDB-9CC5CE80D7AE}" type="slidenum">
              <a:rPr lang="zh-CN" altLang="en-US"/>
              <a:pPr/>
              <a:t>‹#›</a:t>
            </a:fld>
            <a:endParaRPr lang="en-US" altLang="zh-CN" sz="1800" b="1"/>
          </a:p>
        </p:txBody>
      </p:sp>
    </p:spTree>
    <p:extLst>
      <p:ext uri="{BB962C8B-B14F-4D97-AF65-F5344CB8AC3E}">
        <p14:creationId xmlns:p14="http://schemas.microsoft.com/office/powerpoint/2010/main" val="190958411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lvl1pPr>
              <a:defRPr/>
            </a:lvl1pPr>
          </a:lstStyle>
          <a:p>
            <a:endParaRPr lang="zh-CN" altLang="zh-CN"/>
          </a:p>
        </p:txBody>
      </p:sp>
      <p:sp>
        <p:nvSpPr>
          <p:cNvPr id="6" name="页脚占位符 5"/>
          <p:cNvSpPr>
            <a:spLocks noGrp="1"/>
          </p:cNvSpPr>
          <p:nvPr>
            <p:ph type="ftr" sz="quarter" idx="11"/>
          </p:nvPr>
        </p:nvSpPr>
        <p:spPr/>
        <p:txBody>
          <a:bodyPr/>
          <a:lstStyle>
            <a:lvl1pPr>
              <a:defRPr/>
            </a:lvl1pPr>
          </a:lstStyle>
          <a:p>
            <a:endParaRPr lang="zh-CN" altLang="zh-CN"/>
          </a:p>
        </p:txBody>
      </p:sp>
      <p:sp>
        <p:nvSpPr>
          <p:cNvPr id="7" name="灯片编号占位符 6"/>
          <p:cNvSpPr>
            <a:spLocks noGrp="1"/>
          </p:cNvSpPr>
          <p:nvPr>
            <p:ph type="sldNum" sz="quarter" idx="12"/>
          </p:nvPr>
        </p:nvSpPr>
        <p:spPr/>
        <p:txBody>
          <a:bodyPr/>
          <a:lstStyle>
            <a:lvl1pPr>
              <a:defRPr/>
            </a:lvl1pPr>
          </a:lstStyle>
          <a:p>
            <a:fld id="{872A4F74-24F1-4C17-8618-7C1E9395D941}" type="slidenum">
              <a:rPr lang="zh-CN" altLang="en-US"/>
              <a:pPr/>
              <a:t>‹#›</a:t>
            </a:fld>
            <a:endParaRPr lang="en-US" altLang="zh-CN" sz="1800" b="1"/>
          </a:p>
        </p:txBody>
      </p:sp>
    </p:spTree>
    <p:extLst>
      <p:ext uri="{BB962C8B-B14F-4D97-AF65-F5344CB8AC3E}">
        <p14:creationId xmlns:p14="http://schemas.microsoft.com/office/powerpoint/2010/main" val="239602087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zh-CN" altLang="zh-CN"/>
          </a:p>
        </p:txBody>
      </p:sp>
      <p:sp>
        <p:nvSpPr>
          <p:cNvPr id="5" name="页脚占位符 4"/>
          <p:cNvSpPr>
            <a:spLocks noGrp="1"/>
          </p:cNvSpPr>
          <p:nvPr>
            <p:ph type="ftr" sz="quarter" idx="11"/>
          </p:nvPr>
        </p:nvSpPr>
        <p:spPr/>
        <p:txBody>
          <a:bodyPr/>
          <a:lstStyle>
            <a:lvl1pPr>
              <a:defRPr/>
            </a:lvl1pPr>
          </a:lstStyle>
          <a:p>
            <a:endParaRPr lang="zh-CN" altLang="zh-CN"/>
          </a:p>
        </p:txBody>
      </p:sp>
      <p:sp>
        <p:nvSpPr>
          <p:cNvPr id="6" name="灯片编号占位符 5"/>
          <p:cNvSpPr>
            <a:spLocks noGrp="1"/>
          </p:cNvSpPr>
          <p:nvPr>
            <p:ph type="sldNum" sz="quarter" idx="12"/>
          </p:nvPr>
        </p:nvSpPr>
        <p:spPr/>
        <p:txBody>
          <a:bodyPr/>
          <a:lstStyle>
            <a:lvl1pPr>
              <a:defRPr/>
            </a:lvl1pPr>
          </a:lstStyle>
          <a:p>
            <a:fld id="{D4A08A40-FE78-421A-B922-723AAAF53D4B}" type="slidenum">
              <a:rPr lang="zh-CN" altLang="en-US"/>
              <a:pPr/>
              <a:t>‹#›</a:t>
            </a:fld>
            <a:endParaRPr lang="en-US" altLang="zh-CN" sz="1800" b="1"/>
          </a:p>
        </p:txBody>
      </p:sp>
    </p:spTree>
    <p:extLst>
      <p:ext uri="{BB962C8B-B14F-4D97-AF65-F5344CB8AC3E}">
        <p14:creationId xmlns:p14="http://schemas.microsoft.com/office/powerpoint/2010/main" val="213809831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38925" y="333375"/>
            <a:ext cx="2058988" cy="579278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333375"/>
            <a:ext cx="6029325" cy="579278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zh-CN" altLang="zh-CN"/>
          </a:p>
        </p:txBody>
      </p:sp>
      <p:sp>
        <p:nvSpPr>
          <p:cNvPr id="5" name="页脚占位符 4"/>
          <p:cNvSpPr>
            <a:spLocks noGrp="1"/>
          </p:cNvSpPr>
          <p:nvPr>
            <p:ph type="ftr" sz="quarter" idx="11"/>
          </p:nvPr>
        </p:nvSpPr>
        <p:spPr/>
        <p:txBody>
          <a:bodyPr/>
          <a:lstStyle>
            <a:lvl1pPr>
              <a:defRPr/>
            </a:lvl1pPr>
          </a:lstStyle>
          <a:p>
            <a:endParaRPr lang="zh-CN" altLang="zh-CN"/>
          </a:p>
        </p:txBody>
      </p:sp>
      <p:sp>
        <p:nvSpPr>
          <p:cNvPr id="6" name="灯片编号占位符 5"/>
          <p:cNvSpPr>
            <a:spLocks noGrp="1"/>
          </p:cNvSpPr>
          <p:nvPr>
            <p:ph type="sldNum" sz="quarter" idx="12"/>
          </p:nvPr>
        </p:nvSpPr>
        <p:spPr/>
        <p:txBody>
          <a:bodyPr/>
          <a:lstStyle>
            <a:lvl1pPr>
              <a:defRPr/>
            </a:lvl1pPr>
          </a:lstStyle>
          <a:p>
            <a:fld id="{02456F17-04E0-4C5D-A2EB-55CD6C9AF441}" type="slidenum">
              <a:rPr lang="zh-CN" altLang="en-US"/>
              <a:pPr/>
              <a:t>‹#›</a:t>
            </a:fld>
            <a:endParaRPr lang="en-US" altLang="zh-CN" sz="1800" b="1"/>
          </a:p>
        </p:txBody>
      </p:sp>
    </p:spTree>
    <p:extLst>
      <p:ext uri="{BB962C8B-B14F-4D97-AF65-F5344CB8AC3E}">
        <p14:creationId xmlns:p14="http://schemas.microsoft.com/office/powerpoint/2010/main" val="18935934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idx="4294967295"/>
          </p:nvPr>
        </p:nvSpPr>
        <p:spPr bwMode="auto">
          <a:xfrm>
            <a:off x="468313" y="3333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zh-CN">
                <a:sym typeface="Arial" panose="020B0604020202020204" pitchFamily="34" charset="0"/>
              </a:rPr>
              <a:t>单击此处编辑母版标题样式</a:t>
            </a:r>
          </a:p>
        </p:txBody>
      </p:sp>
      <p:sp>
        <p:nvSpPr>
          <p:cNvPr id="1027" name="Rectangle 3"/>
          <p:cNvSpPr>
            <a:spLocks noGrp="1" noChangeArrowheads="1"/>
          </p:cNvSpPr>
          <p:nvPr>
            <p:ph type="body" idx="1"/>
          </p:nvPr>
        </p:nvSpPr>
        <p:spPr bwMode="auto">
          <a:xfrm>
            <a:off x="457200" y="1341438"/>
            <a:ext cx="8229600" cy="478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zh-CN">
                <a:sym typeface="Arial" panose="020B0604020202020204" pitchFamily="34" charset="0"/>
              </a:rPr>
              <a:t>单击此处编辑母版文本样式</a:t>
            </a:r>
          </a:p>
          <a:p>
            <a:pPr lvl="1"/>
            <a:r>
              <a:rPr lang="zh-CN" altLang="zh-CN">
                <a:sym typeface="Arial" panose="020B0604020202020204" pitchFamily="34" charset="0"/>
              </a:rPr>
              <a:t>第二级</a:t>
            </a:r>
          </a:p>
          <a:p>
            <a:pPr lvl="2"/>
            <a:r>
              <a:rPr lang="zh-CN" altLang="zh-CN">
                <a:sym typeface="Arial" panose="020B0604020202020204" pitchFamily="34" charset="0"/>
              </a:rPr>
              <a:t>第三级</a:t>
            </a:r>
          </a:p>
          <a:p>
            <a:pPr lvl="3"/>
            <a:r>
              <a:rPr lang="zh-CN" altLang="zh-CN">
                <a:sym typeface="Arial" panose="020B0604020202020204" pitchFamily="34" charset="0"/>
              </a:rPr>
              <a:t>第四级</a:t>
            </a:r>
          </a:p>
          <a:p>
            <a:pPr lvl="4"/>
            <a:r>
              <a:rPr lang="zh-CN" altLang="zh-CN">
                <a:sym typeface="Arial" panose="020B0604020202020204" pitchFamily="34" charset="0"/>
              </a:rPr>
              <a:t>第五级</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1400" b="0">
                <a:sym typeface="Arial" panose="020B0604020202020204" pitchFamily="34" charset="0"/>
              </a:defRPr>
            </a:lvl1pPr>
          </a:lstStyle>
          <a:p>
            <a:endParaRPr lang="zh-CN" altLang="zh-CN"/>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ctr">
              <a:defRPr sz="1400" b="0">
                <a:sym typeface="Arial" panose="020B0604020202020204" pitchFamily="34" charset="0"/>
              </a:defRPr>
            </a:lvl1pPr>
          </a:lstStyle>
          <a:p>
            <a:endParaRPr lang="zh-CN" altLang="zh-CN"/>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sz="1400" b="0">
                <a:sym typeface="Arial" panose="020B0604020202020204" pitchFamily="34" charset="0"/>
              </a:defRPr>
            </a:lvl1pPr>
          </a:lstStyle>
          <a:p>
            <a:fld id="{1BE6003D-AE5F-4849-9835-B11AB06EF5FD}" type="slidenum">
              <a:rPr lang="zh-CN" altLang="en-US"/>
              <a:pPr/>
              <a:t>‹#›</a:t>
            </a:fld>
            <a:endParaRPr lang="en-US" altLang="zh-CN" sz="1800" b="1"/>
          </a:p>
        </p:txBody>
      </p:sp>
    </p:spTree>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51" r:id="rId6"/>
    <p:sldLayoutId id="2147483752" r:id="rId7"/>
    <p:sldLayoutId id="2147483753" r:id="rId8"/>
    <p:sldLayoutId id="2147483754" r:id="rId9"/>
    <p:sldLayoutId id="2147483755" r:id="rId10"/>
    <p:sldLayoutId id="2147483756" r:id="rId11"/>
  </p:sldLayoutIdLst>
  <p:txStyles>
    <p:titleStyle>
      <a:lvl1pPr algn="l" rtl="0" eaLnBrk="0" fontAlgn="base" hangingPunct="0">
        <a:spcBef>
          <a:spcPct val="0"/>
        </a:spcBef>
        <a:spcAft>
          <a:spcPct val="0"/>
        </a:spcAft>
        <a:defRPr sz="3600" kern="1200">
          <a:solidFill>
            <a:schemeClr val="tx2"/>
          </a:solidFill>
          <a:latin typeface="+mj-lt"/>
          <a:ea typeface="+mj-ea"/>
          <a:cs typeface="+mj-cs"/>
          <a:sym typeface="Arial" panose="020B0604020202020204" pitchFamily="34" charset="0"/>
        </a:defRPr>
      </a:lvl1pPr>
      <a:lvl2pPr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sym typeface="Arial" panose="020B0604020202020204" pitchFamily="34" charset="0"/>
        </a:defRPr>
      </a:lvl2pPr>
      <a:lvl3pPr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sym typeface="Arial" panose="020B0604020202020204" pitchFamily="34" charset="0"/>
        </a:defRPr>
      </a:lvl3pPr>
      <a:lvl4pPr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sym typeface="Arial" panose="020B0604020202020204" pitchFamily="34" charset="0"/>
        </a:defRPr>
      </a:lvl4pPr>
      <a:lvl5pPr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sym typeface="Arial" panose="020B0604020202020204" pitchFamily="34" charset="0"/>
        </a:defRPr>
      </a:lvl5pPr>
      <a:lvl6pPr marL="457200"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sym typeface="Arial" panose="020B0604020202020204" pitchFamily="34" charset="0"/>
        </a:defRPr>
      </a:lvl6pPr>
      <a:lvl7pPr marL="914400"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sym typeface="Arial" panose="020B0604020202020204" pitchFamily="34" charset="0"/>
        </a:defRPr>
      </a:lvl7pPr>
      <a:lvl8pPr marL="1371600"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sym typeface="Arial" panose="020B0604020202020204" pitchFamily="34" charset="0"/>
        </a:defRPr>
      </a:lvl8pPr>
      <a:lvl9pPr marL="1828800"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sym typeface="Arial" panose="020B0604020202020204" pitchFamily="34" charset="0"/>
        </a:defRPr>
      </a:lvl9pPr>
    </p:titleStyle>
    <p:bodyStyle>
      <a:lvl1pPr marL="342900" indent="-342900" algn="l" defTabSz="0" rtl="0" eaLnBrk="0" fontAlgn="base" hangingPunct="0">
        <a:spcBef>
          <a:spcPct val="20000"/>
        </a:spcBef>
        <a:spcAft>
          <a:spcPct val="0"/>
        </a:spcAft>
        <a:buChar char="•"/>
        <a:defRPr sz="3200" b="1" kern="1200">
          <a:solidFill>
            <a:srgbClr val="CC0000"/>
          </a:solidFill>
          <a:latin typeface="+mn-lt"/>
          <a:ea typeface="+mn-ea"/>
          <a:cs typeface="+mn-cs"/>
          <a:sym typeface="Arial" panose="020B0604020202020204" pitchFamily="34" charset="0"/>
        </a:defRPr>
      </a:lvl1pPr>
      <a:lvl2pPr marL="742950" indent="-285750" algn="l" defTabSz="0" rtl="0" eaLnBrk="0" fontAlgn="base" hangingPunct="0">
        <a:spcBef>
          <a:spcPct val="20000"/>
        </a:spcBef>
        <a:spcAft>
          <a:spcPct val="0"/>
        </a:spcAft>
        <a:buChar char="–"/>
        <a:defRPr sz="2800" b="1" kern="1200">
          <a:solidFill>
            <a:schemeClr val="tx1"/>
          </a:solidFill>
          <a:latin typeface="+mn-lt"/>
          <a:ea typeface="+mn-ea"/>
          <a:cs typeface="+mn-cs"/>
          <a:sym typeface="Arial" panose="020B0604020202020204" pitchFamily="34" charset="0"/>
        </a:defRPr>
      </a:lvl2pPr>
      <a:lvl3pPr marL="1143000" indent="-228600" algn="l" defTabSz="0" rtl="0" eaLnBrk="0" fontAlgn="base" hangingPunct="0">
        <a:spcBef>
          <a:spcPct val="20000"/>
        </a:spcBef>
        <a:spcAft>
          <a:spcPct val="0"/>
        </a:spcAft>
        <a:buChar char="•"/>
        <a:defRPr sz="2400" b="1" kern="1200">
          <a:solidFill>
            <a:schemeClr val="tx1"/>
          </a:solidFill>
          <a:latin typeface="+mn-lt"/>
          <a:ea typeface="+mn-ea"/>
          <a:cs typeface="+mn-cs"/>
          <a:sym typeface="Arial" panose="020B0604020202020204" pitchFamily="34" charset="0"/>
        </a:defRPr>
      </a:lvl3pPr>
      <a:lvl4pPr marL="1600200" indent="-228600" algn="l" defTabSz="0" rtl="0" eaLnBrk="0" fontAlgn="base" hangingPunct="0">
        <a:spcBef>
          <a:spcPct val="20000"/>
        </a:spcBef>
        <a:spcAft>
          <a:spcPct val="0"/>
        </a:spcAft>
        <a:buChar char="–"/>
        <a:defRPr sz="2000" b="1" kern="1200">
          <a:solidFill>
            <a:schemeClr val="tx1"/>
          </a:solidFill>
          <a:latin typeface="+mn-lt"/>
          <a:ea typeface="+mn-ea"/>
          <a:cs typeface="+mn-cs"/>
          <a:sym typeface="Arial" panose="020B0604020202020204" pitchFamily="34" charset="0"/>
        </a:defRPr>
      </a:lvl4pPr>
      <a:lvl5pPr marL="2057400" indent="-228600" algn="l" defTabSz="0" rtl="0" eaLnBrk="0" fontAlgn="base" hangingPunct="0">
        <a:spcBef>
          <a:spcPct val="20000"/>
        </a:spcBef>
        <a:spcAft>
          <a:spcPct val="0"/>
        </a:spcAft>
        <a:buChar char="»"/>
        <a:defRPr sz="2000" b="1" kern="1200">
          <a:solidFill>
            <a:schemeClr val="tx1"/>
          </a:solidFill>
          <a:latin typeface="+mn-lt"/>
          <a:ea typeface="+mn-ea"/>
          <a:cs typeface="+mn-cs"/>
          <a:sym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idx="4294967295"/>
          </p:nvPr>
        </p:nvSpPr>
        <p:spPr bwMode="auto">
          <a:xfrm>
            <a:off x="468313" y="3333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zh-CN">
                <a:sym typeface="Arial" panose="020B0604020202020204" pitchFamily="34" charset="0"/>
              </a:rPr>
              <a:t>单击此处编辑母版标题样式</a:t>
            </a:r>
          </a:p>
        </p:txBody>
      </p:sp>
      <p:sp>
        <p:nvSpPr>
          <p:cNvPr id="2051" name="Rectangle 3"/>
          <p:cNvSpPr>
            <a:spLocks noGrp="1" noChangeArrowheads="1"/>
          </p:cNvSpPr>
          <p:nvPr>
            <p:ph type="body" idx="1"/>
          </p:nvPr>
        </p:nvSpPr>
        <p:spPr bwMode="auto">
          <a:xfrm>
            <a:off x="457200" y="1341438"/>
            <a:ext cx="8229600" cy="478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zh-CN">
                <a:sym typeface="Arial" panose="020B0604020202020204" pitchFamily="34" charset="0"/>
              </a:rPr>
              <a:t>单击此处编辑母版文本样式</a:t>
            </a:r>
          </a:p>
          <a:p>
            <a:pPr lvl="1"/>
            <a:r>
              <a:rPr lang="zh-CN" altLang="zh-CN">
                <a:sym typeface="Arial" panose="020B0604020202020204" pitchFamily="34" charset="0"/>
              </a:rPr>
              <a:t>第二级</a:t>
            </a:r>
          </a:p>
          <a:p>
            <a:pPr lvl="2"/>
            <a:r>
              <a:rPr lang="zh-CN" altLang="zh-CN">
                <a:sym typeface="Arial" panose="020B0604020202020204" pitchFamily="34" charset="0"/>
              </a:rPr>
              <a:t>第三级</a:t>
            </a:r>
          </a:p>
          <a:p>
            <a:pPr lvl="3"/>
            <a:r>
              <a:rPr lang="zh-CN" altLang="zh-CN">
                <a:sym typeface="Arial" panose="020B0604020202020204" pitchFamily="34" charset="0"/>
              </a:rPr>
              <a:t>第四级</a:t>
            </a:r>
          </a:p>
          <a:p>
            <a:pPr lvl="4"/>
            <a:r>
              <a:rPr lang="zh-CN" altLang="zh-CN">
                <a:sym typeface="Arial" panose="020B0604020202020204" pitchFamily="34" charset="0"/>
              </a:rPr>
              <a:t>第五级</a:t>
            </a:r>
          </a:p>
        </p:txBody>
      </p:sp>
      <p:sp>
        <p:nvSpPr>
          <p:cNvPr id="2052" name="Rectangle 4"/>
          <p:cNvSpPr>
            <a:spLocks noGrp="1" noChangeArrowheads="1"/>
          </p:cNvSpPr>
          <p:nvPr>
            <p:ph type="dt" sz="half" idx="2"/>
          </p:nvPr>
        </p:nvSpPr>
        <p:spPr bwMode="auto">
          <a:xfrm>
            <a:off x="457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1400" b="0">
                <a:sym typeface="Arial" panose="020B0604020202020204" pitchFamily="34" charset="0"/>
              </a:defRPr>
            </a:lvl1pPr>
          </a:lstStyle>
          <a:p>
            <a:endParaRPr lang="zh-CN" altLang="zh-CN"/>
          </a:p>
        </p:txBody>
      </p:sp>
      <p:sp>
        <p:nvSpPr>
          <p:cNvPr id="2053" name="Rectangle 5"/>
          <p:cNvSpPr>
            <a:spLocks noGrp="1" noChangeArrowheads="1"/>
          </p:cNvSpPr>
          <p:nvPr>
            <p:ph type="ftr" sz="quarter" idx="3"/>
          </p:nvPr>
        </p:nvSpPr>
        <p:spPr bwMode="auto">
          <a:xfrm>
            <a:off x="3124200" y="6245225"/>
            <a:ext cx="2895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ctr">
              <a:defRPr sz="1400" b="0">
                <a:sym typeface="Arial" panose="020B0604020202020204" pitchFamily="34" charset="0"/>
              </a:defRPr>
            </a:lvl1pPr>
          </a:lstStyle>
          <a:p>
            <a:endParaRPr lang="zh-CN" altLang="zh-CN"/>
          </a:p>
        </p:txBody>
      </p:sp>
      <p:sp>
        <p:nvSpPr>
          <p:cNvPr id="2054" name="Rectangle 6"/>
          <p:cNvSpPr>
            <a:spLocks noGrp="1" noChangeArrowheads="1"/>
          </p:cNvSpPr>
          <p:nvPr>
            <p:ph type="sldNum" sz="quarter" idx="4"/>
          </p:nvPr>
        </p:nvSpPr>
        <p:spPr bwMode="auto">
          <a:xfrm>
            <a:off x="6553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sz="1400" b="0">
                <a:sym typeface="Arial" panose="020B0604020202020204" pitchFamily="34" charset="0"/>
              </a:defRPr>
            </a:lvl1pPr>
          </a:lstStyle>
          <a:p>
            <a:fld id="{96E31C68-B152-46ED-A882-F558F2C62533}" type="slidenum">
              <a:rPr lang="zh-CN" altLang="en-US"/>
              <a:pPr/>
              <a:t>‹#›</a:t>
            </a:fld>
            <a:endParaRPr lang="en-US" altLang="zh-CN" sz="1800" b="1"/>
          </a:p>
        </p:txBody>
      </p:sp>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xStyles>
    <p:titleStyle>
      <a:lvl1pPr algn="l" rtl="0" eaLnBrk="0" fontAlgn="base" hangingPunct="0">
        <a:spcBef>
          <a:spcPct val="0"/>
        </a:spcBef>
        <a:spcAft>
          <a:spcPct val="0"/>
        </a:spcAft>
        <a:defRPr sz="3600" kern="1200">
          <a:solidFill>
            <a:schemeClr val="tx2"/>
          </a:solidFill>
          <a:latin typeface="+mj-lt"/>
          <a:ea typeface="+mj-ea"/>
          <a:cs typeface="+mj-cs"/>
          <a:sym typeface="Arial" panose="020B0604020202020204" pitchFamily="34" charset="0"/>
        </a:defRPr>
      </a:lvl1pPr>
      <a:lvl2pPr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sym typeface="Arial" panose="020B0604020202020204" pitchFamily="34" charset="0"/>
        </a:defRPr>
      </a:lvl2pPr>
      <a:lvl3pPr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sym typeface="Arial" panose="020B0604020202020204" pitchFamily="34" charset="0"/>
        </a:defRPr>
      </a:lvl3pPr>
      <a:lvl4pPr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sym typeface="Arial" panose="020B0604020202020204" pitchFamily="34" charset="0"/>
        </a:defRPr>
      </a:lvl4pPr>
      <a:lvl5pPr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sym typeface="Arial" panose="020B0604020202020204" pitchFamily="34" charset="0"/>
        </a:defRPr>
      </a:lvl5pPr>
      <a:lvl6pPr marL="457200"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sym typeface="Arial" panose="020B0604020202020204" pitchFamily="34" charset="0"/>
        </a:defRPr>
      </a:lvl6pPr>
      <a:lvl7pPr marL="914400"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sym typeface="Arial" panose="020B0604020202020204" pitchFamily="34" charset="0"/>
        </a:defRPr>
      </a:lvl7pPr>
      <a:lvl8pPr marL="1371600"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sym typeface="Arial" panose="020B0604020202020204" pitchFamily="34" charset="0"/>
        </a:defRPr>
      </a:lvl8pPr>
      <a:lvl9pPr marL="1828800"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sym typeface="Arial" panose="020B0604020202020204" pitchFamily="34" charset="0"/>
        </a:defRPr>
      </a:lvl9pPr>
    </p:titleStyle>
    <p:bodyStyle>
      <a:lvl1pPr marL="342900" indent="-342900" algn="l" defTabSz="0" rtl="0" eaLnBrk="0" fontAlgn="base" hangingPunct="0">
        <a:spcBef>
          <a:spcPct val="20000"/>
        </a:spcBef>
        <a:spcAft>
          <a:spcPct val="0"/>
        </a:spcAft>
        <a:buChar char="•"/>
        <a:defRPr sz="3200" b="1" kern="1200">
          <a:solidFill>
            <a:srgbClr val="CC0000"/>
          </a:solidFill>
          <a:latin typeface="+mn-lt"/>
          <a:ea typeface="+mn-ea"/>
          <a:cs typeface="+mn-cs"/>
          <a:sym typeface="Arial" panose="020B0604020202020204" pitchFamily="34" charset="0"/>
        </a:defRPr>
      </a:lvl1pPr>
      <a:lvl2pPr marL="742950" indent="-285750" algn="l" defTabSz="0" rtl="0" eaLnBrk="0" fontAlgn="base" hangingPunct="0">
        <a:spcBef>
          <a:spcPct val="20000"/>
        </a:spcBef>
        <a:spcAft>
          <a:spcPct val="0"/>
        </a:spcAft>
        <a:buChar char="–"/>
        <a:defRPr sz="2800" b="1" kern="1200">
          <a:solidFill>
            <a:schemeClr val="tx1"/>
          </a:solidFill>
          <a:latin typeface="+mn-lt"/>
          <a:ea typeface="+mn-ea"/>
          <a:cs typeface="+mn-cs"/>
          <a:sym typeface="Arial" panose="020B0604020202020204" pitchFamily="34" charset="0"/>
        </a:defRPr>
      </a:lvl2pPr>
      <a:lvl3pPr marL="1143000" indent="-228600" algn="l" defTabSz="0" rtl="0" eaLnBrk="0" fontAlgn="base" hangingPunct="0">
        <a:spcBef>
          <a:spcPct val="20000"/>
        </a:spcBef>
        <a:spcAft>
          <a:spcPct val="0"/>
        </a:spcAft>
        <a:buChar char="•"/>
        <a:defRPr sz="2400" b="1" kern="1200">
          <a:solidFill>
            <a:schemeClr val="tx1"/>
          </a:solidFill>
          <a:latin typeface="+mn-lt"/>
          <a:ea typeface="+mn-ea"/>
          <a:cs typeface="+mn-cs"/>
          <a:sym typeface="Arial" panose="020B0604020202020204" pitchFamily="34" charset="0"/>
        </a:defRPr>
      </a:lvl3pPr>
      <a:lvl4pPr marL="1600200" indent="-228600" algn="l" defTabSz="0" rtl="0" eaLnBrk="0" fontAlgn="base" hangingPunct="0">
        <a:spcBef>
          <a:spcPct val="20000"/>
        </a:spcBef>
        <a:spcAft>
          <a:spcPct val="0"/>
        </a:spcAft>
        <a:buChar char="–"/>
        <a:defRPr sz="2000" b="1" kern="1200">
          <a:solidFill>
            <a:schemeClr val="tx1"/>
          </a:solidFill>
          <a:latin typeface="+mn-lt"/>
          <a:ea typeface="+mn-ea"/>
          <a:cs typeface="+mn-cs"/>
          <a:sym typeface="Arial" panose="020B0604020202020204" pitchFamily="34" charset="0"/>
        </a:defRPr>
      </a:lvl4pPr>
      <a:lvl5pPr marL="2057400" indent="-228600" algn="l" defTabSz="0" rtl="0" eaLnBrk="0" fontAlgn="base" hangingPunct="0">
        <a:spcBef>
          <a:spcPct val="20000"/>
        </a:spcBef>
        <a:spcAft>
          <a:spcPct val="0"/>
        </a:spcAft>
        <a:buChar char="»"/>
        <a:defRPr sz="2000" b="1" kern="1200">
          <a:solidFill>
            <a:schemeClr val="tx1"/>
          </a:solidFill>
          <a:latin typeface="+mn-lt"/>
          <a:ea typeface="+mn-ea"/>
          <a:cs typeface="+mn-cs"/>
          <a:sym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10" Type="http://schemas.openxmlformats.org/officeDocument/2006/relationships/slideLayout" Target="../slideLayouts/slideLayout1.xml"/><Relationship Id="rId4" Type="http://schemas.openxmlformats.org/officeDocument/2006/relationships/tags" Target="../tags/tag4.xml"/><Relationship Id="rId9" Type="http://schemas.openxmlformats.org/officeDocument/2006/relationships/tags" Target="../tags/tag9.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emf"/><Relationship Id="rId4" Type="http://schemas.openxmlformats.org/officeDocument/2006/relationships/image" Target="../media/image8.emf"/></Relationships>
</file>

<file path=ppt/slides/_rels/slide15.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0.png"/></Relationships>
</file>

<file path=ppt/slides/_rels/slide30.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9" Type="http://schemas.openxmlformats.org/officeDocument/2006/relationships/image" Target="../media/image26.png"/></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slideLayout" Target="../slideLayouts/slideLayout1.xml"/><Relationship Id="rId3" Type="http://schemas.openxmlformats.org/officeDocument/2006/relationships/tags" Target="../tags/tag12.xml"/><Relationship Id="rId7" Type="http://schemas.openxmlformats.org/officeDocument/2006/relationships/tags" Target="../tags/tag16.xml"/><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8" Type="http://schemas.openxmlformats.org/officeDocument/2006/relationships/tags" Target="../tags/tag24.xml"/><Relationship Id="rId3" Type="http://schemas.openxmlformats.org/officeDocument/2006/relationships/tags" Target="../tags/tag19.xml"/><Relationship Id="rId7" Type="http://schemas.openxmlformats.org/officeDocument/2006/relationships/tags" Target="../tags/tag23.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tags" Target="../tags/tag22.xml"/><Relationship Id="rId5" Type="http://schemas.openxmlformats.org/officeDocument/2006/relationships/tags" Target="../tags/tag21.xml"/><Relationship Id="rId10" Type="http://schemas.openxmlformats.org/officeDocument/2006/relationships/slideLayout" Target="../slideLayouts/slideLayout1.xml"/><Relationship Id="rId4" Type="http://schemas.openxmlformats.org/officeDocument/2006/relationships/tags" Target="../tags/tag20.xml"/><Relationship Id="rId9" Type="http://schemas.openxmlformats.org/officeDocument/2006/relationships/tags" Target="../tags/tag2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jpe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image" Target="../media/image280.png"/><Relationship Id="rId1" Type="http://schemas.openxmlformats.org/officeDocument/2006/relationships/slideLayout" Target="../slideLayouts/slideLayout1.xml"/><Relationship Id="rId5" Type="http://schemas.openxmlformats.org/officeDocument/2006/relationships/image" Target="../media/image310.png"/><Relationship Id="rId4" Type="http://schemas.openxmlformats.org/officeDocument/2006/relationships/image" Target="../media/image300.png"/></Relationships>
</file>

<file path=ppt/slides/_rels/slide5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8.png"/><Relationship Id="rId1" Type="http://schemas.openxmlformats.org/officeDocument/2006/relationships/slideLayout" Target="../slideLayouts/slideLayout1.xml"/><Relationship Id="rId6" Type="http://schemas.openxmlformats.org/officeDocument/2006/relationships/image" Target="../media/image360.png"/><Relationship Id="rId5" Type="http://schemas.openxmlformats.org/officeDocument/2006/relationships/image" Target="../media/image350.png"/><Relationship Id="rId4" Type="http://schemas.openxmlformats.org/officeDocument/2006/relationships/image" Target="../media/image3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xml"/><Relationship Id="rId4" Type="http://schemas.openxmlformats.org/officeDocument/2006/relationships/image" Target="../media/image4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tags" Target="../tags/tag28.xml"/><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slideLayout" Target="../slideLayouts/slideLayout1.xml"/><Relationship Id="rId5" Type="http://schemas.openxmlformats.org/officeDocument/2006/relationships/tags" Target="../tags/tag30.xml"/><Relationship Id="rId4" Type="http://schemas.openxmlformats.org/officeDocument/2006/relationships/tags" Target="../tags/tag2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tags" Target="../tags/tag33.xml"/><Relationship Id="rId2" Type="http://schemas.openxmlformats.org/officeDocument/2006/relationships/tags" Target="../tags/tag32.xml"/><Relationship Id="rId1" Type="http://schemas.openxmlformats.org/officeDocument/2006/relationships/tags" Target="../tags/tag31.xml"/><Relationship Id="rId4"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ctrTitle" idx="4294967295"/>
          </p:nvPr>
        </p:nvSpPr>
        <p:spPr>
          <a:xfrm>
            <a:off x="1763805" y="2348925"/>
            <a:ext cx="5510213" cy="1441450"/>
          </a:xfrm>
          <a:ln/>
        </p:spPr>
        <p:txBody>
          <a:bodyPr/>
          <a:lstStyle/>
          <a:p>
            <a:pPr algn="ctr" eaLnBrk="1" hangingPunct="1"/>
            <a:r>
              <a:rPr lang="zh-CN" altLang="en-US" dirty="0">
                <a:latin typeface="微软雅黑" panose="020B0503020204020204" pitchFamily="34" charset="-122"/>
                <a:ea typeface="微软雅黑" panose="020B0503020204020204" pitchFamily="34" charset="-122"/>
              </a:rPr>
              <a:t>第五章</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不完全竞争市场</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randombar(horizontal)">
                                      <p:cBhvr>
                                        <p:cTn id="7" dur="750"/>
                                        <p:tgtEl>
                                          <p:spTgt spid="40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406028"/>
            <a:ext cx="8856984" cy="5619328"/>
          </a:xfrm>
        </p:spPr>
        <p:txBody>
          <a:bodyPr/>
          <a:lstStyle/>
          <a:p>
            <a:pPr marL="0" indent="0" algn="ctr">
              <a:buNone/>
            </a:pPr>
            <a:endParaRPr lang="en-US" altLang="zh-CN" dirty="0"/>
          </a:p>
          <a:p>
            <a:pPr marL="0" indent="0" algn="ctr">
              <a:buNone/>
            </a:pPr>
            <a:endParaRPr lang="en-US" altLang="zh-CN" dirty="0"/>
          </a:p>
          <a:p>
            <a:pPr marL="0" indent="0" algn="ctr">
              <a:buNone/>
            </a:pPr>
            <a:r>
              <a:rPr lang="zh-CN" altLang="en-US" sz="3600" spc="300" dirty="0">
                <a:solidFill>
                  <a:schemeClr val="tx1"/>
                </a:solidFill>
                <a:latin typeface="微软雅黑" panose="020B0503020204020204" pitchFamily="34" charset="-122"/>
                <a:ea typeface="微软雅黑" panose="020B0503020204020204" pitchFamily="34" charset="-122"/>
              </a:rPr>
              <a:t>不完全竞争市场</a:t>
            </a:r>
          </a:p>
        </p:txBody>
      </p:sp>
      <p:sp>
        <p:nvSpPr>
          <p:cNvPr id="4" name="Line 2"/>
          <p:cNvSpPr>
            <a:spLocks noChangeShapeType="1"/>
          </p:cNvSpPr>
          <p:nvPr/>
        </p:nvSpPr>
        <p:spPr bwMode="auto">
          <a:xfrm>
            <a:off x="383538" y="4550719"/>
            <a:ext cx="8209161" cy="2380"/>
          </a:xfrm>
          <a:prstGeom prst="line">
            <a:avLst/>
          </a:prstGeom>
          <a:noFill/>
          <a:ln w="1016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 name="Rectangle 3"/>
          <p:cNvSpPr>
            <a:spLocks noChangeArrowheads="1"/>
          </p:cNvSpPr>
          <p:nvPr/>
        </p:nvSpPr>
        <p:spPr bwMode="auto">
          <a:xfrm>
            <a:off x="2463361" y="4980136"/>
            <a:ext cx="5348288"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3200" b="1" dirty="0">
                <a:solidFill>
                  <a:srgbClr val="000000"/>
                </a:solidFill>
              </a:rPr>
              <a:t>Market Structure Continuum</a:t>
            </a:r>
          </a:p>
        </p:txBody>
      </p:sp>
      <p:sp>
        <p:nvSpPr>
          <p:cNvPr id="6" name="Rectangle 4"/>
          <p:cNvSpPr>
            <a:spLocks noChangeArrowheads="1"/>
          </p:cNvSpPr>
          <p:nvPr/>
        </p:nvSpPr>
        <p:spPr bwMode="auto">
          <a:xfrm>
            <a:off x="629405" y="3583932"/>
            <a:ext cx="1566983" cy="65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en-US" altLang="zh-CN" sz="1800" dirty="0">
                <a:solidFill>
                  <a:srgbClr val="000000"/>
                </a:solidFill>
                <a:latin typeface="Arial" panose="020B0604020202020204" pitchFamily="34" charset="0"/>
              </a:rPr>
              <a:t>Perfect</a:t>
            </a:r>
            <a:endParaRPr kumimoji="0" lang="en-US" altLang="zh-CN" sz="1800" b="1" dirty="0">
              <a:solidFill>
                <a:srgbClr val="000000"/>
              </a:solidFill>
              <a:latin typeface="Arial" panose="020B0604020202020204" pitchFamily="34" charset="0"/>
            </a:endParaRPr>
          </a:p>
          <a:p>
            <a:pPr algn="ctr"/>
            <a:r>
              <a:rPr kumimoji="0" lang="en-US" altLang="zh-CN" sz="1800" b="1" dirty="0">
                <a:solidFill>
                  <a:srgbClr val="000000"/>
                </a:solidFill>
                <a:latin typeface="Arial" panose="020B0604020202020204" pitchFamily="34" charset="0"/>
              </a:rPr>
              <a:t>Competition</a:t>
            </a:r>
          </a:p>
        </p:txBody>
      </p:sp>
      <p:sp>
        <p:nvSpPr>
          <p:cNvPr id="7" name="Rectangle 5"/>
          <p:cNvSpPr>
            <a:spLocks noChangeArrowheads="1"/>
          </p:cNvSpPr>
          <p:nvPr/>
        </p:nvSpPr>
        <p:spPr bwMode="auto">
          <a:xfrm>
            <a:off x="6830704" y="3565682"/>
            <a:ext cx="1272785"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en-US" altLang="zh-CN" sz="1800" b="1" dirty="0">
                <a:solidFill>
                  <a:srgbClr val="000000"/>
                </a:solidFill>
                <a:latin typeface="Arial" panose="020B0604020202020204" pitchFamily="34" charset="0"/>
              </a:rPr>
              <a:t>Perfect</a:t>
            </a:r>
          </a:p>
          <a:p>
            <a:pPr algn="ctr"/>
            <a:r>
              <a:rPr kumimoji="0" lang="en-US" altLang="zh-CN" sz="1800" b="1" dirty="0">
                <a:solidFill>
                  <a:srgbClr val="000000"/>
                </a:solidFill>
                <a:latin typeface="Arial" panose="020B0604020202020204" pitchFamily="34" charset="0"/>
              </a:rPr>
              <a:t>Monopoly</a:t>
            </a:r>
          </a:p>
        </p:txBody>
      </p:sp>
      <p:sp>
        <p:nvSpPr>
          <p:cNvPr id="8" name="Rectangle 6"/>
          <p:cNvSpPr>
            <a:spLocks noChangeArrowheads="1"/>
          </p:cNvSpPr>
          <p:nvPr/>
        </p:nvSpPr>
        <p:spPr bwMode="auto">
          <a:xfrm>
            <a:off x="2801856" y="3550154"/>
            <a:ext cx="1590675"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en-US" altLang="zh-CN" sz="1800" b="1" dirty="0">
                <a:solidFill>
                  <a:srgbClr val="000000"/>
                </a:solidFill>
                <a:latin typeface="Arial" panose="020B0604020202020204" pitchFamily="34" charset="0"/>
              </a:rPr>
              <a:t>Monopolistic</a:t>
            </a:r>
          </a:p>
          <a:p>
            <a:pPr algn="ctr"/>
            <a:r>
              <a:rPr kumimoji="0" lang="en-US" altLang="zh-CN" sz="1800" b="1" dirty="0">
                <a:solidFill>
                  <a:srgbClr val="000000"/>
                </a:solidFill>
                <a:latin typeface="Arial" panose="020B0604020202020204" pitchFamily="34" charset="0"/>
              </a:rPr>
              <a:t>Competition</a:t>
            </a:r>
          </a:p>
        </p:txBody>
      </p:sp>
      <p:sp>
        <p:nvSpPr>
          <p:cNvPr id="9" name="Rectangle 7"/>
          <p:cNvSpPr>
            <a:spLocks noChangeArrowheads="1"/>
          </p:cNvSpPr>
          <p:nvPr/>
        </p:nvSpPr>
        <p:spPr bwMode="auto">
          <a:xfrm>
            <a:off x="4994080" y="3687472"/>
            <a:ext cx="1235075"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en-US" altLang="zh-CN" sz="1800" b="1" dirty="0">
                <a:solidFill>
                  <a:srgbClr val="000000"/>
                </a:solidFill>
                <a:latin typeface="Arial" panose="020B0604020202020204" pitchFamily="34" charset="0"/>
              </a:rPr>
              <a:t>Oligopoly</a:t>
            </a:r>
          </a:p>
        </p:txBody>
      </p:sp>
      <p:sp>
        <p:nvSpPr>
          <p:cNvPr id="10" name="Oval 10"/>
          <p:cNvSpPr>
            <a:spLocks noChangeArrowheads="1"/>
          </p:cNvSpPr>
          <p:nvPr/>
        </p:nvSpPr>
        <p:spPr bwMode="auto">
          <a:xfrm>
            <a:off x="2752643" y="3343052"/>
            <a:ext cx="1689100" cy="1089025"/>
          </a:xfrm>
          <a:prstGeom prst="ellipse">
            <a:avLst/>
          </a:prstGeom>
          <a:noFill/>
          <a:ln w="76200">
            <a:solidFill>
              <a:srgbClr val="CC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 name="Oval 10"/>
          <p:cNvSpPr>
            <a:spLocks noChangeArrowheads="1"/>
          </p:cNvSpPr>
          <p:nvPr/>
        </p:nvSpPr>
        <p:spPr bwMode="auto">
          <a:xfrm>
            <a:off x="4739067" y="3343051"/>
            <a:ext cx="1689100" cy="1089025"/>
          </a:xfrm>
          <a:prstGeom prst="ellipse">
            <a:avLst/>
          </a:prstGeom>
          <a:noFill/>
          <a:ln w="76200">
            <a:solidFill>
              <a:srgbClr val="CC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2" name="Oval 10"/>
          <p:cNvSpPr>
            <a:spLocks noChangeArrowheads="1"/>
          </p:cNvSpPr>
          <p:nvPr/>
        </p:nvSpPr>
        <p:spPr bwMode="auto">
          <a:xfrm>
            <a:off x="6627178" y="3348045"/>
            <a:ext cx="1689100" cy="1089025"/>
          </a:xfrm>
          <a:prstGeom prst="ellipse">
            <a:avLst/>
          </a:prstGeom>
          <a:noFill/>
          <a:ln w="76200">
            <a:solidFill>
              <a:srgbClr val="CC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Tree>
    <p:extLst>
      <p:ext uri="{BB962C8B-B14F-4D97-AF65-F5344CB8AC3E}">
        <p14:creationId xmlns:p14="http://schemas.microsoft.com/office/powerpoint/2010/main" val="3650543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par>
                                <p:cTn id="15" presetID="16" presetClass="entr" presetSubtype="21"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arn(inVertical)">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randombar(horizontal)">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randombar(horizontal)">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randombar(horizontal)">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randombar(horizontal)">
                                      <p:cBhvr>
                                        <p:cTn id="37" dur="500"/>
                                        <p:tgtEl>
                                          <p:spTgt spid="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wipe(down)">
                                      <p:cBhvr>
                                        <p:cTn id="42" dur="500"/>
                                        <p:tgtEl>
                                          <p:spTgt spid="1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wipe(down)">
                                      <p:cBhvr>
                                        <p:cTn id="47" dur="500"/>
                                        <p:tgtEl>
                                          <p:spTgt spid="11"/>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wipe(down)">
                                      <p:cBhvr>
                                        <p:cTn id="5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p:bldP spid="6" grpId="0"/>
      <p:bldP spid="7" grpId="0"/>
      <p:bldP spid="8" grpId="0"/>
      <p:bldP spid="9" grpId="0"/>
      <p:bldP spid="10" grpId="0" animBg="1"/>
      <p:bldP spid="11" grpId="0" animBg="1"/>
      <p:bldP spid="1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平行四边形 26">
            <a:extLst>
              <a:ext uri="{FF2B5EF4-FFF2-40B4-BE49-F238E27FC236}">
                <a16:creationId xmlns:a16="http://schemas.microsoft.com/office/drawing/2014/main" id="{86F1DC63-CB2F-459E-B0E0-E14F93622BE5}"/>
              </a:ext>
            </a:extLst>
          </p:cNvPr>
          <p:cNvSpPr/>
          <p:nvPr/>
        </p:nvSpPr>
        <p:spPr>
          <a:xfrm rot="16200000">
            <a:off x="4620148" y="4679901"/>
            <a:ext cx="1992731" cy="518653"/>
          </a:xfrm>
          <a:prstGeom prst="parallelogram">
            <a:avLst>
              <a:gd name="adj" fmla="val 156667"/>
            </a:avLst>
          </a:prstGeom>
          <a:solidFill>
            <a:srgbClr val="AFD9E6"/>
          </a:solidFill>
          <a:ln w="12700" cap="flat" cmpd="sng" algn="ctr">
            <a:noFill/>
            <a:prstDash val="solid"/>
            <a:miter lim="800000"/>
          </a:ln>
          <a:effectLst/>
        </p:spPr>
        <p:txBody>
          <a:bodyPr rtlCol="0" anchor="ctr">
            <a:normAutofit fontScale="65000" lnSpcReduction="20000"/>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26" name="平行四边形 25">
            <a:extLst>
              <a:ext uri="{FF2B5EF4-FFF2-40B4-BE49-F238E27FC236}">
                <a16:creationId xmlns:a16="http://schemas.microsoft.com/office/drawing/2014/main" id="{86F1DC63-CB2F-459E-B0E0-E14F93622BE5}"/>
              </a:ext>
            </a:extLst>
          </p:cNvPr>
          <p:cNvSpPr/>
          <p:nvPr/>
        </p:nvSpPr>
        <p:spPr>
          <a:xfrm rot="16200000">
            <a:off x="2650009" y="4714157"/>
            <a:ext cx="2061240" cy="518653"/>
          </a:xfrm>
          <a:prstGeom prst="parallelogram">
            <a:avLst>
              <a:gd name="adj" fmla="val 156667"/>
            </a:avLst>
          </a:prstGeom>
          <a:solidFill>
            <a:srgbClr val="AFD9E6"/>
          </a:solidFill>
          <a:ln w="12700" cap="flat" cmpd="sng" algn="ctr">
            <a:noFill/>
            <a:prstDash val="solid"/>
            <a:miter lim="800000"/>
          </a:ln>
          <a:effectLst/>
        </p:spPr>
        <p:txBody>
          <a:bodyPr rtlCol="0" anchor="ctr">
            <a:normAutofit fontScale="65000" lnSpcReduction="20000"/>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25" name="平行四边形 24">
            <a:extLst>
              <a:ext uri="{FF2B5EF4-FFF2-40B4-BE49-F238E27FC236}">
                <a16:creationId xmlns:a16="http://schemas.microsoft.com/office/drawing/2014/main" id="{86F1DC63-CB2F-459E-B0E0-E14F93622BE5}"/>
              </a:ext>
            </a:extLst>
          </p:cNvPr>
          <p:cNvSpPr/>
          <p:nvPr/>
        </p:nvSpPr>
        <p:spPr>
          <a:xfrm rot="16200000">
            <a:off x="4532515" y="2161302"/>
            <a:ext cx="2061242" cy="578738"/>
          </a:xfrm>
          <a:prstGeom prst="parallelogram">
            <a:avLst>
              <a:gd name="adj" fmla="val 156667"/>
            </a:avLst>
          </a:prstGeom>
          <a:solidFill>
            <a:srgbClr val="AFD9E6"/>
          </a:solidFill>
          <a:ln w="12700" cap="flat" cmpd="sng" algn="ctr">
            <a:noFill/>
            <a:prstDash val="solid"/>
            <a:miter lim="800000"/>
          </a:ln>
          <a:effectLst/>
        </p:spPr>
        <p:txBody>
          <a:bodyPr rtlCol="0" anchor="ctr">
            <a:normAutofit fontScale="65000" lnSpcReduction="20000"/>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24" name="平行四边形 23">
            <a:extLst>
              <a:ext uri="{FF2B5EF4-FFF2-40B4-BE49-F238E27FC236}">
                <a16:creationId xmlns:a16="http://schemas.microsoft.com/office/drawing/2014/main" id="{86F1DC63-CB2F-459E-B0E0-E14F93622BE5}"/>
              </a:ext>
            </a:extLst>
          </p:cNvPr>
          <p:cNvSpPr/>
          <p:nvPr/>
        </p:nvSpPr>
        <p:spPr>
          <a:xfrm rot="16200000">
            <a:off x="2677025" y="2164268"/>
            <a:ext cx="2061243" cy="518653"/>
          </a:xfrm>
          <a:prstGeom prst="parallelogram">
            <a:avLst>
              <a:gd name="adj" fmla="val 156667"/>
            </a:avLst>
          </a:prstGeom>
          <a:solidFill>
            <a:srgbClr val="AFD9E6"/>
          </a:solidFill>
          <a:ln w="12700" cap="flat" cmpd="sng" algn="ctr">
            <a:noFill/>
            <a:prstDash val="solid"/>
            <a:miter lim="800000"/>
          </a:ln>
          <a:effectLst/>
        </p:spPr>
        <p:txBody>
          <a:bodyPr rtlCol="0" anchor="ctr">
            <a:normAutofit fontScale="65000" lnSpcReduction="20000"/>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7" name="矩形 6">
            <a:extLst>
              <a:ext uri="{FF2B5EF4-FFF2-40B4-BE49-F238E27FC236}">
                <a16:creationId xmlns:a16="http://schemas.microsoft.com/office/drawing/2014/main" id="{29D4621B-7639-47DA-B16C-EC41E72F8F64}"/>
              </a:ext>
            </a:extLst>
          </p:cNvPr>
          <p:cNvSpPr/>
          <p:nvPr/>
        </p:nvSpPr>
        <p:spPr>
          <a:xfrm>
            <a:off x="3904859" y="1367869"/>
            <a:ext cx="1421167" cy="2103957"/>
          </a:xfrm>
          <a:prstGeom prst="rect">
            <a:avLst/>
          </a:prstGeom>
          <a:solidFill>
            <a:srgbClr val="FFFFFF"/>
          </a:solidFill>
          <a:ln w="3175" cap="flat" cmpd="sng" algn="ctr">
            <a:solidFill>
              <a:srgbClr val="3B9DBB"/>
            </a:solidFill>
            <a:prstDash val="solid"/>
            <a:miter lim="800000"/>
          </a:ln>
          <a:effectLst>
            <a:outerShdw blurRad="50800" dist="38100" algn="l" rotWithShape="0">
              <a:prstClr val="black">
                <a:alpha val="40000"/>
              </a:prstClr>
            </a:outerShdw>
          </a:effectLst>
        </p:spPr>
        <p:txBody>
          <a:bodyPr rtlCol="0" anchor="ctr">
            <a:norm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垄断竞争</a:t>
            </a:r>
            <a:endParaRPr kumimoji="0" lang="en-US" altLang="zh-CN"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17" name="矩形 16">
            <a:extLst>
              <a:ext uri="{FF2B5EF4-FFF2-40B4-BE49-F238E27FC236}">
                <a16:creationId xmlns:a16="http://schemas.microsoft.com/office/drawing/2014/main" id="{29D4621B-7639-47DA-B16C-EC41E72F8F64}"/>
              </a:ext>
            </a:extLst>
          </p:cNvPr>
          <p:cNvSpPr/>
          <p:nvPr/>
        </p:nvSpPr>
        <p:spPr>
          <a:xfrm>
            <a:off x="5717289" y="3942865"/>
            <a:ext cx="1432154" cy="2103957"/>
          </a:xfrm>
          <a:prstGeom prst="rect">
            <a:avLst/>
          </a:prstGeom>
          <a:solidFill>
            <a:srgbClr val="FFFFFF"/>
          </a:solidFill>
          <a:ln w="3175" cap="flat" cmpd="sng" algn="ctr">
            <a:solidFill>
              <a:srgbClr val="3B9DBB"/>
            </a:solidFill>
            <a:prstDash val="solid"/>
            <a:miter lim="800000"/>
          </a:ln>
          <a:effectLst>
            <a:outerShdw blurRad="50800" dist="38100" algn="l" rotWithShape="0">
              <a:prstClr val="black">
                <a:alpha val="40000"/>
              </a:prstClr>
            </a:outerShdw>
          </a:effectLst>
        </p:spPr>
        <p:txBody>
          <a:bodyPr rtlCol="0" anchor="ctr">
            <a:norm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本章评析</a:t>
            </a:r>
            <a:endParaRPr kumimoji="0" lang="en-US" altLang="zh-CN"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16" name="矩形 15">
            <a:extLst>
              <a:ext uri="{FF2B5EF4-FFF2-40B4-BE49-F238E27FC236}">
                <a16:creationId xmlns:a16="http://schemas.microsoft.com/office/drawing/2014/main" id="{29D4621B-7639-47DA-B16C-EC41E72F8F64}"/>
              </a:ext>
            </a:extLst>
          </p:cNvPr>
          <p:cNvSpPr/>
          <p:nvPr/>
        </p:nvSpPr>
        <p:spPr>
          <a:xfrm>
            <a:off x="3907512" y="3942861"/>
            <a:ext cx="1472399" cy="2103957"/>
          </a:xfrm>
          <a:prstGeom prst="rect">
            <a:avLst/>
          </a:prstGeom>
          <a:solidFill>
            <a:srgbClr val="FFFFFF"/>
          </a:solidFill>
          <a:ln w="3175" cap="flat" cmpd="sng" algn="ctr">
            <a:solidFill>
              <a:srgbClr val="3B9DBB"/>
            </a:solidFill>
            <a:prstDash val="solid"/>
            <a:miter lim="800000"/>
          </a:ln>
          <a:effectLst>
            <a:outerShdw blurRad="50800" dist="38100" algn="l" rotWithShape="0">
              <a:prstClr val="black">
                <a:alpha val="40000"/>
              </a:prstClr>
            </a:outerShdw>
          </a:effectLst>
        </p:spPr>
        <p:txBody>
          <a:bodyPr rtlCol="0" anchor="ctr">
            <a:norm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srgbClr val="3B9DBB"/>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15" name="矩形 14">
            <a:extLst>
              <a:ext uri="{FF2B5EF4-FFF2-40B4-BE49-F238E27FC236}">
                <a16:creationId xmlns:a16="http://schemas.microsoft.com/office/drawing/2014/main" id="{29D4621B-7639-47DA-B16C-EC41E72F8F64}"/>
              </a:ext>
            </a:extLst>
          </p:cNvPr>
          <p:cNvSpPr/>
          <p:nvPr/>
        </p:nvSpPr>
        <p:spPr>
          <a:xfrm>
            <a:off x="2051720" y="3942865"/>
            <a:ext cx="1467183" cy="2103957"/>
          </a:xfrm>
          <a:prstGeom prst="rect">
            <a:avLst/>
          </a:prstGeom>
          <a:solidFill>
            <a:srgbClr val="FFFFFF"/>
          </a:solidFill>
          <a:ln w="3175" cap="flat" cmpd="sng" algn="ctr">
            <a:solidFill>
              <a:srgbClr val="3B9DBB"/>
            </a:solidFill>
            <a:prstDash val="solid"/>
            <a:miter lim="800000"/>
          </a:ln>
          <a:effectLst>
            <a:outerShdw blurRad="50800" dist="38100" algn="l" rotWithShape="0">
              <a:prstClr val="black">
                <a:alpha val="40000"/>
              </a:prstClr>
            </a:outerShdw>
          </a:effectLst>
        </p:spPr>
        <p:txBody>
          <a:bodyPr rtlCol="0" anchor="ctr">
            <a:norm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sym typeface="Arial" panose="020B0604020202020204" pitchFamily="34" charset="0"/>
              </a:rPr>
              <a:t>博弈论</a:t>
            </a:r>
            <a:endParaRPr kumimoji="0" lang="en-US" altLang="zh-CN"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sym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400"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和</a:t>
            </a:r>
            <a:endParaRPr lang="en-US" altLang="zh-CN" sz="2400" b="0" dirty="0">
              <a:solidFill>
                <a:schemeClr val="tx1"/>
              </a:solidFill>
              <a:latin typeface="微软雅黑" panose="020B0503020204020204" pitchFamily="34" charset="-122"/>
              <a:ea typeface="微软雅黑" panose="020B0503020204020204" pitchFamily="34" charset="-122"/>
              <a:sym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sym typeface="Arial" panose="020B0604020202020204" pitchFamily="34" charset="0"/>
              </a:rPr>
              <a:t>策略行动</a:t>
            </a:r>
            <a:endParaRPr kumimoji="0" lang="en-US" altLang="zh-CN"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sym typeface="Arial" panose="020B0604020202020204" pitchFamily="34" charset="0"/>
            </a:endParaRPr>
          </a:p>
        </p:txBody>
      </p:sp>
      <p:sp>
        <p:nvSpPr>
          <p:cNvPr id="14" name="矩形 13">
            <a:extLst>
              <a:ext uri="{FF2B5EF4-FFF2-40B4-BE49-F238E27FC236}">
                <a16:creationId xmlns:a16="http://schemas.microsoft.com/office/drawing/2014/main" id="{29D4621B-7639-47DA-B16C-EC41E72F8F64}"/>
              </a:ext>
            </a:extLst>
          </p:cNvPr>
          <p:cNvSpPr/>
          <p:nvPr/>
        </p:nvSpPr>
        <p:spPr>
          <a:xfrm>
            <a:off x="5717289" y="1377335"/>
            <a:ext cx="1432154" cy="2103957"/>
          </a:xfrm>
          <a:prstGeom prst="rect">
            <a:avLst/>
          </a:prstGeom>
          <a:solidFill>
            <a:srgbClr val="FFFFFF"/>
          </a:solidFill>
          <a:ln w="3175" cap="flat" cmpd="sng" algn="ctr">
            <a:solidFill>
              <a:srgbClr val="3B9DBB"/>
            </a:solidFill>
            <a:prstDash val="solid"/>
            <a:miter lim="800000"/>
          </a:ln>
          <a:effectLst>
            <a:outerShdw blurRad="50800" dist="38100" algn="l" rotWithShape="0">
              <a:prstClr val="black">
                <a:alpha val="40000"/>
              </a:prstClr>
            </a:outerShdw>
          </a:effectLst>
        </p:spPr>
        <p:txBody>
          <a:bodyPr rtlCol="0" anchor="ctr">
            <a:norm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寡头</a:t>
            </a:r>
            <a:endParaRPr kumimoji="0" lang="en-US" altLang="zh-CN"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4" name="矩形 3">
            <a:extLst>
              <a:ext uri="{FF2B5EF4-FFF2-40B4-BE49-F238E27FC236}">
                <a16:creationId xmlns:a16="http://schemas.microsoft.com/office/drawing/2014/main" id="{29D4621B-7639-47DA-B16C-EC41E72F8F64}"/>
              </a:ext>
            </a:extLst>
          </p:cNvPr>
          <p:cNvSpPr/>
          <p:nvPr/>
        </p:nvSpPr>
        <p:spPr>
          <a:xfrm>
            <a:off x="2051719" y="1392977"/>
            <a:ext cx="1467183" cy="2103957"/>
          </a:xfrm>
          <a:prstGeom prst="rect">
            <a:avLst/>
          </a:prstGeom>
          <a:solidFill>
            <a:srgbClr val="FFFFFF"/>
          </a:solidFill>
          <a:ln w="3175" cap="flat" cmpd="sng" algn="ctr">
            <a:solidFill>
              <a:srgbClr val="3B9DBB"/>
            </a:solidFill>
            <a:prstDash val="solid"/>
            <a:miter lim="800000"/>
          </a:ln>
          <a:effectLst>
            <a:outerShdw blurRad="50800" dist="38100" algn="l" rotWithShape="0">
              <a:prstClr val="black">
                <a:alpha val="40000"/>
              </a:prstClr>
            </a:outerShdw>
          </a:effectLst>
        </p:spPr>
        <p:txBody>
          <a:bodyPr rtlCol="0" anchor="ctr">
            <a:norm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垄断</a:t>
            </a:r>
            <a:endParaRPr kumimoji="0" lang="en-US" altLang="zh-CN"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5122" name="Rectangle 2"/>
          <p:cNvSpPr>
            <a:spLocks noGrp="1" noChangeArrowheads="1"/>
          </p:cNvSpPr>
          <p:nvPr>
            <p:ph type="title" idx="4294967295"/>
          </p:nvPr>
        </p:nvSpPr>
        <p:spPr>
          <a:ln/>
        </p:spPr>
        <p:txBody>
          <a:bodyPr/>
          <a:lstStyle/>
          <a:p>
            <a:pPr algn="ctr" eaLnBrk="1" hangingPunct="1"/>
            <a:r>
              <a:rPr lang="zh-CN" altLang="en-US" b="1" dirty="0">
                <a:latin typeface="微软雅黑" panose="020B0503020204020204" pitchFamily="34" charset="-122"/>
                <a:ea typeface="微软雅黑" panose="020B0503020204020204" pitchFamily="34" charset="-122"/>
              </a:rPr>
              <a:t>第五章</a:t>
            </a:r>
            <a:r>
              <a:rPr lang="en-US" altLang="zh-CN" b="1" dirty="0">
                <a:latin typeface="微软雅黑" panose="020B0503020204020204" pitchFamily="34" charset="-122"/>
                <a:ea typeface="微软雅黑" panose="020B0503020204020204" pitchFamily="34" charset="-122"/>
              </a:rPr>
              <a:t>	</a:t>
            </a:r>
            <a:r>
              <a:rPr lang="zh-CN" altLang="en-US" b="1" dirty="0">
                <a:latin typeface="微软雅黑" panose="020B0503020204020204" pitchFamily="34" charset="-122"/>
                <a:ea typeface="微软雅黑" panose="020B0503020204020204" pitchFamily="34" charset="-122"/>
              </a:rPr>
              <a:t>不完全竞争市场</a:t>
            </a:r>
          </a:p>
        </p:txBody>
      </p:sp>
      <p:sp>
        <p:nvSpPr>
          <p:cNvPr id="6" name="任意多边形 42">
            <a:extLst>
              <a:ext uri="{FF2B5EF4-FFF2-40B4-BE49-F238E27FC236}">
                <a16:creationId xmlns:a16="http://schemas.microsoft.com/office/drawing/2014/main" id="{D15E878E-A5CB-456F-B538-CB5BD387BB4F}"/>
              </a:ext>
            </a:extLst>
          </p:cNvPr>
          <p:cNvSpPr/>
          <p:nvPr/>
        </p:nvSpPr>
        <p:spPr>
          <a:xfrm>
            <a:off x="2164257" y="1216833"/>
            <a:ext cx="1164516" cy="548009"/>
          </a:xfrm>
          <a:custGeom>
            <a:avLst/>
            <a:gdLst>
              <a:gd name="connsiteX0" fmla="*/ 0 w 466725"/>
              <a:gd name="connsiteY0" fmla="*/ 0 h 533401"/>
              <a:gd name="connsiteX1" fmla="*/ 466725 w 466725"/>
              <a:gd name="connsiteY1" fmla="*/ 0 h 533401"/>
              <a:gd name="connsiteX2" fmla="*/ 466725 w 466725"/>
              <a:gd name="connsiteY2" fmla="*/ 300038 h 533401"/>
              <a:gd name="connsiteX3" fmla="*/ 233362 w 466725"/>
              <a:gd name="connsiteY3" fmla="*/ 533401 h 533401"/>
              <a:gd name="connsiteX4" fmla="*/ 233363 w 466725"/>
              <a:gd name="connsiteY4" fmla="*/ 533400 h 533401"/>
              <a:gd name="connsiteX5" fmla="*/ 0 w 466725"/>
              <a:gd name="connsiteY5" fmla="*/ 300037 h 533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725" h="533401">
                <a:moveTo>
                  <a:pt x="0" y="0"/>
                </a:moveTo>
                <a:lnTo>
                  <a:pt x="466725" y="0"/>
                </a:lnTo>
                <a:lnTo>
                  <a:pt x="466725" y="300038"/>
                </a:lnTo>
                <a:cubicBezTo>
                  <a:pt x="466725" y="428921"/>
                  <a:pt x="362245" y="533401"/>
                  <a:pt x="233362" y="533401"/>
                </a:cubicBezTo>
                <a:lnTo>
                  <a:pt x="233363" y="533400"/>
                </a:lnTo>
                <a:cubicBezTo>
                  <a:pt x="104480" y="533400"/>
                  <a:pt x="0" y="428920"/>
                  <a:pt x="0" y="300037"/>
                </a:cubicBezTo>
                <a:close/>
              </a:path>
            </a:pathLst>
          </a:custGeom>
          <a:solidFill>
            <a:srgbClr val="E5AB71"/>
          </a:solidFill>
          <a:ln w="12700" cap="flat" cmpd="sng" algn="ctr">
            <a:noFill/>
            <a:prstDash val="solid"/>
            <a:miter lim="800000"/>
          </a:ln>
          <a:effectLst>
            <a:outerShdw blurRad="50800" dist="25400" dir="10800000" algn="r" rotWithShape="0">
              <a:prstClr val="black">
                <a:alpha val="40000"/>
              </a:prstClr>
            </a:outerShdw>
          </a:effectLst>
        </p:spPr>
        <p:txBody>
          <a:bodyPr rtlCol="0" anchor="ctr">
            <a:norm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5" name="文本框 32">
            <a:extLst>
              <a:ext uri="{FF2B5EF4-FFF2-40B4-BE49-F238E27FC236}">
                <a16:creationId xmlns:a16="http://schemas.microsoft.com/office/drawing/2014/main" id="{F33D56E3-2885-47AA-9F5F-B8481E44F3B7}"/>
              </a:ext>
            </a:extLst>
          </p:cNvPr>
          <p:cNvSpPr txBox="1"/>
          <p:nvPr/>
        </p:nvSpPr>
        <p:spPr>
          <a:xfrm>
            <a:off x="2132680" y="1196752"/>
            <a:ext cx="1227671"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spc="150" dirty="0">
                <a:solidFill>
                  <a:schemeClr val="bg1"/>
                </a:solidFill>
                <a:latin typeface="微软雅黑" panose="020B0503020204020204" pitchFamily="34" charset="-122"/>
                <a:ea typeface="微软雅黑" panose="020B0503020204020204" pitchFamily="34" charset="-122"/>
              </a:rPr>
              <a:t>第一节</a:t>
            </a:r>
          </a:p>
        </p:txBody>
      </p:sp>
      <p:sp>
        <p:nvSpPr>
          <p:cNvPr id="9" name="任意多边形 42">
            <a:extLst>
              <a:ext uri="{FF2B5EF4-FFF2-40B4-BE49-F238E27FC236}">
                <a16:creationId xmlns:a16="http://schemas.microsoft.com/office/drawing/2014/main" id="{D15E878E-A5CB-456F-B538-CB5BD387BB4F}"/>
              </a:ext>
            </a:extLst>
          </p:cNvPr>
          <p:cNvSpPr/>
          <p:nvPr/>
        </p:nvSpPr>
        <p:spPr>
          <a:xfrm>
            <a:off x="4083204" y="1196752"/>
            <a:ext cx="1164516" cy="548009"/>
          </a:xfrm>
          <a:custGeom>
            <a:avLst/>
            <a:gdLst>
              <a:gd name="connsiteX0" fmla="*/ 0 w 466725"/>
              <a:gd name="connsiteY0" fmla="*/ 0 h 533401"/>
              <a:gd name="connsiteX1" fmla="*/ 466725 w 466725"/>
              <a:gd name="connsiteY1" fmla="*/ 0 h 533401"/>
              <a:gd name="connsiteX2" fmla="*/ 466725 w 466725"/>
              <a:gd name="connsiteY2" fmla="*/ 300038 h 533401"/>
              <a:gd name="connsiteX3" fmla="*/ 233362 w 466725"/>
              <a:gd name="connsiteY3" fmla="*/ 533401 h 533401"/>
              <a:gd name="connsiteX4" fmla="*/ 233363 w 466725"/>
              <a:gd name="connsiteY4" fmla="*/ 533400 h 533401"/>
              <a:gd name="connsiteX5" fmla="*/ 0 w 466725"/>
              <a:gd name="connsiteY5" fmla="*/ 300037 h 533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725" h="533401">
                <a:moveTo>
                  <a:pt x="0" y="0"/>
                </a:moveTo>
                <a:lnTo>
                  <a:pt x="466725" y="0"/>
                </a:lnTo>
                <a:lnTo>
                  <a:pt x="466725" y="300038"/>
                </a:lnTo>
                <a:cubicBezTo>
                  <a:pt x="466725" y="428921"/>
                  <a:pt x="362245" y="533401"/>
                  <a:pt x="233362" y="533401"/>
                </a:cubicBezTo>
                <a:lnTo>
                  <a:pt x="233363" y="533400"/>
                </a:lnTo>
                <a:cubicBezTo>
                  <a:pt x="104480" y="533400"/>
                  <a:pt x="0" y="428920"/>
                  <a:pt x="0" y="300037"/>
                </a:cubicBezTo>
                <a:close/>
              </a:path>
            </a:pathLst>
          </a:custGeom>
          <a:solidFill>
            <a:srgbClr val="E5AB71"/>
          </a:solidFill>
          <a:ln w="12700" cap="flat" cmpd="sng" algn="ctr">
            <a:noFill/>
            <a:prstDash val="solid"/>
            <a:miter lim="800000"/>
          </a:ln>
          <a:effectLst>
            <a:outerShdw blurRad="50800" dist="25400" dir="10800000" algn="r" rotWithShape="0">
              <a:prstClr val="black">
                <a:alpha val="40000"/>
              </a:prstClr>
            </a:outerShdw>
          </a:effectLst>
        </p:spPr>
        <p:txBody>
          <a:bodyPr rtlCol="0" anchor="ctr">
            <a:norm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8" name="文本框 32">
            <a:extLst>
              <a:ext uri="{FF2B5EF4-FFF2-40B4-BE49-F238E27FC236}">
                <a16:creationId xmlns:a16="http://schemas.microsoft.com/office/drawing/2014/main" id="{F33D56E3-2885-47AA-9F5F-B8481E44F3B7}"/>
              </a:ext>
            </a:extLst>
          </p:cNvPr>
          <p:cNvSpPr txBox="1"/>
          <p:nvPr/>
        </p:nvSpPr>
        <p:spPr>
          <a:xfrm>
            <a:off x="4069430" y="1196752"/>
            <a:ext cx="1227671"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spc="150" dirty="0">
                <a:solidFill>
                  <a:schemeClr val="bg1"/>
                </a:solidFill>
                <a:latin typeface="微软雅黑" panose="020B0503020204020204" pitchFamily="34" charset="-122"/>
                <a:ea typeface="微软雅黑" panose="020B0503020204020204" pitchFamily="34" charset="-122"/>
              </a:rPr>
              <a:t>第二节</a:t>
            </a:r>
          </a:p>
        </p:txBody>
      </p:sp>
      <p:sp>
        <p:nvSpPr>
          <p:cNvPr id="10" name="任意多边形 42">
            <a:extLst>
              <a:ext uri="{FF2B5EF4-FFF2-40B4-BE49-F238E27FC236}">
                <a16:creationId xmlns:a16="http://schemas.microsoft.com/office/drawing/2014/main" id="{D15E878E-A5CB-456F-B538-CB5BD387BB4F}"/>
              </a:ext>
            </a:extLst>
          </p:cNvPr>
          <p:cNvSpPr/>
          <p:nvPr/>
        </p:nvSpPr>
        <p:spPr>
          <a:xfrm>
            <a:off x="5878552" y="1196485"/>
            <a:ext cx="1164516" cy="548009"/>
          </a:xfrm>
          <a:custGeom>
            <a:avLst/>
            <a:gdLst>
              <a:gd name="connsiteX0" fmla="*/ 0 w 466725"/>
              <a:gd name="connsiteY0" fmla="*/ 0 h 533401"/>
              <a:gd name="connsiteX1" fmla="*/ 466725 w 466725"/>
              <a:gd name="connsiteY1" fmla="*/ 0 h 533401"/>
              <a:gd name="connsiteX2" fmla="*/ 466725 w 466725"/>
              <a:gd name="connsiteY2" fmla="*/ 300038 h 533401"/>
              <a:gd name="connsiteX3" fmla="*/ 233362 w 466725"/>
              <a:gd name="connsiteY3" fmla="*/ 533401 h 533401"/>
              <a:gd name="connsiteX4" fmla="*/ 233363 w 466725"/>
              <a:gd name="connsiteY4" fmla="*/ 533400 h 533401"/>
              <a:gd name="connsiteX5" fmla="*/ 0 w 466725"/>
              <a:gd name="connsiteY5" fmla="*/ 300037 h 533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725" h="533401">
                <a:moveTo>
                  <a:pt x="0" y="0"/>
                </a:moveTo>
                <a:lnTo>
                  <a:pt x="466725" y="0"/>
                </a:lnTo>
                <a:lnTo>
                  <a:pt x="466725" y="300038"/>
                </a:lnTo>
                <a:cubicBezTo>
                  <a:pt x="466725" y="428921"/>
                  <a:pt x="362245" y="533401"/>
                  <a:pt x="233362" y="533401"/>
                </a:cubicBezTo>
                <a:lnTo>
                  <a:pt x="233363" y="533400"/>
                </a:lnTo>
                <a:cubicBezTo>
                  <a:pt x="104480" y="533400"/>
                  <a:pt x="0" y="428920"/>
                  <a:pt x="0" y="300037"/>
                </a:cubicBezTo>
                <a:close/>
              </a:path>
            </a:pathLst>
          </a:custGeom>
          <a:solidFill>
            <a:srgbClr val="E5AB71"/>
          </a:solidFill>
          <a:ln w="12700" cap="flat" cmpd="sng" algn="ctr">
            <a:noFill/>
            <a:prstDash val="solid"/>
            <a:miter lim="800000"/>
          </a:ln>
          <a:effectLst>
            <a:outerShdw blurRad="50800" dist="25400" dir="10800000" algn="r" rotWithShape="0">
              <a:prstClr val="black">
                <a:alpha val="40000"/>
              </a:prstClr>
            </a:outerShdw>
          </a:effectLst>
        </p:spPr>
        <p:txBody>
          <a:bodyPr rtlCol="0" anchor="ctr">
            <a:norm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R="0" lvl="0" indent="0" algn="ctr">
              <a:lnSpc>
                <a:spcPct val="100000"/>
              </a:lnSpc>
              <a:buClrTx/>
              <a:buSzTx/>
              <a:buFont typeface="Arial" panose="020B0604020202020204" pitchFamily="34" charset="0"/>
              <a:buNone/>
              <a:tabLst/>
              <a:defRPr/>
            </a:pPr>
            <a:r>
              <a:rPr lang="zh-CN" altLang="en-US" sz="2400" spc="15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第三节</a:t>
            </a:r>
          </a:p>
        </p:txBody>
      </p:sp>
      <p:sp>
        <p:nvSpPr>
          <p:cNvPr id="11" name="任意多边形 42">
            <a:extLst>
              <a:ext uri="{FF2B5EF4-FFF2-40B4-BE49-F238E27FC236}">
                <a16:creationId xmlns:a16="http://schemas.microsoft.com/office/drawing/2014/main" id="{D15E878E-A5CB-456F-B538-CB5BD387BB4F}"/>
              </a:ext>
            </a:extLst>
          </p:cNvPr>
          <p:cNvSpPr/>
          <p:nvPr/>
        </p:nvSpPr>
        <p:spPr>
          <a:xfrm>
            <a:off x="2164257" y="3794370"/>
            <a:ext cx="1164516" cy="548009"/>
          </a:xfrm>
          <a:custGeom>
            <a:avLst/>
            <a:gdLst>
              <a:gd name="connsiteX0" fmla="*/ 0 w 466725"/>
              <a:gd name="connsiteY0" fmla="*/ 0 h 533401"/>
              <a:gd name="connsiteX1" fmla="*/ 466725 w 466725"/>
              <a:gd name="connsiteY1" fmla="*/ 0 h 533401"/>
              <a:gd name="connsiteX2" fmla="*/ 466725 w 466725"/>
              <a:gd name="connsiteY2" fmla="*/ 300038 h 533401"/>
              <a:gd name="connsiteX3" fmla="*/ 233362 w 466725"/>
              <a:gd name="connsiteY3" fmla="*/ 533401 h 533401"/>
              <a:gd name="connsiteX4" fmla="*/ 233363 w 466725"/>
              <a:gd name="connsiteY4" fmla="*/ 533400 h 533401"/>
              <a:gd name="connsiteX5" fmla="*/ 0 w 466725"/>
              <a:gd name="connsiteY5" fmla="*/ 300037 h 533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725" h="533401">
                <a:moveTo>
                  <a:pt x="0" y="0"/>
                </a:moveTo>
                <a:lnTo>
                  <a:pt x="466725" y="0"/>
                </a:lnTo>
                <a:lnTo>
                  <a:pt x="466725" y="300038"/>
                </a:lnTo>
                <a:cubicBezTo>
                  <a:pt x="466725" y="428921"/>
                  <a:pt x="362245" y="533401"/>
                  <a:pt x="233362" y="533401"/>
                </a:cubicBezTo>
                <a:lnTo>
                  <a:pt x="233363" y="533400"/>
                </a:lnTo>
                <a:cubicBezTo>
                  <a:pt x="104480" y="533400"/>
                  <a:pt x="0" y="428920"/>
                  <a:pt x="0" y="300037"/>
                </a:cubicBezTo>
                <a:close/>
              </a:path>
            </a:pathLst>
          </a:custGeom>
          <a:solidFill>
            <a:srgbClr val="E5AB71"/>
          </a:solidFill>
          <a:ln w="12700" cap="flat" cmpd="sng" algn="ctr">
            <a:noFill/>
            <a:prstDash val="solid"/>
            <a:miter lim="800000"/>
          </a:ln>
          <a:effectLst>
            <a:outerShdw blurRad="50800" dist="25400" dir="10800000" algn="r" rotWithShape="0">
              <a:prstClr val="black">
                <a:alpha val="40000"/>
              </a:prstClr>
            </a:outerShdw>
          </a:effectLst>
        </p:spPr>
        <p:txBody>
          <a:bodyPr rtlCol="0" anchor="ctr">
            <a:norm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400" spc="15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第四节</a:t>
            </a:r>
          </a:p>
        </p:txBody>
      </p:sp>
      <p:sp>
        <p:nvSpPr>
          <p:cNvPr id="12" name="任意多边形 42">
            <a:extLst>
              <a:ext uri="{FF2B5EF4-FFF2-40B4-BE49-F238E27FC236}">
                <a16:creationId xmlns:a16="http://schemas.microsoft.com/office/drawing/2014/main" id="{D15E878E-A5CB-456F-B538-CB5BD387BB4F}"/>
              </a:ext>
            </a:extLst>
          </p:cNvPr>
          <p:cNvSpPr/>
          <p:nvPr/>
        </p:nvSpPr>
        <p:spPr>
          <a:xfrm>
            <a:off x="4083204" y="3794370"/>
            <a:ext cx="1164516" cy="548009"/>
          </a:xfrm>
          <a:custGeom>
            <a:avLst/>
            <a:gdLst>
              <a:gd name="connsiteX0" fmla="*/ 0 w 466725"/>
              <a:gd name="connsiteY0" fmla="*/ 0 h 533401"/>
              <a:gd name="connsiteX1" fmla="*/ 466725 w 466725"/>
              <a:gd name="connsiteY1" fmla="*/ 0 h 533401"/>
              <a:gd name="connsiteX2" fmla="*/ 466725 w 466725"/>
              <a:gd name="connsiteY2" fmla="*/ 300038 h 533401"/>
              <a:gd name="connsiteX3" fmla="*/ 233362 w 466725"/>
              <a:gd name="connsiteY3" fmla="*/ 533401 h 533401"/>
              <a:gd name="connsiteX4" fmla="*/ 233363 w 466725"/>
              <a:gd name="connsiteY4" fmla="*/ 533400 h 533401"/>
              <a:gd name="connsiteX5" fmla="*/ 0 w 466725"/>
              <a:gd name="connsiteY5" fmla="*/ 300037 h 533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725" h="533401">
                <a:moveTo>
                  <a:pt x="0" y="0"/>
                </a:moveTo>
                <a:lnTo>
                  <a:pt x="466725" y="0"/>
                </a:lnTo>
                <a:lnTo>
                  <a:pt x="466725" y="300038"/>
                </a:lnTo>
                <a:cubicBezTo>
                  <a:pt x="466725" y="428921"/>
                  <a:pt x="362245" y="533401"/>
                  <a:pt x="233362" y="533401"/>
                </a:cubicBezTo>
                <a:lnTo>
                  <a:pt x="233363" y="533400"/>
                </a:lnTo>
                <a:cubicBezTo>
                  <a:pt x="104480" y="533400"/>
                  <a:pt x="0" y="428920"/>
                  <a:pt x="0" y="300037"/>
                </a:cubicBezTo>
                <a:close/>
              </a:path>
            </a:pathLst>
          </a:custGeom>
          <a:solidFill>
            <a:srgbClr val="E5AB71"/>
          </a:solidFill>
          <a:ln w="12700" cap="flat" cmpd="sng" algn="ctr">
            <a:noFill/>
            <a:prstDash val="solid"/>
            <a:miter lim="800000"/>
          </a:ln>
          <a:effectLst>
            <a:outerShdw blurRad="50800" dist="25400" dir="10800000" algn="r" rotWithShape="0">
              <a:prstClr val="black">
                <a:alpha val="40000"/>
              </a:prstClr>
            </a:outerShdw>
          </a:effectLst>
        </p:spPr>
        <p:txBody>
          <a:bodyPr rtlCol="0" anchor="ctr">
            <a:norm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13" name="任意多边形 42">
            <a:extLst>
              <a:ext uri="{FF2B5EF4-FFF2-40B4-BE49-F238E27FC236}">
                <a16:creationId xmlns:a16="http://schemas.microsoft.com/office/drawing/2014/main" id="{D15E878E-A5CB-456F-B538-CB5BD387BB4F}"/>
              </a:ext>
            </a:extLst>
          </p:cNvPr>
          <p:cNvSpPr/>
          <p:nvPr/>
        </p:nvSpPr>
        <p:spPr>
          <a:xfrm>
            <a:off x="5878552" y="3794370"/>
            <a:ext cx="1164516" cy="548009"/>
          </a:xfrm>
          <a:custGeom>
            <a:avLst/>
            <a:gdLst>
              <a:gd name="connsiteX0" fmla="*/ 0 w 466725"/>
              <a:gd name="connsiteY0" fmla="*/ 0 h 533401"/>
              <a:gd name="connsiteX1" fmla="*/ 466725 w 466725"/>
              <a:gd name="connsiteY1" fmla="*/ 0 h 533401"/>
              <a:gd name="connsiteX2" fmla="*/ 466725 w 466725"/>
              <a:gd name="connsiteY2" fmla="*/ 300038 h 533401"/>
              <a:gd name="connsiteX3" fmla="*/ 233362 w 466725"/>
              <a:gd name="connsiteY3" fmla="*/ 533401 h 533401"/>
              <a:gd name="connsiteX4" fmla="*/ 233363 w 466725"/>
              <a:gd name="connsiteY4" fmla="*/ 533400 h 533401"/>
              <a:gd name="connsiteX5" fmla="*/ 0 w 466725"/>
              <a:gd name="connsiteY5" fmla="*/ 300037 h 533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725" h="533401">
                <a:moveTo>
                  <a:pt x="0" y="0"/>
                </a:moveTo>
                <a:lnTo>
                  <a:pt x="466725" y="0"/>
                </a:lnTo>
                <a:lnTo>
                  <a:pt x="466725" y="300038"/>
                </a:lnTo>
                <a:cubicBezTo>
                  <a:pt x="466725" y="428921"/>
                  <a:pt x="362245" y="533401"/>
                  <a:pt x="233362" y="533401"/>
                </a:cubicBezTo>
                <a:lnTo>
                  <a:pt x="233363" y="533400"/>
                </a:lnTo>
                <a:cubicBezTo>
                  <a:pt x="104480" y="533400"/>
                  <a:pt x="0" y="428920"/>
                  <a:pt x="0" y="300037"/>
                </a:cubicBezTo>
                <a:close/>
              </a:path>
            </a:pathLst>
          </a:custGeom>
          <a:solidFill>
            <a:srgbClr val="E5AB71"/>
          </a:solidFill>
          <a:ln w="12700" cap="flat" cmpd="sng" algn="ctr">
            <a:noFill/>
            <a:prstDash val="solid"/>
            <a:miter lim="800000"/>
          </a:ln>
          <a:effectLst>
            <a:outerShdw blurRad="50800" dist="25400" dir="10800000" algn="r" rotWithShape="0">
              <a:prstClr val="black">
                <a:alpha val="40000"/>
              </a:prstClr>
            </a:outerShdw>
          </a:effectLst>
        </p:spPr>
        <p:txBody>
          <a:bodyPr rtlCol="0" anchor="ctr">
            <a:norm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2" name="文本框 1"/>
          <p:cNvSpPr txBox="1"/>
          <p:nvPr/>
        </p:nvSpPr>
        <p:spPr>
          <a:xfrm>
            <a:off x="4085187" y="3837541"/>
            <a:ext cx="1211677" cy="461665"/>
          </a:xfrm>
          <a:prstGeom prst="rect">
            <a:avLst/>
          </a:prstGeom>
          <a:noFill/>
        </p:spPr>
        <p:txBody>
          <a:bodyPr wrap="square" rtlCol="0">
            <a:spAutoFit/>
          </a:bodyPr>
          <a:lstStyle/>
          <a:p>
            <a:pPr algn="ctr" eaLnBrk="1" fontAlgn="auto" hangingPunct="1">
              <a:spcBef>
                <a:spcPts val="0"/>
              </a:spcBef>
              <a:spcAft>
                <a:spcPts val="0"/>
              </a:spcAft>
              <a:defRPr/>
            </a:pPr>
            <a:r>
              <a:rPr lang="zh-CN" altLang="en-US" sz="2400" spc="150" dirty="0">
                <a:solidFill>
                  <a:schemeClr val="bg1"/>
                </a:solidFill>
                <a:latin typeface="微软雅黑" panose="020B0503020204020204" pitchFamily="34" charset="-122"/>
                <a:ea typeface="微软雅黑" panose="020B0503020204020204" pitchFamily="34" charset="-122"/>
              </a:rPr>
              <a:t>第五节</a:t>
            </a:r>
          </a:p>
        </p:txBody>
      </p:sp>
      <p:sp>
        <p:nvSpPr>
          <p:cNvPr id="3" name="文本框 2"/>
          <p:cNvSpPr txBox="1"/>
          <p:nvPr/>
        </p:nvSpPr>
        <p:spPr>
          <a:xfrm>
            <a:off x="5785669" y="3794370"/>
            <a:ext cx="1257399" cy="461665"/>
          </a:xfrm>
          <a:prstGeom prst="rect">
            <a:avLst/>
          </a:prstGeom>
          <a:noFill/>
        </p:spPr>
        <p:txBody>
          <a:bodyPr wrap="square" rtlCol="0">
            <a:spAutoFit/>
          </a:bodyPr>
          <a:lstStyle/>
          <a:p>
            <a:pPr algn="ctr" eaLnBrk="1" fontAlgn="auto" hangingPunct="1">
              <a:spcBef>
                <a:spcPts val="0"/>
              </a:spcBef>
              <a:spcAft>
                <a:spcPts val="0"/>
              </a:spcAft>
              <a:defRPr/>
            </a:pPr>
            <a:r>
              <a:rPr lang="zh-CN" altLang="en-US" sz="2400" spc="150" dirty="0">
                <a:solidFill>
                  <a:schemeClr val="bg1"/>
                </a:solidFill>
                <a:latin typeface="微软雅黑" panose="020B0503020204020204" pitchFamily="34" charset="-122"/>
                <a:ea typeface="微软雅黑" panose="020B0503020204020204" pitchFamily="34" charset="-122"/>
              </a:rPr>
              <a:t>第六节</a:t>
            </a:r>
          </a:p>
        </p:txBody>
      </p:sp>
      <p:sp>
        <p:nvSpPr>
          <p:cNvPr id="20" name="文本框 19"/>
          <p:cNvSpPr txBox="1"/>
          <p:nvPr/>
        </p:nvSpPr>
        <p:spPr>
          <a:xfrm>
            <a:off x="3734958" y="4549256"/>
            <a:ext cx="1861008" cy="830997"/>
          </a:xfrm>
          <a:prstGeom prst="rect">
            <a:avLst/>
          </a:prstGeom>
          <a:noFill/>
        </p:spPr>
        <p:txBody>
          <a:bodyPr wrap="square" rtlCol="0">
            <a:spAutoFit/>
          </a:bodyPr>
          <a:lstStyle/>
          <a:p>
            <a:pPr algn="ctr"/>
            <a:r>
              <a:rPr lang="zh-CN" altLang="en-US" sz="2400" b="0" dirty="0">
                <a:latin typeface="微软雅黑" panose="020B0503020204020204" pitchFamily="34" charset="-122"/>
                <a:ea typeface="微软雅黑" panose="020B0503020204020204" pitchFamily="34" charset="-122"/>
              </a:rPr>
              <a:t>不同市场</a:t>
            </a:r>
            <a:endParaRPr lang="en-US" altLang="zh-CN" sz="2400" b="0" dirty="0">
              <a:latin typeface="微软雅黑" panose="020B0503020204020204" pitchFamily="34" charset="-122"/>
              <a:ea typeface="微软雅黑" panose="020B0503020204020204" pitchFamily="34" charset="-122"/>
            </a:endParaRPr>
          </a:p>
          <a:p>
            <a:pPr algn="ctr"/>
            <a:r>
              <a:rPr lang="zh-CN" altLang="en-US" sz="2400" b="0" dirty="0">
                <a:latin typeface="微软雅黑" panose="020B0503020204020204" pitchFamily="34" charset="-122"/>
                <a:ea typeface="微软雅黑" panose="020B0503020204020204" pitchFamily="34" charset="-122"/>
              </a:rPr>
              <a:t>的比较</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anim calcmode="lin" valueType="num">
                                      <p:cBhvr additive="base">
                                        <p:cTn id="7" dur="500" fill="hold"/>
                                        <p:tgtEl>
                                          <p:spTgt spid="5122"/>
                                        </p:tgtEl>
                                        <p:attrNameLst>
                                          <p:attrName>ppt_x</p:attrName>
                                        </p:attrNameLst>
                                      </p:cBhvr>
                                      <p:tavLst>
                                        <p:tav tm="0">
                                          <p:val>
                                            <p:strVal val="#ppt_x"/>
                                          </p:val>
                                        </p:tav>
                                        <p:tav tm="100000">
                                          <p:val>
                                            <p:strVal val="#ppt_x"/>
                                          </p:val>
                                        </p:tav>
                                      </p:tavLst>
                                    </p:anim>
                                    <p:anim calcmode="lin" valueType="num">
                                      <p:cBhvr additive="base">
                                        <p:cTn id="8" dur="500" fill="hold"/>
                                        <p:tgtEl>
                                          <p:spTgt spid="512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4" presetClass="entr" presetSubtype="1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randombar(horizontal)">
                                      <p:cBhvr>
                                        <p:cTn id="13" dur="500"/>
                                        <p:tgtEl>
                                          <p:spTgt spid="4"/>
                                        </p:tgtEl>
                                      </p:cBhvr>
                                    </p:animEffect>
                                  </p:childTnLst>
                                </p:cTn>
                              </p:par>
                              <p:par>
                                <p:cTn id="14" presetID="14" presetClass="entr" presetSubtype="1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randombar(horizontal)">
                                      <p:cBhvr>
                                        <p:cTn id="16" dur="500"/>
                                        <p:tgtEl>
                                          <p:spTgt spid="5"/>
                                        </p:tgtEl>
                                      </p:cBhvr>
                                    </p:animEffect>
                                  </p:childTnLst>
                                </p:cTn>
                              </p:par>
                              <p:par>
                                <p:cTn id="17" presetID="14" presetClass="entr" presetSubtype="1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randombar(horizontal)">
                                      <p:cBhvr>
                                        <p:cTn id="19" dur="500"/>
                                        <p:tgtEl>
                                          <p:spTgt spid="6"/>
                                        </p:tgtEl>
                                      </p:cBhvr>
                                    </p:animEffect>
                                  </p:childTnLst>
                                </p:cTn>
                              </p:par>
                              <p:par>
                                <p:cTn id="20" presetID="14" presetClass="entr" presetSubtype="10" fill="hold" grpId="0" nodeType="with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randombar(horizontal)">
                                      <p:cBhvr>
                                        <p:cTn id="22" dur="500"/>
                                        <p:tgtEl>
                                          <p:spTgt spid="24"/>
                                        </p:tgtEl>
                                      </p:cBhvr>
                                    </p:animEffect>
                                  </p:childTnLst>
                                </p:cTn>
                              </p:par>
                              <p:par>
                                <p:cTn id="23" presetID="14" presetClass="entr" presetSubtype="1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randombar(horizontal)">
                                      <p:cBhvr>
                                        <p:cTn id="25" dur="500"/>
                                        <p:tgtEl>
                                          <p:spTgt spid="7"/>
                                        </p:tgtEl>
                                      </p:cBhvr>
                                    </p:animEffect>
                                  </p:childTnLst>
                                </p:cTn>
                              </p:par>
                              <p:par>
                                <p:cTn id="26" presetID="14" presetClass="entr" presetSubtype="10" fill="hold" grpId="0" nodeType="with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randombar(horizontal)">
                                      <p:cBhvr>
                                        <p:cTn id="28" dur="500"/>
                                        <p:tgtEl>
                                          <p:spTgt spid="8"/>
                                        </p:tgtEl>
                                      </p:cBhvr>
                                    </p:animEffect>
                                  </p:childTnLst>
                                </p:cTn>
                              </p:par>
                              <p:par>
                                <p:cTn id="29" presetID="14" presetClass="entr" presetSubtype="1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randombar(horizontal)">
                                      <p:cBhvr>
                                        <p:cTn id="31" dur="500"/>
                                        <p:tgtEl>
                                          <p:spTgt spid="9"/>
                                        </p:tgtEl>
                                      </p:cBhvr>
                                    </p:animEffect>
                                  </p:childTnLst>
                                </p:cTn>
                              </p:par>
                              <p:par>
                                <p:cTn id="32" presetID="14" presetClass="entr" presetSubtype="10"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randombar(horizontal)">
                                      <p:cBhvr>
                                        <p:cTn id="34" dur="500"/>
                                        <p:tgtEl>
                                          <p:spTgt spid="10"/>
                                        </p:tgtEl>
                                      </p:cBhvr>
                                    </p:animEffect>
                                  </p:childTnLst>
                                </p:cTn>
                              </p:par>
                              <p:par>
                                <p:cTn id="35" presetID="14" presetClass="entr" presetSubtype="10"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randombar(horizontal)">
                                      <p:cBhvr>
                                        <p:cTn id="37" dur="500"/>
                                        <p:tgtEl>
                                          <p:spTgt spid="11"/>
                                        </p:tgtEl>
                                      </p:cBhvr>
                                    </p:animEffect>
                                  </p:childTnLst>
                                </p:cTn>
                              </p:par>
                              <p:par>
                                <p:cTn id="38" presetID="14" presetClass="entr" presetSubtype="10" fill="hold" grpId="0" nodeType="with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randombar(horizontal)">
                                      <p:cBhvr>
                                        <p:cTn id="40" dur="500"/>
                                        <p:tgtEl>
                                          <p:spTgt spid="12"/>
                                        </p:tgtEl>
                                      </p:cBhvr>
                                    </p:animEffect>
                                  </p:childTnLst>
                                </p:cTn>
                              </p:par>
                              <p:par>
                                <p:cTn id="41" presetID="14" presetClass="entr" presetSubtype="10" fill="hold" grpId="0" nodeType="with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randombar(horizontal)">
                                      <p:cBhvr>
                                        <p:cTn id="43" dur="500"/>
                                        <p:tgtEl>
                                          <p:spTgt spid="13"/>
                                        </p:tgtEl>
                                      </p:cBhvr>
                                    </p:animEffect>
                                  </p:childTnLst>
                                </p:cTn>
                              </p:par>
                              <p:par>
                                <p:cTn id="44" presetID="14" presetClass="entr" presetSubtype="10" fill="hold" grpId="0" nodeType="with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randombar(horizontal)">
                                      <p:cBhvr>
                                        <p:cTn id="46" dur="500"/>
                                        <p:tgtEl>
                                          <p:spTgt spid="14"/>
                                        </p:tgtEl>
                                      </p:cBhvr>
                                    </p:animEffect>
                                  </p:childTnLst>
                                </p:cTn>
                              </p:par>
                              <p:par>
                                <p:cTn id="47" presetID="14" presetClass="entr" presetSubtype="10" fill="hold" grpId="0" nodeType="withEffect">
                                  <p:stCondLst>
                                    <p:cond delay="0"/>
                                  </p:stCondLst>
                                  <p:childTnLst>
                                    <p:set>
                                      <p:cBhvr>
                                        <p:cTn id="48" dur="1" fill="hold">
                                          <p:stCondLst>
                                            <p:cond delay="0"/>
                                          </p:stCondLst>
                                        </p:cTn>
                                        <p:tgtEl>
                                          <p:spTgt spid="15"/>
                                        </p:tgtEl>
                                        <p:attrNameLst>
                                          <p:attrName>style.visibility</p:attrName>
                                        </p:attrNameLst>
                                      </p:cBhvr>
                                      <p:to>
                                        <p:strVal val="visible"/>
                                      </p:to>
                                    </p:set>
                                    <p:animEffect transition="in" filter="randombar(horizontal)">
                                      <p:cBhvr>
                                        <p:cTn id="49" dur="500"/>
                                        <p:tgtEl>
                                          <p:spTgt spid="15"/>
                                        </p:tgtEl>
                                      </p:cBhvr>
                                    </p:animEffect>
                                  </p:childTnLst>
                                </p:cTn>
                              </p:par>
                              <p:par>
                                <p:cTn id="50" presetID="14" presetClass="entr" presetSubtype="10" fill="hold" grpId="0" nodeType="with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randombar(horizontal)">
                                      <p:cBhvr>
                                        <p:cTn id="52" dur="500"/>
                                        <p:tgtEl>
                                          <p:spTgt spid="16"/>
                                        </p:tgtEl>
                                      </p:cBhvr>
                                    </p:animEffect>
                                  </p:childTnLst>
                                </p:cTn>
                              </p:par>
                              <p:par>
                                <p:cTn id="53" presetID="14" presetClass="entr" presetSubtype="10" fill="hold" grpId="0" nodeType="withEffect">
                                  <p:stCondLst>
                                    <p:cond delay="0"/>
                                  </p:stCondLst>
                                  <p:childTnLst>
                                    <p:set>
                                      <p:cBhvr>
                                        <p:cTn id="54" dur="1" fill="hold">
                                          <p:stCondLst>
                                            <p:cond delay="0"/>
                                          </p:stCondLst>
                                        </p:cTn>
                                        <p:tgtEl>
                                          <p:spTgt spid="17"/>
                                        </p:tgtEl>
                                        <p:attrNameLst>
                                          <p:attrName>style.visibility</p:attrName>
                                        </p:attrNameLst>
                                      </p:cBhvr>
                                      <p:to>
                                        <p:strVal val="visible"/>
                                      </p:to>
                                    </p:set>
                                    <p:animEffect transition="in" filter="randombar(horizontal)">
                                      <p:cBhvr>
                                        <p:cTn id="55" dur="500"/>
                                        <p:tgtEl>
                                          <p:spTgt spid="17"/>
                                        </p:tgtEl>
                                      </p:cBhvr>
                                    </p:animEffect>
                                  </p:childTnLst>
                                </p:cTn>
                              </p:par>
                              <p:par>
                                <p:cTn id="56" presetID="14" presetClass="entr" presetSubtype="10" fill="hold" grpId="0" nodeType="withEffect">
                                  <p:stCondLst>
                                    <p:cond delay="0"/>
                                  </p:stCondLst>
                                  <p:childTnLst>
                                    <p:set>
                                      <p:cBhvr>
                                        <p:cTn id="57" dur="1" fill="hold">
                                          <p:stCondLst>
                                            <p:cond delay="0"/>
                                          </p:stCondLst>
                                        </p:cTn>
                                        <p:tgtEl>
                                          <p:spTgt spid="25"/>
                                        </p:tgtEl>
                                        <p:attrNameLst>
                                          <p:attrName>style.visibility</p:attrName>
                                        </p:attrNameLst>
                                      </p:cBhvr>
                                      <p:to>
                                        <p:strVal val="visible"/>
                                      </p:to>
                                    </p:set>
                                    <p:animEffect transition="in" filter="randombar(horizontal)">
                                      <p:cBhvr>
                                        <p:cTn id="58" dur="500"/>
                                        <p:tgtEl>
                                          <p:spTgt spid="25"/>
                                        </p:tgtEl>
                                      </p:cBhvr>
                                    </p:animEffect>
                                  </p:childTnLst>
                                </p:cTn>
                              </p:par>
                              <p:par>
                                <p:cTn id="59" presetID="14" presetClass="entr" presetSubtype="10" fill="hold" grpId="0" nodeType="withEffect">
                                  <p:stCondLst>
                                    <p:cond delay="0"/>
                                  </p:stCondLst>
                                  <p:childTnLst>
                                    <p:set>
                                      <p:cBhvr>
                                        <p:cTn id="60" dur="1" fill="hold">
                                          <p:stCondLst>
                                            <p:cond delay="0"/>
                                          </p:stCondLst>
                                        </p:cTn>
                                        <p:tgtEl>
                                          <p:spTgt spid="26"/>
                                        </p:tgtEl>
                                        <p:attrNameLst>
                                          <p:attrName>style.visibility</p:attrName>
                                        </p:attrNameLst>
                                      </p:cBhvr>
                                      <p:to>
                                        <p:strVal val="visible"/>
                                      </p:to>
                                    </p:set>
                                    <p:animEffect transition="in" filter="randombar(horizontal)">
                                      <p:cBhvr>
                                        <p:cTn id="61" dur="500"/>
                                        <p:tgtEl>
                                          <p:spTgt spid="26"/>
                                        </p:tgtEl>
                                      </p:cBhvr>
                                    </p:animEffect>
                                  </p:childTnLst>
                                </p:cTn>
                              </p:par>
                              <p:par>
                                <p:cTn id="62" presetID="14" presetClass="entr" presetSubtype="10" fill="hold" grpId="0" nodeType="with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randombar(horizontal)">
                                      <p:cBhvr>
                                        <p:cTn id="64" dur="500"/>
                                        <p:tgtEl>
                                          <p:spTgt spid="27"/>
                                        </p:tgtEl>
                                      </p:cBhvr>
                                    </p:animEffect>
                                  </p:childTnLst>
                                </p:cTn>
                              </p:par>
                              <p:par>
                                <p:cTn id="65" presetID="14" presetClass="entr" presetSubtype="10" fill="hold" grpId="0" nodeType="withEffect">
                                  <p:stCondLst>
                                    <p:cond delay="0"/>
                                  </p:stCondLst>
                                  <p:childTnLst>
                                    <p:set>
                                      <p:cBhvr>
                                        <p:cTn id="66" dur="1" fill="hold">
                                          <p:stCondLst>
                                            <p:cond delay="0"/>
                                          </p:stCondLst>
                                        </p:cTn>
                                        <p:tgtEl>
                                          <p:spTgt spid="20"/>
                                        </p:tgtEl>
                                        <p:attrNameLst>
                                          <p:attrName>style.visibility</p:attrName>
                                        </p:attrNameLst>
                                      </p:cBhvr>
                                      <p:to>
                                        <p:strVal val="visible"/>
                                      </p:to>
                                    </p:set>
                                    <p:animEffect transition="in" filter="randombar(horizontal)">
                                      <p:cBhvr>
                                        <p:cTn id="6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6" grpId="0" animBg="1"/>
      <p:bldP spid="25" grpId="0" animBg="1"/>
      <p:bldP spid="24" grpId="0" animBg="1"/>
      <p:bldP spid="7" grpId="0" animBg="1"/>
      <p:bldP spid="17" grpId="0" animBg="1"/>
      <p:bldP spid="16" grpId="0" animBg="1"/>
      <p:bldP spid="15" grpId="0" animBg="1"/>
      <p:bldP spid="14" grpId="0" animBg="1"/>
      <p:bldP spid="4" grpId="0" animBg="1"/>
      <p:bldP spid="5122" grpId="0"/>
      <p:bldP spid="6" grpId="0" animBg="1"/>
      <p:bldP spid="5" grpId="0"/>
      <p:bldP spid="9" grpId="0" animBg="1"/>
      <p:bldP spid="8" grpId="0"/>
      <p:bldP spid="10" grpId="0" animBg="1"/>
      <p:bldP spid="11" grpId="0" animBg="1"/>
      <p:bldP spid="12" grpId="0" animBg="1"/>
      <p:bldP spid="13" grpId="0" animBg="1"/>
      <p:bldP spid="2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131900" y="524625"/>
            <a:ext cx="2768707" cy="646331"/>
          </a:xfrm>
          <a:prstGeom prst="rect">
            <a:avLst/>
          </a:prstGeom>
          <a:noFill/>
        </p:spPr>
        <p:txBody>
          <a:bodyPr wrap="none" rtlCol="0">
            <a:spAutoFit/>
          </a:bodyPr>
          <a:lstStyle/>
          <a:p>
            <a:pPr algn="ctr"/>
            <a:r>
              <a:rPr lang="zh-CN" altLang="en-US" sz="3600" dirty="0">
                <a:latin typeface="微软雅黑" panose="020B0503020204020204" pitchFamily="34" charset="-122"/>
                <a:ea typeface="微软雅黑" panose="020B0503020204020204" pitchFamily="34" charset="-122"/>
                <a:cs typeface="+mj-cs"/>
                <a:sym typeface="Arial" panose="020B0604020202020204" pitchFamily="34" charset="0"/>
              </a:rPr>
              <a:t>第一节  垄断</a:t>
            </a:r>
          </a:p>
        </p:txBody>
      </p:sp>
      <p:sp>
        <p:nvSpPr>
          <p:cNvPr id="4" name="MH_SubTitle_1">
            <a:extLst>
              <a:ext uri="{FF2B5EF4-FFF2-40B4-BE49-F238E27FC236}">
                <a16:creationId xmlns:a16="http://schemas.microsoft.com/office/drawing/2014/main" id="{B811FBAD-AB8E-4852-A8D0-5E64CAD5E915}"/>
              </a:ext>
            </a:extLst>
          </p:cNvPr>
          <p:cNvSpPr>
            <a:spLocks noChangeArrowheads="1"/>
          </p:cNvSpPr>
          <p:nvPr>
            <p:custDataLst>
              <p:tags r:id="rId1"/>
            </p:custDataLst>
          </p:nvPr>
        </p:nvSpPr>
        <p:spPr bwMode="gray">
          <a:xfrm>
            <a:off x="1691801" y="1604843"/>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一</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cxnSp>
        <p:nvCxnSpPr>
          <p:cNvPr id="5" name="MH_Other_5">
            <a:extLst>
              <a:ext uri="{FF2B5EF4-FFF2-40B4-BE49-F238E27FC236}">
                <a16:creationId xmlns:a16="http://schemas.microsoft.com/office/drawing/2014/main" id="{25D06B7F-7DCD-4D03-A450-0AAC55A41525}"/>
              </a:ext>
            </a:extLst>
          </p:cNvPr>
          <p:cNvCxnSpPr/>
          <p:nvPr>
            <p:custDataLst>
              <p:tags r:id="rId2"/>
            </p:custDataLst>
          </p:nvPr>
        </p:nvCxnSpPr>
        <p:spPr>
          <a:xfrm>
            <a:off x="2271239" y="1960443"/>
            <a:ext cx="0" cy="528637"/>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sp>
        <p:nvSpPr>
          <p:cNvPr id="6" name="MH_SubTitle_2">
            <a:extLst>
              <a:ext uri="{FF2B5EF4-FFF2-40B4-BE49-F238E27FC236}">
                <a16:creationId xmlns:a16="http://schemas.microsoft.com/office/drawing/2014/main" id="{324FEB12-6B52-4D2F-B5C9-D9A603800236}"/>
              </a:ext>
            </a:extLst>
          </p:cNvPr>
          <p:cNvSpPr>
            <a:spLocks noChangeArrowheads="1"/>
          </p:cNvSpPr>
          <p:nvPr>
            <p:custDataLst>
              <p:tags r:id="rId3"/>
            </p:custDataLst>
          </p:nvPr>
        </p:nvSpPr>
        <p:spPr bwMode="gray">
          <a:xfrm>
            <a:off x="1691801" y="2489080"/>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二</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cxnSp>
        <p:nvCxnSpPr>
          <p:cNvPr id="7" name="MH_Other_6">
            <a:extLst>
              <a:ext uri="{FF2B5EF4-FFF2-40B4-BE49-F238E27FC236}">
                <a16:creationId xmlns:a16="http://schemas.microsoft.com/office/drawing/2014/main" id="{B30D78AD-B3DA-44A6-A5F6-F28D02655A40}"/>
              </a:ext>
            </a:extLst>
          </p:cNvPr>
          <p:cNvCxnSpPr/>
          <p:nvPr>
            <p:custDataLst>
              <p:tags r:id="rId4"/>
            </p:custDataLst>
          </p:nvPr>
        </p:nvCxnSpPr>
        <p:spPr>
          <a:xfrm>
            <a:off x="2271239" y="2844680"/>
            <a:ext cx="0" cy="528638"/>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sp>
        <p:nvSpPr>
          <p:cNvPr id="8" name="MH_SubTitle_3">
            <a:extLst>
              <a:ext uri="{FF2B5EF4-FFF2-40B4-BE49-F238E27FC236}">
                <a16:creationId xmlns:a16="http://schemas.microsoft.com/office/drawing/2014/main" id="{3FEC77B5-DB98-453D-BDBC-6598DEA48C49}"/>
              </a:ext>
            </a:extLst>
          </p:cNvPr>
          <p:cNvSpPr>
            <a:spLocks noChangeArrowheads="1"/>
          </p:cNvSpPr>
          <p:nvPr>
            <p:custDataLst>
              <p:tags r:id="rId5"/>
            </p:custDataLst>
          </p:nvPr>
        </p:nvSpPr>
        <p:spPr bwMode="gray">
          <a:xfrm>
            <a:off x="1691801" y="3373318"/>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三</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cxnSp>
        <p:nvCxnSpPr>
          <p:cNvPr id="11" name="MH_Other_7">
            <a:extLst>
              <a:ext uri="{FF2B5EF4-FFF2-40B4-BE49-F238E27FC236}">
                <a16:creationId xmlns:a16="http://schemas.microsoft.com/office/drawing/2014/main" id="{DF653FE5-3B26-45B8-A03B-DDBD47BE3AA3}"/>
              </a:ext>
            </a:extLst>
          </p:cNvPr>
          <p:cNvCxnSpPr/>
          <p:nvPr>
            <p:custDataLst>
              <p:tags r:id="rId6"/>
            </p:custDataLst>
          </p:nvPr>
        </p:nvCxnSpPr>
        <p:spPr>
          <a:xfrm>
            <a:off x="2271239" y="3728918"/>
            <a:ext cx="0" cy="530225"/>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sp>
        <p:nvSpPr>
          <p:cNvPr id="12" name="MH_SubTitle_4">
            <a:extLst>
              <a:ext uri="{FF2B5EF4-FFF2-40B4-BE49-F238E27FC236}">
                <a16:creationId xmlns:a16="http://schemas.microsoft.com/office/drawing/2014/main" id="{906C2589-D3EE-4ADE-A5EC-65B915A21062}"/>
              </a:ext>
            </a:extLst>
          </p:cNvPr>
          <p:cNvSpPr>
            <a:spLocks noChangeArrowheads="1"/>
          </p:cNvSpPr>
          <p:nvPr>
            <p:custDataLst>
              <p:tags r:id="rId7"/>
            </p:custDataLst>
          </p:nvPr>
        </p:nvSpPr>
        <p:spPr bwMode="gray">
          <a:xfrm>
            <a:off x="1691801" y="4259143"/>
            <a:ext cx="1158875" cy="354012"/>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四</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cxnSp>
        <p:nvCxnSpPr>
          <p:cNvPr id="13" name="MH_Other_9">
            <a:extLst>
              <a:ext uri="{FF2B5EF4-FFF2-40B4-BE49-F238E27FC236}">
                <a16:creationId xmlns:a16="http://schemas.microsoft.com/office/drawing/2014/main" id="{F0DEA2FD-8402-4B14-A5DB-4DADFF8B4F5E}"/>
              </a:ext>
            </a:extLst>
          </p:cNvPr>
          <p:cNvCxnSpPr/>
          <p:nvPr>
            <p:custDataLst>
              <p:tags r:id="rId8"/>
            </p:custDataLst>
          </p:nvPr>
        </p:nvCxnSpPr>
        <p:spPr>
          <a:xfrm>
            <a:off x="2271238" y="4613155"/>
            <a:ext cx="0" cy="528637"/>
          </a:xfrm>
          <a:prstGeom prst="line">
            <a:avLst/>
          </a:prstGeom>
          <a:ln>
            <a:solidFill>
              <a:srgbClr val="F3C97F"/>
            </a:solidFill>
            <a:prstDash val="dash"/>
            <a:tailEnd type="stealth"/>
          </a:ln>
        </p:spPr>
        <p:style>
          <a:lnRef idx="1">
            <a:schemeClr val="dk1"/>
          </a:lnRef>
          <a:fillRef idx="0">
            <a:schemeClr val="dk1"/>
          </a:fillRef>
          <a:effectRef idx="0">
            <a:schemeClr val="dk1"/>
          </a:effectRef>
          <a:fontRef idx="minor">
            <a:schemeClr val="tx1"/>
          </a:fontRef>
        </p:style>
      </p:cxnSp>
      <p:sp>
        <p:nvSpPr>
          <p:cNvPr id="14" name="MH_SubTitle_5">
            <a:extLst>
              <a:ext uri="{FF2B5EF4-FFF2-40B4-BE49-F238E27FC236}">
                <a16:creationId xmlns:a16="http://schemas.microsoft.com/office/drawing/2014/main" id="{75368CAB-27CD-4703-8972-304F98A68B85}"/>
              </a:ext>
            </a:extLst>
          </p:cNvPr>
          <p:cNvSpPr>
            <a:spLocks noChangeArrowheads="1"/>
          </p:cNvSpPr>
          <p:nvPr>
            <p:custDataLst>
              <p:tags r:id="rId9"/>
            </p:custDataLst>
          </p:nvPr>
        </p:nvSpPr>
        <p:spPr bwMode="gray">
          <a:xfrm>
            <a:off x="1691801" y="5143380"/>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五</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sp>
        <p:nvSpPr>
          <p:cNvPr id="3" name="文本框 2"/>
          <p:cNvSpPr txBox="1"/>
          <p:nvPr/>
        </p:nvSpPr>
        <p:spPr>
          <a:xfrm flipH="1">
            <a:off x="3204023" y="1551810"/>
            <a:ext cx="2906486" cy="461665"/>
          </a:xfrm>
          <a:prstGeom prst="rect">
            <a:avLst/>
          </a:prstGeom>
          <a:noFill/>
        </p:spPr>
        <p:txBody>
          <a:bodyPr wrap="square" rtlCol="0">
            <a:spAutoFit/>
          </a:bodyPr>
          <a:lstStyle/>
          <a:p>
            <a:r>
              <a:rPr lang="zh-CN" altLang="en-US" sz="2400" b="0" dirty="0">
                <a:latin typeface="微软雅黑" panose="020B0503020204020204" pitchFamily="34" charset="-122"/>
                <a:ea typeface="微软雅黑" panose="020B0503020204020204" pitchFamily="34" charset="-122"/>
              </a:rPr>
              <a:t>垄断的含义及原因</a:t>
            </a:r>
          </a:p>
        </p:txBody>
      </p:sp>
      <p:sp>
        <p:nvSpPr>
          <p:cNvPr id="15" name="文本框 14"/>
          <p:cNvSpPr txBox="1"/>
          <p:nvPr/>
        </p:nvSpPr>
        <p:spPr>
          <a:xfrm>
            <a:off x="3204023" y="2447113"/>
            <a:ext cx="4493538" cy="461665"/>
          </a:xfrm>
          <a:prstGeom prst="rect">
            <a:avLst/>
          </a:prstGeom>
          <a:noFill/>
        </p:spPr>
        <p:txBody>
          <a:bodyPr wrap="none" rtlCol="0">
            <a:spAutoFit/>
          </a:bodyPr>
          <a:lstStyle/>
          <a:p>
            <a:r>
              <a:rPr lang="zh-CN" altLang="en-US" sz="2400" b="0" dirty="0">
                <a:latin typeface="微软雅黑" panose="020B0503020204020204" pitchFamily="34" charset="-122"/>
                <a:ea typeface="微软雅黑" panose="020B0503020204020204" pitchFamily="34" charset="-122"/>
              </a:rPr>
              <a:t>垄断企业的需求曲线和收益曲线</a:t>
            </a:r>
          </a:p>
        </p:txBody>
      </p:sp>
      <p:sp>
        <p:nvSpPr>
          <p:cNvPr id="16" name="文本框 15"/>
          <p:cNvSpPr txBox="1"/>
          <p:nvPr/>
        </p:nvSpPr>
        <p:spPr>
          <a:xfrm>
            <a:off x="3204023" y="3320285"/>
            <a:ext cx="2954655" cy="461665"/>
          </a:xfrm>
          <a:prstGeom prst="rect">
            <a:avLst/>
          </a:prstGeom>
          <a:noFill/>
        </p:spPr>
        <p:txBody>
          <a:bodyPr wrap="none" rtlCol="0">
            <a:spAutoFit/>
          </a:bodyPr>
          <a:lstStyle/>
          <a:p>
            <a:r>
              <a:rPr lang="zh-CN" altLang="en-US" sz="2400" b="0" dirty="0">
                <a:latin typeface="微软雅黑" panose="020B0503020204020204" pitchFamily="34" charset="-122"/>
                <a:ea typeface="微软雅黑" panose="020B0503020204020204" pitchFamily="34" charset="-122"/>
              </a:rPr>
              <a:t>垄断企业的短期均衡</a:t>
            </a:r>
          </a:p>
        </p:txBody>
      </p:sp>
      <p:sp>
        <p:nvSpPr>
          <p:cNvPr id="17" name="文本框 16"/>
          <p:cNvSpPr txBox="1"/>
          <p:nvPr/>
        </p:nvSpPr>
        <p:spPr>
          <a:xfrm>
            <a:off x="3204022" y="4205316"/>
            <a:ext cx="2954655" cy="461665"/>
          </a:xfrm>
          <a:prstGeom prst="rect">
            <a:avLst/>
          </a:prstGeom>
          <a:noFill/>
        </p:spPr>
        <p:txBody>
          <a:bodyPr wrap="none" rtlCol="0">
            <a:spAutoFit/>
          </a:bodyPr>
          <a:lstStyle/>
          <a:p>
            <a:r>
              <a:rPr lang="zh-CN" altLang="en-US" sz="2400" b="0" dirty="0">
                <a:latin typeface="微软雅黑" panose="020B0503020204020204" pitchFamily="34" charset="-122"/>
                <a:ea typeface="微软雅黑" panose="020B0503020204020204" pitchFamily="34" charset="-122"/>
              </a:rPr>
              <a:t>垄断企业的长期均衡</a:t>
            </a:r>
          </a:p>
        </p:txBody>
      </p:sp>
      <p:sp>
        <p:nvSpPr>
          <p:cNvPr id="18" name="文本框 17"/>
          <p:cNvSpPr txBox="1"/>
          <p:nvPr/>
        </p:nvSpPr>
        <p:spPr>
          <a:xfrm>
            <a:off x="3204022" y="5061772"/>
            <a:ext cx="1415772" cy="461665"/>
          </a:xfrm>
          <a:prstGeom prst="rect">
            <a:avLst/>
          </a:prstGeom>
          <a:noFill/>
        </p:spPr>
        <p:txBody>
          <a:bodyPr wrap="none" rtlCol="0">
            <a:spAutoFit/>
          </a:bodyPr>
          <a:lstStyle/>
          <a:p>
            <a:pPr marL="0" lvl="1"/>
            <a:r>
              <a:rPr lang="zh-CN" altLang="en-US" sz="2400" b="0" dirty="0">
                <a:latin typeface="微软雅黑" panose="020B0503020204020204" pitchFamily="34" charset="-122"/>
                <a:ea typeface="微软雅黑" panose="020B0503020204020204" pitchFamily="34" charset="-122"/>
              </a:rPr>
              <a:t>价格歧视</a:t>
            </a:r>
            <a:endParaRPr lang="en-US" altLang="zh-CN" sz="2400" b="0" dirty="0">
              <a:latin typeface="微软雅黑" panose="020B0503020204020204" pitchFamily="34" charset="-122"/>
              <a:ea typeface="微软雅黑" panose="020B0503020204020204" pitchFamily="34"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0"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500"/>
                                        <p:tgtEl>
                                          <p:spTgt spid="4"/>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750"/>
                                        <p:tgtEl>
                                          <p:spTgt spid="5"/>
                                        </p:tgtEl>
                                      </p:cBhvr>
                                    </p:animEffect>
                                    <p:anim calcmode="lin" valueType="num">
                                      <p:cBhvr>
                                        <p:cTn id="18" dur="750" fill="hold"/>
                                        <p:tgtEl>
                                          <p:spTgt spid="5"/>
                                        </p:tgtEl>
                                        <p:attrNameLst>
                                          <p:attrName>ppt_x</p:attrName>
                                        </p:attrNameLst>
                                      </p:cBhvr>
                                      <p:tavLst>
                                        <p:tav tm="0">
                                          <p:val>
                                            <p:strVal val="#ppt_x"/>
                                          </p:val>
                                        </p:tav>
                                        <p:tav tm="100000">
                                          <p:val>
                                            <p:strVal val="#ppt_x"/>
                                          </p:val>
                                        </p:tav>
                                      </p:tavLst>
                                    </p:anim>
                                    <p:anim calcmode="lin" valueType="num">
                                      <p:cBhvr>
                                        <p:cTn id="19" dur="75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750"/>
                                        <p:tgtEl>
                                          <p:spTgt spid="7"/>
                                        </p:tgtEl>
                                      </p:cBhvr>
                                    </p:animEffect>
                                    <p:anim calcmode="lin" valueType="num">
                                      <p:cBhvr>
                                        <p:cTn id="33" dur="750" fill="hold"/>
                                        <p:tgtEl>
                                          <p:spTgt spid="7"/>
                                        </p:tgtEl>
                                        <p:attrNameLst>
                                          <p:attrName>ppt_x</p:attrName>
                                        </p:attrNameLst>
                                      </p:cBhvr>
                                      <p:tavLst>
                                        <p:tav tm="0">
                                          <p:val>
                                            <p:strVal val="#ppt_x"/>
                                          </p:val>
                                        </p:tav>
                                        <p:tav tm="100000">
                                          <p:val>
                                            <p:strVal val="#ppt_x"/>
                                          </p:val>
                                        </p:tav>
                                      </p:tavLst>
                                    </p:anim>
                                    <p:anim calcmode="lin" valueType="num">
                                      <p:cBhvr>
                                        <p:cTn id="34" dur="75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500"/>
                                        <p:tgtEl>
                                          <p:spTgt spid="8"/>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500"/>
                                        <p:tgtEl>
                                          <p:spTgt spid="16"/>
                                        </p:tgtEl>
                                      </p:cBhvr>
                                    </p:animEffect>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750"/>
                                        <p:tgtEl>
                                          <p:spTgt spid="11"/>
                                        </p:tgtEl>
                                      </p:cBhvr>
                                    </p:animEffect>
                                    <p:anim calcmode="lin" valueType="num">
                                      <p:cBhvr>
                                        <p:cTn id="48" dur="750" fill="hold"/>
                                        <p:tgtEl>
                                          <p:spTgt spid="11"/>
                                        </p:tgtEl>
                                        <p:attrNameLst>
                                          <p:attrName>ppt_x</p:attrName>
                                        </p:attrNameLst>
                                      </p:cBhvr>
                                      <p:tavLst>
                                        <p:tav tm="0">
                                          <p:val>
                                            <p:strVal val="#ppt_x"/>
                                          </p:val>
                                        </p:tav>
                                        <p:tav tm="100000">
                                          <p:val>
                                            <p:strVal val="#ppt_x"/>
                                          </p:val>
                                        </p:tav>
                                      </p:tavLst>
                                    </p:anim>
                                    <p:anim calcmode="lin" valueType="num">
                                      <p:cBhvr>
                                        <p:cTn id="49" dur="75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12"/>
                                        </p:tgtEl>
                                        <p:attrNameLst>
                                          <p:attrName>style.visibility</p:attrName>
                                        </p:attrNameLst>
                                      </p:cBhvr>
                                      <p:to>
                                        <p:strVal val="visible"/>
                                      </p:to>
                                    </p:set>
                                    <p:animEffect transition="in" filter="fade">
                                      <p:cBhvr>
                                        <p:cTn id="54" dur="500"/>
                                        <p:tgtEl>
                                          <p:spTgt spid="12"/>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7"/>
                                        </p:tgtEl>
                                        <p:attrNameLst>
                                          <p:attrName>style.visibility</p:attrName>
                                        </p:attrNameLst>
                                      </p:cBhvr>
                                      <p:to>
                                        <p:strVal val="visible"/>
                                      </p:to>
                                    </p:set>
                                    <p:animEffect transition="in" filter="fade">
                                      <p:cBhvr>
                                        <p:cTn id="57" dur="500"/>
                                        <p:tgtEl>
                                          <p:spTgt spid="17"/>
                                        </p:tgtEl>
                                      </p:cBhvr>
                                    </p:animEffect>
                                  </p:childTnLst>
                                </p:cTn>
                              </p:par>
                            </p:childTnLst>
                          </p:cTn>
                        </p:par>
                      </p:childTnLst>
                    </p:cTn>
                  </p:par>
                  <p:par>
                    <p:cTn id="58" fill="hold">
                      <p:stCondLst>
                        <p:cond delay="indefinite"/>
                      </p:stCondLst>
                      <p:childTnLst>
                        <p:par>
                          <p:cTn id="59" fill="hold">
                            <p:stCondLst>
                              <p:cond delay="0"/>
                            </p:stCondLst>
                            <p:childTnLst>
                              <p:par>
                                <p:cTn id="60" presetID="42" presetClass="entr" presetSubtype="0" fill="hold" nodeType="clickEffect">
                                  <p:stCondLst>
                                    <p:cond delay="0"/>
                                  </p:stCondLst>
                                  <p:childTnLst>
                                    <p:set>
                                      <p:cBhvr>
                                        <p:cTn id="61" dur="1" fill="hold">
                                          <p:stCondLst>
                                            <p:cond delay="0"/>
                                          </p:stCondLst>
                                        </p:cTn>
                                        <p:tgtEl>
                                          <p:spTgt spid="13"/>
                                        </p:tgtEl>
                                        <p:attrNameLst>
                                          <p:attrName>style.visibility</p:attrName>
                                        </p:attrNameLst>
                                      </p:cBhvr>
                                      <p:to>
                                        <p:strVal val="visible"/>
                                      </p:to>
                                    </p:set>
                                    <p:animEffect transition="in" filter="fade">
                                      <p:cBhvr>
                                        <p:cTn id="62" dur="750"/>
                                        <p:tgtEl>
                                          <p:spTgt spid="13"/>
                                        </p:tgtEl>
                                      </p:cBhvr>
                                    </p:animEffect>
                                    <p:anim calcmode="lin" valueType="num">
                                      <p:cBhvr>
                                        <p:cTn id="63" dur="750" fill="hold"/>
                                        <p:tgtEl>
                                          <p:spTgt spid="13"/>
                                        </p:tgtEl>
                                        <p:attrNameLst>
                                          <p:attrName>ppt_x</p:attrName>
                                        </p:attrNameLst>
                                      </p:cBhvr>
                                      <p:tavLst>
                                        <p:tav tm="0">
                                          <p:val>
                                            <p:strVal val="#ppt_x"/>
                                          </p:val>
                                        </p:tav>
                                        <p:tav tm="100000">
                                          <p:val>
                                            <p:strVal val="#ppt_x"/>
                                          </p:val>
                                        </p:tav>
                                      </p:tavLst>
                                    </p:anim>
                                    <p:anim calcmode="lin" valueType="num">
                                      <p:cBhvr>
                                        <p:cTn id="64" dur="75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14"/>
                                        </p:tgtEl>
                                        <p:attrNameLst>
                                          <p:attrName>style.visibility</p:attrName>
                                        </p:attrNameLst>
                                      </p:cBhvr>
                                      <p:to>
                                        <p:strVal val="visible"/>
                                      </p:to>
                                    </p:set>
                                    <p:animEffect transition="in" filter="fade">
                                      <p:cBhvr>
                                        <p:cTn id="69" dur="500"/>
                                        <p:tgtEl>
                                          <p:spTgt spid="14"/>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18"/>
                                        </p:tgtEl>
                                        <p:attrNameLst>
                                          <p:attrName>style.visibility</p:attrName>
                                        </p:attrNameLst>
                                      </p:cBhvr>
                                      <p:to>
                                        <p:strVal val="visible"/>
                                      </p:to>
                                    </p:set>
                                    <p:animEffect transition="in" filter="fade">
                                      <p:cBhvr>
                                        <p:cTn id="7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6" grpId="0" animBg="1"/>
      <p:bldP spid="8" grpId="0" animBg="1"/>
      <p:bldP spid="12" grpId="0" animBg="1"/>
      <p:bldP spid="14" grpId="0" animBg="1"/>
      <p:bldP spid="3" grpId="0"/>
      <p:bldP spid="15" grpId="0"/>
      <p:bldP spid="16" grpId="0"/>
      <p:bldP spid="17" grpId="0"/>
      <p:bldP spid="1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F68E5273-CD77-47B9-B841-9D29349C133D}"/>
              </a:ext>
            </a:extLst>
          </p:cNvPr>
          <p:cNvSpPr/>
          <p:nvPr/>
        </p:nvSpPr>
        <p:spPr>
          <a:xfrm>
            <a:off x="467544" y="548680"/>
            <a:ext cx="3781805"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一、</a:t>
            </a:r>
            <a:r>
              <a:rPr lang="zh-CN" altLang="en-US" sz="2400" spc="15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垄断的含义及其原因</a:t>
            </a:r>
            <a:endParaRPr lang="zh-CN" altLang="en-US" sz="2400" b="1" spc="150" dirty="0">
              <a:solidFill>
                <a:srgbClr val="FFFFFF"/>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1115760" y="1516549"/>
            <a:ext cx="6048420" cy="4401205"/>
          </a:xfrm>
          <a:prstGeom prst="rect">
            <a:avLst/>
          </a:prstGeom>
          <a:noFill/>
        </p:spPr>
        <p:txBody>
          <a:bodyPr wrap="square" rtlCol="0">
            <a:spAutoFit/>
          </a:bodyPr>
          <a:lstStyle/>
          <a:p>
            <a:pPr marL="285750" indent="-285750">
              <a:lnSpc>
                <a:spcPct val="200000"/>
              </a:lnSpc>
              <a:buFont typeface="Wingdings" panose="05000000000000000000" pitchFamily="2" charset="2"/>
              <a:buChar char="u"/>
            </a:pPr>
            <a:r>
              <a:rPr lang="zh-CN" altLang="en-US" sz="2200" b="0" spc="300" dirty="0">
                <a:latin typeface="微软雅黑" panose="020B0503020204020204" pitchFamily="34" charset="-122"/>
                <a:ea typeface="微软雅黑" panose="020B0503020204020204" pitchFamily="34" charset="-122"/>
              </a:rPr>
              <a:t>垄断</a:t>
            </a:r>
            <a:endParaRPr lang="en-US" altLang="zh-CN" sz="2200" b="0" spc="300" dirty="0">
              <a:latin typeface="微软雅黑" panose="020B0503020204020204" pitchFamily="34" charset="-122"/>
              <a:ea typeface="微软雅黑" panose="020B0503020204020204" pitchFamily="34" charset="-122"/>
            </a:endParaRPr>
          </a:p>
          <a:p>
            <a:pPr marL="285750" indent="-285750">
              <a:lnSpc>
                <a:spcPct val="200000"/>
              </a:lnSpc>
              <a:buFont typeface="Wingdings" panose="05000000000000000000" pitchFamily="2" charset="2"/>
              <a:buChar char="Ø"/>
            </a:pPr>
            <a:r>
              <a:rPr lang="zh-CN" altLang="en-US" sz="2000" b="0" spc="300" dirty="0">
                <a:latin typeface="微软雅黑" panose="020B0503020204020204" pitchFamily="34" charset="-122"/>
                <a:ea typeface="微软雅黑" panose="020B0503020204020204" pitchFamily="34" charset="-122"/>
              </a:rPr>
              <a:t>垄断意味着在整个市场上</a:t>
            </a:r>
            <a:endParaRPr lang="en-US" altLang="zh-CN" sz="2000" b="0" spc="300" dirty="0">
              <a:latin typeface="微软雅黑" panose="020B0503020204020204" pitchFamily="34" charset="-122"/>
              <a:ea typeface="微软雅黑" panose="020B0503020204020204" pitchFamily="34" charset="-122"/>
            </a:endParaRPr>
          </a:p>
          <a:p>
            <a:pPr>
              <a:lnSpc>
                <a:spcPct val="200000"/>
              </a:lnSpc>
            </a:pPr>
            <a:r>
              <a:rPr lang="en-US" altLang="zh-CN" sz="2000" b="0" spc="300" dirty="0">
                <a:latin typeface="微软雅黑" panose="020B0503020204020204" pitchFamily="34" charset="-122"/>
                <a:ea typeface="微软雅黑" panose="020B0503020204020204" pitchFamily="34" charset="-122"/>
              </a:rPr>
              <a:t> </a:t>
            </a:r>
            <a:r>
              <a:rPr lang="zh-CN" altLang="en-US" sz="2000" b="0" spc="300" dirty="0">
                <a:latin typeface="微软雅黑" panose="020B0503020204020204" pitchFamily="34" charset="-122"/>
                <a:ea typeface="微软雅黑" panose="020B0503020204020204" pitchFamily="34" charset="-122"/>
              </a:rPr>
              <a:t>“只此一家”</a:t>
            </a:r>
            <a:endParaRPr lang="en-US" altLang="zh-CN" sz="2000" b="0" spc="300" dirty="0">
              <a:latin typeface="微软雅黑" panose="020B0503020204020204" pitchFamily="34" charset="-122"/>
              <a:ea typeface="微软雅黑" panose="020B0503020204020204" pitchFamily="34" charset="-122"/>
            </a:endParaRPr>
          </a:p>
          <a:p>
            <a:pPr marL="285750" indent="-285750">
              <a:lnSpc>
                <a:spcPct val="200000"/>
              </a:lnSpc>
              <a:buFont typeface="Wingdings" panose="05000000000000000000" pitchFamily="2" charset="2"/>
              <a:buChar char="Ø"/>
            </a:pPr>
            <a:endParaRPr lang="en-US" altLang="zh-CN" sz="1800" b="0" spc="300" dirty="0">
              <a:latin typeface="微软雅黑" panose="020B0503020204020204" pitchFamily="34" charset="-122"/>
              <a:ea typeface="微软雅黑" panose="020B0503020204020204" pitchFamily="34" charset="-122"/>
            </a:endParaRPr>
          </a:p>
          <a:p>
            <a:pPr marL="285750" indent="-285750">
              <a:lnSpc>
                <a:spcPct val="200000"/>
              </a:lnSpc>
              <a:buFont typeface="Wingdings" panose="05000000000000000000" pitchFamily="2" charset="2"/>
              <a:buChar char="Ø"/>
            </a:pPr>
            <a:r>
              <a:rPr lang="zh-CN" altLang="en-US" sz="2000" b="0" spc="300" dirty="0">
                <a:latin typeface="微软雅黑" panose="020B0503020204020204" pitchFamily="34" charset="-122"/>
                <a:ea typeface="微软雅黑" panose="020B0503020204020204" pitchFamily="34" charset="-122"/>
              </a:rPr>
              <a:t>垄断的原因</a:t>
            </a:r>
            <a:endParaRPr lang="en-US" altLang="zh-CN" sz="2000" b="0" spc="300" dirty="0">
              <a:latin typeface="微软雅黑" panose="020B0503020204020204" pitchFamily="34" charset="-122"/>
              <a:ea typeface="微软雅黑" panose="020B0503020204020204" pitchFamily="34" charset="-122"/>
            </a:endParaRPr>
          </a:p>
          <a:p>
            <a:pPr marL="285750" indent="-285750">
              <a:lnSpc>
                <a:spcPct val="200000"/>
              </a:lnSpc>
              <a:buFont typeface="Arial" panose="020B0604020202020204" pitchFamily="34" charset="0"/>
              <a:buChar char="•"/>
            </a:pPr>
            <a:r>
              <a:rPr lang="zh-CN" altLang="en-US" sz="2000" b="0" spc="300" dirty="0">
                <a:latin typeface="微软雅黑" panose="020B0503020204020204" pitchFamily="34" charset="-122"/>
                <a:ea typeface="微软雅黑" panose="020B0503020204020204" pitchFamily="34" charset="-122"/>
              </a:rPr>
              <a:t>很多企业都具有不同程度的垄断，但垄断形成的原因各不相同</a:t>
            </a:r>
          </a:p>
        </p:txBody>
      </p:sp>
      <p:sp>
        <p:nvSpPr>
          <p:cNvPr id="6" name="矩形 5"/>
          <p:cNvSpPr/>
          <p:nvPr/>
        </p:nvSpPr>
        <p:spPr>
          <a:xfrm>
            <a:off x="7505410" y="35458"/>
            <a:ext cx="1638590" cy="369332"/>
          </a:xfrm>
          <a:prstGeom prst="rect">
            <a:avLst/>
          </a:prstGeom>
        </p:spPr>
        <p:txBody>
          <a:bodyPr wrap="none">
            <a:spAutoFit/>
          </a:bodyPr>
          <a:lstStyle/>
          <a:p>
            <a:pPr algn="dist"/>
            <a:r>
              <a:rPr lang="zh-CN" altLang="en-US" sz="1800" b="0" spc="30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第一节 垄断</a:t>
            </a:r>
            <a:endParaRPr lang="zh-CN" altLang="en-US" sz="1800" b="0" spc="300" dirty="0">
              <a:solidFill>
                <a:schemeClr val="tx2"/>
              </a:solidFill>
              <a:ea typeface="黑体" panose="02010609060101010101" pitchFamily="49" charset="-122"/>
              <a:sym typeface="Arial" panose="020B0604020202020204" pitchFamily="34" charset="0"/>
            </a:endParaRPr>
          </a:p>
        </p:txBody>
      </p:sp>
      <p:pic>
        <p:nvPicPr>
          <p:cNvPr id="2" name="图片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24982" y="1010345"/>
            <a:ext cx="3407685" cy="3407685"/>
          </a:xfrm>
          <a:prstGeom prst="rect">
            <a:avLst/>
          </a:prstGeom>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anim calcmode="lin" valueType="num">
                                      <p:cBhvr>
                                        <p:cTn id="8"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1"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wipe(up)">
                                      <p:cBhvr>
                                        <p:cTn id="14" dur="500"/>
                                        <p:tgtEl>
                                          <p:spTgt spid="2"/>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animEffect transition="in" filter="fade">
                                      <p:cBhvr>
                                        <p:cTn id="19" dur="500"/>
                                        <p:tgtEl>
                                          <p:spTgt spid="4">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4">
                                            <p:txEl>
                                              <p:pRg st="2" end="2"/>
                                            </p:txEl>
                                          </p:spTgt>
                                        </p:tgtEl>
                                        <p:attrNameLst>
                                          <p:attrName>style.visibility</p:attrName>
                                        </p:attrNameLst>
                                      </p:cBhvr>
                                      <p:to>
                                        <p:strVal val="visible"/>
                                      </p:to>
                                    </p:set>
                                    <p:animEffect transition="in" filter="fade">
                                      <p:cBhvr>
                                        <p:cTn id="24" dur="500"/>
                                        <p:tgtEl>
                                          <p:spTgt spid="4">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4">
                                            <p:txEl>
                                              <p:pRg st="4" end="4"/>
                                            </p:txEl>
                                          </p:spTgt>
                                        </p:tgtEl>
                                        <p:attrNameLst>
                                          <p:attrName>style.visibility</p:attrName>
                                        </p:attrNameLst>
                                      </p:cBhvr>
                                      <p:to>
                                        <p:strVal val="visible"/>
                                      </p:to>
                                    </p:set>
                                    <p:animEffect transition="in" filter="fade">
                                      <p:cBhvr>
                                        <p:cTn id="29" dur="500"/>
                                        <p:tgtEl>
                                          <p:spTgt spid="4">
                                            <p:txEl>
                                              <p:pRg st="4" end="4"/>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4">
                                            <p:txEl>
                                              <p:pRg st="5" end="5"/>
                                            </p:txEl>
                                          </p:spTgt>
                                        </p:tgtEl>
                                        <p:attrNameLst>
                                          <p:attrName>style.visibility</p:attrName>
                                        </p:attrNameLst>
                                      </p:cBhvr>
                                      <p:to>
                                        <p:strVal val="visible"/>
                                      </p:to>
                                    </p:set>
                                    <p:animEffect transition="in" filter="fade">
                                      <p:cBhvr>
                                        <p:cTn id="34" dur="500"/>
                                        <p:tgtEl>
                                          <p:spTgt spid="4">
                                            <p:txEl>
                                              <p:pRg st="5" end="5"/>
                                            </p:txEl>
                                          </p:spTgt>
                                        </p:tgtEl>
                                      </p:cBhvr>
                                    </p:animEffect>
                                    <p:anim calcmode="lin" valueType="num">
                                      <p:cBhvr>
                                        <p:cTn id="35"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36" dur="5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3"/>
          <p:cNvSpPr>
            <a:spLocks noChangeArrowheads="1"/>
          </p:cNvSpPr>
          <p:nvPr/>
        </p:nvSpPr>
        <p:spPr bwMode="auto">
          <a:xfrm>
            <a:off x="467544" y="980830"/>
            <a:ext cx="8064730" cy="5097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342900" indent="-342900">
              <a:defRPr sz="1600" b="1">
                <a:solidFill>
                  <a:schemeClr val="tx1"/>
                </a:solidFill>
                <a:latin typeface="Arial" panose="020B0604020202020204" pitchFamily="34" charset="0"/>
                <a:ea typeface="宋体" panose="02010600030101010101" pitchFamily="2" charset="-122"/>
              </a:defRPr>
            </a:lvl3pPr>
            <a:lvl4pPr>
              <a:defRPr sz="1600" b="1">
                <a:solidFill>
                  <a:schemeClr val="tx1"/>
                </a:solidFill>
                <a:latin typeface="Arial" panose="020B0604020202020204" pitchFamily="34" charset="0"/>
                <a:ea typeface="宋体" panose="02010600030101010101" pitchFamily="2" charset="-122"/>
              </a:defRPr>
            </a:lvl4pPr>
            <a:lvl5pPr>
              <a:defRPr sz="1600" b="1">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9pPr>
          </a:lstStyle>
          <a:p>
            <a:pPr marL="285750" lvl="2" indent="-285750">
              <a:lnSpc>
                <a:spcPct val="200000"/>
              </a:lnSpc>
              <a:buFont typeface="Wingdings" panose="05000000000000000000" pitchFamily="2" charset="2"/>
              <a:buChar char="u"/>
            </a:pPr>
            <a:r>
              <a:rPr lang="zh-CN" altLang="en-US" sz="2200" b="0" spc="300" dirty="0">
                <a:latin typeface="微软雅黑" panose="020B0503020204020204" pitchFamily="34" charset="-122"/>
                <a:ea typeface="微软雅黑" panose="020B0503020204020204" pitchFamily="34" charset="-122"/>
                <a:sym typeface="Arial" panose="020B0604020202020204" pitchFamily="34" charset="0"/>
              </a:rPr>
              <a:t>垄断的类型，根据原因分类</a:t>
            </a:r>
            <a:endParaRPr lang="en-US" altLang="zh-CN" sz="2200" b="0" spc="300" dirty="0">
              <a:latin typeface="微软雅黑" panose="020B0503020204020204" pitchFamily="34" charset="-122"/>
              <a:ea typeface="微软雅黑" panose="020B0503020204020204" pitchFamily="34" charset="-122"/>
              <a:sym typeface="Arial" panose="020B0604020202020204" pitchFamily="34" charset="0"/>
            </a:endParaRPr>
          </a:p>
          <a:p>
            <a:pPr marL="800100" lvl="1" indent="-342900">
              <a:lnSpc>
                <a:spcPct val="150000"/>
              </a:lnSpc>
              <a:spcBef>
                <a:spcPct val="20000"/>
              </a:spcBef>
              <a:buFont typeface="Wingdings" panose="05000000000000000000" pitchFamily="2" charset="2"/>
              <a:buChar char="Ø"/>
            </a:pPr>
            <a:r>
              <a:rPr lang="zh-CN" altLang="en-US" sz="2000" b="0" spc="300" dirty="0">
                <a:latin typeface="微软雅黑" panose="020B0503020204020204" pitchFamily="34" charset="-122"/>
                <a:ea typeface="微软雅黑" panose="020B0503020204020204" pitchFamily="34" charset="-122"/>
                <a:sym typeface="Arial" panose="020B0604020202020204" pitchFamily="34" charset="0"/>
              </a:rPr>
              <a:t>特许垄断</a:t>
            </a:r>
            <a:r>
              <a:rPr lang="zh-CN" altLang="en-US" sz="24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a:t>
            </a:r>
            <a:r>
              <a:rPr lang="zh-CN" altLang="en-US" sz="1800" b="0" spc="30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政府把生产某种产品的权利给予某个企业</a:t>
            </a:r>
            <a:r>
              <a:rPr lang="en-US" altLang="zh-CN" sz="1800" b="0" spc="30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sz="1800" b="0" spc="30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而不允许任何其他企业染指。如许多公用事业企业就是这种类型的垄断企业。</a:t>
            </a:r>
            <a:endParaRPr lang="en-US" altLang="zh-CN" sz="1800" b="0" spc="300"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a:p>
            <a:pPr marL="800100" lvl="1" indent="-342900">
              <a:lnSpc>
                <a:spcPct val="150000"/>
              </a:lnSpc>
              <a:spcBef>
                <a:spcPct val="20000"/>
              </a:spcBef>
              <a:buFont typeface="Wingdings" panose="05000000000000000000" pitchFamily="2" charset="2"/>
              <a:buChar char="Ø"/>
            </a:pPr>
            <a:r>
              <a:rPr lang="zh-CN" altLang="en-US" sz="2000" b="0" spc="300" dirty="0">
                <a:latin typeface="微软雅黑" panose="020B0503020204020204" pitchFamily="34" charset="-122"/>
                <a:ea typeface="微软雅黑" panose="020B0503020204020204" pitchFamily="34" charset="-122"/>
                <a:sym typeface="Arial" panose="020B0604020202020204" pitchFamily="34" charset="0"/>
              </a:rPr>
              <a:t>专利垄断</a:t>
            </a:r>
            <a:r>
              <a:rPr lang="zh-CN" altLang="en-US" sz="24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a:t>
            </a:r>
            <a:r>
              <a:rPr lang="zh-CN" altLang="en-US" sz="1800" b="0" spc="30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某个企业拥有生产某种商品的专利权。专利垄断可以归为上述的资源垄断或特许垄断。 </a:t>
            </a:r>
            <a:endParaRPr lang="en-US" altLang="zh-CN" sz="1800" b="0" spc="300"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a:p>
            <a:pPr marL="800100" lvl="1" indent="-342900">
              <a:lnSpc>
                <a:spcPct val="150000"/>
              </a:lnSpc>
              <a:spcBef>
                <a:spcPct val="20000"/>
              </a:spcBef>
              <a:buFont typeface="Wingdings" panose="05000000000000000000" pitchFamily="2" charset="2"/>
              <a:buChar char="Ø"/>
            </a:pPr>
            <a:r>
              <a:rPr lang="zh-CN" altLang="en-US" sz="2000" b="0" spc="300" dirty="0">
                <a:latin typeface="微软雅黑" panose="020B0503020204020204" pitchFamily="34" charset="-122"/>
                <a:ea typeface="微软雅黑" panose="020B0503020204020204" pitchFamily="34" charset="-122"/>
                <a:sym typeface="Arial" panose="020B0604020202020204" pitchFamily="34" charset="0"/>
              </a:rPr>
              <a:t>自然垄断</a:t>
            </a:r>
            <a:r>
              <a:rPr lang="zh-CN" altLang="en-US" sz="24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a:t>
            </a:r>
            <a:r>
              <a:rPr lang="zh-CN" altLang="en-US" sz="1800" b="0" spc="30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自然垄断的产生常常与规模经济有关。 （概念与存续原因相对复杂，下详述）</a:t>
            </a:r>
            <a:endParaRPr lang="en-US" altLang="zh-CN" sz="1800" b="0" spc="300"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a:p>
            <a:pPr marL="800100" lvl="1" indent="-342900">
              <a:lnSpc>
                <a:spcPct val="150000"/>
              </a:lnSpc>
              <a:spcBef>
                <a:spcPct val="20000"/>
              </a:spcBef>
              <a:buFont typeface="Wingdings" panose="05000000000000000000" pitchFamily="2" charset="2"/>
              <a:buChar char="Ø"/>
            </a:pPr>
            <a:r>
              <a:rPr lang="zh-CN" altLang="en-US" sz="2000" b="0" spc="300" dirty="0">
                <a:latin typeface="微软雅黑" panose="020B0503020204020204" pitchFamily="34" charset="-122"/>
                <a:ea typeface="微软雅黑" panose="020B0503020204020204" pitchFamily="34" charset="-122"/>
              </a:rPr>
              <a:t>资源垄断</a:t>
            </a:r>
            <a:r>
              <a:rPr lang="zh-CN" altLang="en-US" sz="2400" b="0" dirty="0">
                <a:solidFill>
                  <a:srgbClr val="000000"/>
                </a:solidFill>
                <a:latin typeface="微软雅黑" panose="020B0503020204020204" pitchFamily="34" charset="-122"/>
                <a:ea typeface="微软雅黑" panose="020B0503020204020204" pitchFamily="34" charset="-122"/>
              </a:rPr>
              <a:t>：</a:t>
            </a:r>
            <a:r>
              <a:rPr lang="zh-CN" altLang="en-US" sz="1800" b="0" spc="300" dirty="0">
                <a:solidFill>
                  <a:srgbClr val="000000"/>
                </a:solidFill>
                <a:latin typeface="微软雅黑" panose="020B0503020204020204" pitchFamily="34" charset="-122"/>
                <a:ea typeface="微软雅黑" panose="020B0503020204020204" pitchFamily="34" charset="-122"/>
              </a:rPr>
              <a:t>某种产品的生产必须要有某种关键性的资源</a:t>
            </a:r>
            <a:r>
              <a:rPr lang="en-US" altLang="zh-CN" sz="1800" b="0" spc="300" dirty="0">
                <a:solidFill>
                  <a:srgbClr val="000000"/>
                </a:solidFill>
                <a:latin typeface="微软雅黑" panose="020B0503020204020204" pitchFamily="34" charset="-122"/>
                <a:ea typeface="微软雅黑" panose="020B0503020204020204" pitchFamily="34" charset="-122"/>
              </a:rPr>
              <a:t>, </a:t>
            </a:r>
            <a:r>
              <a:rPr lang="zh-CN" altLang="en-US" sz="1800" b="0" spc="300" dirty="0">
                <a:solidFill>
                  <a:srgbClr val="000000"/>
                </a:solidFill>
                <a:latin typeface="微软雅黑" panose="020B0503020204020204" pitchFamily="34" charset="-122"/>
                <a:ea typeface="微软雅黑" panose="020B0503020204020204" pitchFamily="34" charset="-122"/>
              </a:rPr>
              <a:t>而这种关键性的资源又为某个企业所独有</a:t>
            </a:r>
            <a:r>
              <a:rPr lang="zh-CN" altLang="en-US" sz="1700" b="0" spc="300" dirty="0">
                <a:solidFill>
                  <a:srgbClr val="000000"/>
                </a:solidFill>
                <a:latin typeface="微软雅黑" panose="020B0503020204020204" pitchFamily="34" charset="-122"/>
                <a:ea typeface="微软雅黑" panose="020B0503020204020204" pitchFamily="34" charset="-122"/>
              </a:rPr>
              <a:t>。</a:t>
            </a:r>
            <a:endParaRPr lang="zh-CN" altLang="en-US" sz="1700" b="0" spc="300"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 name="矩形 5">
            <a:extLst>
              <a:ext uri="{FF2B5EF4-FFF2-40B4-BE49-F238E27FC236}">
                <a16:creationId xmlns:a16="http://schemas.microsoft.com/office/drawing/2014/main" id="{F68E5273-CD77-47B9-B841-9D29349C133D}"/>
              </a:ext>
            </a:extLst>
          </p:cNvPr>
          <p:cNvSpPr/>
          <p:nvPr/>
        </p:nvSpPr>
        <p:spPr>
          <a:xfrm>
            <a:off x="467544" y="548680"/>
            <a:ext cx="3781805"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一、</a:t>
            </a:r>
            <a:r>
              <a:rPr lang="zh-CN" altLang="en-US" sz="2400" spc="15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垄断的含义及其原因</a:t>
            </a:r>
            <a:endParaRPr lang="zh-CN" altLang="en-US" sz="2400" b="1" spc="150" dirty="0">
              <a:solidFill>
                <a:srgbClr val="FFFFFF"/>
              </a:solidFill>
              <a:latin typeface="微软雅黑" panose="020B0503020204020204" pitchFamily="34" charset="-122"/>
              <a:ea typeface="微软雅黑" panose="020B0503020204020204" pitchFamily="34" charset="-122"/>
            </a:endParaRPr>
          </a:p>
        </p:txBody>
      </p:sp>
      <p:sp>
        <p:nvSpPr>
          <p:cNvPr id="5" name="矩形 4"/>
          <p:cNvSpPr/>
          <p:nvPr/>
        </p:nvSpPr>
        <p:spPr>
          <a:xfrm>
            <a:off x="7505410" y="35458"/>
            <a:ext cx="1638590" cy="369332"/>
          </a:xfrm>
          <a:prstGeom prst="rect">
            <a:avLst/>
          </a:prstGeom>
        </p:spPr>
        <p:txBody>
          <a:bodyPr wrap="none">
            <a:spAutoFit/>
          </a:bodyPr>
          <a:lstStyle/>
          <a:p>
            <a:pPr algn="dist"/>
            <a:r>
              <a:rPr lang="zh-CN" altLang="en-US" sz="1800" b="0" spc="30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第一节 垄断</a:t>
            </a:r>
            <a:endParaRPr lang="zh-CN" altLang="en-US" sz="1800" b="0" spc="300" dirty="0">
              <a:solidFill>
                <a:schemeClr val="tx2"/>
              </a:solidFill>
              <a:ea typeface="黑体" panose="02010609060101010101" pitchFamily="49" charset="-122"/>
              <a:sym typeface="Arial" panose="020B0604020202020204" pitchFamily="34"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194">
                                            <p:txEl>
                                              <p:pRg st="0" end="0"/>
                                            </p:txEl>
                                          </p:spTgt>
                                        </p:tgtEl>
                                        <p:attrNameLst>
                                          <p:attrName>style.visibility</p:attrName>
                                        </p:attrNameLst>
                                      </p:cBhvr>
                                      <p:to>
                                        <p:strVal val="visible"/>
                                      </p:to>
                                    </p:set>
                                    <p:animEffect>
                                      <p:cBhvr>
                                        <p:cTn id="7" dur="500"/>
                                        <p:tgtEl>
                                          <p:spTgt spid="819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194">
                                            <p:txEl>
                                              <p:pRg st="1" end="1"/>
                                            </p:txEl>
                                          </p:spTgt>
                                        </p:tgtEl>
                                        <p:attrNameLst>
                                          <p:attrName>style.visibility</p:attrName>
                                        </p:attrNameLst>
                                      </p:cBhvr>
                                      <p:to>
                                        <p:strVal val="visible"/>
                                      </p:to>
                                    </p:set>
                                    <p:animEffect>
                                      <p:cBhvr>
                                        <p:cTn id="12" dur="500"/>
                                        <p:tgtEl>
                                          <p:spTgt spid="819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8194">
                                            <p:txEl>
                                              <p:pRg st="2" end="2"/>
                                            </p:txEl>
                                          </p:spTgt>
                                        </p:tgtEl>
                                        <p:attrNameLst>
                                          <p:attrName>style.visibility</p:attrName>
                                        </p:attrNameLst>
                                      </p:cBhvr>
                                      <p:to>
                                        <p:strVal val="visible"/>
                                      </p:to>
                                    </p:set>
                                    <p:animEffect>
                                      <p:cBhvr>
                                        <p:cTn id="17" dur="500"/>
                                        <p:tgtEl>
                                          <p:spTgt spid="819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8194">
                                            <p:txEl>
                                              <p:pRg st="3" end="3"/>
                                            </p:txEl>
                                          </p:spTgt>
                                        </p:tgtEl>
                                        <p:attrNameLst>
                                          <p:attrName>style.visibility</p:attrName>
                                        </p:attrNameLst>
                                      </p:cBhvr>
                                      <p:to>
                                        <p:strVal val="visible"/>
                                      </p:to>
                                    </p:set>
                                    <p:animEffect>
                                      <p:cBhvr>
                                        <p:cTn id="22" dur="500"/>
                                        <p:tgtEl>
                                          <p:spTgt spid="819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8194">
                                            <p:txEl>
                                              <p:pRg st="4" end="4"/>
                                            </p:txEl>
                                          </p:spTgt>
                                        </p:tgtEl>
                                        <p:attrNameLst>
                                          <p:attrName>style.visibility</p:attrName>
                                        </p:attrNameLst>
                                      </p:cBhvr>
                                      <p:to>
                                        <p:strVal val="visible"/>
                                      </p:to>
                                    </p:set>
                                    <p:animEffect>
                                      <p:cBhvr>
                                        <p:cTn id="27" dur="500"/>
                                        <p:tgtEl>
                                          <p:spTgt spid="819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3"/>
          <p:cNvSpPr>
            <a:spLocks noGrp="1" noChangeArrowheads="1"/>
          </p:cNvSpPr>
          <p:nvPr>
            <p:ph type="body" idx="4294967295"/>
          </p:nvPr>
        </p:nvSpPr>
        <p:spPr>
          <a:xfrm>
            <a:off x="404306" y="1298811"/>
            <a:ext cx="8229600" cy="3384235"/>
          </a:xfrm>
          <a:ln/>
        </p:spPr>
        <p:txBody>
          <a:bodyPr/>
          <a:lstStyle/>
          <a:p>
            <a:pPr marL="457200" lvl="2" indent="-457200" eaLnBrk="1" hangingPunct="1">
              <a:buFont typeface="Wingdings" panose="05000000000000000000" pitchFamily="2" charset="2"/>
              <a:buChar char="u"/>
            </a:pPr>
            <a:r>
              <a:rPr lang="zh-CN" altLang="en-US" sz="2200" b="0" dirty="0">
                <a:latin typeface="微软雅黑" panose="020B0503020204020204" pitchFamily="34" charset="-122"/>
                <a:ea typeface="微软雅黑" panose="020B0503020204020204" pitchFamily="34" charset="-122"/>
              </a:rPr>
              <a:t>自然垄断的形成</a:t>
            </a:r>
            <a:endParaRPr lang="en-US" altLang="zh-CN" sz="2200" b="0" dirty="0">
              <a:latin typeface="微软雅黑" panose="020B0503020204020204" pitchFamily="34" charset="-122"/>
              <a:ea typeface="微软雅黑" panose="020B0503020204020204" pitchFamily="34" charset="-122"/>
            </a:endParaRPr>
          </a:p>
          <a:p>
            <a:pPr marL="742950" lvl="2" indent="-342900" eaLnBrk="1" hangingPunct="1">
              <a:lnSpc>
                <a:spcPct val="150000"/>
              </a:lnSpc>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rPr>
              <a:t>自然垄断的成因</a:t>
            </a:r>
            <a:endParaRPr lang="en-US" altLang="zh-CN" sz="2000" b="0" dirty="0">
              <a:latin typeface="微软雅黑" panose="020B0503020204020204" pitchFamily="34" charset="-122"/>
              <a:ea typeface="微软雅黑" panose="020B0503020204020204" pitchFamily="34" charset="-122"/>
            </a:endParaRPr>
          </a:p>
          <a:p>
            <a:pPr marL="742950" lvl="2" indent="-342900" eaLnBrk="1" hangingPunct="1">
              <a:buFont typeface="Arial" panose="020B0604020202020204" pitchFamily="34" charset="0"/>
              <a:buChar char="•"/>
            </a:pPr>
            <a:r>
              <a:rPr lang="zh-CN" altLang="en-US" sz="2000" b="0" dirty="0">
                <a:latin typeface="微软雅黑" panose="020B0503020204020204" pitchFamily="34" charset="-122"/>
                <a:ea typeface="微软雅黑" panose="020B0503020204020204" pitchFamily="34" charset="-122"/>
              </a:rPr>
              <a:t>规模经济</a:t>
            </a:r>
            <a:endParaRPr lang="en-US" altLang="zh-CN" sz="2000" b="0" dirty="0">
              <a:latin typeface="微软雅黑" panose="020B0503020204020204" pitchFamily="34" charset="-122"/>
              <a:ea typeface="微软雅黑" panose="020B0503020204020204" pitchFamily="34" charset="-122"/>
            </a:endParaRPr>
          </a:p>
          <a:p>
            <a:pPr marL="857250" lvl="3" indent="0" eaLnBrk="1" hangingPunct="1">
              <a:lnSpc>
                <a:spcPct val="150000"/>
              </a:lnSpc>
              <a:buNone/>
            </a:pPr>
            <a:r>
              <a:rPr lang="zh-CN" altLang="en-US" sz="1800" b="0" dirty="0">
                <a:latin typeface="微软雅黑" panose="020B0503020204020204" pitchFamily="34" charset="-122"/>
                <a:ea typeface="微软雅黑" panose="020B0503020204020204" pitchFamily="34" charset="-122"/>
              </a:rPr>
              <a:t>不变成本非常大，可变成本与边际成本相当小，随产量增加，平均成本不断下降，一直到一个充分大的产量上才达到最低点。</a:t>
            </a:r>
            <a:endParaRPr lang="en-US" altLang="zh-CN" sz="1800" b="0" dirty="0">
              <a:latin typeface="微软雅黑" panose="020B0503020204020204" pitchFamily="34" charset="-122"/>
              <a:ea typeface="微软雅黑" panose="020B0503020204020204" pitchFamily="34" charset="-122"/>
            </a:endParaRPr>
          </a:p>
          <a:p>
            <a:pPr marL="742950" lvl="2" indent="-342900" eaLnBrk="1" hangingPunct="1">
              <a:buFont typeface="Arial" panose="020B0604020202020204" pitchFamily="34" charset="0"/>
              <a:buChar char="•"/>
            </a:pPr>
            <a:r>
              <a:rPr lang="zh-CN" altLang="en-US" sz="2000" b="0" dirty="0">
                <a:latin typeface="微软雅黑" panose="020B0503020204020204" pitchFamily="34" charset="-122"/>
                <a:ea typeface="微软雅黑" panose="020B0503020204020204" pitchFamily="34" charset="-122"/>
              </a:rPr>
              <a:t>市场规模有限</a:t>
            </a:r>
            <a:endParaRPr lang="en-US" altLang="zh-CN" sz="2000" b="0" dirty="0">
              <a:latin typeface="微软雅黑" panose="020B0503020204020204" pitchFamily="34" charset="-122"/>
              <a:ea typeface="微软雅黑" panose="020B0503020204020204" pitchFamily="34" charset="-122"/>
            </a:endParaRPr>
          </a:p>
          <a:p>
            <a:pPr marL="857250" lvl="3" indent="0" eaLnBrk="1" hangingPunct="1">
              <a:lnSpc>
                <a:spcPct val="150000"/>
              </a:lnSpc>
              <a:buNone/>
            </a:pPr>
            <a:r>
              <a:rPr lang="zh-CN" altLang="en-US" sz="1800" b="0" dirty="0">
                <a:latin typeface="微软雅黑" panose="020B0503020204020204" pitchFamily="34" charset="-122"/>
                <a:ea typeface="微软雅黑" panose="020B0503020204020204" pitchFamily="34" charset="-122"/>
              </a:rPr>
              <a:t>该产量足够满足市场需要，如果有不止一个企业生产该产品</a:t>
            </a:r>
            <a:r>
              <a:rPr lang="en-US" altLang="zh-CN" sz="1800" b="0" dirty="0">
                <a:latin typeface="微软雅黑" panose="020B0503020204020204" pitchFamily="34" charset="-122"/>
                <a:ea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rPr>
              <a:t>则它们都无法达到最低的成本。</a:t>
            </a:r>
            <a:endParaRPr lang="en-US" altLang="zh-CN" sz="1800" b="0" dirty="0">
              <a:latin typeface="微软雅黑" panose="020B0503020204020204" pitchFamily="34" charset="-122"/>
              <a:ea typeface="微软雅黑" panose="020B0503020204020204" pitchFamily="34" charset="-122"/>
            </a:endParaRPr>
          </a:p>
        </p:txBody>
      </p:sp>
      <p:sp>
        <p:nvSpPr>
          <p:cNvPr id="9219" name="Line 9"/>
          <p:cNvSpPr>
            <a:spLocks noChangeShapeType="1"/>
          </p:cNvSpPr>
          <p:nvPr/>
        </p:nvSpPr>
        <p:spPr bwMode="auto">
          <a:xfrm>
            <a:off x="7380288" y="1125538"/>
            <a:ext cx="1587" cy="1587"/>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 name="下箭头 2"/>
          <p:cNvSpPr/>
          <p:nvPr/>
        </p:nvSpPr>
        <p:spPr bwMode="auto">
          <a:xfrm>
            <a:off x="4339094" y="4788666"/>
            <a:ext cx="360025" cy="506348"/>
          </a:xfrm>
          <a:prstGeom prst="downArrow">
            <a:avLst/>
          </a:prstGeom>
          <a:solidFill>
            <a:srgbClr val="C0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9" name="Rectangle 3"/>
          <p:cNvSpPr txBox="1">
            <a:spLocks noChangeArrowheads="1"/>
          </p:cNvSpPr>
          <p:nvPr/>
        </p:nvSpPr>
        <p:spPr bwMode="auto">
          <a:xfrm>
            <a:off x="449964" y="5577068"/>
            <a:ext cx="8229600" cy="642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0" rtl="0" eaLnBrk="0" fontAlgn="base" hangingPunct="0">
              <a:spcBef>
                <a:spcPct val="20000"/>
              </a:spcBef>
              <a:spcAft>
                <a:spcPct val="0"/>
              </a:spcAft>
              <a:buChar char="•"/>
              <a:defRPr sz="3200" b="1" kern="1200">
                <a:solidFill>
                  <a:srgbClr val="CC0000"/>
                </a:solidFill>
                <a:latin typeface="+mn-lt"/>
                <a:ea typeface="+mn-ea"/>
                <a:cs typeface="+mn-cs"/>
                <a:sym typeface="Arial" panose="020B0604020202020204" pitchFamily="34" charset="0"/>
              </a:defRPr>
            </a:lvl1pPr>
            <a:lvl2pPr marL="742950" indent="-285750" algn="l" defTabSz="0" rtl="0" eaLnBrk="0" fontAlgn="base" hangingPunct="0">
              <a:spcBef>
                <a:spcPct val="20000"/>
              </a:spcBef>
              <a:spcAft>
                <a:spcPct val="0"/>
              </a:spcAft>
              <a:buChar char="–"/>
              <a:defRPr sz="2800" b="1" kern="1200">
                <a:solidFill>
                  <a:schemeClr val="tx1"/>
                </a:solidFill>
                <a:latin typeface="+mn-lt"/>
                <a:ea typeface="+mn-ea"/>
                <a:cs typeface="+mn-cs"/>
                <a:sym typeface="Arial" panose="020B0604020202020204" pitchFamily="34" charset="0"/>
              </a:defRPr>
            </a:lvl2pPr>
            <a:lvl3pPr marL="1143000" indent="-228600" algn="l" defTabSz="0" rtl="0" eaLnBrk="0" fontAlgn="base" hangingPunct="0">
              <a:spcBef>
                <a:spcPct val="20000"/>
              </a:spcBef>
              <a:spcAft>
                <a:spcPct val="0"/>
              </a:spcAft>
              <a:buChar char="•"/>
              <a:defRPr sz="2400" b="1" kern="1200">
                <a:solidFill>
                  <a:schemeClr val="tx1"/>
                </a:solidFill>
                <a:latin typeface="+mn-lt"/>
                <a:ea typeface="+mn-ea"/>
                <a:cs typeface="+mn-cs"/>
                <a:sym typeface="Arial" panose="020B0604020202020204" pitchFamily="34" charset="0"/>
              </a:defRPr>
            </a:lvl3pPr>
            <a:lvl4pPr marL="1600200" indent="-228600" algn="l" defTabSz="0" rtl="0" eaLnBrk="0" fontAlgn="base" hangingPunct="0">
              <a:spcBef>
                <a:spcPct val="20000"/>
              </a:spcBef>
              <a:spcAft>
                <a:spcPct val="0"/>
              </a:spcAft>
              <a:buChar char="–"/>
              <a:defRPr sz="2000" b="1" kern="1200">
                <a:solidFill>
                  <a:schemeClr val="tx1"/>
                </a:solidFill>
                <a:latin typeface="+mn-lt"/>
                <a:ea typeface="+mn-ea"/>
                <a:cs typeface="+mn-cs"/>
                <a:sym typeface="Arial" panose="020B0604020202020204" pitchFamily="34" charset="0"/>
              </a:defRPr>
            </a:lvl4pPr>
            <a:lvl5pPr marL="2057400" indent="-228600" algn="l" defTabSz="0" rtl="0" eaLnBrk="0" fontAlgn="base" hangingPunct="0">
              <a:spcBef>
                <a:spcPct val="20000"/>
              </a:spcBef>
              <a:spcAft>
                <a:spcPct val="0"/>
              </a:spcAft>
              <a:buChar char="»"/>
              <a:defRPr sz="2000" b="1" kern="1200">
                <a:solidFill>
                  <a:schemeClr val="tx1"/>
                </a:solidFill>
                <a:latin typeface="+mn-lt"/>
                <a:ea typeface="+mn-ea"/>
                <a:cs typeface="+mn-cs"/>
                <a:sym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00100" lvl="3" indent="-342900" eaLnBrk="1" hangingPunct="1">
              <a:buFont typeface="Arial" panose="020B0604020202020204" pitchFamily="34" charset="0"/>
              <a:buChar char="•"/>
            </a:pPr>
            <a:r>
              <a:rPr lang="zh-CN" altLang="en-US" sz="1800" b="0" dirty="0">
                <a:latin typeface="微软雅黑" panose="020B0503020204020204" pitchFamily="34" charset="-122"/>
                <a:ea typeface="微软雅黑" panose="020B0503020204020204" pitchFamily="34" charset="-122"/>
              </a:rPr>
              <a:t>只允许一家企业以低成本生产，恰好满足市场需求</a:t>
            </a:r>
            <a:endParaRPr lang="en-US" altLang="zh-CN" sz="1800" b="0" dirty="0">
              <a:latin typeface="微软雅黑" panose="020B0503020204020204" pitchFamily="34" charset="-122"/>
              <a:ea typeface="微软雅黑" panose="020B0503020204020204" pitchFamily="34" charset="-122"/>
            </a:endParaRPr>
          </a:p>
        </p:txBody>
      </p:sp>
      <p:sp>
        <p:nvSpPr>
          <p:cNvPr id="10" name="Line 9"/>
          <p:cNvSpPr>
            <a:spLocks noChangeShapeType="1"/>
          </p:cNvSpPr>
          <p:nvPr/>
        </p:nvSpPr>
        <p:spPr bwMode="auto">
          <a:xfrm>
            <a:off x="7380288" y="3536952"/>
            <a:ext cx="1587" cy="1587"/>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2" name="矩形 11">
            <a:extLst>
              <a:ext uri="{FF2B5EF4-FFF2-40B4-BE49-F238E27FC236}">
                <a16:creationId xmlns:a16="http://schemas.microsoft.com/office/drawing/2014/main" id="{F68E5273-CD77-47B9-B841-9D29349C133D}"/>
              </a:ext>
            </a:extLst>
          </p:cNvPr>
          <p:cNvSpPr/>
          <p:nvPr/>
        </p:nvSpPr>
        <p:spPr>
          <a:xfrm>
            <a:off x="467544" y="548680"/>
            <a:ext cx="3781805"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一、</a:t>
            </a:r>
            <a:r>
              <a:rPr lang="zh-CN" altLang="en-US" sz="2400" spc="15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垄断的含义及其原因</a:t>
            </a:r>
            <a:endParaRPr lang="zh-CN" altLang="en-US" sz="2400" b="1" spc="150" dirty="0">
              <a:solidFill>
                <a:srgbClr val="FFFFFF"/>
              </a:solidFill>
              <a:latin typeface="微软雅黑" panose="020B0503020204020204" pitchFamily="34" charset="-122"/>
              <a:ea typeface="微软雅黑" panose="020B0503020204020204" pitchFamily="34" charset="-122"/>
            </a:endParaRPr>
          </a:p>
        </p:txBody>
      </p:sp>
      <p:sp>
        <p:nvSpPr>
          <p:cNvPr id="13" name="矩形 12"/>
          <p:cNvSpPr/>
          <p:nvPr/>
        </p:nvSpPr>
        <p:spPr>
          <a:xfrm>
            <a:off x="7505410" y="35458"/>
            <a:ext cx="1638590" cy="369332"/>
          </a:xfrm>
          <a:prstGeom prst="rect">
            <a:avLst/>
          </a:prstGeom>
        </p:spPr>
        <p:txBody>
          <a:bodyPr wrap="none">
            <a:spAutoFit/>
          </a:bodyPr>
          <a:lstStyle/>
          <a:p>
            <a:pPr algn="dist"/>
            <a:r>
              <a:rPr lang="zh-CN" altLang="en-US" sz="1800" b="0" spc="30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第一节 垄断</a:t>
            </a:r>
            <a:endParaRPr lang="zh-CN" altLang="en-US" sz="1800" b="0" spc="300" dirty="0">
              <a:solidFill>
                <a:schemeClr val="tx2"/>
              </a:solidFill>
              <a:ea typeface="黑体" panose="02010609060101010101" pitchFamily="49" charset="-122"/>
              <a:sym typeface="Arial" panose="020B0604020202020204" pitchFamily="34" charset="0"/>
            </a:endParaRPr>
          </a:p>
        </p:txBody>
      </p:sp>
      <p:sp>
        <p:nvSpPr>
          <p:cNvPr id="2" name="矩形 1"/>
          <p:cNvSpPr/>
          <p:nvPr/>
        </p:nvSpPr>
        <p:spPr>
          <a:xfrm>
            <a:off x="5789710" y="1193191"/>
            <a:ext cx="2520175" cy="584775"/>
          </a:xfrm>
          <a:prstGeom prst="rect">
            <a:avLst/>
          </a:prstGeom>
        </p:spPr>
        <p:txBody>
          <a:bodyPr wrap="square">
            <a:spAutoFit/>
          </a:bodyPr>
          <a:lstStyle/>
          <a:p>
            <a:r>
              <a:rPr lang="zh-CN" altLang="en-US" b="0" dirty="0">
                <a:latin typeface="微软雅黑" panose="020B0503020204020204" pitchFamily="34" charset="-122"/>
                <a:ea typeface="微软雅黑" panose="020B0503020204020204" pitchFamily="34" charset="-122"/>
              </a:rPr>
              <a:t>自然垄断就企业而数量而言，仅指一家企业</a:t>
            </a:r>
            <a:endParaRPr lang="zh-CN" altLang="en-US"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9" fill="hold" nodeType="clickEffect">
                                  <p:stCondLst>
                                    <p:cond delay="0"/>
                                  </p:stCondLst>
                                  <p:childTnLst>
                                    <p:set>
                                      <p:cBhvr>
                                        <p:cTn id="6" dur="1" fill="hold">
                                          <p:stCondLst>
                                            <p:cond delay="0"/>
                                          </p:stCondLst>
                                        </p:cTn>
                                        <p:tgtEl>
                                          <p:spTgt spid="9218">
                                            <p:txEl>
                                              <p:pRg st="0" end="0"/>
                                            </p:txEl>
                                          </p:spTgt>
                                        </p:tgtEl>
                                        <p:attrNameLst>
                                          <p:attrName>style.visibility</p:attrName>
                                        </p:attrNameLst>
                                      </p:cBhvr>
                                      <p:to>
                                        <p:strVal val="visible"/>
                                      </p:to>
                                    </p:set>
                                    <p:anim calcmode="lin" valueType="num">
                                      <p:cBhvr>
                                        <p:cTn id="7" dur="500" fill="hold"/>
                                        <p:tgtEl>
                                          <p:spTgt spid="9218">
                                            <p:txEl>
                                              <p:pRg st="0" end="0"/>
                                            </p:txEl>
                                          </p:spTgt>
                                        </p:tgtEl>
                                        <p:attrNameLst>
                                          <p:attrName>ppt_x</p:attrName>
                                        </p:attrNameLst>
                                      </p:cBhvr>
                                      <p:tavLst>
                                        <p:tav tm="0">
                                          <p:val>
                                            <p:strVal val="0-#ppt_w/2"/>
                                          </p:val>
                                        </p:tav>
                                        <p:tav tm="100000">
                                          <p:val>
                                            <p:strVal val="#ppt_x"/>
                                          </p:val>
                                        </p:tav>
                                      </p:tavLst>
                                    </p:anim>
                                    <p:anim calcmode="lin" valueType="num">
                                      <p:cBhvr>
                                        <p:cTn id="8" dur="500" fill="hold"/>
                                        <p:tgtEl>
                                          <p:spTgt spid="9218">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9" fill="hold" nodeType="clickEffect">
                                  <p:stCondLst>
                                    <p:cond delay="0"/>
                                  </p:stCondLst>
                                  <p:childTnLst>
                                    <p:set>
                                      <p:cBhvr>
                                        <p:cTn id="12" dur="1" fill="hold">
                                          <p:stCondLst>
                                            <p:cond delay="0"/>
                                          </p:stCondLst>
                                        </p:cTn>
                                        <p:tgtEl>
                                          <p:spTgt spid="9218">
                                            <p:txEl>
                                              <p:pRg st="1" end="1"/>
                                            </p:txEl>
                                          </p:spTgt>
                                        </p:tgtEl>
                                        <p:attrNameLst>
                                          <p:attrName>style.visibility</p:attrName>
                                        </p:attrNameLst>
                                      </p:cBhvr>
                                      <p:to>
                                        <p:strVal val="visible"/>
                                      </p:to>
                                    </p:set>
                                    <p:anim calcmode="lin" valueType="num">
                                      <p:cBhvr>
                                        <p:cTn id="13" dur="500" fill="hold"/>
                                        <p:tgtEl>
                                          <p:spTgt spid="9218">
                                            <p:txEl>
                                              <p:pRg st="1" end="1"/>
                                            </p:txEl>
                                          </p:spTgt>
                                        </p:tgtEl>
                                        <p:attrNameLst>
                                          <p:attrName>ppt_x</p:attrName>
                                        </p:attrNameLst>
                                      </p:cBhvr>
                                      <p:tavLst>
                                        <p:tav tm="0">
                                          <p:val>
                                            <p:strVal val="0-#ppt_w/2"/>
                                          </p:val>
                                        </p:tav>
                                        <p:tav tm="100000">
                                          <p:val>
                                            <p:strVal val="#ppt_x"/>
                                          </p:val>
                                        </p:tav>
                                      </p:tavLst>
                                    </p:anim>
                                    <p:anim calcmode="lin" valueType="num">
                                      <p:cBhvr>
                                        <p:cTn id="14" dur="500" fill="hold"/>
                                        <p:tgtEl>
                                          <p:spTgt spid="9218">
                                            <p:txEl>
                                              <p:pRg st="1" end="1"/>
                                            </p:txEl>
                                          </p:spTgt>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9218">
                                            <p:txEl>
                                              <p:pRg st="2" end="2"/>
                                            </p:txEl>
                                          </p:spTgt>
                                        </p:tgtEl>
                                        <p:attrNameLst>
                                          <p:attrName>style.visibility</p:attrName>
                                        </p:attrNameLst>
                                      </p:cBhvr>
                                      <p:to>
                                        <p:strVal val="visible"/>
                                      </p:to>
                                    </p:set>
                                    <p:animEffect transition="in" filter="fade">
                                      <p:cBhvr>
                                        <p:cTn id="19" dur="500"/>
                                        <p:tgtEl>
                                          <p:spTgt spid="9218">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9218">
                                            <p:txEl>
                                              <p:pRg st="3" end="3"/>
                                            </p:txEl>
                                          </p:spTgt>
                                        </p:tgtEl>
                                        <p:attrNameLst>
                                          <p:attrName>style.visibility</p:attrName>
                                        </p:attrNameLst>
                                      </p:cBhvr>
                                      <p:to>
                                        <p:strVal val="visible"/>
                                      </p:to>
                                    </p:set>
                                    <p:animEffect transition="in" filter="fade">
                                      <p:cBhvr>
                                        <p:cTn id="24" dur="500"/>
                                        <p:tgtEl>
                                          <p:spTgt spid="9218">
                                            <p:txEl>
                                              <p:pRg st="3" end="3"/>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9218">
                                            <p:txEl>
                                              <p:pRg st="4" end="4"/>
                                            </p:txEl>
                                          </p:spTgt>
                                        </p:tgtEl>
                                        <p:attrNameLst>
                                          <p:attrName>style.visibility</p:attrName>
                                        </p:attrNameLst>
                                      </p:cBhvr>
                                      <p:to>
                                        <p:strVal val="visible"/>
                                      </p:to>
                                    </p:set>
                                    <p:animEffect transition="in" filter="fade">
                                      <p:cBhvr>
                                        <p:cTn id="29" dur="500"/>
                                        <p:tgtEl>
                                          <p:spTgt spid="9218">
                                            <p:txEl>
                                              <p:pRg st="4" end="4"/>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9218">
                                            <p:txEl>
                                              <p:pRg st="5" end="5"/>
                                            </p:txEl>
                                          </p:spTgt>
                                        </p:tgtEl>
                                        <p:attrNameLst>
                                          <p:attrName>style.visibility</p:attrName>
                                        </p:attrNameLst>
                                      </p:cBhvr>
                                      <p:to>
                                        <p:strVal val="visible"/>
                                      </p:to>
                                    </p:set>
                                    <p:animEffect transition="in" filter="fade">
                                      <p:cBhvr>
                                        <p:cTn id="34" dur="500"/>
                                        <p:tgtEl>
                                          <p:spTgt spid="9218">
                                            <p:txEl>
                                              <p:pRg st="5" end="5"/>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3"/>
                                        </p:tgtEl>
                                        <p:attrNameLst>
                                          <p:attrName>style.visibility</p:attrName>
                                        </p:attrNameLst>
                                      </p:cBhvr>
                                      <p:to>
                                        <p:strVal val="visible"/>
                                      </p:to>
                                    </p:set>
                                    <p:anim calcmode="lin" valueType="num">
                                      <p:cBhvr additive="base">
                                        <p:cTn id="39" dur="500" fill="hold"/>
                                        <p:tgtEl>
                                          <p:spTgt spid="3"/>
                                        </p:tgtEl>
                                        <p:attrNameLst>
                                          <p:attrName>ppt_x</p:attrName>
                                        </p:attrNameLst>
                                      </p:cBhvr>
                                      <p:tavLst>
                                        <p:tav tm="0">
                                          <p:val>
                                            <p:strVal val="#ppt_x"/>
                                          </p:val>
                                        </p:tav>
                                        <p:tav tm="100000">
                                          <p:val>
                                            <p:strVal val="#ppt_x"/>
                                          </p:val>
                                        </p:tav>
                                      </p:tavLst>
                                    </p:anim>
                                    <p:anim calcmode="lin" valueType="num">
                                      <p:cBhvr additive="base">
                                        <p:cTn id="4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9">
                                            <p:txEl>
                                              <p:pRg st="0" end="0"/>
                                            </p:txEl>
                                          </p:spTgt>
                                        </p:tgtEl>
                                        <p:attrNameLst>
                                          <p:attrName>style.visibility</p:attrName>
                                        </p:attrNameLst>
                                      </p:cBhvr>
                                      <p:to>
                                        <p:strVal val="visible"/>
                                      </p:to>
                                    </p:set>
                                    <p:animEffect transition="in" filter="fade">
                                      <p:cBhvr>
                                        <p:cTn id="45"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Line 2"/>
          <p:cNvSpPr>
            <a:spLocks noChangeShapeType="1"/>
          </p:cNvSpPr>
          <p:nvPr/>
        </p:nvSpPr>
        <p:spPr bwMode="auto">
          <a:xfrm>
            <a:off x="1108711" y="1504973"/>
            <a:ext cx="0" cy="24733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60" name="Line 3"/>
          <p:cNvSpPr>
            <a:spLocks noChangeShapeType="1"/>
          </p:cNvSpPr>
          <p:nvPr/>
        </p:nvSpPr>
        <p:spPr bwMode="auto">
          <a:xfrm flipH="1">
            <a:off x="1219274" y="3352365"/>
            <a:ext cx="4862363" cy="47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61" name="Arc 4"/>
          <p:cNvSpPr>
            <a:spLocks/>
          </p:cNvSpPr>
          <p:nvPr/>
        </p:nvSpPr>
        <p:spPr bwMode="auto">
          <a:xfrm rot="10800000">
            <a:off x="1615764" y="1601810"/>
            <a:ext cx="2857500" cy="1714500"/>
          </a:xfrm>
          <a:custGeom>
            <a:avLst/>
            <a:gdLst>
              <a:gd name="T0" fmla="*/ 2147483647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1" y="0"/>
                </a:moveTo>
                <a:cubicBezTo>
                  <a:pt x="11936" y="6"/>
                  <a:pt x="21600" y="9675"/>
                  <a:pt x="21600" y="21600"/>
                </a:cubicBezTo>
              </a:path>
              <a:path w="21600" h="21600" stroke="0" extrusionOk="0">
                <a:moveTo>
                  <a:pt x="11" y="0"/>
                </a:moveTo>
                <a:cubicBezTo>
                  <a:pt x="11936" y="6"/>
                  <a:pt x="21600" y="9675"/>
                  <a:pt x="21600" y="21600"/>
                </a:cubicBezTo>
                <a:lnTo>
                  <a:pt x="0" y="21600"/>
                </a:lnTo>
                <a:close/>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9462" name="Rectangle 5"/>
          <p:cNvSpPr>
            <a:spLocks noChangeArrowheads="1"/>
          </p:cNvSpPr>
          <p:nvPr/>
        </p:nvSpPr>
        <p:spPr bwMode="auto">
          <a:xfrm>
            <a:off x="4323320" y="3070657"/>
            <a:ext cx="554640"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2000" dirty="0">
                <a:latin typeface="Arial" panose="020B0604020202020204" pitchFamily="34" charset="0"/>
              </a:rPr>
              <a:t>AC</a:t>
            </a:r>
          </a:p>
        </p:txBody>
      </p:sp>
      <p:sp>
        <p:nvSpPr>
          <p:cNvPr id="19463" name="Arc 6"/>
          <p:cNvSpPr>
            <a:spLocks/>
          </p:cNvSpPr>
          <p:nvPr/>
        </p:nvSpPr>
        <p:spPr bwMode="auto">
          <a:xfrm>
            <a:off x="1187765" y="2492935"/>
            <a:ext cx="3276600" cy="914400"/>
          </a:xfrm>
          <a:custGeom>
            <a:avLst/>
            <a:gdLst>
              <a:gd name="T0" fmla="*/ 2147483647 w 21600"/>
              <a:gd name="T1" fmla="*/ 2147483647 h 21600"/>
              <a:gd name="T2" fmla="*/ 0 w 21600"/>
              <a:gd name="T3" fmla="*/ 0 h 21600"/>
              <a:gd name="T4" fmla="*/ 2147483647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w="31750" cap="rnd">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p>
        </p:txBody>
      </p:sp>
      <p:sp>
        <p:nvSpPr>
          <p:cNvPr id="19464" name="Rectangle 7"/>
          <p:cNvSpPr>
            <a:spLocks noChangeArrowheads="1"/>
          </p:cNvSpPr>
          <p:nvPr/>
        </p:nvSpPr>
        <p:spPr bwMode="auto">
          <a:xfrm>
            <a:off x="4364619" y="3422443"/>
            <a:ext cx="581892"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2000" dirty="0">
                <a:solidFill>
                  <a:schemeClr val="accent2"/>
                </a:solidFill>
                <a:latin typeface="Arial" panose="020B0604020202020204" pitchFamily="34" charset="0"/>
              </a:rPr>
              <a:t>MC</a:t>
            </a:r>
          </a:p>
        </p:txBody>
      </p:sp>
      <p:sp>
        <p:nvSpPr>
          <p:cNvPr id="19465" name="Line 8"/>
          <p:cNvSpPr>
            <a:spLocks noChangeShapeType="1"/>
          </p:cNvSpPr>
          <p:nvPr/>
        </p:nvSpPr>
        <p:spPr bwMode="auto">
          <a:xfrm>
            <a:off x="2089940" y="1066823"/>
            <a:ext cx="1978025" cy="2740025"/>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66" name="Rectangle 9"/>
          <p:cNvSpPr>
            <a:spLocks noChangeArrowheads="1"/>
          </p:cNvSpPr>
          <p:nvPr/>
        </p:nvSpPr>
        <p:spPr bwMode="auto">
          <a:xfrm>
            <a:off x="2529192" y="1084202"/>
            <a:ext cx="2087563"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2000" b="1" dirty="0">
                <a:solidFill>
                  <a:schemeClr val="tx2"/>
                </a:solidFill>
                <a:latin typeface="Arial" panose="020B0604020202020204" pitchFamily="34" charset="0"/>
              </a:rPr>
              <a:t>DEMAND</a:t>
            </a:r>
          </a:p>
        </p:txBody>
      </p:sp>
      <p:sp>
        <p:nvSpPr>
          <p:cNvPr id="19467" name="Line 10"/>
          <p:cNvSpPr>
            <a:spLocks noChangeShapeType="1"/>
          </p:cNvSpPr>
          <p:nvPr/>
        </p:nvSpPr>
        <p:spPr bwMode="auto">
          <a:xfrm>
            <a:off x="1180789" y="3235348"/>
            <a:ext cx="2473325" cy="0"/>
          </a:xfrm>
          <a:prstGeom prst="line">
            <a:avLst/>
          </a:prstGeom>
          <a:noFill/>
          <a:ln w="12700">
            <a:solidFill>
              <a:schemeClr val="tx1"/>
            </a:solidFill>
            <a:prstDash val="lg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68" name="Line 11"/>
          <p:cNvSpPr>
            <a:spLocks noChangeShapeType="1"/>
          </p:cNvSpPr>
          <p:nvPr/>
        </p:nvSpPr>
        <p:spPr bwMode="auto">
          <a:xfrm>
            <a:off x="1979490" y="1447823"/>
            <a:ext cx="1368425" cy="2968625"/>
          </a:xfrm>
          <a:prstGeom prst="line">
            <a:avLst/>
          </a:prstGeom>
          <a:noFill/>
          <a:ln w="38100">
            <a:solidFill>
              <a:schemeClr val="tx2"/>
            </a:solidFill>
            <a:prstDash val="lg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69" name="Rectangle 12"/>
          <p:cNvSpPr>
            <a:spLocks noChangeArrowheads="1"/>
          </p:cNvSpPr>
          <p:nvPr/>
        </p:nvSpPr>
        <p:spPr bwMode="auto">
          <a:xfrm>
            <a:off x="3005838" y="4432635"/>
            <a:ext cx="850900"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2000" b="1" dirty="0">
                <a:solidFill>
                  <a:schemeClr val="tx2"/>
                </a:solidFill>
                <a:latin typeface="Arial" panose="020B0604020202020204" pitchFamily="34" charset="0"/>
              </a:rPr>
              <a:t>MR</a:t>
            </a:r>
          </a:p>
        </p:txBody>
      </p:sp>
      <p:sp>
        <p:nvSpPr>
          <p:cNvPr id="19470" name="Line 13"/>
          <p:cNvSpPr>
            <a:spLocks noChangeShapeType="1"/>
          </p:cNvSpPr>
          <p:nvPr/>
        </p:nvSpPr>
        <p:spPr bwMode="auto">
          <a:xfrm flipH="1" flipV="1">
            <a:off x="2812130" y="2001860"/>
            <a:ext cx="31750" cy="2012950"/>
          </a:xfrm>
          <a:prstGeom prst="line">
            <a:avLst/>
          </a:prstGeom>
          <a:noFill/>
          <a:ln w="12700">
            <a:solidFill>
              <a:schemeClr val="tx2"/>
            </a:solidFill>
            <a:prstDash val="dash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71" name="Line 14"/>
          <p:cNvSpPr>
            <a:spLocks noChangeShapeType="1"/>
          </p:cNvSpPr>
          <p:nvPr/>
        </p:nvSpPr>
        <p:spPr bwMode="auto">
          <a:xfrm>
            <a:off x="1104589" y="2016148"/>
            <a:ext cx="1711325" cy="0"/>
          </a:xfrm>
          <a:prstGeom prst="line">
            <a:avLst/>
          </a:prstGeom>
          <a:noFill/>
          <a:ln w="12700">
            <a:solidFill>
              <a:schemeClr val="tx2"/>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72" name="Rectangle 15"/>
          <p:cNvSpPr>
            <a:spLocks noChangeArrowheads="1"/>
          </p:cNvSpPr>
          <p:nvPr/>
        </p:nvSpPr>
        <p:spPr bwMode="auto">
          <a:xfrm>
            <a:off x="2412726" y="3898924"/>
            <a:ext cx="593112"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dirty="0">
                <a:latin typeface="Arial" panose="020B0604020202020204" pitchFamily="34" charset="0"/>
              </a:rPr>
              <a:t>Q</a:t>
            </a:r>
            <a:r>
              <a:rPr kumimoji="0" lang="en-US" altLang="zh-CN" baseline="-25000" dirty="0">
                <a:latin typeface="Arial" panose="020B0604020202020204" pitchFamily="34" charset="0"/>
              </a:rPr>
              <a:t>M</a:t>
            </a:r>
          </a:p>
        </p:txBody>
      </p:sp>
      <p:sp>
        <p:nvSpPr>
          <p:cNvPr id="19473" name="Rectangle 16"/>
          <p:cNvSpPr>
            <a:spLocks noChangeArrowheads="1"/>
          </p:cNvSpPr>
          <p:nvPr/>
        </p:nvSpPr>
        <p:spPr bwMode="auto">
          <a:xfrm>
            <a:off x="229876" y="1803423"/>
            <a:ext cx="625365"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b="1" dirty="0">
                <a:latin typeface="Arial" panose="020B0604020202020204" pitchFamily="34" charset="0"/>
              </a:rPr>
              <a:t> </a:t>
            </a:r>
            <a:r>
              <a:rPr kumimoji="0" lang="en-US" altLang="zh-CN" sz="2000" b="1" dirty="0">
                <a:latin typeface="Arial" panose="020B0604020202020204" pitchFamily="34" charset="0"/>
              </a:rPr>
              <a:t>P</a:t>
            </a:r>
            <a:r>
              <a:rPr kumimoji="0" lang="en-US" altLang="zh-CN" sz="2000" b="1" baseline="-25000" dirty="0">
                <a:latin typeface="Arial" panose="020B0604020202020204" pitchFamily="34" charset="0"/>
              </a:rPr>
              <a:t> M</a:t>
            </a:r>
          </a:p>
        </p:txBody>
      </p:sp>
      <p:sp>
        <p:nvSpPr>
          <p:cNvPr id="19474" name="Rectangle 17"/>
          <p:cNvSpPr>
            <a:spLocks noChangeArrowheads="1"/>
          </p:cNvSpPr>
          <p:nvPr/>
        </p:nvSpPr>
        <p:spPr bwMode="auto">
          <a:xfrm>
            <a:off x="-151124" y="2992460"/>
            <a:ext cx="1284007"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dirty="0">
                <a:latin typeface="Arial" panose="020B0604020202020204" pitchFamily="34" charset="0"/>
              </a:rPr>
              <a:t> </a:t>
            </a:r>
            <a:r>
              <a:rPr kumimoji="0" lang="en-US" altLang="zh-CN" sz="2000" b="1" dirty="0">
                <a:latin typeface="Arial" panose="020B0604020202020204" pitchFamily="34" charset="0"/>
              </a:rPr>
              <a:t>P</a:t>
            </a:r>
            <a:r>
              <a:rPr kumimoji="0" lang="en-US" altLang="zh-CN" sz="2000" b="1" baseline="-25000" dirty="0">
                <a:latin typeface="Arial" panose="020B0604020202020204" pitchFamily="34" charset="0"/>
              </a:rPr>
              <a:t>R</a:t>
            </a:r>
            <a:r>
              <a:rPr kumimoji="0" lang="en-US" altLang="zh-CN" b="1" dirty="0">
                <a:latin typeface="Arial" panose="020B0604020202020204" pitchFamily="34" charset="0"/>
              </a:rPr>
              <a:t> = </a:t>
            </a:r>
            <a:r>
              <a:rPr kumimoji="0" lang="en-US" altLang="zh-CN" sz="2000" b="1" dirty="0">
                <a:latin typeface="Arial" panose="020B0604020202020204" pitchFamily="34" charset="0"/>
              </a:rPr>
              <a:t>AC</a:t>
            </a:r>
          </a:p>
        </p:txBody>
      </p:sp>
      <p:sp>
        <p:nvSpPr>
          <p:cNvPr id="19475" name="Line 18"/>
          <p:cNvSpPr>
            <a:spLocks noChangeShapeType="1"/>
          </p:cNvSpPr>
          <p:nvPr/>
        </p:nvSpPr>
        <p:spPr bwMode="auto">
          <a:xfrm flipH="1">
            <a:off x="3660464" y="3257573"/>
            <a:ext cx="12700" cy="71668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76" name="Rectangle 19"/>
          <p:cNvSpPr>
            <a:spLocks noChangeArrowheads="1"/>
          </p:cNvSpPr>
          <p:nvPr/>
        </p:nvSpPr>
        <p:spPr bwMode="auto">
          <a:xfrm>
            <a:off x="3444402" y="3940485"/>
            <a:ext cx="563563"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dirty="0">
                <a:latin typeface="Arial" panose="020B0604020202020204" pitchFamily="34" charset="0"/>
              </a:rPr>
              <a:t>Q</a:t>
            </a:r>
            <a:r>
              <a:rPr kumimoji="0" lang="en-US" altLang="zh-CN" baseline="-25000" dirty="0">
                <a:latin typeface="Arial" panose="020B0604020202020204" pitchFamily="34" charset="0"/>
              </a:rPr>
              <a:t>R</a:t>
            </a:r>
          </a:p>
        </p:txBody>
      </p:sp>
      <p:sp>
        <p:nvSpPr>
          <p:cNvPr id="19477" name="Line 21"/>
          <p:cNvSpPr>
            <a:spLocks noChangeShapeType="1"/>
          </p:cNvSpPr>
          <p:nvPr/>
        </p:nvSpPr>
        <p:spPr bwMode="auto">
          <a:xfrm>
            <a:off x="4572000" y="3578585"/>
            <a:ext cx="15874" cy="2514600"/>
          </a:xfrm>
          <a:prstGeom prst="line">
            <a:avLst/>
          </a:prstGeom>
          <a:ln>
            <a:headEnd/>
            <a:tailEnd/>
          </a:ln>
        </p:spPr>
        <p:style>
          <a:lnRef idx="3">
            <a:schemeClr val="accent2"/>
          </a:lnRef>
          <a:fillRef idx="0">
            <a:schemeClr val="accent2"/>
          </a:fillRef>
          <a:effectRef idx="2">
            <a:schemeClr val="accent2"/>
          </a:effectRef>
          <a:fontRef idx="minor">
            <a:schemeClr val="tx1"/>
          </a:fontRef>
        </p:style>
        <p:txBody>
          <a:bodyPr/>
          <a:lstStyle/>
          <a:p>
            <a:endParaRPr lang="zh-CN" altLang="en-US"/>
          </a:p>
        </p:txBody>
      </p:sp>
      <p:sp>
        <p:nvSpPr>
          <p:cNvPr id="19478" name="Line 22"/>
          <p:cNvSpPr>
            <a:spLocks noChangeShapeType="1"/>
          </p:cNvSpPr>
          <p:nvPr/>
        </p:nvSpPr>
        <p:spPr bwMode="auto">
          <a:xfrm>
            <a:off x="4572000" y="6093185"/>
            <a:ext cx="4267200" cy="0"/>
          </a:xfrm>
          <a:prstGeom prst="line">
            <a:avLst/>
          </a:prstGeom>
          <a:ln>
            <a:headEnd/>
            <a:tailEnd/>
          </a:ln>
        </p:spPr>
        <p:style>
          <a:lnRef idx="3">
            <a:schemeClr val="accent2"/>
          </a:lnRef>
          <a:fillRef idx="0">
            <a:schemeClr val="accent2"/>
          </a:fillRef>
          <a:effectRef idx="2">
            <a:schemeClr val="accent2"/>
          </a:effectRef>
          <a:fontRef idx="minor">
            <a:schemeClr val="tx1"/>
          </a:fontRef>
        </p:style>
        <p:txBody>
          <a:bodyPr/>
          <a:lstStyle/>
          <a:p>
            <a:endParaRPr lang="zh-CN" altLang="en-US"/>
          </a:p>
        </p:txBody>
      </p:sp>
      <p:sp>
        <p:nvSpPr>
          <p:cNvPr id="19479" name="Arc 23"/>
          <p:cNvSpPr>
            <a:spLocks/>
          </p:cNvSpPr>
          <p:nvPr/>
        </p:nvSpPr>
        <p:spPr bwMode="auto">
          <a:xfrm flipV="1">
            <a:off x="4953000" y="3329010"/>
            <a:ext cx="1803400" cy="2057400"/>
          </a:xfrm>
          <a:custGeom>
            <a:avLst/>
            <a:gdLst>
              <a:gd name="T0" fmla="*/ 0 w 43132"/>
              <a:gd name="T1" fmla="*/ 2147483647 h 21600"/>
              <a:gd name="T2" fmla="*/ 2147483647 w 43132"/>
              <a:gd name="T3" fmla="*/ 2147483647 h 21600"/>
              <a:gd name="T4" fmla="*/ 2147483647 w 43132"/>
              <a:gd name="T5" fmla="*/ 2147483647 h 21600"/>
              <a:gd name="T6" fmla="*/ 0 60000 65536"/>
              <a:gd name="T7" fmla="*/ 0 60000 65536"/>
              <a:gd name="T8" fmla="*/ 0 60000 65536"/>
              <a:gd name="T9" fmla="*/ 0 w 43132"/>
              <a:gd name="T10" fmla="*/ 0 h 21600"/>
              <a:gd name="T11" fmla="*/ 43132 w 43132"/>
              <a:gd name="T12" fmla="*/ 21600 h 21600"/>
            </a:gdLst>
            <a:ahLst/>
            <a:cxnLst>
              <a:cxn ang="T6">
                <a:pos x="T0" y="T1"/>
              </a:cxn>
              <a:cxn ang="T7">
                <a:pos x="T2" y="T3"/>
              </a:cxn>
              <a:cxn ang="T8">
                <a:pos x="T4" y="T5"/>
              </a:cxn>
            </a:cxnLst>
            <a:rect l="T9" t="T10" r="T11" b="T12"/>
            <a:pathLst>
              <a:path w="43132" h="21600" fill="none" extrusionOk="0">
                <a:moveTo>
                  <a:pt x="-1" y="20320"/>
                </a:moveTo>
                <a:cubicBezTo>
                  <a:pt x="676" y="8908"/>
                  <a:pt x="10129" y="-1"/>
                  <a:pt x="21562" y="0"/>
                </a:cubicBezTo>
                <a:cubicBezTo>
                  <a:pt x="33049" y="0"/>
                  <a:pt x="42527" y="8991"/>
                  <a:pt x="43132" y="20462"/>
                </a:cubicBezTo>
              </a:path>
              <a:path w="43132" h="21600" stroke="0" extrusionOk="0">
                <a:moveTo>
                  <a:pt x="-1" y="20320"/>
                </a:moveTo>
                <a:cubicBezTo>
                  <a:pt x="676" y="8908"/>
                  <a:pt x="10129" y="-1"/>
                  <a:pt x="21562" y="0"/>
                </a:cubicBezTo>
                <a:cubicBezTo>
                  <a:pt x="33049" y="0"/>
                  <a:pt x="42527" y="8991"/>
                  <a:pt x="43132" y="20462"/>
                </a:cubicBezTo>
                <a:lnTo>
                  <a:pt x="21562" y="21600"/>
                </a:lnTo>
                <a:close/>
              </a:path>
            </a:pathLst>
          </a:custGeom>
          <a:noFill/>
          <a:ln w="47625">
            <a:solidFill>
              <a:srgbClr val="BB1528"/>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9480" name="Arc 24"/>
          <p:cNvSpPr>
            <a:spLocks/>
          </p:cNvSpPr>
          <p:nvPr/>
        </p:nvSpPr>
        <p:spPr bwMode="auto">
          <a:xfrm flipV="1">
            <a:off x="4953000" y="4014810"/>
            <a:ext cx="990600" cy="1981200"/>
          </a:xfrm>
          <a:custGeom>
            <a:avLst/>
            <a:gdLst>
              <a:gd name="T0" fmla="*/ 0 w 41150"/>
              <a:gd name="T1" fmla="*/ 2147483647 h 23134"/>
              <a:gd name="T2" fmla="*/ 2147483647 w 41150"/>
              <a:gd name="T3" fmla="*/ 2147483647 h 23134"/>
              <a:gd name="T4" fmla="*/ 2147483647 w 41150"/>
              <a:gd name="T5" fmla="*/ 2147483647 h 23134"/>
              <a:gd name="T6" fmla="*/ 0 60000 65536"/>
              <a:gd name="T7" fmla="*/ 0 60000 65536"/>
              <a:gd name="T8" fmla="*/ 0 60000 65536"/>
              <a:gd name="T9" fmla="*/ 0 w 41150"/>
              <a:gd name="T10" fmla="*/ 0 h 23134"/>
              <a:gd name="T11" fmla="*/ 41150 w 41150"/>
              <a:gd name="T12" fmla="*/ 23134 h 23134"/>
            </a:gdLst>
            <a:ahLst/>
            <a:cxnLst>
              <a:cxn ang="T6">
                <a:pos x="T0" y="T1"/>
              </a:cxn>
              <a:cxn ang="T7">
                <a:pos x="T2" y="T3"/>
              </a:cxn>
              <a:cxn ang="T8">
                <a:pos x="T4" y="T5"/>
              </a:cxn>
            </a:cxnLst>
            <a:rect l="T9" t="T10" r="T11" b="T12"/>
            <a:pathLst>
              <a:path w="41150" h="23134" fill="none" extrusionOk="0">
                <a:moveTo>
                  <a:pt x="0" y="12415"/>
                </a:moveTo>
                <a:cubicBezTo>
                  <a:pt x="3560" y="4837"/>
                  <a:pt x="11178" y="-1"/>
                  <a:pt x="19550" y="0"/>
                </a:cubicBezTo>
                <a:cubicBezTo>
                  <a:pt x="31479" y="0"/>
                  <a:pt x="41150" y="9670"/>
                  <a:pt x="41150" y="21600"/>
                </a:cubicBezTo>
                <a:cubicBezTo>
                  <a:pt x="41150" y="22111"/>
                  <a:pt x="41131" y="22623"/>
                  <a:pt x="41095" y="23134"/>
                </a:cubicBezTo>
              </a:path>
              <a:path w="41150" h="23134" stroke="0" extrusionOk="0">
                <a:moveTo>
                  <a:pt x="0" y="12415"/>
                </a:moveTo>
                <a:cubicBezTo>
                  <a:pt x="3560" y="4837"/>
                  <a:pt x="11178" y="-1"/>
                  <a:pt x="19550" y="0"/>
                </a:cubicBezTo>
                <a:cubicBezTo>
                  <a:pt x="31479" y="0"/>
                  <a:pt x="41150" y="9670"/>
                  <a:pt x="41150" y="21600"/>
                </a:cubicBezTo>
                <a:cubicBezTo>
                  <a:pt x="41150" y="22111"/>
                  <a:pt x="41131" y="22623"/>
                  <a:pt x="41095" y="23134"/>
                </a:cubicBezTo>
                <a:lnTo>
                  <a:pt x="19550" y="21600"/>
                </a:lnTo>
                <a:close/>
              </a:path>
            </a:pathLst>
          </a:custGeom>
          <a:noFill/>
          <a:ln w="25400">
            <a:solidFill>
              <a:srgbClr val="BB1528"/>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9481" name="Line 25"/>
          <p:cNvSpPr>
            <a:spLocks noChangeShapeType="1"/>
          </p:cNvSpPr>
          <p:nvPr/>
        </p:nvSpPr>
        <p:spPr bwMode="auto">
          <a:xfrm>
            <a:off x="7184040" y="3594180"/>
            <a:ext cx="1655160" cy="2249430"/>
          </a:xfrm>
          <a:prstGeom prst="line">
            <a:avLst/>
          </a:prstGeom>
          <a:noFill/>
          <a:ln w="31750">
            <a:solidFill>
              <a:srgbClr val="CC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482" name="Rectangle 26"/>
          <p:cNvSpPr>
            <a:spLocks noChangeArrowheads="1"/>
          </p:cNvSpPr>
          <p:nvPr/>
        </p:nvSpPr>
        <p:spPr bwMode="auto">
          <a:xfrm>
            <a:off x="6629400" y="4014810"/>
            <a:ext cx="554640"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2000" dirty="0">
                <a:solidFill>
                  <a:srgbClr val="FBBABC"/>
                </a:solidFill>
                <a:latin typeface="Arial" panose="020B0604020202020204" pitchFamily="34" charset="0"/>
              </a:rPr>
              <a:t>AC</a:t>
            </a:r>
          </a:p>
        </p:txBody>
      </p:sp>
      <p:sp>
        <p:nvSpPr>
          <p:cNvPr id="19484" name="Rectangle 28"/>
          <p:cNvSpPr>
            <a:spLocks noChangeArrowheads="1"/>
          </p:cNvSpPr>
          <p:nvPr/>
        </p:nvSpPr>
        <p:spPr bwMode="auto">
          <a:xfrm>
            <a:off x="7380195" y="3471371"/>
            <a:ext cx="2087562"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2000" b="1" dirty="0">
                <a:solidFill>
                  <a:schemeClr val="tx2"/>
                </a:solidFill>
                <a:latin typeface="Arial" panose="020B0604020202020204" pitchFamily="34" charset="0"/>
              </a:rPr>
              <a:t>DEMAND</a:t>
            </a:r>
          </a:p>
        </p:txBody>
      </p:sp>
      <p:cxnSp>
        <p:nvCxnSpPr>
          <p:cNvPr id="3" name="直接连接符 2"/>
          <p:cNvCxnSpPr/>
          <p:nvPr/>
        </p:nvCxnSpPr>
        <p:spPr bwMode="auto">
          <a:xfrm flipH="1">
            <a:off x="4809277" y="1423710"/>
            <a:ext cx="26761" cy="1822523"/>
          </a:xfrm>
          <a:prstGeom prst="line">
            <a:avLst/>
          </a:prstGeom>
          <a:solidFill>
            <a:schemeClr val="accent1"/>
          </a:solidFill>
          <a:ln w="41275" cap="flat" cmpd="sng" algn="ctr">
            <a:solidFill>
              <a:schemeClr val="tx1"/>
            </a:solidFill>
            <a:prstDash val="dash"/>
            <a:round/>
            <a:headEnd type="none" w="med" len="med"/>
            <a:tailEnd type="none" w="med" len="med"/>
          </a:ln>
          <a:effectLst/>
        </p:spPr>
      </p:cxnSp>
      <p:sp>
        <p:nvSpPr>
          <p:cNvPr id="31" name="Rectangle 5"/>
          <p:cNvSpPr>
            <a:spLocks noChangeArrowheads="1"/>
          </p:cNvSpPr>
          <p:nvPr/>
        </p:nvSpPr>
        <p:spPr bwMode="auto">
          <a:xfrm>
            <a:off x="4007965" y="1080335"/>
            <a:ext cx="268302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zh-CN" altLang="en-US" sz="2000" dirty="0">
                <a:solidFill>
                  <a:schemeClr val="bg2"/>
                </a:solidFill>
                <a:latin typeface="微软雅黑" panose="020B0503020204020204" pitchFamily="34" charset="-122"/>
                <a:ea typeface="微软雅黑" panose="020B0503020204020204" pitchFamily="34" charset="-122"/>
              </a:rPr>
              <a:t>规模经济产量</a:t>
            </a:r>
            <a:endParaRPr kumimoji="0" lang="en-US" altLang="zh-CN" sz="2000" dirty="0">
              <a:solidFill>
                <a:schemeClr val="bg2"/>
              </a:solidFill>
              <a:latin typeface="微软雅黑" panose="020B0503020204020204" pitchFamily="34" charset="-122"/>
              <a:ea typeface="微软雅黑" panose="020B0503020204020204" pitchFamily="34" charset="-122"/>
            </a:endParaRPr>
          </a:p>
        </p:txBody>
      </p:sp>
      <p:cxnSp>
        <p:nvCxnSpPr>
          <p:cNvPr id="33" name="直接连接符 32"/>
          <p:cNvCxnSpPr/>
          <p:nvPr/>
        </p:nvCxnSpPr>
        <p:spPr bwMode="auto">
          <a:xfrm>
            <a:off x="1957268" y="1695471"/>
            <a:ext cx="0" cy="2300289"/>
          </a:xfrm>
          <a:prstGeom prst="line">
            <a:avLst/>
          </a:prstGeom>
          <a:solidFill>
            <a:schemeClr val="accent1"/>
          </a:solidFill>
          <a:ln w="41275" cap="flat" cmpd="sng" algn="ctr">
            <a:solidFill>
              <a:schemeClr val="tx1"/>
            </a:solidFill>
            <a:prstDash val="dash"/>
            <a:round/>
            <a:headEnd type="none" w="med" len="med"/>
            <a:tailEnd type="none" w="med" len="med"/>
          </a:ln>
          <a:effectLst/>
        </p:spPr>
      </p:cxnSp>
      <p:sp>
        <p:nvSpPr>
          <p:cNvPr id="34" name="Rectangle 5"/>
          <p:cNvSpPr>
            <a:spLocks noChangeArrowheads="1"/>
          </p:cNvSpPr>
          <p:nvPr/>
        </p:nvSpPr>
        <p:spPr bwMode="auto">
          <a:xfrm>
            <a:off x="1583788" y="3927534"/>
            <a:ext cx="535404"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dirty="0">
                <a:latin typeface="Arial" panose="020B0604020202020204" pitchFamily="34" charset="0"/>
              </a:rPr>
              <a:t>Q</a:t>
            </a:r>
            <a:r>
              <a:rPr kumimoji="0" lang="en-US" altLang="zh-CN" baseline="-25000" dirty="0">
                <a:latin typeface="Arial" panose="020B0604020202020204" pitchFamily="34" charset="0"/>
              </a:rPr>
              <a:t>2</a:t>
            </a:r>
            <a:endParaRPr kumimoji="0" lang="en-US" altLang="zh-CN" dirty="0">
              <a:latin typeface="Arial" panose="020B0604020202020204" pitchFamily="34" charset="0"/>
            </a:endParaRPr>
          </a:p>
        </p:txBody>
      </p:sp>
      <p:sp>
        <p:nvSpPr>
          <p:cNvPr id="2" name="矩形 1"/>
          <p:cNvSpPr/>
          <p:nvPr/>
        </p:nvSpPr>
        <p:spPr>
          <a:xfrm>
            <a:off x="4959892" y="1564818"/>
            <a:ext cx="2683025" cy="400110"/>
          </a:xfrm>
          <a:prstGeom prst="rect">
            <a:avLst/>
          </a:prstGeom>
        </p:spPr>
        <p:txBody>
          <a:bodyPr wrap="square">
            <a:spAutoFit/>
          </a:bodyPr>
          <a:lstStyle/>
          <a:p>
            <a:r>
              <a:rPr lang="zh-CN" altLang="en-US" sz="2000" b="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只允许一家企业</a:t>
            </a:r>
            <a:endParaRPr lang="zh-CN" altLang="en-US" sz="2000" dirty="0">
              <a:latin typeface="微软雅黑" panose="020B0503020204020204" pitchFamily="34" charset="-122"/>
              <a:ea typeface="微软雅黑" panose="020B0503020204020204" pitchFamily="34" charset="-122"/>
            </a:endParaRPr>
          </a:p>
        </p:txBody>
      </p:sp>
      <p:sp>
        <p:nvSpPr>
          <p:cNvPr id="35" name="矩形 34"/>
          <p:cNvSpPr/>
          <p:nvPr/>
        </p:nvSpPr>
        <p:spPr>
          <a:xfrm>
            <a:off x="2573772" y="5787408"/>
            <a:ext cx="3189383" cy="400110"/>
          </a:xfrm>
          <a:prstGeom prst="rect">
            <a:avLst/>
          </a:prstGeom>
        </p:spPr>
        <p:txBody>
          <a:bodyPr wrap="square">
            <a:spAutoFit/>
          </a:bodyPr>
          <a:lstStyle/>
          <a:p>
            <a:r>
              <a:rPr lang="zh-CN" altLang="en-US" sz="2000" b="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允许多家企业</a:t>
            </a:r>
            <a:endParaRPr lang="zh-CN" altLang="en-US" sz="2000" dirty="0">
              <a:latin typeface="微软雅黑" panose="020B0503020204020204" pitchFamily="34" charset="-122"/>
              <a:ea typeface="微软雅黑" panose="020B0503020204020204" pitchFamily="34" charset="-122"/>
            </a:endParaRPr>
          </a:p>
        </p:txBody>
      </p:sp>
      <p:sp>
        <p:nvSpPr>
          <p:cNvPr id="4" name="矩形 3"/>
          <p:cNvSpPr/>
          <p:nvPr/>
        </p:nvSpPr>
        <p:spPr>
          <a:xfrm>
            <a:off x="5717591" y="3480574"/>
            <a:ext cx="583814" cy="400110"/>
          </a:xfrm>
          <a:prstGeom prst="rect">
            <a:avLst/>
          </a:prstGeom>
        </p:spPr>
        <p:txBody>
          <a:bodyPr wrap="none">
            <a:spAutoFit/>
          </a:bodyPr>
          <a:lstStyle/>
          <a:p>
            <a:r>
              <a:rPr lang="en-US" altLang="zh-CN" sz="2000" b="0" dirty="0">
                <a:solidFill>
                  <a:srgbClr val="FBBABC"/>
                </a:solidFill>
              </a:rPr>
              <a:t>MC</a:t>
            </a:r>
          </a:p>
        </p:txBody>
      </p:sp>
      <p:sp>
        <p:nvSpPr>
          <p:cNvPr id="36" name="矩形 35">
            <a:extLst>
              <a:ext uri="{FF2B5EF4-FFF2-40B4-BE49-F238E27FC236}">
                <a16:creationId xmlns:a16="http://schemas.microsoft.com/office/drawing/2014/main" id="{F68E5273-CD77-47B9-B841-9D29349C133D}"/>
              </a:ext>
            </a:extLst>
          </p:cNvPr>
          <p:cNvSpPr/>
          <p:nvPr/>
        </p:nvSpPr>
        <p:spPr>
          <a:xfrm>
            <a:off x="467544" y="548680"/>
            <a:ext cx="3781805"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一、</a:t>
            </a:r>
            <a:r>
              <a:rPr lang="zh-CN" altLang="en-US" sz="2400" spc="15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垄断的含义及其原因</a:t>
            </a:r>
            <a:endParaRPr lang="zh-CN" altLang="en-US" sz="2400" b="1" spc="150" dirty="0">
              <a:solidFill>
                <a:srgbClr val="FFFFFF"/>
              </a:solidFill>
              <a:latin typeface="微软雅黑" panose="020B0503020204020204" pitchFamily="34" charset="-122"/>
              <a:ea typeface="微软雅黑" panose="020B0503020204020204" pitchFamily="34" charset="-122"/>
            </a:endParaRPr>
          </a:p>
        </p:txBody>
      </p:sp>
      <p:sp>
        <p:nvSpPr>
          <p:cNvPr id="37" name="矩形 36">
            <a:extLst>
              <a:ext uri="{FF2B5EF4-FFF2-40B4-BE49-F238E27FC236}">
                <a16:creationId xmlns:a16="http://schemas.microsoft.com/office/drawing/2014/main" id="{8C74C704-37A5-4414-9E2E-169E13A6045C}"/>
              </a:ext>
            </a:extLst>
          </p:cNvPr>
          <p:cNvSpPr/>
          <p:nvPr/>
        </p:nvSpPr>
        <p:spPr>
          <a:xfrm>
            <a:off x="7505410" y="35458"/>
            <a:ext cx="1638590" cy="369332"/>
          </a:xfrm>
          <a:prstGeom prst="rect">
            <a:avLst/>
          </a:prstGeom>
        </p:spPr>
        <p:txBody>
          <a:bodyPr wrap="none">
            <a:spAutoFit/>
          </a:bodyPr>
          <a:lstStyle/>
          <a:p>
            <a:pPr algn="dist"/>
            <a:r>
              <a:rPr lang="zh-CN" altLang="en-US" sz="1800" b="0" spc="30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第一节 垄断</a:t>
            </a:r>
            <a:endParaRPr lang="zh-CN" altLang="en-US" sz="1800" b="0" spc="300" dirty="0">
              <a:solidFill>
                <a:schemeClr val="tx2"/>
              </a:solidFill>
              <a:ea typeface="黑体" panose="02010609060101010101" pitchFamily="49" charset="-122"/>
              <a:sym typeface="Arial" panose="020B0604020202020204" pitchFamily="34" charset="0"/>
            </a:endParaRPr>
          </a:p>
        </p:txBody>
      </p:sp>
    </p:spTree>
    <p:extLst>
      <p:ext uri="{BB962C8B-B14F-4D97-AF65-F5344CB8AC3E}">
        <p14:creationId xmlns:p14="http://schemas.microsoft.com/office/powerpoint/2010/main" val="2751149453"/>
      </p:ext>
    </p:extLst>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9459"/>
                                        </p:tgtEl>
                                        <p:attrNameLst>
                                          <p:attrName>style.visibility</p:attrName>
                                        </p:attrNameLst>
                                      </p:cBhvr>
                                      <p:to>
                                        <p:strVal val="visible"/>
                                      </p:to>
                                    </p:set>
                                    <p:animEffect transition="in" filter="wipe(down)">
                                      <p:cBhvr>
                                        <p:cTn id="7" dur="500"/>
                                        <p:tgtEl>
                                          <p:spTgt spid="19459"/>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9460"/>
                                        </p:tgtEl>
                                        <p:attrNameLst>
                                          <p:attrName>style.visibility</p:attrName>
                                        </p:attrNameLst>
                                      </p:cBhvr>
                                      <p:to>
                                        <p:strVal val="visible"/>
                                      </p:to>
                                    </p:set>
                                    <p:animEffect transition="in" filter="wipe(down)">
                                      <p:cBhvr>
                                        <p:cTn id="10" dur="500"/>
                                        <p:tgtEl>
                                          <p:spTgt spid="19460"/>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19461"/>
                                        </p:tgtEl>
                                        <p:attrNameLst>
                                          <p:attrName>style.visibility</p:attrName>
                                        </p:attrNameLst>
                                      </p:cBhvr>
                                      <p:to>
                                        <p:strVal val="visible"/>
                                      </p:to>
                                    </p:set>
                                    <p:animEffect transition="in" filter="wipe(down)">
                                      <p:cBhvr>
                                        <p:cTn id="13" dur="500"/>
                                        <p:tgtEl>
                                          <p:spTgt spid="19461"/>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19462"/>
                                        </p:tgtEl>
                                        <p:attrNameLst>
                                          <p:attrName>style.visibility</p:attrName>
                                        </p:attrNameLst>
                                      </p:cBhvr>
                                      <p:to>
                                        <p:strVal val="visible"/>
                                      </p:to>
                                    </p:set>
                                    <p:animEffect transition="in" filter="wipe(down)">
                                      <p:cBhvr>
                                        <p:cTn id="16" dur="500"/>
                                        <p:tgtEl>
                                          <p:spTgt spid="19462"/>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19463"/>
                                        </p:tgtEl>
                                        <p:attrNameLst>
                                          <p:attrName>style.visibility</p:attrName>
                                        </p:attrNameLst>
                                      </p:cBhvr>
                                      <p:to>
                                        <p:strVal val="visible"/>
                                      </p:to>
                                    </p:set>
                                    <p:animEffect transition="in" filter="wipe(down)">
                                      <p:cBhvr>
                                        <p:cTn id="19" dur="500"/>
                                        <p:tgtEl>
                                          <p:spTgt spid="19463"/>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19464"/>
                                        </p:tgtEl>
                                        <p:attrNameLst>
                                          <p:attrName>style.visibility</p:attrName>
                                        </p:attrNameLst>
                                      </p:cBhvr>
                                      <p:to>
                                        <p:strVal val="visible"/>
                                      </p:to>
                                    </p:set>
                                    <p:animEffect transition="in" filter="wipe(down)">
                                      <p:cBhvr>
                                        <p:cTn id="22" dur="500"/>
                                        <p:tgtEl>
                                          <p:spTgt spid="19464"/>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19465"/>
                                        </p:tgtEl>
                                        <p:attrNameLst>
                                          <p:attrName>style.visibility</p:attrName>
                                        </p:attrNameLst>
                                      </p:cBhvr>
                                      <p:to>
                                        <p:strVal val="visible"/>
                                      </p:to>
                                    </p:set>
                                    <p:animEffect transition="in" filter="wipe(down)">
                                      <p:cBhvr>
                                        <p:cTn id="25" dur="500"/>
                                        <p:tgtEl>
                                          <p:spTgt spid="19465"/>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19466"/>
                                        </p:tgtEl>
                                        <p:attrNameLst>
                                          <p:attrName>style.visibility</p:attrName>
                                        </p:attrNameLst>
                                      </p:cBhvr>
                                      <p:to>
                                        <p:strVal val="visible"/>
                                      </p:to>
                                    </p:set>
                                    <p:animEffect transition="in" filter="wipe(down)">
                                      <p:cBhvr>
                                        <p:cTn id="28" dur="500"/>
                                        <p:tgtEl>
                                          <p:spTgt spid="19466"/>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19467"/>
                                        </p:tgtEl>
                                        <p:attrNameLst>
                                          <p:attrName>style.visibility</p:attrName>
                                        </p:attrNameLst>
                                      </p:cBhvr>
                                      <p:to>
                                        <p:strVal val="visible"/>
                                      </p:to>
                                    </p:set>
                                    <p:animEffect transition="in" filter="wipe(down)">
                                      <p:cBhvr>
                                        <p:cTn id="31" dur="500"/>
                                        <p:tgtEl>
                                          <p:spTgt spid="19467"/>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19468"/>
                                        </p:tgtEl>
                                        <p:attrNameLst>
                                          <p:attrName>style.visibility</p:attrName>
                                        </p:attrNameLst>
                                      </p:cBhvr>
                                      <p:to>
                                        <p:strVal val="visible"/>
                                      </p:to>
                                    </p:set>
                                    <p:animEffect transition="in" filter="wipe(down)">
                                      <p:cBhvr>
                                        <p:cTn id="34" dur="500"/>
                                        <p:tgtEl>
                                          <p:spTgt spid="19468"/>
                                        </p:tgtEl>
                                      </p:cBhvr>
                                    </p:animEffect>
                                  </p:childTnLst>
                                </p:cTn>
                              </p:par>
                              <p:par>
                                <p:cTn id="35" presetID="22" presetClass="entr" presetSubtype="4" fill="hold" grpId="0" nodeType="withEffect">
                                  <p:stCondLst>
                                    <p:cond delay="0"/>
                                  </p:stCondLst>
                                  <p:childTnLst>
                                    <p:set>
                                      <p:cBhvr>
                                        <p:cTn id="36" dur="1" fill="hold">
                                          <p:stCondLst>
                                            <p:cond delay="0"/>
                                          </p:stCondLst>
                                        </p:cTn>
                                        <p:tgtEl>
                                          <p:spTgt spid="19470"/>
                                        </p:tgtEl>
                                        <p:attrNameLst>
                                          <p:attrName>style.visibility</p:attrName>
                                        </p:attrNameLst>
                                      </p:cBhvr>
                                      <p:to>
                                        <p:strVal val="visible"/>
                                      </p:to>
                                    </p:set>
                                    <p:animEffect transition="in" filter="wipe(down)">
                                      <p:cBhvr>
                                        <p:cTn id="37" dur="500"/>
                                        <p:tgtEl>
                                          <p:spTgt spid="19470"/>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19471"/>
                                        </p:tgtEl>
                                        <p:attrNameLst>
                                          <p:attrName>style.visibility</p:attrName>
                                        </p:attrNameLst>
                                      </p:cBhvr>
                                      <p:to>
                                        <p:strVal val="visible"/>
                                      </p:to>
                                    </p:set>
                                    <p:animEffect transition="in" filter="wipe(down)">
                                      <p:cBhvr>
                                        <p:cTn id="40" dur="500"/>
                                        <p:tgtEl>
                                          <p:spTgt spid="19471"/>
                                        </p:tgtEl>
                                      </p:cBhvr>
                                    </p:animEffect>
                                  </p:childTnLst>
                                </p:cTn>
                              </p:par>
                              <p:par>
                                <p:cTn id="41" presetID="22" presetClass="entr" presetSubtype="4" fill="hold" grpId="0" nodeType="withEffect">
                                  <p:stCondLst>
                                    <p:cond delay="0"/>
                                  </p:stCondLst>
                                  <p:childTnLst>
                                    <p:set>
                                      <p:cBhvr>
                                        <p:cTn id="42" dur="1" fill="hold">
                                          <p:stCondLst>
                                            <p:cond delay="0"/>
                                          </p:stCondLst>
                                        </p:cTn>
                                        <p:tgtEl>
                                          <p:spTgt spid="19472"/>
                                        </p:tgtEl>
                                        <p:attrNameLst>
                                          <p:attrName>style.visibility</p:attrName>
                                        </p:attrNameLst>
                                      </p:cBhvr>
                                      <p:to>
                                        <p:strVal val="visible"/>
                                      </p:to>
                                    </p:set>
                                    <p:animEffect transition="in" filter="wipe(down)">
                                      <p:cBhvr>
                                        <p:cTn id="43" dur="500"/>
                                        <p:tgtEl>
                                          <p:spTgt spid="19472"/>
                                        </p:tgtEl>
                                      </p:cBhvr>
                                    </p:animEffect>
                                  </p:childTnLst>
                                </p:cTn>
                              </p:par>
                              <p:par>
                                <p:cTn id="44" presetID="22" presetClass="entr" presetSubtype="4" fill="hold" grpId="0" nodeType="withEffect">
                                  <p:stCondLst>
                                    <p:cond delay="0"/>
                                  </p:stCondLst>
                                  <p:childTnLst>
                                    <p:set>
                                      <p:cBhvr>
                                        <p:cTn id="45" dur="1" fill="hold">
                                          <p:stCondLst>
                                            <p:cond delay="0"/>
                                          </p:stCondLst>
                                        </p:cTn>
                                        <p:tgtEl>
                                          <p:spTgt spid="19473"/>
                                        </p:tgtEl>
                                        <p:attrNameLst>
                                          <p:attrName>style.visibility</p:attrName>
                                        </p:attrNameLst>
                                      </p:cBhvr>
                                      <p:to>
                                        <p:strVal val="visible"/>
                                      </p:to>
                                    </p:set>
                                    <p:animEffect transition="in" filter="wipe(down)">
                                      <p:cBhvr>
                                        <p:cTn id="46" dur="500"/>
                                        <p:tgtEl>
                                          <p:spTgt spid="19473"/>
                                        </p:tgtEl>
                                      </p:cBhvr>
                                    </p:animEffect>
                                  </p:childTnLst>
                                </p:cTn>
                              </p:par>
                              <p:par>
                                <p:cTn id="47" presetID="22" presetClass="entr" presetSubtype="4" fill="hold" grpId="0" nodeType="withEffect">
                                  <p:stCondLst>
                                    <p:cond delay="0"/>
                                  </p:stCondLst>
                                  <p:childTnLst>
                                    <p:set>
                                      <p:cBhvr>
                                        <p:cTn id="48" dur="1" fill="hold">
                                          <p:stCondLst>
                                            <p:cond delay="0"/>
                                          </p:stCondLst>
                                        </p:cTn>
                                        <p:tgtEl>
                                          <p:spTgt spid="19475"/>
                                        </p:tgtEl>
                                        <p:attrNameLst>
                                          <p:attrName>style.visibility</p:attrName>
                                        </p:attrNameLst>
                                      </p:cBhvr>
                                      <p:to>
                                        <p:strVal val="visible"/>
                                      </p:to>
                                    </p:set>
                                    <p:animEffect transition="in" filter="wipe(down)">
                                      <p:cBhvr>
                                        <p:cTn id="49" dur="500"/>
                                        <p:tgtEl>
                                          <p:spTgt spid="19475"/>
                                        </p:tgtEl>
                                      </p:cBhvr>
                                    </p:animEffect>
                                  </p:childTnLst>
                                </p:cTn>
                              </p:par>
                              <p:par>
                                <p:cTn id="50" presetID="22" presetClass="entr" presetSubtype="4" fill="hold" grpId="0" nodeType="withEffect">
                                  <p:stCondLst>
                                    <p:cond delay="0"/>
                                  </p:stCondLst>
                                  <p:childTnLst>
                                    <p:set>
                                      <p:cBhvr>
                                        <p:cTn id="51" dur="1" fill="hold">
                                          <p:stCondLst>
                                            <p:cond delay="0"/>
                                          </p:stCondLst>
                                        </p:cTn>
                                        <p:tgtEl>
                                          <p:spTgt spid="19476"/>
                                        </p:tgtEl>
                                        <p:attrNameLst>
                                          <p:attrName>style.visibility</p:attrName>
                                        </p:attrNameLst>
                                      </p:cBhvr>
                                      <p:to>
                                        <p:strVal val="visible"/>
                                      </p:to>
                                    </p:set>
                                    <p:animEffect transition="in" filter="wipe(down)">
                                      <p:cBhvr>
                                        <p:cTn id="52" dur="500"/>
                                        <p:tgtEl>
                                          <p:spTgt spid="19476"/>
                                        </p:tgtEl>
                                      </p:cBhvr>
                                    </p:animEffect>
                                  </p:childTnLst>
                                </p:cTn>
                              </p:par>
                              <p:par>
                                <p:cTn id="53" presetID="22" presetClass="entr" presetSubtype="4" fill="hold" nodeType="withEffect">
                                  <p:stCondLst>
                                    <p:cond delay="0"/>
                                  </p:stCondLst>
                                  <p:childTnLst>
                                    <p:set>
                                      <p:cBhvr>
                                        <p:cTn id="54" dur="1" fill="hold">
                                          <p:stCondLst>
                                            <p:cond delay="0"/>
                                          </p:stCondLst>
                                        </p:cTn>
                                        <p:tgtEl>
                                          <p:spTgt spid="3"/>
                                        </p:tgtEl>
                                        <p:attrNameLst>
                                          <p:attrName>style.visibility</p:attrName>
                                        </p:attrNameLst>
                                      </p:cBhvr>
                                      <p:to>
                                        <p:strVal val="visible"/>
                                      </p:to>
                                    </p:set>
                                    <p:animEffect transition="in" filter="wipe(down)">
                                      <p:cBhvr>
                                        <p:cTn id="55" dur="500"/>
                                        <p:tgtEl>
                                          <p:spTgt spid="3"/>
                                        </p:tgtEl>
                                      </p:cBhvr>
                                    </p:animEffect>
                                  </p:childTnLst>
                                </p:cTn>
                              </p:par>
                              <p:par>
                                <p:cTn id="56" presetID="22" presetClass="entr" presetSubtype="4" fill="hold" nodeType="withEffect">
                                  <p:stCondLst>
                                    <p:cond delay="0"/>
                                  </p:stCondLst>
                                  <p:childTnLst>
                                    <p:set>
                                      <p:cBhvr>
                                        <p:cTn id="57" dur="1" fill="hold">
                                          <p:stCondLst>
                                            <p:cond delay="0"/>
                                          </p:stCondLst>
                                        </p:cTn>
                                        <p:tgtEl>
                                          <p:spTgt spid="33"/>
                                        </p:tgtEl>
                                        <p:attrNameLst>
                                          <p:attrName>style.visibility</p:attrName>
                                        </p:attrNameLst>
                                      </p:cBhvr>
                                      <p:to>
                                        <p:strVal val="visible"/>
                                      </p:to>
                                    </p:set>
                                    <p:animEffect transition="in" filter="wipe(down)">
                                      <p:cBhvr>
                                        <p:cTn id="58" dur="500"/>
                                        <p:tgtEl>
                                          <p:spTgt spid="33"/>
                                        </p:tgtEl>
                                      </p:cBhvr>
                                    </p:animEffect>
                                  </p:childTnLst>
                                </p:cTn>
                              </p:par>
                              <p:par>
                                <p:cTn id="59" presetID="22" presetClass="entr" presetSubtype="4" fill="hold" grpId="0" nodeType="withEffect">
                                  <p:stCondLst>
                                    <p:cond delay="0"/>
                                  </p:stCondLst>
                                  <p:childTnLst>
                                    <p:set>
                                      <p:cBhvr>
                                        <p:cTn id="60" dur="1" fill="hold">
                                          <p:stCondLst>
                                            <p:cond delay="0"/>
                                          </p:stCondLst>
                                        </p:cTn>
                                        <p:tgtEl>
                                          <p:spTgt spid="34"/>
                                        </p:tgtEl>
                                        <p:attrNameLst>
                                          <p:attrName>style.visibility</p:attrName>
                                        </p:attrNameLst>
                                      </p:cBhvr>
                                      <p:to>
                                        <p:strVal val="visible"/>
                                      </p:to>
                                    </p:set>
                                    <p:animEffect transition="in" filter="wipe(down)">
                                      <p:cBhvr>
                                        <p:cTn id="61" dur="500"/>
                                        <p:tgtEl>
                                          <p:spTgt spid="34"/>
                                        </p:tgtEl>
                                      </p:cBhvr>
                                    </p:animEffect>
                                  </p:childTnLst>
                                </p:cTn>
                              </p:par>
                              <p:par>
                                <p:cTn id="62" presetID="22" presetClass="entr" presetSubtype="4" fill="hold" grpId="0" nodeType="withEffect">
                                  <p:stCondLst>
                                    <p:cond delay="0"/>
                                  </p:stCondLst>
                                  <p:childTnLst>
                                    <p:set>
                                      <p:cBhvr>
                                        <p:cTn id="63" dur="1" fill="hold">
                                          <p:stCondLst>
                                            <p:cond delay="0"/>
                                          </p:stCondLst>
                                        </p:cTn>
                                        <p:tgtEl>
                                          <p:spTgt spid="19474"/>
                                        </p:tgtEl>
                                        <p:attrNameLst>
                                          <p:attrName>style.visibility</p:attrName>
                                        </p:attrNameLst>
                                      </p:cBhvr>
                                      <p:to>
                                        <p:strVal val="visible"/>
                                      </p:to>
                                    </p:set>
                                    <p:animEffect transition="in" filter="wipe(down)">
                                      <p:cBhvr>
                                        <p:cTn id="64" dur="500"/>
                                        <p:tgtEl>
                                          <p:spTgt spid="19474"/>
                                        </p:tgtEl>
                                      </p:cBhvr>
                                    </p:animEffect>
                                  </p:childTnLst>
                                </p:cTn>
                              </p:par>
                              <p:par>
                                <p:cTn id="65" presetID="22" presetClass="entr" presetSubtype="4" fill="hold" grpId="0" nodeType="withEffect">
                                  <p:stCondLst>
                                    <p:cond delay="0"/>
                                  </p:stCondLst>
                                  <p:childTnLst>
                                    <p:set>
                                      <p:cBhvr>
                                        <p:cTn id="66" dur="1" fill="hold">
                                          <p:stCondLst>
                                            <p:cond delay="0"/>
                                          </p:stCondLst>
                                        </p:cTn>
                                        <p:tgtEl>
                                          <p:spTgt spid="19469"/>
                                        </p:tgtEl>
                                        <p:attrNameLst>
                                          <p:attrName>style.visibility</p:attrName>
                                        </p:attrNameLst>
                                      </p:cBhvr>
                                      <p:to>
                                        <p:strVal val="visible"/>
                                      </p:to>
                                    </p:set>
                                    <p:animEffect transition="in" filter="wipe(down)">
                                      <p:cBhvr>
                                        <p:cTn id="67" dur="500"/>
                                        <p:tgtEl>
                                          <p:spTgt spid="19469"/>
                                        </p:tgtEl>
                                      </p:cBhvr>
                                    </p:animEffect>
                                  </p:childTnLst>
                                </p:cTn>
                              </p:par>
                              <p:par>
                                <p:cTn id="68" presetID="2" presetClass="entr" presetSubtype="4" fill="hold" grpId="0" nodeType="withEffect">
                                  <p:stCondLst>
                                    <p:cond delay="0"/>
                                  </p:stCondLst>
                                  <p:childTnLst>
                                    <p:set>
                                      <p:cBhvr>
                                        <p:cTn id="69" dur="1" fill="hold">
                                          <p:stCondLst>
                                            <p:cond delay="0"/>
                                          </p:stCondLst>
                                        </p:cTn>
                                        <p:tgtEl>
                                          <p:spTgt spid="31"/>
                                        </p:tgtEl>
                                        <p:attrNameLst>
                                          <p:attrName>style.visibility</p:attrName>
                                        </p:attrNameLst>
                                      </p:cBhvr>
                                      <p:to>
                                        <p:strVal val="visible"/>
                                      </p:to>
                                    </p:set>
                                    <p:anim calcmode="lin" valueType="num">
                                      <p:cBhvr additive="base">
                                        <p:cTn id="70" dur="500" fill="hold"/>
                                        <p:tgtEl>
                                          <p:spTgt spid="31"/>
                                        </p:tgtEl>
                                        <p:attrNameLst>
                                          <p:attrName>ppt_x</p:attrName>
                                        </p:attrNameLst>
                                      </p:cBhvr>
                                      <p:tavLst>
                                        <p:tav tm="0">
                                          <p:val>
                                            <p:strVal val="#ppt_x"/>
                                          </p:val>
                                        </p:tav>
                                        <p:tav tm="100000">
                                          <p:val>
                                            <p:strVal val="#ppt_x"/>
                                          </p:val>
                                        </p:tav>
                                      </p:tavLst>
                                    </p:anim>
                                    <p:anim calcmode="lin" valueType="num">
                                      <p:cBhvr additive="base">
                                        <p:cTn id="71"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22" presetClass="entr" presetSubtype="4" fill="hold" grpId="0" nodeType="clickEffect">
                                  <p:stCondLst>
                                    <p:cond delay="0"/>
                                  </p:stCondLst>
                                  <p:childTnLst>
                                    <p:set>
                                      <p:cBhvr>
                                        <p:cTn id="75" dur="1" fill="hold">
                                          <p:stCondLst>
                                            <p:cond delay="0"/>
                                          </p:stCondLst>
                                        </p:cTn>
                                        <p:tgtEl>
                                          <p:spTgt spid="2"/>
                                        </p:tgtEl>
                                        <p:attrNameLst>
                                          <p:attrName>style.visibility</p:attrName>
                                        </p:attrNameLst>
                                      </p:cBhvr>
                                      <p:to>
                                        <p:strVal val="visible"/>
                                      </p:to>
                                    </p:set>
                                    <p:animEffect transition="in" filter="wipe(down)">
                                      <p:cBhvr>
                                        <p:cTn id="76" dur="500"/>
                                        <p:tgtEl>
                                          <p:spTgt spid="2"/>
                                        </p:tgtEl>
                                      </p:cBhvr>
                                    </p:animEffect>
                                  </p:childTnLst>
                                </p:cTn>
                              </p:par>
                            </p:childTnLst>
                          </p:cTn>
                        </p:par>
                      </p:childTnLst>
                    </p:cTn>
                  </p:par>
                  <p:par>
                    <p:cTn id="77" fill="hold">
                      <p:stCondLst>
                        <p:cond delay="indefinite"/>
                      </p:stCondLst>
                      <p:childTnLst>
                        <p:par>
                          <p:cTn id="78" fill="hold">
                            <p:stCondLst>
                              <p:cond delay="0"/>
                            </p:stCondLst>
                            <p:childTnLst>
                              <p:par>
                                <p:cTn id="79" presetID="42" presetClass="entr" presetSubtype="0" fill="hold" grpId="0" nodeType="clickEffect">
                                  <p:stCondLst>
                                    <p:cond delay="0"/>
                                  </p:stCondLst>
                                  <p:childTnLst>
                                    <p:set>
                                      <p:cBhvr>
                                        <p:cTn id="80" dur="1" fill="hold">
                                          <p:stCondLst>
                                            <p:cond delay="0"/>
                                          </p:stCondLst>
                                        </p:cTn>
                                        <p:tgtEl>
                                          <p:spTgt spid="19477"/>
                                        </p:tgtEl>
                                        <p:attrNameLst>
                                          <p:attrName>style.visibility</p:attrName>
                                        </p:attrNameLst>
                                      </p:cBhvr>
                                      <p:to>
                                        <p:strVal val="visible"/>
                                      </p:to>
                                    </p:set>
                                    <p:animEffect transition="in" filter="fade">
                                      <p:cBhvr>
                                        <p:cTn id="81" dur="1000"/>
                                        <p:tgtEl>
                                          <p:spTgt spid="19477"/>
                                        </p:tgtEl>
                                      </p:cBhvr>
                                    </p:animEffect>
                                    <p:anim calcmode="lin" valueType="num">
                                      <p:cBhvr>
                                        <p:cTn id="82" dur="1000" fill="hold"/>
                                        <p:tgtEl>
                                          <p:spTgt spid="19477"/>
                                        </p:tgtEl>
                                        <p:attrNameLst>
                                          <p:attrName>ppt_x</p:attrName>
                                        </p:attrNameLst>
                                      </p:cBhvr>
                                      <p:tavLst>
                                        <p:tav tm="0">
                                          <p:val>
                                            <p:strVal val="#ppt_x"/>
                                          </p:val>
                                        </p:tav>
                                        <p:tav tm="100000">
                                          <p:val>
                                            <p:strVal val="#ppt_x"/>
                                          </p:val>
                                        </p:tav>
                                      </p:tavLst>
                                    </p:anim>
                                    <p:anim calcmode="lin" valueType="num">
                                      <p:cBhvr>
                                        <p:cTn id="83" dur="1000" fill="hold"/>
                                        <p:tgtEl>
                                          <p:spTgt spid="19477"/>
                                        </p:tgtEl>
                                        <p:attrNameLst>
                                          <p:attrName>ppt_y</p:attrName>
                                        </p:attrNameLst>
                                      </p:cBhvr>
                                      <p:tavLst>
                                        <p:tav tm="0">
                                          <p:val>
                                            <p:strVal val="#ppt_y+.1"/>
                                          </p:val>
                                        </p:tav>
                                        <p:tav tm="100000">
                                          <p:val>
                                            <p:strVal val="#ppt_y"/>
                                          </p:val>
                                        </p:tav>
                                      </p:tavLst>
                                    </p:anim>
                                  </p:childTnLst>
                                </p:cTn>
                              </p:par>
                              <p:par>
                                <p:cTn id="84" presetID="42" presetClass="entr" presetSubtype="0" fill="hold" grpId="0" nodeType="withEffect">
                                  <p:stCondLst>
                                    <p:cond delay="0"/>
                                  </p:stCondLst>
                                  <p:childTnLst>
                                    <p:set>
                                      <p:cBhvr>
                                        <p:cTn id="85" dur="1" fill="hold">
                                          <p:stCondLst>
                                            <p:cond delay="0"/>
                                          </p:stCondLst>
                                        </p:cTn>
                                        <p:tgtEl>
                                          <p:spTgt spid="19478"/>
                                        </p:tgtEl>
                                        <p:attrNameLst>
                                          <p:attrName>style.visibility</p:attrName>
                                        </p:attrNameLst>
                                      </p:cBhvr>
                                      <p:to>
                                        <p:strVal val="visible"/>
                                      </p:to>
                                    </p:set>
                                    <p:animEffect transition="in" filter="fade">
                                      <p:cBhvr>
                                        <p:cTn id="86" dur="1000"/>
                                        <p:tgtEl>
                                          <p:spTgt spid="19478"/>
                                        </p:tgtEl>
                                      </p:cBhvr>
                                    </p:animEffect>
                                    <p:anim calcmode="lin" valueType="num">
                                      <p:cBhvr>
                                        <p:cTn id="87" dur="1000" fill="hold"/>
                                        <p:tgtEl>
                                          <p:spTgt spid="19478"/>
                                        </p:tgtEl>
                                        <p:attrNameLst>
                                          <p:attrName>ppt_x</p:attrName>
                                        </p:attrNameLst>
                                      </p:cBhvr>
                                      <p:tavLst>
                                        <p:tav tm="0">
                                          <p:val>
                                            <p:strVal val="#ppt_x"/>
                                          </p:val>
                                        </p:tav>
                                        <p:tav tm="100000">
                                          <p:val>
                                            <p:strVal val="#ppt_x"/>
                                          </p:val>
                                        </p:tav>
                                      </p:tavLst>
                                    </p:anim>
                                    <p:anim calcmode="lin" valueType="num">
                                      <p:cBhvr>
                                        <p:cTn id="88" dur="1000" fill="hold"/>
                                        <p:tgtEl>
                                          <p:spTgt spid="19478"/>
                                        </p:tgtEl>
                                        <p:attrNameLst>
                                          <p:attrName>ppt_y</p:attrName>
                                        </p:attrNameLst>
                                      </p:cBhvr>
                                      <p:tavLst>
                                        <p:tav tm="0">
                                          <p:val>
                                            <p:strVal val="#ppt_y+.1"/>
                                          </p:val>
                                        </p:tav>
                                        <p:tav tm="100000">
                                          <p:val>
                                            <p:strVal val="#ppt_y"/>
                                          </p:val>
                                        </p:tav>
                                      </p:tavLst>
                                    </p:anim>
                                  </p:childTnLst>
                                </p:cTn>
                              </p:par>
                              <p:par>
                                <p:cTn id="89" presetID="42" presetClass="entr" presetSubtype="0" fill="hold" grpId="0" nodeType="withEffect">
                                  <p:stCondLst>
                                    <p:cond delay="0"/>
                                  </p:stCondLst>
                                  <p:childTnLst>
                                    <p:set>
                                      <p:cBhvr>
                                        <p:cTn id="90" dur="1" fill="hold">
                                          <p:stCondLst>
                                            <p:cond delay="0"/>
                                          </p:stCondLst>
                                        </p:cTn>
                                        <p:tgtEl>
                                          <p:spTgt spid="19479"/>
                                        </p:tgtEl>
                                        <p:attrNameLst>
                                          <p:attrName>style.visibility</p:attrName>
                                        </p:attrNameLst>
                                      </p:cBhvr>
                                      <p:to>
                                        <p:strVal val="visible"/>
                                      </p:to>
                                    </p:set>
                                    <p:animEffect transition="in" filter="fade">
                                      <p:cBhvr>
                                        <p:cTn id="91" dur="1000"/>
                                        <p:tgtEl>
                                          <p:spTgt spid="19479"/>
                                        </p:tgtEl>
                                      </p:cBhvr>
                                    </p:animEffect>
                                    <p:anim calcmode="lin" valueType="num">
                                      <p:cBhvr>
                                        <p:cTn id="92" dur="1000" fill="hold"/>
                                        <p:tgtEl>
                                          <p:spTgt spid="19479"/>
                                        </p:tgtEl>
                                        <p:attrNameLst>
                                          <p:attrName>ppt_x</p:attrName>
                                        </p:attrNameLst>
                                      </p:cBhvr>
                                      <p:tavLst>
                                        <p:tav tm="0">
                                          <p:val>
                                            <p:strVal val="#ppt_x"/>
                                          </p:val>
                                        </p:tav>
                                        <p:tav tm="100000">
                                          <p:val>
                                            <p:strVal val="#ppt_x"/>
                                          </p:val>
                                        </p:tav>
                                      </p:tavLst>
                                    </p:anim>
                                    <p:anim calcmode="lin" valueType="num">
                                      <p:cBhvr>
                                        <p:cTn id="93" dur="1000" fill="hold"/>
                                        <p:tgtEl>
                                          <p:spTgt spid="19479"/>
                                        </p:tgtEl>
                                        <p:attrNameLst>
                                          <p:attrName>ppt_y</p:attrName>
                                        </p:attrNameLst>
                                      </p:cBhvr>
                                      <p:tavLst>
                                        <p:tav tm="0">
                                          <p:val>
                                            <p:strVal val="#ppt_y+.1"/>
                                          </p:val>
                                        </p:tav>
                                        <p:tav tm="100000">
                                          <p:val>
                                            <p:strVal val="#ppt_y"/>
                                          </p:val>
                                        </p:tav>
                                      </p:tavLst>
                                    </p:anim>
                                  </p:childTnLst>
                                </p:cTn>
                              </p:par>
                              <p:par>
                                <p:cTn id="94" presetID="42" presetClass="entr" presetSubtype="0" fill="hold" grpId="0" nodeType="withEffect">
                                  <p:stCondLst>
                                    <p:cond delay="0"/>
                                  </p:stCondLst>
                                  <p:childTnLst>
                                    <p:set>
                                      <p:cBhvr>
                                        <p:cTn id="95" dur="1" fill="hold">
                                          <p:stCondLst>
                                            <p:cond delay="0"/>
                                          </p:stCondLst>
                                        </p:cTn>
                                        <p:tgtEl>
                                          <p:spTgt spid="19480"/>
                                        </p:tgtEl>
                                        <p:attrNameLst>
                                          <p:attrName>style.visibility</p:attrName>
                                        </p:attrNameLst>
                                      </p:cBhvr>
                                      <p:to>
                                        <p:strVal val="visible"/>
                                      </p:to>
                                    </p:set>
                                    <p:animEffect transition="in" filter="fade">
                                      <p:cBhvr>
                                        <p:cTn id="96" dur="1000"/>
                                        <p:tgtEl>
                                          <p:spTgt spid="19480"/>
                                        </p:tgtEl>
                                      </p:cBhvr>
                                    </p:animEffect>
                                    <p:anim calcmode="lin" valueType="num">
                                      <p:cBhvr>
                                        <p:cTn id="97" dur="1000" fill="hold"/>
                                        <p:tgtEl>
                                          <p:spTgt spid="19480"/>
                                        </p:tgtEl>
                                        <p:attrNameLst>
                                          <p:attrName>ppt_x</p:attrName>
                                        </p:attrNameLst>
                                      </p:cBhvr>
                                      <p:tavLst>
                                        <p:tav tm="0">
                                          <p:val>
                                            <p:strVal val="#ppt_x"/>
                                          </p:val>
                                        </p:tav>
                                        <p:tav tm="100000">
                                          <p:val>
                                            <p:strVal val="#ppt_x"/>
                                          </p:val>
                                        </p:tav>
                                      </p:tavLst>
                                    </p:anim>
                                    <p:anim calcmode="lin" valueType="num">
                                      <p:cBhvr>
                                        <p:cTn id="98" dur="1000" fill="hold"/>
                                        <p:tgtEl>
                                          <p:spTgt spid="19480"/>
                                        </p:tgtEl>
                                        <p:attrNameLst>
                                          <p:attrName>ppt_y</p:attrName>
                                        </p:attrNameLst>
                                      </p:cBhvr>
                                      <p:tavLst>
                                        <p:tav tm="0">
                                          <p:val>
                                            <p:strVal val="#ppt_y+.1"/>
                                          </p:val>
                                        </p:tav>
                                        <p:tav tm="100000">
                                          <p:val>
                                            <p:strVal val="#ppt_y"/>
                                          </p:val>
                                        </p:tav>
                                      </p:tavLst>
                                    </p:anim>
                                  </p:childTnLst>
                                </p:cTn>
                              </p:par>
                              <p:par>
                                <p:cTn id="99" presetID="42" presetClass="entr" presetSubtype="0" fill="hold" grpId="0" nodeType="withEffect">
                                  <p:stCondLst>
                                    <p:cond delay="0"/>
                                  </p:stCondLst>
                                  <p:childTnLst>
                                    <p:set>
                                      <p:cBhvr>
                                        <p:cTn id="100" dur="1" fill="hold">
                                          <p:stCondLst>
                                            <p:cond delay="0"/>
                                          </p:stCondLst>
                                        </p:cTn>
                                        <p:tgtEl>
                                          <p:spTgt spid="19481"/>
                                        </p:tgtEl>
                                        <p:attrNameLst>
                                          <p:attrName>style.visibility</p:attrName>
                                        </p:attrNameLst>
                                      </p:cBhvr>
                                      <p:to>
                                        <p:strVal val="visible"/>
                                      </p:to>
                                    </p:set>
                                    <p:animEffect transition="in" filter="fade">
                                      <p:cBhvr>
                                        <p:cTn id="101" dur="1000"/>
                                        <p:tgtEl>
                                          <p:spTgt spid="19481"/>
                                        </p:tgtEl>
                                      </p:cBhvr>
                                    </p:animEffect>
                                    <p:anim calcmode="lin" valueType="num">
                                      <p:cBhvr>
                                        <p:cTn id="102" dur="1000" fill="hold"/>
                                        <p:tgtEl>
                                          <p:spTgt spid="19481"/>
                                        </p:tgtEl>
                                        <p:attrNameLst>
                                          <p:attrName>ppt_x</p:attrName>
                                        </p:attrNameLst>
                                      </p:cBhvr>
                                      <p:tavLst>
                                        <p:tav tm="0">
                                          <p:val>
                                            <p:strVal val="#ppt_x"/>
                                          </p:val>
                                        </p:tav>
                                        <p:tav tm="100000">
                                          <p:val>
                                            <p:strVal val="#ppt_x"/>
                                          </p:val>
                                        </p:tav>
                                      </p:tavLst>
                                    </p:anim>
                                    <p:anim calcmode="lin" valueType="num">
                                      <p:cBhvr>
                                        <p:cTn id="103" dur="1000" fill="hold"/>
                                        <p:tgtEl>
                                          <p:spTgt spid="19481"/>
                                        </p:tgtEl>
                                        <p:attrNameLst>
                                          <p:attrName>ppt_y</p:attrName>
                                        </p:attrNameLst>
                                      </p:cBhvr>
                                      <p:tavLst>
                                        <p:tav tm="0">
                                          <p:val>
                                            <p:strVal val="#ppt_y+.1"/>
                                          </p:val>
                                        </p:tav>
                                        <p:tav tm="100000">
                                          <p:val>
                                            <p:strVal val="#ppt_y"/>
                                          </p:val>
                                        </p:tav>
                                      </p:tavLst>
                                    </p:anim>
                                  </p:childTnLst>
                                </p:cTn>
                              </p:par>
                              <p:par>
                                <p:cTn id="104" presetID="42" presetClass="entr" presetSubtype="0" fill="hold" grpId="0" nodeType="withEffect">
                                  <p:stCondLst>
                                    <p:cond delay="0"/>
                                  </p:stCondLst>
                                  <p:childTnLst>
                                    <p:set>
                                      <p:cBhvr>
                                        <p:cTn id="105" dur="1" fill="hold">
                                          <p:stCondLst>
                                            <p:cond delay="0"/>
                                          </p:stCondLst>
                                        </p:cTn>
                                        <p:tgtEl>
                                          <p:spTgt spid="19482"/>
                                        </p:tgtEl>
                                        <p:attrNameLst>
                                          <p:attrName>style.visibility</p:attrName>
                                        </p:attrNameLst>
                                      </p:cBhvr>
                                      <p:to>
                                        <p:strVal val="visible"/>
                                      </p:to>
                                    </p:set>
                                    <p:animEffect transition="in" filter="fade">
                                      <p:cBhvr>
                                        <p:cTn id="106" dur="1000"/>
                                        <p:tgtEl>
                                          <p:spTgt spid="19482"/>
                                        </p:tgtEl>
                                      </p:cBhvr>
                                    </p:animEffect>
                                    <p:anim calcmode="lin" valueType="num">
                                      <p:cBhvr>
                                        <p:cTn id="107" dur="1000" fill="hold"/>
                                        <p:tgtEl>
                                          <p:spTgt spid="19482"/>
                                        </p:tgtEl>
                                        <p:attrNameLst>
                                          <p:attrName>ppt_x</p:attrName>
                                        </p:attrNameLst>
                                      </p:cBhvr>
                                      <p:tavLst>
                                        <p:tav tm="0">
                                          <p:val>
                                            <p:strVal val="#ppt_x"/>
                                          </p:val>
                                        </p:tav>
                                        <p:tav tm="100000">
                                          <p:val>
                                            <p:strVal val="#ppt_x"/>
                                          </p:val>
                                        </p:tav>
                                      </p:tavLst>
                                    </p:anim>
                                    <p:anim calcmode="lin" valueType="num">
                                      <p:cBhvr>
                                        <p:cTn id="108" dur="1000" fill="hold"/>
                                        <p:tgtEl>
                                          <p:spTgt spid="19482"/>
                                        </p:tgtEl>
                                        <p:attrNameLst>
                                          <p:attrName>ppt_y</p:attrName>
                                        </p:attrNameLst>
                                      </p:cBhvr>
                                      <p:tavLst>
                                        <p:tav tm="0">
                                          <p:val>
                                            <p:strVal val="#ppt_y+.1"/>
                                          </p:val>
                                        </p:tav>
                                        <p:tav tm="100000">
                                          <p:val>
                                            <p:strVal val="#ppt_y"/>
                                          </p:val>
                                        </p:tav>
                                      </p:tavLst>
                                    </p:anim>
                                  </p:childTnLst>
                                </p:cTn>
                              </p:par>
                              <p:par>
                                <p:cTn id="109" presetID="42" presetClass="entr" presetSubtype="0" fill="hold" grpId="0" nodeType="withEffect">
                                  <p:stCondLst>
                                    <p:cond delay="0"/>
                                  </p:stCondLst>
                                  <p:childTnLst>
                                    <p:set>
                                      <p:cBhvr>
                                        <p:cTn id="110" dur="1" fill="hold">
                                          <p:stCondLst>
                                            <p:cond delay="0"/>
                                          </p:stCondLst>
                                        </p:cTn>
                                        <p:tgtEl>
                                          <p:spTgt spid="19484"/>
                                        </p:tgtEl>
                                        <p:attrNameLst>
                                          <p:attrName>style.visibility</p:attrName>
                                        </p:attrNameLst>
                                      </p:cBhvr>
                                      <p:to>
                                        <p:strVal val="visible"/>
                                      </p:to>
                                    </p:set>
                                    <p:animEffect transition="in" filter="fade">
                                      <p:cBhvr>
                                        <p:cTn id="111" dur="1000"/>
                                        <p:tgtEl>
                                          <p:spTgt spid="19484"/>
                                        </p:tgtEl>
                                      </p:cBhvr>
                                    </p:animEffect>
                                    <p:anim calcmode="lin" valueType="num">
                                      <p:cBhvr>
                                        <p:cTn id="112" dur="1000" fill="hold"/>
                                        <p:tgtEl>
                                          <p:spTgt spid="19484"/>
                                        </p:tgtEl>
                                        <p:attrNameLst>
                                          <p:attrName>ppt_x</p:attrName>
                                        </p:attrNameLst>
                                      </p:cBhvr>
                                      <p:tavLst>
                                        <p:tav tm="0">
                                          <p:val>
                                            <p:strVal val="#ppt_x"/>
                                          </p:val>
                                        </p:tav>
                                        <p:tav tm="100000">
                                          <p:val>
                                            <p:strVal val="#ppt_x"/>
                                          </p:val>
                                        </p:tav>
                                      </p:tavLst>
                                    </p:anim>
                                    <p:anim calcmode="lin" valueType="num">
                                      <p:cBhvr>
                                        <p:cTn id="113" dur="1000" fill="hold"/>
                                        <p:tgtEl>
                                          <p:spTgt spid="19484"/>
                                        </p:tgtEl>
                                        <p:attrNameLst>
                                          <p:attrName>ppt_y</p:attrName>
                                        </p:attrNameLst>
                                      </p:cBhvr>
                                      <p:tavLst>
                                        <p:tav tm="0">
                                          <p:val>
                                            <p:strVal val="#ppt_y+.1"/>
                                          </p:val>
                                        </p:tav>
                                        <p:tav tm="100000">
                                          <p:val>
                                            <p:strVal val="#ppt_y"/>
                                          </p:val>
                                        </p:tav>
                                      </p:tavLst>
                                    </p:anim>
                                  </p:childTnLst>
                                </p:cTn>
                              </p:par>
                              <p:par>
                                <p:cTn id="114" presetID="42" presetClass="entr" presetSubtype="0" fill="hold" grpId="0" nodeType="withEffect">
                                  <p:stCondLst>
                                    <p:cond delay="0"/>
                                  </p:stCondLst>
                                  <p:childTnLst>
                                    <p:set>
                                      <p:cBhvr>
                                        <p:cTn id="115" dur="1" fill="hold">
                                          <p:stCondLst>
                                            <p:cond delay="0"/>
                                          </p:stCondLst>
                                        </p:cTn>
                                        <p:tgtEl>
                                          <p:spTgt spid="4"/>
                                        </p:tgtEl>
                                        <p:attrNameLst>
                                          <p:attrName>style.visibility</p:attrName>
                                        </p:attrNameLst>
                                      </p:cBhvr>
                                      <p:to>
                                        <p:strVal val="visible"/>
                                      </p:to>
                                    </p:set>
                                    <p:animEffect transition="in" filter="fade">
                                      <p:cBhvr>
                                        <p:cTn id="116" dur="1000"/>
                                        <p:tgtEl>
                                          <p:spTgt spid="4"/>
                                        </p:tgtEl>
                                      </p:cBhvr>
                                    </p:animEffect>
                                    <p:anim calcmode="lin" valueType="num">
                                      <p:cBhvr>
                                        <p:cTn id="117" dur="1000" fill="hold"/>
                                        <p:tgtEl>
                                          <p:spTgt spid="4"/>
                                        </p:tgtEl>
                                        <p:attrNameLst>
                                          <p:attrName>ppt_x</p:attrName>
                                        </p:attrNameLst>
                                      </p:cBhvr>
                                      <p:tavLst>
                                        <p:tav tm="0">
                                          <p:val>
                                            <p:strVal val="#ppt_x"/>
                                          </p:val>
                                        </p:tav>
                                        <p:tav tm="100000">
                                          <p:val>
                                            <p:strVal val="#ppt_x"/>
                                          </p:val>
                                        </p:tav>
                                      </p:tavLst>
                                    </p:anim>
                                    <p:anim calcmode="lin" valueType="num">
                                      <p:cBhvr>
                                        <p:cTn id="118"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19" fill="hold">
                      <p:stCondLst>
                        <p:cond delay="indefinite"/>
                      </p:stCondLst>
                      <p:childTnLst>
                        <p:par>
                          <p:cTn id="120" fill="hold">
                            <p:stCondLst>
                              <p:cond delay="0"/>
                            </p:stCondLst>
                            <p:childTnLst>
                              <p:par>
                                <p:cTn id="121" presetID="22" presetClass="entr" presetSubtype="4" fill="hold" grpId="0" nodeType="clickEffect">
                                  <p:stCondLst>
                                    <p:cond delay="0"/>
                                  </p:stCondLst>
                                  <p:childTnLst>
                                    <p:set>
                                      <p:cBhvr>
                                        <p:cTn id="122" dur="1" fill="hold">
                                          <p:stCondLst>
                                            <p:cond delay="0"/>
                                          </p:stCondLst>
                                        </p:cTn>
                                        <p:tgtEl>
                                          <p:spTgt spid="35"/>
                                        </p:tgtEl>
                                        <p:attrNameLst>
                                          <p:attrName>style.visibility</p:attrName>
                                        </p:attrNameLst>
                                      </p:cBhvr>
                                      <p:to>
                                        <p:strVal val="visible"/>
                                      </p:to>
                                    </p:set>
                                    <p:animEffect transition="in" filter="wipe(down)">
                                      <p:cBhvr>
                                        <p:cTn id="123"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animBg="1"/>
      <p:bldP spid="19460" grpId="0" animBg="1"/>
      <p:bldP spid="19461" grpId="0" animBg="1"/>
      <p:bldP spid="19462" grpId="0"/>
      <p:bldP spid="19463" grpId="0" animBg="1"/>
      <p:bldP spid="19464" grpId="0"/>
      <p:bldP spid="19465" grpId="0" animBg="1"/>
      <p:bldP spid="19466" grpId="0"/>
      <p:bldP spid="19467" grpId="0" animBg="1"/>
      <p:bldP spid="19468" grpId="0" animBg="1"/>
      <p:bldP spid="19469" grpId="0"/>
      <p:bldP spid="19470" grpId="0" animBg="1"/>
      <p:bldP spid="19471" grpId="0" animBg="1"/>
      <p:bldP spid="19472" grpId="0"/>
      <p:bldP spid="19473" grpId="0"/>
      <p:bldP spid="19474" grpId="0"/>
      <p:bldP spid="19475" grpId="0" animBg="1"/>
      <p:bldP spid="19476" grpId="0"/>
      <p:bldP spid="19477" grpId="0" animBg="1"/>
      <p:bldP spid="19478" grpId="0" animBg="1"/>
      <p:bldP spid="19479" grpId="0" animBg="1"/>
      <p:bldP spid="19480" grpId="0" animBg="1"/>
      <p:bldP spid="19481" grpId="0" animBg="1"/>
      <p:bldP spid="19482" grpId="0"/>
      <p:bldP spid="19484" grpId="0"/>
      <p:bldP spid="31" grpId="0"/>
      <p:bldP spid="34" grpId="0"/>
      <p:bldP spid="2" grpId="0"/>
      <p:bldP spid="35" grpId="0"/>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5685" y="1278506"/>
            <a:ext cx="7414354" cy="5026986"/>
            <a:chOff x="263411" y="628985"/>
            <a:chExt cx="5892764" cy="3242459"/>
          </a:xfrm>
        </p:grpSpPr>
        <p:sp>
          <p:nvSpPr>
            <p:cNvPr id="19459" name="Line 2"/>
            <p:cNvSpPr>
              <a:spLocks noChangeShapeType="1"/>
            </p:cNvSpPr>
            <p:nvPr/>
          </p:nvSpPr>
          <p:spPr bwMode="auto">
            <a:xfrm>
              <a:off x="1267022" y="874713"/>
              <a:ext cx="0" cy="24733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60" name="Line 3"/>
            <p:cNvSpPr>
              <a:spLocks noChangeShapeType="1"/>
            </p:cNvSpPr>
            <p:nvPr/>
          </p:nvSpPr>
          <p:spPr bwMode="auto">
            <a:xfrm flipH="1">
              <a:off x="1293812" y="3345920"/>
              <a:ext cx="4862363" cy="47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61" name="Arc 4"/>
            <p:cNvSpPr>
              <a:spLocks/>
            </p:cNvSpPr>
            <p:nvPr/>
          </p:nvSpPr>
          <p:spPr bwMode="auto">
            <a:xfrm rot="10800000">
              <a:off x="1766888" y="971550"/>
              <a:ext cx="2857500" cy="1714500"/>
            </a:xfrm>
            <a:custGeom>
              <a:avLst/>
              <a:gdLst>
                <a:gd name="T0" fmla="*/ 2147483647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1" y="0"/>
                  </a:moveTo>
                  <a:cubicBezTo>
                    <a:pt x="11936" y="6"/>
                    <a:pt x="21600" y="9675"/>
                    <a:pt x="21600" y="21600"/>
                  </a:cubicBezTo>
                </a:path>
                <a:path w="21600" h="21600" stroke="0" extrusionOk="0">
                  <a:moveTo>
                    <a:pt x="11" y="0"/>
                  </a:moveTo>
                  <a:cubicBezTo>
                    <a:pt x="11936" y="6"/>
                    <a:pt x="21600" y="9675"/>
                    <a:pt x="21600" y="21600"/>
                  </a:cubicBezTo>
                  <a:lnTo>
                    <a:pt x="0" y="21600"/>
                  </a:lnTo>
                  <a:close/>
                </a:path>
              </a:pathLst>
            </a:custGeom>
            <a:noFill/>
            <a:ln w="508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9462" name="Rectangle 5"/>
            <p:cNvSpPr>
              <a:spLocks noChangeArrowheads="1"/>
            </p:cNvSpPr>
            <p:nvPr/>
          </p:nvSpPr>
          <p:spPr bwMode="auto">
            <a:xfrm>
              <a:off x="4177860" y="2340765"/>
              <a:ext cx="468844" cy="276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2200" dirty="0">
                  <a:latin typeface="Arial" panose="020B0604020202020204" pitchFamily="34" charset="0"/>
                </a:rPr>
                <a:t>AC</a:t>
              </a:r>
            </a:p>
          </p:txBody>
        </p:sp>
        <p:sp>
          <p:nvSpPr>
            <p:cNvPr id="19463" name="Arc 6"/>
            <p:cNvSpPr>
              <a:spLocks/>
            </p:cNvSpPr>
            <p:nvPr/>
          </p:nvSpPr>
          <p:spPr bwMode="auto">
            <a:xfrm>
              <a:off x="1543050" y="1995488"/>
              <a:ext cx="3276600" cy="914400"/>
            </a:xfrm>
            <a:custGeom>
              <a:avLst/>
              <a:gdLst>
                <a:gd name="T0" fmla="*/ 2147483647 w 21600"/>
                <a:gd name="T1" fmla="*/ 2147483647 h 21600"/>
                <a:gd name="T2" fmla="*/ 0 w 21600"/>
                <a:gd name="T3" fmla="*/ 0 h 21600"/>
                <a:gd name="T4" fmla="*/ 2147483647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w="38100" cap="rnd">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9464" name="Rectangle 7"/>
            <p:cNvSpPr>
              <a:spLocks noChangeArrowheads="1"/>
            </p:cNvSpPr>
            <p:nvPr/>
          </p:nvSpPr>
          <p:spPr bwMode="auto">
            <a:xfrm>
              <a:off x="4173696" y="2931780"/>
              <a:ext cx="494325" cy="276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2200" dirty="0">
                  <a:solidFill>
                    <a:schemeClr val="accent2"/>
                  </a:solidFill>
                  <a:latin typeface="Arial" panose="020B0604020202020204" pitchFamily="34" charset="0"/>
                </a:rPr>
                <a:t>MC</a:t>
              </a:r>
            </a:p>
          </p:txBody>
        </p:sp>
        <p:sp>
          <p:nvSpPr>
            <p:cNvPr id="19465" name="Line 8"/>
            <p:cNvSpPr>
              <a:spLocks noChangeShapeType="1"/>
            </p:cNvSpPr>
            <p:nvPr/>
          </p:nvSpPr>
          <p:spPr bwMode="auto">
            <a:xfrm>
              <a:off x="2581766" y="741730"/>
              <a:ext cx="1702896" cy="2520890"/>
            </a:xfrm>
            <a:prstGeom prst="line">
              <a:avLst/>
            </a:prstGeom>
            <a:noFill/>
            <a:ln w="508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66" name="Rectangle 9"/>
            <p:cNvSpPr>
              <a:spLocks noChangeArrowheads="1"/>
            </p:cNvSpPr>
            <p:nvPr/>
          </p:nvSpPr>
          <p:spPr bwMode="auto">
            <a:xfrm>
              <a:off x="2688265" y="658431"/>
              <a:ext cx="2087563" cy="276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2200" b="1" dirty="0">
                  <a:solidFill>
                    <a:schemeClr val="tx2"/>
                  </a:solidFill>
                  <a:latin typeface="Arial" panose="020B0604020202020204" pitchFamily="34" charset="0"/>
                </a:rPr>
                <a:t>DEMAND</a:t>
              </a:r>
            </a:p>
          </p:txBody>
        </p:sp>
        <p:sp>
          <p:nvSpPr>
            <p:cNvPr id="19467" name="Line 10"/>
            <p:cNvSpPr>
              <a:spLocks noChangeShapeType="1"/>
            </p:cNvSpPr>
            <p:nvPr/>
          </p:nvSpPr>
          <p:spPr bwMode="auto">
            <a:xfrm>
              <a:off x="1331913" y="2605088"/>
              <a:ext cx="2473325" cy="0"/>
            </a:xfrm>
            <a:prstGeom prst="line">
              <a:avLst/>
            </a:prstGeom>
            <a:noFill/>
            <a:ln w="12700">
              <a:solidFill>
                <a:schemeClr val="tx1"/>
              </a:solidFill>
              <a:prstDash val="lg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68" name="Line 11"/>
            <p:cNvSpPr>
              <a:spLocks noChangeShapeType="1"/>
            </p:cNvSpPr>
            <p:nvPr/>
          </p:nvSpPr>
          <p:spPr bwMode="auto">
            <a:xfrm>
              <a:off x="2036764" y="817563"/>
              <a:ext cx="1355067" cy="2777608"/>
            </a:xfrm>
            <a:prstGeom prst="line">
              <a:avLst/>
            </a:prstGeom>
            <a:noFill/>
            <a:ln w="50800">
              <a:solidFill>
                <a:schemeClr val="tx2"/>
              </a:solidFill>
              <a:prstDash val="lg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69" name="Rectangle 12"/>
            <p:cNvSpPr>
              <a:spLocks noChangeArrowheads="1"/>
            </p:cNvSpPr>
            <p:nvPr/>
          </p:nvSpPr>
          <p:spPr bwMode="auto">
            <a:xfrm>
              <a:off x="3418469" y="3595172"/>
              <a:ext cx="850900" cy="276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2200" b="1" dirty="0">
                  <a:solidFill>
                    <a:schemeClr val="tx2"/>
                  </a:solidFill>
                  <a:latin typeface="Arial" panose="020B0604020202020204" pitchFamily="34" charset="0"/>
                </a:rPr>
                <a:t>MR</a:t>
              </a:r>
            </a:p>
          </p:txBody>
        </p:sp>
        <p:sp>
          <p:nvSpPr>
            <p:cNvPr id="19470" name="Line 13"/>
            <p:cNvSpPr>
              <a:spLocks noChangeShapeType="1"/>
            </p:cNvSpPr>
            <p:nvPr/>
          </p:nvSpPr>
          <p:spPr bwMode="auto">
            <a:xfrm flipH="1" flipV="1">
              <a:off x="2971798" y="1371600"/>
              <a:ext cx="7931" cy="1979082"/>
            </a:xfrm>
            <a:prstGeom prst="line">
              <a:avLst/>
            </a:prstGeom>
            <a:noFill/>
            <a:ln w="12700">
              <a:solidFill>
                <a:schemeClr val="tx2"/>
              </a:solidFill>
              <a:prstDash val="dash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71" name="Line 14"/>
            <p:cNvSpPr>
              <a:spLocks noChangeShapeType="1"/>
            </p:cNvSpPr>
            <p:nvPr/>
          </p:nvSpPr>
          <p:spPr bwMode="auto">
            <a:xfrm>
              <a:off x="1299029" y="1385888"/>
              <a:ext cx="1711325" cy="0"/>
            </a:xfrm>
            <a:prstGeom prst="line">
              <a:avLst/>
            </a:prstGeom>
            <a:noFill/>
            <a:ln w="12700">
              <a:solidFill>
                <a:schemeClr val="tx2"/>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72" name="Rectangle 15"/>
            <p:cNvSpPr>
              <a:spLocks noChangeArrowheads="1"/>
            </p:cNvSpPr>
            <p:nvPr/>
          </p:nvSpPr>
          <p:spPr bwMode="auto">
            <a:xfrm>
              <a:off x="2609758" y="3312527"/>
              <a:ext cx="444638" cy="276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2200" dirty="0">
                  <a:latin typeface="Arial" panose="020B0604020202020204" pitchFamily="34" charset="0"/>
                </a:rPr>
                <a:t>Q</a:t>
              </a:r>
              <a:r>
                <a:rPr kumimoji="0" lang="en-US" altLang="zh-CN" sz="2200" baseline="-25000" dirty="0">
                  <a:latin typeface="Arial" panose="020B0604020202020204" pitchFamily="34" charset="0"/>
                </a:rPr>
                <a:t>M</a:t>
              </a:r>
            </a:p>
          </p:txBody>
        </p:sp>
        <p:sp>
          <p:nvSpPr>
            <p:cNvPr id="19473" name="Rectangle 16"/>
            <p:cNvSpPr>
              <a:spLocks noChangeArrowheads="1"/>
            </p:cNvSpPr>
            <p:nvPr/>
          </p:nvSpPr>
          <p:spPr bwMode="auto">
            <a:xfrm>
              <a:off x="846534" y="1202447"/>
              <a:ext cx="481584" cy="276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2200" b="1" dirty="0">
                  <a:latin typeface="Arial" panose="020B0604020202020204" pitchFamily="34" charset="0"/>
                </a:rPr>
                <a:t> P</a:t>
              </a:r>
              <a:r>
                <a:rPr kumimoji="0" lang="en-US" altLang="zh-CN" sz="2200" b="1" baseline="-25000" dirty="0">
                  <a:latin typeface="Arial" panose="020B0604020202020204" pitchFamily="34" charset="0"/>
                </a:rPr>
                <a:t>M</a:t>
              </a:r>
            </a:p>
          </p:txBody>
        </p:sp>
        <p:sp>
          <p:nvSpPr>
            <p:cNvPr id="19474" name="Rectangle 17"/>
            <p:cNvSpPr>
              <a:spLocks noChangeArrowheads="1"/>
            </p:cNvSpPr>
            <p:nvPr/>
          </p:nvSpPr>
          <p:spPr bwMode="auto">
            <a:xfrm>
              <a:off x="263411" y="2452688"/>
              <a:ext cx="1036400" cy="276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2200" dirty="0">
                  <a:latin typeface="Arial" panose="020B0604020202020204" pitchFamily="34" charset="0"/>
                </a:rPr>
                <a:t> </a:t>
              </a:r>
              <a:r>
                <a:rPr kumimoji="0" lang="en-US" altLang="zh-CN" sz="2200" b="1" dirty="0">
                  <a:latin typeface="Arial" panose="020B0604020202020204" pitchFamily="34" charset="0"/>
                </a:rPr>
                <a:t>P</a:t>
              </a:r>
              <a:r>
                <a:rPr kumimoji="0" lang="en-US" altLang="zh-CN" sz="2200" b="1" baseline="-25000" dirty="0">
                  <a:latin typeface="Arial" panose="020B0604020202020204" pitchFamily="34" charset="0"/>
                </a:rPr>
                <a:t>R</a:t>
              </a:r>
              <a:r>
                <a:rPr kumimoji="0" lang="en-US" altLang="zh-CN" sz="2200" b="1" dirty="0">
                  <a:latin typeface="Arial" panose="020B0604020202020204" pitchFamily="34" charset="0"/>
                </a:rPr>
                <a:t> = AC</a:t>
              </a:r>
            </a:p>
          </p:txBody>
        </p:sp>
        <p:sp>
          <p:nvSpPr>
            <p:cNvPr id="19475" name="Line 18"/>
            <p:cNvSpPr>
              <a:spLocks noChangeShapeType="1"/>
            </p:cNvSpPr>
            <p:nvPr/>
          </p:nvSpPr>
          <p:spPr bwMode="auto">
            <a:xfrm flipH="1">
              <a:off x="3815033" y="2627313"/>
              <a:ext cx="9255" cy="7093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76" name="Rectangle 19"/>
            <p:cNvSpPr>
              <a:spLocks noChangeArrowheads="1"/>
            </p:cNvSpPr>
            <p:nvPr/>
          </p:nvSpPr>
          <p:spPr bwMode="auto">
            <a:xfrm>
              <a:off x="3599435" y="3312527"/>
              <a:ext cx="428075" cy="276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2200" dirty="0">
                  <a:latin typeface="Arial" panose="020B0604020202020204" pitchFamily="34" charset="0"/>
                </a:rPr>
                <a:t>Q</a:t>
              </a:r>
              <a:r>
                <a:rPr kumimoji="0" lang="en-US" altLang="zh-CN" sz="2200" baseline="-25000" dirty="0">
                  <a:latin typeface="Arial" panose="020B0604020202020204" pitchFamily="34" charset="0"/>
                </a:rPr>
                <a:t>R</a:t>
              </a:r>
            </a:p>
          </p:txBody>
        </p:sp>
        <p:cxnSp>
          <p:nvCxnSpPr>
            <p:cNvPr id="3" name="直接连接符 2"/>
            <p:cNvCxnSpPr/>
            <p:nvPr/>
          </p:nvCxnSpPr>
          <p:spPr bwMode="auto">
            <a:xfrm>
              <a:off x="4953000" y="980486"/>
              <a:ext cx="0" cy="2300289"/>
            </a:xfrm>
            <a:prstGeom prst="line">
              <a:avLst/>
            </a:prstGeom>
            <a:solidFill>
              <a:schemeClr val="accent1"/>
            </a:solidFill>
            <a:ln w="41275" cap="flat" cmpd="sng" algn="ctr">
              <a:solidFill>
                <a:schemeClr val="tx1"/>
              </a:solidFill>
              <a:prstDash val="dash"/>
              <a:round/>
              <a:headEnd type="none" w="med" len="med"/>
              <a:tailEnd type="none" w="med" len="med"/>
            </a:ln>
            <a:effectLst/>
          </p:spPr>
        </p:cxnSp>
        <p:sp>
          <p:nvSpPr>
            <p:cNvPr id="31" name="Rectangle 5"/>
            <p:cNvSpPr>
              <a:spLocks noChangeArrowheads="1"/>
            </p:cNvSpPr>
            <p:nvPr/>
          </p:nvSpPr>
          <p:spPr bwMode="auto">
            <a:xfrm>
              <a:off x="4268845" y="628985"/>
              <a:ext cx="1368310" cy="256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zh-CN" altLang="en-US" sz="2000" dirty="0">
                  <a:solidFill>
                    <a:schemeClr val="bg2"/>
                  </a:solidFill>
                  <a:latin typeface="微软雅黑" panose="020B0503020204020204" pitchFamily="34" charset="-122"/>
                  <a:ea typeface="微软雅黑" panose="020B0503020204020204" pitchFamily="34" charset="-122"/>
                </a:rPr>
                <a:t>规模经济产量</a:t>
              </a:r>
              <a:endParaRPr kumimoji="0" lang="en-US" altLang="zh-CN" sz="2000" dirty="0">
                <a:solidFill>
                  <a:schemeClr val="bg2"/>
                </a:solidFill>
                <a:latin typeface="微软雅黑" panose="020B0503020204020204" pitchFamily="34" charset="-122"/>
                <a:ea typeface="微软雅黑" panose="020B0503020204020204" pitchFamily="34" charset="-122"/>
              </a:endParaRPr>
            </a:p>
          </p:txBody>
        </p:sp>
        <p:cxnSp>
          <p:nvCxnSpPr>
            <p:cNvPr id="33" name="直接连接符 32"/>
            <p:cNvCxnSpPr/>
            <p:nvPr/>
          </p:nvCxnSpPr>
          <p:spPr bwMode="auto">
            <a:xfrm>
              <a:off x="2108392" y="1056275"/>
              <a:ext cx="0" cy="2300289"/>
            </a:xfrm>
            <a:prstGeom prst="line">
              <a:avLst/>
            </a:prstGeom>
            <a:solidFill>
              <a:schemeClr val="accent1"/>
            </a:solidFill>
            <a:ln w="41275" cap="flat" cmpd="sng" algn="ctr">
              <a:solidFill>
                <a:schemeClr val="tx1"/>
              </a:solidFill>
              <a:prstDash val="dash"/>
              <a:round/>
              <a:headEnd type="none" w="med" len="med"/>
              <a:tailEnd type="none" w="med" len="med"/>
            </a:ln>
            <a:effectLst/>
          </p:spPr>
        </p:cxnSp>
        <p:sp>
          <p:nvSpPr>
            <p:cNvPr id="34" name="Rectangle 5"/>
            <p:cNvSpPr>
              <a:spLocks noChangeArrowheads="1"/>
            </p:cNvSpPr>
            <p:nvPr/>
          </p:nvSpPr>
          <p:spPr bwMode="auto">
            <a:xfrm>
              <a:off x="1808566" y="3291625"/>
              <a:ext cx="402595" cy="276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2200" dirty="0">
                  <a:latin typeface="Arial" panose="020B0604020202020204" pitchFamily="34" charset="0"/>
                </a:rPr>
                <a:t>Q</a:t>
              </a:r>
              <a:r>
                <a:rPr kumimoji="0" lang="en-US" altLang="zh-CN" sz="2200" baseline="-25000" dirty="0">
                  <a:latin typeface="Arial" panose="020B0604020202020204" pitchFamily="34" charset="0"/>
                </a:rPr>
                <a:t>2</a:t>
              </a:r>
              <a:endParaRPr kumimoji="0" lang="en-US" altLang="zh-CN" sz="2200" dirty="0">
                <a:latin typeface="Arial" panose="020B0604020202020204" pitchFamily="34" charset="0"/>
              </a:endParaRPr>
            </a:p>
          </p:txBody>
        </p:sp>
      </p:grpSp>
      <p:sp>
        <p:nvSpPr>
          <p:cNvPr id="35" name="Rectangle 5"/>
          <p:cNvSpPr>
            <a:spLocks noChangeArrowheads="1"/>
          </p:cNvSpPr>
          <p:nvPr/>
        </p:nvSpPr>
        <p:spPr bwMode="auto">
          <a:xfrm>
            <a:off x="815436" y="2780955"/>
            <a:ext cx="490520" cy="428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2200" dirty="0">
                <a:latin typeface="Arial" panose="020B0604020202020204" pitchFamily="34" charset="0"/>
              </a:rPr>
              <a:t>C</a:t>
            </a:r>
            <a:r>
              <a:rPr kumimoji="0" lang="en-US" altLang="zh-CN" sz="2200" baseline="-25000" dirty="0">
                <a:latin typeface="Arial" panose="020B0604020202020204" pitchFamily="34" charset="0"/>
              </a:rPr>
              <a:t>2</a:t>
            </a:r>
            <a:endParaRPr kumimoji="0" lang="en-US" altLang="zh-CN" sz="2200" dirty="0">
              <a:latin typeface="Arial" panose="020B0604020202020204" pitchFamily="34" charset="0"/>
            </a:endParaRPr>
          </a:p>
        </p:txBody>
      </p:sp>
      <p:sp>
        <p:nvSpPr>
          <p:cNvPr id="36" name="Line 10"/>
          <p:cNvSpPr>
            <a:spLocks noChangeShapeType="1"/>
          </p:cNvSpPr>
          <p:nvPr/>
        </p:nvSpPr>
        <p:spPr bwMode="auto">
          <a:xfrm>
            <a:off x="1331775" y="3068975"/>
            <a:ext cx="1010933" cy="0"/>
          </a:xfrm>
          <a:prstGeom prst="line">
            <a:avLst/>
          </a:prstGeom>
          <a:noFill/>
          <a:ln w="12700">
            <a:solidFill>
              <a:schemeClr val="tx1"/>
            </a:solidFill>
            <a:prstDash val="lgDash"/>
            <a:round/>
            <a:headEnd/>
            <a:tailEnd/>
          </a:ln>
          <a:extLst>
            <a:ext uri="{909E8E84-426E-40DD-AFC4-6F175D3DCCD1}">
              <a14:hiddenFill xmlns:a14="http://schemas.microsoft.com/office/drawing/2010/main">
                <a:noFill/>
              </a14:hiddenFill>
            </a:ext>
          </a:extLst>
        </p:spPr>
        <p:txBody>
          <a:bodyPr wrap="none" anchor="ctr"/>
          <a:lstStyle/>
          <a:p>
            <a:endParaRPr lang="zh-CN" altLang="en-US" sz="3200"/>
          </a:p>
        </p:txBody>
      </p:sp>
      <p:sp>
        <p:nvSpPr>
          <p:cNvPr id="37" name="Rectangle 15"/>
          <p:cNvSpPr>
            <a:spLocks noChangeArrowheads="1"/>
          </p:cNvSpPr>
          <p:nvPr/>
        </p:nvSpPr>
        <p:spPr bwMode="auto">
          <a:xfrm>
            <a:off x="741380" y="3675087"/>
            <a:ext cx="543420" cy="428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2200" dirty="0">
                <a:latin typeface="Arial" panose="020B0604020202020204" pitchFamily="34" charset="0"/>
              </a:rPr>
              <a:t>C</a:t>
            </a:r>
            <a:r>
              <a:rPr kumimoji="0" lang="en-US" altLang="zh-CN" sz="2200" baseline="-25000" dirty="0">
                <a:latin typeface="Arial" panose="020B0604020202020204" pitchFamily="34" charset="0"/>
              </a:rPr>
              <a:t>M</a:t>
            </a:r>
          </a:p>
        </p:txBody>
      </p:sp>
      <p:sp>
        <p:nvSpPr>
          <p:cNvPr id="38" name="Line 10"/>
          <p:cNvSpPr>
            <a:spLocks noChangeShapeType="1"/>
          </p:cNvSpPr>
          <p:nvPr/>
        </p:nvSpPr>
        <p:spPr bwMode="auto">
          <a:xfrm flipV="1">
            <a:off x="1321777" y="3991576"/>
            <a:ext cx="2060881" cy="2665"/>
          </a:xfrm>
          <a:prstGeom prst="line">
            <a:avLst/>
          </a:prstGeom>
          <a:noFill/>
          <a:ln w="12700">
            <a:solidFill>
              <a:schemeClr val="tx1"/>
            </a:solidFill>
            <a:prstDash val="lgDash"/>
            <a:round/>
            <a:headEnd/>
            <a:tailEnd/>
          </a:ln>
          <a:extLst>
            <a:ext uri="{909E8E84-426E-40DD-AFC4-6F175D3DCCD1}">
              <a14:hiddenFill xmlns:a14="http://schemas.microsoft.com/office/drawing/2010/main">
                <a:noFill/>
              </a14:hiddenFill>
            </a:ext>
          </a:extLst>
        </p:spPr>
        <p:txBody>
          <a:bodyPr wrap="none" anchor="ctr"/>
          <a:lstStyle/>
          <a:p>
            <a:endParaRPr lang="zh-CN" altLang="en-US" sz="3200"/>
          </a:p>
        </p:txBody>
      </p:sp>
      <p:sp>
        <p:nvSpPr>
          <p:cNvPr id="4" name="椭圆 3"/>
          <p:cNvSpPr/>
          <p:nvPr/>
        </p:nvSpPr>
        <p:spPr bwMode="auto">
          <a:xfrm>
            <a:off x="2312134" y="3014623"/>
            <a:ext cx="142289" cy="153547"/>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宋体" pitchFamily="2" charset="-122"/>
            </a:endParaRPr>
          </a:p>
        </p:txBody>
      </p:sp>
      <p:sp>
        <p:nvSpPr>
          <p:cNvPr id="39" name="椭圆 38"/>
          <p:cNvSpPr/>
          <p:nvPr/>
        </p:nvSpPr>
        <p:spPr bwMode="auto">
          <a:xfrm>
            <a:off x="3405993" y="3922708"/>
            <a:ext cx="140772" cy="150528"/>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宋体" pitchFamily="2" charset="-122"/>
            </a:endParaRPr>
          </a:p>
        </p:txBody>
      </p:sp>
      <p:sp>
        <p:nvSpPr>
          <p:cNvPr id="40" name="椭圆 39"/>
          <p:cNvSpPr/>
          <p:nvPr/>
        </p:nvSpPr>
        <p:spPr bwMode="auto">
          <a:xfrm>
            <a:off x="4458430" y="4275323"/>
            <a:ext cx="157865" cy="158132"/>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宋体" pitchFamily="2" charset="-122"/>
            </a:endParaRPr>
          </a:p>
        </p:txBody>
      </p:sp>
      <p:sp>
        <p:nvSpPr>
          <p:cNvPr id="32" name="椭圆 31"/>
          <p:cNvSpPr/>
          <p:nvPr/>
        </p:nvSpPr>
        <p:spPr bwMode="auto">
          <a:xfrm>
            <a:off x="3406065" y="4514539"/>
            <a:ext cx="150352" cy="138546"/>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宋体" pitchFamily="2" charset="-122"/>
            </a:endParaRPr>
          </a:p>
        </p:txBody>
      </p:sp>
      <p:sp>
        <p:nvSpPr>
          <p:cNvPr id="41" name="Rectangle 5"/>
          <p:cNvSpPr>
            <a:spLocks noChangeArrowheads="1"/>
          </p:cNvSpPr>
          <p:nvPr/>
        </p:nvSpPr>
        <p:spPr bwMode="auto">
          <a:xfrm>
            <a:off x="3553660" y="4296768"/>
            <a:ext cx="370295" cy="428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2200" dirty="0">
                <a:latin typeface="Arial" panose="020B0604020202020204" pitchFamily="34" charset="0"/>
              </a:rPr>
              <a:t>E</a:t>
            </a:r>
          </a:p>
        </p:txBody>
      </p:sp>
      <p:sp>
        <p:nvSpPr>
          <p:cNvPr id="42" name="矩形 41"/>
          <p:cNvSpPr/>
          <p:nvPr/>
        </p:nvSpPr>
        <p:spPr>
          <a:xfrm>
            <a:off x="6620455" y="2794119"/>
            <a:ext cx="2802567" cy="1015663"/>
          </a:xfrm>
          <a:prstGeom prst="rect">
            <a:avLst/>
          </a:prstGeom>
        </p:spPr>
        <p:txBody>
          <a:bodyPr wrap="square">
            <a:spAutoFit/>
          </a:bodyPr>
          <a:lstStyle/>
          <a:p>
            <a:pPr>
              <a:lnSpc>
                <a:spcPct val="150000"/>
              </a:lnSpc>
            </a:pPr>
            <a:r>
              <a:rPr lang="zh-CN" altLang="en-US" sz="2000" b="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市场有限时：</a:t>
            </a:r>
            <a:endParaRPr lang="en-US" altLang="zh-CN" sz="2000" b="0" dirty="0">
              <a:solidFill>
                <a:srgbClr val="000000"/>
              </a:solidFill>
              <a:latin typeface="微软雅黑" panose="020B0503020204020204" pitchFamily="34" charset="-122"/>
              <a:ea typeface="微软雅黑" panose="020B0503020204020204" pitchFamily="34" charset="-122"/>
              <a:sym typeface="宋体" panose="02010600030101010101" pitchFamily="2" charset="-122"/>
            </a:endParaRPr>
          </a:p>
          <a:p>
            <a:pPr>
              <a:lnSpc>
                <a:spcPct val="150000"/>
              </a:lnSpc>
            </a:pPr>
            <a:r>
              <a:rPr lang="zh-CN" altLang="en-US" sz="2000" b="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只允许一家企业</a:t>
            </a:r>
            <a:endParaRPr lang="zh-CN" altLang="en-US" sz="2000" dirty="0">
              <a:latin typeface="微软雅黑" panose="020B0503020204020204" pitchFamily="34" charset="-122"/>
              <a:ea typeface="微软雅黑" panose="020B0503020204020204" pitchFamily="34" charset="-122"/>
            </a:endParaRPr>
          </a:p>
        </p:txBody>
      </p:sp>
      <p:sp>
        <p:nvSpPr>
          <p:cNvPr id="43" name="矩形 42">
            <a:extLst>
              <a:ext uri="{FF2B5EF4-FFF2-40B4-BE49-F238E27FC236}">
                <a16:creationId xmlns:a16="http://schemas.microsoft.com/office/drawing/2014/main" id="{F68E5273-CD77-47B9-B841-9D29349C133D}"/>
              </a:ext>
            </a:extLst>
          </p:cNvPr>
          <p:cNvSpPr/>
          <p:nvPr/>
        </p:nvSpPr>
        <p:spPr>
          <a:xfrm>
            <a:off x="461314" y="532011"/>
            <a:ext cx="3781805"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一、</a:t>
            </a:r>
            <a:r>
              <a:rPr lang="zh-CN" altLang="en-US" sz="2400" spc="15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垄断的含义及其原因</a:t>
            </a:r>
            <a:endParaRPr lang="zh-CN" altLang="en-US" sz="2400" b="1" spc="150" dirty="0">
              <a:solidFill>
                <a:srgbClr val="FFFFFF"/>
              </a:solidFill>
              <a:latin typeface="微软雅黑" panose="020B0503020204020204" pitchFamily="34" charset="-122"/>
              <a:ea typeface="微软雅黑" panose="020B0503020204020204" pitchFamily="34" charset="-122"/>
            </a:endParaRPr>
          </a:p>
        </p:txBody>
      </p:sp>
      <p:sp>
        <p:nvSpPr>
          <p:cNvPr id="44" name="矩形 43">
            <a:extLst>
              <a:ext uri="{FF2B5EF4-FFF2-40B4-BE49-F238E27FC236}">
                <a16:creationId xmlns:a16="http://schemas.microsoft.com/office/drawing/2014/main" id="{FA7FA54E-7761-4A91-B0B4-4ECF7F9E181E}"/>
              </a:ext>
            </a:extLst>
          </p:cNvPr>
          <p:cNvSpPr/>
          <p:nvPr/>
        </p:nvSpPr>
        <p:spPr>
          <a:xfrm>
            <a:off x="7505410" y="35458"/>
            <a:ext cx="1638590" cy="369332"/>
          </a:xfrm>
          <a:prstGeom prst="rect">
            <a:avLst/>
          </a:prstGeom>
        </p:spPr>
        <p:txBody>
          <a:bodyPr wrap="none">
            <a:spAutoFit/>
          </a:bodyPr>
          <a:lstStyle/>
          <a:p>
            <a:pPr algn="dist"/>
            <a:r>
              <a:rPr lang="zh-CN" altLang="en-US" sz="1800" b="0" spc="30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第一节 垄断</a:t>
            </a:r>
            <a:endParaRPr lang="zh-CN" altLang="en-US" sz="1800" b="0" spc="300" dirty="0">
              <a:solidFill>
                <a:schemeClr val="tx2"/>
              </a:solidFill>
              <a:ea typeface="黑体" panose="02010609060101010101" pitchFamily="49" charset="-122"/>
              <a:sym typeface="Arial" panose="020B0604020202020204" pitchFamily="34" charset="0"/>
            </a:endParaRPr>
          </a:p>
        </p:txBody>
      </p:sp>
    </p:spTree>
    <p:extLst>
      <p:ext uri="{BB962C8B-B14F-4D97-AF65-F5344CB8AC3E}">
        <p14:creationId xmlns:p14="http://schemas.microsoft.com/office/powerpoint/2010/main" val="2450616854"/>
      </p:ext>
    </p:extLst>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ppt_x"/>
                                          </p:val>
                                        </p:tav>
                                        <p:tav tm="100000">
                                          <p:val>
                                            <p:strVal val="#ppt_x"/>
                                          </p:val>
                                        </p:tav>
                                      </p:tavLst>
                                    </p:anim>
                                    <p:anim calcmode="lin" valueType="num">
                                      <p:cBhvr additive="base">
                                        <p:cTn id="8" dur="500" fill="hold"/>
                                        <p:tgtEl>
                                          <p:spTgt spid="3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6"/>
                                        </p:tgtEl>
                                        <p:attrNameLst>
                                          <p:attrName>style.visibility</p:attrName>
                                        </p:attrNameLst>
                                      </p:cBhvr>
                                      <p:to>
                                        <p:strVal val="visible"/>
                                      </p:to>
                                    </p:set>
                                    <p:anim calcmode="lin" valueType="num">
                                      <p:cBhvr additive="base">
                                        <p:cTn id="11" dur="500" fill="hold"/>
                                        <p:tgtEl>
                                          <p:spTgt spid="36"/>
                                        </p:tgtEl>
                                        <p:attrNameLst>
                                          <p:attrName>ppt_x</p:attrName>
                                        </p:attrNameLst>
                                      </p:cBhvr>
                                      <p:tavLst>
                                        <p:tav tm="0">
                                          <p:val>
                                            <p:strVal val="#ppt_x"/>
                                          </p:val>
                                        </p:tav>
                                        <p:tav tm="100000">
                                          <p:val>
                                            <p:strVal val="#ppt_x"/>
                                          </p:val>
                                        </p:tav>
                                      </p:tavLst>
                                    </p:anim>
                                    <p:anim calcmode="lin" valueType="num">
                                      <p:cBhvr additive="base">
                                        <p:cTn id="12" dur="500" fill="hold"/>
                                        <p:tgtEl>
                                          <p:spTgt spid="36"/>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7"/>
                                        </p:tgtEl>
                                        <p:attrNameLst>
                                          <p:attrName>style.visibility</p:attrName>
                                        </p:attrNameLst>
                                      </p:cBhvr>
                                      <p:to>
                                        <p:strVal val="visible"/>
                                      </p:to>
                                    </p:set>
                                    <p:anim calcmode="lin" valueType="num">
                                      <p:cBhvr additive="base">
                                        <p:cTn id="15" dur="500" fill="hold"/>
                                        <p:tgtEl>
                                          <p:spTgt spid="37"/>
                                        </p:tgtEl>
                                        <p:attrNameLst>
                                          <p:attrName>ppt_x</p:attrName>
                                        </p:attrNameLst>
                                      </p:cBhvr>
                                      <p:tavLst>
                                        <p:tav tm="0">
                                          <p:val>
                                            <p:strVal val="#ppt_x"/>
                                          </p:val>
                                        </p:tav>
                                        <p:tav tm="100000">
                                          <p:val>
                                            <p:strVal val="#ppt_x"/>
                                          </p:val>
                                        </p:tav>
                                      </p:tavLst>
                                    </p:anim>
                                    <p:anim calcmode="lin" valueType="num">
                                      <p:cBhvr additive="base">
                                        <p:cTn id="16" dur="500" fill="hold"/>
                                        <p:tgtEl>
                                          <p:spTgt spid="37"/>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8"/>
                                        </p:tgtEl>
                                        <p:attrNameLst>
                                          <p:attrName>style.visibility</p:attrName>
                                        </p:attrNameLst>
                                      </p:cBhvr>
                                      <p:to>
                                        <p:strVal val="visible"/>
                                      </p:to>
                                    </p:set>
                                    <p:anim calcmode="lin" valueType="num">
                                      <p:cBhvr additive="base">
                                        <p:cTn id="19" dur="500" fill="hold"/>
                                        <p:tgtEl>
                                          <p:spTgt spid="38"/>
                                        </p:tgtEl>
                                        <p:attrNameLst>
                                          <p:attrName>ppt_x</p:attrName>
                                        </p:attrNameLst>
                                      </p:cBhvr>
                                      <p:tavLst>
                                        <p:tav tm="0">
                                          <p:val>
                                            <p:strVal val="#ppt_x"/>
                                          </p:val>
                                        </p:tav>
                                        <p:tav tm="100000">
                                          <p:val>
                                            <p:strVal val="#ppt_x"/>
                                          </p:val>
                                        </p:tav>
                                      </p:tavLst>
                                    </p:anim>
                                    <p:anim calcmode="lin" valueType="num">
                                      <p:cBhvr additive="base">
                                        <p:cTn id="20" dur="500" fill="hold"/>
                                        <p:tgtEl>
                                          <p:spTgt spid="38"/>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4"/>
                                        </p:tgtEl>
                                        <p:attrNameLst>
                                          <p:attrName>style.visibility</p:attrName>
                                        </p:attrNameLst>
                                      </p:cBhvr>
                                      <p:to>
                                        <p:strVal val="visible"/>
                                      </p:to>
                                    </p:set>
                                    <p:anim calcmode="lin" valueType="num">
                                      <p:cBhvr additive="base">
                                        <p:cTn id="23" dur="500" fill="hold"/>
                                        <p:tgtEl>
                                          <p:spTgt spid="4"/>
                                        </p:tgtEl>
                                        <p:attrNameLst>
                                          <p:attrName>ppt_x</p:attrName>
                                        </p:attrNameLst>
                                      </p:cBhvr>
                                      <p:tavLst>
                                        <p:tav tm="0">
                                          <p:val>
                                            <p:strVal val="#ppt_x"/>
                                          </p:val>
                                        </p:tav>
                                        <p:tav tm="100000">
                                          <p:val>
                                            <p:strVal val="#ppt_x"/>
                                          </p:val>
                                        </p:tav>
                                      </p:tavLst>
                                    </p:anim>
                                    <p:anim calcmode="lin" valueType="num">
                                      <p:cBhvr additive="base">
                                        <p:cTn id="24" dur="500" fill="hold"/>
                                        <p:tgtEl>
                                          <p:spTgt spid="4"/>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9"/>
                                        </p:tgtEl>
                                        <p:attrNameLst>
                                          <p:attrName>style.visibility</p:attrName>
                                        </p:attrNameLst>
                                      </p:cBhvr>
                                      <p:to>
                                        <p:strVal val="visible"/>
                                      </p:to>
                                    </p:set>
                                    <p:anim calcmode="lin" valueType="num">
                                      <p:cBhvr additive="base">
                                        <p:cTn id="27" dur="500" fill="hold"/>
                                        <p:tgtEl>
                                          <p:spTgt spid="39"/>
                                        </p:tgtEl>
                                        <p:attrNameLst>
                                          <p:attrName>ppt_x</p:attrName>
                                        </p:attrNameLst>
                                      </p:cBhvr>
                                      <p:tavLst>
                                        <p:tav tm="0">
                                          <p:val>
                                            <p:strVal val="#ppt_x"/>
                                          </p:val>
                                        </p:tav>
                                        <p:tav tm="100000">
                                          <p:val>
                                            <p:strVal val="#ppt_x"/>
                                          </p:val>
                                        </p:tav>
                                      </p:tavLst>
                                    </p:anim>
                                    <p:anim calcmode="lin" valueType="num">
                                      <p:cBhvr additive="base">
                                        <p:cTn id="28" dur="500" fill="hold"/>
                                        <p:tgtEl>
                                          <p:spTgt spid="39"/>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40"/>
                                        </p:tgtEl>
                                        <p:attrNameLst>
                                          <p:attrName>style.visibility</p:attrName>
                                        </p:attrNameLst>
                                      </p:cBhvr>
                                      <p:to>
                                        <p:strVal val="visible"/>
                                      </p:to>
                                    </p:set>
                                    <p:anim calcmode="lin" valueType="num">
                                      <p:cBhvr additive="base">
                                        <p:cTn id="31" dur="500" fill="hold"/>
                                        <p:tgtEl>
                                          <p:spTgt spid="40"/>
                                        </p:tgtEl>
                                        <p:attrNameLst>
                                          <p:attrName>ppt_x</p:attrName>
                                        </p:attrNameLst>
                                      </p:cBhvr>
                                      <p:tavLst>
                                        <p:tav tm="0">
                                          <p:val>
                                            <p:strVal val="#ppt_x"/>
                                          </p:val>
                                        </p:tav>
                                        <p:tav tm="100000">
                                          <p:val>
                                            <p:strVal val="#ppt_x"/>
                                          </p:val>
                                        </p:tav>
                                      </p:tavLst>
                                    </p:anim>
                                    <p:anim calcmode="lin" valueType="num">
                                      <p:cBhvr additive="base">
                                        <p:cTn id="32" dur="500" fill="hold"/>
                                        <p:tgtEl>
                                          <p:spTgt spid="40"/>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32"/>
                                        </p:tgtEl>
                                        <p:attrNameLst>
                                          <p:attrName>style.visibility</p:attrName>
                                        </p:attrNameLst>
                                      </p:cBhvr>
                                      <p:to>
                                        <p:strVal val="visible"/>
                                      </p:to>
                                    </p:set>
                                    <p:anim calcmode="lin" valueType="num">
                                      <p:cBhvr additive="base">
                                        <p:cTn id="35" dur="500" fill="hold"/>
                                        <p:tgtEl>
                                          <p:spTgt spid="32"/>
                                        </p:tgtEl>
                                        <p:attrNameLst>
                                          <p:attrName>ppt_x</p:attrName>
                                        </p:attrNameLst>
                                      </p:cBhvr>
                                      <p:tavLst>
                                        <p:tav tm="0">
                                          <p:val>
                                            <p:strVal val="#ppt_x"/>
                                          </p:val>
                                        </p:tav>
                                        <p:tav tm="100000">
                                          <p:val>
                                            <p:strVal val="#ppt_x"/>
                                          </p:val>
                                        </p:tav>
                                      </p:tavLst>
                                    </p:anim>
                                    <p:anim calcmode="lin" valueType="num">
                                      <p:cBhvr additive="base">
                                        <p:cTn id="36" dur="500" fill="hold"/>
                                        <p:tgtEl>
                                          <p:spTgt spid="32"/>
                                        </p:tgtEl>
                                        <p:attrNameLst>
                                          <p:attrName>ppt_y</p:attrName>
                                        </p:attrNameLst>
                                      </p:cBhvr>
                                      <p:tavLst>
                                        <p:tav tm="0">
                                          <p:val>
                                            <p:strVal val="1+#ppt_h/2"/>
                                          </p:val>
                                        </p:tav>
                                        <p:tav tm="100000">
                                          <p:val>
                                            <p:strVal val="#ppt_y"/>
                                          </p:val>
                                        </p:tav>
                                      </p:tavLst>
                                    </p:anim>
                                  </p:childTnLst>
                                </p:cTn>
                              </p:par>
                              <p:par>
                                <p:cTn id="37" presetID="22" presetClass="entr" presetSubtype="4" fill="hold" nodeType="withEffect">
                                  <p:stCondLst>
                                    <p:cond delay="0"/>
                                  </p:stCondLst>
                                  <p:childTnLst>
                                    <p:set>
                                      <p:cBhvr>
                                        <p:cTn id="38" dur="1" fill="hold">
                                          <p:stCondLst>
                                            <p:cond delay="0"/>
                                          </p:stCondLst>
                                        </p:cTn>
                                        <p:tgtEl>
                                          <p:spTgt spid="2"/>
                                        </p:tgtEl>
                                        <p:attrNameLst>
                                          <p:attrName>style.visibility</p:attrName>
                                        </p:attrNameLst>
                                      </p:cBhvr>
                                      <p:to>
                                        <p:strVal val="visible"/>
                                      </p:to>
                                    </p:set>
                                    <p:animEffect transition="in" filter="wipe(down)">
                                      <p:cBhvr>
                                        <p:cTn id="39" dur="500"/>
                                        <p:tgtEl>
                                          <p:spTgt spid="2"/>
                                        </p:tgtEl>
                                      </p:cBhvr>
                                    </p:animEffect>
                                  </p:childTnLst>
                                </p:cTn>
                              </p:par>
                              <p:par>
                                <p:cTn id="40" presetID="2" presetClass="entr" presetSubtype="4" fill="hold" grpId="0" nodeType="withEffect">
                                  <p:stCondLst>
                                    <p:cond delay="0"/>
                                  </p:stCondLst>
                                  <p:childTnLst>
                                    <p:set>
                                      <p:cBhvr>
                                        <p:cTn id="41" dur="1" fill="hold">
                                          <p:stCondLst>
                                            <p:cond delay="0"/>
                                          </p:stCondLst>
                                        </p:cTn>
                                        <p:tgtEl>
                                          <p:spTgt spid="41"/>
                                        </p:tgtEl>
                                        <p:attrNameLst>
                                          <p:attrName>style.visibility</p:attrName>
                                        </p:attrNameLst>
                                      </p:cBhvr>
                                      <p:to>
                                        <p:strVal val="visible"/>
                                      </p:to>
                                    </p:set>
                                    <p:anim calcmode="lin" valueType="num">
                                      <p:cBhvr additive="base">
                                        <p:cTn id="42" dur="500" fill="hold"/>
                                        <p:tgtEl>
                                          <p:spTgt spid="41"/>
                                        </p:tgtEl>
                                        <p:attrNameLst>
                                          <p:attrName>ppt_x</p:attrName>
                                        </p:attrNameLst>
                                      </p:cBhvr>
                                      <p:tavLst>
                                        <p:tav tm="0">
                                          <p:val>
                                            <p:strVal val="#ppt_x"/>
                                          </p:val>
                                        </p:tav>
                                        <p:tav tm="100000">
                                          <p:val>
                                            <p:strVal val="#ppt_x"/>
                                          </p:val>
                                        </p:tav>
                                      </p:tavLst>
                                    </p:anim>
                                    <p:anim calcmode="lin" valueType="num">
                                      <p:cBhvr additive="base">
                                        <p:cTn id="43"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42"/>
                                        </p:tgtEl>
                                        <p:attrNameLst>
                                          <p:attrName>style.visibility</p:attrName>
                                        </p:attrNameLst>
                                      </p:cBhvr>
                                      <p:to>
                                        <p:strVal val="visible"/>
                                      </p:to>
                                    </p:set>
                                    <p:animEffect transition="in" filter="fade">
                                      <p:cBhvr>
                                        <p:cTn id="48" dur="10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6" grpId="0" animBg="1"/>
      <p:bldP spid="37" grpId="0"/>
      <p:bldP spid="38" grpId="0" animBg="1"/>
      <p:bldP spid="4" grpId="0" animBg="1"/>
      <p:bldP spid="39" grpId="0" animBg="1"/>
      <p:bldP spid="40" grpId="0" animBg="1"/>
      <p:bldP spid="32" grpId="0" animBg="1"/>
      <p:bldP spid="41" grpId="0"/>
      <p:bldP spid="4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Line 8"/>
          <p:cNvSpPr>
            <a:spLocks noChangeShapeType="1"/>
          </p:cNvSpPr>
          <p:nvPr/>
        </p:nvSpPr>
        <p:spPr bwMode="auto">
          <a:xfrm>
            <a:off x="6770432" y="1028257"/>
            <a:ext cx="1758389" cy="3138301"/>
          </a:xfrm>
          <a:prstGeom prst="line">
            <a:avLst/>
          </a:prstGeom>
          <a:noFill/>
          <a:ln w="508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1" name="Rectangle 9"/>
          <p:cNvSpPr>
            <a:spLocks noChangeArrowheads="1"/>
          </p:cNvSpPr>
          <p:nvPr/>
        </p:nvSpPr>
        <p:spPr bwMode="auto">
          <a:xfrm>
            <a:off x="6328283" y="4139607"/>
            <a:ext cx="2626600" cy="766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2200" b="1" dirty="0">
                <a:solidFill>
                  <a:schemeClr val="tx2"/>
                </a:solidFill>
                <a:latin typeface="Arial" panose="020B0604020202020204" pitchFamily="34" charset="0"/>
              </a:rPr>
              <a:t>INCREASED</a:t>
            </a:r>
          </a:p>
          <a:p>
            <a:r>
              <a:rPr kumimoji="0" lang="en-US" altLang="zh-CN" sz="2200" b="1" dirty="0">
                <a:solidFill>
                  <a:schemeClr val="tx2"/>
                </a:solidFill>
                <a:latin typeface="Arial" panose="020B0604020202020204" pitchFamily="34" charset="0"/>
              </a:rPr>
              <a:t>DEMAND</a:t>
            </a:r>
          </a:p>
        </p:txBody>
      </p:sp>
      <p:sp>
        <p:nvSpPr>
          <p:cNvPr id="67" name="矩形 66"/>
          <p:cNvSpPr/>
          <p:nvPr/>
        </p:nvSpPr>
        <p:spPr>
          <a:xfrm>
            <a:off x="6421846" y="5353850"/>
            <a:ext cx="2802567" cy="861774"/>
          </a:xfrm>
          <a:prstGeom prst="rect">
            <a:avLst/>
          </a:prstGeom>
        </p:spPr>
        <p:txBody>
          <a:bodyPr wrap="square">
            <a:spAutoFit/>
          </a:bodyPr>
          <a:lstStyle/>
          <a:p>
            <a:r>
              <a:rPr lang="zh-CN" altLang="en-US" sz="2000" b="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市场扩大时：</a:t>
            </a:r>
            <a:endParaRPr lang="en-US" altLang="zh-CN" sz="2000" b="0" dirty="0">
              <a:solidFill>
                <a:srgbClr val="000000"/>
              </a:solidFill>
              <a:latin typeface="微软雅黑" panose="020B0503020204020204" pitchFamily="34" charset="-122"/>
              <a:ea typeface="微软雅黑" panose="020B0503020204020204" pitchFamily="34" charset="-122"/>
              <a:sym typeface="宋体" panose="02010600030101010101" pitchFamily="2" charset="-122"/>
            </a:endParaRPr>
          </a:p>
          <a:p>
            <a:pPr>
              <a:lnSpc>
                <a:spcPct val="150000"/>
              </a:lnSpc>
            </a:pPr>
            <a:r>
              <a:rPr lang="zh-CN" altLang="en-US" sz="2000" b="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允许多家企业</a:t>
            </a:r>
            <a:endParaRPr lang="zh-CN" altLang="en-US" sz="2000" b="0" dirty="0">
              <a:solidFill>
                <a:srgbClr val="000000"/>
              </a:solidFill>
              <a:latin typeface="微软雅黑" panose="020B0503020204020204" pitchFamily="34" charset="-122"/>
              <a:ea typeface="微软雅黑" panose="020B0503020204020204" pitchFamily="34" charset="-122"/>
            </a:endParaRPr>
          </a:p>
        </p:txBody>
      </p:sp>
      <p:grpSp>
        <p:nvGrpSpPr>
          <p:cNvPr id="68" name="组合 67"/>
          <p:cNvGrpSpPr/>
          <p:nvPr/>
        </p:nvGrpSpPr>
        <p:grpSpPr>
          <a:xfrm>
            <a:off x="69213" y="588624"/>
            <a:ext cx="7622129" cy="5592063"/>
            <a:chOff x="263411" y="264504"/>
            <a:chExt cx="6057899" cy="3606940"/>
          </a:xfrm>
        </p:grpSpPr>
        <p:sp>
          <p:nvSpPr>
            <p:cNvPr id="69" name="Line 2"/>
            <p:cNvSpPr>
              <a:spLocks noChangeShapeType="1"/>
            </p:cNvSpPr>
            <p:nvPr/>
          </p:nvSpPr>
          <p:spPr bwMode="auto">
            <a:xfrm>
              <a:off x="1267022" y="874713"/>
              <a:ext cx="0" cy="24733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 name="Line 3"/>
            <p:cNvSpPr>
              <a:spLocks noChangeShapeType="1"/>
            </p:cNvSpPr>
            <p:nvPr/>
          </p:nvSpPr>
          <p:spPr bwMode="auto">
            <a:xfrm flipH="1">
              <a:off x="1293812" y="3345920"/>
              <a:ext cx="4862363" cy="47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 name="Arc 4"/>
            <p:cNvSpPr>
              <a:spLocks/>
            </p:cNvSpPr>
            <p:nvPr/>
          </p:nvSpPr>
          <p:spPr bwMode="auto">
            <a:xfrm rot="10800000">
              <a:off x="1766888" y="971550"/>
              <a:ext cx="2857500" cy="1714500"/>
            </a:xfrm>
            <a:custGeom>
              <a:avLst/>
              <a:gdLst>
                <a:gd name="T0" fmla="*/ 2147483647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1" y="0"/>
                  </a:moveTo>
                  <a:cubicBezTo>
                    <a:pt x="11936" y="6"/>
                    <a:pt x="21600" y="9675"/>
                    <a:pt x="21600" y="21600"/>
                  </a:cubicBezTo>
                </a:path>
                <a:path w="21600" h="21600" stroke="0" extrusionOk="0">
                  <a:moveTo>
                    <a:pt x="11" y="0"/>
                  </a:moveTo>
                  <a:cubicBezTo>
                    <a:pt x="11936" y="6"/>
                    <a:pt x="21600" y="9675"/>
                    <a:pt x="21600" y="21600"/>
                  </a:cubicBezTo>
                  <a:lnTo>
                    <a:pt x="0" y="21600"/>
                  </a:lnTo>
                  <a:close/>
                </a:path>
              </a:pathLst>
            </a:custGeom>
            <a:noFill/>
            <a:ln w="508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72" name="Rectangle 5"/>
            <p:cNvSpPr>
              <a:spLocks noChangeArrowheads="1"/>
            </p:cNvSpPr>
            <p:nvPr/>
          </p:nvSpPr>
          <p:spPr bwMode="auto">
            <a:xfrm>
              <a:off x="4177860" y="2340765"/>
              <a:ext cx="468844" cy="276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2200" dirty="0">
                  <a:latin typeface="Arial" panose="020B0604020202020204" pitchFamily="34" charset="0"/>
                </a:rPr>
                <a:t>AC</a:t>
              </a:r>
            </a:p>
          </p:txBody>
        </p:sp>
        <p:sp>
          <p:nvSpPr>
            <p:cNvPr id="73" name="Arc 6"/>
            <p:cNvSpPr>
              <a:spLocks/>
            </p:cNvSpPr>
            <p:nvPr/>
          </p:nvSpPr>
          <p:spPr bwMode="auto">
            <a:xfrm>
              <a:off x="1543050" y="1995488"/>
              <a:ext cx="3276600" cy="914400"/>
            </a:xfrm>
            <a:custGeom>
              <a:avLst/>
              <a:gdLst>
                <a:gd name="T0" fmla="*/ 2147483647 w 21600"/>
                <a:gd name="T1" fmla="*/ 2147483647 h 21600"/>
                <a:gd name="T2" fmla="*/ 0 w 21600"/>
                <a:gd name="T3" fmla="*/ 0 h 21600"/>
                <a:gd name="T4" fmla="*/ 2147483647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w="38100" cap="rnd">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74" name="Rectangle 7"/>
            <p:cNvSpPr>
              <a:spLocks noChangeArrowheads="1"/>
            </p:cNvSpPr>
            <p:nvPr/>
          </p:nvSpPr>
          <p:spPr bwMode="auto">
            <a:xfrm>
              <a:off x="4173696" y="2931780"/>
              <a:ext cx="494325" cy="276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2200" dirty="0">
                  <a:solidFill>
                    <a:schemeClr val="accent2"/>
                  </a:solidFill>
                  <a:latin typeface="Arial" panose="020B0604020202020204" pitchFamily="34" charset="0"/>
                </a:rPr>
                <a:t>MC</a:t>
              </a:r>
            </a:p>
          </p:txBody>
        </p:sp>
        <p:sp>
          <p:nvSpPr>
            <p:cNvPr id="75" name="Line 8"/>
            <p:cNvSpPr>
              <a:spLocks noChangeShapeType="1"/>
            </p:cNvSpPr>
            <p:nvPr/>
          </p:nvSpPr>
          <p:spPr bwMode="auto">
            <a:xfrm>
              <a:off x="2456830" y="674385"/>
              <a:ext cx="1827832" cy="2588233"/>
            </a:xfrm>
            <a:prstGeom prst="line">
              <a:avLst/>
            </a:prstGeom>
            <a:noFill/>
            <a:ln w="508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 name="Rectangle 9"/>
            <p:cNvSpPr>
              <a:spLocks noChangeArrowheads="1"/>
            </p:cNvSpPr>
            <p:nvPr/>
          </p:nvSpPr>
          <p:spPr bwMode="auto">
            <a:xfrm>
              <a:off x="2706137" y="731347"/>
              <a:ext cx="2087563" cy="276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2200" b="1" dirty="0">
                  <a:solidFill>
                    <a:schemeClr val="tx2"/>
                  </a:solidFill>
                  <a:latin typeface="Arial" panose="020B0604020202020204" pitchFamily="34" charset="0"/>
                </a:rPr>
                <a:t>DEMAND</a:t>
              </a:r>
            </a:p>
          </p:txBody>
        </p:sp>
        <p:sp>
          <p:nvSpPr>
            <p:cNvPr id="77" name="Line 10"/>
            <p:cNvSpPr>
              <a:spLocks noChangeShapeType="1"/>
            </p:cNvSpPr>
            <p:nvPr/>
          </p:nvSpPr>
          <p:spPr bwMode="auto">
            <a:xfrm>
              <a:off x="1331913" y="2605088"/>
              <a:ext cx="2473325" cy="0"/>
            </a:xfrm>
            <a:prstGeom prst="line">
              <a:avLst/>
            </a:prstGeom>
            <a:noFill/>
            <a:ln w="12700">
              <a:solidFill>
                <a:schemeClr val="tx1"/>
              </a:solidFill>
              <a:prstDash val="lg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 name="Line 11"/>
            <p:cNvSpPr>
              <a:spLocks noChangeShapeType="1"/>
            </p:cNvSpPr>
            <p:nvPr/>
          </p:nvSpPr>
          <p:spPr bwMode="auto">
            <a:xfrm>
              <a:off x="2036764" y="817563"/>
              <a:ext cx="1355067" cy="2777608"/>
            </a:xfrm>
            <a:prstGeom prst="line">
              <a:avLst/>
            </a:prstGeom>
            <a:noFill/>
            <a:ln w="50800">
              <a:solidFill>
                <a:schemeClr val="tx2"/>
              </a:solidFill>
              <a:prstDash val="lg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 name="Rectangle 12"/>
            <p:cNvSpPr>
              <a:spLocks noChangeArrowheads="1"/>
            </p:cNvSpPr>
            <p:nvPr/>
          </p:nvSpPr>
          <p:spPr bwMode="auto">
            <a:xfrm>
              <a:off x="3418469" y="3595172"/>
              <a:ext cx="850900" cy="276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2200" b="1" dirty="0">
                  <a:solidFill>
                    <a:schemeClr val="tx2"/>
                  </a:solidFill>
                  <a:latin typeface="Arial" panose="020B0604020202020204" pitchFamily="34" charset="0"/>
                </a:rPr>
                <a:t>MR</a:t>
              </a:r>
            </a:p>
          </p:txBody>
        </p:sp>
        <p:sp>
          <p:nvSpPr>
            <p:cNvPr id="80" name="Line 13"/>
            <p:cNvSpPr>
              <a:spLocks noChangeShapeType="1"/>
            </p:cNvSpPr>
            <p:nvPr/>
          </p:nvSpPr>
          <p:spPr bwMode="auto">
            <a:xfrm flipH="1" flipV="1">
              <a:off x="2971798" y="1371600"/>
              <a:ext cx="7931" cy="1979082"/>
            </a:xfrm>
            <a:prstGeom prst="line">
              <a:avLst/>
            </a:prstGeom>
            <a:noFill/>
            <a:ln w="12700">
              <a:solidFill>
                <a:schemeClr val="tx2"/>
              </a:solidFill>
              <a:prstDash val="dash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 name="Line 14"/>
            <p:cNvSpPr>
              <a:spLocks noChangeShapeType="1"/>
            </p:cNvSpPr>
            <p:nvPr/>
          </p:nvSpPr>
          <p:spPr bwMode="auto">
            <a:xfrm>
              <a:off x="1299029" y="1385888"/>
              <a:ext cx="1711325" cy="0"/>
            </a:xfrm>
            <a:prstGeom prst="line">
              <a:avLst/>
            </a:prstGeom>
            <a:noFill/>
            <a:ln w="12700">
              <a:solidFill>
                <a:schemeClr val="tx2"/>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 name="Rectangle 15"/>
            <p:cNvSpPr>
              <a:spLocks noChangeArrowheads="1"/>
            </p:cNvSpPr>
            <p:nvPr/>
          </p:nvSpPr>
          <p:spPr bwMode="auto">
            <a:xfrm>
              <a:off x="2609758" y="3312527"/>
              <a:ext cx="444638" cy="276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2200" dirty="0">
                  <a:latin typeface="Arial" panose="020B0604020202020204" pitchFamily="34" charset="0"/>
                </a:rPr>
                <a:t>Q</a:t>
              </a:r>
              <a:r>
                <a:rPr kumimoji="0" lang="en-US" altLang="zh-CN" sz="2200" baseline="-25000" dirty="0">
                  <a:latin typeface="Arial" panose="020B0604020202020204" pitchFamily="34" charset="0"/>
                </a:rPr>
                <a:t>M</a:t>
              </a:r>
            </a:p>
          </p:txBody>
        </p:sp>
        <p:sp>
          <p:nvSpPr>
            <p:cNvPr id="83" name="Rectangle 16"/>
            <p:cNvSpPr>
              <a:spLocks noChangeArrowheads="1"/>
            </p:cNvSpPr>
            <p:nvPr/>
          </p:nvSpPr>
          <p:spPr bwMode="auto">
            <a:xfrm>
              <a:off x="846534" y="1202447"/>
              <a:ext cx="481584" cy="276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2200" b="1" dirty="0">
                  <a:latin typeface="Arial" panose="020B0604020202020204" pitchFamily="34" charset="0"/>
                </a:rPr>
                <a:t> P</a:t>
              </a:r>
              <a:r>
                <a:rPr kumimoji="0" lang="en-US" altLang="zh-CN" sz="2200" b="1" baseline="-25000" dirty="0">
                  <a:latin typeface="Arial" panose="020B0604020202020204" pitchFamily="34" charset="0"/>
                </a:rPr>
                <a:t>M</a:t>
              </a:r>
            </a:p>
          </p:txBody>
        </p:sp>
        <p:sp>
          <p:nvSpPr>
            <p:cNvPr id="84" name="Rectangle 17"/>
            <p:cNvSpPr>
              <a:spLocks noChangeArrowheads="1"/>
            </p:cNvSpPr>
            <p:nvPr/>
          </p:nvSpPr>
          <p:spPr bwMode="auto">
            <a:xfrm>
              <a:off x="263411" y="2452688"/>
              <a:ext cx="1036400" cy="276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2200" dirty="0">
                  <a:latin typeface="Arial" panose="020B0604020202020204" pitchFamily="34" charset="0"/>
                </a:rPr>
                <a:t> </a:t>
              </a:r>
              <a:r>
                <a:rPr kumimoji="0" lang="en-US" altLang="zh-CN" sz="2200" b="1" dirty="0">
                  <a:latin typeface="Arial" panose="020B0604020202020204" pitchFamily="34" charset="0"/>
                </a:rPr>
                <a:t>P</a:t>
              </a:r>
              <a:r>
                <a:rPr kumimoji="0" lang="en-US" altLang="zh-CN" sz="2200" b="1" baseline="-25000" dirty="0">
                  <a:latin typeface="Arial" panose="020B0604020202020204" pitchFamily="34" charset="0"/>
                </a:rPr>
                <a:t>R</a:t>
              </a:r>
              <a:r>
                <a:rPr kumimoji="0" lang="en-US" altLang="zh-CN" sz="2200" b="1" dirty="0">
                  <a:latin typeface="Arial" panose="020B0604020202020204" pitchFamily="34" charset="0"/>
                </a:rPr>
                <a:t> = AC</a:t>
              </a:r>
            </a:p>
          </p:txBody>
        </p:sp>
        <p:sp>
          <p:nvSpPr>
            <p:cNvPr id="85" name="Line 18"/>
            <p:cNvSpPr>
              <a:spLocks noChangeShapeType="1"/>
            </p:cNvSpPr>
            <p:nvPr/>
          </p:nvSpPr>
          <p:spPr bwMode="auto">
            <a:xfrm flipH="1">
              <a:off x="3815033" y="2627313"/>
              <a:ext cx="9255" cy="7093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6" name="Rectangle 19"/>
            <p:cNvSpPr>
              <a:spLocks noChangeArrowheads="1"/>
            </p:cNvSpPr>
            <p:nvPr/>
          </p:nvSpPr>
          <p:spPr bwMode="auto">
            <a:xfrm>
              <a:off x="3599435" y="3312527"/>
              <a:ext cx="428075" cy="276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2200" dirty="0">
                  <a:latin typeface="Arial" panose="020B0604020202020204" pitchFamily="34" charset="0"/>
                </a:rPr>
                <a:t>Q</a:t>
              </a:r>
              <a:r>
                <a:rPr kumimoji="0" lang="en-US" altLang="zh-CN" sz="2200" baseline="-25000" dirty="0">
                  <a:latin typeface="Arial" panose="020B0604020202020204" pitchFamily="34" charset="0"/>
                </a:rPr>
                <a:t>R</a:t>
              </a:r>
            </a:p>
          </p:txBody>
        </p:sp>
        <p:cxnSp>
          <p:nvCxnSpPr>
            <p:cNvPr id="87" name="直接连接符 86"/>
            <p:cNvCxnSpPr/>
            <p:nvPr/>
          </p:nvCxnSpPr>
          <p:spPr bwMode="auto">
            <a:xfrm>
              <a:off x="4953000" y="980486"/>
              <a:ext cx="0" cy="2300289"/>
            </a:xfrm>
            <a:prstGeom prst="line">
              <a:avLst/>
            </a:prstGeom>
            <a:solidFill>
              <a:schemeClr val="accent1"/>
            </a:solidFill>
            <a:ln w="41275" cap="flat" cmpd="sng" algn="ctr">
              <a:solidFill>
                <a:schemeClr val="tx1"/>
              </a:solidFill>
              <a:prstDash val="dash"/>
              <a:round/>
              <a:headEnd type="none" w="med" len="med"/>
              <a:tailEnd type="none" w="med" len="med"/>
            </a:ln>
            <a:effectLst/>
          </p:spPr>
        </p:cxnSp>
        <p:sp>
          <p:nvSpPr>
            <p:cNvPr id="88" name="Rectangle 5"/>
            <p:cNvSpPr>
              <a:spLocks noChangeArrowheads="1"/>
            </p:cNvSpPr>
            <p:nvPr/>
          </p:nvSpPr>
          <p:spPr bwMode="auto">
            <a:xfrm>
              <a:off x="4953000" y="264504"/>
              <a:ext cx="1368310" cy="256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zh-CN" altLang="en-US" sz="2000" dirty="0">
                  <a:solidFill>
                    <a:schemeClr val="bg2"/>
                  </a:solidFill>
                  <a:latin typeface="微软雅黑" panose="020B0503020204020204" pitchFamily="34" charset="-122"/>
                  <a:ea typeface="微软雅黑" panose="020B0503020204020204" pitchFamily="34" charset="-122"/>
                </a:rPr>
                <a:t>规模经济产量</a:t>
              </a:r>
              <a:endParaRPr kumimoji="0" lang="en-US" altLang="zh-CN" sz="2000" dirty="0">
                <a:solidFill>
                  <a:schemeClr val="bg2"/>
                </a:solidFill>
                <a:latin typeface="微软雅黑" panose="020B0503020204020204" pitchFamily="34" charset="-122"/>
                <a:ea typeface="微软雅黑" panose="020B0503020204020204" pitchFamily="34" charset="-122"/>
              </a:endParaRPr>
            </a:p>
          </p:txBody>
        </p:sp>
        <p:cxnSp>
          <p:nvCxnSpPr>
            <p:cNvPr id="89" name="直接连接符 88"/>
            <p:cNvCxnSpPr/>
            <p:nvPr/>
          </p:nvCxnSpPr>
          <p:spPr bwMode="auto">
            <a:xfrm>
              <a:off x="2108392" y="1056275"/>
              <a:ext cx="0" cy="2300289"/>
            </a:xfrm>
            <a:prstGeom prst="line">
              <a:avLst/>
            </a:prstGeom>
            <a:solidFill>
              <a:schemeClr val="accent1"/>
            </a:solidFill>
            <a:ln w="41275" cap="flat" cmpd="sng" algn="ctr">
              <a:solidFill>
                <a:schemeClr val="tx1"/>
              </a:solidFill>
              <a:prstDash val="dash"/>
              <a:round/>
              <a:headEnd type="none" w="med" len="med"/>
              <a:tailEnd type="none" w="med" len="med"/>
            </a:ln>
            <a:effectLst/>
          </p:spPr>
        </p:cxnSp>
        <p:sp>
          <p:nvSpPr>
            <p:cNvPr id="92" name="Rectangle 5"/>
            <p:cNvSpPr>
              <a:spLocks noChangeArrowheads="1"/>
            </p:cNvSpPr>
            <p:nvPr/>
          </p:nvSpPr>
          <p:spPr bwMode="auto">
            <a:xfrm>
              <a:off x="1808566" y="3291625"/>
              <a:ext cx="402595" cy="276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2200" dirty="0">
                  <a:latin typeface="Arial" panose="020B0604020202020204" pitchFamily="34" charset="0"/>
                </a:rPr>
                <a:t>Q</a:t>
              </a:r>
              <a:r>
                <a:rPr kumimoji="0" lang="en-US" altLang="zh-CN" sz="2200" baseline="-25000" dirty="0">
                  <a:latin typeface="Arial" panose="020B0604020202020204" pitchFamily="34" charset="0"/>
                </a:rPr>
                <a:t>2</a:t>
              </a:r>
              <a:endParaRPr kumimoji="0" lang="en-US" altLang="zh-CN" sz="2200" dirty="0">
                <a:latin typeface="Arial" panose="020B0604020202020204" pitchFamily="34" charset="0"/>
              </a:endParaRPr>
            </a:p>
          </p:txBody>
        </p:sp>
      </p:grpSp>
      <p:sp>
        <p:nvSpPr>
          <p:cNvPr id="93" name="Rectangle 5"/>
          <p:cNvSpPr>
            <a:spLocks noChangeArrowheads="1"/>
          </p:cNvSpPr>
          <p:nvPr/>
        </p:nvSpPr>
        <p:spPr bwMode="auto">
          <a:xfrm>
            <a:off x="815436" y="2636945"/>
            <a:ext cx="490520" cy="428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2200" dirty="0">
                <a:latin typeface="Arial" panose="020B0604020202020204" pitchFamily="34" charset="0"/>
              </a:rPr>
              <a:t>C</a:t>
            </a:r>
            <a:r>
              <a:rPr kumimoji="0" lang="en-US" altLang="zh-CN" sz="2200" baseline="-25000" dirty="0">
                <a:latin typeface="Arial" panose="020B0604020202020204" pitchFamily="34" charset="0"/>
              </a:rPr>
              <a:t>2</a:t>
            </a:r>
            <a:endParaRPr kumimoji="0" lang="en-US" altLang="zh-CN" sz="2200" dirty="0">
              <a:latin typeface="Arial" panose="020B0604020202020204" pitchFamily="34" charset="0"/>
            </a:endParaRPr>
          </a:p>
        </p:txBody>
      </p:sp>
      <p:sp>
        <p:nvSpPr>
          <p:cNvPr id="94" name="Line 10"/>
          <p:cNvSpPr>
            <a:spLocks noChangeShapeType="1"/>
          </p:cNvSpPr>
          <p:nvPr/>
        </p:nvSpPr>
        <p:spPr bwMode="auto">
          <a:xfrm>
            <a:off x="1331775" y="2924965"/>
            <a:ext cx="1010933" cy="0"/>
          </a:xfrm>
          <a:prstGeom prst="line">
            <a:avLst/>
          </a:prstGeom>
          <a:noFill/>
          <a:ln w="12700">
            <a:solidFill>
              <a:schemeClr val="tx1"/>
            </a:solidFill>
            <a:prstDash val="lgDash"/>
            <a:round/>
            <a:headEnd/>
            <a:tailEnd/>
          </a:ln>
          <a:extLst>
            <a:ext uri="{909E8E84-426E-40DD-AFC4-6F175D3DCCD1}">
              <a14:hiddenFill xmlns:a14="http://schemas.microsoft.com/office/drawing/2010/main">
                <a:noFill/>
              </a14:hiddenFill>
            </a:ext>
          </a:extLst>
        </p:spPr>
        <p:txBody>
          <a:bodyPr wrap="none" anchor="ctr"/>
          <a:lstStyle/>
          <a:p>
            <a:endParaRPr lang="zh-CN" altLang="en-US" sz="3200"/>
          </a:p>
        </p:txBody>
      </p:sp>
      <p:sp>
        <p:nvSpPr>
          <p:cNvPr id="95" name="Rectangle 15"/>
          <p:cNvSpPr>
            <a:spLocks noChangeArrowheads="1"/>
          </p:cNvSpPr>
          <p:nvPr/>
        </p:nvSpPr>
        <p:spPr bwMode="auto">
          <a:xfrm>
            <a:off x="741380" y="3675087"/>
            <a:ext cx="543420" cy="428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2200" dirty="0">
                <a:latin typeface="Arial" panose="020B0604020202020204" pitchFamily="34" charset="0"/>
              </a:rPr>
              <a:t>C</a:t>
            </a:r>
            <a:r>
              <a:rPr kumimoji="0" lang="en-US" altLang="zh-CN" sz="2200" baseline="-25000" dirty="0">
                <a:latin typeface="Arial" panose="020B0604020202020204" pitchFamily="34" charset="0"/>
              </a:rPr>
              <a:t>M</a:t>
            </a:r>
          </a:p>
        </p:txBody>
      </p:sp>
      <p:sp>
        <p:nvSpPr>
          <p:cNvPr id="96" name="Line 10"/>
          <p:cNvSpPr>
            <a:spLocks noChangeShapeType="1"/>
          </p:cNvSpPr>
          <p:nvPr/>
        </p:nvSpPr>
        <p:spPr bwMode="auto">
          <a:xfrm flipV="1">
            <a:off x="1321777" y="3847566"/>
            <a:ext cx="2060881" cy="2665"/>
          </a:xfrm>
          <a:prstGeom prst="line">
            <a:avLst/>
          </a:prstGeom>
          <a:noFill/>
          <a:ln w="12700">
            <a:solidFill>
              <a:schemeClr val="tx1"/>
            </a:solidFill>
            <a:prstDash val="lgDash"/>
            <a:round/>
            <a:headEnd/>
            <a:tailEnd/>
          </a:ln>
          <a:extLst>
            <a:ext uri="{909E8E84-426E-40DD-AFC4-6F175D3DCCD1}">
              <a14:hiddenFill xmlns:a14="http://schemas.microsoft.com/office/drawing/2010/main">
                <a:noFill/>
              </a14:hiddenFill>
            </a:ext>
          </a:extLst>
        </p:spPr>
        <p:txBody>
          <a:bodyPr wrap="none" anchor="ctr"/>
          <a:lstStyle/>
          <a:p>
            <a:endParaRPr lang="zh-CN" altLang="en-US" sz="3200"/>
          </a:p>
        </p:txBody>
      </p:sp>
      <p:sp>
        <p:nvSpPr>
          <p:cNvPr id="97" name="椭圆 96"/>
          <p:cNvSpPr/>
          <p:nvPr/>
        </p:nvSpPr>
        <p:spPr bwMode="auto">
          <a:xfrm>
            <a:off x="2312134" y="2870613"/>
            <a:ext cx="142289" cy="153547"/>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宋体" pitchFamily="2" charset="-122"/>
            </a:endParaRPr>
          </a:p>
        </p:txBody>
      </p:sp>
      <p:sp>
        <p:nvSpPr>
          <p:cNvPr id="98" name="椭圆 97"/>
          <p:cNvSpPr/>
          <p:nvPr/>
        </p:nvSpPr>
        <p:spPr bwMode="auto">
          <a:xfrm>
            <a:off x="3405993" y="3778698"/>
            <a:ext cx="140772" cy="150528"/>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宋体" pitchFamily="2" charset="-122"/>
            </a:endParaRPr>
          </a:p>
        </p:txBody>
      </p:sp>
      <p:sp>
        <p:nvSpPr>
          <p:cNvPr id="99" name="椭圆 98"/>
          <p:cNvSpPr/>
          <p:nvPr/>
        </p:nvSpPr>
        <p:spPr bwMode="auto">
          <a:xfrm>
            <a:off x="3406065" y="4370529"/>
            <a:ext cx="150352" cy="138546"/>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宋体" pitchFamily="2" charset="-122"/>
            </a:endParaRPr>
          </a:p>
        </p:txBody>
      </p:sp>
      <p:sp>
        <p:nvSpPr>
          <p:cNvPr id="100" name="Rectangle 5"/>
          <p:cNvSpPr>
            <a:spLocks noChangeArrowheads="1"/>
          </p:cNvSpPr>
          <p:nvPr/>
        </p:nvSpPr>
        <p:spPr bwMode="auto">
          <a:xfrm>
            <a:off x="3553660" y="4152758"/>
            <a:ext cx="370295" cy="428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2200" dirty="0">
                <a:latin typeface="Arial" panose="020B0604020202020204" pitchFamily="34" charset="0"/>
              </a:rPr>
              <a:t>E</a:t>
            </a:r>
          </a:p>
        </p:txBody>
      </p:sp>
      <p:sp>
        <p:nvSpPr>
          <p:cNvPr id="101" name="椭圆 100"/>
          <p:cNvSpPr/>
          <p:nvPr/>
        </p:nvSpPr>
        <p:spPr bwMode="auto">
          <a:xfrm>
            <a:off x="4458430" y="4149050"/>
            <a:ext cx="157865" cy="158132"/>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宋体" pitchFamily="2" charset="-122"/>
            </a:endParaRPr>
          </a:p>
        </p:txBody>
      </p:sp>
      <p:sp>
        <p:nvSpPr>
          <p:cNvPr id="37" name="矩形 36">
            <a:extLst>
              <a:ext uri="{FF2B5EF4-FFF2-40B4-BE49-F238E27FC236}">
                <a16:creationId xmlns:a16="http://schemas.microsoft.com/office/drawing/2014/main" id="{F68E5273-CD77-47B9-B841-9D29349C133D}"/>
              </a:ext>
            </a:extLst>
          </p:cNvPr>
          <p:cNvSpPr/>
          <p:nvPr/>
        </p:nvSpPr>
        <p:spPr>
          <a:xfrm>
            <a:off x="467544" y="548680"/>
            <a:ext cx="3781805"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一、</a:t>
            </a:r>
            <a:r>
              <a:rPr lang="zh-CN" altLang="en-US" sz="2400" spc="15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垄断的含义及其原因</a:t>
            </a:r>
            <a:endParaRPr lang="zh-CN" altLang="en-US" sz="2400" b="1" spc="150" dirty="0">
              <a:solidFill>
                <a:srgbClr val="FFFFFF"/>
              </a:solidFill>
              <a:latin typeface="微软雅黑" panose="020B0503020204020204" pitchFamily="34" charset="-122"/>
              <a:ea typeface="微软雅黑" panose="020B0503020204020204" pitchFamily="34" charset="-122"/>
            </a:endParaRPr>
          </a:p>
        </p:txBody>
      </p:sp>
      <p:sp>
        <p:nvSpPr>
          <p:cNvPr id="38" name="矩形 37">
            <a:extLst>
              <a:ext uri="{FF2B5EF4-FFF2-40B4-BE49-F238E27FC236}">
                <a16:creationId xmlns:a16="http://schemas.microsoft.com/office/drawing/2014/main" id="{84DA46C8-7131-4058-A282-0C6C71B6BB7B}"/>
              </a:ext>
            </a:extLst>
          </p:cNvPr>
          <p:cNvSpPr/>
          <p:nvPr/>
        </p:nvSpPr>
        <p:spPr>
          <a:xfrm>
            <a:off x="7505410" y="35458"/>
            <a:ext cx="1638590" cy="369332"/>
          </a:xfrm>
          <a:prstGeom prst="rect">
            <a:avLst/>
          </a:prstGeom>
        </p:spPr>
        <p:txBody>
          <a:bodyPr wrap="none">
            <a:spAutoFit/>
          </a:bodyPr>
          <a:lstStyle/>
          <a:p>
            <a:pPr algn="dist"/>
            <a:r>
              <a:rPr lang="zh-CN" altLang="en-US" sz="1800" b="0" spc="30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第一节 垄断</a:t>
            </a:r>
            <a:endParaRPr lang="zh-CN" altLang="en-US" sz="1800" b="0" spc="300" dirty="0">
              <a:solidFill>
                <a:schemeClr val="tx2"/>
              </a:solidFill>
              <a:ea typeface="黑体" panose="02010609060101010101" pitchFamily="49" charset="-122"/>
              <a:sym typeface="Arial" panose="020B0604020202020204" pitchFamily="34" charset="0"/>
            </a:endParaRPr>
          </a:p>
        </p:txBody>
      </p:sp>
    </p:spTree>
    <p:extLst>
      <p:ext uri="{BB962C8B-B14F-4D97-AF65-F5344CB8AC3E}">
        <p14:creationId xmlns:p14="http://schemas.microsoft.com/office/powerpoint/2010/main" val="2950975679"/>
      </p:ext>
    </p:extLst>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91"/>
                                        </p:tgtEl>
                                        <p:attrNameLst>
                                          <p:attrName>style.visibility</p:attrName>
                                        </p:attrNameLst>
                                      </p:cBhvr>
                                      <p:to>
                                        <p:strVal val="visible"/>
                                      </p:to>
                                    </p:set>
                                    <p:anim calcmode="lin" valueType="num">
                                      <p:cBhvr additive="base">
                                        <p:cTn id="7" dur="500" fill="hold"/>
                                        <p:tgtEl>
                                          <p:spTgt spid="91"/>
                                        </p:tgtEl>
                                        <p:attrNameLst>
                                          <p:attrName>ppt_x</p:attrName>
                                        </p:attrNameLst>
                                      </p:cBhvr>
                                      <p:tavLst>
                                        <p:tav tm="0">
                                          <p:val>
                                            <p:strVal val="#ppt_x"/>
                                          </p:val>
                                        </p:tav>
                                        <p:tav tm="100000">
                                          <p:val>
                                            <p:strVal val="#ppt_x"/>
                                          </p:val>
                                        </p:tav>
                                      </p:tavLst>
                                    </p:anim>
                                    <p:anim calcmode="lin" valueType="num">
                                      <p:cBhvr additive="base">
                                        <p:cTn id="8" dur="500" fill="hold"/>
                                        <p:tgtEl>
                                          <p:spTgt spid="9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4"/>
                                        </p:tgtEl>
                                        <p:attrNameLst>
                                          <p:attrName>style.visibility</p:attrName>
                                        </p:attrNameLst>
                                      </p:cBhvr>
                                      <p:to>
                                        <p:strVal val="visible"/>
                                      </p:to>
                                    </p:set>
                                    <p:anim calcmode="lin" valueType="num">
                                      <p:cBhvr additive="base">
                                        <p:cTn id="11" dur="500" fill="hold"/>
                                        <p:tgtEl>
                                          <p:spTgt spid="94"/>
                                        </p:tgtEl>
                                        <p:attrNameLst>
                                          <p:attrName>ppt_x</p:attrName>
                                        </p:attrNameLst>
                                      </p:cBhvr>
                                      <p:tavLst>
                                        <p:tav tm="0">
                                          <p:val>
                                            <p:strVal val="#ppt_x"/>
                                          </p:val>
                                        </p:tav>
                                        <p:tav tm="100000">
                                          <p:val>
                                            <p:strVal val="#ppt_x"/>
                                          </p:val>
                                        </p:tav>
                                      </p:tavLst>
                                    </p:anim>
                                    <p:anim calcmode="lin" valueType="num">
                                      <p:cBhvr additive="base">
                                        <p:cTn id="12" dur="500" fill="hold"/>
                                        <p:tgtEl>
                                          <p:spTgt spid="94"/>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95"/>
                                        </p:tgtEl>
                                        <p:attrNameLst>
                                          <p:attrName>style.visibility</p:attrName>
                                        </p:attrNameLst>
                                      </p:cBhvr>
                                      <p:to>
                                        <p:strVal val="visible"/>
                                      </p:to>
                                    </p:set>
                                    <p:anim calcmode="lin" valueType="num">
                                      <p:cBhvr additive="base">
                                        <p:cTn id="15" dur="500" fill="hold"/>
                                        <p:tgtEl>
                                          <p:spTgt spid="95"/>
                                        </p:tgtEl>
                                        <p:attrNameLst>
                                          <p:attrName>ppt_x</p:attrName>
                                        </p:attrNameLst>
                                      </p:cBhvr>
                                      <p:tavLst>
                                        <p:tav tm="0">
                                          <p:val>
                                            <p:strVal val="#ppt_x"/>
                                          </p:val>
                                        </p:tav>
                                        <p:tav tm="100000">
                                          <p:val>
                                            <p:strVal val="#ppt_x"/>
                                          </p:val>
                                        </p:tav>
                                      </p:tavLst>
                                    </p:anim>
                                    <p:anim calcmode="lin" valueType="num">
                                      <p:cBhvr additive="base">
                                        <p:cTn id="16" dur="500" fill="hold"/>
                                        <p:tgtEl>
                                          <p:spTgt spid="95"/>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90"/>
                                        </p:tgtEl>
                                        <p:attrNameLst>
                                          <p:attrName>style.visibility</p:attrName>
                                        </p:attrNameLst>
                                      </p:cBhvr>
                                      <p:to>
                                        <p:strVal val="visible"/>
                                      </p:to>
                                    </p:set>
                                    <p:anim calcmode="lin" valueType="num">
                                      <p:cBhvr additive="base">
                                        <p:cTn id="19" dur="500" fill="hold"/>
                                        <p:tgtEl>
                                          <p:spTgt spid="90"/>
                                        </p:tgtEl>
                                        <p:attrNameLst>
                                          <p:attrName>ppt_x</p:attrName>
                                        </p:attrNameLst>
                                      </p:cBhvr>
                                      <p:tavLst>
                                        <p:tav tm="0">
                                          <p:val>
                                            <p:strVal val="#ppt_x"/>
                                          </p:val>
                                        </p:tav>
                                        <p:tav tm="100000">
                                          <p:val>
                                            <p:strVal val="#ppt_x"/>
                                          </p:val>
                                        </p:tav>
                                      </p:tavLst>
                                    </p:anim>
                                    <p:anim calcmode="lin" valueType="num">
                                      <p:cBhvr additive="base">
                                        <p:cTn id="20" dur="500" fill="hold"/>
                                        <p:tgtEl>
                                          <p:spTgt spid="90"/>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93"/>
                                        </p:tgtEl>
                                        <p:attrNameLst>
                                          <p:attrName>style.visibility</p:attrName>
                                        </p:attrNameLst>
                                      </p:cBhvr>
                                      <p:to>
                                        <p:strVal val="visible"/>
                                      </p:to>
                                    </p:set>
                                    <p:anim calcmode="lin" valueType="num">
                                      <p:cBhvr additive="base">
                                        <p:cTn id="23" dur="500" fill="hold"/>
                                        <p:tgtEl>
                                          <p:spTgt spid="93"/>
                                        </p:tgtEl>
                                        <p:attrNameLst>
                                          <p:attrName>ppt_x</p:attrName>
                                        </p:attrNameLst>
                                      </p:cBhvr>
                                      <p:tavLst>
                                        <p:tav tm="0">
                                          <p:val>
                                            <p:strVal val="#ppt_x"/>
                                          </p:val>
                                        </p:tav>
                                        <p:tav tm="100000">
                                          <p:val>
                                            <p:strVal val="#ppt_x"/>
                                          </p:val>
                                        </p:tav>
                                      </p:tavLst>
                                    </p:anim>
                                    <p:anim calcmode="lin" valueType="num">
                                      <p:cBhvr additive="base">
                                        <p:cTn id="24" dur="500" fill="hold"/>
                                        <p:tgtEl>
                                          <p:spTgt spid="93"/>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68"/>
                                        </p:tgtEl>
                                        <p:attrNameLst>
                                          <p:attrName>style.visibility</p:attrName>
                                        </p:attrNameLst>
                                      </p:cBhvr>
                                      <p:to>
                                        <p:strVal val="visible"/>
                                      </p:to>
                                    </p:set>
                                    <p:anim calcmode="lin" valueType="num">
                                      <p:cBhvr additive="base">
                                        <p:cTn id="27" dur="500" fill="hold"/>
                                        <p:tgtEl>
                                          <p:spTgt spid="68"/>
                                        </p:tgtEl>
                                        <p:attrNameLst>
                                          <p:attrName>ppt_x</p:attrName>
                                        </p:attrNameLst>
                                      </p:cBhvr>
                                      <p:tavLst>
                                        <p:tav tm="0">
                                          <p:val>
                                            <p:strVal val="#ppt_x"/>
                                          </p:val>
                                        </p:tav>
                                        <p:tav tm="100000">
                                          <p:val>
                                            <p:strVal val="#ppt_x"/>
                                          </p:val>
                                        </p:tav>
                                      </p:tavLst>
                                    </p:anim>
                                    <p:anim calcmode="lin" valueType="num">
                                      <p:cBhvr additive="base">
                                        <p:cTn id="28" dur="500" fill="hold"/>
                                        <p:tgtEl>
                                          <p:spTgt spid="68"/>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96"/>
                                        </p:tgtEl>
                                        <p:attrNameLst>
                                          <p:attrName>style.visibility</p:attrName>
                                        </p:attrNameLst>
                                      </p:cBhvr>
                                      <p:to>
                                        <p:strVal val="visible"/>
                                      </p:to>
                                    </p:set>
                                    <p:anim calcmode="lin" valueType="num">
                                      <p:cBhvr additive="base">
                                        <p:cTn id="31" dur="500" fill="hold"/>
                                        <p:tgtEl>
                                          <p:spTgt spid="96"/>
                                        </p:tgtEl>
                                        <p:attrNameLst>
                                          <p:attrName>ppt_x</p:attrName>
                                        </p:attrNameLst>
                                      </p:cBhvr>
                                      <p:tavLst>
                                        <p:tav tm="0">
                                          <p:val>
                                            <p:strVal val="#ppt_x"/>
                                          </p:val>
                                        </p:tav>
                                        <p:tav tm="100000">
                                          <p:val>
                                            <p:strVal val="#ppt_x"/>
                                          </p:val>
                                        </p:tav>
                                      </p:tavLst>
                                    </p:anim>
                                    <p:anim calcmode="lin" valueType="num">
                                      <p:cBhvr additive="base">
                                        <p:cTn id="32" dur="500" fill="hold"/>
                                        <p:tgtEl>
                                          <p:spTgt spid="96"/>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97"/>
                                        </p:tgtEl>
                                        <p:attrNameLst>
                                          <p:attrName>style.visibility</p:attrName>
                                        </p:attrNameLst>
                                      </p:cBhvr>
                                      <p:to>
                                        <p:strVal val="visible"/>
                                      </p:to>
                                    </p:set>
                                    <p:anim calcmode="lin" valueType="num">
                                      <p:cBhvr additive="base">
                                        <p:cTn id="35" dur="500" fill="hold"/>
                                        <p:tgtEl>
                                          <p:spTgt spid="97"/>
                                        </p:tgtEl>
                                        <p:attrNameLst>
                                          <p:attrName>ppt_x</p:attrName>
                                        </p:attrNameLst>
                                      </p:cBhvr>
                                      <p:tavLst>
                                        <p:tav tm="0">
                                          <p:val>
                                            <p:strVal val="#ppt_x"/>
                                          </p:val>
                                        </p:tav>
                                        <p:tav tm="100000">
                                          <p:val>
                                            <p:strVal val="#ppt_x"/>
                                          </p:val>
                                        </p:tav>
                                      </p:tavLst>
                                    </p:anim>
                                    <p:anim calcmode="lin" valueType="num">
                                      <p:cBhvr additive="base">
                                        <p:cTn id="36" dur="500" fill="hold"/>
                                        <p:tgtEl>
                                          <p:spTgt spid="97"/>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98"/>
                                        </p:tgtEl>
                                        <p:attrNameLst>
                                          <p:attrName>style.visibility</p:attrName>
                                        </p:attrNameLst>
                                      </p:cBhvr>
                                      <p:to>
                                        <p:strVal val="visible"/>
                                      </p:to>
                                    </p:set>
                                    <p:anim calcmode="lin" valueType="num">
                                      <p:cBhvr additive="base">
                                        <p:cTn id="39" dur="500" fill="hold"/>
                                        <p:tgtEl>
                                          <p:spTgt spid="98"/>
                                        </p:tgtEl>
                                        <p:attrNameLst>
                                          <p:attrName>ppt_x</p:attrName>
                                        </p:attrNameLst>
                                      </p:cBhvr>
                                      <p:tavLst>
                                        <p:tav tm="0">
                                          <p:val>
                                            <p:strVal val="#ppt_x"/>
                                          </p:val>
                                        </p:tav>
                                        <p:tav tm="100000">
                                          <p:val>
                                            <p:strVal val="#ppt_x"/>
                                          </p:val>
                                        </p:tav>
                                      </p:tavLst>
                                    </p:anim>
                                    <p:anim calcmode="lin" valueType="num">
                                      <p:cBhvr additive="base">
                                        <p:cTn id="40" dur="500" fill="hold"/>
                                        <p:tgtEl>
                                          <p:spTgt spid="98"/>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99"/>
                                        </p:tgtEl>
                                        <p:attrNameLst>
                                          <p:attrName>style.visibility</p:attrName>
                                        </p:attrNameLst>
                                      </p:cBhvr>
                                      <p:to>
                                        <p:strVal val="visible"/>
                                      </p:to>
                                    </p:set>
                                    <p:anim calcmode="lin" valueType="num">
                                      <p:cBhvr additive="base">
                                        <p:cTn id="43" dur="500" fill="hold"/>
                                        <p:tgtEl>
                                          <p:spTgt spid="99"/>
                                        </p:tgtEl>
                                        <p:attrNameLst>
                                          <p:attrName>ppt_x</p:attrName>
                                        </p:attrNameLst>
                                      </p:cBhvr>
                                      <p:tavLst>
                                        <p:tav tm="0">
                                          <p:val>
                                            <p:strVal val="#ppt_x"/>
                                          </p:val>
                                        </p:tav>
                                        <p:tav tm="100000">
                                          <p:val>
                                            <p:strVal val="#ppt_x"/>
                                          </p:val>
                                        </p:tav>
                                      </p:tavLst>
                                    </p:anim>
                                    <p:anim calcmode="lin" valueType="num">
                                      <p:cBhvr additive="base">
                                        <p:cTn id="44" dur="500" fill="hold"/>
                                        <p:tgtEl>
                                          <p:spTgt spid="99"/>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100"/>
                                        </p:tgtEl>
                                        <p:attrNameLst>
                                          <p:attrName>style.visibility</p:attrName>
                                        </p:attrNameLst>
                                      </p:cBhvr>
                                      <p:to>
                                        <p:strVal val="visible"/>
                                      </p:to>
                                    </p:set>
                                    <p:anim calcmode="lin" valueType="num">
                                      <p:cBhvr additive="base">
                                        <p:cTn id="47" dur="500" fill="hold"/>
                                        <p:tgtEl>
                                          <p:spTgt spid="100"/>
                                        </p:tgtEl>
                                        <p:attrNameLst>
                                          <p:attrName>ppt_x</p:attrName>
                                        </p:attrNameLst>
                                      </p:cBhvr>
                                      <p:tavLst>
                                        <p:tav tm="0">
                                          <p:val>
                                            <p:strVal val="#ppt_x"/>
                                          </p:val>
                                        </p:tav>
                                        <p:tav tm="100000">
                                          <p:val>
                                            <p:strVal val="#ppt_x"/>
                                          </p:val>
                                        </p:tav>
                                      </p:tavLst>
                                    </p:anim>
                                    <p:anim calcmode="lin" valueType="num">
                                      <p:cBhvr additive="base">
                                        <p:cTn id="48" dur="500" fill="hold"/>
                                        <p:tgtEl>
                                          <p:spTgt spid="100"/>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01"/>
                                        </p:tgtEl>
                                        <p:attrNameLst>
                                          <p:attrName>style.visibility</p:attrName>
                                        </p:attrNameLst>
                                      </p:cBhvr>
                                      <p:to>
                                        <p:strVal val="visible"/>
                                      </p:to>
                                    </p:set>
                                    <p:anim calcmode="lin" valueType="num">
                                      <p:cBhvr additive="base">
                                        <p:cTn id="51" dur="500" fill="hold"/>
                                        <p:tgtEl>
                                          <p:spTgt spid="101"/>
                                        </p:tgtEl>
                                        <p:attrNameLst>
                                          <p:attrName>ppt_x</p:attrName>
                                        </p:attrNameLst>
                                      </p:cBhvr>
                                      <p:tavLst>
                                        <p:tav tm="0">
                                          <p:val>
                                            <p:strVal val="#ppt_x"/>
                                          </p:val>
                                        </p:tav>
                                        <p:tav tm="100000">
                                          <p:val>
                                            <p:strVal val="#ppt_x"/>
                                          </p:val>
                                        </p:tav>
                                      </p:tavLst>
                                    </p:anim>
                                    <p:anim calcmode="lin" valueType="num">
                                      <p:cBhvr additive="base">
                                        <p:cTn id="52" dur="500" fill="hold"/>
                                        <p:tgtEl>
                                          <p:spTgt spid="101"/>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grpId="0" nodeType="clickEffect">
                                  <p:stCondLst>
                                    <p:cond delay="0"/>
                                  </p:stCondLst>
                                  <p:childTnLst>
                                    <p:set>
                                      <p:cBhvr>
                                        <p:cTn id="56" dur="1" fill="hold">
                                          <p:stCondLst>
                                            <p:cond delay="0"/>
                                          </p:stCondLst>
                                        </p:cTn>
                                        <p:tgtEl>
                                          <p:spTgt spid="67"/>
                                        </p:tgtEl>
                                        <p:attrNameLst>
                                          <p:attrName>style.visibility</p:attrName>
                                        </p:attrNameLst>
                                      </p:cBhvr>
                                      <p:to>
                                        <p:strVal val="visible"/>
                                      </p:to>
                                    </p:set>
                                    <p:animEffect transition="in" filter="wipe(down)">
                                      <p:cBhvr>
                                        <p:cTn id="57" dur="5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 grpId="0" animBg="1"/>
      <p:bldP spid="91" grpId="0"/>
      <p:bldP spid="67" grpId="0"/>
      <p:bldP spid="93" grpId="0"/>
      <p:bldP spid="94" grpId="0" animBg="1"/>
      <p:bldP spid="95" grpId="0"/>
      <p:bldP spid="96" grpId="0" animBg="1"/>
      <p:bldP spid="97" grpId="0" animBg="1"/>
      <p:bldP spid="98" grpId="0" animBg="1"/>
      <p:bldP spid="99" grpId="0" animBg="1"/>
      <p:bldP spid="100" grpId="0"/>
      <p:bldP spid="10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Line 21"/>
          <p:cNvSpPr>
            <a:spLocks noChangeShapeType="1"/>
          </p:cNvSpPr>
          <p:nvPr/>
        </p:nvSpPr>
        <p:spPr bwMode="auto">
          <a:xfrm>
            <a:off x="878632" y="1685480"/>
            <a:ext cx="0" cy="28956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 name="Line 22"/>
          <p:cNvSpPr>
            <a:spLocks noChangeShapeType="1"/>
          </p:cNvSpPr>
          <p:nvPr/>
        </p:nvSpPr>
        <p:spPr bwMode="auto">
          <a:xfrm>
            <a:off x="878632" y="4581080"/>
            <a:ext cx="750979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 name="Arc 23"/>
          <p:cNvSpPr>
            <a:spLocks/>
          </p:cNvSpPr>
          <p:nvPr/>
        </p:nvSpPr>
        <p:spPr bwMode="auto">
          <a:xfrm flipV="1">
            <a:off x="1259632" y="1456880"/>
            <a:ext cx="1803400" cy="2057400"/>
          </a:xfrm>
          <a:custGeom>
            <a:avLst/>
            <a:gdLst>
              <a:gd name="T0" fmla="*/ 0 w 43132"/>
              <a:gd name="T1" fmla="*/ 2147483647 h 21600"/>
              <a:gd name="T2" fmla="*/ 2147483647 w 43132"/>
              <a:gd name="T3" fmla="*/ 2147483647 h 21600"/>
              <a:gd name="T4" fmla="*/ 2147483647 w 43132"/>
              <a:gd name="T5" fmla="*/ 2147483647 h 21600"/>
              <a:gd name="T6" fmla="*/ 0 60000 65536"/>
              <a:gd name="T7" fmla="*/ 0 60000 65536"/>
              <a:gd name="T8" fmla="*/ 0 60000 65536"/>
              <a:gd name="T9" fmla="*/ 0 w 43132"/>
              <a:gd name="T10" fmla="*/ 0 h 21600"/>
              <a:gd name="T11" fmla="*/ 43132 w 43132"/>
              <a:gd name="T12" fmla="*/ 21600 h 21600"/>
            </a:gdLst>
            <a:ahLst/>
            <a:cxnLst>
              <a:cxn ang="T6">
                <a:pos x="T0" y="T1"/>
              </a:cxn>
              <a:cxn ang="T7">
                <a:pos x="T2" y="T3"/>
              </a:cxn>
              <a:cxn ang="T8">
                <a:pos x="T4" y="T5"/>
              </a:cxn>
            </a:cxnLst>
            <a:rect l="T9" t="T10" r="T11" b="T12"/>
            <a:pathLst>
              <a:path w="43132" h="21600" fill="none" extrusionOk="0">
                <a:moveTo>
                  <a:pt x="-1" y="20320"/>
                </a:moveTo>
                <a:cubicBezTo>
                  <a:pt x="676" y="8908"/>
                  <a:pt x="10129" y="-1"/>
                  <a:pt x="21562" y="0"/>
                </a:cubicBezTo>
                <a:cubicBezTo>
                  <a:pt x="33049" y="0"/>
                  <a:pt x="42527" y="8991"/>
                  <a:pt x="43132" y="20462"/>
                </a:cubicBezTo>
              </a:path>
              <a:path w="43132" h="21600" stroke="0" extrusionOk="0">
                <a:moveTo>
                  <a:pt x="-1" y="20320"/>
                </a:moveTo>
                <a:cubicBezTo>
                  <a:pt x="676" y="8908"/>
                  <a:pt x="10129" y="-1"/>
                  <a:pt x="21562" y="0"/>
                </a:cubicBezTo>
                <a:cubicBezTo>
                  <a:pt x="33049" y="0"/>
                  <a:pt x="42527" y="8991"/>
                  <a:pt x="43132" y="20462"/>
                </a:cubicBezTo>
                <a:lnTo>
                  <a:pt x="21562" y="21600"/>
                </a:lnTo>
                <a:close/>
              </a:path>
            </a:pathLst>
          </a:custGeom>
          <a:noFill/>
          <a:ln w="57150">
            <a:solidFill>
              <a:srgbClr val="BB1528"/>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3" name="Arc 24"/>
          <p:cNvSpPr>
            <a:spLocks/>
          </p:cNvSpPr>
          <p:nvPr/>
        </p:nvSpPr>
        <p:spPr bwMode="auto">
          <a:xfrm flipV="1">
            <a:off x="1259632" y="2142680"/>
            <a:ext cx="990600" cy="1981200"/>
          </a:xfrm>
          <a:custGeom>
            <a:avLst/>
            <a:gdLst>
              <a:gd name="T0" fmla="*/ 0 w 41150"/>
              <a:gd name="T1" fmla="*/ 2147483647 h 23134"/>
              <a:gd name="T2" fmla="*/ 2147483647 w 41150"/>
              <a:gd name="T3" fmla="*/ 2147483647 h 23134"/>
              <a:gd name="T4" fmla="*/ 2147483647 w 41150"/>
              <a:gd name="T5" fmla="*/ 2147483647 h 23134"/>
              <a:gd name="T6" fmla="*/ 0 60000 65536"/>
              <a:gd name="T7" fmla="*/ 0 60000 65536"/>
              <a:gd name="T8" fmla="*/ 0 60000 65536"/>
              <a:gd name="T9" fmla="*/ 0 w 41150"/>
              <a:gd name="T10" fmla="*/ 0 h 23134"/>
              <a:gd name="T11" fmla="*/ 41150 w 41150"/>
              <a:gd name="T12" fmla="*/ 23134 h 23134"/>
            </a:gdLst>
            <a:ahLst/>
            <a:cxnLst>
              <a:cxn ang="T6">
                <a:pos x="T0" y="T1"/>
              </a:cxn>
              <a:cxn ang="T7">
                <a:pos x="T2" y="T3"/>
              </a:cxn>
              <a:cxn ang="T8">
                <a:pos x="T4" y="T5"/>
              </a:cxn>
            </a:cxnLst>
            <a:rect l="T9" t="T10" r="T11" b="T12"/>
            <a:pathLst>
              <a:path w="41150" h="23134" fill="none" extrusionOk="0">
                <a:moveTo>
                  <a:pt x="0" y="12415"/>
                </a:moveTo>
                <a:cubicBezTo>
                  <a:pt x="3560" y="4837"/>
                  <a:pt x="11178" y="-1"/>
                  <a:pt x="19550" y="0"/>
                </a:cubicBezTo>
                <a:cubicBezTo>
                  <a:pt x="31479" y="0"/>
                  <a:pt x="41150" y="9670"/>
                  <a:pt x="41150" y="21600"/>
                </a:cubicBezTo>
                <a:cubicBezTo>
                  <a:pt x="41150" y="22111"/>
                  <a:pt x="41131" y="22623"/>
                  <a:pt x="41095" y="23134"/>
                </a:cubicBezTo>
              </a:path>
              <a:path w="41150" h="23134" stroke="0" extrusionOk="0">
                <a:moveTo>
                  <a:pt x="0" y="12415"/>
                </a:moveTo>
                <a:cubicBezTo>
                  <a:pt x="3560" y="4837"/>
                  <a:pt x="11178" y="-1"/>
                  <a:pt x="19550" y="0"/>
                </a:cubicBezTo>
                <a:cubicBezTo>
                  <a:pt x="31479" y="0"/>
                  <a:pt x="41150" y="9670"/>
                  <a:pt x="41150" y="21600"/>
                </a:cubicBezTo>
                <a:cubicBezTo>
                  <a:pt x="41150" y="22111"/>
                  <a:pt x="41131" y="22623"/>
                  <a:pt x="41095" y="23134"/>
                </a:cubicBezTo>
                <a:lnTo>
                  <a:pt x="19550" y="21600"/>
                </a:lnTo>
                <a:close/>
              </a:path>
            </a:pathLst>
          </a:custGeom>
          <a:noFill/>
          <a:ln w="28575">
            <a:solidFill>
              <a:srgbClr val="BB1528"/>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4" name="Line 25"/>
          <p:cNvSpPr>
            <a:spLocks noChangeShapeType="1"/>
          </p:cNvSpPr>
          <p:nvPr/>
        </p:nvSpPr>
        <p:spPr bwMode="auto">
          <a:xfrm>
            <a:off x="1323132" y="1837880"/>
            <a:ext cx="1676400" cy="2514600"/>
          </a:xfrm>
          <a:prstGeom prst="line">
            <a:avLst/>
          </a:prstGeom>
          <a:noFill/>
          <a:ln w="38100">
            <a:solidFill>
              <a:srgbClr val="CC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 name="Rectangle 26"/>
          <p:cNvSpPr>
            <a:spLocks noChangeArrowheads="1"/>
          </p:cNvSpPr>
          <p:nvPr/>
        </p:nvSpPr>
        <p:spPr bwMode="auto">
          <a:xfrm>
            <a:off x="2936032" y="2142680"/>
            <a:ext cx="628378"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dirty="0">
                <a:latin typeface="Arial" panose="020B0604020202020204" pitchFamily="34" charset="0"/>
              </a:rPr>
              <a:t>AC</a:t>
            </a:r>
          </a:p>
        </p:txBody>
      </p:sp>
      <p:sp>
        <p:nvSpPr>
          <p:cNvPr id="16" name="Rectangle 27"/>
          <p:cNvSpPr>
            <a:spLocks noChangeArrowheads="1"/>
          </p:cNvSpPr>
          <p:nvPr/>
        </p:nvSpPr>
        <p:spPr bwMode="auto">
          <a:xfrm>
            <a:off x="1869232" y="1456880"/>
            <a:ext cx="662042"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dirty="0">
                <a:latin typeface="Arial" panose="020B0604020202020204" pitchFamily="34" charset="0"/>
              </a:rPr>
              <a:t>MC</a:t>
            </a:r>
          </a:p>
        </p:txBody>
      </p:sp>
      <p:sp>
        <p:nvSpPr>
          <p:cNvPr id="17" name="Rectangle 28"/>
          <p:cNvSpPr>
            <a:spLocks noChangeArrowheads="1"/>
          </p:cNvSpPr>
          <p:nvPr/>
        </p:nvSpPr>
        <p:spPr bwMode="auto">
          <a:xfrm>
            <a:off x="7150002" y="3692875"/>
            <a:ext cx="731886"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b="1" dirty="0">
                <a:solidFill>
                  <a:schemeClr val="tx2"/>
                </a:solidFill>
                <a:latin typeface="Arial" panose="020B0604020202020204" pitchFamily="34" charset="0"/>
              </a:rPr>
              <a:t>D</a:t>
            </a:r>
            <a:r>
              <a:rPr kumimoji="0" lang="en-US" altLang="zh-CN" sz="2800" b="1" baseline="-25000" dirty="0">
                <a:solidFill>
                  <a:schemeClr val="tx2"/>
                </a:solidFill>
                <a:latin typeface="Arial" panose="020B0604020202020204" pitchFamily="34" charset="0"/>
              </a:rPr>
              <a:t>3</a:t>
            </a:r>
          </a:p>
        </p:txBody>
      </p:sp>
      <p:sp>
        <p:nvSpPr>
          <p:cNvPr id="18" name="Line 25"/>
          <p:cNvSpPr>
            <a:spLocks noChangeShapeType="1"/>
          </p:cNvSpPr>
          <p:nvPr/>
        </p:nvSpPr>
        <p:spPr bwMode="auto">
          <a:xfrm>
            <a:off x="3243164" y="1609280"/>
            <a:ext cx="1676400" cy="2514600"/>
          </a:xfrm>
          <a:prstGeom prst="line">
            <a:avLst/>
          </a:prstGeom>
          <a:noFill/>
          <a:ln w="38100">
            <a:solidFill>
              <a:srgbClr val="CC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 name="Line 25"/>
          <p:cNvSpPr>
            <a:spLocks noChangeShapeType="1"/>
          </p:cNvSpPr>
          <p:nvPr/>
        </p:nvSpPr>
        <p:spPr bwMode="auto">
          <a:xfrm>
            <a:off x="5293470" y="1461643"/>
            <a:ext cx="1676400" cy="2514600"/>
          </a:xfrm>
          <a:prstGeom prst="line">
            <a:avLst/>
          </a:prstGeom>
          <a:noFill/>
          <a:ln w="38100">
            <a:solidFill>
              <a:srgbClr val="CC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Rectangle 28"/>
          <p:cNvSpPr>
            <a:spLocks noChangeArrowheads="1"/>
          </p:cNvSpPr>
          <p:nvPr/>
        </p:nvSpPr>
        <p:spPr bwMode="auto">
          <a:xfrm>
            <a:off x="4927527" y="3621115"/>
            <a:ext cx="731886"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b="1" dirty="0">
                <a:solidFill>
                  <a:schemeClr val="tx2"/>
                </a:solidFill>
                <a:latin typeface="Arial" panose="020B0604020202020204" pitchFamily="34" charset="0"/>
              </a:rPr>
              <a:t>D</a:t>
            </a:r>
            <a:r>
              <a:rPr kumimoji="0" lang="en-US" altLang="zh-CN" b="1" baseline="-25000" dirty="0">
                <a:solidFill>
                  <a:schemeClr val="tx2"/>
                </a:solidFill>
                <a:latin typeface="Arial" panose="020B0604020202020204" pitchFamily="34" charset="0"/>
              </a:rPr>
              <a:t>2</a:t>
            </a:r>
          </a:p>
        </p:txBody>
      </p:sp>
      <p:sp>
        <p:nvSpPr>
          <p:cNvPr id="21" name="Rectangle 28"/>
          <p:cNvSpPr>
            <a:spLocks noChangeArrowheads="1"/>
          </p:cNvSpPr>
          <p:nvPr/>
        </p:nvSpPr>
        <p:spPr bwMode="auto">
          <a:xfrm>
            <a:off x="2984402" y="3836543"/>
            <a:ext cx="731886"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b="1" dirty="0">
                <a:solidFill>
                  <a:schemeClr val="tx2"/>
                </a:solidFill>
                <a:latin typeface="Arial" panose="020B0604020202020204" pitchFamily="34" charset="0"/>
              </a:rPr>
              <a:t>D</a:t>
            </a:r>
            <a:r>
              <a:rPr kumimoji="0" lang="en-US" altLang="zh-CN" b="1" baseline="-25000" dirty="0">
                <a:solidFill>
                  <a:schemeClr val="tx2"/>
                </a:solidFill>
                <a:latin typeface="Arial" panose="020B0604020202020204" pitchFamily="34" charset="0"/>
              </a:rPr>
              <a:t>1</a:t>
            </a:r>
          </a:p>
        </p:txBody>
      </p:sp>
      <p:sp>
        <p:nvSpPr>
          <p:cNvPr id="22" name="矩形 21"/>
          <p:cNvSpPr/>
          <p:nvPr/>
        </p:nvSpPr>
        <p:spPr>
          <a:xfrm>
            <a:off x="755735" y="4797095"/>
            <a:ext cx="5339923" cy="1338828"/>
          </a:xfrm>
          <a:prstGeom prst="rect">
            <a:avLst/>
          </a:prstGeom>
        </p:spPr>
        <p:txBody>
          <a:bodyPr wrap="none">
            <a:spAutoFit/>
          </a:bodyPr>
          <a:lstStyle/>
          <a:p>
            <a:pPr>
              <a:lnSpc>
                <a:spcPct val="150000"/>
              </a:lnSpc>
            </a:pPr>
            <a:r>
              <a:rPr lang="zh-CN" altLang="en-US" sz="1800" b="0" dirty="0">
                <a:latin typeface="微软雅黑" panose="020B0503020204020204" pitchFamily="34" charset="-122"/>
                <a:ea typeface="微软雅黑" panose="020B0503020204020204" pitchFamily="34" charset="-122"/>
              </a:rPr>
              <a:t>小社区里的打印社：从</a:t>
            </a:r>
            <a:r>
              <a:rPr lang="en-US" altLang="zh-CN" sz="1800" b="0" dirty="0">
                <a:latin typeface="微软雅黑" panose="020B0503020204020204" pitchFamily="34" charset="-122"/>
                <a:ea typeface="微软雅黑" panose="020B0503020204020204" pitchFamily="34" charset="-122"/>
              </a:rPr>
              <a:t>20</a:t>
            </a:r>
            <a:r>
              <a:rPr lang="zh-CN" altLang="en-US" sz="1800" b="0" dirty="0">
                <a:latin typeface="微软雅黑" panose="020B0503020204020204" pitchFamily="34" charset="-122"/>
                <a:ea typeface="微软雅黑" panose="020B0503020204020204" pitchFamily="34" charset="-122"/>
              </a:rPr>
              <a:t>世纪</a:t>
            </a:r>
            <a:r>
              <a:rPr lang="en-US" altLang="zh-CN" sz="1800" b="0" dirty="0">
                <a:latin typeface="微软雅黑" panose="020B0503020204020204" pitchFamily="34" charset="-122"/>
                <a:ea typeface="微软雅黑" panose="020B0503020204020204" pitchFamily="34" charset="-122"/>
              </a:rPr>
              <a:t>80</a:t>
            </a:r>
            <a:r>
              <a:rPr lang="zh-CN" altLang="en-US" sz="1800" b="0" dirty="0">
                <a:latin typeface="微软雅黑" panose="020B0503020204020204" pitchFamily="34" charset="-122"/>
                <a:ea typeface="微软雅黑" panose="020B0503020204020204" pitchFamily="34" charset="-122"/>
              </a:rPr>
              <a:t>年代到现在的变化</a:t>
            </a:r>
            <a:endParaRPr lang="en-US" altLang="zh-CN" sz="1800" b="0" dirty="0">
              <a:latin typeface="微软雅黑" panose="020B0503020204020204" pitchFamily="34" charset="-122"/>
              <a:ea typeface="微软雅黑" panose="020B0503020204020204" pitchFamily="34" charset="-122"/>
            </a:endParaRPr>
          </a:p>
          <a:p>
            <a:pPr>
              <a:lnSpc>
                <a:spcPct val="150000"/>
              </a:lnSpc>
            </a:pPr>
            <a:r>
              <a:rPr lang="zh-CN" altLang="en-US" sz="1800" b="0" dirty="0">
                <a:latin typeface="微软雅黑" panose="020B0503020204020204" pitchFamily="34" charset="-122"/>
                <a:ea typeface="微软雅黑" panose="020B0503020204020204" pitchFamily="34" charset="-122"/>
              </a:rPr>
              <a:t>从自然垄断到竞争</a:t>
            </a:r>
            <a:endParaRPr lang="en-US" altLang="zh-CN" sz="1800" b="0" dirty="0">
              <a:latin typeface="微软雅黑" panose="020B0503020204020204" pitchFamily="34" charset="-122"/>
              <a:ea typeface="微软雅黑" panose="020B0503020204020204" pitchFamily="34" charset="-122"/>
            </a:endParaRPr>
          </a:p>
          <a:p>
            <a:pPr>
              <a:lnSpc>
                <a:spcPct val="150000"/>
              </a:lnSpc>
            </a:pPr>
            <a:r>
              <a:rPr lang="en-US" altLang="zh-CN" sz="1800" b="0" dirty="0">
                <a:latin typeface="微软雅黑" panose="020B0503020204020204" pitchFamily="34" charset="-122"/>
                <a:ea typeface="微软雅黑" panose="020B0503020204020204" pitchFamily="34" charset="-122"/>
              </a:rPr>
              <a:t>D</a:t>
            </a:r>
            <a:r>
              <a:rPr lang="en-US" altLang="zh-CN" sz="1800" b="0" baseline="-25000" dirty="0">
                <a:latin typeface="微软雅黑" panose="020B0503020204020204" pitchFamily="34" charset="-122"/>
                <a:ea typeface="微软雅黑" panose="020B0503020204020204" pitchFamily="34" charset="-122"/>
              </a:rPr>
              <a:t>1</a:t>
            </a:r>
            <a:r>
              <a:rPr lang="en-US" altLang="zh-CN" sz="1800" b="0" dirty="0">
                <a:latin typeface="微软雅黑" panose="020B0503020204020204" pitchFamily="34" charset="-122"/>
                <a:ea typeface="微软雅黑" panose="020B0503020204020204" pitchFamily="34" charset="-122"/>
              </a:rPr>
              <a:t>——</a:t>
            </a:r>
            <a:r>
              <a:rPr lang="zh-CN" altLang="en-US" sz="1800" b="0" dirty="0">
                <a:latin typeface="微软雅黑" panose="020B0503020204020204" pitchFamily="34" charset="-122"/>
                <a:ea typeface="微软雅黑" panose="020B0503020204020204" pitchFamily="34" charset="-122"/>
              </a:rPr>
              <a:t>上世纪</a:t>
            </a:r>
            <a:r>
              <a:rPr lang="en-US" altLang="zh-CN" sz="1800" b="0" dirty="0">
                <a:latin typeface="微软雅黑" panose="020B0503020204020204" pitchFamily="34" charset="-122"/>
                <a:ea typeface="微软雅黑" panose="020B0503020204020204" pitchFamily="34" charset="-122"/>
              </a:rPr>
              <a:t>80</a:t>
            </a:r>
            <a:r>
              <a:rPr lang="zh-CN" altLang="en-US" sz="1800" b="0" dirty="0">
                <a:latin typeface="微软雅黑" panose="020B0503020204020204" pitchFamily="34" charset="-122"/>
                <a:ea typeface="微软雅黑" panose="020B0503020204020204" pitchFamily="34" charset="-122"/>
              </a:rPr>
              <a:t>年代；</a:t>
            </a:r>
            <a:r>
              <a:rPr lang="en-US" altLang="zh-CN" sz="1800" b="0" dirty="0">
                <a:latin typeface="微软雅黑" panose="020B0503020204020204" pitchFamily="34" charset="-122"/>
                <a:ea typeface="微软雅黑" panose="020B0503020204020204" pitchFamily="34" charset="-122"/>
              </a:rPr>
              <a:t>D</a:t>
            </a:r>
            <a:r>
              <a:rPr lang="en-US" altLang="zh-CN" sz="1800" b="0" baseline="-25000" dirty="0">
                <a:latin typeface="微软雅黑" panose="020B0503020204020204" pitchFamily="34" charset="-122"/>
                <a:ea typeface="微软雅黑" panose="020B0503020204020204" pitchFamily="34" charset="-122"/>
              </a:rPr>
              <a:t>2</a:t>
            </a:r>
            <a:r>
              <a:rPr lang="en-US" altLang="zh-CN" sz="1800" b="0" dirty="0">
                <a:latin typeface="微软雅黑" panose="020B0503020204020204" pitchFamily="34" charset="-122"/>
                <a:ea typeface="微软雅黑" panose="020B0503020204020204" pitchFamily="34" charset="-122"/>
              </a:rPr>
              <a:t> and</a:t>
            </a:r>
            <a:r>
              <a:rPr lang="zh-CN" altLang="en-US" sz="1800" b="0" dirty="0">
                <a:latin typeface="微软雅黑" panose="020B0503020204020204" pitchFamily="34" charset="-122"/>
                <a:ea typeface="微软雅黑" panose="020B0503020204020204" pitchFamily="34" charset="-122"/>
              </a:rPr>
              <a:t> </a:t>
            </a:r>
            <a:r>
              <a:rPr lang="en-US" altLang="zh-CN" sz="1800" b="0" dirty="0">
                <a:latin typeface="微软雅黑" panose="020B0503020204020204" pitchFamily="34" charset="-122"/>
                <a:ea typeface="微软雅黑" panose="020B0503020204020204" pitchFamily="34" charset="-122"/>
              </a:rPr>
              <a:t>D</a:t>
            </a:r>
            <a:r>
              <a:rPr lang="en-US" altLang="zh-CN" sz="1800" b="0" baseline="-25000" dirty="0">
                <a:latin typeface="微软雅黑" panose="020B0503020204020204" pitchFamily="34" charset="-122"/>
                <a:ea typeface="微软雅黑" panose="020B0503020204020204" pitchFamily="34" charset="-122"/>
              </a:rPr>
              <a:t>3</a:t>
            </a:r>
            <a:r>
              <a:rPr lang="en-US" altLang="zh-CN" sz="1800" b="0" dirty="0">
                <a:latin typeface="微软雅黑" panose="020B0503020204020204" pitchFamily="34" charset="-122"/>
                <a:ea typeface="微软雅黑" panose="020B0503020204020204" pitchFamily="34" charset="-122"/>
              </a:rPr>
              <a:t>——</a:t>
            </a:r>
            <a:r>
              <a:rPr lang="zh-CN" altLang="en-US" sz="1800" b="0" dirty="0">
                <a:latin typeface="微软雅黑" panose="020B0503020204020204" pitchFamily="34" charset="-122"/>
                <a:ea typeface="微软雅黑" panose="020B0503020204020204" pitchFamily="34" charset="-122"/>
              </a:rPr>
              <a:t>新千年</a:t>
            </a:r>
          </a:p>
        </p:txBody>
      </p:sp>
      <p:sp>
        <p:nvSpPr>
          <p:cNvPr id="23" name="矩形 22">
            <a:extLst>
              <a:ext uri="{FF2B5EF4-FFF2-40B4-BE49-F238E27FC236}">
                <a16:creationId xmlns:a16="http://schemas.microsoft.com/office/drawing/2014/main" id="{F68E5273-CD77-47B9-B841-9D29349C133D}"/>
              </a:ext>
            </a:extLst>
          </p:cNvPr>
          <p:cNvSpPr/>
          <p:nvPr/>
        </p:nvSpPr>
        <p:spPr>
          <a:xfrm>
            <a:off x="467544" y="548680"/>
            <a:ext cx="3781805"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一、</a:t>
            </a:r>
            <a:r>
              <a:rPr lang="zh-CN" altLang="en-US" sz="2400" spc="15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垄断的含义及其原因</a:t>
            </a:r>
            <a:endParaRPr lang="zh-CN" altLang="en-US" sz="2400" b="1" spc="150" dirty="0">
              <a:solidFill>
                <a:srgbClr val="FFFFFF"/>
              </a:solidFill>
              <a:latin typeface="微软雅黑" panose="020B0503020204020204" pitchFamily="34" charset="-122"/>
              <a:ea typeface="微软雅黑" panose="020B0503020204020204" pitchFamily="34" charset="-122"/>
            </a:endParaRPr>
          </a:p>
        </p:txBody>
      </p:sp>
      <p:sp>
        <p:nvSpPr>
          <p:cNvPr id="24" name="矩形 23">
            <a:extLst>
              <a:ext uri="{FF2B5EF4-FFF2-40B4-BE49-F238E27FC236}">
                <a16:creationId xmlns:a16="http://schemas.microsoft.com/office/drawing/2014/main" id="{14770032-DD23-43EF-9E6E-BA1A284E63C0}"/>
              </a:ext>
            </a:extLst>
          </p:cNvPr>
          <p:cNvSpPr/>
          <p:nvPr/>
        </p:nvSpPr>
        <p:spPr>
          <a:xfrm>
            <a:off x="7505410" y="35458"/>
            <a:ext cx="1638590" cy="369332"/>
          </a:xfrm>
          <a:prstGeom prst="rect">
            <a:avLst/>
          </a:prstGeom>
        </p:spPr>
        <p:txBody>
          <a:bodyPr wrap="none">
            <a:spAutoFit/>
          </a:bodyPr>
          <a:lstStyle/>
          <a:p>
            <a:pPr algn="dist"/>
            <a:r>
              <a:rPr lang="zh-CN" altLang="en-US" sz="1800" b="0" spc="30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第一节 垄断</a:t>
            </a:r>
            <a:endParaRPr lang="zh-CN" altLang="en-US" sz="1800" b="0" spc="300" dirty="0">
              <a:solidFill>
                <a:schemeClr val="tx2"/>
              </a:solidFill>
              <a:ea typeface="黑体" panose="02010609060101010101" pitchFamily="49" charset="-122"/>
              <a:sym typeface="Arial" panose="020B0604020202020204" pitchFamily="34" charset="0"/>
            </a:endParaRPr>
          </a:p>
        </p:txBody>
      </p:sp>
    </p:spTree>
    <p:extLst>
      <p:ext uri="{BB962C8B-B14F-4D97-AF65-F5344CB8AC3E}">
        <p14:creationId xmlns:p14="http://schemas.microsoft.com/office/powerpoint/2010/main" val="2106778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ppt_x"/>
                                          </p:val>
                                        </p:tav>
                                        <p:tav tm="100000">
                                          <p:val>
                                            <p:strVal val="#ppt_x"/>
                                          </p:val>
                                        </p:tav>
                                      </p:tavLst>
                                    </p:anim>
                                    <p:anim calcmode="lin" valueType="num">
                                      <p:cBhvr additive="base">
                                        <p:cTn id="12" dur="500" fill="hold"/>
                                        <p:tgtEl>
                                          <p:spTgt spid="11"/>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ppt_x"/>
                                          </p:val>
                                        </p:tav>
                                        <p:tav tm="100000">
                                          <p:val>
                                            <p:strVal val="#ppt_x"/>
                                          </p:val>
                                        </p:tav>
                                      </p:tavLst>
                                    </p:anim>
                                    <p:anim calcmode="lin" valueType="num">
                                      <p:cBhvr additive="base">
                                        <p:cTn id="16" dur="500" fill="hold"/>
                                        <p:tgtEl>
                                          <p:spTgt spid="12"/>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ppt_x"/>
                                          </p:val>
                                        </p:tav>
                                        <p:tav tm="100000">
                                          <p:val>
                                            <p:strVal val="#ppt_x"/>
                                          </p:val>
                                        </p:tav>
                                      </p:tavLst>
                                    </p:anim>
                                    <p:anim calcmode="lin" valueType="num">
                                      <p:cBhvr additive="base">
                                        <p:cTn id="20" dur="500" fill="hold"/>
                                        <p:tgtEl>
                                          <p:spTgt spid="13"/>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anim calcmode="lin" valueType="num">
                                      <p:cBhvr additive="base">
                                        <p:cTn id="23" dur="500" fill="hold"/>
                                        <p:tgtEl>
                                          <p:spTgt spid="14"/>
                                        </p:tgtEl>
                                        <p:attrNameLst>
                                          <p:attrName>ppt_x</p:attrName>
                                        </p:attrNameLst>
                                      </p:cBhvr>
                                      <p:tavLst>
                                        <p:tav tm="0">
                                          <p:val>
                                            <p:strVal val="#ppt_x"/>
                                          </p:val>
                                        </p:tav>
                                        <p:tav tm="100000">
                                          <p:val>
                                            <p:strVal val="#ppt_x"/>
                                          </p:val>
                                        </p:tav>
                                      </p:tavLst>
                                    </p:anim>
                                    <p:anim calcmode="lin" valueType="num">
                                      <p:cBhvr additive="base">
                                        <p:cTn id="24" dur="500" fill="hold"/>
                                        <p:tgtEl>
                                          <p:spTgt spid="14"/>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 calcmode="lin" valueType="num">
                                      <p:cBhvr additive="base">
                                        <p:cTn id="27" dur="500" fill="hold"/>
                                        <p:tgtEl>
                                          <p:spTgt spid="15"/>
                                        </p:tgtEl>
                                        <p:attrNameLst>
                                          <p:attrName>ppt_x</p:attrName>
                                        </p:attrNameLst>
                                      </p:cBhvr>
                                      <p:tavLst>
                                        <p:tav tm="0">
                                          <p:val>
                                            <p:strVal val="#ppt_x"/>
                                          </p:val>
                                        </p:tav>
                                        <p:tav tm="100000">
                                          <p:val>
                                            <p:strVal val="#ppt_x"/>
                                          </p:val>
                                        </p:tav>
                                      </p:tavLst>
                                    </p:anim>
                                    <p:anim calcmode="lin" valueType="num">
                                      <p:cBhvr additive="base">
                                        <p:cTn id="28" dur="500" fill="hold"/>
                                        <p:tgtEl>
                                          <p:spTgt spid="15"/>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anim calcmode="lin" valueType="num">
                                      <p:cBhvr additive="base">
                                        <p:cTn id="35" dur="500" fill="hold"/>
                                        <p:tgtEl>
                                          <p:spTgt spid="17"/>
                                        </p:tgtEl>
                                        <p:attrNameLst>
                                          <p:attrName>ppt_x</p:attrName>
                                        </p:attrNameLst>
                                      </p:cBhvr>
                                      <p:tavLst>
                                        <p:tav tm="0">
                                          <p:val>
                                            <p:strVal val="#ppt_x"/>
                                          </p:val>
                                        </p:tav>
                                        <p:tav tm="100000">
                                          <p:val>
                                            <p:strVal val="#ppt_x"/>
                                          </p:val>
                                        </p:tav>
                                      </p:tavLst>
                                    </p:anim>
                                    <p:anim calcmode="lin" valueType="num">
                                      <p:cBhvr additive="base">
                                        <p:cTn id="36" dur="500" fill="hold"/>
                                        <p:tgtEl>
                                          <p:spTgt spid="17"/>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anim calcmode="lin" valueType="num">
                                      <p:cBhvr additive="base">
                                        <p:cTn id="39" dur="500" fill="hold"/>
                                        <p:tgtEl>
                                          <p:spTgt spid="18"/>
                                        </p:tgtEl>
                                        <p:attrNameLst>
                                          <p:attrName>ppt_x</p:attrName>
                                        </p:attrNameLst>
                                      </p:cBhvr>
                                      <p:tavLst>
                                        <p:tav tm="0">
                                          <p:val>
                                            <p:strVal val="#ppt_x"/>
                                          </p:val>
                                        </p:tav>
                                        <p:tav tm="100000">
                                          <p:val>
                                            <p:strVal val="#ppt_x"/>
                                          </p:val>
                                        </p:tav>
                                      </p:tavLst>
                                    </p:anim>
                                    <p:anim calcmode="lin" valueType="num">
                                      <p:cBhvr additive="base">
                                        <p:cTn id="40" dur="500" fill="hold"/>
                                        <p:tgtEl>
                                          <p:spTgt spid="18"/>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anim calcmode="lin" valueType="num">
                                      <p:cBhvr additive="base">
                                        <p:cTn id="43" dur="500" fill="hold"/>
                                        <p:tgtEl>
                                          <p:spTgt spid="19"/>
                                        </p:tgtEl>
                                        <p:attrNameLst>
                                          <p:attrName>ppt_x</p:attrName>
                                        </p:attrNameLst>
                                      </p:cBhvr>
                                      <p:tavLst>
                                        <p:tav tm="0">
                                          <p:val>
                                            <p:strVal val="#ppt_x"/>
                                          </p:val>
                                        </p:tav>
                                        <p:tav tm="100000">
                                          <p:val>
                                            <p:strVal val="#ppt_x"/>
                                          </p:val>
                                        </p:tav>
                                      </p:tavLst>
                                    </p:anim>
                                    <p:anim calcmode="lin" valueType="num">
                                      <p:cBhvr additive="base">
                                        <p:cTn id="44" dur="500" fill="hold"/>
                                        <p:tgtEl>
                                          <p:spTgt spid="19"/>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20"/>
                                        </p:tgtEl>
                                        <p:attrNameLst>
                                          <p:attrName>style.visibility</p:attrName>
                                        </p:attrNameLst>
                                      </p:cBhvr>
                                      <p:to>
                                        <p:strVal val="visible"/>
                                      </p:to>
                                    </p:set>
                                    <p:anim calcmode="lin" valueType="num">
                                      <p:cBhvr additive="base">
                                        <p:cTn id="47" dur="500" fill="hold"/>
                                        <p:tgtEl>
                                          <p:spTgt spid="20"/>
                                        </p:tgtEl>
                                        <p:attrNameLst>
                                          <p:attrName>ppt_x</p:attrName>
                                        </p:attrNameLst>
                                      </p:cBhvr>
                                      <p:tavLst>
                                        <p:tav tm="0">
                                          <p:val>
                                            <p:strVal val="#ppt_x"/>
                                          </p:val>
                                        </p:tav>
                                        <p:tav tm="100000">
                                          <p:val>
                                            <p:strVal val="#ppt_x"/>
                                          </p:val>
                                        </p:tav>
                                      </p:tavLst>
                                    </p:anim>
                                    <p:anim calcmode="lin" valueType="num">
                                      <p:cBhvr additive="base">
                                        <p:cTn id="48" dur="500" fill="hold"/>
                                        <p:tgtEl>
                                          <p:spTgt spid="20"/>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21"/>
                                        </p:tgtEl>
                                        <p:attrNameLst>
                                          <p:attrName>style.visibility</p:attrName>
                                        </p:attrNameLst>
                                      </p:cBhvr>
                                      <p:to>
                                        <p:strVal val="visible"/>
                                      </p:to>
                                    </p:set>
                                    <p:anim calcmode="lin" valueType="num">
                                      <p:cBhvr additive="base">
                                        <p:cTn id="51" dur="500" fill="hold"/>
                                        <p:tgtEl>
                                          <p:spTgt spid="21"/>
                                        </p:tgtEl>
                                        <p:attrNameLst>
                                          <p:attrName>ppt_x</p:attrName>
                                        </p:attrNameLst>
                                      </p:cBhvr>
                                      <p:tavLst>
                                        <p:tav tm="0">
                                          <p:val>
                                            <p:strVal val="#ppt_x"/>
                                          </p:val>
                                        </p:tav>
                                        <p:tav tm="100000">
                                          <p:val>
                                            <p:strVal val="#ppt_x"/>
                                          </p:val>
                                        </p:tav>
                                      </p:tavLst>
                                    </p:anim>
                                    <p:anim calcmode="lin" valueType="num">
                                      <p:cBhvr additive="base">
                                        <p:cTn id="52"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16" presetClass="entr" presetSubtype="21" fill="hold" grpId="0" nodeType="click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barn(inVertical)">
                                      <p:cBhvr>
                                        <p:cTn id="5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p:bldP spid="16" grpId="0"/>
      <p:bldP spid="17" grpId="0"/>
      <p:bldP spid="18" grpId="0" animBg="1"/>
      <p:bldP spid="19" grpId="0" animBg="1"/>
      <p:bldP spid="20" grpId="0"/>
      <p:bldP spid="21" grpId="0"/>
      <p:bldP spid="2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3"/>
          <p:cNvSpPr>
            <a:spLocks noGrp="1" noChangeArrowheads="1"/>
          </p:cNvSpPr>
          <p:nvPr>
            <p:ph type="body" idx="4294967295"/>
          </p:nvPr>
        </p:nvSpPr>
        <p:spPr>
          <a:xfrm>
            <a:off x="467544" y="1135112"/>
            <a:ext cx="8229600" cy="4094014"/>
          </a:xfrm>
          <a:ln/>
        </p:spPr>
        <p:txBody>
          <a:bodyPr/>
          <a:lstStyle/>
          <a:p>
            <a:pPr marL="457200" lvl="2" indent="-457200" eaLnBrk="1" hangingPunct="1">
              <a:lnSpc>
                <a:spcPct val="200000"/>
              </a:lnSpc>
              <a:buFont typeface="Wingdings" panose="05000000000000000000" pitchFamily="2" charset="2"/>
              <a:buChar char="u"/>
            </a:pPr>
            <a:r>
              <a:rPr lang="zh-CN" altLang="en-US" sz="2200" b="0" dirty="0">
                <a:latin typeface="微软雅黑" panose="020B0503020204020204" pitchFamily="34" charset="-122"/>
                <a:ea typeface="微软雅黑" panose="020B0503020204020204" pitchFamily="34" charset="-122"/>
              </a:rPr>
              <a:t>自然垄断的形成</a:t>
            </a:r>
            <a:endParaRPr lang="en-US" altLang="zh-CN" sz="2200" b="0" dirty="0">
              <a:latin typeface="微软雅黑" panose="020B0503020204020204" pitchFamily="34" charset="-122"/>
              <a:ea typeface="微软雅黑" panose="020B0503020204020204" pitchFamily="34" charset="-122"/>
            </a:endParaRPr>
          </a:p>
          <a:p>
            <a:pPr marL="742950" lvl="2" indent="-342900" eaLnBrk="1" hangingPunct="1">
              <a:lnSpc>
                <a:spcPct val="200000"/>
              </a:lnSpc>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rPr>
              <a:t>自然垄断的形成</a:t>
            </a:r>
            <a:endParaRPr lang="en-US" altLang="zh-CN" sz="2000" b="0" dirty="0">
              <a:latin typeface="微软雅黑" panose="020B0503020204020204" pitchFamily="34" charset="-122"/>
              <a:ea typeface="微软雅黑" panose="020B0503020204020204" pitchFamily="34" charset="-122"/>
            </a:endParaRPr>
          </a:p>
          <a:p>
            <a:pPr marL="685800" lvl="2">
              <a:lnSpc>
                <a:spcPct val="200000"/>
              </a:lnSpc>
              <a:spcBef>
                <a:spcPct val="0"/>
              </a:spcBef>
              <a:buFont typeface="Arial" panose="020B0604020202020204" pitchFamily="34" charset="0"/>
              <a:buChar char="•"/>
            </a:pPr>
            <a:r>
              <a:rPr lang="zh-CN" altLang="en-US" sz="1800" b="0" spc="300" dirty="0">
                <a:latin typeface="微软雅黑" panose="020B0503020204020204" pitchFamily="34" charset="-122"/>
                <a:ea typeface="微软雅黑" panose="020B0503020204020204" pitchFamily="34" charset="-122"/>
              </a:rPr>
              <a:t>最有效率的企业通过价格战，把其他的企业排挤出去</a:t>
            </a:r>
            <a:r>
              <a:rPr lang="en-US" altLang="zh-CN" sz="1800" b="0" spc="300" dirty="0">
                <a:latin typeface="微软雅黑" panose="020B0503020204020204" pitchFamily="34" charset="-122"/>
                <a:ea typeface="微软雅黑" panose="020B0503020204020204" pitchFamily="34" charset="-122"/>
              </a:rPr>
              <a:t>, </a:t>
            </a:r>
            <a:r>
              <a:rPr lang="zh-CN" altLang="en-US" sz="1800" b="0" spc="300" dirty="0">
                <a:latin typeface="微软雅黑" panose="020B0503020204020204" pitchFamily="34" charset="-122"/>
                <a:ea typeface="微软雅黑" panose="020B0503020204020204" pitchFamily="34" charset="-122"/>
              </a:rPr>
              <a:t>直到最后独占整个市场</a:t>
            </a:r>
            <a:r>
              <a:rPr lang="en-US" altLang="zh-CN" sz="1800" b="0" spc="300" dirty="0">
                <a:latin typeface="微软雅黑" panose="020B0503020204020204" pitchFamily="34" charset="-122"/>
                <a:ea typeface="微软雅黑" panose="020B0503020204020204" pitchFamily="34" charset="-122"/>
              </a:rPr>
              <a:t>, </a:t>
            </a:r>
            <a:r>
              <a:rPr lang="zh-CN" altLang="en-US" sz="1800" b="0" spc="300" dirty="0">
                <a:latin typeface="微软雅黑" panose="020B0503020204020204" pitchFamily="34" charset="-122"/>
                <a:ea typeface="微软雅黑" panose="020B0503020204020204" pitchFamily="34" charset="-122"/>
              </a:rPr>
              <a:t>形成垄断。</a:t>
            </a:r>
            <a:endParaRPr lang="en-US" altLang="zh-CN" sz="1800" b="0" spc="300" dirty="0">
              <a:latin typeface="微软雅黑" panose="020B0503020204020204" pitchFamily="34" charset="-122"/>
              <a:ea typeface="微软雅黑" panose="020B0503020204020204" pitchFamily="34" charset="-122"/>
            </a:endParaRPr>
          </a:p>
          <a:p>
            <a:pPr marL="685800" lvl="2">
              <a:lnSpc>
                <a:spcPct val="200000"/>
              </a:lnSpc>
              <a:spcBef>
                <a:spcPct val="0"/>
              </a:spcBef>
              <a:buFont typeface="Arial" panose="020B0604020202020204" pitchFamily="34" charset="0"/>
              <a:buChar char="•"/>
            </a:pPr>
            <a:r>
              <a:rPr lang="zh-CN" altLang="en-US" sz="1800" b="0" spc="300" dirty="0">
                <a:latin typeface="微软雅黑" panose="020B0503020204020204" pitchFamily="34" charset="-122"/>
                <a:ea typeface="微软雅黑" panose="020B0503020204020204" pitchFamily="34" charset="-122"/>
              </a:rPr>
              <a:t>一旦形成垄断</a:t>
            </a:r>
            <a:r>
              <a:rPr lang="en-US" altLang="zh-CN" sz="1800" b="0" spc="300" dirty="0">
                <a:latin typeface="微软雅黑" panose="020B0503020204020204" pitchFamily="34" charset="-122"/>
                <a:ea typeface="微软雅黑" panose="020B0503020204020204" pitchFamily="34" charset="-122"/>
              </a:rPr>
              <a:t>, </a:t>
            </a:r>
            <a:r>
              <a:rPr lang="zh-CN" altLang="en-US" sz="1800" b="0" spc="300" dirty="0">
                <a:latin typeface="微软雅黑" panose="020B0503020204020204" pitchFamily="34" charset="-122"/>
                <a:ea typeface="微软雅黑" panose="020B0503020204020204" pitchFamily="34" charset="-122"/>
              </a:rPr>
              <a:t>它就可以凭借垄断地位而根据利润最大化的要求重新决定自己的产量和价格。</a:t>
            </a:r>
          </a:p>
        </p:txBody>
      </p:sp>
      <p:sp>
        <p:nvSpPr>
          <p:cNvPr id="9219" name="Line 9"/>
          <p:cNvSpPr>
            <a:spLocks noChangeShapeType="1"/>
          </p:cNvSpPr>
          <p:nvPr/>
        </p:nvSpPr>
        <p:spPr bwMode="auto">
          <a:xfrm>
            <a:off x="7380288" y="1125538"/>
            <a:ext cx="1587" cy="1587"/>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7" name="矩形 6">
            <a:extLst>
              <a:ext uri="{FF2B5EF4-FFF2-40B4-BE49-F238E27FC236}">
                <a16:creationId xmlns:a16="http://schemas.microsoft.com/office/drawing/2014/main" id="{F68E5273-CD77-47B9-B841-9D29349C133D}"/>
              </a:ext>
            </a:extLst>
          </p:cNvPr>
          <p:cNvSpPr/>
          <p:nvPr/>
        </p:nvSpPr>
        <p:spPr>
          <a:xfrm>
            <a:off x="467544" y="548680"/>
            <a:ext cx="3781805"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一、</a:t>
            </a:r>
            <a:r>
              <a:rPr lang="zh-CN" altLang="en-US" sz="2400" spc="15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垄断的含义及其原因</a:t>
            </a:r>
            <a:endParaRPr lang="zh-CN" altLang="en-US" sz="2400" b="1" spc="150" dirty="0">
              <a:solidFill>
                <a:srgbClr val="FFFFFF"/>
              </a:solidFill>
              <a:latin typeface="微软雅黑" panose="020B0503020204020204" pitchFamily="34" charset="-122"/>
              <a:ea typeface="微软雅黑" panose="020B0503020204020204" pitchFamily="34" charset="-122"/>
            </a:endParaRPr>
          </a:p>
        </p:txBody>
      </p:sp>
      <p:sp>
        <p:nvSpPr>
          <p:cNvPr id="6" name="矩形 5"/>
          <p:cNvSpPr/>
          <p:nvPr/>
        </p:nvSpPr>
        <p:spPr>
          <a:xfrm>
            <a:off x="7505410" y="35458"/>
            <a:ext cx="1638590" cy="369332"/>
          </a:xfrm>
          <a:prstGeom prst="rect">
            <a:avLst/>
          </a:prstGeom>
        </p:spPr>
        <p:txBody>
          <a:bodyPr wrap="none">
            <a:spAutoFit/>
          </a:bodyPr>
          <a:lstStyle/>
          <a:p>
            <a:pPr algn="dist"/>
            <a:r>
              <a:rPr lang="zh-CN" altLang="en-US" sz="1800" b="0" spc="30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第一节 垄断</a:t>
            </a:r>
            <a:endParaRPr lang="zh-CN" altLang="en-US" sz="1800" b="0" spc="300" dirty="0">
              <a:solidFill>
                <a:schemeClr val="tx2"/>
              </a:solidFill>
              <a:ea typeface="黑体" panose="02010609060101010101" pitchFamily="49" charset="-122"/>
              <a:sym typeface="Arial" panose="020B0604020202020204" pitchFamily="34" charset="0"/>
            </a:endParaRPr>
          </a:p>
        </p:txBody>
      </p:sp>
      <p:pic>
        <p:nvPicPr>
          <p:cNvPr id="8" name="图片 7">
            <a:extLst>
              <a:ext uri="{FF2B5EF4-FFF2-40B4-BE49-F238E27FC236}">
                <a16:creationId xmlns:a16="http://schemas.microsoft.com/office/drawing/2014/main" id="{3C6EB5D1-1687-49DA-B17E-405D7C4822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5724080" y="4211915"/>
            <a:ext cx="1958432" cy="2050396"/>
          </a:xfrm>
          <a:prstGeom prst="rect">
            <a:avLst/>
          </a:prstGeom>
        </p:spPr>
      </p:pic>
    </p:spTree>
    <p:extLst>
      <p:ext uri="{BB962C8B-B14F-4D97-AF65-F5344CB8AC3E}">
        <p14:creationId xmlns:p14="http://schemas.microsoft.com/office/powerpoint/2010/main" val="559294707"/>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9" fill="hold" nodeType="clickEffect">
                                  <p:stCondLst>
                                    <p:cond delay="0"/>
                                  </p:stCondLst>
                                  <p:childTnLst>
                                    <p:set>
                                      <p:cBhvr>
                                        <p:cTn id="6" dur="1" fill="hold">
                                          <p:stCondLst>
                                            <p:cond delay="0"/>
                                          </p:stCondLst>
                                        </p:cTn>
                                        <p:tgtEl>
                                          <p:spTgt spid="9218">
                                            <p:txEl>
                                              <p:pRg st="0" end="0"/>
                                            </p:txEl>
                                          </p:spTgt>
                                        </p:tgtEl>
                                        <p:attrNameLst>
                                          <p:attrName>style.visibility</p:attrName>
                                        </p:attrNameLst>
                                      </p:cBhvr>
                                      <p:to>
                                        <p:strVal val="visible"/>
                                      </p:to>
                                    </p:set>
                                    <p:anim calcmode="lin" valueType="num">
                                      <p:cBhvr>
                                        <p:cTn id="7" dur="500" fill="hold"/>
                                        <p:tgtEl>
                                          <p:spTgt spid="9218">
                                            <p:txEl>
                                              <p:pRg st="0" end="0"/>
                                            </p:txEl>
                                          </p:spTgt>
                                        </p:tgtEl>
                                        <p:attrNameLst>
                                          <p:attrName>ppt_x</p:attrName>
                                        </p:attrNameLst>
                                      </p:cBhvr>
                                      <p:tavLst>
                                        <p:tav tm="0">
                                          <p:val>
                                            <p:strVal val="0-#ppt_w/2"/>
                                          </p:val>
                                        </p:tav>
                                        <p:tav tm="100000">
                                          <p:val>
                                            <p:strVal val="#ppt_x"/>
                                          </p:val>
                                        </p:tav>
                                      </p:tavLst>
                                    </p:anim>
                                    <p:anim calcmode="lin" valueType="num">
                                      <p:cBhvr>
                                        <p:cTn id="8" dur="500" fill="hold"/>
                                        <p:tgtEl>
                                          <p:spTgt spid="9218">
                                            <p:txEl>
                                              <p:pRg st="0" end="0"/>
                                            </p:txEl>
                                          </p:spTgt>
                                        </p:tgtEl>
                                        <p:attrNameLst>
                                          <p:attrName>ppt_y</p:attrName>
                                        </p:attrNameLst>
                                      </p:cBhvr>
                                      <p:tavLst>
                                        <p:tav tm="0">
                                          <p:val>
                                            <p:strVal val="0-#ppt_h/2"/>
                                          </p:val>
                                        </p:tav>
                                        <p:tav tm="100000">
                                          <p:val>
                                            <p:strVal val="#ppt_y"/>
                                          </p:val>
                                        </p:tav>
                                      </p:tavLst>
                                    </p:anim>
                                  </p:childTnLst>
                                </p:cTn>
                              </p:par>
                              <p:par>
                                <p:cTn id="9" presetID="14" presetClass="entr" presetSubtype="1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randombar(horizontal)">
                                      <p:cBhvr>
                                        <p:cTn id="11" dur="500"/>
                                        <p:tgtEl>
                                          <p:spTgt spid="8"/>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 presetClass="entr" presetSubtype="9" fill="hold" nodeType="clickEffect">
                                  <p:stCondLst>
                                    <p:cond delay="0"/>
                                  </p:stCondLst>
                                  <p:childTnLst>
                                    <p:set>
                                      <p:cBhvr>
                                        <p:cTn id="15" dur="1" fill="hold">
                                          <p:stCondLst>
                                            <p:cond delay="0"/>
                                          </p:stCondLst>
                                        </p:cTn>
                                        <p:tgtEl>
                                          <p:spTgt spid="9218">
                                            <p:txEl>
                                              <p:pRg st="1" end="1"/>
                                            </p:txEl>
                                          </p:spTgt>
                                        </p:tgtEl>
                                        <p:attrNameLst>
                                          <p:attrName>style.visibility</p:attrName>
                                        </p:attrNameLst>
                                      </p:cBhvr>
                                      <p:to>
                                        <p:strVal val="visible"/>
                                      </p:to>
                                    </p:set>
                                    <p:anim calcmode="lin" valueType="num">
                                      <p:cBhvr>
                                        <p:cTn id="16" dur="500" fill="hold"/>
                                        <p:tgtEl>
                                          <p:spTgt spid="9218">
                                            <p:txEl>
                                              <p:pRg st="1" end="1"/>
                                            </p:txEl>
                                          </p:spTgt>
                                        </p:tgtEl>
                                        <p:attrNameLst>
                                          <p:attrName>ppt_x</p:attrName>
                                        </p:attrNameLst>
                                      </p:cBhvr>
                                      <p:tavLst>
                                        <p:tav tm="0">
                                          <p:val>
                                            <p:strVal val="0-#ppt_w/2"/>
                                          </p:val>
                                        </p:tav>
                                        <p:tav tm="100000">
                                          <p:val>
                                            <p:strVal val="#ppt_x"/>
                                          </p:val>
                                        </p:tav>
                                      </p:tavLst>
                                    </p:anim>
                                    <p:anim calcmode="lin" valueType="num">
                                      <p:cBhvr>
                                        <p:cTn id="17" dur="500" fill="hold"/>
                                        <p:tgtEl>
                                          <p:spTgt spid="9218">
                                            <p:txEl>
                                              <p:pRg st="1" end="1"/>
                                            </p:txEl>
                                          </p:spTgt>
                                        </p:tgtEl>
                                        <p:attrNameLst>
                                          <p:attrName>ppt_y</p:attrName>
                                        </p:attrNameLst>
                                      </p:cBhvr>
                                      <p:tavLst>
                                        <p:tav tm="0">
                                          <p:val>
                                            <p:strVal val="0-#ppt_h/2"/>
                                          </p:val>
                                        </p:tav>
                                        <p:tav tm="100000">
                                          <p:val>
                                            <p:strVal val="#ppt_y"/>
                                          </p:val>
                                        </p:tav>
                                      </p:tavLst>
                                    </p:anim>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9" fill="hold" nodeType="clickEffect">
                                  <p:stCondLst>
                                    <p:cond delay="0"/>
                                  </p:stCondLst>
                                  <p:childTnLst>
                                    <p:set>
                                      <p:cBhvr>
                                        <p:cTn id="21" dur="1" fill="hold">
                                          <p:stCondLst>
                                            <p:cond delay="0"/>
                                          </p:stCondLst>
                                        </p:cTn>
                                        <p:tgtEl>
                                          <p:spTgt spid="9218">
                                            <p:txEl>
                                              <p:pRg st="2" end="2"/>
                                            </p:txEl>
                                          </p:spTgt>
                                        </p:tgtEl>
                                        <p:attrNameLst>
                                          <p:attrName>style.visibility</p:attrName>
                                        </p:attrNameLst>
                                      </p:cBhvr>
                                      <p:to>
                                        <p:strVal val="visible"/>
                                      </p:to>
                                    </p:set>
                                    <p:anim calcmode="lin" valueType="num">
                                      <p:cBhvr>
                                        <p:cTn id="22" dur="500" fill="hold"/>
                                        <p:tgtEl>
                                          <p:spTgt spid="9218">
                                            <p:txEl>
                                              <p:pRg st="2" end="2"/>
                                            </p:txEl>
                                          </p:spTgt>
                                        </p:tgtEl>
                                        <p:attrNameLst>
                                          <p:attrName>ppt_x</p:attrName>
                                        </p:attrNameLst>
                                      </p:cBhvr>
                                      <p:tavLst>
                                        <p:tav tm="0">
                                          <p:val>
                                            <p:strVal val="0-#ppt_w/2"/>
                                          </p:val>
                                        </p:tav>
                                        <p:tav tm="100000">
                                          <p:val>
                                            <p:strVal val="#ppt_x"/>
                                          </p:val>
                                        </p:tav>
                                      </p:tavLst>
                                    </p:anim>
                                    <p:anim calcmode="lin" valueType="num">
                                      <p:cBhvr>
                                        <p:cTn id="23" dur="500" fill="hold"/>
                                        <p:tgtEl>
                                          <p:spTgt spid="9218">
                                            <p:txEl>
                                              <p:pRg st="2" end="2"/>
                                            </p:txEl>
                                          </p:spTgt>
                                        </p:tgtEl>
                                        <p:attrNameLst>
                                          <p:attrName>ppt_y</p:attrName>
                                        </p:attrNameLst>
                                      </p:cBhvr>
                                      <p:tavLst>
                                        <p:tav tm="0">
                                          <p:val>
                                            <p:strVal val="0-#ppt_h/2"/>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 presetClass="entr" presetSubtype="9" fill="hold" nodeType="clickEffect">
                                  <p:stCondLst>
                                    <p:cond delay="0"/>
                                  </p:stCondLst>
                                  <p:childTnLst>
                                    <p:set>
                                      <p:cBhvr>
                                        <p:cTn id="27" dur="1" fill="hold">
                                          <p:stCondLst>
                                            <p:cond delay="0"/>
                                          </p:stCondLst>
                                        </p:cTn>
                                        <p:tgtEl>
                                          <p:spTgt spid="9218">
                                            <p:txEl>
                                              <p:pRg st="3" end="3"/>
                                            </p:txEl>
                                          </p:spTgt>
                                        </p:tgtEl>
                                        <p:attrNameLst>
                                          <p:attrName>style.visibility</p:attrName>
                                        </p:attrNameLst>
                                      </p:cBhvr>
                                      <p:to>
                                        <p:strVal val="visible"/>
                                      </p:to>
                                    </p:set>
                                    <p:anim calcmode="lin" valueType="num">
                                      <p:cBhvr>
                                        <p:cTn id="28" dur="500" fill="hold"/>
                                        <p:tgtEl>
                                          <p:spTgt spid="9218">
                                            <p:txEl>
                                              <p:pRg st="3" end="3"/>
                                            </p:txEl>
                                          </p:spTgt>
                                        </p:tgtEl>
                                        <p:attrNameLst>
                                          <p:attrName>ppt_x</p:attrName>
                                        </p:attrNameLst>
                                      </p:cBhvr>
                                      <p:tavLst>
                                        <p:tav tm="0">
                                          <p:val>
                                            <p:strVal val="0-#ppt_w/2"/>
                                          </p:val>
                                        </p:tav>
                                        <p:tav tm="100000">
                                          <p:val>
                                            <p:strVal val="#ppt_x"/>
                                          </p:val>
                                        </p:tav>
                                      </p:tavLst>
                                    </p:anim>
                                    <p:anim calcmode="lin" valueType="num">
                                      <p:cBhvr>
                                        <p:cTn id="29" dur="500" fill="hold"/>
                                        <p:tgtEl>
                                          <p:spTgt spid="9218">
                                            <p:txEl>
                                              <p:pRg st="3" end="3"/>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Line 4"/>
          <p:cNvSpPr>
            <a:spLocks noChangeShapeType="1"/>
          </p:cNvSpPr>
          <p:nvPr/>
        </p:nvSpPr>
        <p:spPr bwMode="auto">
          <a:xfrm flipV="1">
            <a:off x="2674938" y="2214563"/>
            <a:ext cx="3175" cy="3508375"/>
          </a:xfrm>
          <a:prstGeom prst="line">
            <a:avLst/>
          </a:prstGeom>
          <a:noFill/>
          <a:ln w="28575" cmpd="sng">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0243" name="Line 5"/>
          <p:cNvSpPr>
            <a:spLocks noChangeShapeType="1"/>
          </p:cNvSpPr>
          <p:nvPr/>
        </p:nvSpPr>
        <p:spPr bwMode="auto">
          <a:xfrm>
            <a:off x="2674938" y="5722938"/>
            <a:ext cx="4632325" cy="1587"/>
          </a:xfrm>
          <a:prstGeom prst="line">
            <a:avLst/>
          </a:prstGeom>
          <a:noFill/>
          <a:ln w="28575" cmpd="sng">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0244" name="未知"/>
          <p:cNvSpPr>
            <a:spLocks noChangeArrowheads="1"/>
          </p:cNvSpPr>
          <p:nvPr/>
        </p:nvSpPr>
        <p:spPr bwMode="auto">
          <a:xfrm>
            <a:off x="2936875" y="2417763"/>
            <a:ext cx="4503738" cy="3222625"/>
          </a:xfrm>
          <a:custGeom>
            <a:avLst/>
            <a:gdLst>
              <a:gd name="T0" fmla="*/ 0 w 21600"/>
              <a:gd name="T1" fmla="*/ 0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cubicBezTo>
                  <a:pt x="960" y="2228"/>
                  <a:pt x="2561" y="9989"/>
                  <a:pt x="5774" y="13386"/>
                </a:cubicBezTo>
                <a:cubicBezTo>
                  <a:pt x="8988" y="16784"/>
                  <a:pt x="16959" y="19196"/>
                  <a:pt x="19279" y="20398"/>
                </a:cubicBezTo>
                <a:cubicBezTo>
                  <a:pt x="21600" y="21600"/>
                  <a:pt x="19633" y="20577"/>
                  <a:pt x="19705" y="20610"/>
                </a:cubicBezTo>
              </a:path>
            </a:pathLst>
          </a:custGeom>
          <a:noFill/>
          <a:ln w="28575" cmpd="sng">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zh-CN">
              <a:solidFill>
                <a:srgbClr val="000000"/>
              </a:solidFill>
              <a:sym typeface="Arial" panose="020B0604020202020204" pitchFamily="34" charset="0"/>
            </a:endParaRPr>
          </a:p>
        </p:txBody>
      </p:sp>
      <p:sp>
        <p:nvSpPr>
          <p:cNvPr id="10245" name="Line 7"/>
          <p:cNvSpPr>
            <a:spLocks noChangeShapeType="1"/>
          </p:cNvSpPr>
          <p:nvPr/>
        </p:nvSpPr>
        <p:spPr bwMode="auto">
          <a:xfrm>
            <a:off x="2674938" y="2535238"/>
            <a:ext cx="4186237" cy="3187700"/>
          </a:xfrm>
          <a:prstGeom prst="line">
            <a:avLst/>
          </a:prstGeom>
          <a:noFill/>
          <a:ln w="28575" cmpd="sng">
            <a:solidFill>
              <a:srgbClr val="0070C0"/>
            </a:solidFill>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0246" name="Text Box 8"/>
          <p:cNvSpPr>
            <a:spLocks noChangeArrowheads="1"/>
          </p:cNvSpPr>
          <p:nvPr/>
        </p:nvSpPr>
        <p:spPr bwMode="auto">
          <a:xfrm>
            <a:off x="3387725" y="2692400"/>
            <a:ext cx="900113"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800" b="0" dirty="0">
                <a:solidFill>
                  <a:srgbClr val="000000"/>
                </a:solidFill>
                <a:sym typeface="Arial" panose="020B0604020202020204" pitchFamily="34" charset="0"/>
              </a:rPr>
              <a:t>AC</a:t>
            </a:r>
            <a:endParaRPr lang="zh-CN" altLang="en-US" dirty="0"/>
          </a:p>
        </p:txBody>
      </p:sp>
      <p:sp>
        <p:nvSpPr>
          <p:cNvPr id="10247" name="Text Box 10"/>
          <p:cNvSpPr>
            <a:spLocks noChangeArrowheads="1"/>
          </p:cNvSpPr>
          <p:nvPr/>
        </p:nvSpPr>
        <p:spPr bwMode="auto">
          <a:xfrm>
            <a:off x="2182813" y="5429250"/>
            <a:ext cx="492125"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800" b="0">
                <a:solidFill>
                  <a:srgbClr val="000000"/>
                </a:solidFill>
                <a:sym typeface="Arial" panose="020B0604020202020204" pitchFamily="34" charset="0"/>
              </a:rPr>
              <a:t>O</a:t>
            </a:r>
            <a:endParaRPr lang="zh-CN" altLang="en-US"/>
          </a:p>
        </p:txBody>
      </p:sp>
      <p:sp>
        <p:nvSpPr>
          <p:cNvPr id="10248" name="Text Box 11"/>
          <p:cNvSpPr>
            <a:spLocks noChangeArrowheads="1"/>
          </p:cNvSpPr>
          <p:nvPr/>
        </p:nvSpPr>
        <p:spPr bwMode="auto">
          <a:xfrm>
            <a:off x="7107238" y="5810250"/>
            <a:ext cx="822325"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800" b="0">
                <a:solidFill>
                  <a:srgbClr val="000000"/>
                </a:solidFill>
                <a:sym typeface="Arial" panose="020B0604020202020204" pitchFamily="34" charset="0"/>
              </a:rPr>
              <a:t>Q</a:t>
            </a:r>
            <a:endParaRPr lang="zh-CN" altLang="en-US"/>
          </a:p>
        </p:txBody>
      </p:sp>
      <p:sp>
        <p:nvSpPr>
          <p:cNvPr id="10249" name="Text Box 12"/>
          <p:cNvSpPr>
            <a:spLocks noChangeArrowheads="1"/>
          </p:cNvSpPr>
          <p:nvPr/>
        </p:nvSpPr>
        <p:spPr bwMode="auto">
          <a:xfrm>
            <a:off x="1428750" y="2355850"/>
            <a:ext cx="1158875"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800" b="0">
                <a:solidFill>
                  <a:srgbClr val="000000"/>
                </a:solidFill>
                <a:sym typeface="Arial" panose="020B0604020202020204" pitchFamily="34" charset="0"/>
              </a:rPr>
              <a:t>AR,AC</a:t>
            </a:r>
            <a:endParaRPr lang="zh-CN" altLang="en-US"/>
          </a:p>
        </p:txBody>
      </p:sp>
      <p:sp>
        <p:nvSpPr>
          <p:cNvPr id="10250" name="Text Box 13"/>
          <p:cNvSpPr>
            <a:spLocks noChangeArrowheads="1"/>
          </p:cNvSpPr>
          <p:nvPr/>
        </p:nvSpPr>
        <p:spPr bwMode="auto">
          <a:xfrm>
            <a:off x="5759450" y="4557713"/>
            <a:ext cx="1190625"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800" b="0" dirty="0">
                <a:solidFill>
                  <a:srgbClr val="000000"/>
                </a:solidFill>
                <a:sym typeface="Arial" panose="020B0604020202020204" pitchFamily="34" charset="0"/>
              </a:rPr>
              <a:t>D=AR</a:t>
            </a:r>
            <a:endParaRPr lang="zh-CN" altLang="en-US" dirty="0"/>
          </a:p>
        </p:txBody>
      </p:sp>
      <p:sp>
        <p:nvSpPr>
          <p:cNvPr id="10251" name="Line 14"/>
          <p:cNvSpPr>
            <a:spLocks noChangeShapeType="1"/>
          </p:cNvSpPr>
          <p:nvPr/>
        </p:nvSpPr>
        <p:spPr bwMode="auto">
          <a:xfrm flipH="1">
            <a:off x="4367213" y="3810000"/>
            <a:ext cx="3175" cy="1912938"/>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0252" name="Text Box 15"/>
          <p:cNvSpPr>
            <a:spLocks noChangeArrowheads="1"/>
          </p:cNvSpPr>
          <p:nvPr/>
        </p:nvSpPr>
        <p:spPr bwMode="auto">
          <a:xfrm>
            <a:off x="4486275" y="3654425"/>
            <a:ext cx="504825"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800" b="0">
                <a:solidFill>
                  <a:srgbClr val="000000"/>
                </a:solidFill>
                <a:sym typeface="Arial" panose="020B0604020202020204" pitchFamily="34" charset="0"/>
              </a:rPr>
              <a:t>A</a:t>
            </a:r>
            <a:endParaRPr lang="zh-CN" altLang="en-US"/>
          </a:p>
        </p:txBody>
      </p:sp>
      <p:sp>
        <p:nvSpPr>
          <p:cNvPr id="10253" name="Line 16"/>
          <p:cNvSpPr>
            <a:spLocks noChangeShapeType="1"/>
          </p:cNvSpPr>
          <p:nvPr/>
        </p:nvSpPr>
        <p:spPr bwMode="auto">
          <a:xfrm flipH="1">
            <a:off x="2703513" y="3810000"/>
            <a:ext cx="1692275" cy="0"/>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0254" name="Text Box 17"/>
          <p:cNvSpPr>
            <a:spLocks noChangeArrowheads="1"/>
          </p:cNvSpPr>
          <p:nvPr/>
        </p:nvSpPr>
        <p:spPr bwMode="auto">
          <a:xfrm>
            <a:off x="2230438" y="3490913"/>
            <a:ext cx="700087"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800" b="0">
                <a:solidFill>
                  <a:srgbClr val="000000"/>
                </a:solidFill>
                <a:sym typeface="Arial" panose="020B0604020202020204" pitchFamily="34" charset="0"/>
              </a:rPr>
              <a:t>P*</a:t>
            </a:r>
            <a:endParaRPr lang="zh-CN" altLang="en-US"/>
          </a:p>
        </p:txBody>
      </p:sp>
      <p:sp>
        <p:nvSpPr>
          <p:cNvPr id="10255" name="Line 18"/>
          <p:cNvSpPr>
            <a:spLocks noChangeShapeType="1"/>
          </p:cNvSpPr>
          <p:nvPr/>
        </p:nvSpPr>
        <p:spPr bwMode="auto">
          <a:xfrm>
            <a:off x="3656013" y="3808413"/>
            <a:ext cx="1587" cy="1914525"/>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0256" name="Text Box 19"/>
          <p:cNvSpPr>
            <a:spLocks noChangeArrowheads="1"/>
          </p:cNvSpPr>
          <p:nvPr/>
        </p:nvSpPr>
        <p:spPr bwMode="auto">
          <a:xfrm>
            <a:off x="3159125" y="5781675"/>
            <a:ext cx="641350"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800" b="0">
                <a:solidFill>
                  <a:srgbClr val="000000"/>
                </a:solidFill>
                <a:sym typeface="Arial" panose="020B0604020202020204" pitchFamily="34" charset="0"/>
              </a:rPr>
              <a:t>Q</a:t>
            </a:r>
            <a:r>
              <a:rPr lang="zh-CN" altLang="en-US" sz="1000" b="0">
                <a:solidFill>
                  <a:srgbClr val="000000"/>
                </a:solidFill>
                <a:sym typeface="Arial" panose="020B0604020202020204" pitchFamily="34" charset="0"/>
              </a:rPr>
              <a:t>0</a:t>
            </a:r>
            <a:endParaRPr lang="zh-CN" altLang="en-US"/>
          </a:p>
        </p:txBody>
      </p:sp>
      <p:sp>
        <p:nvSpPr>
          <p:cNvPr id="10257" name="Text Box 20"/>
          <p:cNvSpPr>
            <a:spLocks noChangeArrowheads="1"/>
          </p:cNvSpPr>
          <p:nvPr/>
        </p:nvSpPr>
        <p:spPr bwMode="auto">
          <a:xfrm>
            <a:off x="4184650" y="5803900"/>
            <a:ext cx="628650"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800" b="0">
                <a:solidFill>
                  <a:srgbClr val="000000"/>
                </a:solidFill>
                <a:sym typeface="Arial" panose="020B0604020202020204" pitchFamily="34" charset="0"/>
              </a:rPr>
              <a:t>Q*</a:t>
            </a:r>
            <a:endParaRPr lang="zh-CN" altLang="en-US"/>
          </a:p>
        </p:txBody>
      </p:sp>
      <p:sp>
        <p:nvSpPr>
          <p:cNvPr id="10258" name="Line 21"/>
          <p:cNvSpPr>
            <a:spLocks noChangeShapeType="1"/>
          </p:cNvSpPr>
          <p:nvPr/>
        </p:nvSpPr>
        <p:spPr bwMode="auto">
          <a:xfrm flipH="1">
            <a:off x="2674938" y="4527550"/>
            <a:ext cx="1692275" cy="0"/>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0259" name="Text Box 22"/>
          <p:cNvSpPr>
            <a:spLocks noChangeArrowheads="1"/>
          </p:cNvSpPr>
          <p:nvPr/>
        </p:nvSpPr>
        <p:spPr bwMode="auto">
          <a:xfrm>
            <a:off x="2141538" y="4527550"/>
            <a:ext cx="511175"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800" b="0">
                <a:solidFill>
                  <a:srgbClr val="000000"/>
                </a:solidFill>
                <a:sym typeface="Arial" panose="020B0604020202020204" pitchFamily="34" charset="0"/>
              </a:rPr>
              <a:t>P</a:t>
            </a:r>
            <a:r>
              <a:rPr lang="zh-CN" altLang="en-US" sz="1000" b="0">
                <a:solidFill>
                  <a:srgbClr val="000000"/>
                </a:solidFill>
                <a:sym typeface="Arial" panose="020B0604020202020204" pitchFamily="34" charset="0"/>
              </a:rPr>
              <a:t>0</a:t>
            </a:r>
            <a:endParaRPr lang="zh-CN" altLang="en-US"/>
          </a:p>
        </p:txBody>
      </p:sp>
      <p:sp>
        <p:nvSpPr>
          <p:cNvPr id="10260" name="Rectangle 3"/>
          <p:cNvSpPr>
            <a:spLocks noChangeArrowheads="1"/>
          </p:cNvSpPr>
          <p:nvPr/>
        </p:nvSpPr>
        <p:spPr bwMode="auto">
          <a:xfrm>
            <a:off x="457200" y="1343025"/>
            <a:ext cx="8229600" cy="494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b="1">
                <a:solidFill>
                  <a:schemeClr val="tx1"/>
                </a:solidFill>
                <a:latin typeface="Arial" panose="020B0604020202020204" pitchFamily="34" charset="0"/>
                <a:ea typeface="宋体" panose="02010600030101010101" pitchFamily="2" charset="-122"/>
              </a:defRPr>
            </a:lvl1pPr>
            <a:lvl2pPr marL="342900" indent="-342900">
              <a:defRPr sz="1600" b="1">
                <a:solidFill>
                  <a:schemeClr val="tx1"/>
                </a:solidFill>
                <a:latin typeface="Arial" panose="020B0604020202020204" pitchFamily="34" charset="0"/>
                <a:ea typeface="宋体" panose="02010600030101010101" pitchFamily="2" charset="-122"/>
              </a:defRPr>
            </a:lvl2pPr>
            <a:lvl3pPr>
              <a:defRPr sz="1600" b="1">
                <a:solidFill>
                  <a:schemeClr val="tx1"/>
                </a:solidFill>
                <a:latin typeface="Arial" panose="020B0604020202020204" pitchFamily="34" charset="0"/>
                <a:ea typeface="宋体" panose="02010600030101010101" pitchFamily="2" charset="-122"/>
              </a:defRPr>
            </a:lvl3pPr>
            <a:lvl4pPr>
              <a:defRPr sz="1600" b="1">
                <a:solidFill>
                  <a:schemeClr val="tx1"/>
                </a:solidFill>
                <a:latin typeface="Arial" panose="020B0604020202020204" pitchFamily="34" charset="0"/>
                <a:ea typeface="宋体" panose="02010600030101010101" pitchFamily="2" charset="-122"/>
              </a:defRPr>
            </a:lvl4pPr>
            <a:lvl5pPr>
              <a:defRPr sz="1600" b="1">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9pPr>
          </a:lstStyle>
          <a:p>
            <a:pPr marL="457200" lvl="2" indent="-457200" defTabSz="0" eaLnBrk="1" hangingPunct="1">
              <a:spcBef>
                <a:spcPct val="20000"/>
              </a:spcBef>
              <a:buSzPct val="100000"/>
              <a:buFont typeface="Wingdings" panose="05000000000000000000" pitchFamily="2" charset="2"/>
              <a:buChar char="u"/>
            </a:pPr>
            <a:r>
              <a:rPr lang="zh-CN" altLang="en-US" sz="2200" b="0" dirty="0">
                <a:latin typeface="微软雅黑" panose="020B0503020204020204" pitchFamily="34" charset="-122"/>
                <a:ea typeface="微软雅黑" panose="020B0503020204020204" pitchFamily="34" charset="-122"/>
                <a:sym typeface="Arial" panose="020B0604020202020204" pitchFamily="34" charset="0"/>
              </a:rPr>
              <a:t>自然垄断的形成和维持</a:t>
            </a:r>
            <a:endParaRPr lang="en-US" altLang="zh-CN" sz="2200" b="0" dirty="0">
              <a:latin typeface="微软雅黑" panose="020B0503020204020204" pitchFamily="34" charset="-122"/>
              <a:ea typeface="微软雅黑" panose="020B0503020204020204" pitchFamily="34" charset="-122"/>
              <a:sym typeface="Arial" panose="020B0604020202020204" pitchFamily="34" charset="0"/>
            </a:endParaRPr>
          </a:p>
          <a:p>
            <a:pPr marL="742950" lvl="1" indent="-742950">
              <a:spcBef>
                <a:spcPct val="20000"/>
              </a:spcBef>
              <a:buFont typeface="Arial" panose="020B0604020202020204" pitchFamily="34" charset="0"/>
              <a:buChar char="–"/>
            </a:pPr>
            <a:endParaRPr lang="zh-CN" altLang="en-US" sz="2800" b="0" dirty="0">
              <a:solidFill>
                <a:srgbClr val="000000"/>
              </a:solidFill>
              <a:sym typeface="Arial" panose="020B0604020202020204" pitchFamily="34" charset="0"/>
            </a:endParaRPr>
          </a:p>
        </p:txBody>
      </p:sp>
      <p:sp>
        <p:nvSpPr>
          <p:cNvPr id="10261" name="圆角矩形标注 22"/>
          <p:cNvSpPr>
            <a:spLocks noChangeArrowheads="1"/>
          </p:cNvSpPr>
          <p:nvPr/>
        </p:nvSpPr>
        <p:spPr bwMode="auto">
          <a:xfrm>
            <a:off x="4643438" y="1573534"/>
            <a:ext cx="2428875" cy="919401"/>
          </a:xfrm>
          <a:prstGeom prst="wedgeRoundRectCallout">
            <a:avLst>
              <a:gd name="adj1" fmla="val -80514"/>
              <a:gd name="adj2" fmla="val 93579"/>
              <a:gd name="adj3" fmla="val 16667"/>
            </a:avLst>
          </a:prstGeom>
          <a:solidFill>
            <a:schemeClr val="bg1"/>
          </a:solidFill>
          <a:ln>
            <a:solidFill>
              <a:srgbClr val="C00000"/>
            </a:solidFill>
          </a:ln>
        </p:spPr>
        <p:style>
          <a:lnRef idx="3">
            <a:schemeClr val="lt1"/>
          </a:lnRef>
          <a:fillRef idx="1">
            <a:schemeClr val="accent1"/>
          </a:fillRef>
          <a:effectRef idx="1">
            <a:schemeClr val="accent1"/>
          </a:effectRef>
          <a:fontRef idx="minor">
            <a:schemeClr val="lt1"/>
          </a:fontRef>
        </p:style>
        <p:txBody>
          <a:bodyPr>
            <a:spAutoFit/>
          </a:bodyPr>
          <a:lstStyle/>
          <a:p>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AC</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代表的是所有企业中最有效率的那个企业的长期平均成本曲线</a:t>
            </a:r>
            <a:endParaRPr lang="zh-CN" altLang="en-US" b="0" dirty="0">
              <a:solidFill>
                <a:schemeClr val="tx1"/>
              </a:solidFill>
              <a:latin typeface="微软雅黑" panose="020B0503020204020204" pitchFamily="34" charset="-122"/>
              <a:ea typeface="微软雅黑" panose="020B0503020204020204" pitchFamily="34" charset="-122"/>
            </a:endParaRPr>
          </a:p>
        </p:txBody>
      </p:sp>
      <p:sp>
        <p:nvSpPr>
          <p:cNvPr id="10262" name="圆角矩形标注 23"/>
          <p:cNvSpPr>
            <a:spLocks noChangeArrowheads="1"/>
          </p:cNvSpPr>
          <p:nvPr/>
        </p:nvSpPr>
        <p:spPr bwMode="auto">
          <a:xfrm>
            <a:off x="243195" y="3091755"/>
            <a:ext cx="1871356" cy="2241590"/>
          </a:xfrm>
          <a:prstGeom prst="wedgeRoundRectCallout">
            <a:avLst>
              <a:gd name="adj1" fmla="val 44019"/>
              <a:gd name="adj2" fmla="val -16042"/>
              <a:gd name="adj3" fmla="val 16667"/>
            </a:avLst>
          </a:prstGeom>
          <a:solidFill>
            <a:schemeClr val="bg1"/>
          </a:solidFill>
          <a:ln>
            <a:solidFill>
              <a:srgbClr val="C00000"/>
            </a:solidFill>
          </a:ln>
        </p:spPr>
        <p:style>
          <a:lnRef idx="3">
            <a:schemeClr val="lt1"/>
          </a:lnRef>
          <a:fillRef idx="1">
            <a:schemeClr val="accent1"/>
          </a:fillRef>
          <a:effectRef idx="1">
            <a:schemeClr val="accent1"/>
          </a:effectRef>
          <a:fontRef idx="minor">
            <a:schemeClr val="lt1"/>
          </a:fontRef>
        </p:style>
        <p:txBody>
          <a:bodyPr wrap="square">
            <a:spAutoFit/>
          </a:bodyPr>
          <a:lstStyle/>
          <a:p>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在存在相当大的规模经济的条件下</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最有效率的企业既可以通过竞争而形成垄断</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也可以通过竞争来维持自己的垄断地位</a:t>
            </a:r>
            <a:r>
              <a:rPr lang="zh-CN" altLang="en-US" b="0" spc="30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a:t>
            </a:r>
            <a:endParaRPr lang="zh-CN" altLang="en-US" spc="300" dirty="0">
              <a:solidFill>
                <a:schemeClr val="tx1"/>
              </a:solidFill>
              <a:latin typeface="微软雅黑" panose="020B0503020204020204" pitchFamily="34" charset="-122"/>
              <a:ea typeface="微软雅黑" panose="020B0503020204020204" pitchFamily="34" charset="-122"/>
            </a:endParaRPr>
          </a:p>
        </p:txBody>
      </p:sp>
      <p:sp>
        <p:nvSpPr>
          <p:cNvPr id="10263" name="圆角矩形标注 24"/>
          <p:cNvSpPr>
            <a:spLocks noChangeArrowheads="1"/>
          </p:cNvSpPr>
          <p:nvPr/>
        </p:nvSpPr>
        <p:spPr bwMode="auto">
          <a:xfrm>
            <a:off x="6660145" y="2643188"/>
            <a:ext cx="2428875" cy="3017460"/>
          </a:xfrm>
          <a:prstGeom prst="wedgeRoundRectCallout">
            <a:avLst>
              <a:gd name="adj1" fmla="val -102826"/>
              <a:gd name="adj2" fmla="val -464"/>
              <a:gd name="adj3" fmla="val 16667"/>
            </a:avLst>
          </a:prstGeom>
          <a:solidFill>
            <a:schemeClr val="bg1"/>
          </a:solidFill>
          <a:ln>
            <a:solidFill>
              <a:srgbClr val="C00000"/>
            </a:solidFill>
          </a:ln>
        </p:spPr>
        <p:style>
          <a:lnRef idx="3">
            <a:schemeClr val="lt1"/>
          </a:lnRef>
          <a:fillRef idx="1">
            <a:schemeClr val="accent1"/>
          </a:fillRef>
          <a:effectRef idx="1">
            <a:schemeClr val="accent1"/>
          </a:effectRef>
          <a:fontRef idx="minor">
            <a:schemeClr val="lt1"/>
          </a:fontRef>
        </p:style>
        <p:txBody>
          <a:bodyPr>
            <a:spAutoFit/>
          </a:bodyPr>
          <a:lstStyle/>
          <a:p>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一旦形成垄断</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它就可以凭借垄断地位而根据利润最大化的要求来重新决定自己的产量和价格。假定市场</a:t>
            </a:r>
          </a:p>
          <a:p>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的需求曲线为</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D=AR, </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垄断企业的利润最大化状态由点</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A</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所示</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则它就可把自己的产量定在</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Q*, </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把相应的价格定在</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P*</a:t>
            </a:r>
            <a:endPar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6" name="矩形 25">
            <a:extLst>
              <a:ext uri="{FF2B5EF4-FFF2-40B4-BE49-F238E27FC236}">
                <a16:creationId xmlns:a16="http://schemas.microsoft.com/office/drawing/2014/main" id="{F68E5273-CD77-47B9-B841-9D29349C133D}"/>
              </a:ext>
            </a:extLst>
          </p:cNvPr>
          <p:cNvSpPr/>
          <p:nvPr/>
        </p:nvSpPr>
        <p:spPr>
          <a:xfrm>
            <a:off x="467544" y="548680"/>
            <a:ext cx="3781805"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一、</a:t>
            </a:r>
            <a:r>
              <a:rPr lang="zh-CN" altLang="en-US" sz="2400" spc="15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垄断的含义及其原因</a:t>
            </a:r>
            <a:endParaRPr lang="zh-CN" altLang="en-US" sz="2400" b="1" spc="150" dirty="0">
              <a:solidFill>
                <a:srgbClr val="FFFFFF"/>
              </a:solidFill>
              <a:latin typeface="微软雅黑" panose="020B0503020204020204" pitchFamily="34" charset="-122"/>
              <a:ea typeface="微软雅黑" panose="020B0503020204020204" pitchFamily="34" charset="-122"/>
            </a:endParaRPr>
          </a:p>
        </p:txBody>
      </p:sp>
      <p:sp>
        <p:nvSpPr>
          <p:cNvPr id="27" name="矩形 26"/>
          <p:cNvSpPr/>
          <p:nvPr/>
        </p:nvSpPr>
        <p:spPr>
          <a:xfrm>
            <a:off x="7505410" y="35458"/>
            <a:ext cx="1638590" cy="369332"/>
          </a:xfrm>
          <a:prstGeom prst="rect">
            <a:avLst/>
          </a:prstGeom>
        </p:spPr>
        <p:txBody>
          <a:bodyPr wrap="none">
            <a:spAutoFit/>
          </a:bodyPr>
          <a:lstStyle/>
          <a:p>
            <a:pPr algn="dist"/>
            <a:r>
              <a:rPr lang="zh-CN" altLang="en-US" sz="1800" b="0" spc="30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第一节 垄断</a:t>
            </a:r>
            <a:endParaRPr lang="zh-CN" altLang="en-US" sz="1800" b="0" spc="300" dirty="0">
              <a:solidFill>
                <a:schemeClr val="tx2"/>
              </a:solidFill>
              <a:ea typeface="黑体" panose="02010609060101010101" pitchFamily="49" charset="-122"/>
              <a:sym typeface="Arial" panose="020B0604020202020204" pitchFamily="34"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9" fill="hold" nodeType="clickEffect">
                                  <p:stCondLst>
                                    <p:cond delay="0"/>
                                  </p:stCondLst>
                                  <p:childTnLst>
                                    <p:set>
                                      <p:cBhvr>
                                        <p:cTn id="6" dur="1" fill="hold">
                                          <p:stCondLst>
                                            <p:cond delay="0"/>
                                          </p:stCondLst>
                                        </p:cTn>
                                        <p:tgtEl>
                                          <p:spTgt spid="10260">
                                            <p:txEl>
                                              <p:pRg st="0" end="0"/>
                                            </p:txEl>
                                          </p:spTgt>
                                        </p:tgtEl>
                                        <p:attrNameLst>
                                          <p:attrName>style.visibility</p:attrName>
                                        </p:attrNameLst>
                                      </p:cBhvr>
                                      <p:to>
                                        <p:strVal val="visible"/>
                                      </p:to>
                                    </p:set>
                                    <p:anim calcmode="lin" valueType="num">
                                      <p:cBhvr>
                                        <p:cTn id="7" dur="500" fill="hold"/>
                                        <p:tgtEl>
                                          <p:spTgt spid="10260">
                                            <p:txEl>
                                              <p:pRg st="0" end="0"/>
                                            </p:txEl>
                                          </p:spTgt>
                                        </p:tgtEl>
                                        <p:attrNameLst>
                                          <p:attrName>ppt_x</p:attrName>
                                        </p:attrNameLst>
                                      </p:cBhvr>
                                      <p:tavLst>
                                        <p:tav tm="0">
                                          <p:val>
                                            <p:strVal val="0-#ppt_w/2"/>
                                          </p:val>
                                        </p:tav>
                                        <p:tav tm="100000">
                                          <p:val>
                                            <p:strVal val="#ppt_x"/>
                                          </p:val>
                                        </p:tav>
                                      </p:tavLst>
                                    </p:anim>
                                    <p:anim calcmode="lin" valueType="num">
                                      <p:cBhvr>
                                        <p:cTn id="8" dur="500" fill="hold"/>
                                        <p:tgtEl>
                                          <p:spTgt spid="10260">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10249"/>
                                        </p:tgtEl>
                                        <p:attrNameLst>
                                          <p:attrName>style.visibility</p:attrName>
                                        </p:attrNameLst>
                                      </p:cBhvr>
                                      <p:to>
                                        <p:strVal val="visible"/>
                                      </p:to>
                                    </p:set>
                                    <p:animEffect>
                                      <p:cBhvr>
                                        <p:cTn id="13" dur="500"/>
                                        <p:tgtEl>
                                          <p:spTgt spid="10249"/>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10242"/>
                                        </p:tgtEl>
                                        <p:attrNameLst>
                                          <p:attrName>style.visibility</p:attrName>
                                        </p:attrNameLst>
                                      </p:cBhvr>
                                      <p:to>
                                        <p:strVal val="visible"/>
                                      </p:to>
                                    </p:set>
                                    <p:animEffect>
                                      <p:cBhvr>
                                        <p:cTn id="16" dur="500"/>
                                        <p:tgtEl>
                                          <p:spTgt spid="10242"/>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10247"/>
                                        </p:tgtEl>
                                        <p:attrNameLst>
                                          <p:attrName>style.visibility</p:attrName>
                                        </p:attrNameLst>
                                      </p:cBhvr>
                                      <p:to>
                                        <p:strVal val="visible"/>
                                      </p:to>
                                    </p:set>
                                    <p:animEffect>
                                      <p:cBhvr>
                                        <p:cTn id="19" dur="500"/>
                                        <p:tgtEl>
                                          <p:spTgt spid="10247"/>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10243"/>
                                        </p:tgtEl>
                                        <p:attrNameLst>
                                          <p:attrName>style.visibility</p:attrName>
                                        </p:attrNameLst>
                                      </p:cBhvr>
                                      <p:to>
                                        <p:strVal val="visible"/>
                                      </p:to>
                                    </p:set>
                                    <p:animEffect>
                                      <p:cBhvr>
                                        <p:cTn id="22" dur="500"/>
                                        <p:tgtEl>
                                          <p:spTgt spid="10243"/>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10248"/>
                                        </p:tgtEl>
                                        <p:attrNameLst>
                                          <p:attrName>style.visibility</p:attrName>
                                        </p:attrNameLst>
                                      </p:cBhvr>
                                      <p:to>
                                        <p:strVal val="visible"/>
                                      </p:to>
                                    </p:set>
                                    <p:animEffect>
                                      <p:cBhvr>
                                        <p:cTn id="25" dur="500"/>
                                        <p:tgtEl>
                                          <p:spTgt spid="10248"/>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10245"/>
                                        </p:tgtEl>
                                        <p:attrNameLst>
                                          <p:attrName>style.visibility</p:attrName>
                                        </p:attrNameLst>
                                      </p:cBhvr>
                                      <p:to>
                                        <p:strVal val="visible"/>
                                      </p:to>
                                    </p:set>
                                    <p:animEffect>
                                      <p:cBhvr>
                                        <p:cTn id="30" dur="500"/>
                                        <p:tgtEl>
                                          <p:spTgt spid="10245"/>
                                        </p:tgtEl>
                                      </p:cBhvr>
                                    </p:animEffect>
                                  </p:childTnLst>
                                </p:cTn>
                              </p:par>
                              <p:par>
                                <p:cTn id="31" presetID="3" presetClass="entr" presetSubtype="10" fill="hold" nodeType="withEffect">
                                  <p:stCondLst>
                                    <p:cond delay="0"/>
                                  </p:stCondLst>
                                  <p:childTnLst>
                                    <p:set>
                                      <p:cBhvr>
                                        <p:cTn id="32" dur="1" fill="hold">
                                          <p:stCondLst>
                                            <p:cond delay="0"/>
                                          </p:stCondLst>
                                        </p:cTn>
                                        <p:tgtEl>
                                          <p:spTgt spid="10246"/>
                                        </p:tgtEl>
                                        <p:attrNameLst>
                                          <p:attrName>style.visibility</p:attrName>
                                        </p:attrNameLst>
                                      </p:cBhvr>
                                      <p:to>
                                        <p:strVal val="visible"/>
                                      </p:to>
                                    </p:set>
                                    <p:animEffect>
                                      <p:cBhvr>
                                        <p:cTn id="33" dur="500"/>
                                        <p:tgtEl>
                                          <p:spTgt spid="10246"/>
                                        </p:tgtEl>
                                      </p:cBhvr>
                                    </p:animEffect>
                                  </p:childTnLst>
                                </p:cTn>
                              </p:par>
                              <p:par>
                                <p:cTn id="34" presetID="3" presetClass="entr" presetSubtype="10" fill="hold" nodeType="withEffect">
                                  <p:stCondLst>
                                    <p:cond delay="0"/>
                                  </p:stCondLst>
                                  <p:childTnLst>
                                    <p:set>
                                      <p:cBhvr>
                                        <p:cTn id="35" dur="1" fill="hold">
                                          <p:stCondLst>
                                            <p:cond delay="0"/>
                                          </p:stCondLst>
                                        </p:cTn>
                                        <p:tgtEl>
                                          <p:spTgt spid="10261"/>
                                        </p:tgtEl>
                                        <p:attrNameLst>
                                          <p:attrName>style.visibility</p:attrName>
                                        </p:attrNameLst>
                                      </p:cBhvr>
                                      <p:to>
                                        <p:strVal val="visible"/>
                                      </p:to>
                                    </p:set>
                                    <p:animEffect>
                                      <p:cBhvr>
                                        <p:cTn id="36" dur="500"/>
                                        <p:tgtEl>
                                          <p:spTgt spid="10261"/>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10244"/>
                                        </p:tgtEl>
                                        <p:attrNameLst>
                                          <p:attrName>style.visibility</p:attrName>
                                        </p:attrNameLst>
                                      </p:cBhvr>
                                      <p:to>
                                        <p:strVal val="visible"/>
                                      </p:to>
                                    </p:set>
                                    <p:animEffect>
                                      <p:cBhvr>
                                        <p:cTn id="41" dur="500"/>
                                        <p:tgtEl>
                                          <p:spTgt spid="10244"/>
                                        </p:tgtEl>
                                      </p:cBhvr>
                                    </p:animEffect>
                                  </p:childTnLst>
                                </p:cTn>
                              </p:par>
                              <p:par>
                                <p:cTn id="42" presetID="3" presetClass="entr" presetSubtype="10" fill="hold" grpId="0" nodeType="withEffect">
                                  <p:stCondLst>
                                    <p:cond delay="0"/>
                                  </p:stCondLst>
                                  <p:childTnLst>
                                    <p:set>
                                      <p:cBhvr>
                                        <p:cTn id="43" dur="1" fill="hold">
                                          <p:stCondLst>
                                            <p:cond delay="0"/>
                                          </p:stCondLst>
                                        </p:cTn>
                                        <p:tgtEl>
                                          <p:spTgt spid="10250"/>
                                        </p:tgtEl>
                                        <p:attrNameLst>
                                          <p:attrName>style.visibility</p:attrName>
                                        </p:attrNameLst>
                                      </p:cBhvr>
                                      <p:to>
                                        <p:strVal val="visible"/>
                                      </p:to>
                                    </p:set>
                                    <p:animEffect>
                                      <p:cBhvr>
                                        <p:cTn id="44" dur="500"/>
                                        <p:tgtEl>
                                          <p:spTgt spid="10250"/>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5" presetClass="entr" presetSubtype="10" fill="hold" grpId="0" nodeType="clickEffect">
                                  <p:stCondLst>
                                    <p:cond delay="0"/>
                                  </p:stCondLst>
                                  <p:childTnLst>
                                    <p:set>
                                      <p:cBhvr>
                                        <p:cTn id="48" dur="1" fill="hold">
                                          <p:stCondLst>
                                            <p:cond delay="0"/>
                                          </p:stCondLst>
                                        </p:cTn>
                                        <p:tgtEl>
                                          <p:spTgt spid="10254"/>
                                        </p:tgtEl>
                                        <p:attrNameLst>
                                          <p:attrName>style.visibility</p:attrName>
                                        </p:attrNameLst>
                                      </p:cBhvr>
                                      <p:to>
                                        <p:strVal val="visible"/>
                                      </p:to>
                                    </p:set>
                                    <p:animEffect>
                                      <p:cBhvr>
                                        <p:cTn id="49" dur="500"/>
                                        <p:tgtEl>
                                          <p:spTgt spid="10254"/>
                                        </p:tgtEl>
                                      </p:cBhvr>
                                    </p:animEffect>
                                  </p:childTnLst>
                                </p:cTn>
                              </p:par>
                              <p:par>
                                <p:cTn id="50" presetID="3" presetClass="entr" presetSubtype="10" fill="hold" grpId="0" nodeType="withEffect">
                                  <p:stCondLst>
                                    <p:cond delay="0"/>
                                  </p:stCondLst>
                                  <p:childTnLst>
                                    <p:set>
                                      <p:cBhvr>
                                        <p:cTn id="51" dur="1" fill="hold">
                                          <p:stCondLst>
                                            <p:cond delay="0"/>
                                          </p:stCondLst>
                                        </p:cTn>
                                        <p:tgtEl>
                                          <p:spTgt spid="10263"/>
                                        </p:tgtEl>
                                        <p:attrNameLst>
                                          <p:attrName>style.visibility</p:attrName>
                                        </p:attrNameLst>
                                      </p:cBhvr>
                                      <p:to>
                                        <p:strVal val="visible"/>
                                      </p:to>
                                    </p:set>
                                    <p:animEffect>
                                      <p:cBhvr>
                                        <p:cTn id="52" dur="500"/>
                                        <p:tgtEl>
                                          <p:spTgt spid="10263"/>
                                        </p:tgtEl>
                                      </p:cBhvr>
                                    </p:animEffect>
                                  </p:childTnLst>
                                </p:cTn>
                              </p:par>
                              <p:par>
                                <p:cTn id="53" presetID="5" presetClass="entr" presetSubtype="10" fill="hold" grpId="0" nodeType="withEffect">
                                  <p:stCondLst>
                                    <p:cond delay="0"/>
                                  </p:stCondLst>
                                  <p:childTnLst>
                                    <p:set>
                                      <p:cBhvr>
                                        <p:cTn id="54" dur="1" fill="hold">
                                          <p:stCondLst>
                                            <p:cond delay="0"/>
                                          </p:stCondLst>
                                        </p:cTn>
                                        <p:tgtEl>
                                          <p:spTgt spid="10253"/>
                                        </p:tgtEl>
                                        <p:attrNameLst>
                                          <p:attrName>style.visibility</p:attrName>
                                        </p:attrNameLst>
                                      </p:cBhvr>
                                      <p:to>
                                        <p:strVal val="visible"/>
                                      </p:to>
                                    </p:set>
                                    <p:animEffect>
                                      <p:cBhvr>
                                        <p:cTn id="55" dur="500"/>
                                        <p:tgtEl>
                                          <p:spTgt spid="10253"/>
                                        </p:tgtEl>
                                      </p:cBhvr>
                                    </p:animEffect>
                                  </p:childTnLst>
                                </p:cTn>
                              </p:par>
                              <p:par>
                                <p:cTn id="56" presetID="5" presetClass="entr" presetSubtype="10" fill="hold" grpId="0" nodeType="withEffect">
                                  <p:stCondLst>
                                    <p:cond delay="0"/>
                                  </p:stCondLst>
                                  <p:childTnLst>
                                    <p:set>
                                      <p:cBhvr>
                                        <p:cTn id="57" dur="1" fill="hold">
                                          <p:stCondLst>
                                            <p:cond delay="0"/>
                                          </p:stCondLst>
                                        </p:cTn>
                                        <p:tgtEl>
                                          <p:spTgt spid="10252"/>
                                        </p:tgtEl>
                                        <p:attrNameLst>
                                          <p:attrName>style.visibility</p:attrName>
                                        </p:attrNameLst>
                                      </p:cBhvr>
                                      <p:to>
                                        <p:strVal val="visible"/>
                                      </p:to>
                                    </p:set>
                                    <p:animEffect>
                                      <p:cBhvr>
                                        <p:cTn id="58" dur="500"/>
                                        <p:tgtEl>
                                          <p:spTgt spid="10252"/>
                                        </p:tgtEl>
                                      </p:cBhvr>
                                    </p:animEffect>
                                  </p:childTnLst>
                                </p:cTn>
                              </p:par>
                              <p:par>
                                <p:cTn id="59" presetID="5" presetClass="entr" presetSubtype="10" fill="hold" grpId="0" nodeType="withEffect">
                                  <p:stCondLst>
                                    <p:cond delay="0"/>
                                  </p:stCondLst>
                                  <p:childTnLst>
                                    <p:set>
                                      <p:cBhvr>
                                        <p:cTn id="60" dur="1" fill="hold">
                                          <p:stCondLst>
                                            <p:cond delay="0"/>
                                          </p:stCondLst>
                                        </p:cTn>
                                        <p:tgtEl>
                                          <p:spTgt spid="10251"/>
                                        </p:tgtEl>
                                        <p:attrNameLst>
                                          <p:attrName>style.visibility</p:attrName>
                                        </p:attrNameLst>
                                      </p:cBhvr>
                                      <p:to>
                                        <p:strVal val="visible"/>
                                      </p:to>
                                    </p:set>
                                    <p:animEffect>
                                      <p:cBhvr>
                                        <p:cTn id="61" dur="500"/>
                                        <p:tgtEl>
                                          <p:spTgt spid="10251"/>
                                        </p:tgtEl>
                                      </p:cBhvr>
                                    </p:animEffect>
                                  </p:childTnLst>
                                </p:cTn>
                              </p:par>
                              <p:par>
                                <p:cTn id="62" presetID="5" presetClass="entr" presetSubtype="10" fill="hold" grpId="0" nodeType="withEffect">
                                  <p:stCondLst>
                                    <p:cond delay="0"/>
                                  </p:stCondLst>
                                  <p:childTnLst>
                                    <p:set>
                                      <p:cBhvr>
                                        <p:cTn id="63" dur="1" fill="hold">
                                          <p:stCondLst>
                                            <p:cond delay="0"/>
                                          </p:stCondLst>
                                        </p:cTn>
                                        <p:tgtEl>
                                          <p:spTgt spid="10257"/>
                                        </p:tgtEl>
                                        <p:attrNameLst>
                                          <p:attrName>style.visibility</p:attrName>
                                        </p:attrNameLst>
                                      </p:cBhvr>
                                      <p:to>
                                        <p:strVal val="visible"/>
                                      </p:to>
                                    </p:set>
                                    <p:animEffect>
                                      <p:cBhvr>
                                        <p:cTn id="64" dur="500"/>
                                        <p:tgtEl>
                                          <p:spTgt spid="10257"/>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3" presetClass="entr" presetSubtype="10" fill="hold" grpId="0" nodeType="clickEffect">
                                  <p:stCondLst>
                                    <p:cond delay="0"/>
                                  </p:stCondLst>
                                  <p:childTnLst>
                                    <p:set>
                                      <p:cBhvr>
                                        <p:cTn id="68" dur="1" fill="hold">
                                          <p:stCondLst>
                                            <p:cond delay="0"/>
                                          </p:stCondLst>
                                        </p:cTn>
                                        <p:tgtEl>
                                          <p:spTgt spid="10256"/>
                                        </p:tgtEl>
                                        <p:attrNameLst>
                                          <p:attrName>style.visibility</p:attrName>
                                        </p:attrNameLst>
                                      </p:cBhvr>
                                      <p:to>
                                        <p:strVal val="visible"/>
                                      </p:to>
                                    </p:set>
                                    <p:animEffect>
                                      <p:cBhvr>
                                        <p:cTn id="69" dur="500"/>
                                        <p:tgtEl>
                                          <p:spTgt spid="10256"/>
                                        </p:tgtEl>
                                      </p:cBhvr>
                                    </p:animEffect>
                                  </p:childTnLst>
                                </p:cTn>
                              </p:par>
                              <p:par>
                                <p:cTn id="70" presetID="3" presetClass="entr" presetSubtype="10" fill="hold" grpId="0" nodeType="withEffect">
                                  <p:stCondLst>
                                    <p:cond delay="0"/>
                                  </p:stCondLst>
                                  <p:childTnLst>
                                    <p:set>
                                      <p:cBhvr>
                                        <p:cTn id="71" dur="1" fill="hold">
                                          <p:stCondLst>
                                            <p:cond delay="0"/>
                                          </p:stCondLst>
                                        </p:cTn>
                                        <p:tgtEl>
                                          <p:spTgt spid="10255"/>
                                        </p:tgtEl>
                                        <p:attrNameLst>
                                          <p:attrName>style.visibility</p:attrName>
                                        </p:attrNameLst>
                                      </p:cBhvr>
                                      <p:to>
                                        <p:strVal val="visible"/>
                                      </p:to>
                                    </p:set>
                                    <p:animEffect>
                                      <p:cBhvr>
                                        <p:cTn id="72" dur="500"/>
                                        <p:tgtEl>
                                          <p:spTgt spid="10255"/>
                                        </p:tgtEl>
                                      </p:cBhvr>
                                    </p:animEffect>
                                  </p:childTnLst>
                                </p:cTn>
                              </p:par>
                              <p:par>
                                <p:cTn id="73" presetID="3" presetClass="entr" presetSubtype="10" fill="hold" grpId="0" nodeType="withEffect">
                                  <p:stCondLst>
                                    <p:cond delay="0"/>
                                  </p:stCondLst>
                                  <p:childTnLst>
                                    <p:set>
                                      <p:cBhvr>
                                        <p:cTn id="74" dur="1" fill="hold">
                                          <p:stCondLst>
                                            <p:cond delay="0"/>
                                          </p:stCondLst>
                                        </p:cTn>
                                        <p:tgtEl>
                                          <p:spTgt spid="10259"/>
                                        </p:tgtEl>
                                        <p:attrNameLst>
                                          <p:attrName>style.visibility</p:attrName>
                                        </p:attrNameLst>
                                      </p:cBhvr>
                                      <p:to>
                                        <p:strVal val="visible"/>
                                      </p:to>
                                    </p:set>
                                    <p:animEffect>
                                      <p:cBhvr>
                                        <p:cTn id="75" dur="500"/>
                                        <p:tgtEl>
                                          <p:spTgt spid="10259"/>
                                        </p:tgtEl>
                                      </p:cBhvr>
                                    </p:animEffect>
                                  </p:childTnLst>
                                </p:cTn>
                              </p:par>
                              <p:par>
                                <p:cTn id="76" presetID="3" presetClass="entr" presetSubtype="10" fill="hold" grpId="0" nodeType="withEffect">
                                  <p:stCondLst>
                                    <p:cond delay="0"/>
                                  </p:stCondLst>
                                  <p:childTnLst>
                                    <p:set>
                                      <p:cBhvr>
                                        <p:cTn id="77" dur="1" fill="hold">
                                          <p:stCondLst>
                                            <p:cond delay="0"/>
                                          </p:stCondLst>
                                        </p:cTn>
                                        <p:tgtEl>
                                          <p:spTgt spid="10258"/>
                                        </p:tgtEl>
                                        <p:attrNameLst>
                                          <p:attrName>style.visibility</p:attrName>
                                        </p:attrNameLst>
                                      </p:cBhvr>
                                      <p:to>
                                        <p:strVal val="visible"/>
                                      </p:to>
                                    </p:set>
                                    <p:animEffect>
                                      <p:cBhvr>
                                        <p:cTn id="78" dur="500"/>
                                        <p:tgtEl>
                                          <p:spTgt spid="10258"/>
                                        </p:tgtEl>
                                      </p:cBhvr>
                                    </p:animEffect>
                                  </p:childTnLst>
                                </p:cTn>
                              </p:par>
                            </p:childTnLst>
                          </p:cTn>
                        </p:par>
                      </p:childTnLst>
                    </p:cTn>
                  </p:par>
                  <p:par>
                    <p:cTn id="79" fill="hold">
                      <p:stCondLst>
                        <p:cond delay="indefinite"/>
                      </p:stCondLst>
                      <p:childTnLst>
                        <p:par>
                          <p:cTn id="80" fill="hold">
                            <p:stCondLst>
                              <p:cond delay="0"/>
                            </p:stCondLst>
                            <p:childTnLst>
                              <p:par>
                                <p:cTn id="81" presetID="3" presetClass="entr" presetSubtype="10" fill="hold" grpId="0" nodeType="clickEffect">
                                  <p:stCondLst>
                                    <p:cond delay="0"/>
                                  </p:stCondLst>
                                  <p:childTnLst>
                                    <p:set>
                                      <p:cBhvr>
                                        <p:cTn id="82" dur="1" fill="hold">
                                          <p:stCondLst>
                                            <p:cond delay="0"/>
                                          </p:stCondLst>
                                        </p:cTn>
                                        <p:tgtEl>
                                          <p:spTgt spid="10262"/>
                                        </p:tgtEl>
                                        <p:attrNameLst>
                                          <p:attrName>style.visibility</p:attrName>
                                        </p:attrNameLst>
                                      </p:cBhvr>
                                      <p:to>
                                        <p:strVal val="visible"/>
                                      </p:to>
                                    </p:set>
                                    <p:animEffect>
                                      <p:cBhvr>
                                        <p:cTn id="83" dur="500"/>
                                        <p:tgtEl>
                                          <p:spTgt spid="102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2" grpId="0" bldLvl="0" animBg="1" autoUpdateAnimBg="0"/>
      <p:bldP spid="10243" grpId="0" bldLvl="0" animBg="1" autoUpdateAnimBg="0"/>
      <p:bldP spid="10244" grpId="0" bldLvl="0" animBg="1" autoUpdateAnimBg="0"/>
      <p:bldP spid="10245" grpId="0" bldLvl="0" animBg="1" autoUpdateAnimBg="0"/>
      <p:bldP spid="10247" grpId="0" bldLvl="0" autoUpdateAnimBg="0"/>
      <p:bldP spid="10248" grpId="0" bldLvl="0" autoUpdateAnimBg="0"/>
      <p:bldP spid="10249" grpId="0" bldLvl="0" autoUpdateAnimBg="0"/>
      <p:bldP spid="10250" grpId="0" bldLvl="0" autoUpdateAnimBg="0"/>
      <p:bldP spid="10251" grpId="0" bldLvl="0" animBg="1" autoUpdateAnimBg="0"/>
      <p:bldP spid="10252" grpId="0" bldLvl="0" autoUpdateAnimBg="0"/>
      <p:bldP spid="10253" grpId="0" bldLvl="0" animBg="1" autoUpdateAnimBg="0"/>
      <p:bldP spid="10254" grpId="0" bldLvl="0" autoUpdateAnimBg="0"/>
      <p:bldP spid="10255" grpId="0" bldLvl="0" animBg="1" autoUpdateAnimBg="0"/>
      <p:bldP spid="10256" grpId="0" bldLvl="0" autoUpdateAnimBg="0"/>
      <p:bldP spid="10257" grpId="0" bldLvl="0" autoUpdateAnimBg="0"/>
      <p:bldP spid="10258" grpId="0" bldLvl="0" animBg="1" autoUpdateAnimBg="0"/>
      <p:bldP spid="10259" grpId="0" bldLvl="0" autoUpdateAnimBg="0"/>
      <p:bldP spid="10262" grpId="0" bldLvl="0" animBg="1" autoUpdateAnimBg="0"/>
      <p:bldP spid="10263" grpId="0" bldLvl="0" animBg="1"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3"/>
          <p:cNvSpPr>
            <a:spLocks noGrp="1" noChangeArrowheads="1"/>
          </p:cNvSpPr>
          <p:nvPr>
            <p:ph type="body" idx="4294967295"/>
          </p:nvPr>
        </p:nvSpPr>
        <p:spPr>
          <a:xfrm>
            <a:off x="1115586" y="1340855"/>
            <a:ext cx="8229600" cy="4929188"/>
          </a:xfrm>
          <a:ln/>
        </p:spPr>
        <p:txBody>
          <a:bodyPr/>
          <a:lstStyle/>
          <a:p>
            <a:pPr marL="457200" lvl="2" indent="-457200" eaLnBrk="1" hangingPunct="1">
              <a:buSzPct val="100000"/>
              <a:buFont typeface="Wingdings" panose="05000000000000000000" pitchFamily="2" charset="2"/>
              <a:buChar char="u"/>
            </a:pPr>
            <a:r>
              <a:rPr lang="zh-CN" altLang="en-US" sz="2200" b="0" dirty="0">
                <a:latin typeface="微软雅黑" panose="020B0503020204020204" pitchFamily="34" charset="-122"/>
                <a:ea typeface="微软雅黑" panose="020B0503020204020204" pitchFamily="34" charset="-122"/>
              </a:rPr>
              <a:t>垄断企业的需求函数</a:t>
            </a:r>
            <a:endParaRPr lang="en-US" altLang="zh-CN" sz="2200" b="0" dirty="0">
              <a:latin typeface="微软雅黑" panose="020B0503020204020204" pitchFamily="34" charset="-122"/>
              <a:ea typeface="微软雅黑" panose="020B0503020204020204" pitchFamily="34" charset="-122"/>
            </a:endParaRPr>
          </a:p>
          <a:p>
            <a:pPr marL="342900" lvl="2" indent="-342900" eaLnBrk="1" hangingPunct="1"/>
            <a:endParaRPr lang="zh-CN" altLang="en-US" sz="2800" dirty="0">
              <a:solidFill>
                <a:srgbClr val="CC0000"/>
              </a:solidFill>
            </a:endParaRPr>
          </a:p>
          <a:p>
            <a:pPr marL="457200" lvl="2" indent="-457200" eaLnBrk="1" hangingPunct="1">
              <a:lnSpc>
                <a:spcPct val="150000"/>
              </a:lnSpc>
              <a:buSzPct val="100000"/>
              <a:buFont typeface="Wingdings" panose="05000000000000000000" pitchFamily="2" charset="2"/>
              <a:buChar char="u"/>
            </a:pPr>
            <a:r>
              <a:rPr lang="zh-CN" altLang="en-US" sz="2200" b="0" dirty="0">
                <a:latin typeface="微软雅黑" panose="020B0503020204020204" pitchFamily="34" charset="-122"/>
                <a:ea typeface="微软雅黑" panose="020B0503020204020204" pitchFamily="34" charset="-122"/>
              </a:rPr>
              <a:t>垄断企业的收益函数</a:t>
            </a:r>
            <a:endParaRPr lang="en-US" altLang="zh-CN" sz="2200" b="0" dirty="0">
              <a:latin typeface="微软雅黑" panose="020B0503020204020204" pitchFamily="34" charset="-122"/>
              <a:ea typeface="微软雅黑" panose="020B0503020204020204" pitchFamily="34" charset="-122"/>
            </a:endParaRPr>
          </a:p>
          <a:p>
            <a:pPr marL="742950" lvl="2" indent="-342900" eaLnBrk="1" hangingPunct="1">
              <a:lnSpc>
                <a:spcPct val="150000"/>
              </a:lnSpc>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rPr>
              <a:t>总收益</a:t>
            </a:r>
            <a:endParaRPr lang="en-US" altLang="zh-CN" sz="2000" b="0" dirty="0">
              <a:latin typeface="微软雅黑" panose="020B0503020204020204" pitchFamily="34" charset="-122"/>
              <a:ea typeface="微软雅黑" panose="020B0503020204020204" pitchFamily="34" charset="-122"/>
            </a:endParaRPr>
          </a:p>
          <a:p>
            <a:pPr lvl="3" eaLnBrk="1" hangingPunct="1"/>
            <a:endParaRPr lang="zh-CN" altLang="en-US" sz="2400" dirty="0"/>
          </a:p>
          <a:p>
            <a:pPr marL="742950" lvl="2" indent="-342900" eaLnBrk="1" hangingPunct="1">
              <a:lnSpc>
                <a:spcPct val="150000"/>
              </a:lnSpc>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rPr>
              <a:t>平均收益</a:t>
            </a:r>
            <a:endParaRPr lang="en-US" altLang="zh-CN" sz="2000" b="0" dirty="0">
              <a:latin typeface="微软雅黑" panose="020B0503020204020204" pitchFamily="34" charset="-122"/>
              <a:ea typeface="微软雅黑" panose="020B0503020204020204" pitchFamily="34" charset="-122"/>
            </a:endParaRPr>
          </a:p>
          <a:p>
            <a:pPr lvl="3" eaLnBrk="1" hangingPunct="1"/>
            <a:endParaRPr lang="zh-CN" altLang="en-US" sz="2400" dirty="0"/>
          </a:p>
          <a:p>
            <a:pPr marL="742950" lvl="2" indent="-342900" eaLnBrk="1" hangingPunct="1">
              <a:lnSpc>
                <a:spcPct val="150000"/>
              </a:lnSpc>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rPr>
              <a:t>边际收益</a:t>
            </a:r>
            <a:endParaRPr lang="en-US" altLang="zh-CN" sz="2000" b="0" dirty="0">
              <a:latin typeface="微软雅黑" panose="020B0503020204020204" pitchFamily="34" charset="-122"/>
              <a:ea typeface="微软雅黑" panose="020B0503020204020204" pitchFamily="34" charset="-122"/>
            </a:endParaRPr>
          </a:p>
          <a:p>
            <a:pPr marL="342900" lvl="2" indent="-342900" eaLnBrk="1" hangingPunct="1"/>
            <a:endParaRPr lang="zh-CN" altLang="en-US" dirty="0"/>
          </a:p>
        </p:txBody>
      </p:sp>
      <p:pic>
        <p:nvPicPr>
          <p:cNvPr id="11267"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86125" y="1916895"/>
            <a:ext cx="1643063"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8"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75025" y="3307582"/>
            <a:ext cx="17684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9" name="Picture 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57563" y="5340480"/>
            <a:ext cx="1785937" cy="373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70" name="Picture 8"/>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357563" y="4436840"/>
            <a:ext cx="1643062" cy="382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矩形 8">
            <a:extLst>
              <a:ext uri="{FF2B5EF4-FFF2-40B4-BE49-F238E27FC236}">
                <a16:creationId xmlns:a16="http://schemas.microsoft.com/office/drawing/2014/main" id="{F68E5273-CD77-47B9-B841-9D29349C133D}"/>
              </a:ext>
            </a:extLst>
          </p:cNvPr>
          <p:cNvSpPr/>
          <p:nvPr/>
        </p:nvSpPr>
        <p:spPr>
          <a:xfrm>
            <a:off x="467544" y="548680"/>
            <a:ext cx="4762842"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spc="150" dirty="0">
                <a:solidFill>
                  <a:srgbClr val="FFFFFF"/>
                </a:solidFill>
                <a:latin typeface="微软雅黑" panose="020B0503020204020204" pitchFamily="34" charset="-122"/>
                <a:ea typeface="微软雅黑" panose="020B0503020204020204" pitchFamily="34" charset="-122"/>
              </a:rPr>
              <a:t>二</a:t>
            </a:r>
            <a:r>
              <a:rPr lang="zh-CN" altLang="en-US" sz="2400" b="1" spc="150" dirty="0">
                <a:solidFill>
                  <a:srgbClr val="FFFFFF"/>
                </a:solidFill>
                <a:latin typeface="微软雅黑" panose="020B0503020204020204" pitchFamily="34" charset="-122"/>
                <a:ea typeface="微软雅黑" panose="020B0503020204020204" pitchFamily="34" charset="-122"/>
              </a:rPr>
              <a:t>、</a:t>
            </a:r>
            <a:r>
              <a:rPr lang="zh-CN" altLang="en-US" sz="2400" spc="15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垄断企业的需求曲线和收益</a:t>
            </a:r>
            <a:endParaRPr lang="zh-CN" altLang="en-US" sz="2400" b="1" spc="150" dirty="0">
              <a:solidFill>
                <a:srgbClr val="FFFFFF"/>
              </a:solidFill>
              <a:latin typeface="微软雅黑" panose="020B0503020204020204" pitchFamily="34" charset="-122"/>
              <a:ea typeface="微软雅黑" panose="020B0503020204020204" pitchFamily="34" charset="-122"/>
            </a:endParaRPr>
          </a:p>
        </p:txBody>
      </p:sp>
      <p:sp>
        <p:nvSpPr>
          <p:cNvPr id="10" name="矩形 9"/>
          <p:cNvSpPr/>
          <p:nvPr/>
        </p:nvSpPr>
        <p:spPr>
          <a:xfrm>
            <a:off x="7505410" y="35458"/>
            <a:ext cx="1638590" cy="369332"/>
          </a:xfrm>
          <a:prstGeom prst="rect">
            <a:avLst/>
          </a:prstGeom>
        </p:spPr>
        <p:txBody>
          <a:bodyPr wrap="none">
            <a:spAutoFit/>
          </a:bodyPr>
          <a:lstStyle/>
          <a:p>
            <a:pPr algn="dist"/>
            <a:r>
              <a:rPr lang="zh-CN" altLang="en-US" sz="1800" b="0" spc="30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第一节 垄断</a:t>
            </a:r>
            <a:endParaRPr lang="zh-CN" altLang="en-US" sz="1800" b="0" spc="300" dirty="0">
              <a:solidFill>
                <a:schemeClr val="tx2"/>
              </a:solidFill>
              <a:ea typeface="黑体" panose="02010609060101010101" pitchFamily="49" charset="-122"/>
              <a:sym typeface="Arial" panose="020B0604020202020204" pitchFamily="34" charset="0"/>
            </a:endParaRPr>
          </a:p>
        </p:txBody>
      </p:sp>
      <p:pic>
        <p:nvPicPr>
          <p:cNvPr id="3" name="图片 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429303" y="1234669"/>
            <a:ext cx="3182364" cy="4243151"/>
          </a:xfrm>
          <a:prstGeom prst="rect">
            <a:avLst/>
          </a:prstGeom>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1266">
                                            <p:txEl>
                                              <p:pRg st="0" end="0"/>
                                            </p:txEl>
                                          </p:spTgt>
                                        </p:tgtEl>
                                        <p:attrNameLst>
                                          <p:attrName>style.visibility</p:attrName>
                                        </p:attrNameLst>
                                      </p:cBhvr>
                                      <p:to>
                                        <p:strVal val="visible"/>
                                      </p:to>
                                    </p:set>
                                    <p:animEffect>
                                      <p:cBhvr>
                                        <p:cTn id="12" dur="500"/>
                                        <p:tgtEl>
                                          <p:spTgt spid="11266">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1267"/>
                                        </p:tgtEl>
                                        <p:attrNameLst>
                                          <p:attrName>style.visibility</p:attrName>
                                        </p:attrNameLst>
                                      </p:cBhvr>
                                      <p:to>
                                        <p:strVal val="visible"/>
                                      </p:to>
                                    </p:set>
                                    <p:animEffect>
                                      <p:cBhvr>
                                        <p:cTn id="17" dur="500"/>
                                        <p:tgtEl>
                                          <p:spTgt spid="1126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1266">
                                            <p:txEl>
                                              <p:pRg st="2" end="2"/>
                                            </p:txEl>
                                          </p:spTgt>
                                        </p:tgtEl>
                                        <p:attrNameLst>
                                          <p:attrName>style.visibility</p:attrName>
                                        </p:attrNameLst>
                                      </p:cBhvr>
                                      <p:to>
                                        <p:strVal val="visible"/>
                                      </p:to>
                                    </p:set>
                                    <p:animEffect>
                                      <p:cBhvr>
                                        <p:cTn id="22" dur="500"/>
                                        <p:tgtEl>
                                          <p:spTgt spid="11266">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11266">
                                            <p:txEl>
                                              <p:pRg st="3" end="3"/>
                                            </p:txEl>
                                          </p:spTgt>
                                        </p:tgtEl>
                                        <p:attrNameLst>
                                          <p:attrName>style.visibility</p:attrName>
                                        </p:attrNameLst>
                                      </p:cBhvr>
                                      <p:to>
                                        <p:strVal val="visible"/>
                                      </p:to>
                                    </p:set>
                                    <p:animEffect>
                                      <p:cBhvr>
                                        <p:cTn id="27" dur="500"/>
                                        <p:tgtEl>
                                          <p:spTgt spid="11266">
                                            <p:txEl>
                                              <p:pRg st="3" end="3"/>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11268"/>
                                        </p:tgtEl>
                                        <p:attrNameLst>
                                          <p:attrName>style.visibility</p:attrName>
                                        </p:attrNameLst>
                                      </p:cBhvr>
                                      <p:to>
                                        <p:strVal val="visible"/>
                                      </p:to>
                                    </p:set>
                                    <p:animEffect>
                                      <p:cBhvr>
                                        <p:cTn id="30" dur="500"/>
                                        <p:tgtEl>
                                          <p:spTgt spid="11268"/>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nodeType="clickEffect">
                                  <p:stCondLst>
                                    <p:cond delay="0"/>
                                  </p:stCondLst>
                                  <p:childTnLst>
                                    <p:set>
                                      <p:cBhvr>
                                        <p:cTn id="34" dur="1" fill="hold">
                                          <p:stCondLst>
                                            <p:cond delay="0"/>
                                          </p:stCondLst>
                                        </p:cTn>
                                        <p:tgtEl>
                                          <p:spTgt spid="11266">
                                            <p:txEl>
                                              <p:pRg st="5" end="5"/>
                                            </p:txEl>
                                          </p:spTgt>
                                        </p:tgtEl>
                                        <p:attrNameLst>
                                          <p:attrName>style.visibility</p:attrName>
                                        </p:attrNameLst>
                                      </p:cBhvr>
                                      <p:to>
                                        <p:strVal val="visible"/>
                                      </p:to>
                                    </p:set>
                                    <p:animEffect>
                                      <p:cBhvr>
                                        <p:cTn id="35" dur="500"/>
                                        <p:tgtEl>
                                          <p:spTgt spid="11266">
                                            <p:txEl>
                                              <p:pRg st="5" end="5"/>
                                            </p:txEl>
                                          </p:spTgt>
                                        </p:tgtEl>
                                      </p:cBhvr>
                                    </p:animEffect>
                                  </p:childTnLst>
                                </p:cTn>
                              </p:par>
                              <p:par>
                                <p:cTn id="36" presetID="3" presetClass="entr" presetSubtype="10" fill="hold" nodeType="withEffect">
                                  <p:stCondLst>
                                    <p:cond delay="0"/>
                                  </p:stCondLst>
                                  <p:childTnLst>
                                    <p:set>
                                      <p:cBhvr>
                                        <p:cTn id="37" dur="1" fill="hold">
                                          <p:stCondLst>
                                            <p:cond delay="0"/>
                                          </p:stCondLst>
                                        </p:cTn>
                                        <p:tgtEl>
                                          <p:spTgt spid="11270"/>
                                        </p:tgtEl>
                                        <p:attrNameLst>
                                          <p:attrName>style.visibility</p:attrName>
                                        </p:attrNameLst>
                                      </p:cBhvr>
                                      <p:to>
                                        <p:strVal val="visible"/>
                                      </p:to>
                                    </p:set>
                                    <p:animEffect>
                                      <p:cBhvr>
                                        <p:cTn id="38" dur="500"/>
                                        <p:tgtEl>
                                          <p:spTgt spid="11270"/>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3" presetClass="entr" presetSubtype="10" fill="hold" nodeType="clickEffect">
                                  <p:stCondLst>
                                    <p:cond delay="0"/>
                                  </p:stCondLst>
                                  <p:childTnLst>
                                    <p:set>
                                      <p:cBhvr>
                                        <p:cTn id="42" dur="1" fill="hold">
                                          <p:stCondLst>
                                            <p:cond delay="0"/>
                                          </p:stCondLst>
                                        </p:cTn>
                                        <p:tgtEl>
                                          <p:spTgt spid="11266">
                                            <p:txEl>
                                              <p:pRg st="7" end="7"/>
                                            </p:txEl>
                                          </p:spTgt>
                                        </p:tgtEl>
                                        <p:attrNameLst>
                                          <p:attrName>style.visibility</p:attrName>
                                        </p:attrNameLst>
                                      </p:cBhvr>
                                      <p:to>
                                        <p:strVal val="visible"/>
                                      </p:to>
                                    </p:set>
                                    <p:animEffect>
                                      <p:cBhvr>
                                        <p:cTn id="43" dur="500"/>
                                        <p:tgtEl>
                                          <p:spTgt spid="11266">
                                            <p:txEl>
                                              <p:pRg st="7" end="7"/>
                                            </p:txEl>
                                          </p:spTgt>
                                        </p:tgtEl>
                                      </p:cBhvr>
                                    </p:animEffect>
                                  </p:childTnLst>
                                </p:cTn>
                              </p:par>
                              <p:par>
                                <p:cTn id="44" presetID="3" presetClass="entr" presetSubtype="10" fill="hold" nodeType="withEffect">
                                  <p:stCondLst>
                                    <p:cond delay="0"/>
                                  </p:stCondLst>
                                  <p:childTnLst>
                                    <p:set>
                                      <p:cBhvr>
                                        <p:cTn id="45" dur="1" fill="hold">
                                          <p:stCondLst>
                                            <p:cond delay="0"/>
                                          </p:stCondLst>
                                        </p:cTn>
                                        <p:tgtEl>
                                          <p:spTgt spid="11269"/>
                                        </p:tgtEl>
                                        <p:attrNameLst>
                                          <p:attrName>style.visibility</p:attrName>
                                        </p:attrNameLst>
                                      </p:cBhvr>
                                      <p:to>
                                        <p:strVal val="visible"/>
                                      </p:to>
                                    </p:set>
                                    <p:animEffect>
                                      <p:cBhvr>
                                        <p:cTn id="46" dur="500"/>
                                        <p:tgtEl>
                                          <p:spTgt spid="112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Text Box 7"/>
          <p:cNvSpPr>
            <a:spLocks noChangeArrowheads="1"/>
          </p:cNvSpPr>
          <p:nvPr/>
        </p:nvSpPr>
        <p:spPr bwMode="auto">
          <a:xfrm>
            <a:off x="7538730" y="5498073"/>
            <a:ext cx="782637" cy="271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800" b="0">
                <a:solidFill>
                  <a:srgbClr val="000000"/>
                </a:solidFill>
                <a:sym typeface="Arial" panose="020B0604020202020204" pitchFamily="34" charset="0"/>
              </a:rPr>
              <a:t>Q</a:t>
            </a:r>
            <a:endParaRPr lang="zh-CN" altLang="en-US"/>
          </a:p>
        </p:txBody>
      </p:sp>
      <p:sp>
        <p:nvSpPr>
          <p:cNvPr id="12292" name="Text Box 12"/>
          <p:cNvSpPr>
            <a:spLocks noChangeArrowheads="1"/>
          </p:cNvSpPr>
          <p:nvPr/>
        </p:nvSpPr>
        <p:spPr bwMode="auto">
          <a:xfrm>
            <a:off x="6667192" y="5513948"/>
            <a:ext cx="550863" cy="319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α/β</a:t>
            </a:r>
            <a:endParaRPr lang="zh-CN" altLang="en-US"/>
          </a:p>
        </p:txBody>
      </p:sp>
      <p:sp>
        <p:nvSpPr>
          <p:cNvPr id="12293" name="Text Box 15"/>
          <p:cNvSpPr>
            <a:spLocks noChangeArrowheads="1"/>
          </p:cNvSpPr>
          <p:nvPr/>
        </p:nvSpPr>
        <p:spPr bwMode="auto">
          <a:xfrm>
            <a:off x="4711392" y="5499660"/>
            <a:ext cx="723900" cy="319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α/2β</a:t>
            </a:r>
            <a:endParaRPr lang="zh-CN" altLang="en-US"/>
          </a:p>
        </p:txBody>
      </p:sp>
      <p:sp>
        <p:nvSpPr>
          <p:cNvPr id="12294" name="Line 4"/>
          <p:cNvSpPr>
            <a:spLocks noChangeShapeType="1"/>
          </p:cNvSpPr>
          <p:nvPr/>
        </p:nvSpPr>
        <p:spPr bwMode="auto">
          <a:xfrm flipV="1">
            <a:off x="2480955" y="1786498"/>
            <a:ext cx="1587" cy="3706812"/>
          </a:xfrm>
          <a:prstGeom prst="line">
            <a:avLst/>
          </a:prstGeom>
          <a:noFill/>
          <a:ln w="28575" cmpd="sng">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2295" name="Line 5"/>
          <p:cNvSpPr>
            <a:spLocks noChangeShapeType="1"/>
          </p:cNvSpPr>
          <p:nvPr/>
        </p:nvSpPr>
        <p:spPr bwMode="auto">
          <a:xfrm>
            <a:off x="2480955" y="5493310"/>
            <a:ext cx="5197475" cy="3175"/>
          </a:xfrm>
          <a:prstGeom prst="line">
            <a:avLst/>
          </a:prstGeom>
          <a:noFill/>
          <a:ln w="28575" cmpd="sng">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2296" name="Text Box 6"/>
          <p:cNvSpPr>
            <a:spLocks noChangeArrowheads="1"/>
          </p:cNvSpPr>
          <p:nvPr/>
        </p:nvSpPr>
        <p:spPr bwMode="auto">
          <a:xfrm>
            <a:off x="1990417" y="1711885"/>
            <a:ext cx="473075"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P</a:t>
            </a:r>
            <a:endParaRPr lang="zh-CN" altLang="en-US"/>
          </a:p>
        </p:txBody>
      </p:sp>
      <p:sp>
        <p:nvSpPr>
          <p:cNvPr id="12297" name="Text Box 8"/>
          <p:cNvSpPr>
            <a:spLocks noChangeArrowheads="1"/>
          </p:cNvSpPr>
          <p:nvPr/>
        </p:nvSpPr>
        <p:spPr bwMode="auto">
          <a:xfrm>
            <a:off x="2112655" y="5426635"/>
            <a:ext cx="565150"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800" b="0">
                <a:solidFill>
                  <a:srgbClr val="000000"/>
                </a:solidFill>
                <a:sym typeface="Arial" panose="020B0604020202020204" pitchFamily="34" charset="0"/>
              </a:rPr>
              <a:t>O</a:t>
            </a:r>
            <a:endParaRPr lang="zh-CN" altLang="en-US"/>
          </a:p>
        </p:txBody>
      </p:sp>
      <p:sp>
        <p:nvSpPr>
          <p:cNvPr id="12298" name="Line 9"/>
          <p:cNvSpPr>
            <a:spLocks noChangeShapeType="1"/>
          </p:cNvSpPr>
          <p:nvPr/>
        </p:nvSpPr>
        <p:spPr bwMode="auto">
          <a:xfrm>
            <a:off x="2480955" y="2238935"/>
            <a:ext cx="4722812" cy="3254375"/>
          </a:xfrm>
          <a:prstGeom prst="line">
            <a:avLst/>
          </a:prstGeom>
          <a:noFill/>
          <a:ln w="28575" cmpd="sng">
            <a:solidFill>
              <a:srgbClr val="0070C0"/>
            </a:solidFill>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2299" name="Text Box 10"/>
          <p:cNvSpPr>
            <a:spLocks noChangeArrowheads="1"/>
          </p:cNvSpPr>
          <p:nvPr/>
        </p:nvSpPr>
        <p:spPr bwMode="auto">
          <a:xfrm>
            <a:off x="3182399" y="2428185"/>
            <a:ext cx="1277938"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sym typeface="Arial" panose="020B0604020202020204" pitchFamily="34" charset="0"/>
              </a:rPr>
              <a:t>D=AR</a:t>
            </a:r>
            <a:endParaRPr lang="zh-CN" altLang="en-US" dirty="0"/>
          </a:p>
        </p:txBody>
      </p:sp>
      <p:sp>
        <p:nvSpPr>
          <p:cNvPr id="12300" name="Text Box 11"/>
          <p:cNvSpPr>
            <a:spLocks noChangeArrowheads="1"/>
          </p:cNvSpPr>
          <p:nvPr/>
        </p:nvSpPr>
        <p:spPr bwMode="auto">
          <a:xfrm>
            <a:off x="2011055" y="2013510"/>
            <a:ext cx="5080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α</a:t>
            </a:r>
            <a:endParaRPr lang="zh-CN" altLang="en-US"/>
          </a:p>
        </p:txBody>
      </p:sp>
      <p:sp>
        <p:nvSpPr>
          <p:cNvPr id="12301" name="Line 13"/>
          <p:cNvSpPr>
            <a:spLocks noChangeShapeType="1"/>
          </p:cNvSpPr>
          <p:nvPr/>
        </p:nvSpPr>
        <p:spPr bwMode="auto">
          <a:xfrm>
            <a:off x="2480955" y="2238935"/>
            <a:ext cx="2360612" cy="3254375"/>
          </a:xfrm>
          <a:prstGeom prst="line">
            <a:avLst/>
          </a:prstGeom>
          <a:noFill/>
          <a:ln w="28575" cmpd="sng">
            <a:solidFill>
              <a:srgbClr val="0070C0"/>
            </a:solidFill>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2302" name="Text Box 14"/>
          <p:cNvSpPr>
            <a:spLocks noChangeArrowheads="1"/>
          </p:cNvSpPr>
          <p:nvPr/>
        </p:nvSpPr>
        <p:spPr bwMode="auto">
          <a:xfrm>
            <a:off x="3427105" y="4555098"/>
            <a:ext cx="790575"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MR</a:t>
            </a:r>
            <a:endParaRPr lang="zh-CN" altLang="en-US"/>
          </a:p>
        </p:txBody>
      </p:sp>
      <p:sp>
        <p:nvSpPr>
          <p:cNvPr id="12303" name="Line 16"/>
          <p:cNvSpPr>
            <a:spLocks noChangeShapeType="1"/>
          </p:cNvSpPr>
          <p:nvPr/>
        </p:nvSpPr>
        <p:spPr bwMode="auto">
          <a:xfrm flipV="1">
            <a:off x="4841567" y="2919973"/>
            <a:ext cx="0" cy="2573337"/>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2304" name="未知"/>
          <p:cNvSpPr>
            <a:spLocks noChangeArrowheads="1"/>
          </p:cNvSpPr>
          <p:nvPr/>
        </p:nvSpPr>
        <p:spPr bwMode="auto">
          <a:xfrm>
            <a:off x="2496830" y="2910448"/>
            <a:ext cx="4732337" cy="2592387"/>
          </a:xfrm>
          <a:custGeom>
            <a:avLst/>
            <a:gdLst>
              <a:gd name="T0" fmla="*/ 0 w 21600"/>
              <a:gd name="T1" fmla="*/ 2147483647 h 21600"/>
              <a:gd name="T2" fmla="*/ 2147483647 w 21600"/>
              <a:gd name="T3" fmla="*/ 2147483647 h 21600"/>
              <a:gd name="T4" fmla="*/ 2147483647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a:moveTo>
                  <a:pt x="0" y="21477"/>
                </a:moveTo>
                <a:cubicBezTo>
                  <a:pt x="1787" y="17899"/>
                  <a:pt x="7113" y="0"/>
                  <a:pt x="10714" y="22"/>
                </a:cubicBezTo>
                <a:cubicBezTo>
                  <a:pt x="14315" y="44"/>
                  <a:pt x="19786" y="18005"/>
                  <a:pt x="21600" y="21600"/>
                </a:cubicBezTo>
              </a:path>
            </a:pathLst>
          </a:custGeom>
          <a:noFill/>
          <a:ln w="28575" cmpd="sng">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zh-CN">
              <a:solidFill>
                <a:srgbClr val="000000"/>
              </a:solidFill>
              <a:sym typeface="Arial" panose="020B0604020202020204" pitchFamily="34" charset="0"/>
            </a:endParaRPr>
          </a:p>
        </p:txBody>
      </p:sp>
      <p:sp>
        <p:nvSpPr>
          <p:cNvPr id="12305" name="Line 18"/>
          <p:cNvSpPr>
            <a:spLocks noChangeShapeType="1"/>
          </p:cNvSpPr>
          <p:nvPr/>
        </p:nvSpPr>
        <p:spPr bwMode="auto">
          <a:xfrm flipH="1">
            <a:off x="2480955" y="2919973"/>
            <a:ext cx="2360612" cy="1587"/>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pic>
        <p:nvPicPr>
          <p:cNvPr id="12306" name="Object 1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20555" y="2564595"/>
            <a:ext cx="566737" cy="70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07" name="Object 2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11055" y="2919973"/>
            <a:ext cx="100012" cy="379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08" name="Text Box 21"/>
          <p:cNvSpPr>
            <a:spLocks noChangeArrowheads="1"/>
          </p:cNvSpPr>
          <p:nvPr/>
        </p:nvSpPr>
        <p:spPr bwMode="auto">
          <a:xfrm>
            <a:off x="6029017" y="3515285"/>
            <a:ext cx="4191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sym typeface="Arial" panose="020B0604020202020204" pitchFamily="34" charset="0"/>
              </a:rPr>
              <a:t>R</a:t>
            </a:r>
            <a:endParaRPr lang="zh-CN" altLang="en-US" dirty="0"/>
          </a:p>
        </p:txBody>
      </p:sp>
      <p:sp>
        <p:nvSpPr>
          <p:cNvPr id="12309" name="圆角矩形标注 23"/>
          <p:cNvSpPr>
            <a:spLocks noChangeArrowheads="1"/>
          </p:cNvSpPr>
          <p:nvPr/>
        </p:nvSpPr>
        <p:spPr bwMode="auto">
          <a:xfrm>
            <a:off x="3109834" y="1556870"/>
            <a:ext cx="2214563" cy="647700"/>
          </a:xfrm>
          <a:prstGeom prst="wedgeRoundRectCallout">
            <a:avLst>
              <a:gd name="adj1" fmla="val -61792"/>
              <a:gd name="adj2" fmla="val 88194"/>
              <a:gd name="adj3" fmla="val 16667"/>
            </a:avLst>
          </a:prstGeom>
          <a:solidFill>
            <a:schemeClr val="bg1"/>
          </a:solidFill>
          <a:ln>
            <a:solidFill>
              <a:srgbClr val="C00000"/>
            </a:solidFill>
          </a:ln>
        </p:spPr>
        <p:style>
          <a:lnRef idx="3">
            <a:schemeClr val="lt1"/>
          </a:lnRef>
          <a:fillRef idx="1">
            <a:schemeClr val="accent1"/>
          </a:fillRef>
          <a:effectRef idx="1">
            <a:schemeClr val="accent1"/>
          </a:effectRef>
          <a:fontRef idx="minor">
            <a:schemeClr val="lt1"/>
          </a:fontRef>
        </p:style>
        <p:txBody>
          <a:bodyPr>
            <a:spAutoFit/>
          </a:bodyPr>
          <a:lstStyle/>
          <a:p>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平均收益曲线</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AR</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与需求曲线完全重合</a:t>
            </a:r>
            <a:endParaRPr lang="zh-CN" altLang="en-US" b="0" dirty="0">
              <a:solidFill>
                <a:schemeClr val="tx1"/>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2310" name="圆角矩形标注 24"/>
              <p:cNvSpPr>
                <a:spLocks noChangeArrowheads="1"/>
              </p:cNvSpPr>
              <p:nvPr/>
            </p:nvSpPr>
            <p:spPr bwMode="auto">
              <a:xfrm>
                <a:off x="428057" y="3075225"/>
                <a:ext cx="1428750" cy="2441575"/>
              </a:xfrm>
              <a:prstGeom prst="wedgeRoundRectCallout">
                <a:avLst>
                  <a:gd name="adj1" fmla="val 147167"/>
                  <a:gd name="adj2" fmla="val -24083"/>
                  <a:gd name="adj3" fmla="val 16667"/>
                </a:avLst>
              </a:prstGeom>
              <a:solidFill>
                <a:schemeClr val="bg1"/>
              </a:solidFill>
              <a:ln>
                <a:solidFill>
                  <a:srgbClr val="C00000"/>
                </a:solidFill>
              </a:ln>
            </p:spPr>
            <p:style>
              <a:lnRef idx="3">
                <a:schemeClr val="lt1"/>
              </a:lnRef>
              <a:fillRef idx="1">
                <a:schemeClr val="accent1"/>
              </a:fillRef>
              <a:effectRef idx="1">
                <a:schemeClr val="accent1"/>
              </a:effectRef>
              <a:fontRef idx="minor">
                <a:schemeClr val="lt1"/>
              </a:fontRef>
            </p:style>
            <p:txBody>
              <a:bodyPr>
                <a:spAutoFit/>
              </a:bodyPr>
              <a:lstStyle/>
              <a:p>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边际收益曲线</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MR</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的纵截距与平均收益曲线</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或需求曲线</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一样</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都等于</a:t>
                </a:r>
                <a14:m>
                  <m:oMath xmlns:m="http://schemas.openxmlformats.org/officeDocument/2006/math">
                    <m:r>
                      <a:rPr lang="zh-CN" altLang="en-US" b="0" i="1" dirty="0" smtClean="0">
                        <a:solidFill>
                          <a:schemeClr val="tx1"/>
                        </a:solidFill>
                        <a:latin typeface="Cambria Math" panose="02040503050406030204" pitchFamily="18" charset="0"/>
                        <a:ea typeface="微软雅黑" panose="020B0503020204020204" pitchFamily="34" charset="-122"/>
                        <a:sym typeface="Arial" panose="020B0604020202020204" pitchFamily="34" charset="0"/>
                      </a:rPr>
                      <m:t>𝛼</m:t>
                    </m:r>
                  </m:oMath>
                </a14:m>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但斜率是后者的</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2</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倍</a:t>
                </a:r>
                <a:endParaRPr lang="zh-CN" altLang="en-US" b="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12310" name="圆角矩形标注 24"/>
              <p:cNvSpPr>
                <a:spLocks noRot="1" noChangeAspect="1" noMove="1" noResize="1" noEditPoints="1" noAdjustHandles="1" noChangeArrowheads="1" noChangeShapeType="1" noTextEdit="1"/>
              </p:cNvSpPr>
              <p:nvPr/>
            </p:nvSpPr>
            <p:spPr bwMode="auto">
              <a:xfrm>
                <a:off x="428057" y="3075225"/>
                <a:ext cx="1428750" cy="2441575"/>
              </a:xfrm>
              <a:prstGeom prst="wedgeRoundRectCallout">
                <a:avLst>
                  <a:gd name="adj1" fmla="val 147167"/>
                  <a:gd name="adj2" fmla="val -24083"/>
                  <a:gd name="adj3" fmla="val 16667"/>
                </a:avLst>
              </a:prstGeom>
              <a:blipFill>
                <a:blip r:embed="rId4"/>
                <a:stretch>
                  <a:fillRect/>
                </a:stretch>
              </a:blipFill>
              <a:ln>
                <a:solidFill>
                  <a:srgbClr val="C00000"/>
                </a:solidFill>
              </a:ln>
            </p:spPr>
            <p:txBody>
              <a:bodyPr/>
              <a:lstStyle/>
              <a:p>
                <a:r>
                  <a:rPr lang="zh-CN" altLang="en-US">
                    <a:noFill/>
                  </a:rPr>
                  <a:t> </a:t>
                </a:r>
              </a:p>
            </p:txBody>
          </p:sp>
        </mc:Fallback>
      </mc:AlternateContent>
      <p:sp>
        <p:nvSpPr>
          <p:cNvPr id="12311" name="圆角矩形标注 25"/>
          <p:cNvSpPr>
            <a:spLocks noChangeArrowheads="1"/>
          </p:cNvSpPr>
          <p:nvPr/>
        </p:nvSpPr>
        <p:spPr bwMode="auto">
          <a:xfrm>
            <a:off x="6749742" y="1783323"/>
            <a:ext cx="2214563" cy="1736725"/>
          </a:xfrm>
          <a:prstGeom prst="wedgeRoundRectCallout">
            <a:avLst>
              <a:gd name="adj1" fmla="val -89380"/>
              <a:gd name="adj2" fmla="val 45782"/>
              <a:gd name="adj3" fmla="val 16667"/>
            </a:avLst>
          </a:prstGeom>
          <a:solidFill>
            <a:schemeClr val="bg1"/>
          </a:solidFill>
          <a:ln>
            <a:solidFill>
              <a:srgbClr val="C00000"/>
            </a:solidFill>
          </a:ln>
        </p:spPr>
        <p:style>
          <a:lnRef idx="3">
            <a:schemeClr val="lt1"/>
          </a:lnRef>
          <a:fillRef idx="1">
            <a:schemeClr val="accent1"/>
          </a:fillRef>
          <a:effectRef idx="1">
            <a:schemeClr val="accent1"/>
          </a:effectRef>
          <a:fontRef idx="minor">
            <a:schemeClr val="lt1"/>
          </a:fontRef>
        </p:style>
        <p:txBody>
          <a:bodyPr>
            <a:spAutoFit/>
          </a:bodyPr>
          <a:lstStyle/>
          <a:p>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总收益曲线</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R</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可由边际收益曲线</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MR</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确定</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当边际收益大于、 小于和等于</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0</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时收益函数上升、 下降和达到最大。</a:t>
            </a:r>
            <a:endParaRPr lang="zh-CN" altLang="en-US" b="0" dirty="0">
              <a:solidFill>
                <a:schemeClr val="tx1"/>
              </a:solidFill>
              <a:latin typeface="微软雅黑" panose="020B0503020204020204" pitchFamily="34" charset="-122"/>
              <a:ea typeface="微软雅黑" panose="020B0503020204020204" pitchFamily="34" charset="-122"/>
            </a:endParaRPr>
          </a:p>
        </p:txBody>
      </p:sp>
      <p:sp>
        <p:nvSpPr>
          <p:cNvPr id="26" name="矩形 25">
            <a:extLst>
              <a:ext uri="{FF2B5EF4-FFF2-40B4-BE49-F238E27FC236}">
                <a16:creationId xmlns:a16="http://schemas.microsoft.com/office/drawing/2014/main" id="{F68E5273-CD77-47B9-B841-9D29349C133D}"/>
              </a:ext>
            </a:extLst>
          </p:cNvPr>
          <p:cNvSpPr/>
          <p:nvPr/>
        </p:nvSpPr>
        <p:spPr>
          <a:xfrm>
            <a:off x="467544" y="548680"/>
            <a:ext cx="4762842"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spc="150" dirty="0">
                <a:solidFill>
                  <a:srgbClr val="FFFFFF"/>
                </a:solidFill>
                <a:latin typeface="微软雅黑" panose="020B0503020204020204" pitchFamily="34" charset="-122"/>
                <a:ea typeface="微软雅黑" panose="020B0503020204020204" pitchFamily="34" charset="-122"/>
              </a:rPr>
              <a:t>二</a:t>
            </a:r>
            <a:r>
              <a:rPr lang="zh-CN" altLang="en-US" sz="2400" b="1" spc="150" dirty="0">
                <a:solidFill>
                  <a:srgbClr val="FFFFFF"/>
                </a:solidFill>
                <a:latin typeface="微软雅黑" panose="020B0503020204020204" pitchFamily="34" charset="-122"/>
                <a:ea typeface="微软雅黑" panose="020B0503020204020204" pitchFamily="34" charset="-122"/>
              </a:rPr>
              <a:t>、</a:t>
            </a:r>
            <a:r>
              <a:rPr lang="zh-CN" altLang="en-US" sz="2400" spc="15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垄断企业的需求曲线和收益</a:t>
            </a:r>
            <a:endParaRPr lang="zh-CN" altLang="en-US" sz="2400" b="1" spc="150" dirty="0">
              <a:solidFill>
                <a:srgbClr val="FFFFFF"/>
              </a:solidFill>
              <a:latin typeface="微软雅黑" panose="020B0503020204020204" pitchFamily="34" charset="-122"/>
              <a:ea typeface="微软雅黑" panose="020B0503020204020204" pitchFamily="34" charset="-122"/>
            </a:endParaRPr>
          </a:p>
        </p:txBody>
      </p:sp>
      <p:sp>
        <p:nvSpPr>
          <p:cNvPr id="25" name="矩形 24"/>
          <p:cNvSpPr/>
          <p:nvPr/>
        </p:nvSpPr>
        <p:spPr>
          <a:xfrm>
            <a:off x="7505410" y="35458"/>
            <a:ext cx="1638590" cy="369332"/>
          </a:xfrm>
          <a:prstGeom prst="rect">
            <a:avLst/>
          </a:prstGeom>
        </p:spPr>
        <p:txBody>
          <a:bodyPr wrap="none">
            <a:spAutoFit/>
          </a:bodyPr>
          <a:lstStyle/>
          <a:p>
            <a:pPr algn="dist"/>
            <a:r>
              <a:rPr lang="zh-CN" altLang="en-US" sz="1800" b="0" spc="30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第一节 垄断</a:t>
            </a:r>
            <a:endParaRPr lang="zh-CN" altLang="en-US" sz="1800" b="0" spc="300" dirty="0">
              <a:solidFill>
                <a:schemeClr val="tx2"/>
              </a:solidFill>
              <a:ea typeface="黑体" panose="02010609060101010101" pitchFamily="49" charset="-122"/>
              <a:sym typeface="Arial" panose="020B0604020202020204" pitchFamily="34"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294"/>
                                        </p:tgtEl>
                                        <p:attrNameLst>
                                          <p:attrName>style.visibility</p:attrName>
                                        </p:attrNameLst>
                                      </p:cBhvr>
                                      <p:to>
                                        <p:strVal val="visible"/>
                                      </p:to>
                                    </p:set>
                                    <p:animEffect>
                                      <p:cBhvr>
                                        <p:cTn id="7" dur="500"/>
                                        <p:tgtEl>
                                          <p:spTgt spid="12294"/>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2296"/>
                                        </p:tgtEl>
                                        <p:attrNameLst>
                                          <p:attrName>style.visibility</p:attrName>
                                        </p:attrNameLst>
                                      </p:cBhvr>
                                      <p:to>
                                        <p:strVal val="visible"/>
                                      </p:to>
                                    </p:set>
                                    <p:animEffect>
                                      <p:cBhvr>
                                        <p:cTn id="10" dur="500"/>
                                        <p:tgtEl>
                                          <p:spTgt spid="12296"/>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2297"/>
                                        </p:tgtEl>
                                        <p:attrNameLst>
                                          <p:attrName>style.visibility</p:attrName>
                                        </p:attrNameLst>
                                      </p:cBhvr>
                                      <p:to>
                                        <p:strVal val="visible"/>
                                      </p:to>
                                    </p:set>
                                    <p:animEffect>
                                      <p:cBhvr>
                                        <p:cTn id="13" dur="500"/>
                                        <p:tgtEl>
                                          <p:spTgt spid="12297"/>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12295"/>
                                        </p:tgtEl>
                                        <p:attrNameLst>
                                          <p:attrName>style.visibility</p:attrName>
                                        </p:attrNameLst>
                                      </p:cBhvr>
                                      <p:to>
                                        <p:strVal val="visible"/>
                                      </p:to>
                                    </p:set>
                                    <p:animEffect>
                                      <p:cBhvr>
                                        <p:cTn id="16" dur="500"/>
                                        <p:tgtEl>
                                          <p:spTgt spid="12295"/>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12291"/>
                                        </p:tgtEl>
                                        <p:attrNameLst>
                                          <p:attrName>style.visibility</p:attrName>
                                        </p:attrNameLst>
                                      </p:cBhvr>
                                      <p:to>
                                        <p:strVal val="visible"/>
                                      </p:to>
                                    </p:set>
                                    <p:animEffect>
                                      <p:cBhvr>
                                        <p:cTn id="19" dur="500"/>
                                        <p:tgtEl>
                                          <p:spTgt spid="12291"/>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12299"/>
                                        </p:tgtEl>
                                        <p:attrNameLst>
                                          <p:attrName>style.visibility</p:attrName>
                                        </p:attrNameLst>
                                      </p:cBhvr>
                                      <p:to>
                                        <p:strVal val="visible"/>
                                      </p:to>
                                    </p:set>
                                    <p:animEffect>
                                      <p:cBhvr>
                                        <p:cTn id="24" dur="500"/>
                                        <p:tgtEl>
                                          <p:spTgt spid="12299"/>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12298"/>
                                        </p:tgtEl>
                                        <p:attrNameLst>
                                          <p:attrName>style.visibility</p:attrName>
                                        </p:attrNameLst>
                                      </p:cBhvr>
                                      <p:to>
                                        <p:strVal val="visible"/>
                                      </p:to>
                                    </p:set>
                                    <p:animEffect>
                                      <p:cBhvr>
                                        <p:cTn id="27" dur="500"/>
                                        <p:tgtEl>
                                          <p:spTgt spid="1229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2292"/>
                                        </p:tgtEl>
                                        <p:attrNameLst>
                                          <p:attrName>style.visibility</p:attrName>
                                        </p:attrNameLst>
                                      </p:cBhvr>
                                      <p:to>
                                        <p:strVal val="visible"/>
                                      </p:to>
                                    </p:set>
                                    <p:animEffect>
                                      <p:cBhvr>
                                        <p:cTn id="32" dur="500"/>
                                        <p:tgtEl>
                                          <p:spTgt spid="1229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12309"/>
                                        </p:tgtEl>
                                        <p:attrNameLst>
                                          <p:attrName>style.visibility</p:attrName>
                                        </p:attrNameLst>
                                      </p:cBhvr>
                                      <p:to>
                                        <p:strVal val="visible"/>
                                      </p:to>
                                    </p:set>
                                    <p:animEffect>
                                      <p:cBhvr>
                                        <p:cTn id="37" dur="500"/>
                                        <p:tgtEl>
                                          <p:spTgt spid="1230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2300"/>
                                        </p:tgtEl>
                                        <p:attrNameLst>
                                          <p:attrName>style.visibility</p:attrName>
                                        </p:attrNameLst>
                                      </p:cBhvr>
                                      <p:to>
                                        <p:strVal val="visible"/>
                                      </p:to>
                                    </p:set>
                                    <p:animEffect>
                                      <p:cBhvr>
                                        <p:cTn id="42" dur="500"/>
                                        <p:tgtEl>
                                          <p:spTgt spid="12300"/>
                                        </p:tgtEl>
                                      </p:cBhvr>
                                    </p:animEffect>
                                  </p:childTnLst>
                                </p:cTn>
                              </p:par>
                              <p:par>
                                <p:cTn id="43" presetID="3" presetClass="entr" presetSubtype="10" fill="hold" grpId="0" nodeType="withEffect">
                                  <p:stCondLst>
                                    <p:cond delay="0"/>
                                  </p:stCondLst>
                                  <p:childTnLst>
                                    <p:set>
                                      <p:cBhvr>
                                        <p:cTn id="44" dur="1" fill="hold">
                                          <p:stCondLst>
                                            <p:cond delay="0"/>
                                          </p:stCondLst>
                                        </p:cTn>
                                        <p:tgtEl>
                                          <p:spTgt spid="12301"/>
                                        </p:tgtEl>
                                        <p:attrNameLst>
                                          <p:attrName>style.visibility</p:attrName>
                                        </p:attrNameLst>
                                      </p:cBhvr>
                                      <p:to>
                                        <p:strVal val="visible"/>
                                      </p:to>
                                    </p:set>
                                    <p:animEffect>
                                      <p:cBhvr>
                                        <p:cTn id="45" dur="500"/>
                                        <p:tgtEl>
                                          <p:spTgt spid="12301"/>
                                        </p:tgtEl>
                                      </p:cBhvr>
                                    </p:animEffect>
                                  </p:childTnLst>
                                </p:cTn>
                              </p:par>
                              <p:par>
                                <p:cTn id="46" presetID="3" presetClass="entr" presetSubtype="10" fill="hold" grpId="0" nodeType="withEffect">
                                  <p:stCondLst>
                                    <p:cond delay="0"/>
                                  </p:stCondLst>
                                  <p:childTnLst>
                                    <p:set>
                                      <p:cBhvr>
                                        <p:cTn id="47" dur="1" fill="hold">
                                          <p:stCondLst>
                                            <p:cond delay="0"/>
                                          </p:stCondLst>
                                        </p:cTn>
                                        <p:tgtEl>
                                          <p:spTgt spid="12302"/>
                                        </p:tgtEl>
                                        <p:attrNameLst>
                                          <p:attrName>style.visibility</p:attrName>
                                        </p:attrNameLst>
                                      </p:cBhvr>
                                      <p:to>
                                        <p:strVal val="visible"/>
                                      </p:to>
                                    </p:set>
                                    <p:animEffect>
                                      <p:cBhvr>
                                        <p:cTn id="48" dur="500"/>
                                        <p:tgtEl>
                                          <p:spTgt spid="12302"/>
                                        </p:tgtEl>
                                      </p:cBhvr>
                                    </p:animEffect>
                                  </p:childTnLst>
                                </p:cTn>
                              </p:par>
                              <p:par>
                                <p:cTn id="49" presetID="3" presetClass="entr" presetSubtype="10" fill="hold" grpId="0" nodeType="withEffect">
                                  <p:stCondLst>
                                    <p:cond delay="0"/>
                                  </p:stCondLst>
                                  <p:childTnLst>
                                    <p:set>
                                      <p:cBhvr>
                                        <p:cTn id="50" dur="1" fill="hold">
                                          <p:stCondLst>
                                            <p:cond delay="0"/>
                                          </p:stCondLst>
                                        </p:cTn>
                                        <p:tgtEl>
                                          <p:spTgt spid="12293"/>
                                        </p:tgtEl>
                                        <p:attrNameLst>
                                          <p:attrName>style.visibility</p:attrName>
                                        </p:attrNameLst>
                                      </p:cBhvr>
                                      <p:to>
                                        <p:strVal val="visible"/>
                                      </p:to>
                                    </p:set>
                                    <p:animEffect>
                                      <p:cBhvr>
                                        <p:cTn id="51" dur="500"/>
                                        <p:tgtEl>
                                          <p:spTgt spid="12293"/>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16" presetClass="entr" presetSubtype="26" fill="hold" grpId="0" nodeType="clickEffect">
                                  <p:stCondLst>
                                    <p:cond delay="0"/>
                                  </p:stCondLst>
                                  <p:childTnLst>
                                    <p:set>
                                      <p:cBhvr>
                                        <p:cTn id="55" dur="1" fill="hold">
                                          <p:stCondLst>
                                            <p:cond delay="0"/>
                                          </p:stCondLst>
                                        </p:cTn>
                                        <p:tgtEl>
                                          <p:spTgt spid="12310"/>
                                        </p:tgtEl>
                                        <p:attrNameLst>
                                          <p:attrName>style.visibility</p:attrName>
                                        </p:attrNameLst>
                                      </p:cBhvr>
                                      <p:to>
                                        <p:strVal val="visible"/>
                                      </p:to>
                                    </p:set>
                                    <p:animEffect>
                                      <p:cBhvr>
                                        <p:cTn id="56" dur="500"/>
                                        <p:tgtEl>
                                          <p:spTgt spid="12310"/>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16" presetClass="entr" presetSubtype="26" fill="hold" grpId="0" nodeType="clickEffect">
                                  <p:stCondLst>
                                    <p:cond delay="0"/>
                                  </p:stCondLst>
                                  <p:childTnLst>
                                    <p:set>
                                      <p:cBhvr>
                                        <p:cTn id="60" dur="1" fill="hold">
                                          <p:stCondLst>
                                            <p:cond delay="0"/>
                                          </p:stCondLst>
                                        </p:cTn>
                                        <p:tgtEl>
                                          <p:spTgt spid="12304"/>
                                        </p:tgtEl>
                                        <p:attrNameLst>
                                          <p:attrName>style.visibility</p:attrName>
                                        </p:attrNameLst>
                                      </p:cBhvr>
                                      <p:to>
                                        <p:strVal val="visible"/>
                                      </p:to>
                                    </p:set>
                                    <p:animEffect>
                                      <p:cBhvr>
                                        <p:cTn id="61" dur="500"/>
                                        <p:tgtEl>
                                          <p:spTgt spid="12304"/>
                                        </p:tgtEl>
                                      </p:cBhvr>
                                    </p:animEffect>
                                  </p:childTnLst>
                                </p:cTn>
                              </p:par>
                              <p:par>
                                <p:cTn id="62" presetID="3" presetClass="entr" presetSubtype="10" fill="hold" grpId="0" nodeType="withEffect">
                                  <p:stCondLst>
                                    <p:cond delay="0"/>
                                  </p:stCondLst>
                                  <p:childTnLst>
                                    <p:set>
                                      <p:cBhvr>
                                        <p:cTn id="63" dur="1" fill="hold">
                                          <p:stCondLst>
                                            <p:cond delay="0"/>
                                          </p:stCondLst>
                                        </p:cTn>
                                        <p:tgtEl>
                                          <p:spTgt spid="12308"/>
                                        </p:tgtEl>
                                        <p:attrNameLst>
                                          <p:attrName>style.visibility</p:attrName>
                                        </p:attrNameLst>
                                      </p:cBhvr>
                                      <p:to>
                                        <p:strVal val="visible"/>
                                      </p:to>
                                    </p:set>
                                    <p:animEffect>
                                      <p:cBhvr>
                                        <p:cTn id="64" dur="500"/>
                                        <p:tgtEl>
                                          <p:spTgt spid="12308"/>
                                        </p:tgtEl>
                                      </p:cBhvr>
                                    </p:animEffect>
                                  </p:childTnLst>
                                </p:cTn>
                              </p:par>
                            </p:childTnLst>
                          </p:cTn>
                        </p:par>
                      </p:childTnLst>
                    </p:cTn>
                  </p:par>
                  <p:par>
                    <p:cTn id="65" fill="hold">
                      <p:stCondLst>
                        <p:cond delay="indefinite"/>
                      </p:stCondLst>
                      <p:childTnLst>
                        <p:par>
                          <p:cTn id="66" fill="hold">
                            <p:stCondLst>
                              <p:cond delay="0"/>
                            </p:stCondLst>
                            <p:childTnLst>
                              <p:par>
                                <p:cTn id="67" presetID="5" presetClass="entr" presetSubtype="10" fill="hold" grpId="0" nodeType="clickEffect">
                                  <p:stCondLst>
                                    <p:cond delay="0"/>
                                  </p:stCondLst>
                                  <p:childTnLst>
                                    <p:set>
                                      <p:cBhvr>
                                        <p:cTn id="68" dur="1" fill="hold">
                                          <p:stCondLst>
                                            <p:cond delay="0"/>
                                          </p:stCondLst>
                                        </p:cTn>
                                        <p:tgtEl>
                                          <p:spTgt spid="12311"/>
                                        </p:tgtEl>
                                        <p:attrNameLst>
                                          <p:attrName>style.visibility</p:attrName>
                                        </p:attrNameLst>
                                      </p:cBhvr>
                                      <p:to>
                                        <p:strVal val="visible"/>
                                      </p:to>
                                    </p:set>
                                    <p:animEffect>
                                      <p:cBhvr>
                                        <p:cTn id="69" dur="500"/>
                                        <p:tgtEl>
                                          <p:spTgt spid="12311"/>
                                        </p:tgtEl>
                                      </p:cBhvr>
                                    </p:animEffect>
                                  </p:childTnLst>
                                </p:cTn>
                              </p:par>
                            </p:childTnLst>
                          </p:cTn>
                        </p:par>
                      </p:childTnLst>
                    </p:cTn>
                  </p:par>
                  <p:par>
                    <p:cTn id="70" fill="hold">
                      <p:stCondLst>
                        <p:cond delay="indefinite"/>
                      </p:stCondLst>
                      <p:childTnLst>
                        <p:par>
                          <p:cTn id="71" fill="hold">
                            <p:stCondLst>
                              <p:cond delay="0"/>
                            </p:stCondLst>
                            <p:childTnLst>
                              <p:par>
                                <p:cTn id="72" presetID="3" presetClass="entr" presetSubtype="10" fill="hold" nodeType="clickEffect">
                                  <p:stCondLst>
                                    <p:cond delay="0"/>
                                  </p:stCondLst>
                                  <p:childTnLst>
                                    <p:set>
                                      <p:cBhvr>
                                        <p:cTn id="73" dur="1" fill="hold">
                                          <p:stCondLst>
                                            <p:cond delay="0"/>
                                          </p:stCondLst>
                                        </p:cTn>
                                        <p:tgtEl>
                                          <p:spTgt spid="12306"/>
                                        </p:tgtEl>
                                        <p:attrNameLst>
                                          <p:attrName>style.visibility</p:attrName>
                                        </p:attrNameLst>
                                      </p:cBhvr>
                                      <p:to>
                                        <p:strVal val="visible"/>
                                      </p:to>
                                    </p:set>
                                    <p:animEffect>
                                      <p:cBhvr>
                                        <p:cTn id="74" dur="500"/>
                                        <p:tgtEl>
                                          <p:spTgt spid="12306"/>
                                        </p:tgtEl>
                                      </p:cBhvr>
                                    </p:animEffect>
                                  </p:childTnLst>
                                </p:cTn>
                              </p:par>
                              <p:par>
                                <p:cTn id="75" presetID="3" presetClass="entr" presetSubtype="10" fill="hold" grpId="0" nodeType="withEffect">
                                  <p:stCondLst>
                                    <p:cond delay="0"/>
                                  </p:stCondLst>
                                  <p:childTnLst>
                                    <p:set>
                                      <p:cBhvr>
                                        <p:cTn id="76" dur="1" fill="hold">
                                          <p:stCondLst>
                                            <p:cond delay="0"/>
                                          </p:stCondLst>
                                        </p:cTn>
                                        <p:tgtEl>
                                          <p:spTgt spid="12305"/>
                                        </p:tgtEl>
                                        <p:attrNameLst>
                                          <p:attrName>style.visibility</p:attrName>
                                        </p:attrNameLst>
                                      </p:cBhvr>
                                      <p:to>
                                        <p:strVal val="visible"/>
                                      </p:to>
                                    </p:set>
                                    <p:animEffect>
                                      <p:cBhvr>
                                        <p:cTn id="77" dur="500"/>
                                        <p:tgtEl>
                                          <p:spTgt spid="12305"/>
                                        </p:tgtEl>
                                      </p:cBhvr>
                                    </p:animEffect>
                                  </p:childTnLst>
                                </p:cTn>
                              </p:par>
                              <p:par>
                                <p:cTn id="78" presetID="3" presetClass="entr" presetSubtype="10" fill="hold" grpId="0" nodeType="withEffect">
                                  <p:stCondLst>
                                    <p:cond delay="0"/>
                                  </p:stCondLst>
                                  <p:childTnLst>
                                    <p:set>
                                      <p:cBhvr>
                                        <p:cTn id="79" dur="1" fill="hold">
                                          <p:stCondLst>
                                            <p:cond delay="0"/>
                                          </p:stCondLst>
                                        </p:cTn>
                                        <p:tgtEl>
                                          <p:spTgt spid="12303"/>
                                        </p:tgtEl>
                                        <p:attrNameLst>
                                          <p:attrName>style.visibility</p:attrName>
                                        </p:attrNameLst>
                                      </p:cBhvr>
                                      <p:to>
                                        <p:strVal val="visible"/>
                                      </p:to>
                                    </p:set>
                                    <p:animEffect>
                                      <p:cBhvr>
                                        <p:cTn id="80" dur="500"/>
                                        <p:tgtEl>
                                          <p:spTgt spid="123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bldLvl="0" autoUpdateAnimBg="0"/>
      <p:bldP spid="12292" grpId="0" bldLvl="0" autoUpdateAnimBg="0"/>
      <p:bldP spid="12293" grpId="0" bldLvl="0" autoUpdateAnimBg="0"/>
      <p:bldP spid="12294" grpId="0" bldLvl="0" animBg="1" autoUpdateAnimBg="0"/>
      <p:bldP spid="12295" grpId="0" bldLvl="0" animBg="1" autoUpdateAnimBg="0"/>
      <p:bldP spid="12296" grpId="0" bldLvl="0" autoUpdateAnimBg="0"/>
      <p:bldP spid="12297" grpId="0" bldLvl="0" autoUpdateAnimBg="0"/>
      <p:bldP spid="12298" grpId="0" bldLvl="0" animBg="1" autoUpdateAnimBg="0"/>
      <p:bldP spid="12299" grpId="0" bldLvl="0" autoUpdateAnimBg="0"/>
      <p:bldP spid="12300" grpId="0" bldLvl="0" autoUpdateAnimBg="0"/>
      <p:bldP spid="12301" grpId="0" bldLvl="0" animBg="1" autoUpdateAnimBg="0"/>
      <p:bldP spid="12302" grpId="0" bldLvl="0" autoUpdateAnimBg="0"/>
      <p:bldP spid="12303" grpId="0" bldLvl="0" animBg="1" autoUpdateAnimBg="0"/>
      <p:bldP spid="12304" grpId="0" bldLvl="0" animBg="1" autoUpdateAnimBg="0"/>
      <p:bldP spid="12305" grpId="0" bldLvl="0" animBg="1" autoUpdateAnimBg="0"/>
      <p:bldP spid="12308" grpId="0" bldLvl="0" autoUpdateAnimBg="0"/>
      <p:bldP spid="12309" grpId="0" bldLvl="0" animBg="1" autoUpdateAnimBg="0"/>
      <p:bldP spid="12310" grpId="0" bldLvl="0" animBg="1" autoUpdateAnimBg="0"/>
      <p:bldP spid="12311" grpId="0" bldLvl="0" animBg="1"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3"/>
          <p:cNvSpPr>
            <a:spLocks noGrp="1" noChangeArrowheads="1"/>
          </p:cNvSpPr>
          <p:nvPr>
            <p:ph type="body" idx="4294967295"/>
          </p:nvPr>
        </p:nvSpPr>
        <p:spPr>
          <a:xfrm>
            <a:off x="457200" y="1502473"/>
            <a:ext cx="8229600" cy="4230687"/>
          </a:xfrm>
          <a:ln/>
        </p:spPr>
        <p:txBody>
          <a:bodyPr/>
          <a:lstStyle/>
          <a:p>
            <a:pPr marL="457200" lvl="2" indent="-457200" eaLnBrk="1" hangingPunct="1">
              <a:buSzPct val="100000"/>
              <a:buFont typeface="Wingdings" panose="05000000000000000000" pitchFamily="2" charset="2"/>
              <a:buChar char="u"/>
            </a:pPr>
            <a:r>
              <a:rPr lang="zh-CN" altLang="en-US" sz="2200" b="0" dirty="0">
                <a:latin typeface="微软雅黑" panose="020B0503020204020204" pitchFamily="34" charset="-122"/>
                <a:ea typeface="微软雅黑" panose="020B0503020204020204" pitchFamily="34" charset="-122"/>
              </a:rPr>
              <a:t>利润最大化产量和价格</a:t>
            </a:r>
            <a:endParaRPr lang="en-US" altLang="zh-CN" dirty="0">
              <a:latin typeface="微软雅黑" panose="020B0503020204020204" pitchFamily="34" charset="-122"/>
              <a:ea typeface="微软雅黑" panose="020B0503020204020204" pitchFamily="34" charset="-122"/>
            </a:endParaRPr>
          </a:p>
          <a:p>
            <a:pPr marL="742950" lvl="2" indent="-342900" eaLnBrk="1" hangingPunct="1">
              <a:lnSpc>
                <a:spcPct val="150000"/>
              </a:lnSpc>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rPr>
              <a:t>在短期中</a:t>
            </a:r>
            <a:r>
              <a:rPr lang="en-US" altLang="zh-CN" sz="2000" b="0" dirty="0">
                <a:latin typeface="微软雅黑" panose="020B0503020204020204" pitchFamily="34" charset="-122"/>
                <a:ea typeface="微软雅黑" panose="020B0503020204020204" pitchFamily="34" charset="-122"/>
              </a:rPr>
              <a:t>, </a:t>
            </a:r>
            <a:r>
              <a:rPr lang="zh-CN" altLang="en-US" sz="2000" b="0" dirty="0">
                <a:latin typeface="微软雅黑" panose="020B0503020204020204" pitchFamily="34" charset="-122"/>
                <a:ea typeface="微软雅黑" panose="020B0503020204020204" pitchFamily="34" charset="-122"/>
              </a:rPr>
              <a:t>垄断企业也无法改变不变要素的投入</a:t>
            </a:r>
            <a:r>
              <a:rPr lang="en-US" altLang="zh-CN" sz="2000" b="0" dirty="0">
                <a:latin typeface="微软雅黑" panose="020B0503020204020204" pitchFamily="34" charset="-122"/>
                <a:ea typeface="微软雅黑" panose="020B0503020204020204" pitchFamily="34" charset="-122"/>
              </a:rPr>
              <a:t>, </a:t>
            </a:r>
            <a:r>
              <a:rPr lang="zh-CN" altLang="en-US" sz="2000" b="0" dirty="0">
                <a:latin typeface="微软雅黑" panose="020B0503020204020204" pitchFamily="34" charset="-122"/>
                <a:ea typeface="微软雅黑" panose="020B0503020204020204" pitchFamily="34" charset="-122"/>
              </a:rPr>
              <a:t>只能在既定规模的限制条件下实现利润最大化。</a:t>
            </a:r>
            <a:endParaRPr lang="zh-CN" altLang="en-US" b="0" dirty="0">
              <a:latin typeface="微软雅黑" panose="020B0503020204020204" pitchFamily="34" charset="-122"/>
              <a:ea typeface="微软雅黑" panose="020B0503020204020204" pitchFamily="34" charset="-122"/>
            </a:endParaRPr>
          </a:p>
          <a:p>
            <a:pPr marL="742950" lvl="2" indent="-342900" eaLnBrk="1" hangingPunct="1">
              <a:lnSpc>
                <a:spcPct val="150000"/>
              </a:lnSpc>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rPr>
              <a:t>在垄断条件下，为实现利润最大化，企业不仅决定产量，还要同时决定价格。</a:t>
            </a:r>
          </a:p>
        </p:txBody>
      </p:sp>
      <p:sp>
        <p:nvSpPr>
          <p:cNvPr id="5" name="矩形 4">
            <a:extLst>
              <a:ext uri="{FF2B5EF4-FFF2-40B4-BE49-F238E27FC236}">
                <a16:creationId xmlns:a16="http://schemas.microsoft.com/office/drawing/2014/main" id="{F68E5273-CD77-47B9-B841-9D29349C133D}"/>
              </a:ext>
            </a:extLst>
          </p:cNvPr>
          <p:cNvSpPr/>
          <p:nvPr/>
        </p:nvSpPr>
        <p:spPr>
          <a:xfrm>
            <a:off x="467544" y="548680"/>
            <a:ext cx="3781805"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spc="150" dirty="0">
                <a:solidFill>
                  <a:srgbClr val="FFFFFF"/>
                </a:solidFill>
                <a:latin typeface="微软雅黑" panose="020B0503020204020204" pitchFamily="34" charset="-122"/>
                <a:ea typeface="微软雅黑" panose="020B0503020204020204" pitchFamily="34" charset="-122"/>
              </a:rPr>
              <a:t>三</a:t>
            </a:r>
            <a:r>
              <a:rPr lang="zh-CN" altLang="en-US" sz="2400" b="1" spc="150" dirty="0">
                <a:solidFill>
                  <a:srgbClr val="FFFFFF"/>
                </a:solidFill>
                <a:latin typeface="微软雅黑" panose="020B0503020204020204" pitchFamily="34" charset="-122"/>
                <a:ea typeface="微软雅黑" panose="020B0503020204020204" pitchFamily="34" charset="-122"/>
              </a:rPr>
              <a:t>、</a:t>
            </a:r>
            <a:r>
              <a:rPr lang="zh-CN" altLang="en-US" sz="2400" spc="15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垄断企业的短期均衡</a:t>
            </a:r>
            <a:endParaRPr lang="zh-CN" altLang="en-US" sz="2400" b="1" spc="150" dirty="0">
              <a:solidFill>
                <a:srgbClr val="FFFFFF"/>
              </a:solidFill>
              <a:latin typeface="微软雅黑" panose="020B0503020204020204" pitchFamily="34" charset="-122"/>
              <a:ea typeface="微软雅黑" panose="020B0503020204020204" pitchFamily="34" charset="-122"/>
            </a:endParaRPr>
          </a:p>
        </p:txBody>
      </p:sp>
      <p:sp>
        <p:nvSpPr>
          <p:cNvPr id="6" name="矩形 5"/>
          <p:cNvSpPr/>
          <p:nvPr/>
        </p:nvSpPr>
        <p:spPr>
          <a:xfrm>
            <a:off x="7505410" y="35458"/>
            <a:ext cx="1638590" cy="369332"/>
          </a:xfrm>
          <a:prstGeom prst="rect">
            <a:avLst/>
          </a:prstGeom>
        </p:spPr>
        <p:txBody>
          <a:bodyPr wrap="none">
            <a:spAutoFit/>
          </a:bodyPr>
          <a:lstStyle/>
          <a:p>
            <a:pPr algn="dist"/>
            <a:r>
              <a:rPr lang="zh-CN" altLang="en-US" sz="1800" b="0" spc="30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第一节 垄断</a:t>
            </a:r>
            <a:endParaRPr lang="zh-CN" altLang="en-US" sz="1800" b="0" spc="300" dirty="0">
              <a:solidFill>
                <a:schemeClr val="tx2"/>
              </a:solidFill>
              <a:ea typeface="黑体" panose="02010609060101010101" pitchFamily="49" charset="-122"/>
              <a:sym typeface="Arial" panose="020B0604020202020204" pitchFamily="34" charset="0"/>
            </a:endParaRPr>
          </a:p>
        </p:txBody>
      </p:sp>
      <p:pic>
        <p:nvPicPr>
          <p:cNvPr id="7" name="图片 6">
            <a:extLst>
              <a:ext uri="{FF2B5EF4-FFF2-40B4-BE49-F238E27FC236}">
                <a16:creationId xmlns:a16="http://schemas.microsoft.com/office/drawing/2014/main" id="{DED164BA-0351-4D27-B26C-6857E1B32C44}"/>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48156"/>
          <a:stretch/>
        </p:blipFill>
        <p:spPr>
          <a:xfrm>
            <a:off x="5799484" y="3277891"/>
            <a:ext cx="1690896" cy="2947397"/>
          </a:xfrm>
          <a:prstGeom prst="rect">
            <a:avLst/>
          </a:prstGeom>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3314">
                                            <p:txEl>
                                              <p:pRg st="0" end="0"/>
                                            </p:txEl>
                                          </p:spTgt>
                                        </p:tgtEl>
                                        <p:attrNameLst>
                                          <p:attrName>style.visibility</p:attrName>
                                        </p:attrNameLst>
                                      </p:cBhvr>
                                      <p:to>
                                        <p:strVal val="visible"/>
                                      </p:to>
                                    </p:set>
                                    <p:animEffect transition="in" filter="randombar(horizontal)">
                                      <p:cBhvr>
                                        <p:cTn id="7" dur="500"/>
                                        <p:tgtEl>
                                          <p:spTgt spid="13314">
                                            <p:txEl>
                                              <p:pRg st="0" end="0"/>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randombar(horizontal)">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13314">
                                            <p:txEl>
                                              <p:pRg st="1" end="1"/>
                                            </p:txEl>
                                          </p:spTgt>
                                        </p:tgtEl>
                                        <p:attrNameLst>
                                          <p:attrName>style.visibility</p:attrName>
                                        </p:attrNameLst>
                                      </p:cBhvr>
                                      <p:to>
                                        <p:strVal val="visible"/>
                                      </p:to>
                                    </p:set>
                                    <p:animEffect transition="in" filter="randombar(horizontal)">
                                      <p:cBhvr>
                                        <p:cTn id="15" dur="500"/>
                                        <p:tgtEl>
                                          <p:spTgt spid="13314">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4" presetClass="entr" presetSubtype="10" fill="hold" grpId="0" nodeType="clickEffect">
                                  <p:stCondLst>
                                    <p:cond delay="0"/>
                                  </p:stCondLst>
                                  <p:childTnLst>
                                    <p:set>
                                      <p:cBhvr>
                                        <p:cTn id="19" dur="1" fill="hold">
                                          <p:stCondLst>
                                            <p:cond delay="0"/>
                                          </p:stCondLst>
                                        </p:cTn>
                                        <p:tgtEl>
                                          <p:spTgt spid="13314">
                                            <p:txEl>
                                              <p:pRg st="2" end="2"/>
                                            </p:txEl>
                                          </p:spTgt>
                                        </p:tgtEl>
                                        <p:attrNameLst>
                                          <p:attrName>style.visibility</p:attrName>
                                        </p:attrNameLst>
                                      </p:cBhvr>
                                      <p:to>
                                        <p:strVal val="visible"/>
                                      </p:to>
                                    </p:set>
                                    <p:animEffect transition="in" filter="randombar(horizontal)">
                                      <p:cBhvr>
                                        <p:cTn id="20" dur="500"/>
                                        <p:tgtEl>
                                          <p:spTgt spid="1331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4"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3"/>
          <p:cNvSpPr>
            <a:spLocks noGrp="1" noChangeArrowheads="1"/>
          </p:cNvSpPr>
          <p:nvPr>
            <p:ph type="body" idx="4294967295"/>
          </p:nvPr>
        </p:nvSpPr>
        <p:spPr>
          <a:xfrm>
            <a:off x="457200" y="1341438"/>
            <a:ext cx="8229600" cy="1801812"/>
          </a:xfrm>
          <a:ln/>
        </p:spPr>
        <p:txBody>
          <a:bodyPr/>
          <a:lstStyle/>
          <a:p>
            <a:pPr marL="457200" lvl="2" indent="-457200" eaLnBrk="1" hangingPunct="1">
              <a:lnSpc>
                <a:spcPct val="150000"/>
              </a:lnSpc>
              <a:buSzPct val="100000"/>
              <a:buFont typeface="Wingdings" panose="05000000000000000000" pitchFamily="2" charset="2"/>
              <a:buChar char="u"/>
            </a:pPr>
            <a:r>
              <a:rPr lang="zh-CN" altLang="en-US" sz="2200" b="0" dirty="0">
                <a:latin typeface="微软雅黑" panose="020B0503020204020204" pitchFamily="34" charset="-122"/>
                <a:ea typeface="微软雅黑" panose="020B0503020204020204" pitchFamily="34" charset="-122"/>
              </a:rPr>
              <a:t>盈亏状况</a:t>
            </a:r>
            <a:endParaRPr lang="en-US" altLang="zh-CN" sz="2200" b="0" dirty="0">
              <a:latin typeface="微软雅黑" panose="020B0503020204020204" pitchFamily="34" charset="-122"/>
              <a:ea typeface="微软雅黑" panose="020B0503020204020204" pitchFamily="34" charset="-122"/>
            </a:endParaRPr>
          </a:p>
          <a:p>
            <a:pPr marL="457200" lvl="1" indent="0" eaLnBrk="1" hangingPunct="1">
              <a:lnSpc>
                <a:spcPct val="150000"/>
              </a:lnSpc>
              <a:buNone/>
            </a:pPr>
            <a:r>
              <a:rPr lang="zh-CN" altLang="en-US" sz="2000" b="0" dirty="0">
                <a:latin typeface="微软雅黑" panose="020B0503020204020204" pitchFamily="34" charset="-122"/>
                <a:ea typeface="微软雅黑" panose="020B0503020204020204" pitchFamily="34" charset="-122"/>
              </a:rPr>
              <a:t>垄断企业利润最大化产量上，企业可能盈利、亏损和不亏不盈。</a:t>
            </a:r>
            <a:endParaRPr lang="en-US" altLang="zh-CN" sz="2300" b="0" dirty="0">
              <a:solidFill>
                <a:schemeClr val="bg2"/>
              </a:solidFill>
              <a:latin typeface="微软雅黑" panose="020B0503020204020204" pitchFamily="34" charset="-122"/>
              <a:ea typeface="微软雅黑" panose="020B0503020204020204" pitchFamily="34" charset="-122"/>
            </a:endParaRPr>
          </a:p>
          <a:p>
            <a:pPr marL="742950" lvl="2" indent="-342900" eaLnBrk="1" hangingPunct="1">
              <a:lnSpc>
                <a:spcPct val="150000"/>
              </a:lnSpc>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rPr>
              <a:t>利润最大化：盈利</a:t>
            </a:r>
            <a:endParaRPr lang="en-US" altLang="zh-CN" sz="2000" b="0" dirty="0">
              <a:latin typeface="微软雅黑" panose="020B0503020204020204" pitchFamily="34" charset="-122"/>
              <a:ea typeface="微软雅黑" panose="020B0503020204020204" pitchFamily="34" charset="-122"/>
            </a:endParaRPr>
          </a:p>
          <a:p>
            <a:pPr lvl="3" eaLnBrk="1" hangingPunct="1"/>
            <a:endParaRPr lang="zh-CN" altLang="en-US" sz="2400" b="0" dirty="0"/>
          </a:p>
        </p:txBody>
      </p:sp>
      <p:sp>
        <p:nvSpPr>
          <p:cNvPr id="14339" name="Line 4"/>
          <p:cNvSpPr>
            <a:spLocks noChangeShapeType="1"/>
          </p:cNvSpPr>
          <p:nvPr/>
        </p:nvSpPr>
        <p:spPr bwMode="auto">
          <a:xfrm flipV="1">
            <a:off x="4824413" y="3008313"/>
            <a:ext cx="1587" cy="2928937"/>
          </a:xfrm>
          <a:prstGeom prst="line">
            <a:avLst/>
          </a:prstGeom>
          <a:noFill/>
          <a:ln w="28575" cmpd="sng">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4340" name="Line 5"/>
          <p:cNvSpPr>
            <a:spLocks noChangeShapeType="1"/>
          </p:cNvSpPr>
          <p:nvPr/>
        </p:nvSpPr>
        <p:spPr bwMode="auto">
          <a:xfrm>
            <a:off x="4824413" y="5937250"/>
            <a:ext cx="3567112" cy="1588"/>
          </a:xfrm>
          <a:prstGeom prst="line">
            <a:avLst/>
          </a:prstGeom>
          <a:noFill/>
          <a:ln w="28575" cmpd="sng">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4341" name="Text Box 6"/>
          <p:cNvSpPr>
            <a:spLocks noChangeArrowheads="1"/>
          </p:cNvSpPr>
          <p:nvPr/>
        </p:nvSpPr>
        <p:spPr bwMode="auto">
          <a:xfrm>
            <a:off x="4508500" y="2857500"/>
            <a:ext cx="44291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800" b="0" dirty="0">
                <a:solidFill>
                  <a:srgbClr val="000000"/>
                </a:solidFill>
                <a:sym typeface="Arial" panose="020B0604020202020204" pitchFamily="34" charset="0"/>
              </a:rPr>
              <a:t>p</a:t>
            </a:r>
            <a:endParaRPr lang="zh-CN" altLang="en-US" dirty="0"/>
          </a:p>
        </p:txBody>
      </p:sp>
      <p:sp>
        <p:nvSpPr>
          <p:cNvPr id="14342" name="Text Box 7"/>
          <p:cNvSpPr>
            <a:spLocks noChangeArrowheads="1"/>
          </p:cNvSpPr>
          <p:nvPr/>
        </p:nvSpPr>
        <p:spPr bwMode="auto">
          <a:xfrm>
            <a:off x="4508500" y="5862638"/>
            <a:ext cx="339725" cy="382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800" b="0" dirty="0">
                <a:solidFill>
                  <a:srgbClr val="000000"/>
                </a:solidFill>
                <a:sym typeface="Arial" panose="020B0604020202020204" pitchFamily="34" charset="0"/>
              </a:rPr>
              <a:t>o</a:t>
            </a:r>
            <a:endParaRPr lang="zh-CN" altLang="en-US" dirty="0"/>
          </a:p>
        </p:txBody>
      </p:sp>
      <p:sp>
        <p:nvSpPr>
          <p:cNvPr id="14343" name="Text Box 8"/>
          <p:cNvSpPr>
            <a:spLocks noChangeArrowheads="1"/>
          </p:cNvSpPr>
          <p:nvPr/>
        </p:nvSpPr>
        <p:spPr bwMode="auto">
          <a:xfrm>
            <a:off x="8391525" y="5862638"/>
            <a:ext cx="546100" cy="382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800" b="0" dirty="0">
                <a:solidFill>
                  <a:srgbClr val="000000"/>
                </a:solidFill>
                <a:sym typeface="Arial" panose="020B0604020202020204" pitchFamily="34" charset="0"/>
              </a:rPr>
              <a:t>Q</a:t>
            </a:r>
            <a:endParaRPr lang="zh-CN" altLang="en-US" dirty="0"/>
          </a:p>
        </p:txBody>
      </p:sp>
      <p:sp>
        <p:nvSpPr>
          <p:cNvPr id="14344" name="未知"/>
          <p:cNvSpPr>
            <a:spLocks noChangeArrowheads="1"/>
          </p:cNvSpPr>
          <p:nvPr/>
        </p:nvSpPr>
        <p:spPr bwMode="auto">
          <a:xfrm>
            <a:off x="5688013" y="3810000"/>
            <a:ext cx="1465262" cy="1598613"/>
          </a:xfrm>
          <a:custGeom>
            <a:avLst/>
            <a:gdLst>
              <a:gd name="T0" fmla="*/ 2147483647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a:moveTo>
                  <a:pt x="21600" y="0"/>
                </a:moveTo>
                <a:cubicBezTo>
                  <a:pt x="20322" y="2525"/>
                  <a:pt x="17531" y="11543"/>
                  <a:pt x="13936" y="15143"/>
                </a:cubicBezTo>
                <a:cubicBezTo>
                  <a:pt x="10341" y="18743"/>
                  <a:pt x="2317" y="20525"/>
                  <a:pt x="0" y="21599"/>
                </a:cubicBezTo>
              </a:path>
            </a:pathLst>
          </a:custGeom>
          <a:noFill/>
          <a:ln w="28575" cmpd="sng">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zh-CN">
              <a:solidFill>
                <a:srgbClr val="000000"/>
              </a:solidFill>
              <a:sym typeface="Arial" panose="020B0604020202020204" pitchFamily="34" charset="0"/>
            </a:endParaRPr>
          </a:p>
        </p:txBody>
      </p:sp>
      <p:sp>
        <p:nvSpPr>
          <p:cNvPr id="14345" name="未知"/>
          <p:cNvSpPr>
            <a:spLocks noChangeArrowheads="1"/>
          </p:cNvSpPr>
          <p:nvPr/>
        </p:nvSpPr>
        <p:spPr bwMode="auto">
          <a:xfrm>
            <a:off x="5310188" y="3749675"/>
            <a:ext cx="2206625" cy="1149350"/>
          </a:xfrm>
          <a:custGeom>
            <a:avLst/>
            <a:gdLst>
              <a:gd name="T0" fmla="*/ 2147483647 w 21600"/>
              <a:gd name="T1" fmla="*/ 2147483647 h 21600"/>
              <a:gd name="T2" fmla="*/ 2147483647 w 21600"/>
              <a:gd name="T3" fmla="*/ 2147483647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a:moveTo>
                  <a:pt x="21600" y="1408"/>
                </a:moveTo>
                <a:cubicBezTo>
                  <a:pt x="20211" y="4736"/>
                  <a:pt x="16865" y="21600"/>
                  <a:pt x="13266" y="21363"/>
                </a:cubicBezTo>
                <a:cubicBezTo>
                  <a:pt x="9667" y="21126"/>
                  <a:pt x="2209" y="3564"/>
                  <a:pt x="0" y="0"/>
                </a:cubicBezTo>
              </a:path>
            </a:pathLst>
          </a:custGeom>
          <a:noFill/>
          <a:ln w="28575" cmpd="sng">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zh-CN">
              <a:solidFill>
                <a:srgbClr val="000000"/>
              </a:solidFill>
              <a:sym typeface="Arial" panose="020B0604020202020204" pitchFamily="34" charset="0"/>
            </a:endParaRPr>
          </a:p>
        </p:txBody>
      </p:sp>
      <p:sp>
        <p:nvSpPr>
          <p:cNvPr id="14346" name="Line 11"/>
          <p:cNvSpPr>
            <a:spLocks noChangeShapeType="1"/>
          </p:cNvSpPr>
          <p:nvPr/>
        </p:nvSpPr>
        <p:spPr bwMode="auto">
          <a:xfrm>
            <a:off x="4824413" y="3609975"/>
            <a:ext cx="3094037" cy="1576388"/>
          </a:xfrm>
          <a:prstGeom prst="line">
            <a:avLst/>
          </a:prstGeom>
          <a:noFill/>
          <a:ln w="28575" cmpd="sng">
            <a:solidFill>
              <a:srgbClr val="0070C0"/>
            </a:solidFill>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4347" name="Line 12"/>
          <p:cNvSpPr>
            <a:spLocks noChangeShapeType="1"/>
          </p:cNvSpPr>
          <p:nvPr/>
        </p:nvSpPr>
        <p:spPr bwMode="auto">
          <a:xfrm>
            <a:off x="4826000" y="3609975"/>
            <a:ext cx="1822450" cy="2028825"/>
          </a:xfrm>
          <a:prstGeom prst="line">
            <a:avLst/>
          </a:prstGeom>
          <a:noFill/>
          <a:ln w="28575" cmpd="sng">
            <a:solidFill>
              <a:srgbClr val="0070C0"/>
            </a:solidFill>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4348" name="Line 13"/>
          <p:cNvSpPr>
            <a:spLocks noChangeShapeType="1"/>
          </p:cNvSpPr>
          <p:nvPr/>
        </p:nvSpPr>
        <p:spPr bwMode="auto">
          <a:xfrm flipV="1">
            <a:off x="6251575" y="4359275"/>
            <a:ext cx="1588" cy="1577975"/>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4349" name="Line 14"/>
          <p:cNvSpPr>
            <a:spLocks noChangeShapeType="1"/>
          </p:cNvSpPr>
          <p:nvPr/>
        </p:nvSpPr>
        <p:spPr bwMode="auto">
          <a:xfrm flipH="1">
            <a:off x="4824413" y="4359275"/>
            <a:ext cx="1427162" cy="0"/>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4350" name="Line 15"/>
          <p:cNvSpPr>
            <a:spLocks noChangeShapeType="1"/>
          </p:cNvSpPr>
          <p:nvPr/>
        </p:nvSpPr>
        <p:spPr bwMode="auto">
          <a:xfrm flipH="1">
            <a:off x="4824413" y="4659313"/>
            <a:ext cx="1427162" cy="1587"/>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4351" name="Line 16"/>
          <p:cNvSpPr>
            <a:spLocks noChangeShapeType="1"/>
          </p:cNvSpPr>
          <p:nvPr/>
        </p:nvSpPr>
        <p:spPr bwMode="auto">
          <a:xfrm flipH="1">
            <a:off x="4824413" y="5186363"/>
            <a:ext cx="1427162" cy="1587"/>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4352" name="Text Box 17"/>
          <p:cNvSpPr>
            <a:spLocks noChangeArrowheads="1"/>
          </p:cNvSpPr>
          <p:nvPr/>
        </p:nvSpPr>
        <p:spPr bwMode="auto">
          <a:xfrm>
            <a:off x="6886575" y="3459163"/>
            <a:ext cx="633413"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MC</a:t>
            </a:r>
            <a:endParaRPr lang="zh-CN" altLang="en-US"/>
          </a:p>
        </p:txBody>
      </p:sp>
      <p:sp>
        <p:nvSpPr>
          <p:cNvPr id="14353" name="Text Box 18"/>
          <p:cNvSpPr>
            <a:spLocks noChangeArrowheads="1"/>
          </p:cNvSpPr>
          <p:nvPr/>
        </p:nvSpPr>
        <p:spPr bwMode="auto">
          <a:xfrm>
            <a:off x="7500938" y="3584575"/>
            <a:ext cx="733425"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AC</a:t>
            </a:r>
            <a:endParaRPr lang="zh-CN" altLang="en-US"/>
          </a:p>
        </p:txBody>
      </p:sp>
      <p:sp>
        <p:nvSpPr>
          <p:cNvPr id="14354" name="Text Box 19"/>
          <p:cNvSpPr>
            <a:spLocks noChangeArrowheads="1"/>
          </p:cNvSpPr>
          <p:nvPr/>
        </p:nvSpPr>
        <p:spPr bwMode="auto">
          <a:xfrm>
            <a:off x="7994650" y="5111750"/>
            <a:ext cx="95250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d =AR</a:t>
            </a:r>
            <a:endParaRPr lang="zh-CN" altLang="en-US"/>
          </a:p>
        </p:txBody>
      </p:sp>
      <p:sp>
        <p:nvSpPr>
          <p:cNvPr id="14355" name="Text Box 20"/>
          <p:cNvSpPr>
            <a:spLocks noChangeArrowheads="1"/>
          </p:cNvSpPr>
          <p:nvPr/>
        </p:nvSpPr>
        <p:spPr bwMode="auto">
          <a:xfrm>
            <a:off x="6648450" y="5562600"/>
            <a:ext cx="695325"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sym typeface="Arial" panose="020B0604020202020204" pitchFamily="34" charset="0"/>
              </a:rPr>
              <a:t>MR</a:t>
            </a:r>
            <a:endParaRPr lang="zh-CN" altLang="en-US" dirty="0"/>
          </a:p>
        </p:txBody>
      </p:sp>
      <p:sp>
        <p:nvSpPr>
          <p:cNvPr id="14356" name="Text Box 21"/>
          <p:cNvSpPr>
            <a:spLocks noChangeArrowheads="1"/>
          </p:cNvSpPr>
          <p:nvPr/>
        </p:nvSpPr>
        <p:spPr bwMode="auto">
          <a:xfrm>
            <a:off x="6092825" y="5937250"/>
            <a:ext cx="566738"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sym typeface="Arial" panose="020B0604020202020204" pitchFamily="34" charset="0"/>
              </a:rPr>
              <a:t>Q</a:t>
            </a:r>
            <a:r>
              <a:rPr lang="zh-CN" altLang="en-US" sz="1000" dirty="0">
                <a:solidFill>
                  <a:srgbClr val="000000"/>
                </a:solidFill>
                <a:sym typeface="Arial" panose="020B0604020202020204" pitchFamily="34" charset="0"/>
              </a:rPr>
              <a:t>0</a:t>
            </a:r>
            <a:endParaRPr lang="zh-CN" altLang="en-US" dirty="0"/>
          </a:p>
        </p:txBody>
      </p:sp>
      <p:sp>
        <p:nvSpPr>
          <p:cNvPr id="14357" name="Text Box 22"/>
          <p:cNvSpPr>
            <a:spLocks noChangeArrowheads="1"/>
          </p:cNvSpPr>
          <p:nvPr/>
        </p:nvSpPr>
        <p:spPr bwMode="auto">
          <a:xfrm>
            <a:off x="4459288" y="5048250"/>
            <a:ext cx="4445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sym typeface="Arial" panose="020B0604020202020204" pitchFamily="34" charset="0"/>
              </a:rPr>
              <a:t>P</a:t>
            </a:r>
            <a:r>
              <a:rPr lang="zh-CN" altLang="en-US" sz="1000" dirty="0">
                <a:solidFill>
                  <a:srgbClr val="000000"/>
                </a:solidFill>
                <a:sym typeface="Arial" panose="020B0604020202020204" pitchFamily="34" charset="0"/>
              </a:rPr>
              <a:t>2</a:t>
            </a:r>
            <a:endParaRPr lang="zh-CN" altLang="en-US" dirty="0"/>
          </a:p>
        </p:txBody>
      </p:sp>
      <p:sp>
        <p:nvSpPr>
          <p:cNvPr id="14358" name="Text Box 23"/>
          <p:cNvSpPr>
            <a:spLocks noChangeArrowheads="1"/>
          </p:cNvSpPr>
          <p:nvPr/>
        </p:nvSpPr>
        <p:spPr bwMode="auto">
          <a:xfrm>
            <a:off x="4429125" y="4135438"/>
            <a:ext cx="538163"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sym typeface="Arial" panose="020B0604020202020204" pitchFamily="34" charset="0"/>
              </a:rPr>
              <a:t>P</a:t>
            </a:r>
            <a:r>
              <a:rPr lang="zh-CN" altLang="en-US" sz="1000" dirty="0">
                <a:solidFill>
                  <a:srgbClr val="000000"/>
                </a:solidFill>
                <a:sym typeface="Arial" panose="020B0604020202020204" pitchFamily="34" charset="0"/>
              </a:rPr>
              <a:t>0</a:t>
            </a:r>
            <a:endParaRPr lang="zh-CN" altLang="en-US" dirty="0"/>
          </a:p>
        </p:txBody>
      </p:sp>
      <p:sp>
        <p:nvSpPr>
          <p:cNvPr id="14359" name="Text Box 24"/>
          <p:cNvSpPr>
            <a:spLocks noChangeArrowheads="1"/>
          </p:cNvSpPr>
          <p:nvPr/>
        </p:nvSpPr>
        <p:spPr bwMode="auto">
          <a:xfrm>
            <a:off x="4429125" y="4510088"/>
            <a:ext cx="490538"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sym typeface="Arial" panose="020B0604020202020204" pitchFamily="34" charset="0"/>
              </a:rPr>
              <a:t>P</a:t>
            </a:r>
            <a:r>
              <a:rPr lang="zh-CN" altLang="en-US" sz="1000" dirty="0">
                <a:solidFill>
                  <a:srgbClr val="000000"/>
                </a:solidFill>
                <a:sym typeface="Arial" panose="020B0604020202020204" pitchFamily="34" charset="0"/>
              </a:rPr>
              <a:t>1</a:t>
            </a:r>
            <a:endParaRPr lang="zh-CN" altLang="en-US" dirty="0"/>
          </a:p>
        </p:txBody>
      </p:sp>
      <p:sp>
        <p:nvSpPr>
          <p:cNvPr id="14360" name="圆角矩形标注 25"/>
          <p:cNvSpPr>
            <a:spLocks noChangeArrowheads="1"/>
          </p:cNvSpPr>
          <p:nvPr/>
        </p:nvSpPr>
        <p:spPr bwMode="auto">
          <a:xfrm>
            <a:off x="704160" y="3852504"/>
            <a:ext cx="2571750" cy="1736646"/>
          </a:xfrm>
          <a:prstGeom prst="wedgeRoundRectCallout">
            <a:avLst>
              <a:gd name="adj1" fmla="val 106535"/>
              <a:gd name="adj2" fmla="val -10468"/>
              <a:gd name="adj3" fmla="val 16667"/>
            </a:avLst>
          </a:prstGeom>
          <a:solidFill>
            <a:schemeClr val="bg1"/>
          </a:solidFill>
          <a:ln>
            <a:solidFill>
              <a:srgbClr val="C00000"/>
            </a:solidFill>
          </a:ln>
        </p:spPr>
        <p:style>
          <a:lnRef idx="3">
            <a:schemeClr val="lt1"/>
          </a:lnRef>
          <a:fillRef idx="1">
            <a:schemeClr val="accent1"/>
          </a:fillRef>
          <a:effectRef idx="1">
            <a:schemeClr val="accent1"/>
          </a:effectRef>
          <a:fontRef idx="minor">
            <a:schemeClr val="lt1"/>
          </a:fontRef>
        </p:style>
        <p:txBody>
          <a:bodyPr>
            <a:spAutoFit/>
          </a:bodyPr>
          <a:lstStyle/>
          <a:p>
            <a:pPr algn="just"/>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在利润最大化产量</a:t>
            </a:r>
            <a:r>
              <a:rPr lang="en-US" altLang="zh-CN" b="0" dirty="0">
                <a:solidFill>
                  <a:schemeClr val="tx1"/>
                </a:solidFill>
                <a:sym typeface="Arial" panose="020B0604020202020204" pitchFamily="34" charset="0"/>
              </a:rPr>
              <a:t>Q</a:t>
            </a:r>
            <a:r>
              <a:rPr lang="en-US" altLang="zh-CN" sz="1050" b="0" dirty="0">
                <a:solidFill>
                  <a:schemeClr val="tx1"/>
                </a:solidFill>
                <a:sym typeface="Arial" panose="020B0604020202020204" pitchFamily="34" charset="0"/>
              </a:rPr>
              <a:t>0</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上</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平均收益为</a:t>
            </a:r>
            <a:r>
              <a:rPr lang="zh-CN" altLang="en-US" dirty="0">
                <a:solidFill>
                  <a:schemeClr val="tx1"/>
                </a:solidFill>
                <a:sym typeface="Arial" panose="020B0604020202020204" pitchFamily="34" charset="0"/>
              </a:rPr>
              <a:t>P</a:t>
            </a:r>
            <a:r>
              <a:rPr lang="zh-CN" altLang="en-US" sz="1000" dirty="0">
                <a:solidFill>
                  <a:schemeClr val="tx1"/>
                </a:solidFill>
                <a:sym typeface="Arial" panose="020B0604020202020204" pitchFamily="34" charset="0"/>
              </a:rPr>
              <a:t>0</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平均成本为</a:t>
            </a:r>
            <a:r>
              <a:rPr lang="zh-CN" altLang="en-US" dirty="0">
                <a:solidFill>
                  <a:schemeClr val="tx1"/>
                </a:solidFill>
                <a:sym typeface="Arial" panose="020B0604020202020204" pitchFamily="34" charset="0"/>
              </a:rPr>
              <a:t>P</a:t>
            </a:r>
            <a:r>
              <a:rPr lang="zh-CN" altLang="en-US" sz="1000" dirty="0">
                <a:solidFill>
                  <a:schemeClr val="tx1"/>
                </a:solidFill>
                <a:sym typeface="Arial" panose="020B0604020202020204" pitchFamily="34" charset="0"/>
              </a:rPr>
              <a:t>1</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由于</a:t>
            </a:r>
            <a:r>
              <a:rPr lang="zh-CN" altLang="en-US" dirty="0">
                <a:solidFill>
                  <a:schemeClr val="tx1"/>
                </a:solidFill>
                <a:sym typeface="Arial" panose="020B0604020202020204" pitchFamily="34" charset="0"/>
              </a:rPr>
              <a:t>P</a:t>
            </a:r>
            <a:r>
              <a:rPr lang="zh-CN" altLang="en-US" sz="1000" dirty="0">
                <a:solidFill>
                  <a:schemeClr val="tx1"/>
                </a:solidFill>
                <a:sym typeface="Arial" panose="020B0604020202020204" pitchFamily="34" charset="0"/>
              </a:rPr>
              <a:t>0</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大于</a:t>
            </a:r>
            <a:r>
              <a:rPr lang="zh-CN" altLang="en-US" dirty="0">
                <a:solidFill>
                  <a:schemeClr val="tx1"/>
                </a:solidFill>
                <a:sym typeface="Arial" panose="020B0604020202020204" pitchFamily="34" charset="0"/>
              </a:rPr>
              <a:t>P</a:t>
            </a:r>
            <a:r>
              <a:rPr lang="zh-CN" altLang="en-US" sz="1000" dirty="0">
                <a:solidFill>
                  <a:schemeClr val="tx1"/>
                </a:solidFill>
                <a:sym typeface="Arial" panose="020B0604020202020204" pitchFamily="34" charset="0"/>
              </a:rPr>
              <a:t>1</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故存在经济利润</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此时的经济利润就是垄断利润</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其大小等于</a:t>
            </a:r>
            <a:r>
              <a:rPr lang="en-US" altLang="zh-CN" b="0" dirty="0">
                <a:solidFill>
                  <a:schemeClr val="tx1"/>
                </a:solidFill>
                <a:sym typeface="Arial" panose="020B0604020202020204" pitchFamily="34" charset="0"/>
              </a:rPr>
              <a:t>(P</a:t>
            </a:r>
            <a:r>
              <a:rPr lang="en-US" altLang="zh-CN" sz="1050" b="0" dirty="0">
                <a:solidFill>
                  <a:schemeClr val="tx1"/>
                </a:solidFill>
                <a:sym typeface="Arial" panose="020B0604020202020204" pitchFamily="34" charset="0"/>
              </a:rPr>
              <a:t>0</a:t>
            </a:r>
            <a:r>
              <a:rPr lang="en-US" altLang="zh-CN" b="0" dirty="0">
                <a:solidFill>
                  <a:schemeClr val="tx1"/>
                </a:solidFill>
                <a:sym typeface="Arial" panose="020B0604020202020204" pitchFamily="34" charset="0"/>
              </a:rPr>
              <a:t>-P</a:t>
            </a:r>
            <a:r>
              <a:rPr lang="en-US" altLang="zh-CN" sz="1050" b="0" dirty="0">
                <a:solidFill>
                  <a:schemeClr val="tx1"/>
                </a:solidFill>
                <a:sym typeface="Arial" panose="020B0604020202020204" pitchFamily="34" charset="0"/>
              </a:rPr>
              <a:t>1</a:t>
            </a:r>
            <a:r>
              <a:rPr lang="en-US" altLang="zh-CN" b="0" dirty="0">
                <a:solidFill>
                  <a:schemeClr val="tx1"/>
                </a:solidFill>
                <a:sym typeface="Arial" panose="020B0604020202020204" pitchFamily="34" charset="0"/>
              </a:rPr>
              <a:t>)Q</a:t>
            </a:r>
            <a:r>
              <a:rPr lang="en-US" altLang="zh-CN" sz="1050" b="0" dirty="0">
                <a:solidFill>
                  <a:schemeClr val="tx1"/>
                </a:solidFill>
                <a:sym typeface="Arial" panose="020B0604020202020204" pitchFamily="34" charset="0"/>
              </a:rPr>
              <a:t>0</a:t>
            </a:r>
            <a:endPar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7" name="矩形 26">
            <a:extLst>
              <a:ext uri="{FF2B5EF4-FFF2-40B4-BE49-F238E27FC236}">
                <a16:creationId xmlns:a16="http://schemas.microsoft.com/office/drawing/2014/main" id="{F68E5273-CD77-47B9-B841-9D29349C133D}"/>
              </a:ext>
            </a:extLst>
          </p:cNvPr>
          <p:cNvSpPr/>
          <p:nvPr/>
        </p:nvSpPr>
        <p:spPr>
          <a:xfrm>
            <a:off x="467544" y="548680"/>
            <a:ext cx="3781805"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spc="150" dirty="0">
                <a:solidFill>
                  <a:srgbClr val="FFFFFF"/>
                </a:solidFill>
                <a:latin typeface="微软雅黑" panose="020B0503020204020204" pitchFamily="34" charset="-122"/>
                <a:ea typeface="微软雅黑" panose="020B0503020204020204" pitchFamily="34" charset="-122"/>
              </a:rPr>
              <a:t>三</a:t>
            </a:r>
            <a:r>
              <a:rPr lang="zh-CN" altLang="en-US" sz="2400" b="1" spc="150" dirty="0">
                <a:solidFill>
                  <a:srgbClr val="FFFFFF"/>
                </a:solidFill>
                <a:latin typeface="微软雅黑" panose="020B0503020204020204" pitchFamily="34" charset="-122"/>
                <a:ea typeface="微软雅黑" panose="020B0503020204020204" pitchFamily="34" charset="-122"/>
              </a:rPr>
              <a:t>、</a:t>
            </a:r>
            <a:r>
              <a:rPr lang="zh-CN" altLang="en-US" sz="2400" spc="15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垄断企业的短期均衡</a:t>
            </a:r>
            <a:endParaRPr lang="zh-CN" altLang="en-US" sz="2400" b="1" spc="150" dirty="0">
              <a:solidFill>
                <a:srgbClr val="FFFFFF"/>
              </a:solidFill>
              <a:latin typeface="微软雅黑" panose="020B0503020204020204" pitchFamily="34" charset="-122"/>
              <a:ea typeface="微软雅黑" panose="020B0503020204020204" pitchFamily="34" charset="-122"/>
            </a:endParaRPr>
          </a:p>
        </p:txBody>
      </p:sp>
      <p:sp>
        <p:nvSpPr>
          <p:cNvPr id="28" name="矩形 27"/>
          <p:cNvSpPr/>
          <p:nvPr/>
        </p:nvSpPr>
        <p:spPr>
          <a:xfrm>
            <a:off x="7505410" y="35458"/>
            <a:ext cx="1638590" cy="369332"/>
          </a:xfrm>
          <a:prstGeom prst="rect">
            <a:avLst/>
          </a:prstGeom>
        </p:spPr>
        <p:txBody>
          <a:bodyPr wrap="none">
            <a:spAutoFit/>
          </a:bodyPr>
          <a:lstStyle/>
          <a:p>
            <a:pPr algn="dist"/>
            <a:r>
              <a:rPr lang="zh-CN" altLang="en-US" sz="1800" b="0" spc="30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第一节 垄断</a:t>
            </a:r>
            <a:endParaRPr lang="zh-CN" altLang="en-US" sz="1800" b="0" spc="300" dirty="0">
              <a:solidFill>
                <a:schemeClr val="tx2"/>
              </a:solidFill>
              <a:ea typeface="黑体" panose="02010609060101010101" pitchFamily="49" charset="-122"/>
              <a:sym typeface="Arial" panose="020B0604020202020204" pitchFamily="34" charset="0"/>
            </a:endParaRPr>
          </a:p>
        </p:txBody>
      </p:sp>
      <p:sp>
        <p:nvSpPr>
          <p:cNvPr id="2" name="矩形 1">
            <a:extLst>
              <a:ext uri="{FF2B5EF4-FFF2-40B4-BE49-F238E27FC236}">
                <a16:creationId xmlns:a16="http://schemas.microsoft.com/office/drawing/2014/main" id="{9AB2FC65-90AD-4156-A9F3-42F1AC7D86A5}"/>
              </a:ext>
            </a:extLst>
          </p:cNvPr>
          <p:cNvSpPr/>
          <p:nvPr/>
        </p:nvSpPr>
        <p:spPr bwMode="auto">
          <a:xfrm>
            <a:off x="4834291" y="4374354"/>
            <a:ext cx="1420459" cy="293689"/>
          </a:xfrm>
          <a:prstGeom prst="rect">
            <a:avLst/>
          </a:prstGeom>
          <a:solidFill>
            <a:srgbClr val="C0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         </a:t>
            </a:r>
            <a:r>
              <a:rPr lang="zh-CN" altLang="en-US" sz="14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盈利</a:t>
            </a:r>
            <a:endParaRPr kumimoji="0" lang="zh-CN" altLang="en-US" sz="1400" i="0" u="none" strike="noStrike" cap="none" normalizeH="0" baseline="0" dirty="0">
              <a:ln>
                <a:noFill/>
              </a:ln>
              <a:solidFill>
                <a:schemeClr val="bg1"/>
              </a:solidFill>
              <a:effectLst/>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4338">
                                            <p:txEl>
                                              <p:pRg st="0" end="0"/>
                                            </p:txEl>
                                          </p:spTgt>
                                        </p:tgtEl>
                                        <p:attrNameLst>
                                          <p:attrName>style.visibility</p:attrName>
                                        </p:attrNameLst>
                                      </p:cBhvr>
                                      <p:to>
                                        <p:strVal val="visible"/>
                                      </p:to>
                                    </p:set>
                                    <p:animEffect>
                                      <p:cBhvr>
                                        <p:cTn id="7" dur="500"/>
                                        <p:tgtEl>
                                          <p:spTgt spid="1433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4338">
                                            <p:txEl>
                                              <p:pRg st="1" end="1"/>
                                            </p:txEl>
                                          </p:spTgt>
                                        </p:tgtEl>
                                        <p:attrNameLst>
                                          <p:attrName>style.visibility</p:attrName>
                                        </p:attrNameLst>
                                      </p:cBhvr>
                                      <p:to>
                                        <p:strVal val="visible"/>
                                      </p:to>
                                    </p:set>
                                    <p:animEffect>
                                      <p:cBhvr>
                                        <p:cTn id="12" dur="500"/>
                                        <p:tgtEl>
                                          <p:spTgt spid="14338">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4338">
                                            <p:txEl>
                                              <p:pRg st="2" end="2"/>
                                            </p:txEl>
                                          </p:spTgt>
                                        </p:tgtEl>
                                        <p:attrNameLst>
                                          <p:attrName>style.visibility</p:attrName>
                                        </p:attrNameLst>
                                      </p:cBhvr>
                                      <p:to>
                                        <p:strVal val="visible"/>
                                      </p:to>
                                    </p:set>
                                    <p:animEffect>
                                      <p:cBhvr>
                                        <p:cTn id="17" dur="500"/>
                                        <p:tgtEl>
                                          <p:spTgt spid="1433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14340"/>
                                        </p:tgtEl>
                                        <p:attrNameLst>
                                          <p:attrName>style.visibility</p:attrName>
                                        </p:attrNameLst>
                                      </p:cBhvr>
                                      <p:to>
                                        <p:strVal val="visible"/>
                                      </p:to>
                                    </p:set>
                                    <p:animEffect transition="in" filter="randombar(horizontal)">
                                      <p:cBhvr>
                                        <p:cTn id="22" dur="500"/>
                                        <p:tgtEl>
                                          <p:spTgt spid="14340"/>
                                        </p:tgtEl>
                                      </p:cBhvr>
                                    </p:animEffect>
                                  </p:childTnLst>
                                </p:cTn>
                              </p:par>
                              <p:par>
                                <p:cTn id="23" presetID="14" presetClass="entr" presetSubtype="10" fill="hold" grpId="0" nodeType="withEffect">
                                  <p:stCondLst>
                                    <p:cond delay="0"/>
                                  </p:stCondLst>
                                  <p:childTnLst>
                                    <p:set>
                                      <p:cBhvr>
                                        <p:cTn id="24" dur="1" fill="hold">
                                          <p:stCondLst>
                                            <p:cond delay="0"/>
                                          </p:stCondLst>
                                        </p:cTn>
                                        <p:tgtEl>
                                          <p:spTgt spid="14339"/>
                                        </p:tgtEl>
                                        <p:attrNameLst>
                                          <p:attrName>style.visibility</p:attrName>
                                        </p:attrNameLst>
                                      </p:cBhvr>
                                      <p:to>
                                        <p:strVal val="visible"/>
                                      </p:to>
                                    </p:set>
                                    <p:animEffect transition="in" filter="randombar(horizontal)">
                                      <p:cBhvr>
                                        <p:cTn id="25" dur="500"/>
                                        <p:tgtEl>
                                          <p:spTgt spid="14339"/>
                                        </p:tgtEl>
                                      </p:cBhvr>
                                    </p:animEffect>
                                  </p:childTnLst>
                                </p:cTn>
                              </p:par>
                            </p:childTnLst>
                          </p:cTn>
                        </p:par>
                      </p:childTnLst>
                    </p:cTn>
                  </p:par>
                  <p:par>
                    <p:cTn id="26" fill="hold">
                      <p:stCondLst>
                        <p:cond delay="indefinite"/>
                      </p:stCondLst>
                      <p:childTnLst>
                        <p:par>
                          <p:cTn id="27" fill="hold">
                            <p:stCondLst>
                              <p:cond delay="0"/>
                            </p:stCondLst>
                            <p:childTnLst>
                              <p:par>
                                <p:cTn id="28" presetID="16" presetClass="entr" presetSubtype="21" fill="hold" grpId="0" nodeType="clickEffect">
                                  <p:stCondLst>
                                    <p:cond delay="0"/>
                                  </p:stCondLst>
                                  <p:childTnLst>
                                    <p:set>
                                      <p:cBhvr>
                                        <p:cTn id="29" dur="1" fill="hold">
                                          <p:stCondLst>
                                            <p:cond delay="0"/>
                                          </p:stCondLst>
                                        </p:cTn>
                                        <p:tgtEl>
                                          <p:spTgt spid="14341"/>
                                        </p:tgtEl>
                                        <p:attrNameLst>
                                          <p:attrName>style.visibility</p:attrName>
                                        </p:attrNameLst>
                                      </p:cBhvr>
                                      <p:to>
                                        <p:strVal val="visible"/>
                                      </p:to>
                                    </p:set>
                                    <p:animEffect transition="in" filter="barn(inVertical)">
                                      <p:cBhvr>
                                        <p:cTn id="30" dur="500"/>
                                        <p:tgtEl>
                                          <p:spTgt spid="14341"/>
                                        </p:tgtEl>
                                      </p:cBhvr>
                                    </p:animEffect>
                                  </p:childTnLst>
                                </p:cTn>
                              </p:par>
                              <p:par>
                                <p:cTn id="31" presetID="16" presetClass="entr" presetSubtype="21" fill="hold" grpId="0" nodeType="withEffect">
                                  <p:stCondLst>
                                    <p:cond delay="0"/>
                                  </p:stCondLst>
                                  <p:childTnLst>
                                    <p:set>
                                      <p:cBhvr>
                                        <p:cTn id="32" dur="1" fill="hold">
                                          <p:stCondLst>
                                            <p:cond delay="0"/>
                                          </p:stCondLst>
                                        </p:cTn>
                                        <p:tgtEl>
                                          <p:spTgt spid="14343"/>
                                        </p:tgtEl>
                                        <p:attrNameLst>
                                          <p:attrName>style.visibility</p:attrName>
                                        </p:attrNameLst>
                                      </p:cBhvr>
                                      <p:to>
                                        <p:strVal val="visible"/>
                                      </p:to>
                                    </p:set>
                                    <p:animEffect transition="in" filter="barn(inVertical)">
                                      <p:cBhvr>
                                        <p:cTn id="33" dur="500"/>
                                        <p:tgtEl>
                                          <p:spTgt spid="14343"/>
                                        </p:tgtEl>
                                      </p:cBhvr>
                                    </p:animEffect>
                                  </p:childTnLst>
                                </p:cTn>
                              </p:par>
                              <p:par>
                                <p:cTn id="34" presetID="16" presetClass="entr" presetSubtype="21" fill="hold" grpId="0" nodeType="withEffect">
                                  <p:stCondLst>
                                    <p:cond delay="0"/>
                                  </p:stCondLst>
                                  <p:childTnLst>
                                    <p:set>
                                      <p:cBhvr>
                                        <p:cTn id="35" dur="1" fill="hold">
                                          <p:stCondLst>
                                            <p:cond delay="0"/>
                                          </p:stCondLst>
                                        </p:cTn>
                                        <p:tgtEl>
                                          <p:spTgt spid="14342"/>
                                        </p:tgtEl>
                                        <p:attrNameLst>
                                          <p:attrName>style.visibility</p:attrName>
                                        </p:attrNameLst>
                                      </p:cBhvr>
                                      <p:to>
                                        <p:strVal val="visible"/>
                                      </p:to>
                                    </p:set>
                                    <p:animEffect transition="in" filter="barn(inVertical)">
                                      <p:cBhvr>
                                        <p:cTn id="36" dur="500"/>
                                        <p:tgtEl>
                                          <p:spTgt spid="14342"/>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grpId="0" nodeType="clickEffect">
                                  <p:stCondLst>
                                    <p:cond delay="0"/>
                                  </p:stCondLst>
                                  <p:childTnLst>
                                    <p:set>
                                      <p:cBhvr>
                                        <p:cTn id="40" dur="1" fill="hold">
                                          <p:stCondLst>
                                            <p:cond delay="0"/>
                                          </p:stCondLst>
                                        </p:cTn>
                                        <p:tgtEl>
                                          <p:spTgt spid="14349"/>
                                        </p:tgtEl>
                                        <p:attrNameLst>
                                          <p:attrName>style.visibility</p:attrName>
                                        </p:attrNameLst>
                                      </p:cBhvr>
                                      <p:to>
                                        <p:strVal val="visible"/>
                                      </p:to>
                                    </p:set>
                                    <p:animEffect transition="in" filter="wipe(down)">
                                      <p:cBhvr>
                                        <p:cTn id="41" dur="500"/>
                                        <p:tgtEl>
                                          <p:spTgt spid="14349"/>
                                        </p:tgtEl>
                                      </p:cBhvr>
                                    </p:animEffect>
                                  </p:childTnLst>
                                </p:cTn>
                              </p:par>
                              <p:par>
                                <p:cTn id="42" presetID="22" presetClass="entr" presetSubtype="4" fill="hold" grpId="0" nodeType="withEffect">
                                  <p:stCondLst>
                                    <p:cond delay="0"/>
                                  </p:stCondLst>
                                  <p:childTnLst>
                                    <p:set>
                                      <p:cBhvr>
                                        <p:cTn id="43" dur="1" fill="hold">
                                          <p:stCondLst>
                                            <p:cond delay="0"/>
                                          </p:stCondLst>
                                        </p:cTn>
                                        <p:tgtEl>
                                          <p:spTgt spid="14350"/>
                                        </p:tgtEl>
                                        <p:attrNameLst>
                                          <p:attrName>style.visibility</p:attrName>
                                        </p:attrNameLst>
                                      </p:cBhvr>
                                      <p:to>
                                        <p:strVal val="visible"/>
                                      </p:to>
                                    </p:set>
                                    <p:animEffect transition="in" filter="wipe(down)">
                                      <p:cBhvr>
                                        <p:cTn id="44" dur="500"/>
                                        <p:tgtEl>
                                          <p:spTgt spid="14350"/>
                                        </p:tgtEl>
                                      </p:cBhvr>
                                    </p:animEffect>
                                  </p:childTnLst>
                                </p:cTn>
                              </p:par>
                              <p:par>
                                <p:cTn id="45" presetID="22" presetClass="entr" presetSubtype="4" fill="hold" grpId="0" nodeType="withEffect">
                                  <p:stCondLst>
                                    <p:cond delay="0"/>
                                  </p:stCondLst>
                                  <p:childTnLst>
                                    <p:set>
                                      <p:cBhvr>
                                        <p:cTn id="46" dur="1" fill="hold">
                                          <p:stCondLst>
                                            <p:cond delay="0"/>
                                          </p:stCondLst>
                                        </p:cTn>
                                        <p:tgtEl>
                                          <p:spTgt spid="14351"/>
                                        </p:tgtEl>
                                        <p:attrNameLst>
                                          <p:attrName>style.visibility</p:attrName>
                                        </p:attrNameLst>
                                      </p:cBhvr>
                                      <p:to>
                                        <p:strVal val="visible"/>
                                      </p:to>
                                    </p:set>
                                    <p:animEffect transition="in" filter="wipe(down)">
                                      <p:cBhvr>
                                        <p:cTn id="47" dur="500"/>
                                        <p:tgtEl>
                                          <p:spTgt spid="14351"/>
                                        </p:tgtEl>
                                      </p:cBhvr>
                                    </p:animEffect>
                                  </p:childTnLst>
                                </p:cTn>
                              </p:par>
                              <p:par>
                                <p:cTn id="48" presetID="22" presetClass="entr" presetSubtype="4" fill="hold" grpId="0" nodeType="withEffect">
                                  <p:stCondLst>
                                    <p:cond delay="0"/>
                                  </p:stCondLst>
                                  <p:childTnLst>
                                    <p:set>
                                      <p:cBhvr>
                                        <p:cTn id="49" dur="1" fill="hold">
                                          <p:stCondLst>
                                            <p:cond delay="0"/>
                                          </p:stCondLst>
                                        </p:cTn>
                                        <p:tgtEl>
                                          <p:spTgt spid="14348"/>
                                        </p:tgtEl>
                                        <p:attrNameLst>
                                          <p:attrName>style.visibility</p:attrName>
                                        </p:attrNameLst>
                                      </p:cBhvr>
                                      <p:to>
                                        <p:strVal val="visible"/>
                                      </p:to>
                                    </p:set>
                                    <p:animEffect transition="in" filter="wipe(down)">
                                      <p:cBhvr>
                                        <p:cTn id="50" dur="500"/>
                                        <p:tgtEl>
                                          <p:spTgt spid="14348"/>
                                        </p:tgtEl>
                                      </p:cBhvr>
                                    </p:animEffect>
                                  </p:childTnLst>
                                </p:cTn>
                              </p:par>
                            </p:childTnLst>
                          </p:cTn>
                        </p:par>
                      </p:childTnLst>
                    </p:cTn>
                  </p:par>
                  <p:par>
                    <p:cTn id="51" fill="hold">
                      <p:stCondLst>
                        <p:cond delay="indefinite"/>
                      </p:stCondLst>
                      <p:childTnLst>
                        <p:par>
                          <p:cTn id="52" fill="hold">
                            <p:stCondLst>
                              <p:cond delay="0"/>
                            </p:stCondLst>
                            <p:childTnLst>
                              <p:par>
                                <p:cTn id="53" presetID="16" presetClass="entr" presetSubtype="21" fill="hold" grpId="0" nodeType="clickEffect">
                                  <p:stCondLst>
                                    <p:cond delay="0"/>
                                  </p:stCondLst>
                                  <p:childTnLst>
                                    <p:set>
                                      <p:cBhvr>
                                        <p:cTn id="54" dur="1" fill="hold">
                                          <p:stCondLst>
                                            <p:cond delay="0"/>
                                          </p:stCondLst>
                                        </p:cTn>
                                        <p:tgtEl>
                                          <p:spTgt spid="14358"/>
                                        </p:tgtEl>
                                        <p:attrNameLst>
                                          <p:attrName>style.visibility</p:attrName>
                                        </p:attrNameLst>
                                      </p:cBhvr>
                                      <p:to>
                                        <p:strVal val="visible"/>
                                      </p:to>
                                    </p:set>
                                    <p:animEffect transition="in" filter="barn(inVertical)">
                                      <p:cBhvr>
                                        <p:cTn id="55" dur="500"/>
                                        <p:tgtEl>
                                          <p:spTgt spid="14358"/>
                                        </p:tgtEl>
                                      </p:cBhvr>
                                    </p:animEffect>
                                  </p:childTnLst>
                                </p:cTn>
                              </p:par>
                              <p:par>
                                <p:cTn id="56" presetID="16" presetClass="entr" presetSubtype="21" fill="hold" grpId="0" nodeType="withEffect">
                                  <p:stCondLst>
                                    <p:cond delay="0"/>
                                  </p:stCondLst>
                                  <p:childTnLst>
                                    <p:set>
                                      <p:cBhvr>
                                        <p:cTn id="57" dur="1" fill="hold">
                                          <p:stCondLst>
                                            <p:cond delay="0"/>
                                          </p:stCondLst>
                                        </p:cTn>
                                        <p:tgtEl>
                                          <p:spTgt spid="14359"/>
                                        </p:tgtEl>
                                        <p:attrNameLst>
                                          <p:attrName>style.visibility</p:attrName>
                                        </p:attrNameLst>
                                      </p:cBhvr>
                                      <p:to>
                                        <p:strVal val="visible"/>
                                      </p:to>
                                    </p:set>
                                    <p:animEffect transition="in" filter="barn(inVertical)">
                                      <p:cBhvr>
                                        <p:cTn id="58" dur="500"/>
                                        <p:tgtEl>
                                          <p:spTgt spid="14359"/>
                                        </p:tgtEl>
                                      </p:cBhvr>
                                    </p:animEffect>
                                  </p:childTnLst>
                                </p:cTn>
                              </p:par>
                              <p:par>
                                <p:cTn id="59" presetID="16" presetClass="entr" presetSubtype="21" fill="hold" grpId="0" nodeType="withEffect">
                                  <p:stCondLst>
                                    <p:cond delay="0"/>
                                  </p:stCondLst>
                                  <p:childTnLst>
                                    <p:set>
                                      <p:cBhvr>
                                        <p:cTn id="60" dur="1" fill="hold">
                                          <p:stCondLst>
                                            <p:cond delay="0"/>
                                          </p:stCondLst>
                                        </p:cTn>
                                        <p:tgtEl>
                                          <p:spTgt spid="14357"/>
                                        </p:tgtEl>
                                        <p:attrNameLst>
                                          <p:attrName>style.visibility</p:attrName>
                                        </p:attrNameLst>
                                      </p:cBhvr>
                                      <p:to>
                                        <p:strVal val="visible"/>
                                      </p:to>
                                    </p:set>
                                    <p:animEffect transition="in" filter="barn(inVertical)">
                                      <p:cBhvr>
                                        <p:cTn id="61" dur="500"/>
                                        <p:tgtEl>
                                          <p:spTgt spid="14357"/>
                                        </p:tgtEl>
                                      </p:cBhvr>
                                    </p:animEffect>
                                  </p:childTnLst>
                                </p:cTn>
                              </p:par>
                              <p:par>
                                <p:cTn id="62" presetID="16" presetClass="entr" presetSubtype="21" fill="hold" grpId="0" nodeType="withEffect">
                                  <p:stCondLst>
                                    <p:cond delay="0"/>
                                  </p:stCondLst>
                                  <p:childTnLst>
                                    <p:set>
                                      <p:cBhvr>
                                        <p:cTn id="63" dur="1" fill="hold">
                                          <p:stCondLst>
                                            <p:cond delay="0"/>
                                          </p:stCondLst>
                                        </p:cTn>
                                        <p:tgtEl>
                                          <p:spTgt spid="14356"/>
                                        </p:tgtEl>
                                        <p:attrNameLst>
                                          <p:attrName>style.visibility</p:attrName>
                                        </p:attrNameLst>
                                      </p:cBhvr>
                                      <p:to>
                                        <p:strVal val="visible"/>
                                      </p:to>
                                    </p:set>
                                    <p:animEffect transition="in" filter="barn(inVertical)">
                                      <p:cBhvr>
                                        <p:cTn id="64" dur="500"/>
                                        <p:tgtEl>
                                          <p:spTgt spid="14356"/>
                                        </p:tgtEl>
                                      </p:cBhvr>
                                    </p:animEffect>
                                  </p:childTnLst>
                                </p:cTn>
                              </p:par>
                            </p:childTnLst>
                          </p:cTn>
                        </p:par>
                      </p:childTnLst>
                    </p:cTn>
                  </p:par>
                  <p:par>
                    <p:cTn id="65" fill="hold">
                      <p:stCondLst>
                        <p:cond delay="indefinite"/>
                      </p:stCondLst>
                      <p:childTnLst>
                        <p:par>
                          <p:cTn id="66" fill="hold">
                            <p:stCondLst>
                              <p:cond delay="0"/>
                            </p:stCondLst>
                            <p:childTnLst>
                              <p:par>
                                <p:cTn id="67" presetID="14" presetClass="entr" presetSubtype="10" fill="hold" grpId="0" nodeType="clickEffect">
                                  <p:stCondLst>
                                    <p:cond delay="0"/>
                                  </p:stCondLst>
                                  <p:childTnLst>
                                    <p:set>
                                      <p:cBhvr>
                                        <p:cTn id="68" dur="1" fill="hold">
                                          <p:stCondLst>
                                            <p:cond delay="0"/>
                                          </p:stCondLst>
                                        </p:cTn>
                                        <p:tgtEl>
                                          <p:spTgt spid="14347"/>
                                        </p:tgtEl>
                                        <p:attrNameLst>
                                          <p:attrName>style.visibility</p:attrName>
                                        </p:attrNameLst>
                                      </p:cBhvr>
                                      <p:to>
                                        <p:strVal val="visible"/>
                                      </p:to>
                                    </p:set>
                                    <p:animEffect transition="in" filter="randombar(horizontal)">
                                      <p:cBhvr>
                                        <p:cTn id="69" dur="500"/>
                                        <p:tgtEl>
                                          <p:spTgt spid="14347"/>
                                        </p:tgtEl>
                                      </p:cBhvr>
                                    </p:animEffect>
                                  </p:childTnLst>
                                </p:cTn>
                              </p:par>
                              <p:par>
                                <p:cTn id="70" presetID="14" presetClass="entr" presetSubtype="10" fill="hold" grpId="0" nodeType="withEffect">
                                  <p:stCondLst>
                                    <p:cond delay="0"/>
                                  </p:stCondLst>
                                  <p:childTnLst>
                                    <p:set>
                                      <p:cBhvr>
                                        <p:cTn id="71" dur="1" fill="hold">
                                          <p:stCondLst>
                                            <p:cond delay="0"/>
                                          </p:stCondLst>
                                        </p:cTn>
                                        <p:tgtEl>
                                          <p:spTgt spid="14355"/>
                                        </p:tgtEl>
                                        <p:attrNameLst>
                                          <p:attrName>style.visibility</p:attrName>
                                        </p:attrNameLst>
                                      </p:cBhvr>
                                      <p:to>
                                        <p:strVal val="visible"/>
                                      </p:to>
                                    </p:set>
                                    <p:animEffect transition="in" filter="randombar(horizontal)">
                                      <p:cBhvr>
                                        <p:cTn id="72" dur="500"/>
                                        <p:tgtEl>
                                          <p:spTgt spid="14355"/>
                                        </p:tgtEl>
                                      </p:cBhvr>
                                    </p:animEffect>
                                  </p:childTnLst>
                                </p:cTn>
                              </p:par>
                            </p:childTnLst>
                          </p:cTn>
                        </p:par>
                      </p:childTnLst>
                    </p:cTn>
                  </p:par>
                  <p:par>
                    <p:cTn id="73" fill="hold">
                      <p:stCondLst>
                        <p:cond delay="indefinite"/>
                      </p:stCondLst>
                      <p:childTnLst>
                        <p:par>
                          <p:cTn id="74" fill="hold">
                            <p:stCondLst>
                              <p:cond delay="0"/>
                            </p:stCondLst>
                            <p:childTnLst>
                              <p:par>
                                <p:cTn id="75" presetID="14" presetClass="entr" presetSubtype="10" fill="hold" grpId="0" nodeType="clickEffect">
                                  <p:stCondLst>
                                    <p:cond delay="0"/>
                                  </p:stCondLst>
                                  <p:childTnLst>
                                    <p:set>
                                      <p:cBhvr>
                                        <p:cTn id="76" dur="1" fill="hold">
                                          <p:stCondLst>
                                            <p:cond delay="0"/>
                                          </p:stCondLst>
                                        </p:cTn>
                                        <p:tgtEl>
                                          <p:spTgt spid="14344"/>
                                        </p:tgtEl>
                                        <p:attrNameLst>
                                          <p:attrName>style.visibility</p:attrName>
                                        </p:attrNameLst>
                                      </p:cBhvr>
                                      <p:to>
                                        <p:strVal val="visible"/>
                                      </p:to>
                                    </p:set>
                                    <p:animEffect transition="in" filter="randombar(horizontal)">
                                      <p:cBhvr>
                                        <p:cTn id="77" dur="500"/>
                                        <p:tgtEl>
                                          <p:spTgt spid="14344"/>
                                        </p:tgtEl>
                                      </p:cBhvr>
                                    </p:animEffect>
                                  </p:childTnLst>
                                </p:cTn>
                              </p:par>
                              <p:par>
                                <p:cTn id="78" presetID="14" presetClass="entr" presetSubtype="10" fill="hold" grpId="0" nodeType="withEffect">
                                  <p:stCondLst>
                                    <p:cond delay="0"/>
                                  </p:stCondLst>
                                  <p:childTnLst>
                                    <p:set>
                                      <p:cBhvr>
                                        <p:cTn id="79" dur="1" fill="hold">
                                          <p:stCondLst>
                                            <p:cond delay="0"/>
                                          </p:stCondLst>
                                        </p:cTn>
                                        <p:tgtEl>
                                          <p:spTgt spid="14352"/>
                                        </p:tgtEl>
                                        <p:attrNameLst>
                                          <p:attrName>style.visibility</p:attrName>
                                        </p:attrNameLst>
                                      </p:cBhvr>
                                      <p:to>
                                        <p:strVal val="visible"/>
                                      </p:to>
                                    </p:set>
                                    <p:animEffect transition="in" filter="randombar(horizontal)">
                                      <p:cBhvr>
                                        <p:cTn id="80" dur="500"/>
                                        <p:tgtEl>
                                          <p:spTgt spid="14352"/>
                                        </p:tgtEl>
                                      </p:cBhvr>
                                    </p:animEffect>
                                  </p:childTnLst>
                                </p:cTn>
                              </p:par>
                            </p:childTnLst>
                          </p:cTn>
                        </p:par>
                      </p:childTnLst>
                    </p:cTn>
                  </p:par>
                  <p:par>
                    <p:cTn id="81" fill="hold">
                      <p:stCondLst>
                        <p:cond delay="indefinite"/>
                      </p:stCondLst>
                      <p:childTnLst>
                        <p:par>
                          <p:cTn id="82" fill="hold">
                            <p:stCondLst>
                              <p:cond delay="0"/>
                            </p:stCondLst>
                            <p:childTnLst>
                              <p:par>
                                <p:cTn id="83" presetID="14" presetClass="entr" presetSubtype="10" fill="hold" grpId="0" nodeType="clickEffect">
                                  <p:stCondLst>
                                    <p:cond delay="0"/>
                                  </p:stCondLst>
                                  <p:childTnLst>
                                    <p:set>
                                      <p:cBhvr>
                                        <p:cTn id="84" dur="1" fill="hold">
                                          <p:stCondLst>
                                            <p:cond delay="0"/>
                                          </p:stCondLst>
                                        </p:cTn>
                                        <p:tgtEl>
                                          <p:spTgt spid="14345"/>
                                        </p:tgtEl>
                                        <p:attrNameLst>
                                          <p:attrName>style.visibility</p:attrName>
                                        </p:attrNameLst>
                                      </p:cBhvr>
                                      <p:to>
                                        <p:strVal val="visible"/>
                                      </p:to>
                                    </p:set>
                                    <p:animEffect transition="in" filter="randombar(horizontal)">
                                      <p:cBhvr>
                                        <p:cTn id="85" dur="500"/>
                                        <p:tgtEl>
                                          <p:spTgt spid="14345"/>
                                        </p:tgtEl>
                                      </p:cBhvr>
                                    </p:animEffect>
                                  </p:childTnLst>
                                </p:cTn>
                              </p:par>
                              <p:par>
                                <p:cTn id="86" presetID="14" presetClass="entr" presetSubtype="10" fill="hold" grpId="0" nodeType="withEffect">
                                  <p:stCondLst>
                                    <p:cond delay="0"/>
                                  </p:stCondLst>
                                  <p:childTnLst>
                                    <p:set>
                                      <p:cBhvr>
                                        <p:cTn id="87" dur="1" fill="hold">
                                          <p:stCondLst>
                                            <p:cond delay="0"/>
                                          </p:stCondLst>
                                        </p:cTn>
                                        <p:tgtEl>
                                          <p:spTgt spid="14353"/>
                                        </p:tgtEl>
                                        <p:attrNameLst>
                                          <p:attrName>style.visibility</p:attrName>
                                        </p:attrNameLst>
                                      </p:cBhvr>
                                      <p:to>
                                        <p:strVal val="visible"/>
                                      </p:to>
                                    </p:set>
                                    <p:animEffect transition="in" filter="randombar(horizontal)">
                                      <p:cBhvr>
                                        <p:cTn id="88" dur="500"/>
                                        <p:tgtEl>
                                          <p:spTgt spid="14353"/>
                                        </p:tgtEl>
                                      </p:cBhvr>
                                    </p:animEffect>
                                  </p:childTnLst>
                                </p:cTn>
                              </p:par>
                            </p:childTnLst>
                          </p:cTn>
                        </p:par>
                      </p:childTnLst>
                    </p:cTn>
                  </p:par>
                  <p:par>
                    <p:cTn id="89" fill="hold">
                      <p:stCondLst>
                        <p:cond delay="indefinite"/>
                      </p:stCondLst>
                      <p:childTnLst>
                        <p:par>
                          <p:cTn id="90" fill="hold">
                            <p:stCondLst>
                              <p:cond delay="0"/>
                            </p:stCondLst>
                            <p:childTnLst>
                              <p:par>
                                <p:cTn id="91" presetID="14" presetClass="entr" presetSubtype="10" fill="hold" grpId="0" nodeType="clickEffect">
                                  <p:stCondLst>
                                    <p:cond delay="0"/>
                                  </p:stCondLst>
                                  <p:childTnLst>
                                    <p:set>
                                      <p:cBhvr>
                                        <p:cTn id="92" dur="1" fill="hold">
                                          <p:stCondLst>
                                            <p:cond delay="0"/>
                                          </p:stCondLst>
                                        </p:cTn>
                                        <p:tgtEl>
                                          <p:spTgt spid="14346"/>
                                        </p:tgtEl>
                                        <p:attrNameLst>
                                          <p:attrName>style.visibility</p:attrName>
                                        </p:attrNameLst>
                                      </p:cBhvr>
                                      <p:to>
                                        <p:strVal val="visible"/>
                                      </p:to>
                                    </p:set>
                                    <p:animEffect transition="in" filter="randombar(horizontal)">
                                      <p:cBhvr>
                                        <p:cTn id="93" dur="500"/>
                                        <p:tgtEl>
                                          <p:spTgt spid="14346"/>
                                        </p:tgtEl>
                                      </p:cBhvr>
                                    </p:animEffect>
                                  </p:childTnLst>
                                </p:cTn>
                              </p:par>
                              <p:par>
                                <p:cTn id="94" presetID="14" presetClass="entr" presetSubtype="10" fill="hold" grpId="0" nodeType="withEffect">
                                  <p:stCondLst>
                                    <p:cond delay="0"/>
                                  </p:stCondLst>
                                  <p:childTnLst>
                                    <p:set>
                                      <p:cBhvr>
                                        <p:cTn id="95" dur="1" fill="hold">
                                          <p:stCondLst>
                                            <p:cond delay="0"/>
                                          </p:stCondLst>
                                        </p:cTn>
                                        <p:tgtEl>
                                          <p:spTgt spid="14354"/>
                                        </p:tgtEl>
                                        <p:attrNameLst>
                                          <p:attrName>style.visibility</p:attrName>
                                        </p:attrNameLst>
                                      </p:cBhvr>
                                      <p:to>
                                        <p:strVal val="visible"/>
                                      </p:to>
                                    </p:set>
                                    <p:animEffect transition="in" filter="randombar(horizontal)">
                                      <p:cBhvr>
                                        <p:cTn id="96" dur="500"/>
                                        <p:tgtEl>
                                          <p:spTgt spid="14354"/>
                                        </p:tgtEl>
                                      </p:cBhvr>
                                    </p:animEffect>
                                  </p:childTnLst>
                                </p:cTn>
                              </p:par>
                            </p:childTnLst>
                          </p:cTn>
                        </p:par>
                      </p:childTnLst>
                    </p:cTn>
                  </p:par>
                  <p:par>
                    <p:cTn id="97" fill="hold">
                      <p:stCondLst>
                        <p:cond delay="indefinite"/>
                      </p:stCondLst>
                      <p:childTnLst>
                        <p:par>
                          <p:cTn id="98" fill="hold">
                            <p:stCondLst>
                              <p:cond delay="0"/>
                            </p:stCondLst>
                            <p:childTnLst>
                              <p:par>
                                <p:cTn id="99" presetID="2" presetClass="entr" presetSubtype="4" fill="hold" grpId="0" nodeType="clickEffect">
                                  <p:stCondLst>
                                    <p:cond delay="0"/>
                                  </p:stCondLst>
                                  <p:childTnLst>
                                    <p:set>
                                      <p:cBhvr>
                                        <p:cTn id="100" dur="1" fill="hold">
                                          <p:stCondLst>
                                            <p:cond delay="0"/>
                                          </p:stCondLst>
                                        </p:cTn>
                                        <p:tgtEl>
                                          <p:spTgt spid="2"/>
                                        </p:tgtEl>
                                        <p:attrNameLst>
                                          <p:attrName>style.visibility</p:attrName>
                                        </p:attrNameLst>
                                      </p:cBhvr>
                                      <p:to>
                                        <p:strVal val="visible"/>
                                      </p:to>
                                    </p:set>
                                    <p:anim calcmode="lin" valueType="num">
                                      <p:cBhvr additive="base">
                                        <p:cTn id="101" dur="500" fill="hold"/>
                                        <p:tgtEl>
                                          <p:spTgt spid="2"/>
                                        </p:tgtEl>
                                        <p:attrNameLst>
                                          <p:attrName>ppt_x</p:attrName>
                                        </p:attrNameLst>
                                      </p:cBhvr>
                                      <p:tavLst>
                                        <p:tav tm="0">
                                          <p:val>
                                            <p:strVal val="#ppt_x"/>
                                          </p:val>
                                        </p:tav>
                                        <p:tav tm="100000">
                                          <p:val>
                                            <p:strVal val="#ppt_x"/>
                                          </p:val>
                                        </p:tav>
                                      </p:tavLst>
                                    </p:anim>
                                    <p:anim calcmode="lin" valueType="num">
                                      <p:cBhvr additive="base">
                                        <p:cTn id="102" dur="500" fill="hold"/>
                                        <p:tgtEl>
                                          <p:spTgt spid="2"/>
                                        </p:tgtEl>
                                        <p:attrNameLst>
                                          <p:attrName>ppt_y</p:attrName>
                                        </p:attrNameLst>
                                      </p:cBhvr>
                                      <p:tavLst>
                                        <p:tav tm="0">
                                          <p:val>
                                            <p:strVal val="1+#ppt_h/2"/>
                                          </p:val>
                                        </p:tav>
                                        <p:tav tm="100000">
                                          <p:val>
                                            <p:strVal val="#ppt_y"/>
                                          </p:val>
                                        </p:tav>
                                      </p:tavLst>
                                    </p:anim>
                                  </p:childTnLst>
                                </p:cTn>
                              </p:par>
                              <p:par>
                                <p:cTn id="103" presetID="6" presetClass="entr" presetSubtype="16" fill="hold" grpId="0" nodeType="withEffect">
                                  <p:stCondLst>
                                    <p:cond delay="0"/>
                                  </p:stCondLst>
                                  <p:childTnLst>
                                    <p:set>
                                      <p:cBhvr>
                                        <p:cTn id="104" dur="1" fill="hold">
                                          <p:stCondLst>
                                            <p:cond delay="0"/>
                                          </p:stCondLst>
                                        </p:cTn>
                                        <p:tgtEl>
                                          <p:spTgt spid="14360"/>
                                        </p:tgtEl>
                                        <p:attrNameLst>
                                          <p:attrName>style.visibility</p:attrName>
                                        </p:attrNameLst>
                                      </p:cBhvr>
                                      <p:to>
                                        <p:strVal val="visible"/>
                                      </p:to>
                                    </p:set>
                                    <p:animEffect transition="in" filter="circle(in)">
                                      <p:cBhvr>
                                        <p:cTn id="105" dur="1250"/>
                                        <p:tgtEl>
                                          <p:spTgt spid="143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animBg="1"/>
      <p:bldP spid="14340" grpId="0" animBg="1"/>
      <p:bldP spid="14341" grpId="0"/>
      <p:bldP spid="14342" grpId="0"/>
      <p:bldP spid="14343" grpId="0"/>
      <p:bldP spid="14344" grpId="0" animBg="1"/>
      <p:bldP spid="14345" grpId="0" animBg="1"/>
      <p:bldP spid="14346" grpId="0" animBg="1"/>
      <p:bldP spid="14347" grpId="0" animBg="1"/>
      <p:bldP spid="14348" grpId="0" animBg="1"/>
      <p:bldP spid="14349" grpId="0" animBg="1"/>
      <p:bldP spid="14350" grpId="0" animBg="1"/>
      <p:bldP spid="14351" grpId="0" animBg="1"/>
      <p:bldP spid="14352" grpId="0"/>
      <p:bldP spid="14353" grpId="0"/>
      <p:bldP spid="14354" grpId="0"/>
      <p:bldP spid="14355" grpId="0"/>
      <p:bldP spid="14356" grpId="0"/>
      <p:bldP spid="14357" grpId="0"/>
      <p:bldP spid="14358" grpId="0"/>
      <p:bldP spid="14359" grpId="0"/>
      <p:bldP spid="14360" grpId="0" animBg="1"/>
      <p:bldP spid="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3"/>
          <p:cNvSpPr>
            <a:spLocks noGrp="1" noChangeArrowheads="1"/>
          </p:cNvSpPr>
          <p:nvPr>
            <p:ph type="body" idx="4294967295"/>
          </p:nvPr>
        </p:nvSpPr>
        <p:spPr>
          <a:ln/>
        </p:spPr>
        <p:txBody>
          <a:bodyPr/>
          <a:lstStyle/>
          <a:p>
            <a:pPr marL="457200" lvl="2" indent="-457200" eaLnBrk="1" hangingPunct="1">
              <a:buSzPct val="100000"/>
              <a:buFont typeface="Wingdings" panose="05000000000000000000" pitchFamily="2" charset="2"/>
              <a:buChar char="u"/>
            </a:pPr>
            <a:r>
              <a:rPr lang="zh-CN" altLang="en-US" sz="2200" b="0" dirty="0">
                <a:latin typeface="微软雅黑" panose="020B0503020204020204" pitchFamily="34" charset="-122"/>
                <a:ea typeface="微软雅黑" panose="020B0503020204020204" pitchFamily="34" charset="-122"/>
              </a:rPr>
              <a:t>盈亏状况</a:t>
            </a:r>
            <a:endParaRPr lang="en-US" altLang="zh-CN" sz="2200" b="0" dirty="0">
              <a:latin typeface="微软雅黑" panose="020B0503020204020204" pitchFamily="34" charset="-122"/>
              <a:ea typeface="微软雅黑" panose="020B0503020204020204" pitchFamily="34" charset="-122"/>
            </a:endParaRPr>
          </a:p>
          <a:p>
            <a:pPr marL="742950" lvl="2" indent="-342900" eaLnBrk="1" hangingPunct="1">
              <a:lnSpc>
                <a:spcPct val="150000"/>
              </a:lnSpc>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rPr>
              <a:t>利润最大化：亏损</a:t>
            </a:r>
            <a:endParaRPr lang="en-US" altLang="zh-CN" sz="2000" b="0" dirty="0">
              <a:latin typeface="微软雅黑" panose="020B0503020204020204" pitchFamily="34" charset="-122"/>
              <a:ea typeface="微软雅黑" panose="020B0503020204020204" pitchFamily="34" charset="-122"/>
            </a:endParaRPr>
          </a:p>
          <a:p>
            <a:pPr lvl="3" eaLnBrk="1" hangingPunct="1"/>
            <a:endParaRPr lang="zh-CN" altLang="en-US" dirty="0"/>
          </a:p>
        </p:txBody>
      </p:sp>
      <p:sp>
        <p:nvSpPr>
          <p:cNvPr id="15363" name="Line 4"/>
          <p:cNvSpPr>
            <a:spLocks noChangeShapeType="1"/>
          </p:cNvSpPr>
          <p:nvPr/>
        </p:nvSpPr>
        <p:spPr bwMode="auto">
          <a:xfrm flipV="1">
            <a:off x="3359150" y="2644775"/>
            <a:ext cx="1588" cy="3095625"/>
          </a:xfrm>
          <a:prstGeom prst="line">
            <a:avLst/>
          </a:prstGeom>
          <a:noFill/>
          <a:ln w="28575" cmpd="sng">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5364" name="Line 5"/>
          <p:cNvSpPr>
            <a:spLocks noChangeShapeType="1"/>
          </p:cNvSpPr>
          <p:nvPr/>
        </p:nvSpPr>
        <p:spPr bwMode="auto">
          <a:xfrm>
            <a:off x="3359150" y="5740400"/>
            <a:ext cx="3457575" cy="0"/>
          </a:xfrm>
          <a:prstGeom prst="line">
            <a:avLst/>
          </a:prstGeom>
          <a:noFill/>
          <a:ln w="28575" cmpd="sng">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5365" name="Text Box 6"/>
          <p:cNvSpPr>
            <a:spLocks noChangeArrowheads="1"/>
          </p:cNvSpPr>
          <p:nvPr/>
        </p:nvSpPr>
        <p:spPr bwMode="auto">
          <a:xfrm>
            <a:off x="3071813" y="2571750"/>
            <a:ext cx="4191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P</a:t>
            </a:r>
            <a:endParaRPr lang="zh-CN" altLang="en-US"/>
          </a:p>
        </p:txBody>
      </p:sp>
      <p:sp>
        <p:nvSpPr>
          <p:cNvPr id="15366" name="Text Box 7"/>
          <p:cNvSpPr>
            <a:spLocks noChangeArrowheads="1"/>
          </p:cNvSpPr>
          <p:nvPr/>
        </p:nvSpPr>
        <p:spPr bwMode="auto">
          <a:xfrm>
            <a:off x="3071813" y="5667375"/>
            <a:ext cx="3333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O</a:t>
            </a:r>
            <a:endParaRPr lang="zh-CN" altLang="en-US"/>
          </a:p>
        </p:txBody>
      </p:sp>
      <p:sp>
        <p:nvSpPr>
          <p:cNvPr id="15367" name="Text Box 8"/>
          <p:cNvSpPr>
            <a:spLocks noChangeArrowheads="1"/>
          </p:cNvSpPr>
          <p:nvPr/>
        </p:nvSpPr>
        <p:spPr bwMode="auto">
          <a:xfrm>
            <a:off x="6600825" y="5740400"/>
            <a:ext cx="31115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Q</a:t>
            </a:r>
            <a:endParaRPr lang="zh-CN" altLang="en-US"/>
          </a:p>
        </p:txBody>
      </p:sp>
      <p:sp>
        <p:nvSpPr>
          <p:cNvPr id="15368" name="未知"/>
          <p:cNvSpPr>
            <a:spLocks noChangeArrowheads="1"/>
          </p:cNvSpPr>
          <p:nvPr/>
        </p:nvSpPr>
        <p:spPr bwMode="auto">
          <a:xfrm>
            <a:off x="4295775" y="3292475"/>
            <a:ext cx="1317625" cy="1617663"/>
          </a:xfrm>
          <a:custGeom>
            <a:avLst/>
            <a:gdLst>
              <a:gd name="T0" fmla="*/ 2147483647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a:moveTo>
                  <a:pt x="21600" y="0"/>
                </a:moveTo>
                <a:cubicBezTo>
                  <a:pt x="20110" y="2322"/>
                  <a:pt x="16278" y="10350"/>
                  <a:pt x="12674" y="13953"/>
                </a:cubicBezTo>
                <a:cubicBezTo>
                  <a:pt x="9071" y="17556"/>
                  <a:pt x="2114" y="20328"/>
                  <a:pt x="0" y="21600"/>
                </a:cubicBezTo>
              </a:path>
            </a:pathLst>
          </a:custGeom>
          <a:noFill/>
          <a:ln w="28575" cmpd="sng">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zh-CN">
              <a:solidFill>
                <a:srgbClr val="000000"/>
              </a:solidFill>
              <a:sym typeface="Arial" panose="020B0604020202020204" pitchFamily="34" charset="0"/>
            </a:endParaRPr>
          </a:p>
        </p:txBody>
      </p:sp>
      <p:sp>
        <p:nvSpPr>
          <p:cNvPr id="15369" name="未知"/>
          <p:cNvSpPr>
            <a:spLocks noChangeArrowheads="1"/>
          </p:cNvSpPr>
          <p:nvPr/>
        </p:nvSpPr>
        <p:spPr bwMode="auto">
          <a:xfrm>
            <a:off x="4100513" y="3155950"/>
            <a:ext cx="1889125" cy="1058863"/>
          </a:xfrm>
          <a:custGeom>
            <a:avLst/>
            <a:gdLst>
              <a:gd name="T0" fmla="*/ 2147483647 w 21600"/>
              <a:gd name="T1" fmla="*/ 2147483647 h 21600"/>
              <a:gd name="T2" fmla="*/ 2147483647 w 21600"/>
              <a:gd name="T3" fmla="*/ 2147483647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a:moveTo>
                  <a:pt x="21600" y="1748"/>
                </a:moveTo>
                <a:cubicBezTo>
                  <a:pt x="20017" y="5011"/>
                  <a:pt x="15706" y="21600"/>
                  <a:pt x="12106" y="21315"/>
                </a:cubicBezTo>
                <a:cubicBezTo>
                  <a:pt x="8506" y="21030"/>
                  <a:pt x="2017" y="3548"/>
                  <a:pt x="0" y="0"/>
                </a:cubicBezTo>
              </a:path>
            </a:pathLst>
          </a:custGeom>
          <a:noFill/>
          <a:ln w="28575" cmpd="sng">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zh-CN">
              <a:solidFill>
                <a:srgbClr val="000000"/>
              </a:solidFill>
              <a:sym typeface="Arial" panose="020B0604020202020204" pitchFamily="34" charset="0"/>
            </a:endParaRPr>
          </a:p>
        </p:txBody>
      </p:sp>
      <p:sp>
        <p:nvSpPr>
          <p:cNvPr id="15370" name="Line 11"/>
          <p:cNvSpPr>
            <a:spLocks noChangeShapeType="1"/>
          </p:cNvSpPr>
          <p:nvPr/>
        </p:nvSpPr>
        <p:spPr bwMode="auto">
          <a:xfrm>
            <a:off x="3359150" y="3363913"/>
            <a:ext cx="3311525" cy="1943100"/>
          </a:xfrm>
          <a:prstGeom prst="line">
            <a:avLst/>
          </a:prstGeom>
          <a:noFill/>
          <a:ln w="28575" cmpd="sng">
            <a:solidFill>
              <a:srgbClr val="0070C0"/>
            </a:solidFill>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5371" name="Line 12"/>
          <p:cNvSpPr>
            <a:spLocks noChangeShapeType="1"/>
          </p:cNvSpPr>
          <p:nvPr/>
        </p:nvSpPr>
        <p:spPr bwMode="auto">
          <a:xfrm>
            <a:off x="3359150" y="3363913"/>
            <a:ext cx="1873250" cy="2376487"/>
          </a:xfrm>
          <a:prstGeom prst="line">
            <a:avLst/>
          </a:prstGeom>
          <a:noFill/>
          <a:ln w="28575" cmpd="sng">
            <a:solidFill>
              <a:srgbClr val="0070C0"/>
            </a:solidFill>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5372" name="Line 13"/>
          <p:cNvSpPr>
            <a:spLocks noChangeShapeType="1"/>
          </p:cNvSpPr>
          <p:nvPr/>
        </p:nvSpPr>
        <p:spPr bwMode="auto">
          <a:xfrm>
            <a:off x="4511675" y="3651250"/>
            <a:ext cx="0" cy="2089150"/>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5373" name="Line 14"/>
          <p:cNvSpPr>
            <a:spLocks noChangeShapeType="1"/>
          </p:cNvSpPr>
          <p:nvPr/>
        </p:nvSpPr>
        <p:spPr bwMode="auto">
          <a:xfrm flipH="1">
            <a:off x="3359150" y="3651250"/>
            <a:ext cx="1152525" cy="1588"/>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5374" name="Line 15"/>
          <p:cNvSpPr>
            <a:spLocks noChangeShapeType="1"/>
          </p:cNvSpPr>
          <p:nvPr/>
        </p:nvSpPr>
        <p:spPr bwMode="auto">
          <a:xfrm flipH="1">
            <a:off x="3359150" y="4011613"/>
            <a:ext cx="1152525" cy="1587"/>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5375" name="Text Box 16"/>
          <p:cNvSpPr>
            <a:spLocks noChangeArrowheads="1"/>
          </p:cNvSpPr>
          <p:nvPr/>
        </p:nvSpPr>
        <p:spPr bwMode="auto">
          <a:xfrm>
            <a:off x="5375275" y="3003550"/>
            <a:ext cx="5064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sym typeface="Arial" panose="020B0604020202020204" pitchFamily="34" charset="0"/>
              </a:rPr>
              <a:t>MC</a:t>
            </a:r>
            <a:endParaRPr lang="zh-CN" altLang="en-US" dirty="0"/>
          </a:p>
        </p:txBody>
      </p:sp>
      <p:sp>
        <p:nvSpPr>
          <p:cNvPr id="15376" name="Text Box 17"/>
          <p:cNvSpPr>
            <a:spLocks noChangeArrowheads="1"/>
          </p:cNvSpPr>
          <p:nvPr/>
        </p:nvSpPr>
        <p:spPr bwMode="auto">
          <a:xfrm>
            <a:off x="5918200" y="2982913"/>
            <a:ext cx="609600"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AC</a:t>
            </a:r>
            <a:endParaRPr lang="zh-CN" altLang="en-US"/>
          </a:p>
        </p:txBody>
      </p:sp>
      <p:sp>
        <p:nvSpPr>
          <p:cNvPr id="15377" name="Text Box 18"/>
          <p:cNvSpPr>
            <a:spLocks noChangeArrowheads="1"/>
          </p:cNvSpPr>
          <p:nvPr/>
        </p:nvSpPr>
        <p:spPr bwMode="auto">
          <a:xfrm>
            <a:off x="6719888" y="5156200"/>
            <a:ext cx="153987"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d</a:t>
            </a:r>
            <a:endParaRPr lang="zh-CN" altLang="en-US"/>
          </a:p>
        </p:txBody>
      </p:sp>
      <p:sp>
        <p:nvSpPr>
          <p:cNvPr id="15378" name="Text Box 19"/>
          <p:cNvSpPr>
            <a:spLocks noChangeArrowheads="1"/>
          </p:cNvSpPr>
          <p:nvPr/>
        </p:nvSpPr>
        <p:spPr bwMode="auto">
          <a:xfrm>
            <a:off x="5145088" y="5387975"/>
            <a:ext cx="5905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MR</a:t>
            </a:r>
            <a:endParaRPr lang="zh-CN" altLang="en-US"/>
          </a:p>
        </p:txBody>
      </p:sp>
      <p:sp>
        <p:nvSpPr>
          <p:cNvPr id="15379" name="Text Box 20"/>
          <p:cNvSpPr>
            <a:spLocks noChangeArrowheads="1"/>
          </p:cNvSpPr>
          <p:nvPr/>
        </p:nvSpPr>
        <p:spPr bwMode="auto">
          <a:xfrm>
            <a:off x="4314825" y="5715000"/>
            <a:ext cx="48577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sym typeface="Arial" panose="020B0604020202020204" pitchFamily="34" charset="0"/>
              </a:rPr>
              <a:t>Q</a:t>
            </a:r>
            <a:r>
              <a:rPr lang="zh-CN" altLang="en-US" sz="1000" dirty="0">
                <a:solidFill>
                  <a:srgbClr val="000000"/>
                </a:solidFill>
                <a:sym typeface="Arial" panose="020B0604020202020204" pitchFamily="34" charset="0"/>
              </a:rPr>
              <a:t>0</a:t>
            </a:r>
            <a:endParaRPr lang="zh-CN" altLang="en-US" dirty="0"/>
          </a:p>
        </p:txBody>
      </p:sp>
      <p:sp>
        <p:nvSpPr>
          <p:cNvPr id="15380" name="Text Box 21"/>
          <p:cNvSpPr>
            <a:spLocks noChangeArrowheads="1"/>
          </p:cNvSpPr>
          <p:nvPr/>
        </p:nvSpPr>
        <p:spPr bwMode="auto">
          <a:xfrm>
            <a:off x="3000375" y="3867150"/>
            <a:ext cx="5032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sym typeface="Arial" panose="020B0604020202020204" pitchFamily="34" charset="0"/>
              </a:rPr>
              <a:t>P</a:t>
            </a:r>
            <a:r>
              <a:rPr lang="zh-CN" altLang="en-US" sz="1000" dirty="0">
                <a:solidFill>
                  <a:srgbClr val="000000"/>
                </a:solidFill>
                <a:sym typeface="Arial" panose="020B0604020202020204" pitchFamily="34" charset="0"/>
              </a:rPr>
              <a:t>0</a:t>
            </a:r>
            <a:endParaRPr lang="zh-CN" altLang="en-US" dirty="0"/>
          </a:p>
        </p:txBody>
      </p:sp>
      <p:sp>
        <p:nvSpPr>
          <p:cNvPr id="15381" name="Text Box 22"/>
          <p:cNvSpPr>
            <a:spLocks noChangeArrowheads="1"/>
          </p:cNvSpPr>
          <p:nvPr/>
        </p:nvSpPr>
        <p:spPr bwMode="auto">
          <a:xfrm>
            <a:off x="3000375" y="3508375"/>
            <a:ext cx="433388"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sym typeface="Arial" panose="020B0604020202020204" pitchFamily="34" charset="0"/>
              </a:rPr>
              <a:t>P</a:t>
            </a:r>
            <a:r>
              <a:rPr lang="zh-CN" altLang="en-US" sz="1000" dirty="0">
                <a:solidFill>
                  <a:srgbClr val="000000"/>
                </a:solidFill>
                <a:sym typeface="Arial" panose="020B0604020202020204" pitchFamily="34" charset="0"/>
              </a:rPr>
              <a:t>1</a:t>
            </a:r>
            <a:endParaRPr lang="zh-CN" altLang="en-US" dirty="0"/>
          </a:p>
        </p:txBody>
      </p:sp>
      <p:sp>
        <p:nvSpPr>
          <p:cNvPr id="15382" name="圆角矩形标注 22"/>
          <p:cNvSpPr>
            <a:spLocks noChangeArrowheads="1"/>
          </p:cNvSpPr>
          <p:nvPr/>
        </p:nvSpPr>
        <p:spPr bwMode="auto">
          <a:xfrm>
            <a:off x="769923" y="3204459"/>
            <a:ext cx="1785937" cy="1736646"/>
          </a:xfrm>
          <a:prstGeom prst="wedgeRoundRectCallout">
            <a:avLst>
              <a:gd name="adj1" fmla="val 88766"/>
              <a:gd name="adj2" fmla="val -10101"/>
              <a:gd name="adj3" fmla="val 16667"/>
            </a:avLst>
          </a:prstGeom>
          <a:solidFill>
            <a:schemeClr val="bg1"/>
          </a:solidFill>
          <a:ln>
            <a:solidFill>
              <a:srgbClr val="C00000"/>
            </a:solidFill>
          </a:ln>
        </p:spPr>
        <p:style>
          <a:lnRef idx="3">
            <a:schemeClr val="lt1"/>
          </a:lnRef>
          <a:fillRef idx="1">
            <a:schemeClr val="accent1"/>
          </a:fillRef>
          <a:effectRef idx="1">
            <a:schemeClr val="accent1"/>
          </a:effectRef>
          <a:fontRef idx="minor">
            <a:schemeClr val="lt1"/>
          </a:fontRef>
        </p:style>
        <p:txBody>
          <a:bodyPr>
            <a:spAutoFit/>
          </a:bodyPr>
          <a:lstStyle/>
          <a:p>
            <a:pPr algn="just"/>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利润最大化产量为</a:t>
            </a:r>
            <a:r>
              <a:rPr lang="zh-CN" altLang="en-US" dirty="0">
                <a:solidFill>
                  <a:schemeClr val="tx1"/>
                </a:solidFill>
                <a:sym typeface="Arial" panose="020B0604020202020204" pitchFamily="34" charset="0"/>
              </a:rPr>
              <a:t>Q</a:t>
            </a:r>
            <a:r>
              <a:rPr lang="zh-CN" altLang="en-US" sz="1000" dirty="0">
                <a:solidFill>
                  <a:schemeClr val="tx1"/>
                </a:solidFill>
                <a:sym typeface="Arial" panose="020B0604020202020204" pitchFamily="34" charset="0"/>
              </a:rPr>
              <a:t>0</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在</a:t>
            </a:r>
            <a:r>
              <a:rPr lang="zh-CN" altLang="en-US" dirty="0">
                <a:solidFill>
                  <a:schemeClr val="tx1"/>
                </a:solidFill>
                <a:sym typeface="Arial" panose="020B0604020202020204" pitchFamily="34" charset="0"/>
              </a:rPr>
              <a:t>Q</a:t>
            </a:r>
            <a:r>
              <a:rPr lang="zh-CN" altLang="en-US" sz="1000" dirty="0">
                <a:solidFill>
                  <a:schemeClr val="tx1"/>
                </a:solidFill>
                <a:sym typeface="Arial" panose="020B0604020202020204" pitchFamily="34" charset="0"/>
              </a:rPr>
              <a:t>0</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上</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平均收益</a:t>
            </a:r>
            <a:r>
              <a:rPr lang="zh-CN" altLang="en-US" dirty="0">
                <a:solidFill>
                  <a:schemeClr val="tx1"/>
                </a:solidFill>
                <a:sym typeface="Arial" panose="020B0604020202020204" pitchFamily="34" charset="0"/>
              </a:rPr>
              <a:t>P</a:t>
            </a:r>
            <a:r>
              <a:rPr lang="zh-CN" altLang="en-US" sz="1000" dirty="0">
                <a:solidFill>
                  <a:schemeClr val="tx1"/>
                </a:solidFill>
                <a:sym typeface="Arial" panose="020B0604020202020204" pitchFamily="34" charset="0"/>
              </a:rPr>
              <a:t>0</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小于平均成本</a:t>
            </a:r>
            <a:r>
              <a:rPr lang="zh-CN" altLang="en-US" dirty="0">
                <a:solidFill>
                  <a:schemeClr val="tx1"/>
                </a:solidFill>
                <a:sym typeface="Arial" panose="020B0604020202020204" pitchFamily="34" charset="0"/>
              </a:rPr>
              <a:t>P</a:t>
            </a:r>
            <a:r>
              <a:rPr lang="zh-CN" altLang="en-US" sz="1000" dirty="0">
                <a:solidFill>
                  <a:schemeClr val="tx1"/>
                </a:solidFill>
                <a:sym typeface="Arial" panose="020B0604020202020204" pitchFamily="34" charset="0"/>
              </a:rPr>
              <a:t>1</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亏损的数量为</a:t>
            </a:r>
            <a:r>
              <a:rPr lang="en-US" altLang="zh-CN" b="0" dirty="0">
                <a:solidFill>
                  <a:schemeClr val="tx1"/>
                </a:solidFill>
                <a:sym typeface="Arial" panose="020B0604020202020204" pitchFamily="34" charset="0"/>
              </a:rPr>
              <a:t>(P</a:t>
            </a:r>
            <a:r>
              <a:rPr lang="en-US" altLang="zh-CN" sz="1050" b="0" dirty="0">
                <a:solidFill>
                  <a:schemeClr val="tx1"/>
                </a:solidFill>
                <a:sym typeface="Arial" panose="020B0604020202020204" pitchFamily="34" charset="0"/>
              </a:rPr>
              <a:t>0</a:t>
            </a:r>
            <a:r>
              <a:rPr lang="en-US" altLang="zh-CN" b="0" dirty="0">
                <a:solidFill>
                  <a:schemeClr val="tx1"/>
                </a:solidFill>
                <a:sym typeface="Arial" panose="020B0604020202020204" pitchFamily="34" charset="0"/>
              </a:rPr>
              <a:t>-P</a:t>
            </a:r>
            <a:r>
              <a:rPr lang="en-US" altLang="zh-CN" sz="1050" b="0" dirty="0">
                <a:solidFill>
                  <a:schemeClr val="tx1"/>
                </a:solidFill>
                <a:sym typeface="Arial" panose="020B0604020202020204" pitchFamily="34" charset="0"/>
              </a:rPr>
              <a:t>1</a:t>
            </a:r>
            <a:r>
              <a:rPr lang="en-US" altLang="zh-CN" b="0" dirty="0">
                <a:solidFill>
                  <a:schemeClr val="tx1"/>
                </a:solidFill>
                <a:sym typeface="Arial" panose="020B0604020202020204" pitchFamily="34" charset="0"/>
              </a:rPr>
              <a:t>)Q</a:t>
            </a:r>
            <a:r>
              <a:rPr lang="en-US" altLang="zh-CN" sz="1050" b="0" dirty="0">
                <a:solidFill>
                  <a:schemeClr val="tx1"/>
                </a:solidFill>
                <a:sym typeface="Arial" panose="020B0604020202020204" pitchFamily="34" charset="0"/>
              </a:rPr>
              <a:t>0</a:t>
            </a:r>
            <a:endPar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5383" name="椭圆形标注 23"/>
          <p:cNvSpPr>
            <a:spLocks noChangeArrowheads="1"/>
          </p:cNvSpPr>
          <p:nvPr/>
        </p:nvSpPr>
        <p:spPr bwMode="auto">
          <a:xfrm>
            <a:off x="6372125" y="1928813"/>
            <a:ext cx="2643187" cy="3246437"/>
          </a:xfrm>
          <a:prstGeom prst="wedgeEllipseCallout">
            <a:avLst>
              <a:gd name="adj1" fmla="val -67981"/>
              <a:gd name="adj2" fmla="val 19348"/>
            </a:avLst>
          </a:prstGeom>
          <a:solidFill>
            <a:schemeClr val="bg1"/>
          </a:solidFill>
          <a:ln>
            <a:solidFill>
              <a:srgbClr val="C00000"/>
            </a:solidFill>
          </a:ln>
        </p:spPr>
        <p:txBody>
          <a:bodyPr>
            <a:spAutoFit/>
          </a:bodyPr>
          <a:lstStyle/>
          <a:p>
            <a:pPr algn="just"/>
            <a:r>
              <a:rPr lang="zh-CN" altLang="en-US" b="0" dirty="0">
                <a:latin typeface="微软雅黑" panose="020B0503020204020204" pitchFamily="34" charset="-122"/>
                <a:ea typeface="微软雅黑" panose="020B0503020204020204" pitchFamily="34" charset="-122"/>
                <a:sym typeface="Arial" panose="020B0604020202020204" pitchFamily="34" charset="0"/>
              </a:rPr>
              <a:t>整个的市场需求曲线</a:t>
            </a:r>
            <a:r>
              <a:rPr lang="en-US" altLang="zh-CN" b="0" dirty="0">
                <a:latin typeface="微软雅黑" panose="020B0503020204020204" pitchFamily="34" charset="-122"/>
                <a:ea typeface="微软雅黑" panose="020B0503020204020204" pitchFamily="34" charset="-122"/>
                <a:sym typeface="Arial" panose="020B0604020202020204" pitchFamily="34" charset="0"/>
              </a:rPr>
              <a:t>d</a:t>
            </a:r>
            <a:r>
              <a:rPr lang="zh-CN" altLang="en-US" b="0" dirty="0">
                <a:latin typeface="微软雅黑" panose="020B0503020204020204" pitchFamily="34" charset="-122"/>
                <a:ea typeface="微软雅黑" panose="020B0503020204020204" pitchFamily="34" charset="-122"/>
                <a:sym typeface="Arial" panose="020B0604020202020204" pitchFamily="34" charset="0"/>
              </a:rPr>
              <a:t>都低于平均成本曲线</a:t>
            </a:r>
            <a:r>
              <a:rPr lang="en-US" altLang="zh-CN" b="0" dirty="0">
                <a:latin typeface="微软雅黑" panose="020B0503020204020204" pitchFamily="34" charset="-122"/>
                <a:ea typeface="微软雅黑" panose="020B0503020204020204" pitchFamily="34" charset="-122"/>
                <a:sym typeface="Arial" panose="020B0604020202020204" pitchFamily="34" charset="0"/>
              </a:rPr>
              <a:t>AC</a:t>
            </a:r>
            <a:r>
              <a:rPr lang="zh-CN" altLang="en-US" b="0" dirty="0">
                <a:latin typeface="微软雅黑" panose="020B0503020204020204" pitchFamily="34" charset="-122"/>
                <a:ea typeface="微软雅黑" panose="020B0503020204020204" pitchFamily="34" charset="-122"/>
                <a:sym typeface="Arial" panose="020B0604020202020204" pitchFamily="34" charset="0"/>
              </a:rPr>
              <a:t>。 此时</a:t>
            </a:r>
            <a:r>
              <a:rPr lang="en-US" altLang="zh-CN" b="0" dirty="0">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latin typeface="微软雅黑" panose="020B0503020204020204" pitchFamily="34" charset="-122"/>
                <a:ea typeface="微软雅黑" panose="020B0503020204020204" pitchFamily="34" charset="-122"/>
                <a:sym typeface="Arial" panose="020B0604020202020204" pitchFamily="34" charset="0"/>
              </a:rPr>
              <a:t>无论利润最大化的产量和价格组合是何种情况</a:t>
            </a:r>
            <a:r>
              <a:rPr lang="en-US" altLang="zh-CN" b="0" dirty="0">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latin typeface="微软雅黑" panose="020B0503020204020204" pitchFamily="34" charset="-122"/>
                <a:ea typeface="微软雅黑" panose="020B0503020204020204" pitchFamily="34" charset="-122"/>
                <a:sym typeface="Arial" panose="020B0604020202020204" pitchFamily="34" charset="0"/>
              </a:rPr>
              <a:t>平均收益都将低于平均成本</a:t>
            </a:r>
            <a:r>
              <a:rPr lang="en-US" altLang="zh-CN" b="0" dirty="0">
                <a:latin typeface="微软雅黑" panose="020B0503020204020204" pitchFamily="34" charset="-122"/>
                <a:ea typeface="微软雅黑" panose="020B0503020204020204" pitchFamily="34" charset="-122"/>
                <a:sym typeface="Arial" panose="020B0604020202020204" pitchFamily="34" charset="0"/>
              </a:rPr>
              <a:t>,</a:t>
            </a:r>
            <a:r>
              <a:rPr lang="zh-CN" altLang="en-US" b="0" dirty="0">
                <a:latin typeface="微软雅黑" panose="020B0503020204020204" pitchFamily="34" charset="-122"/>
                <a:ea typeface="微软雅黑" panose="020B0503020204020204" pitchFamily="34" charset="-122"/>
                <a:sym typeface="Arial" panose="020B0604020202020204" pitchFamily="34" charset="0"/>
              </a:rPr>
              <a:t>从而都将出现亏损。 </a:t>
            </a:r>
            <a:endParaRPr lang="zh-CN" altLang="en-US" b="0" dirty="0">
              <a:latin typeface="微软雅黑" panose="020B0503020204020204" pitchFamily="34" charset="-122"/>
              <a:ea typeface="微软雅黑" panose="020B0503020204020204" pitchFamily="34" charset="-122"/>
            </a:endParaRPr>
          </a:p>
        </p:txBody>
      </p:sp>
      <p:sp>
        <p:nvSpPr>
          <p:cNvPr id="26" name="矩形 25">
            <a:extLst>
              <a:ext uri="{FF2B5EF4-FFF2-40B4-BE49-F238E27FC236}">
                <a16:creationId xmlns:a16="http://schemas.microsoft.com/office/drawing/2014/main" id="{F68E5273-CD77-47B9-B841-9D29349C133D}"/>
              </a:ext>
            </a:extLst>
          </p:cNvPr>
          <p:cNvSpPr/>
          <p:nvPr/>
        </p:nvSpPr>
        <p:spPr>
          <a:xfrm>
            <a:off x="467544" y="548680"/>
            <a:ext cx="3781805"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spc="150" dirty="0">
                <a:solidFill>
                  <a:srgbClr val="FFFFFF"/>
                </a:solidFill>
                <a:latin typeface="微软雅黑" panose="020B0503020204020204" pitchFamily="34" charset="-122"/>
                <a:ea typeface="微软雅黑" panose="020B0503020204020204" pitchFamily="34" charset="-122"/>
              </a:rPr>
              <a:t>三</a:t>
            </a:r>
            <a:r>
              <a:rPr lang="zh-CN" altLang="en-US" sz="2400" b="1" spc="150" dirty="0">
                <a:solidFill>
                  <a:srgbClr val="FFFFFF"/>
                </a:solidFill>
                <a:latin typeface="微软雅黑" panose="020B0503020204020204" pitchFamily="34" charset="-122"/>
                <a:ea typeface="微软雅黑" panose="020B0503020204020204" pitchFamily="34" charset="-122"/>
              </a:rPr>
              <a:t>、</a:t>
            </a:r>
            <a:r>
              <a:rPr lang="zh-CN" altLang="en-US" sz="2400" spc="15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垄断企业的短期均衡</a:t>
            </a:r>
            <a:endParaRPr lang="zh-CN" altLang="en-US" sz="2400" b="1" spc="150" dirty="0">
              <a:solidFill>
                <a:srgbClr val="FFFFFF"/>
              </a:solidFill>
              <a:latin typeface="微软雅黑" panose="020B0503020204020204" pitchFamily="34" charset="-122"/>
              <a:ea typeface="微软雅黑" panose="020B0503020204020204" pitchFamily="34" charset="-122"/>
            </a:endParaRPr>
          </a:p>
        </p:txBody>
      </p:sp>
      <p:sp>
        <p:nvSpPr>
          <p:cNvPr id="27" name="矩形 26"/>
          <p:cNvSpPr/>
          <p:nvPr/>
        </p:nvSpPr>
        <p:spPr>
          <a:xfrm>
            <a:off x="7505410" y="35458"/>
            <a:ext cx="1638590" cy="369332"/>
          </a:xfrm>
          <a:prstGeom prst="rect">
            <a:avLst/>
          </a:prstGeom>
        </p:spPr>
        <p:txBody>
          <a:bodyPr wrap="none">
            <a:spAutoFit/>
          </a:bodyPr>
          <a:lstStyle/>
          <a:p>
            <a:pPr algn="dist"/>
            <a:r>
              <a:rPr lang="zh-CN" altLang="en-US" sz="1800" b="0" spc="30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第一节 垄断</a:t>
            </a:r>
            <a:endParaRPr lang="zh-CN" altLang="en-US" sz="1800" b="0" spc="300" dirty="0">
              <a:solidFill>
                <a:schemeClr val="tx2"/>
              </a:solidFill>
              <a:ea typeface="黑体" panose="02010609060101010101" pitchFamily="49" charset="-122"/>
              <a:sym typeface="Arial" panose="020B0604020202020204" pitchFamily="34" charset="0"/>
            </a:endParaRPr>
          </a:p>
        </p:txBody>
      </p:sp>
      <p:sp>
        <p:nvSpPr>
          <p:cNvPr id="28" name="矩形 27">
            <a:extLst>
              <a:ext uri="{FF2B5EF4-FFF2-40B4-BE49-F238E27FC236}">
                <a16:creationId xmlns:a16="http://schemas.microsoft.com/office/drawing/2014/main" id="{D75EF454-2B82-4B89-8FD0-8F4983CE9A86}"/>
              </a:ext>
            </a:extLst>
          </p:cNvPr>
          <p:cNvSpPr/>
          <p:nvPr/>
        </p:nvSpPr>
        <p:spPr bwMode="auto">
          <a:xfrm>
            <a:off x="3362636" y="3679603"/>
            <a:ext cx="1145027" cy="325660"/>
          </a:xfrm>
          <a:prstGeom prst="rect">
            <a:avLst/>
          </a:prstGeom>
          <a:solidFill>
            <a:srgbClr val="F3C97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zh-CN" altLang="en-US" sz="1400" b="0" dirty="0">
                <a:latin typeface="微软雅黑" panose="020B0503020204020204" pitchFamily="34" charset="-122"/>
                <a:ea typeface="微软雅黑" panose="020B0503020204020204" pitchFamily="34" charset="-122"/>
                <a:sym typeface="Arial" panose="020B0604020202020204" pitchFamily="34" charset="0"/>
              </a:rPr>
              <a:t>      </a:t>
            </a:r>
            <a:r>
              <a:rPr lang="zh-CN" altLang="en-US" sz="1400" dirty="0">
                <a:latin typeface="微软雅黑" panose="020B0503020204020204" pitchFamily="34" charset="-122"/>
                <a:ea typeface="微软雅黑" panose="020B0503020204020204" pitchFamily="34" charset="-122"/>
                <a:sym typeface="Arial" panose="020B0604020202020204" pitchFamily="34" charset="0"/>
              </a:rPr>
              <a:t>亏损</a:t>
            </a:r>
            <a:endParaRPr kumimoji="0" lang="zh-CN" altLang="en-US" sz="1400" i="0" u="none" strike="noStrike" cap="none" normalizeH="0" baseline="0" dirty="0">
              <a:ln>
                <a:noFill/>
              </a:ln>
              <a:solidFill>
                <a:schemeClr val="tx1"/>
              </a:solidFill>
              <a:effectLst/>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5362">
                                            <p:txEl>
                                              <p:pRg st="0" end="0"/>
                                            </p:txEl>
                                          </p:spTgt>
                                        </p:tgtEl>
                                        <p:attrNameLst>
                                          <p:attrName>style.visibility</p:attrName>
                                        </p:attrNameLst>
                                      </p:cBhvr>
                                      <p:to>
                                        <p:strVal val="visible"/>
                                      </p:to>
                                    </p:set>
                                    <p:animEffect>
                                      <p:cBhvr>
                                        <p:cTn id="7" dur="500"/>
                                        <p:tgtEl>
                                          <p:spTgt spid="1536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5362">
                                            <p:txEl>
                                              <p:pRg st="1" end="1"/>
                                            </p:txEl>
                                          </p:spTgt>
                                        </p:tgtEl>
                                        <p:attrNameLst>
                                          <p:attrName>style.visibility</p:attrName>
                                        </p:attrNameLst>
                                      </p:cBhvr>
                                      <p:to>
                                        <p:strVal val="visible"/>
                                      </p:to>
                                    </p:set>
                                    <p:animEffect>
                                      <p:cBhvr>
                                        <p:cTn id="12" dur="500"/>
                                        <p:tgtEl>
                                          <p:spTgt spid="1536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5363"/>
                                        </p:tgtEl>
                                        <p:attrNameLst>
                                          <p:attrName>style.visibility</p:attrName>
                                        </p:attrNameLst>
                                      </p:cBhvr>
                                      <p:to>
                                        <p:strVal val="visible"/>
                                      </p:to>
                                    </p:set>
                                    <p:animEffect transition="in" filter="wipe(down)">
                                      <p:cBhvr>
                                        <p:cTn id="17" dur="500"/>
                                        <p:tgtEl>
                                          <p:spTgt spid="15363"/>
                                        </p:tgtEl>
                                      </p:cBhvr>
                                    </p:animEffect>
                                  </p:childTnLst>
                                </p:cTn>
                              </p:par>
                              <p:par>
                                <p:cTn id="18" presetID="22" presetClass="entr" presetSubtype="4" fill="hold" grpId="0" nodeType="withEffect">
                                  <p:stCondLst>
                                    <p:cond delay="0"/>
                                  </p:stCondLst>
                                  <p:childTnLst>
                                    <p:set>
                                      <p:cBhvr>
                                        <p:cTn id="19" dur="1" fill="hold">
                                          <p:stCondLst>
                                            <p:cond delay="0"/>
                                          </p:stCondLst>
                                        </p:cTn>
                                        <p:tgtEl>
                                          <p:spTgt spid="15364"/>
                                        </p:tgtEl>
                                        <p:attrNameLst>
                                          <p:attrName>style.visibility</p:attrName>
                                        </p:attrNameLst>
                                      </p:cBhvr>
                                      <p:to>
                                        <p:strVal val="visible"/>
                                      </p:to>
                                    </p:set>
                                    <p:animEffect transition="in" filter="wipe(down)">
                                      <p:cBhvr>
                                        <p:cTn id="20" dur="500"/>
                                        <p:tgtEl>
                                          <p:spTgt spid="15364"/>
                                        </p:tgtEl>
                                      </p:cBhvr>
                                    </p:animEffect>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grpId="0" nodeType="clickEffect">
                                  <p:stCondLst>
                                    <p:cond delay="0"/>
                                  </p:stCondLst>
                                  <p:childTnLst>
                                    <p:set>
                                      <p:cBhvr>
                                        <p:cTn id="24" dur="1" fill="hold">
                                          <p:stCondLst>
                                            <p:cond delay="0"/>
                                          </p:stCondLst>
                                        </p:cTn>
                                        <p:tgtEl>
                                          <p:spTgt spid="15366"/>
                                        </p:tgtEl>
                                        <p:attrNameLst>
                                          <p:attrName>style.visibility</p:attrName>
                                        </p:attrNameLst>
                                      </p:cBhvr>
                                      <p:to>
                                        <p:strVal val="visible"/>
                                      </p:to>
                                    </p:set>
                                    <p:animEffect transition="in" filter="barn(inVertical)">
                                      <p:cBhvr>
                                        <p:cTn id="25" dur="500"/>
                                        <p:tgtEl>
                                          <p:spTgt spid="15366"/>
                                        </p:tgtEl>
                                      </p:cBhvr>
                                    </p:animEffect>
                                  </p:childTnLst>
                                </p:cTn>
                              </p:par>
                              <p:par>
                                <p:cTn id="26" presetID="16" presetClass="entr" presetSubtype="21" fill="hold" grpId="0" nodeType="withEffect">
                                  <p:stCondLst>
                                    <p:cond delay="0"/>
                                  </p:stCondLst>
                                  <p:childTnLst>
                                    <p:set>
                                      <p:cBhvr>
                                        <p:cTn id="27" dur="1" fill="hold">
                                          <p:stCondLst>
                                            <p:cond delay="0"/>
                                          </p:stCondLst>
                                        </p:cTn>
                                        <p:tgtEl>
                                          <p:spTgt spid="15367"/>
                                        </p:tgtEl>
                                        <p:attrNameLst>
                                          <p:attrName>style.visibility</p:attrName>
                                        </p:attrNameLst>
                                      </p:cBhvr>
                                      <p:to>
                                        <p:strVal val="visible"/>
                                      </p:to>
                                    </p:set>
                                    <p:animEffect transition="in" filter="barn(inVertical)">
                                      <p:cBhvr>
                                        <p:cTn id="28" dur="500"/>
                                        <p:tgtEl>
                                          <p:spTgt spid="15367"/>
                                        </p:tgtEl>
                                      </p:cBhvr>
                                    </p:animEffect>
                                  </p:childTnLst>
                                </p:cTn>
                              </p:par>
                              <p:par>
                                <p:cTn id="29" presetID="16" presetClass="entr" presetSubtype="21" fill="hold" grpId="0" nodeType="withEffect">
                                  <p:stCondLst>
                                    <p:cond delay="0"/>
                                  </p:stCondLst>
                                  <p:childTnLst>
                                    <p:set>
                                      <p:cBhvr>
                                        <p:cTn id="30" dur="1" fill="hold">
                                          <p:stCondLst>
                                            <p:cond delay="0"/>
                                          </p:stCondLst>
                                        </p:cTn>
                                        <p:tgtEl>
                                          <p:spTgt spid="15365"/>
                                        </p:tgtEl>
                                        <p:attrNameLst>
                                          <p:attrName>style.visibility</p:attrName>
                                        </p:attrNameLst>
                                      </p:cBhvr>
                                      <p:to>
                                        <p:strVal val="visible"/>
                                      </p:to>
                                    </p:set>
                                    <p:animEffect transition="in" filter="barn(inVertical)">
                                      <p:cBhvr>
                                        <p:cTn id="31" dur="500"/>
                                        <p:tgtEl>
                                          <p:spTgt spid="15365"/>
                                        </p:tgtEl>
                                      </p:cBhvr>
                                    </p:animEffect>
                                  </p:childTnLst>
                                </p:cTn>
                              </p:par>
                            </p:childTnLst>
                          </p:cTn>
                        </p:par>
                      </p:childTnLst>
                    </p:cTn>
                  </p:par>
                  <p:par>
                    <p:cTn id="32" fill="hold">
                      <p:stCondLst>
                        <p:cond delay="indefinite"/>
                      </p:stCondLst>
                      <p:childTnLst>
                        <p:par>
                          <p:cTn id="33" fill="hold">
                            <p:stCondLst>
                              <p:cond delay="0"/>
                            </p:stCondLst>
                            <p:childTnLst>
                              <p:par>
                                <p:cTn id="34" presetID="14" presetClass="entr" presetSubtype="10" fill="hold" grpId="0" nodeType="clickEffect">
                                  <p:stCondLst>
                                    <p:cond delay="0"/>
                                  </p:stCondLst>
                                  <p:childTnLst>
                                    <p:set>
                                      <p:cBhvr>
                                        <p:cTn id="35" dur="1" fill="hold">
                                          <p:stCondLst>
                                            <p:cond delay="0"/>
                                          </p:stCondLst>
                                        </p:cTn>
                                        <p:tgtEl>
                                          <p:spTgt spid="15374"/>
                                        </p:tgtEl>
                                        <p:attrNameLst>
                                          <p:attrName>style.visibility</p:attrName>
                                        </p:attrNameLst>
                                      </p:cBhvr>
                                      <p:to>
                                        <p:strVal val="visible"/>
                                      </p:to>
                                    </p:set>
                                    <p:animEffect transition="in" filter="randombar(horizontal)">
                                      <p:cBhvr>
                                        <p:cTn id="36" dur="500"/>
                                        <p:tgtEl>
                                          <p:spTgt spid="15374"/>
                                        </p:tgtEl>
                                      </p:cBhvr>
                                    </p:animEffect>
                                  </p:childTnLst>
                                </p:cTn>
                              </p:par>
                              <p:par>
                                <p:cTn id="37" presetID="14" presetClass="entr" presetSubtype="10" fill="hold" grpId="0" nodeType="withEffect">
                                  <p:stCondLst>
                                    <p:cond delay="0"/>
                                  </p:stCondLst>
                                  <p:childTnLst>
                                    <p:set>
                                      <p:cBhvr>
                                        <p:cTn id="38" dur="1" fill="hold">
                                          <p:stCondLst>
                                            <p:cond delay="0"/>
                                          </p:stCondLst>
                                        </p:cTn>
                                        <p:tgtEl>
                                          <p:spTgt spid="15373"/>
                                        </p:tgtEl>
                                        <p:attrNameLst>
                                          <p:attrName>style.visibility</p:attrName>
                                        </p:attrNameLst>
                                      </p:cBhvr>
                                      <p:to>
                                        <p:strVal val="visible"/>
                                      </p:to>
                                    </p:set>
                                    <p:animEffect transition="in" filter="randombar(horizontal)">
                                      <p:cBhvr>
                                        <p:cTn id="39" dur="500"/>
                                        <p:tgtEl>
                                          <p:spTgt spid="15373"/>
                                        </p:tgtEl>
                                      </p:cBhvr>
                                    </p:animEffect>
                                  </p:childTnLst>
                                </p:cTn>
                              </p:par>
                              <p:par>
                                <p:cTn id="40" presetID="14" presetClass="entr" presetSubtype="10" fill="hold" grpId="0" nodeType="withEffect">
                                  <p:stCondLst>
                                    <p:cond delay="0"/>
                                  </p:stCondLst>
                                  <p:childTnLst>
                                    <p:set>
                                      <p:cBhvr>
                                        <p:cTn id="41" dur="1" fill="hold">
                                          <p:stCondLst>
                                            <p:cond delay="0"/>
                                          </p:stCondLst>
                                        </p:cTn>
                                        <p:tgtEl>
                                          <p:spTgt spid="15372"/>
                                        </p:tgtEl>
                                        <p:attrNameLst>
                                          <p:attrName>style.visibility</p:attrName>
                                        </p:attrNameLst>
                                      </p:cBhvr>
                                      <p:to>
                                        <p:strVal val="visible"/>
                                      </p:to>
                                    </p:set>
                                    <p:animEffect transition="in" filter="randombar(horizontal)">
                                      <p:cBhvr>
                                        <p:cTn id="42" dur="500"/>
                                        <p:tgtEl>
                                          <p:spTgt spid="15372"/>
                                        </p:tgtEl>
                                      </p:cBhvr>
                                    </p:animEffect>
                                  </p:childTnLst>
                                </p:cTn>
                              </p:par>
                              <p:par>
                                <p:cTn id="43" presetID="14" presetClass="entr" presetSubtype="10" fill="hold" grpId="0" nodeType="withEffect">
                                  <p:stCondLst>
                                    <p:cond delay="0"/>
                                  </p:stCondLst>
                                  <p:childTnLst>
                                    <p:set>
                                      <p:cBhvr>
                                        <p:cTn id="44" dur="1" fill="hold">
                                          <p:stCondLst>
                                            <p:cond delay="0"/>
                                          </p:stCondLst>
                                        </p:cTn>
                                        <p:tgtEl>
                                          <p:spTgt spid="15381"/>
                                        </p:tgtEl>
                                        <p:attrNameLst>
                                          <p:attrName>style.visibility</p:attrName>
                                        </p:attrNameLst>
                                      </p:cBhvr>
                                      <p:to>
                                        <p:strVal val="visible"/>
                                      </p:to>
                                    </p:set>
                                    <p:animEffect transition="in" filter="randombar(horizontal)">
                                      <p:cBhvr>
                                        <p:cTn id="45" dur="500"/>
                                        <p:tgtEl>
                                          <p:spTgt spid="15381"/>
                                        </p:tgtEl>
                                      </p:cBhvr>
                                    </p:animEffect>
                                  </p:childTnLst>
                                </p:cTn>
                              </p:par>
                              <p:par>
                                <p:cTn id="46" presetID="14" presetClass="entr" presetSubtype="10" fill="hold" grpId="0" nodeType="withEffect">
                                  <p:stCondLst>
                                    <p:cond delay="0"/>
                                  </p:stCondLst>
                                  <p:childTnLst>
                                    <p:set>
                                      <p:cBhvr>
                                        <p:cTn id="47" dur="1" fill="hold">
                                          <p:stCondLst>
                                            <p:cond delay="0"/>
                                          </p:stCondLst>
                                        </p:cTn>
                                        <p:tgtEl>
                                          <p:spTgt spid="15380"/>
                                        </p:tgtEl>
                                        <p:attrNameLst>
                                          <p:attrName>style.visibility</p:attrName>
                                        </p:attrNameLst>
                                      </p:cBhvr>
                                      <p:to>
                                        <p:strVal val="visible"/>
                                      </p:to>
                                    </p:set>
                                    <p:animEffect transition="in" filter="randombar(horizontal)">
                                      <p:cBhvr>
                                        <p:cTn id="48" dur="500"/>
                                        <p:tgtEl>
                                          <p:spTgt spid="15380"/>
                                        </p:tgtEl>
                                      </p:cBhvr>
                                    </p:animEffect>
                                  </p:childTnLst>
                                </p:cTn>
                              </p:par>
                              <p:par>
                                <p:cTn id="49" presetID="14" presetClass="entr" presetSubtype="10" fill="hold" grpId="0" nodeType="withEffect">
                                  <p:stCondLst>
                                    <p:cond delay="0"/>
                                  </p:stCondLst>
                                  <p:childTnLst>
                                    <p:set>
                                      <p:cBhvr>
                                        <p:cTn id="50" dur="1" fill="hold">
                                          <p:stCondLst>
                                            <p:cond delay="0"/>
                                          </p:stCondLst>
                                        </p:cTn>
                                        <p:tgtEl>
                                          <p:spTgt spid="15379"/>
                                        </p:tgtEl>
                                        <p:attrNameLst>
                                          <p:attrName>style.visibility</p:attrName>
                                        </p:attrNameLst>
                                      </p:cBhvr>
                                      <p:to>
                                        <p:strVal val="visible"/>
                                      </p:to>
                                    </p:set>
                                    <p:animEffect transition="in" filter="randombar(horizontal)">
                                      <p:cBhvr>
                                        <p:cTn id="51" dur="500"/>
                                        <p:tgtEl>
                                          <p:spTgt spid="15379"/>
                                        </p:tgtEl>
                                      </p:cBhvr>
                                    </p:animEffect>
                                  </p:childTnLst>
                                </p:cTn>
                              </p:par>
                            </p:childTnLst>
                          </p:cTn>
                        </p:par>
                      </p:childTnLst>
                    </p:cTn>
                  </p:par>
                  <p:par>
                    <p:cTn id="52" fill="hold">
                      <p:stCondLst>
                        <p:cond delay="indefinite"/>
                      </p:stCondLst>
                      <p:childTnLst>
                        <p:par>
                          <p:cTn id="53" fill="hold">
                            <p:stCondLst>
                              <p:cond delay="0"/>
                            </p:stCondLst>
                            <p:childTnLst>
                              <p:par>
                                <p:cTn id="54" presetID="14" presetClass="entr" presetSubtype="10" fill="hold" grpId="0" nodeType="clickEffect">
                                  <p:stCondLst>
                                    <p:cond delay="0"/>
                                  </p:stCondLst>
                                  <p:childTnLst>
                                    <p:set>
                                      <p:cBhvr>
                                        <p:cTn id="55" dur="1" fill="hold">
                                          <p:stCondLst>
                                            <p:cond delay="0"/>
                                          </p:stCondLst>
                                        </p:cTn>
                                        <p:tgtEl>
                                          <p:spTgt spid="15371"/>
                                        </p:tgtEl>
                                        <p:attrNameLst>
                                          <p:attrName>style.visibility</p:attrName>
                                        </p:attrNameLst>
                                      </p:cBhvr>
                                      <p:to>
                                        <p:strVal val="visible"/>
                                      </p:to>
                                    </p:set>
                                    <p:animEffect transition="in" filter="randombar(horizontal)">
                                      <p:cBhvr>
                                        <p:cTn id="56" dur="500"/>
                                        <p:tgtEl>
                                          <p:spTgt spid="15371"/>
                                        </p:tgtEl>
                                      </p:cBhvr>
                                    </p:animEffect>
                                  </p:childTnLst>
                                </p:cTn>
                              </p:par>
                              <p:par>
                                <p:cTn id="57" presetID="14" presetClass="entr" presetSubtype="10" fill="hold" grpId="0" nodeType="withEffect">
                                  <p:stCondLst>
                                    <p:cond delay="0"/>
                                  </p:stCondLst>
                                  <p:childTnLst>
                                    <p:set>
                                      <p:cBhvr>
                                        <p:cTn id="58" dur="1" fill="hold">
                                          <p:stCondLst>
                                            <p:cond delay="0"/>
                                          </p:stCondLst>
                                        </p:cTn>
                                        <p:tgtEl>
                                          <p:spTgt spid="15378"/>
                                        </p:tgtEl>
                                        <p:attrNameLst>
                                          <p:attrName>style.visibility</p:attrName>
                                        </p:attrNameLst>
                                      </p:cBhvr>
                                      <p:to>
                                        <p:strVal val="visible"/>
                                      </p:to>
                                    </p:set>
                                    <p:animEffect transition="in" filter="randombar(horizontal)">
                                      <p:cBhvr>
                                        <p:cTn id="59" dur="500"/>
                                        <p:tgtEl>
                                          <p:spTgt spid="15378"/>
                                        </p:tgtEl>
                                      </p:cBhvr>
                                    </p:animEffect>
                                  </p:childTnLst>
                                </p:cTn>
                              </p:par>
                            </p:childTnLst>
                          </p:cTn>
                        </p:par>
                      </p:childTnLst>
                    </p:cTn>
                  </p:par>
                  <p:par>
                    <p:cTn id="60" fill="hold">
                      <p:stCondLst>
                        <p:cond delay="indefinite"/>
                      </p:stCondLst>
                      <p:childTnLst>
                        <p:par>
                          <p:cTn id="61" fill="hold">
                            <p:stCondLst>
                              <p:cond delay="0"/>
                            </p:stCondLst>
                            <p:childTnLst>
                              <p:par>
                                <p:cTn id="62" presetID="14" presetClass="entr" presetSubtype="10" fill="hold" grpId="0" nodeType="clickEffect">
                                  <p:stCondLst>
                                    <p:cond delay="0"/>
                                  </p:stCondLst>
                                  <p:childTnLst>
                                    <p:set>
                                      <p:cBhvr>
                                        <p:cTn id="63" dur="1" fill="hold">
                                          <p:stCondLst>
                                            <p:cond delay="0"/>
                                          </p:stCondLst>
                                        </p:cTn>
                                        <p:tgtEl>
                                          <p:spTgt spid="15370"/>
                                        </p:tgtEl>
                                        <p:attrNameLst>
                                          <p:attrName>style.visibility</p:attrName>
                                        </p:attrNameLst>
                                      </p:cBhvr>
                                      <p:to>
                                        <p:strVal val="visible"/>
                                      </p:to>
                                    </p:set>
                                    <p:animEffect transition="in" filter="randombar(horizontal)">
                                      <p:cBhvr>
                                        <p:cTn id="64" dur="500"/>
                                        <p:tgtEl>
                                          <p:spTgt spid="15370"/>
                                        </p:tgtEl>
                                      </p:cBhvr>
                                    </p:animEffect>
                                  </p:childTnLst>
                                </p:cTn>
                              </p:par>
                              <p:par>
                                <p:cTn id="65" presetID="14" presetClass="entr" presetSubtype="10" fill="hold" grpId="0" nodeType="withEffect">
                                  <p:stCondLst>
                                    <p:cond delay="0"/>
                                  </p:stCondLst>
                                  <p:childTnLst>
                                    <p:set>
                                      <p:cBhvr>
                                        <p:cTn id="66" dur="1" fill="hold">
                                          <p:stCondLst>
                                            <p:cond delay="0"/>
                                          </p:stCondLst>
                                        </p:cTn>
                                        <p:tgtEl>
                                          <p:spTgt spid="15377"/>
                                        </p:tgtEl>
                                        <p:attrNameLst>
                                          <p:attrName>style.visibility</p:attrName>
                                        </p:attrNameLst>
                                      </p:cBhvr>
                                      <p:to>
                                        <p:strVal val="visible"/>
                                      </p:to>
                                    </p:set>
                                    <p:animEffect transition="in" filter="randombar(horizontal)">
                                      <p:cBhvr>
                                        <p:cTn id="67" dur="500"/>
                                        <p:tgtEl>
                                          <p:spTgt spid="15377"/>
                                        </p:tgtEl>
                                      </p:cBhvr>
                                    </p:animEffect>
                                  </p:childTnLst>
                                </p:cTn>
                              </p:par>
                            </p:childTnLst>
                          </p:cTn>
                        </p:par>
                      </p:childTnLst>
                    </p:cTn>
                  </p:par>
                  <p:par>
                    <p:cTn id="68" fill="hold">
                      <p:stCondLst>
                        <p:cond delay="indefinite"/>
                      </p:stCondLst>
                      <p:childTnLst>
                        <p:par>
                          <p:cTn id="69" fill="hold">
                            <p:stCondLst>
                              <p:cond delay="0"/>
                            </p:stCondLst>
                            <p:childTnLst>
                              <p:par>
                                <p:cTn id="70" presetID="14" presetClass="entr" presetSubtype="10" fill="hold" grpId="0" nodeType="clickEffect">
                                  <p:stCondLst>
                                    <p:cond delay="0"/>
                                  </p:stCondLst>
                                  <p:childTnLst>
                                    <p:set>
                                      <p:cBhvr>
                                        <p:cTn id="71" dur="1" fill="hold">
                                          <p:stCondLst>
                                            <p:cond delay="0"/>
                                          </p:stCondLst>
                                        </p:cTn>
                                        <p:tgtEl>
                                          <p:spTgt spid="15369"/>
                                        </p:tgtEl>
                                        <p:attrNameLst>
                                          <p:attrName>style.visibility</p:attrName>
                                        </p:attrNameLst>
                                      </p:cBhvr>
                                      <p:to>
                                        <p:strVal val="visible"/>
                                      </p:to>
                                    </p:set>
                                    <p:animEffect transition="in" filter="randombar(horizontal)">
                                      <p:cBhvr>
                                        <p:cTn id="72" dur="500"/>
                                        <p:tgtEl>
                                          <p:spTgt spid="15369"/>
                                        </p:tgtEl>
                                      </p:cBhvr>
                                    </p:animEffect>
                                  </p:childTnLst>
                                </p:cTn>
                              </p:par>
                              <p:par>
                                <p:cTn id="73" presetID="14" presetClass="entr" presetSubtype="10" fill="hold" grpId="0" nodeType="withEffect">
                                  <p:stCondLst>
                                    <p:cond delay="0"/>
                                  </p:stCondLst>
                                  <p:childTnLst>
                                    <p:set>
                                      <p:cBhvr>
                                        <p:cTn id="74" dur="1" fill="hold">
                                          <p:stCondLst>
                                            <p:cond delay="0"/>
                                          </p:stCondLst>
                                        </p:cTn>
                                        <p:tgtEl>
                                          <p:spTgt spid="15376"/>
                                        </p:tgtEl>
                                        <p:attrNameLst>
                                          <p:attrName>style.visibility</p:attrName>
                                        </p:attrNameLst>
                                      </p:cBhvr>
                                      <p:to>
                                        <p:strVal val="visible"/>
                                      </p:to>
                                    </p:set>
                                    <p:animEffect transition="in" filter="randombar(horizontal)">
                                      <p:cBhvr>
                                        <p:cTn id="75" dur="500"/>
                                        <p:tgtEl>
                                          <p:spTgt spid="15376"/>
                                        </p:tgtEl>
                                      </p:cBhvr>
                                    </p:animEffect>
                                  </p:childTnLst>
                                </p:cTn>
                              </p:par>
                            </p:childTnLst>
                          </p:cTn>
                        </p:par>
                      </p:childTnLst>
                    </p:cTn>
                  </p:par>
                  <p:par>
                    <p:cTn id="76" fill="hold">
                      <p:stCondLst>
                        <p:cond delay="indefinite"/>
                      </p:stCondLst>
                      <p:childTnLst>
                        <p:par>
                          <p:cTn id="77" fill="hold">
                            <p:stCondLst>
                              <p:cond delay="0"/>
                            </p:stCondLst>
                            <p:childTnLst>
                              <p:par>
                                <p:cTn id="78" presetID="14" presetClass="entr" presetSubtype="10" fill="hold" grpId="0" nodeType="clickEffect">
                                  <p:stCondLst>
                                    <p:cond delay="0"/>
                                  </p:stCondLst>
                                  <p:childTnLst>
                                    <p:set>
                                      <p:cBhvr>
                                        <p:cTn id="79" dur="1" fill="hold">
                                          <p:stCondLst>
                                            <p:cond delay="0"/>
                                          </p:stCondLst>
                                        </p:cTn>
                                        <p:tgtEl>
                                          <p:spTgt spid="15368"/>
                                        </p:tgtEl>
                                        <p:attrNameLst>
                                          <p:attrName>style.visibility</p:attrName>
                                        </p:attrNameLst>
                                      </p:cBhvr>
                                      <p:to>
                                        <p:strVal val="visible"/>
                                      </p:to>
                                    </p:set>
                                    <p:animEffect transition="in" filter="randombar(horizontal)">
                                      <p:cBhvr>
                                        <p:cTn id="80" dur="500"/>
                                        <p:tgtEl>
                                          <p:spTgt spid="15368"/>
                                        </p:tgtEl>
                                      </p:cBhvr>
                                    </p:animEffect>
                                  </p:childTnLst>
                                </p:cTn>
                              </p:par>
                              <p:par>
                                <p:cTn id="81" presetID="14" presetClass="entr" presetSubtype="10" fill="hold" grpId="0" nodeType="withEffect">
                                  <p:stCondLst>
                                    <p:cond delay="0"/>
                                  </p:stCondLst>
                                  <p:childTnLst>
                                    <p:set>
                                      <p:cBhvr>
                                        <p:cTn id="82" dur="1" fill="hold">
                                          <p:stCondLst>
                                            <p:cond delay="0"/>
                                          </p:stCondLst>
                                        </p:cTn>
                                        <p:tgtEl>
                                          <p:spTgt spid="15375"/>
                                        </p:tgtEl>
                                        <p:attrNameLst>
                                          <p:attrName>style.visibility</p:attrName>
                                        </p:attrNameLst>
                                      </p:cBhvr>
                                      <p:to>
                                        <p:strVal val="visible"/>
                                      </p:to>
                                    </p:set>
                                    <p:animEffect transition="in" filter="randombar(horizontal)">
                                      <p:cBhvr>
                                        <p:cTn id="83" dur="500"/>
                                        <p:tgtEl>
                                          <p:spTgt spid="15375"/>
                                        </p:tgtEl>
                                      </p:cBhvr>
                                    </p:animEffect>
                                  </p:childTnLst>
                                </p:cTn>
                              </p:par>
                            </p:childTnLst>
                          </p:cTn>
                        </p:par>
                      </p:childTnLst>
                    </p:cTn>
                  </p:par>
                  <p:par>
                    <p:cTn id="84" fill="hold">
                      <p:stCondLst>
                        <p:cond delay="indefinite"/>
                      </p:stCondLst>
                      <p:childTnLst>
                        <p:par>
                          <p:cTn id="85" fill="hold">
                            <p:stCondLst>
                              <p:cond delay="0"/>
                            </p:stCondLst>
                            <p:childTnLst>
                              <p:par>
                                <p:cTn id="86" presetID="42" presetClass="entr" presetSubtype="0" fill="hold" grpId="0" nodeType="clickEffect">
                                  <p:stCondLst>
                                    <p:cond delay="0"/>
                                  </p:stCondLst>
                                  <p:childTnLst>
                                    <p:set>
                                      <p:cBhvr>
                                        <p:cTn id="87" dur="1" fill="hold">
                                          <p:stCondLst>
                                            <p:cond delay="0"/>
                                          </p:stCondLst>
                                        </p:cTn>
                                        <p:tgtEl>
                                          <p:spTgt spid="15383"/>
                                        </p:tgtEl>
                                        <p:attrNameLst>
                                          <p:attrName>style.visibility</p:attrName>
                                        </p:attrNameLst>
                                      </p:cBhvr>
                                      <p:to>
                                        <p:strVal val="visible"/>
                                      </p:to>
                                    </p:set>
                                    <p:animEffect transition="in" filter="fade">
                                      <p:cBhvr>
                                        <p:cTn id="88" dur="1000"/>
                                        <p:tgtEl>
                                          <p:spTgt spid="15383"/>
                                        </p:tgtEl>
                                      </p:cBhvr>
                                    </p:animEffect>
                                    <p:anim calcmode="lin" valueType="num">
                                      <p:cBhvr>
                                        <p:cTn id="89" dur="1000" fill="hold"/>
                                        <p:tgtEl>
                                          <p:spTgt spid="15383"/>
                                        </p:tgtEl>
                                        <p:attrNameLst>
                                          <p:attrName>ppt_x</p:attrName>
                                        </p:attrNameLst>
                                      </p:cBhvr>
                                      <p:tavLst>
                                        <p:tav tm="0">
                                          <p:val>
                                            <p:strVal val="#ppt_x"/>
                                          </p:val>
                                        </p:tav>
                                        <p:tav tm="100000">
                                          <p:val>
                                            <p:strVal val="#ppt_x"/>
                                          </p:val>
                                        </p:tav>
                                      </p:tavLst>
                                    </p:anim>
                                    <p:anim calcmode="lin" valueType="num">
                                      <p:cBhvr>
                                        <p:cTn id="90" dur="1000" fill="hold"/>
                                        <p:tgtEl>
                                          <p:spTgt spid="15383"/>
                                        </p:tgtEl>
                                        <p:attrNameLst>
                                          <p:attrName>ppt_y</p:attrName>
                                        </p:attrNameLst>
                                      </p:cBhvr>
                                      <p:tavLst>
                                        <p:tav tm="0">
                                          <p:val>
                                            <p:strVal val="#ppt_y+.1"/>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presetID="2" presetClass="entr" presetSubtype="4" fill="hold" grpId="0" nodeType="clickEffect">
                                  <p:stCondLst>
                                    <p:cond delay="0"/>
                                  </p:stCondLst>
                                  <p:childTnLst>
                                    <p:set>
                                      <p:cBhvr>
                                        <p:cTn id="94" dur="1" fill="hold">
                                          <p:stCondLst>
                                            <p:cond delay="0"/>
                                          </p:stCondLst>
                                        </p:cTn>
                                        <p:tgtEl>
                                          <p:spTgt spid="28"/>
                                        </p:tgtEl>
                                        <p:attrNameLst>
                                          <p:attrName>style.visibility</p:attrName>
                                        </p:attrNameLst>
                                      </p:cBhvr>
                                      <p:to>
                                        <p:strVal val="visible"/>
                                      </p:to>
                                    </p:set>
                                    <p:anim calcmode="lin" valueType="num">
                                      <p:cBhvr additive="base">
                                        <p:cTn id="95" dur="500" fill="hold"/>
                                        <p:tgtEl>
                                          <p:spTgt spid="28"/>
                                        </p:tgtEl>
                                        <p:attrNameLst>
                                          <p:attrName>ppt_x</p:attrName>
                                        </p:attrNameLst>
                                      </p:cBhvr>
                                      <p:tavLst>
                                        <p:tav tm="0">
                                          <p:val>
                                            <p:strVal val="#ppt_x"/>
                                          </p:val>
                                        </p:tav>
                                        <p:tav tm="100000">
                                          <p:val>
                                            <p:strVal val="#ppt_x"/>
                                          </p:val>
                                        </p:tav>
                                      </p:tavLst>
                                    </p:anim>
                                    <p:anim calcmode="lin" valueType="num">
                                      <p:cBhvr additive="base">
                                        <p:cTn id="96" dur="500" fill="hold"/>
                                        <p:tgtEl>
                                          <p:spTgt spid="28"/>
                                        </p:tgtEl>
                                        <p:attrNameLst>
                                          <p:attrName>ppt_y</p:attrName>
                                        </p:attrNameLst>
                                      </p:cBhvr>
                                      <p:tavLst>
                                        <p:tav tm="0">
                                          <p:val>
                                            <p:strVal val="1+#ppt_h/2"/>
                                          </p:val>
                                        </p:tav>
                                        <p:tav tm="100000">
                                          <p:val>
                                            <p:strVal val="#ppt_y"/>
                                          </p:val>
                                        </p:tav>
                                      </p:tavLst>
                                    </p:anim>
                                  </p:childTnLst>
                                </p:cTn>
                              </p:par>
                              <p:par>
                                <p:cTn id="97" presetID="22" presetClass="entr" presetSubtype="4" fill="hold" grpId="0" nodeType="withEffect">
                                  <p:stCondLst>
                                    <p:cond delay="0"/>
                                  </p:stCondLst>
                                  <p:childTnLst>
                                    <p:set>
                                      <p:cBhvr>
                                        <p:cTn id="98" dur="1" fill="hold">
                                          <p:stCondLst>
                                            <p:cond delay="0"/>
                                          </p:stCondLst>
                                        </p:cTn>
                                        <p:tgtEl>
                                          <p:spTgt spid="15382"/>
                                        </p:tgtEl>
                                        <p:attrNameLst>
                                          <p:attrName>style.visibility</p:attrName>
                                        </p:attrNameLst>
                                      </p:cBhvr>
                                      <p:to>
                                        <p:strVal val="visible"/>
                                      </p:to>
                                    </p:set>
                                    <p:animEffect transition="in" filter="wipe(down)">
                                      <p:cBhvr>
                                        <p:cTn id="99" dur="500"/>
                                        <p:tgtEl>
                                          <p:spTgt spid="153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animBg="1"/>
      <p:bldP spid="15364" grpId="0" animBg="1"/>
      <p:bldP spid="15365" grpId="0"/>
      <p:bldP spid="15366" grpId="0"/>
      <p:bldP spid="15367" grpId="0"/>
      <p:bldP spid="15368" grpId="0" animBg="1"/>
      <p:bldP spid="15369" grpId="0" animBg="1"/>
      <p:bldP spid="15370" grpId="0" animBg="1"/>
      <p:bldP spid="15371" grpId="0" animBg="1"/>
      <p:bldP spid="15372" grpId="0" animBg="1"/>
      <p:bldP spid="15373" grpId="0" animBg="1"/>
      <p:bldP spid="15374" grpId="0" animBg="1"/>
      <p:bldP spid="15375" grpId="0"/>
      <p:bldP spid="15376" grpId="0"/>
      <p:bldP spid="15377" grpId="0"/>
      <p:bldP spid="15378" grpId="0"/>
      <p:bldP spid="15379" grpId="0"/>
      <p:bldP spid="15380" grpId="0"/>
      <p:bldP spid="15381" grpId="0"/>
      <p:bldP spid="15382" grpId="0" animBg="1"/>
      <p:bldP spid="15383" grpId="0" animBg="1"/>
      <p:bldP spid="2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3"/>
          <p:cNvSpPr>
            <a:spLocks noGrp="1" noChangeArrowheads="1"/>
          </p:cNvSpPr>
          <p:nvPr>
            <p:ph type="body" idx="4294967295"/>
          </p:nvPr>
        </p:nvSpPr>
        <p:spPr>
          <a:xfrm>
            <a:off x="467544" y="1234285"/>
            <a:ext cx="8043863" cy="5290930"/>
          </a:xfrm>
          <a:ln/>
        </p:spPr>
        <p:txBody>
          <a:bodyPr/>
          <a:lstStyle/>
          <a:p>
            <a:pPr marL="457200" lvl="2" indent="-457200" eaLnBrk="1" hangingPunct="1">
              <a:buSzPct val="100000"/>
              <a:buFont typeface="Wingdings" panose="05000000000000000000" pitchFamily="2" charset="2"/>
              <a:buChar char="u"/>
            </a:pPr>
            <a:r>
              <a:rPr lang="zh-CN" altLang="en-US" sz="2200" b="0" dirty="0">
                <a:latin typeface="微软雅黑" panose="020B0503020204020204" pitchFamily="34" charset="-122"/>
                <a:ea typeface="微软雅黑" panose="020B0503020204020204" pitchFamily="34" charset="-122"/>
              </a:rPr>
              <a:t>供给曲线：不存在</a:t>
            </a:r>
            <a:endParaRPr lang="en-US" altLang="zh-CN" sz="2200" b="0" dirty="0">
              <a:latin typeface="微软雅黑" panose="020B0503020204020204" pitchFamily="34" charset="-122"/>
              <a:ea typeface="微软雅黑" panose="020B0503020204020204" pitchFamily="34" charset="-122"/>
            </a:endParaRPr>
          </a:p>
          <a:p>
            <a:pPr marL="742950" lvl="2" indent="-342900" eaLnBrk="1" hangingPunct="1">
              <a:lnSpc>
                <a:spcPct val="150000"/>
              </a:lnSpc>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rPr>
              <a:t>供给曲线反映的是供给量与价格之间的一一对应的关系。在垄断的条件下</a:t>
            </a:r>
            <a:r>
              <a:rPr lang="en-US" altLang="zh-CN" sz="2000" b="0" dirty="0">
                <a:latin typeface="微软雅黑" panose="020B0503020204020204" pitchFamily="34" charset="-122"/>
                <a:ea typeface="微软雅黑" panose="020B0503020204020204" pitchFamily="34" charset="-122"/>
              </a:rPr>
              <a:t>, </a:t>
            </a:r>
            <a:r>
              <a:rPr lang="zh-CN" altLang="en-US" sz="2000" b="0" dirty="0">
                <a:latin typeface="微软雅黑" panose="020B0503020204020204" pitchFamily="34" charset="-122"/>
                <a:ea typeface="微软雅黑" panose="020B0503020204020204" pitchFamily="34" charset="-122"/>
              </a:rPr>
              <a:t>这种确定的函数关系并不存在。</a:t>
            </a:r>
            <a:endParaRPr lang="en-US" altLang="zh-CN" sz="2000" b="0" dirty="0">
              <a:latin typeface="微软雅黑" panose="020B0503020204020204" pitchFamily="34" charset="-122"/>
              <a:ea typeface="微软雅黑" panose="020B0503020204020204" pitchFamily="34" charset="-122"/>
            </a:endParaRPr>
          </a:p>
          <a:p>
            <a:pPr marL="742950" lvl="2" indent="-342900" eaLnBrk="1" hangingPunct="1">
              <a:lnSpc>
                <a:spcPct val="150000"/>
              </a:lnSpc>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rPr>
              <a:t>不存在的原因</a:t>
            </a:r>
            <a:endParaRPr lang="en-US" altLang="zh-CN" sz="2000" b="0" dirty="0">
              <a:latin typeface="微软雅黑" panose="020B0503020204020204" pitchFamily="34" charset="-122"/>
              <a:ea typeface="微软雅黑" panose="020B0503020204020204" pitchFamily="34" charset="-122"/>
            </a:endParaRPr>
          </a:p>
          <a:p>
            <a:pPr marL="457200" lvl="1" indent="0" eaLnBrk="1" hangingPunct="1">
              <a:lnSpc>
                <a:spcPct val="150000"/>
              </a:lnSpc>
              <a:buNone/>
            </a:pPr>
            <a:r>
              <a:rPr lang="zh-CN" altLang="en-US" sz="2000" b="0" dirty="0">
                <a:latin typeface="微软雅黑" panose="020B0503020204020204" pitchFamily="34" charset="-122"/>
                <a:ea typeface="微软雅黑" panose="020B0503020204020204" pitchFamily="34" charset="-122"/>
              </a:rPr>
              <a:t>    垄断企业面临的需求曲线是向右下方倾斜，因而，边际收益曲</a:t>
            </a:r>
            <a:endParaRPr lang="en-US" altLang="zh-CN" sz="2000" b="0" dirty="0">
              <a:latin typeface="微软雅黑" panose="020B0503020204020204" pitchFamily="34" charset="-122"/>
              <a:ea typeface="微软雅黑" panose="020B0503020204020204" pitchFamily="34" charset="-122"/>
            </a:endParaRPr>
          </a:p>
          <a:p>
            <a:pPr marL="457200" lvl="1" indent="0" eaLnBrk="1" hangingPunct="1">
              <a:lnSpc>
                <a:spcPct val="150000"/>
              </a:lnSpc>
              <a:buNone/>
            </a:pPr>
            <a:r>
              <a:rPr lang="en-US" altLang="zh-CN" sz="2000" b="0" dirty="0">
                <a:latin typeface="微软雅黑" panose="020B0503020204020204" pitchFamily="34" charset="-122"/>
                <a:ea typeface="微软雅黑" panose="020B0503020204020204" pitchFamily="34" charset="-122"/>
              </a:rPr>
              <a:t>    </a:t>
            </a:r>
            <a:r>
              <a:rPr lang="zh-CN" altLang="en-US" sz="2000" b="0" dirty="0">
                <a:latin typeface="微软雅黑" panose="020B0503020204020204" pitchFamily="34" charset="-122"/>
                <a:ea typeface="微软雅黑" panose="020B0503020204020204" pitchFamily="34" charset="-122"/>
              </a:rPr>
              <a:t>线不同于需求曲线并进而导致</a:t>
            </a:r>
            <a:endParaRPr lang="en-US" altLang="zh-CN" sz="2000" b="0" dirty="0">
              <a:latin typeface="微软雅黑" panose="020B0503020204020204" pitchFamily="34" charset="-122"/>
              <a:ea typeface="微软雅黑" panose="020B0503020204020204" pitchFamily="34" charset="-122"/>
            </a:endParaRPr>
          </a:p>
          <a:p>
            <a:pPr marL="742950" lvl="4" indent="-285750">
              <a:lnSpc>
                <a:spcPct val="200000"/>
              </a:lnSpc>
              <a:spcBef>
                <a:spcPct val="0"/>
              </a:spcBef>
              <a:buFont typeface="Arial" panose="020B0604020202020204" pitchFamily="34" charset="0"/>
              <a:buChar char="•"/>
            </a:pPr>
            <a:r>
              <a:rPr lang="zh-CN" altLang="en-US" sz="1800" b="0" dirty="0">
                <a:latin typeface="微软雅黑" panose="020B0503020204020204" pitchFamily="34" charset="-122"/>
                <a:ea typeface="微软雅黑" panose="020B0503020204020204" pitchFamily="34" charset="-122"/>
              </a:rPr>
              <a:t>在同一个价格水平上有不同的供给量与之对应</a:t>
            </a:r>
            <a:endParaRPr lang="en-US" altLang="zh-CN" sz="1800" b="0" dirty="0">
              <a:latin typeface="微软雅黑" panose="020B0503020204020204" pitchFamily="34" charset="-122"/>
              <a:ea typeface="微软雅黑" panose="020B0503020204020204" pitchFamily="34" charset="-122"/>
            </a:endParaRPr>
          </a:p>
          <a:p>
            <a:pPr marL="742950" lvl="4" indent="-285750">
              <a:lnSpc>
                <a:spcPct val="200000"/>
              </a:lnSpc>
              <a:spcBef>
                <a:spcPct val="0"/>
              </a:spcBef>
              <a:buFont typeface="Arial" panose="020B0604020202020204" pitchFamily="34" charset="0"/>
              <a:buChar char="•"/>
            </a:pPr>
            <a:r>
              <a:rPr lang="zh-CN" altLang="en-US" sz="1800" b="0" dirty="0">
                <a:latin typeface="微软雅黑" panose="020B0503020204020204" pitchFamily="34" charset="-122"/>
                <a:ea typeface="微软雅黑" panose="020B0503020204020204" pitchFamily="34" charset="-122"/>
              </a:rPr>
              <a:t>在同一个供给量上有不同的价格与之对应</a:t>
            </a:r>
            <a:endParaRPr lang="en-US" altLang="zh-CN" sz="1800" b="0" dirty="0">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F68E5273-CD77-47B9-B841-9D29349C133D}"/>
              </a:ext>
            </a:extLst>
          </p:cNvPr>
          <p:cNvSpPr/>
          <p:nvPr/>
        </p:nvSpPr>
        <p:spPr>
          <a:xfrm>
            <a:off x="467544" y="548680"/>
            <a:ext cx="3781805"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spc="150" dirty="0">
                <a:solidFill>
                  <a:srgbClr val="FFFFFF"/>
                </a:solidFill>
                <a:latin typeface="微软雅黑" panose="020B0503020204020204" pitchFamily="34" charset="-122"/>
                <a:ea typeface="微软雅黑" panose="020B0503020204020204" pitchFamily="34" charset="-122"/>
              </a:rPr>
              <a:t>三</a:t>
            </a:r>
            <a:r>
              <a:rPr lang="zh-CN" altLang="en-US" sz="2400" b="1" spc="150" dirty="0">
                <a:solidFill>
                  <a:srgbClr val="FFFFFF"/>
                </a:solidFill>
                <a:latin typeface="微软雅黑" panose="020B0503020204020204" pitchFamily="34" charset="-122"/>
                <a:ea typeface="微软雅黑" panose="020B0503020204020204" pitchFamily="34" charset="-122"/>
              </a:rPr>
              <a:t>、</a:t>
            </a:r>
            <a:r>
              <a:rPr lang="zh-CN" altLang="en-US" sz="2400" spc="15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垄断企业的短期均衡</a:t>
            </a:r>
            <a:endParaRPr lang="zh-CN" altLang="en-US" sz="2400" b="1" spc="150" dirty="0">
              <a:solidFill>
                <a:srgbClr val="FFFFFF"/>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1043755" y="5507838"/>
            <a:ext cx="1531188" cy="369332"/>
          </a:xfrm>
          <a:prstGeom prst="rect">
            <a:avLst/>
          </a:prstGeom>
          <a:noFill/>
        </p:spPr>
        <p:txBody>
          <a:bodyPr wrap="none" rtlCol="0">
            <a:spAutoFit/>
          </a:bodyPr>
          <a:lstStyle/>
          <a:p>
            <a:pPr marL="0" lvl="3"/>
            <a:r>
              <a:rPr lang="zh-CN" altLang="en-US" sz="1800" b="0" spc="300" dirty="0">
                <a:latin typeface="微软雅黑" panose="020B0503020204020204" pitchFamily="34" charset="-122"/>
                <a:ea typeface="微软雅黑" panose="020B0503020204020204" pitchFamily="34" charset="-122"/>
              </a:rPr>
              <a:t>（见图解）</a:t>
            </a:r>
          </a:p>
        </p:txBody>
      </p:sp>
      <p:sp>
        <p:nvSpPr>
          <p:cNvPr id="7" name="矩形 6"/>
          <p:cNvSpPr/>
          <p:nvPr/>
        </p:nvSpPr>
        <p:spPr>
          <a:xfrm>
            <a:off x="7505410" y="35458"/>
            <a:ext cx="1638590" cy="369332"/>
          </a:xfrm>
          <a:prstGeom prst="rect">
            <a:avLst/>
          </a:prstGeom>
        </p:spPr>
        <p:txBody>
          <a:bodyPr wrap="none">
            <a:spAutoFit/>
          </a:bodyPr>
          <a:lstStyle/>
          <a:p>
            <a:pPr algn="dist"/>
            <a:r>
              <a:rPr lang="zh-CN" altLang="en-US" sz="1800" b="0" spc="30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第一节 垄断</a:t>
            </a:r>
            <a:endParaRPr lang="zh-CN" altLang="en-US" sz="1800" b="0" spc="300" dirty="0">
              <a:solidFill>
                <a:schemeClr val="tx2"/>
              </a:solidFill>
              <a:ea typeface="黑体" panose="02010609060101010101" pitchFamily="49" charset="-122"/>
              <a:sym typeface="Arial" panose="020B0604020202020204" pitchFamily="34" charset="0"/>
            </a:endParaRPr>
          </a:p>
        </p:txBody>
      </p:sp>
      <p:pic>
        <p:nvPicPr>
          <p:cNvPr id="6" name="图片 5">
            <a:extLst>
              <a:ext uri="{FF2B5EF4-FFF2-40B4-BE49-F238E27FC236}">
                <a16:creationId xmlns:a16="http://schemas.microsoft.com/office/drawing/2014/main" id="{30B71DB4-7A75-4C95-8883-9FBBE76BA9C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6856026" y="4581080"/>
            <a:ext cx="1298768" cy="1563562"/>
          </a:xfrm>
          <a:prstGeom prst="rect">
            <a:avLst/>
          </a:prstGeom>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6386">
                                            <p:txEl>
                                              <p:pRg st="0" end="0"/>
                                            </p:txEl>
                                          </p:spTgt>
                                        </p:tgtEl>
                                        <p:attrNameLst>
                                          <p:attrName>style.visibility</p:attrName>
                                        </p:attrNameLst>
                                      </p:cBhvr>
                                      <p:to>
                                        <p:strVal val="visible"/>
                                      </p:to>
                                    </p:set>
                                    <p:animEffect>
                                      <p:cBhvr>
                                        <p:cTn id="7" dur="500"/>
                                        <p:tgtEl>
                                          <p:spTgt spid="1638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6386">
                                            <p:txEl>
                                              <p:pRg st="1" end="1"/>
                                            </p:txEl>
                                          </p:spTgt>
                                        </p:tgtEl>
                                        <p:attrNameLst>
                                          <p:attrName>style.visibility</p:attrName>
                                        </p:attrNameLst>
                                      </p:cBhvr>
                                      <p:to>
                                        <p:strVal val="visible"/>
                                      </p:to>
                                    </p:set>
                                    <p:animEffect>
                                      <p:cBhvr>
                                        <p:cTn id="12" dur="500"/>
                                        <p:tgtEl>
                                          <p:spTgt spid="16386">
                                            <p:txEl>
                                              <p:pRg st="1" end="1"/>
                                            </p:txEl>
                                          </p:spTgt>
                                        </p:tgtEl>
                                      </p:cBhvr>
                                    </p:animEffect>
                                  </p:childTnLst>
                                </p:cTn>
                              </p:par>
                              <p:par>
                                <p:cTn id="13" presetID="2" presetClass="entr" presetSubtype="4"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16386">
                                            <p:txEl>
                                              <p:pRg st="2" end="2"/>
                                            </p:txEl>
                                          </p:spTgt>
                                        </p:tgtEl>
                                        <p:attrNameLst>
                                          <p:attrName>style.visibility</p:attrName>
                                        </p:attrNameLst>
                                      </p:cBhvr>
                                      <p:to>
                                        <p:strVal val="visible"/>
                                      </p:to>
                                    </p:set>
                                    <p:animEffect>
                                      <p:cBhvr>
                                        <p:cTn id="21" dur="500"/>
                                        <p:tgtEl>
                                          <p:spTgt spid="16386">
                                            <p:txEl>
                                              <p:pRg st="2" end="2"/>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nodeType="clickEffect">
                                  <p:stCondLst>
                                    <p:cond delay="0"/>
                                  </p:stCondLst>
                                  <p:childTnLst>
                                    <p:set>
                                      <p:cBhvr>
                                        <p:cTn id="25" dur="1" fill="hold">
                                          <p:stCondLst>
                                            <p:cond delay="0"/>
                                          </p:stCondLst>
                                        </p:cTn>
                                        <p:tgtEl>
                                          <p:spTgt spid="16386">
                                            <p:txEl>
                                              <p:pRg st="3" end="3"/>
                                            </p:txEl>
                                          </p:spTgt>
                                        </p:tgtEl>
                                        <p:attrNameLst>
                                          <p:attrName>style.visibility</p:attrName>
                                        </p:attrNameLst>
                                      </p:cBhvr>
                                      <p:to>
                                        <p:strVal val="visible"/>
                                      </p:to>
                                    </p:set>
                                    <p:animEffect>
                                      <p:cBhvr>
                                        <p:cTn id="26" dur="500"/>
                                        <p:tgtEl>
                                          <p:spTgt spid="16386">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16386">
                                            <p:txEl>
                                              <p:pRg st="4" end="4"/>
                                            </p:txEl>
                                          </p:spTgt>
                                        </p:tgtEl>
                                        <p:attrNameLst>
                                          <p:attrName>style.visibility</p:attrName>
                                        </p:attrNameLst>
                                      </p:cBhvr>
                                      <p:to>
                                        <p:strVal val="visible"/>
                                      </p:to>
                                    </p:set>
                                    <p:animEffect>
                                      <p:cBhvr>
                                        <p:cTn id="31" dur="500"/>
                                        <p:tgtEl>
                                          <p:spTgt spid="16386">
                                            <p:txEl>
                                              <p:pRg st="4" end="4"/>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16386">
                                            <p:txEl>
                                              <p:pRg st="5" end="5"/>
                                            </p:txEl>
                                          </p:spTgt>
                                        </p:tgtEl>
                                        <p:attrNameLst>
                                          <p:attrName>style.visibility</p:attrName>
                                        </p:attrNameLst>
                                      </p:cBhvr>
                                      <p:to>
                                        <p:strVal val="visible"/>
                                      </p:to>
                                    </p:set>
                                    <p:animEffect>
                                      <p:cBhvr>
                                        <p:cTn id="36" dur="500"/>
                                        <p:tgtEl>
                                          <p:spTgt spid="16386">
                                            <p:txEl>
                                              <p:pRg st="5" end="5"/>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nodeType="clickEffect">
                                  <p:stCondLst>
                                    <p:cond delay="0"/>
                                  </p:stCondLst>
                                  <p:childTnLst>
                                    <p:set>
                                      <p:cBhvr>
                                        <p:cTn id="40" dur="1" fill="hold">
                                          <p:stCondLst>
                                            <p:cond delay="0"/>
                                          </p:stCondLst>
                                        </p:cTn>
                                        <p:tgtEl>
                                          <p:spTgt spid="16386">
                                            <p:txEl>
                                              <p:pRg st="6" end="6"/>
                                            </p:txEl>
                                          </p:spTgt>
                                        </p:tgtEl>
                                        <p:attrNameLst>
                                          <p:attrName>style.visibility</p:attrName>
                                        </p:attrNameLst>
                                      </p:cBhvr>
                                      <p:to>
                                        <p:strVal val="visible"/>
                                      </p:to>
                                    </p:set>
                                    <p:animEffect>
                                      <p:cBhvr>
                                        <p:cTn id="41" dur="500"/>
                                        <p:tgtEl>
                                          <p:spTgt spid="16386">
                                            <p:txEl>
                                              <p:pRg st="6" end="6"/>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grpId="0" nodeType="clickEffect">
                                  <p:stCondLst>
                                    <p:cond delay="0"/>
                                  </p:stCondLst>
                                  <p:childTnLst>
                                    <p:set>
                                      <p:cBhvr>
                                        <p:cTn id="45" dur="1" fill="hold">
                                          <p:stCondLst>
                                            <p:cond delay="0"/>
                                          </p:stCondLst>
                                        </p:cTn>
                                        <p:tgtEl>
                                          <p:spTgt spid="3"/>
                                        </p:tgtEl>
                                        <p:attrNameLst>
                                          <p:attrName>style.visibility</p:attrName>
                                        </p:attrNameLst>
                                      </p:cBhvr>
                                      <p:to>
                                        <p:strVal val="visible"/>
                                      </p:to>
                                    </p:set>
                                    <p:animEffect transition="in" filter="fade">
                                      <p:cBhvr>
                                        <p:cTn id="46" dur="1000"/>
                                        <p:tgtEl>
                                          <p:spTgt spid="3"/>
                                        </p:tgtEl>
                                      </p:cBhvr>
                                    </p:animEffect>
                                    <p:anim calcmode="lin" valueType="num">
                                      <p:cBhvr>
                                        <p:cTn id="47" dur="1000" fill="hold"/>
                                        <p:tgtEl>
                                          <p:spTgt spid="3"/>
                                        </p:tgtEl>
                                        <p:attrNameLst>
                                          <p:attrName>ppt_x</p:attrName>
                                        </p:attrNameLst>
                                      </p:cBhvr>
                                      <p:tavLst>
                                        <p:tav tm="0">
                                          <p:val>
                                            <p:strVal val="#ppt_x"/>
                                          </p:val>
                                        </p:tav>
                                        <p:tav tm="100000">
                                          <p:val>
                                            <p:strVal val="#ppt_x"/>
                                          </p:val>
                                        </p:tav>
                                      </p:tavLst>
                                    </p:anim>
                                    <p:anim calcmode="lin" valueType="num">
                                      <p:cBhvr>
                                        <p:cTn id="48"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32" name="圆角矩形标注 26"/>
          <p:cNvSpPr>
            <a:spLocks noChangeArrowheads="1"/>
          </p:cNvSpPr>
          <p:nvPr/>
        </p:nvSpPr>
        <p:spPr bwMode="auto">
          <a:xfrm>
            <a:off x="163433" y="1852619"/>
            <a:ext cx="1620362" cy="2702778"/>
          </a:xfrm>
          <a:prstGeom prst="wedgeRoundRectCallout">
            <a:avLst>
              <a:gd name="adj1" fmla="val 130799"/>
              <a:gd name="adj2" fmla="val -10431"/>
              <a:gd name="adj3" fmla="val 16667"/>
            </a:avLst>
          </a:prstGeom>
          <a:solidFill>
            <a:schemeClr val="bg1"/>
          </a:solidFill>
          <a:ln>
            <a:solidFill>
              <a:srgbClr val="C00000"/>
            </a:solidFill>
          </a:ln>
        </p:spPr>
        <p:style>
          <a:lnRef idx="3">
            <a:schemeClr val="lt1"/>
          </a:lnRef>
          <a:fillRef idx="1">
            <a:schemeClr val="accent1"/>
          </a:fillRef>
          <a:effectRef idx="1">
            <a:schemeClr val="accent1"/>
          </a:effectRef>
          <a:fontRef idx="minor">
            <a:schemeClr val="lt1"/>
          </a:fontRef>
        </p:style>
        <p:txBody>
          <a:bodyPr>
            <a:spAutoFit/>
          </a:bodyPr>
          <a:lstStyle/>
          <a:p>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需求曲线为</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d1</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时</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相应的边际收益曲线为</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MR1, R1</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与边际成本曲线</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MC</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的交点决定的利润最大化产量和价格分别为</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Q1</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和</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P*</a:t>
            </a:r>
            <a:endPar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7434" name="圆角矩形标注 28"/>
          <p:cNvSpPr>
            <a:spLocks noChangeArrowheads="1"/>
          </p:cNvSpPr>
          <p:nvPr/>
        </p:nvSpPr>
        <p:spPr bwMode="auto">
          <a:xfrm>
            <a:off x="6203950" y="3970527"/>
            <a:ext cx="2784475" cy="1736646"/>
          </a:xfrm>
          <a:prstGeom prst="wedgeRoundRectCallout">
            <a:avLst>
              <a:gd name="adj1" fmla="val -132539"/>
              <a:gd name="adj2" fmla="val 42580"/>
              <a:gd name="adj3" fmla="val 16667"/>
            </a:avLst>
          </a:prstGeom>
          <a:solidFill>
            <a:schemeClr val="bg1"/>
          </a:solidFill>
          <a:ln>
            <a:solidFill>
              <a:srgbClr val="C00000"/>
            </a:solidFill>
          </a:ln>
        </p:spPr>
        <p:style>
          <a:lnRef idx="3">
            <a:schemeClr val="lt1"/>
          </a:lnRef>
          <a:fillRef idx="1">
            <a:schemeClr val="accent1"/>
          </a:fillRef>
          <a:effectRef idx="1">
            <a:schemeClr val="accent1"/>
          </a:effectRef>
          <a:fontRef idx="minor">
            <a:schemeClr val="lt1"/>
          </a:fontRef>
        </p:style>
        <p:txBody>
          <a:bodyPr>
            <a:spAutoFit/>
          </a:bodyPr>
          <a:lstStyle/>
          <a:p>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在这两种</a:t>
            </a:r>
            <a:r>
              <a:rPr lang="zh-CN" altLang="en-US" b="0">
                <a:solidFill>
                  <a:schemeClr val="tx1"/>
                </a:solidFill>
                <a:latin typeface="微软雅黑" panose="020B0503020204020204" pitchFamily="34" charset="-122"/>
                <a:ea typeface="微软雅黑" panose="020B0503020204020204" pitchFamily="34" charset="-122"/>
                <a:sym typeface="Arial" panose="020B0604020202020204" pitchFamily="34" charset="0"/>
              </a:rPr>
              <a:t>情况下</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利润最大化的</a:t>
            </a:r>
            <a:r>
              <a:rPr lang="zh-CN" altLang="en-US" b="0">
                <a:solidFill>
                  <a:schemeClr val="tx1"/>
                </a:solidFill>
                <a:latin typeface="微软雅黑" panose="020B0503020204020204" pitchFamily="34" charset="-122"/>
                <a:ea typeface="微软雅黑" panose="020B0503020204020204" pitchFamily="34" charset="-122"/>
                <a:sym typeface="Arial" panose="020B0604020202020204" pitchFamily="34" charset="0"/>
              </a:rPr>
              <a:t>价格都是</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P*, </a:t>
            </a:r>
            <a:r>
              <a:rPr lang="zh-CN" altLang="en-US" b="0">
                <a:solidFill>
                  <a:schemeClr val="tx1"/>
                </a:solidFill>
                <a:latin typeface="微软雅黑" panose="020B0503020204020204" pitchFamily="34" charset="-122"/>
                <a:ea typeface="微软雅黑" panose="020B0503020204020204" pitchFamily="34" charset="-122"/>
                <a:sym typeface="Arial" panose="020B0604020202020204" pitchFamily="34" charset="0"/>
              </a:rPr>
              <a:t>但与</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P*</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相应的利润最大化产量</a:t>
            </a:r>
            <a:r>
              <a:rPr lang="zh-CN" altLang="en-US" b="0">
                <a:solidFill>
                  <a:schemeClr val="tx1"/>
                </a:solidFill>
                <a:latin typeface="微软雅黑" panose="020B0503020204020204" pitchFamily="34" charset="-122"/>
                <a:ea typeface="微软雅黑" panose="020B0503020204020204" pitchFamily="34" charset="-122"/>
                <a:sym typeface="Arial" panose="020B0604020202020204" pitchFamily="34" charset="0"/>
              </a:rPr>
              <a:t>却有</a:t>
            </a:r>
            <a:r>
              <a:rPr lang="en-US" altLang="zh-CN" b="0">
                <a:solidFill>
                  <a:schemeClr val="tx1"/>
                </a:solidFill>
                <a:latin typeface="微软雅黑" panose="020B0503020204020204" pitchFamily="34" charset="-122"/>
                <a:ea typeface="微软雅黑" panose="020B0503020204020204" pitchFamily="34" charset="-122"/>
                <a:sym typeface="Arial" panose="020B0604020202020204" pitchFamily="34" charset="0"/>
              </a:rPr>
              <a:t>Q1</a:t>
            </a:r>
            <a:r>
              <a:rPr lang="zh-CN" altLang="en-US" b="0">
                <a:solidFill>
                  <a:schemeClr val="tx1"/>
                </a:solidFill>
                <a:latin typeface="微软雅黑" panose="020B0503020204020204" pitchFamily="34" charset="-122"/>
                <a:ea typeface="微软雅黑" panose="020B0503020204020204" pitchFamily="34" charset="-122"/>
                <a:sym typeface="Arial" panose="020B0604020202020204" pitchFamily="34" charset="0"/>
              </a:rPr>
              <a:t>和</a:t>
            </a:r>
            <a:r>
              <a:rPr lang="en-US" altLang="zh-CN" b="0">
                <a:solidFill>
                  <a:schemeClr val="tx1"/>
                </a:solidFill>
                <a:latin typeface="微软雅黑" panose="020B0503020204020204" pitchFamily="34" charset="-122"/>
                <a:ea typeface="微软雅黑" panose="020B0503020204020204" pitchFamily="34" charset="-122"/>
                <a:sym typeface="Arial" panose="020B0604020202020204" pitchFamily="34" charset="0"/>
              </a:rPr>
              <a:t>Q</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2</a:t>
            </a:r>
            <a:r>
              <a:rPr lang="zh-CN" altLang="en-US" b="0">
                <a:solidFill>
                  <a:schemeClr val="tx1"/>
                </a:solidFill>
                <a:latin typeface="微软雅黑" panose="020B0503020204020204" pitchFamily="34" charset="-122"/>
                <a:ea typeface="微软雅黑" panose="020B0503020204020204" pitchFamily="34" charset="-122"/>
                <a:sym typeface="Arial" panose="020B0604020202020204" pitchFamily="34" charset="0"/>
              </a:rPr>
              <a:t>两个</a:t>
            </a:r>
            <a:r>
              <a:rPr lang="en-US" altLang="zh-CN" b="0">
                <a:solidFill>
                  <a:schemeClr val="tx1"/>
                </a:solidFill>
                <a:latin typeface="微软雅黑" panose="020B0503020204020204" pitchFamily="34" charset="-122"/>
                <a:ea typeface="微软雅黑" panose="020B0503020204020204" pitchFamily="34" charset="-122"/>
                <a:sym typeface="Arial" panose="020B0604020202020204" pitchFamily="34" charset="0"/>
              </a:rPr>
              <a:t>(</a:t>
            </a:r>
            <a:r>
              <a:rPr lang="zh-CN" altLang="en-US" b="0">
                <a:solidFill>
                  <a:schemeClr val="tx1"/>
                </a:solidFill>
                <a:latin typeface="微软雅黑" panose="020B0503020204020204" pitchFamily="34" charset="-122"/>
                <a:ea typeface="微软雅黑" panose="020B0503020204020204" pitchFamily="34" charset="-122"/>
                <a:sym typeface="Arial" panose="020B0604020202020204" pitchFamily="34" charset="0"/>
              </a:rPr>
              <a:t>当然</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也可能不止</a:t>
            </a:r>
            <a:r>
              <a:rPr lang="zh-CN" altLang="en-US" b="0">
                <a:solidFill>
                  <a:schemeClr val="tx1"/>
                </a:solidFill>
                <a:latin typeface="微软雅黑" panose="020B0503020204020204" pitchFamily="34" charset="-122"/>
                <a:ea typeface="微软雅黑" panose="020B0503020204020204" pitchFamily="34" charset="-122"/>
                <a:sym typeface="Arial" panose="020B0604020202020204" pitchFamily="34" charset="0"/>
              </a:rPr>
              <a:t>两个</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这就违背了供给曲线的要求。</a:t>
            </a:r>
            <a:endParaRPr lang="zh-CN" altLang="en-US" b="0" dirty="0">
              <a:solidFill>
                <a:schemeClr val="tx1"/>
              </a:solidFill>
              <a:latin typeface="微软雅黑" panose="020B0503020204020204" pitchFamily="34" charset="-122"/>
              <a:ea typeface="微软雅黑" panose="020B0503020204020204" pitchFamily="34" charset="-122"/>
            </a:endParaRPr>
          </a:p>
        </p:txBody>
      </p:sp>
      <p:sp>
        <p:nvSpPr>
          <p:cNvPr id="17410" name="Line 4"/>
          <p:cNvSpPr>
            <a:spLocks noChangeShapeType="1"/>
          </p:cNvSpPr>
          <p:nvPr/>
        </p:nvSpPr>
        <p:spPr bwMode="auto">
          <a:xfrm flipV="1">
            <a:off x="2274888" y="2143125"/>
            <a:ext cx="1587" cy="3313113"/>
          </a:xfrm>
          <a:prstGeom prst="line">
            <a:avLst/>
          </a:prstGeom>
          <a:noFill/>
          <a:ln w="28575" cmpd="sng">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7411" name="Line 5"/>
          <p:cNvSpPr>
            <a:spLocks noChangeShapeType="1"/>
          </p:cNvSpPr>
          <p:nvPr/>
        </p:nvSpPr>
        <p:spPr bwMode="auto">
          <a:xfrm>
            <a:off x="2274888" y="5456238"/>
            <a:ext cx="3622675" cy="1587"/>
          </a:xfrm>
          <a:prstGeom prst="line">
            <a:avLst/>
          </a:prstGeom>
          <a:noFill/>
          <a:ln w="28575" cmpd="sng">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7412" name="Text Box 6"/>
          <p:cNvSpPr>
            <a:spLocks noChangeArrowheads="1"/>
          </p:cNvSpPr>
          <p:nvPr/>
        </p:nvSpPr>
        <p:spPr bwMode="auto">
          <a:xfrm>
            <a:off x="1927225" y="2071688"/>
            <a:ext cx="300038"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P</a:t>
            </a:r>
            <a:endParaRPr lang="zh-CN" altLang="en-US"/>
          </a:p>
        </p:txBody>
      </p:sp>
      <p:sp>
        <p:nvSpPr>
          <p:cNvPr id="17413" name="Text Box 7"/>
          <p:cNvSpPr>
            <a:spLocks noChangeArrowheads="1"/>
          </p:cNvSpPr>
          <p:nvPr/>
        </p:nvSpPr>
        <p:spPr bwMode="auto">
          <a:xfrm>
            <a:off x="2066925" y="5456238"/>
            <a:ext cx="298450"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O</a:t>
            </a:r>
            <a:endParaRPr lang="zh-CN" altLang="en-US"/>
          </a:p>
        </p:txBody>
      </p:sp>
      <p:sp>
        <p:nvSpPr>
          <p:cNvPr id="17414" name="Text Box 8"/>
          <p:cNvSpPr>
            <a:spLocks noChangeArrowheads="1"/>
          </p:cNvSpPr>
          <p:nvPr/>
        </p:nvSpPr>
        <p:spPr bwMode="auto">
          <a:xfrm>
            <a:off x="5643563" y="5429250"/>
            <a:ext cx="3968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Q</a:t>
            </a:r>
            <a:endParaRPr lang="zh-CN" altLang="en-US"/>
          </a:p>
        </p:txBody>
      </p:sp>
      <p:sp>
        <p:nvSpPr>
          <p:cNvPr id="17415" name="Line 9"/>
          <p:cNvSpPr>
            <a:spLocks noChangeShapeType="1"/>
          </p:cNvSpPr>
          <p:nvPr/>
        </p:nvSpPr>
        <p:spPr bwMode="auto">
          <a:xfrm>
            <a:off x="3109913" y="2928938"/>
            <a:ext cx="1952625" cy="1512887"/>
          </a:xfrm>
          <a:prstGeom prst="line">
            <a:avLst/>
          </a:prstGeom>
          <a:noFill/>
          <a:ln w="28575" cmpd="sng">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7416" name="Line 10"/>
          <p:cNvSpPr>
            <a:spLocks noChangeShapeType="1"/>
          </p:cNvSpPr>
          <p:nvPr/>
        </p:nvSpPr>
        <p:spPr bwMode="auto">
          <a:xfrm>
            <a:off x="2624138" y="3152775"/>
            <a:ext cx="1254125" cy="1944688"/>
          </a:xfrm>
          <a:prstGeom prst="line">
            <a:avLst/>
          </a:prstGeom>
          <a:noFill/>
          <a:ln w="28575" cmpd="sng">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7417" name="未知"/>
          <p:cNvSpPr>
            <a:spLocks noChangeArrowheads="1"/>
          </p:cNvSpPr>
          <p:nvPr/>
        </p:nvSpPr>
        <p:spPr bwMode="auto">
          <a:xfrm>
            <a:off x="3187700" y="3087688"/>
            <a:ext cx="2216150" cy="1674812"/>
          </a:xfrm>
          <a:custGeom>
            <a:avLst/>
            <a:gdLst>
              <a:gd name="T0" fmla="*/ 2147483647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a:moveTo>
                  <a:pt x="21600" y="0"/>
                </a:moveTo>
                <a:cubicBezTo>
                  <a:pt x="20474" y="1965"/>
                  <a:pt x="18450" y="8212"/>
                  <a:pt x="14851" y="11815"/>
                </a:cubicBezTo>
                <a:cubicBezTo>
                  <a:pt x="11252" y="15418"/>
                  <a:pt x="2473" y="19970"/>
                  <a:pt x="0" y="21599"/>
                </a:cubicBezTo>
              </a:path>
            </a:pathLst>
          </a:custGeom>
          <a:noFill/>
          <a:ln w="28575" cmpd="sng">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zh-CN">
              <a:solidFill>
                <a:srgbClr val="000000"/>
              </a:solidFill>
              <a:sym typeface="Arial" panose="020B0604020202020204" pitchFamily="34" charset="0"/>
            </a:endParaRPr>
          </a:p>
        </p:txBody>
      </p:sp>
      <p:sp>
        <p:nvSpPr>
          <p:cNvPr id="17418" name="Line 12"/>
          <p:cNvSpPr>
            <a:spLocks noChangeShapeType="1"/>
          </p:cNvSpPr>
          <p:nvPr/>
        </p:nvSpPr>
        <p:spPr bwMode="auto">
          <a:xfrm>
            <a:off x="3530600" y="3340100"/>
            <a:ext cx="0" cy="2089150"/>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7419" name="Line 13"/>
          <p:cNvSpPr>
            <a:spLocks noChangeShapeType="1"/>
          </p:cNvSpPr>
          <p:nvPr/>
        </p:nvSpPr>
        <p:spPr bwMode="auto">
          <a:xfrm flipH="1">
            <a:off x="2276475" y="3284538"/>
            <a:ext cx="1254125" cy="1587"/>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7420" name="Line 14"/>
          <p:cNvSpPr>
            <a:spLocks noChangeShapeType="1"/>
          </p:cNvSpPr>
          <p:nvPr/>
        </p:nvSpPr>
        <p:spPr bwMode="auto">
          <a:xfrm>
            <a:off x="3857625" y="3071813"/>
            <a:ext cx="1812925" cy="1079500"/>
          </a:xfrm>
          <a:prstGeom prst="line">
            <a:avLst/>
          </a:prstGeom>
          <a:noFill/>
          <a:ln w="28575" cmpd="sng">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7421" name="Line 15"/>
          <p:cNvSpPr>
            <a:spLocks noChangeShapeType="1"/>
          </p:cNvSpPr>
          <p:nvPr/>
        </p:nvSpPr>
        <p:spPr bwMode="auto">
          <a:xfrm>
            <a:off x="4227513" y="3267075"/>
            <a:ext cx="1587" cy="2160588"/>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7422" name="Line 16"/>
          <p:cNvSpPr>
            <a:spLocks noChangeShapeType="1"/>
          </p:cNvSpPr>
          <p:nvPr/>
        </p:nvSpPr>
        <p:spPr bwMode="auto">
          <a:xfrm>
            <a:off x="3668713" y="3727450"/>
            <a:ext cx="1392237" cy="1439863"/>
          </a:xfrm>
          <a:prstGeom prst="line">
            <a:avLst/>
          </a:prstGeom>
          <a:noFill/>
          <a:ln w="28575" cmpd="sng">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7423" name="Text Box 17"/>
          <p:cNvSpPr>
            <a:spLocks noChangeArrowheads="1"/>
          </p:cNvSpPr>
          <p:nvPr/>
        </p:nvSpPr>
        <p:spPr bwMode="auto">
          <a:xfrm>
            <a:off x="3052763" y="2593975"/>
            <a:ext cx="59055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d</a:t>
            </a:r>
            <a:r>
              <a:rPr lang="zh-CN" altLang="en-US" sz="1000">
                <a:solidFill>
                  <a:srgbClr val="000000"/>
                </a:solidFill>
                <a:sym typeface="Arial" panose="020B0604020202020204" pitchFamily="34" charset="0"/>
              </a:rPr>
              <a:t>1</a:t>
            </a:r>
            <a:endParaRPr lang="zh-CN" altLang="en-US"/>
          </a:p>
        </p:txBody>
      </p:sp>
      <p:sp>
        <p:nvSpPr>
          <p:cNvPr id="17424" name="Text Box 18"/>
          <p:cNvSpPr>
            <a:spLocks noChangeArrowheads="1"/>
          </p:cNvSpPr>
          <p:nvPr/>
        </p:nvSpPr>
        <p:spPr bwMode="auto">
          <a:xfrm>
            <a:off x="2357438" y="2786063"/>
            <a:ext cx="796925"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MR</a:t>
            </a:r>
            <a:r>
              <a:rPr lang="zh-CN" altLang="en-US" sz="1000">
                <a:solidFill>
                  <a:srgbClr val="000000"/>
                </a:solidFill>
                <a:sym typeface="Arial" panose="020B0604020202020204" pitchFamily="34" charset="0"/>
              </a:rPr>
              <a:t>1</a:t>
            </a:r>
            <a:endParaRPr lang="zh-CN" altLang="en-US"/>
          </a:p>
        </p:txBody>
      </p:sp>
      <p:sp>
        <p:nvSpPr>
          <p:cNvPr id="17425" name="Text Box 19"/>
          <p:cNvSpPr>
            <a:spLocks noChangeArrowheads="1"/>
          </p:cNvSpPr>
          <p:nvPr/>
        </p:nvSpPr>
        <p:spPr bwMode="auto">
          <a:xfrm>
            <a:off x="5210175" y="2730500"/>
            <a:ext cx="687388"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MC</a:t>
            </a:r>
            <a:endParaRPr lang="zh-CN" altLang="en-US"/>
          </a:p>
        </p:txBody>
      </p:sp>
      <p:sp>
        <p:nvSpPr>
          <p:cNvPr id="17426" name="Line 20"/>
          <p:cNvSpPr>
            <a:spLocks noChangeShapeType="1"/>
          </p:cNvSpPr>
          <p:nvPr/>
        </p:nvSpPr>
        <p:spPr bwMode="auto">
          <a:xfrm>
            <a:off x="3530600" y="3284538"/>
            <a:ext cx="696913" cy="1587"/>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7427" name="Text Box 21"/>
          <p:cNvSpPr>
            <a:spLocks noChangeArrowheads="1"/>
          </p:cNvSpPr>
          <p:nvPr/>
        </p:nvSpPr>
        <p:spPr bwMode="auto">
          <a:xfrm>
            <a:off x="3389313" y="5456238"/>
            <a:ext cx="496887"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Q</a:t>
            </a:r>
            <a:r>
              <a:rPr lang="zh-CN" altLang="en-US" sz="1000">
                <a:solidFill>
                  <a:srgbClr val="000000"/>
                </a:solidFill>
                <a:sym typeface="Arial" panose="020B0604020202020204" pitchFamily="34" charset="0"/>
              </a:rPr>
              <a:t>1</a:t>
            </a:r>
            <a:endParaRPr lang="zh-CN" altLang="en-US"/>
          </a:p>
        </p:txBody>
      </p:sp>
      <p:sp>
        <p:nvSpPr>
          <p:cNvPr id="17428" name="Text Box 22"/>
          <p:cNvSpPr>
            <a:spLocks noChangeArrowheads="1"/>
          </p:cNvSpPr>
          <p:nvPr/>
        </p:nvSpPr>
        <p:spPr bwMode="auto">
          <a:xfrm>
            <a:off x="1857375" y="3152775"/>
            <a:ext cx="487363"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P*</a:t>
            </a:r>
            <a:endParaRPr lang="zh-CN" altLang="en-US"/>
          </a:p>
        </p:txBody>
      </p:sp>
      <p:sp>
        <p:nvSpPr>
          <p:cNvPr id="17429" name="Text Box 23"/>
          <p:cNvSpPr>
            <a:spLocks noChangeArrowheads="1"/>
          </p:cNvSpPr>
          <p:nvPr/>
        </p:nvSpPr>
        <p:spPr bwMode="auto">
          <a:xfrm>
            <a:off x="5689600" y="4087813"/>
            <a:ext cx="454025"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d</a:t>
            </a:r>
            <a:r>
              <a:rPr lang="zh-CN" altLang="en-US" sz="1000">
                <a:solidFill>
                  <a:srgbClr val="000000"/>
                </a:solidFill>
                <a:sym typeface="Arial" panose="020B0604020202020204" pitchFamily="34" charset="0"/>
              </a:rPr>
              <a:t>2</a:t>
            </a:r>
            <a:endParaRPr lang="zh-CN" altLang="en-US"/>
          </a:p>
        </p:txBody>
      </p:sp>
      <p:sp>
        <p:nvSpPr>
          <p:cNvPr id="17430" name="Text Box 24"/>
          <p:cNvSpPr>
            <a:spLocks noChangeArrowheads="1"/>
          </p:cNvSpPr>
          <p:nvPr/>
        </p:nvSpPr>
        <p:spPr bwMode="auto">
          <a:xfrm>
            <a:off x="4991100" y="5095875"/>
            <a:ext cx="7302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MR</a:t>
            </a:r>
            <a:r>
              <a:rPr lang="zh-CN" altLang="en-US" sz="1000">
                <a:solidFill>
                  <a:srgbClr val="000000"/>
                </a:solidFill>
                <a:sym typeface="Arial" panose="020B0604020202020204" pitchFamily="34" charset="0"/>
              </a:rPr>
              <a:t>2</a:t>
            </a:r>
            <a:endParaRPr lang="zh-CN" altLang="en-US"/>
          </a:p>
        </p:txBody>
      </p:sp>
      <p:sp>
        <p:nvSpPr>
          <p:cNvPr id="17431" name="Text Box 25"/>
          <p:cNvSpPr>
            <a:spLocks noChangeArrowheads="1"/>
          </p:cNvSpPr>
          <p:nvPr/>
        </p:nvSpPr>
        <p:spPr bwMode="auto">
          <a:xfrm>
            <a:off x="4086225" y="5456238"/>
            <a:ext cx="598488"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Q</a:t>
            </a:r>
            <a:r>
              <a:rPr lang="zh-CN" altLang="en-US" sz="1000">
                <a:solidFill>
                  <a:srgbClr val="000000"/>
                </a:solidFill>
                <a:sym typeface="Arial" panose="020B0604020202020204" pitchFamily="34" charset="0"/>
              </a:rPr>
              <a:t>2</a:t>
            </a:r>
            <a:endParaRPr lang="zh-CN" altLang="en-US"/>
          </a:p>
        </p:txBody>
      </p:sp>
      <p:sp>
        <p:nvSpPr>
          <p:cNvPr id="17433" name="圆角矩形标注 27"/>
          <p:cNvSpPr>
            <a:spLocks noChangeArrowheads="1"/>
          </p:cNvSpPr>
          <p:nvPr/>
        </p:nvSpPr>
        <p:spPr bwMode="auto">
          <a:xfrm>
            <a:off x="6184901" y="1626363"/>
            <a:ext cx="2855913" cy="1463675"/>
          </a:xfrm>
          <a:prstGeom prst="wedgeRoundRectCallout">
            <a:avLst>
              <a:gd name="adj1" fmla="val -72173"/>
              <a:gd name="adj2" fmla="val 107057"/>
              <a:gd name="adj3" fmla="val 16667"/>
            </a:avLst>
          </a:prstGeom>
          <a:solidFill>
            <a:schemeClr val="bg1"/>
          </a:solidFill>
          <a:ln>
            <a:solidFill>
              <a:srgbClr val="C00000"/>
            </a:solidFill>
          </a:ln>
        </p:spPr>
        <p:style>
          <a:lnRef idx="3">
            <a:schemeClr val="lt1"/>
          </a:lnRef>
          <a:fillRef idx="1">
            <a:schemeClr val="accent1"/>
          </a:fillRef>
          <a:effectRef idx="1">
            <a:schemeClr val="accent1"/>
          </a:effectRef>
          <a:fontRef idx="minor">
            <a:schemeClr val="lt1"/>
          </a:fontRef>
        </p:style>
        <p:txBody>
          <a:bodyPr>
            <a:spAutoFit/>
          </a:bodyPr>
          <a:lstStyle/>
          <a:p>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需求</a:t>
            </a:r>
            <a:r>
              <a:rPr lang="zh-CN" altLang="en-US" b="0">
                <a:solidFill>
                  <a:schemeClr val="tx1"/>
                </a:solidFill>
                <a:latin typeface="微软雅黑" panose="020B0503020204020204" pitchFamily="34" charset="-122"/>
                <a:ea typeface="微软雅黑" panose="020B0503020204020204" pitchFamily="34" charset="-122"/>
                <a:sym typeface="Arial" panose="020B0604020202020204" pitchFamily="34" charset="0"/>
              </a:rPr>
              <a:t>曲线为</a:t>
            </a:r>
            <a:r>
              <a:rPr lang="en-US" altLang="zh-CN" b="0">
                <a:solidFill>
                  <a:schemeClr val="tx1"/>
                </a:solidFill>
                <a:latin typeface="微软雅黑" panose="020B0503020204020204" pitchFamily="34" charset="-122"/>
                <a:ea typeface="微软雅黑" panose="020B0503020204020204" pitchFamily="34" charset="-122"/>
                <a:sym typeface="Arial" panose="020B0604020202020204" pitchFamily="34" charset="0"/>
              </a:rPr>
              <a:t>d2</a:t>
            </a:r>
            <a:r>
              <a:rPr lang="zh-CN" altLang="en-US" b="0">
                <a:solidFill>
                  <a:schemeClr val="tx1"/>
                </a:solidFill>
                <a:latin typeface="微软雅黑" panose="020B0503020204020204" pitchFamily="34" charset="-122"/>
                <a:ea typeface="微软雅黑" panose="020B0503020204020204" pitchFamily="34" charset="-122"/>
                <a:sym typeface="Arial" panose="020B0604020202020204" pitchFamily="34" charset="0"/>
              </a:rPr>
              <a:t>时</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相应的边际收益</a:t>
            </a:r>
            <a:r>
              <a:rPr lang="zh-CN" altLang="en-US" b="0">
                <a:solidFill>
                  <a:schemeClr val="tx1"/>
                </a:solidFill>
                <a:latin typeface="微软雅黑" panose="020B0503020204020204" pitchFamily="34" charset="-122"/>
                <a:ea typeface="微软雅黑" panose="020B0503020204020204" pitchFamily="34" charset="-122"/>
                <a:sym typeface="Arial" panose="020B0604020202020204" pitchFamily="34" charset="0"/>
              </a:rPr>
              <a:t>曲线为</a:t>
            </a:r>
            <a:r>
              <a:rPr lang="en-US" altLang="zh-CN" b="0">
                <a:solidFill>
                  <a:schemeClr val="tx1"/>
                </a:solidFill>
                <a:latin typeface="微软雅黑" panose="020B0503020204020204" pitchFamily="34" charset="-122"/>
                <a:ea typeface="微软雅黑" panose="020B0503020204020204" pitchFamily="34" charset="-122"/>
                <a:sym typeface="Arial" panose="020B0604020202020204" pitchFamily="34" charset="0"/>
              </a:rPr>
              <a:t>MR2, MR</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2</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与</a:t>
            </a:r>
            <a:r>
              <a:rPr lang="zh-CN" altLang="en-US" b="0">
                <a:solidFill>
                  <a:schemeClr val="tx1"/>
                </a:solidFill>
                <a:latin typeface="微软雅黑" panose="020B0503020204020204" pitchFamily="34" charset="-122"/>
                <a:ea typeface="微软雅黑" panose="020B0503020204020204" pitchFamily="34" charset="-122"/>
                <a:sym typeface="Arial" panose="020B0604020202020204" pitchFamily="34" charset="0"/>
              </a:rPr>
              <a:t>边际成本曲线</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MC</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的交点决定的利润最大化产量和价格</a:t>
            </a:r>
            <a:r>
              <a:rPr lang="zh-CN" altLang="en-US" b="0">
                <a:solidFill>
                  <a:schemeClr val="tx1"/>
                </a:solidFill>
                <a:latin typeface="微软雅黑" panose="020B0503020204020204" pitchFamily="34" charset="-122"/>
                <a:ea typeface="微软雅黑" panose="020B0503020204020204" pitchFamily="34" charset="-122"/>
                <a:sym typeface="Arial" panose="020B0604020202020204" pitchFamily="34" charset="0"/>
              </a:rPr>
              <a:t>分别为</a:t>
            </a:r>
            <a:r>
              <a:rPr lang="en-US" altLang="zh-CN" b="0">
                <a:solidFill>
                  <a:schemeClr val="tx1"/>
                </a:solidFill>
                <a:latin typeface="微软雅黑" panose="020B0503020204020204" pitchFamily="34" charset="-122"/>
                <a:ea typeface="微软雅黑" panose="020B0503020204020204" pitchFamily="34" charset="-122"/>
                <a:sym typeface="Arial" panose="020B0604020202020204" pitchFamily="34" charset="0"/>
              </a:rPr>
              <a:t>Q2</a:t>
            </a:r>
            <a:r>
              <a:rPr lang="zh-CN" altLang="en-US" b="0">
                <a:solidFill>
                  <a:schemeClr val="tx1"/>
                </a:solidFill>
                <a:latin typeface="微软雅黑" panose="020B0503020204020204" pitchFamily="34" charset="-122"/>
                <a:ea typeface="微软雅黑" panose="020B0503020204020204" pitchFamily="34" charset="-122"/>
                <a:sym typeface="Arial" panose="020B0604020202020204" pitchFamily="34" charset="0"/>
              </a:rPr>
              <a:t>和</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P*</a:t>
            </a:r>
            <a:endPar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 name="椭圆 1"/>
          <p:cNvSpPr/>
          <p:nvPr/>
        </p:nvSpPr>
        <p:spPr bwMode="auto">
          <a:xfrm>
            <a:off x="4128223" y="3185680"/>
            <a:ext cx="185880" cy="192952"/>
          </a:xfrm>
          <a:prstGeom prst="ellipse">
            <a:avLst/>
          </a:prstGeom>
          <a:solidFill>
            <a:schemeClr val="tx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3" name="椭圆 2"/>
          <p:cNvSpPr/>
          <p:nvPr/>
        </p:nvSpPr>
        <p:spPr bwMode="auto">
          <a:xfrm>
            <a:off x="3444010" y="3204008"/>
            <a:ext cx="171450" cy="174624"/>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4" name="矩形 3"/>
          <p:cNvSpPr/>
          <p:nvPr/>
        </p:nvSpPr>
        <p:spPr>
          <a:xfrm>
            <a:off x="1419875" y="1039577"/>
            <a:ext cx="5416695" cy="600164"/>
          </a:xfrm>
          <a:prstGeom prst="rect">
            <a:avLst/>
          </a:prstGeom>
        </p:spPr>
        <p:txBody>
          <a:bodyPr wrap="square">
            <a:spAutoFit/>
          </a:bodyPr>
          <a:lstStyle/>
          <a:p>
            <a:pPr marL="457200" lvl="3" eaLnBrk="1" hangingPunct="1">
              <a:lnSpc>
                <a:spcPct val="150000"/>
              </a:lnSpc>
              <a:spcBef>
                <a:spcPct val="50000"/>
              </a:spcBef>
            </a:pPr>
            <a:r>
              <a:rPr lang="zh-CN" altLang="en-US" sz="2200" b="0" dirty="0">
                <a:latin typeface="微软雅黑" panose="020B0503020204020204" pitchFamily="34" charset="-122"/>
                <a:ea typeface="微软雅黑" panose="020B0503020204020204" pitchFamily="34" charset="-122"/>
              </a:rPr>
              <a:t>同一个价格水平对应不同供给量的情形</a:t>
            </a:r>
            <a:endParaRPr lang="en-US" altLang="zh-CN" sz="2200" b="0" dirty="0">
              <a:latin typeface="微软雅黑" panose="020B0503020204020204" pitchFamily="34" charset="-122"/>
              <a:ea typeface="微软雅黑" panose="020B0503020204020204" pitchFamily="34" charset="-122"/>
            </a:endParaRPr>
          </a:p>
        </p:txBody>
      </p:sp>
      <p:sp>
        <p:nvSpPr>
          <p:cNvPr id="30" name="矩形 29">
            <a:extLst>
              <a:ext uri="{FF2B5EF4-FFF2-40B4-BE49-F238E27FC236}">
                <a16:creationId xmlns:a16="http://schemas.microsoft.com/office/drawing/2014/main" id="{F68E5273-CD77-47B9-B841-9D29349C133D}"/>
              </a:ext>
            </a:extLst>
          </p:cNvPr>
          <p:cNvSpPr/>
          <p:nvPr/>
        </p:nvSpPr>
        <p:spPr>
          <a:xfrm>
            <a:off x="467544" y="548680"/>
            <a:ext cx="3781805"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spc="150" dirty="0">
                <a:solidFill>
                  <a:srgbClr val="FFFFFF"/>
                </a:solidFill>
                <a:latin typeface="微软雅黑" panose="020B0503020204020204" pitchFamily="34" charset="-122"/>
                <a:ea typeface="微软雅黑" panose="020B0503020204020204" pitchFamily="34" charset="-122"/>
              </a:rPr>
              <a:t>三</a:t>
            </a:r>
            <a:r>
              <a:rPr lang="zh-CN" altLang="en-US" sz="2400" b="1" spc="150" dirty="0">
                <a:solidFill>
                  <a:srgbClr val="FFFFFF"/>
                </a:solidFill>
                <a:latin typeface="微软雅黑" panose="020B0503020204020204" pitchFamily="34" charset="-122"/>
                <a:ea typeface="微软雅黑" panose="020B0503020204020204" pitchFamily="34" charset="-122"/>
              </a:rPr>
              <a:t>、</a:t>
            </a:r>
            <a:r>
              <a:rPr lang="zh-CN" altLang="en-US" sz="2400" spc="15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垄断企业的短期均衡</a:t>
            </a:r>
            <a:endParaRPr lang="zh-CN" altLang="en-US" sz="2400" b="1" spc="150" dirty="0">
              <a:solidFill>
                <a:srgbClr val="FFFFFF"/>
              </a:solidFill>
              <a:latin typeface="微软雅黑" panose="020B0503020204020204" pitchFamily="34" charset="-122"/>
              <a:ea typeface="微软雅黑" panose="020B0503020204020204" pitchFamily="34" charset="-122"/>
            </a:endParaRPr>
          </a:p>
        </p:txBody>
      </p:sp>
      <p:sp>
        <p:nvSpPr>
          <p:cNvPr id="31" name="矩形 30">
            <a:extLst>
              <a:ext uri="{FF2B5EF4-FFF2-40B4-BE49-F238E27FC236}">
                <a16:creationId xmlns:a16="http://schemas.microsoft.com/office/drawing/2014/main" id="{11A27BA3-D6CA-4844-9316-94651C54AAEA}"/>
              </a:ext>
            </a:extLst>
          </p:cNvPr>
          <p:cNvSpPr/>
          <p:nvPr/>
        </p:nvSpPr>
        <p:spPr>
          <a:xfrm>
            <a:off x="7505410" y="35458"/>
            <a:ext cx="1638590" cy="369332"/>
          </a:xfrm>
          <a:prstGeom prst="rect">
            <a:avLst/>
          </a:prstGeom>
        </p:spPr>
        <p:txBody>
          <a:bodyPr wrap="none">
            <a:spAutoFit/>
          </a:bodyPr>
          <a:lstStyle/>
          <a:p>
            <a:pPr algn="dist"/>
            <a:r>
              <a:rPr lang="zh-CN" altLang="en-US" sz="1800" b="0" spc="30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第一节 垄断</a:t>
            </a:r>
            <a:endParaRPr lang="zh-CN" altLang="en-US" sz="1800" b="0" spc="300" dirty="0">
              <a:solidFill>
                <a:schemeClr val="tx2"/>
              </a:solidFill>
              <a:ea typeface="黑体" panose="02010609060101010101" pitchFamily="49" charset="-122"/>
              <a:sym typeface="Arial" panose="020B0604020202020204" pitchFamily="34"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 presetClass="entr" presetSubtype="10" fill="hold" grpId="0" nodeType="clickEffect">
                                  <p:stCondLst>
                                    <p:cond delay="0"/>
                                  </p:stCondLst>
                                  <p:childTnLst>
                                    <p:set>
                                      <p:cBhvr>
                                        <p:cTn id="13" dur="1" fill="hold">
                                          <p:stCondLst>
                                            <p:cond delay="0"/>
                                          </p:stCondLst>
                                        </p:cTn>
                                        <p:tgtEl>
                                          <p:spTgt spid="17412"/>
                                        </p:tgtEl>
                                        <p:attrNameLst>
                                          <p:attrName>style.visibility</p:attrName>
                                        </p:attrNameLst>
                                      </p:cBhvr>
                                      <p:to>
                                        <p:strVal val="visible"/>
                                      </p:to>
                                    </p:set>
                                    <p:animEffect>
                                      <p:cBhvr>
                                        <p:cTn id="14" dur="500"/>
                                        <p:tgtEl>
                                          <p:spTgt spid="17412"/>
                                        </p:tgtEl>
                                      </p:cBhvr>
                                    </p:animEffect>
                                  </p:childTnLst>
                                </p:cTn>
                              </p:par>
                              <p:par>
                                <p:cTn id="15" presetID="3" presetClass="entr" presetSubtype="10" fill="hold" grpId="0" nodeType="withEffect">
                                  <p:stCondLst>
                                    <p:cond delay="0"/>
                                  </p:stCondLst>
                                  <p:childTnLst>
                                    <p:set>
                                      <p:cBhvr>
                                        <p:cTn id="16" dur="1" fill="hold">
                                          <p:stCondLst>
                                            <p:cond delay="0"/>
                                          </p:stCondLst>
                                        </p:cTn>
                                        <p:tgtEl>
                                          <p:spTgt spid="17410"/>
                                        </p:tgtEl>
                                        <p:attrNameLst>
                                          <p:attrName>style.visibility</p:attrName>
                                        </p:attrNameLst>
                                      </p:cBhvr>
                                      <p:to>
                                        <p:strVal val="visible"/>
                                      </p:to>
                                    </p:set>
                                    <p:animEffect>
                                      <p:cBhvr>
                                        <p:cTn id="17" dur="500"/>
                                        <p:tgtEl>
                                          <p:spTgt spid="17410"/>
                                        </p:tgtEl>
                                      </p:cBhvr>
                                    </p:animEffect>
                                  </p:childTnLst>
                                </p:cTn>
                              </p:par>
                              <p:par>
                                <p:cTn id="18" presetID="3" presetClass="entr" presetSubtype="10" fill="hold" nodeType="withEffect">
                                  <p:stCondLst>
                                    <p:cond delay="0"/>
                                  </p:stCondLst>
                                  <p:childTnLst>
                                    <p:set>
                                      <p:cBhvr>
                                        <p:cTn id="19" dur="1" fill="hold">
                                          <p:stCondLst>
                                            <p:cond delay="0"/>
                                          </p:stCondLst>
                                        </p:cTn>
                                        <p:tgtEl>
                                          <p:spTgt spid="17413"/>
                                        </p:tgtEl>
                                        <p:attrNameLst>
                                          <p:attrName>style.visibility</p:attrName>
                                        </p:attrNameLst>
                                      </p:cBhvr>
                                      <p:to>
                                        <p:strVal val="visible"/>
                                      </p:to>
                                    </p:set>
                                    <p:animEffect>
                                      <p:cBhvr>
                                        <p:cTn id="20" dur="500"/>
                                        <p:tgtEl>
                                          <p:spTgt spid="17413"/>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17411"/>
                                        </p:tgtEl>
                                        <p:attrNameLst>
                                          <p:attrName>style.visibility</p:attrName>
                                        </p:attrNameLst>
                                      </p:cBhvr>
                                      <p:to>
                                        <p:strVal val="visible"/>
                                      </p:to>
                                    </p:set>
                                    <p:animEffect>
                                      <p:cBhvr>
                                        <p:cTn id="23" dur="500"/>
                                        <p:tgtEl>
                                          <p:spTgt spid="17411"/>
                                        </p:tgtEl>
                                      </p:cBhvr>
                                    </p:animEffect>
                                  </p:childTnLst>
                                </p:cTn>
                              </p:par>
                              <p:par>
                                <p:cTn id="24" presetID="3" presetClass="entr" presetSubtype="10" fill="hold" nodeType="withEffect">
                                  <p:stCondLst>
                                    <p:cond delay="0"/>
                                  </p:stCondLst>
                                  <p:childTnLst>
                                    <p:set>
                                      <p:cBhvr>
                                        <p:cTn id="25" dur="1" fill="hold">
                                          <p:stCondLst>
                                            <p:cond delay="0"/>
                                          </p:stCondLst>
                                        </p:cTn>
                                        <p:tgtEl>
                                          <p:spTgt spid="17414"/>
                                        </p:tgtEl>
                                        <p:attrNameLst>
                                          <p:attrName>style.visibility</p:attrName>
                                        </p:attrNameLst>
                                      </p:cBhvr>
                                      <p:to>
                                        <p:strVal val="visible"/>
                                      </p:to>
                                    </p:set>
                                    <p:animEffect>
                                      <p:cBhvr>
                                        <p:cTn id="26" dur="500"/>
                                        <p:tgtEl>
                                          <p:spTgt spid="17414"/>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17417"/>
                                        </p:tgtEl>
                                        <p:attrNameLst>
                                          <p:attrName>style.visibility</p:attrName>
                                        </p:attrNameLst>
                                      </p:cBhvr>
                                      <p:to>
                                        <p:strVal val="visible"/>
                                      </p:to>
                                    </p:set>
                                    <p:animEffect>
                                      <p:cBhvr>
                                        <p:cTn id="31" dur="500"/>
                                        <p:tgtEl>
                                          <p:spTgt spid="17417"/>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17425"/>
                                        </p:tgtEl>
                                        <p:attrNameLst>
                                          <p:attrName>style.visibility</p:attrName>
                                        </p:attrNameLst>
                                      </p:cBhvr>
                                      <p:to>
                                        <p:strVal val="visible"/>
                                      </p:to>
                                    </p:set>
                                    <p:animEffect>
                                      <p:cBhvr>
                                        <p:cTn id="34" dur="500"/>
                                        <p:tgtEl>
                                          <p:spTgt spid="17425"/>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17423"/>
                                        </p:tgtEl>
                                        <p:attrNameLst>
                                          <p:attrName>style.visibility</p:attrName>
                                        </p:attrNameLst>
                                      </p:cBhvr>
                                      <p:to>
                                        <p:strVal val="visible"/>
                                      </p:to>
                                    </p:set>
                                    <p:animEffect>
                                      <p:cBhvr>
                                        <p:cTn id="39" dur="500"/>
                                        <p:tgtEl>
                                          <p:spTgt spid="17423"/>
                                        </p:tgtEl>
                                      </p:cBhvr>
                                    </p:animEffect>
                                  </p:childTnLst>
                                </p:cTn>
                              </p:par>
                              <p:par>
                                <p:cTn id="40" presetID="3" presetClass="entr" presetSubtype="10" fill="hold" grpId="0" nodeType="withEffect">
                                  <p:stCondLst>
                                    <p:cond delay="0"/>
                                  </p:stCondLst>
                                  <p:childTnLst>
                                    <p:set>
                                      <p:cBhvr>
                                        <p:cTn id="41" dur="1" fill="hold">
                                          <p:stCondLst>
                                            <p:cond delay="0"/>
                                          </p:stCondLst>
                                        </p:cTn>
                                        <p:tgtEl>
                                          <p:spTgt spid="17415"/>
                                        </p:tgtEl>
                                        <p:attrNameLst>
                                          <p:attrName>style.visibility</p:attrName>
                                        </p:attrNameLst>
                                      </p:cBhvr>
                                      <p:to>
                                        <p:strVal val="visible"/>
                                      </p:to>
                                    </p:set>
                                    <p:animEffect>
                                      <p:cBhvr>
                                        <p:cTn id="42" dur="500"/>
                                        <p:tgtEl>
                                          <p:spTgt spid="17415"/>
                                        </p:tgtEl>
                                      </p:cBhvr>
                                    </p:animEffect>
                                  </p:childTnLst>
                                </p:cTn>
                              </p:par>
                              <p:par>
                                <p:cTn id="43" presetID="3" presetClass="entr" presetSubtype="10" fill="hold" grpId="0" nodeType="withEffect">
                                  <p:stCondLst>
                                    <p:cond delay="0"/>
                                  </p:stCondLst>
                                  <p:childTnLst>
                                    <p:set>
                                      <p:cBhvr>
                                        <p:cTn id="44" dur="1" fill="hold">
                                          <p:stCondLst>
                                            <p:cond delay="0"/>
                                          </p:stCondLst>
                                        </p:cTn>
                                        <p:tgtEl>
                                          <p:spTgt spid="17424"/>
                                        </p:tgtEl>
                                        <p:attrNameLst>
                                          <p:attrName>style.visibility</p:attrName>
                                        </p:attrNameLst>
                                      </p:cBhvr>
                                      <p:to>
                                        <p:strVal val="visible"/>
                                      </p:to>
                                    </p:set>
                                    <p:animEffect>
                                      <p:cBhvr>
                                        <p:cTn id="45" dur="500"/>
                                        <p:tgtEl>
                                          <p:spTgt spid="17424"/>
                                        </p:tgtEl>
                                      </p:cBhvr>
                                    </p:animEffect>
                                  </p:childTnLst>
                                </p:cTn>
                              </p:par>
                              <p:par>
                                <p:cTn id="46" presetID="3" presetClass="entr" presetSubtype="10" fill="hold" grpId="0" nodeType="withEffect">
                                  <p:stCondLst>
                                    <p:cond delay="0"/>
                                  </p:stCondLst>
                                  <p:childTnLst>
                                    <p:set>
                                      <p:cBhvr>
                                        <p:cTn id="47" dur="1" fill="hold">
                                          <p:stCondLst>
                                            <p:cond delay="0"/>
                                          </p:stCondLst>
                                        </p:cTn>
                                        <p:tgtEl>
                                          <p:spTgt spid="17416"/>
                                        </p:tgtEl>
                                        <p:attrNameLst>
                                          <p:attrName>style.visibility</p:attrName>
                                        </p:attrNameLst>
                                      </p:cBhvr>
                                      <p:to>
                                        <p:strVal val="visible"/>
                                      </p:to>
                                    </p:set>
                                    <p:animEffect>
                                      <p:cBhvr>
                                        <p:cTn id="48" dur="500"/>
                                        <p:tgtEl>
                                          <p:spTgt spid="17416"/>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17432"/>
                                        </p:tgtEl>
                                        <p:attrNameLst>
                                          <p:attrName>style.visibility</p:attrName>
                                        </p:attrNameLst>
                                      </p:cBhvr>
                                      <p:to>
                                        <p:strVal val="visible"/>
                                      </p:to>
                                    </p:set>
                                    <p:animEffect>
                                      <p:cBhvr>
                                        <p:cTn id="53" dur="500"/>
                                        <p:tgtEl>
                                          <p:spTgt spid="17432"/>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17418"/>
                                        </p:tgtEl>
                                        <p:attrNameLst>
                                          <p:attrName>style.visibility</p:attrName>
                                        </p:attrNameLst>
                                      </p:cBhvr>
                                      <p:to>
                                        <p:strVal val="visible"/>
                                      </p:to>
                                    </p:set>
                                    <p:animEffect>
                                      <p:cBhvr>
                                        <p:cTn id="58" dur="500"/>
                                        <p:tgtEl>
                                          <p:spTgt spid="17418"/>
                                        </p:tgtEl>
                                      </p:cBhvr>
                                    </p:animEffect>
                                  </p:childTnLst>
                                </p:cTn>
                              </p:par>
                              <p:par>
                                <p:cTn id="59" presetID="3" presetClass="entr" presetSubtype="10" fill="hold" grpId="0" nodeType="withEffect">
                                  <p:stCondLst>
                                    <p:cond delay="0"/>
                                  </p:stCondLst>
                                  <p:childTnLst>
                                    <p:set>
                                      <p:cBhvr>
                                        <p:cTn id="60" dur="1" fill="hold">
                                          <p:stCondLst>
                                            <p:cond delay="0"/>
                                          </p:stCondLst>
                                        </p:cTn>
                                        <p:tgtEl>
                                          <p:spTgt spid="17427"/>
                                        </p:tgtEl>
                                        <p:attrNameLst>
                                          <p:attrName>style.visibility</p:attrName>
                                        </p:attrNameLst>
                                      </p:cBhvr>
                                      <p:to>
                                        <p:strVal val="visible"/>
                                      </p:to>
                                    </p:set>
                                    <p:animEffect>
                                      <p:cBhvr>
                                        <p:cTn id="61" dur="500"/>
                                        <p:tgtEl>
                                          <p:spTgt spid="17427"/>
                                        </p:tgtEl>
                                      </p:cBhvr>
                                    </p:animEffect>
                                  </p:childTnLst>
                                </p:cTn>
                              </p:par>
                              <p:par>
                                <p:cTn id="62" presetID="3" presetClass="entr" presetSubtype="10" fill="hold" grpId="0" nodeType="withEffect">
                                  <p:stCondLst>
                                    <p:cond delay="0"/>
                                  </p:stCondLst>
                                  <p:childTnLst>
                                    <p:set>
                                      <p:cBhvr>
                                        <p:cTn id="63" dur="1" fill="hold">
                                          <p:stCondLst>
                                            <p:cond delay="0"/>
                                          </p:stCondLst>
                                        </p:cTn>
                                        <p:tgtEl>
                                          <p:spTgt spid="17419"/>
                                        </p:tgtEl>
                                        <p:attrNameLst>
                                          <p:attrName>style.visibility</p:attrName>
                                        </p:attrNameLst>
                                      </p:cBhvr>
                                      <p:to>
                                        <p:strVal val="visible"/>
                                      </p:to>
                                    </p:set>
                                    <p:animEffect>
                                      <p:cBhvr>
                                        <p:cTn id="64" dur="500"/>
                                        <p:tgtEl>
                                          <p:spTgt spid="17419"/>
                                        </p:tgtEl>
                                      </p:cBhvr>
                                    </p:animEffect>
                                  </p:childTnLst>
                                </p:cTn>
                              </p:par>
                              <p:par>
                                <p:cTn id="65" presetID="3" presetClass="entr" presetSubtype="10" fill="hold" grpId="0" nodeType="withEffect">
                                  <p:stCondLst>
                                    <p:cond delay="0"/>
                                  </p:stCondLst>
                                  <p:childTnLst>
                                    <p:set>
                                      <p:cBhvr>
                                        <p:cTn id="66" dur="1" fill="hold">
                                          <p:stCondLst>
                                            <p:cond delay="0"/>
                                          </p:stCondLst>
                                        </p:cTn>
                                        <p:tgtEl>
                                          <p:spTgt spid="17428"/>
                                        </p:tgtEl>
                                        <p:attrNameLst>
                                          <p:attrName>style.visibility</p:attrName>
                                        </p:attrNameLst>
                                      </p:cBhvr>
                                      <p:to>
                                        <p:strVal val="visible"/>
                                      </p:to>
                                    </p:set>
                                    <p:animEffect>
                                      <p:cBhvr>
                                        <p:cTn id="67" dur="500"/>
                                        <p:tgtEl>
                                          <p:spTgt spid="17428"/>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3"/>
                                        </p:tgtEl>
                                        <p:attrNameLst>
                                          <p:attrName>style.visibility</p:attrName>
                                        </p:attrNameLst>
                                      </p:cBhvr>
                                      <p:to>
                                        <p:strVal val="visible"/>
                                      </p:to>
                                    </p:set>
                                    <p:animEffect transition="in" filter="fade">
                                      <p:cBhvr>
                                        <p:cTn id="72" dur="500"/>
                                        <p:tgtEl>
                                          <p:spTgt spid="3"/>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17420"/>
                                        </p:tgtEl>
                                        <p:attrNameLst>
                                          <p:attrName>style.visibility</p:attrName>
                                        </p:attrNameLst>
                                      </p:cBhvr>
                                      <p:to>
                                        <p:strVal val="visible"/>
                                      </p:to>
                                    </p:set>
                                    <p:animEffect transition="in" filter="fade">
                                      <p:cBhvr>
                                        <p:cTn id="77" dur="500"/>
                                        <p:tgtEl>
                                          <p:spTgt spid="17420"/>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17429"/>
                                        </p:tgtEl>
                                        <p:attrNameLst>
                                          <p:attrName>style.visibility</p:attrName>
                                        </p:attrNameLst>
                                      </p:cBhvr>
                                      <p:to>
                                        <p:strVal val="visible"/>
                                      </p:to>
                                    </p:set>
                                    <p:animEffect transition="in" filter="fade">
                                      <p:cBhvr>
                                        <p:cTn id="80" dur="500"/>
                                        <p:tgtEl>
                                          <p:spTgt spid="17429"/>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17422"/>
                                        </p:tgtEl>
                                        <p:attrNameLst>
                                          <p:attrName>style.visibility</p:attrName>
                                        </p:attrNameLst>
                                      </p:cBhvr>
                                      <p:to>
                                        <p:strVal val="visible"/>
                                      </p:to>
                                    </p:set>
                                    <p:animEffect transition="in" filter="fade">
                                      <p:cBhvr>
                                        <p:cTn id="83" dur="500"/>
                                        <p:tgtEl>
                                          <p:spTgt spid="17422"/>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17430"/>
                                        </p:tgtEl>
                                        <p:attrNameLst>
                                          <p:attrName>style.visibility</p:attrName>
                                        </p:attrNameLst>
                                      </p:cBhvr>
                                      <p:to>
                                        <p:strVal val="visible"/>
                                      </p:to>
                                    </p:set>
                                    <p:animEffect transition="in" filter="fade">
                                      <p:cBhvr>
                                        <p:cTn id="86" dur="500"/>
                                        <p:tgtEl>
                                          <p:spTgt spid="17430"/>
                                        </p:tgtEl>
                                      </p:cBhvr>
                                    </p:animEffect>
                                  </p:childTnLst>
                                </p:cTn>
                              </p:par>
                            </p:childTnLst>
                          </p:cTn>
                        </p:par>
                      </p:childTnLst>
                    </p:cTn>
                  </p:par>
                  <p:par>
                    <p:cTn id="87" fill="hold">
                      <p:stCondLst>
                        <p:cond delay="indefinite"/>
                      </p:stCondLst>
                      <p:childTnLst>
                        <p:par>
                          <p:cTn id="88" fill="hold">
                            <p:stCondLst>
                              <p:cond delay="0"/>
                            </p:stCondLst>
                            <p:childTnLst>
                              <p:par>
                                <p:cTn id="89" presetID="3" presetClass="entr" presetSubtype="10" fill="hold" grpId="0" nodeType="clickEffect">
                                  <p:stCondLst>
                                    <p:cond delay="0"/>
                                  </p:stCondLst>
                                  <p:childTnLst>
                                    <p:set>
                                      <p:cBhvr>
                                        <p:cTn id="90" dur="1" fill="hold">
                                          <p:stCondLst>
                                            <p:cond delay="0"/>
                                          </p:stCondLst>
                                        </p:cTn>
                                        <p:tgtEl>
                                          <p:spTgt spid="17433"/>
                                        </p:tgtEl>
                                        <p:attrNameLst>
                                          <p:attrName>style.visibility</p:attrName>
                                        </p:attrNameLst>
                                      </p:cBhvr>
                                      <p:to>
                                        <p:strVal val="visible"/>
                                      </p:to>
                                    </p:set>
                                    <p:animEffect>
                                      <p:cBhvr>
                                        <p:cTn id="91" dur="500"/>
                                        <p:tgtEl>
                                          <p:spTgt spid="17433"/>
                                        </p:tgtEl>
                                      </p:cBhvr>
                                    </p:animEffect>
                                  </p:childTnLst>
                                </p:cTn>
                              </p:par>
                            </p:childTnLst>
                          </p:cTn>
                        </p:par>
                      </p:childTnLst>
                    </p:cTn>
                  </p:par>
                  <p:par>
                    <p:cTn id="92" fill="hold">
                      <p:stCondLst>
                        <p:cond delay="indefinite"/>
                      </p:stCondLst>
                      <p:childTnLst>
                        <p:par>
                          <p:cTn id="93" fill="hold">
                            <p:stCondLst>
                              <p:cond delay="0"/>
                            </p:stCondLst>
                            <p:childTnLst>
                              <p:par>
                                <p:cTn id="94" presetID="3" presetClass="entr" presetSubtype="10" fill="hold" grpId="0" nodeType="clickEffect">
                                  <p:stCondLst>
                                    <p:cond delay="0"/>
                                  </p:stCondLst>
                                  <p:childTnLst>
                                    <p:set>
                                      <p:cBhvr>
                                        <p:cTn id="95" dur="1" fill="hold">
                                          <p:stCondLst>
                                            <p:cond delay="0"/>
                                          </p:stCondLst>
                                        </p:cTn>
                                        <p:tgtEl>
                                          <p:spTgt spid="17426"/>
                                        </p:tgtEl>
                                        <p:attrNameLst>
                                          <p:attrName>style.visibility</p:attrName>
                                        </p:attrNameLst>
                                      </p:cBhvr>
                                      <p:to>
                                        <p:strVal val="visible"/>
                                      </p:to>
                                    </p:set>
                                    <p:animEffect>
                                      <p:cBhvr>
                                        <p:cTn id="96" dur="500"/>
                                        <p:tgtEl>
                                          <p:spTgt spid="17426"/>
                                        </p:tgtEl>
                                      </p:cBhvr>
                                    </p:animEffect>
                                  </p:childTnLst>
                                </p:cTn>
                              </p:par>
                              <p:par>
                                <p:cTn id="97" presetID="3" presetClass="entr" presetSubtype="10" fill="hold" grpId="0" nodeType="withEffect">
                                  <p:stCondLst>
                                    <p:cond delay="0"/>
                                  </p:stCondLst>
                                  <p:childTnLst>
                                    <p:set>
                                      <p:cBhvr>
                                        <p:cTn id="98" dur="1" fill="hold">
                                          <p:stCondLst>
                                            <p:cond delay="0"/>
                                          </p:stCondLst>
                                        </p:cTn>
                                        <p:tgtEl>
                                          <p:spTgt spid="17421"/>
                                        </p:tgtEl>
                                        <p:attrNameLst>
                                          <p:attrName>style.visibility</p:attrName>
                                        </p:attrNameLst>
                                      </p:cBhvr>
                                      <p:to>
                                        <p:strVal val="visible"/>
                                      </p:to>
                                    </p:set>
                                    <p:animEffect>
                                      <p:cBhvr>
                                        <p:cTn id="99" dur="500"/>
                                        <p:tgtEl>
                                          <p:spTgt spid="17421"/>
                                        </p:tgtEl>
                                      </p:cBhvr>
                                    </p:animEffect>
                                  </p:childTnLst>
                                </p:cTn>
                              </p:par>
                              <p:par>
                                <p:cTn id="100" presetID="3" presetClass="entr" presetSubtype="10" fill="hold" grpId="0" nodeType="withEffect">
                                  <p:stCondLst>
                                    <p:cond delay="0"/>
                                  </p:stCondLst>
                                  <p:childTnLst>
                                    <p:set>
                                      <p:cBhvr>
                                        <p:cTn id="101" dur="1" fill="hold">
                                          <p:stCondLst>
                                            <p:cond delay="0"/>
                                          </p:stCondLst>
                                        </p:cTn>
                                        <p:tgtEl>
                                          <p:spTgt spid="17431"/>
                                        </p:tgtEl>
                                        <p:attrNameLst>
                                          <p:attrName>style.visibility</p:attrName>
                                        </p:attrNameLst>
                                      </p:cBhvr>
                                      <p:to>
                                        <p:strVal val="visible"/>
                                      </p:to>
                                    </p:set>
                                    <p:animEffect>
                                      <p:cBhvr>
                                        <p:cTn id="102" dur="500"/>
                                        <p:tgtEl>
                                          <p:spTgt spid="17431"/>
                                        </p:tgtEl>
                                      </p:cBhvr>
                                    </p:animEffect>
                                  </p:childTnLst>
                                </p:cTn>
                              </p:par>
                            </p:childTnLst>
                          </p:cTn>
                        </p:par>
                      </p:childTnLst>
                    </p:cTn>
                  </p:par>
                  <p:par>
                    <p:cTn id="103" fill="hold">
                      <p:stCondLst>
                        <p:cond delay="indefinite"/>
                      </p:stCondLst>
                      <p:childTnLst>
                        <p:par>
                          <p:cTn id="104" fill="hold">
                            <p:stCondLst>
                              <p:cond delay="0"/>
                            </p:stCondLst>
                            <p:childTnLst>
                              <p:par>
                                <p:cTn id="105" presetID="16" presetClass="entr" presetSubtype="26" fill="hold" grpId="0" nodeType="clickEffect">
                                  <p:stCondLst>
                                    <p:cond delay="0"/>
                                  </p:stCondLst>
                                  <p:childTnLst>
                                    <p:set>
                                      <p:cBhvr>
                                        <p:cTn id="106" dur="1" fill="hold">
                                          <p:stCondLst>
                                            <p:cond delay="0"/>
                                          </p:stCondLst>
                                        </p:cTn>
                                        <p:tgtEl>
                                          <p:spTgt spid="17434"/>
                                        </p:tgtEl>
                                        <p:attrNameLst>
                                          <p:attrName>style.visibility</p:attrName>
                                        </p:attrNameLst>
                                      </p:cBhvr>
                                      <p:to>
                                        <p:strVal val="visible"/>
                                      </p:to>
                                    </p:set>
                                    <p:animEffect>
                                      <p:cBhvr>
                                        <p:cTn id="107" dur="500"/>
                                        <p:tgtEl>
                                          <p:spTgt spid="17434"/>
                                        </p:tgtEl>
                                      </p:cBhvr>
                                    </p:animEffect>
                                  </p:childTnLst>
                                </p:cTn>
                              </p:par>
                              <p:par>
                                <p:cTn id="108" presetID="16" presetClass="entr" presetSubtype="26" fill="hold" grpId="1" nodeType="withEffect">
                                  <p:stCondLst>
                                    <p:cond delay="0"/>
                                  </p:stCondLst>
                                  <p:childTnLst>
                                    <p:set>
                                      <p:cBhvr>
                                        <p:cTn id="109" dur="1" fill="hold">
                                          <p:stCondLst>
                                            <p:cond delay="0"/>
                                          </p:stCondLst>
                                        </p:cTn>
                                        <p:tgtEl>
                                          <p:spTgt spid="17427"/>
                                        </p:tgtEl>
                                        <p:attrNameLst>
                                          <p:attrName>style.visibility</p:attrName>
                                        </p:attrNameLst>
                                      </p:cBhvr>
                                      <p:to>
                                        <p:strVal val="visible"/>
                                      </p:to>
                                    </p:set>
                                    <p:animEffect>
                                      <p:cBhvr>
                                        <p:cTn id="110" dur="500"/>
                                        <p:tgtEl>
                                          <p:spTgt spid="17427"/>
                                        </p:tgtEl>
                                      </p:cBhvr>
                                    </p:animEffect>
                                  </p:childTnLst>
                                </p:cTn>
                              </p:par>
                              <p:par>
                                <p:cTn id="111" presetID="16" presetClass="entr" presetSubtype="26" fill="hold" grpId="1" nodeType="withEffect">
                                  <p:stCondLst>
                                    <p:cond delay="0"/>
                                  </p:stCondLst>
                                  <p:childTnLst>
                                    <p:set>
                                      <p:cBhvr>
                                        <p:cTn id="112" dur="1" fill="hold">
                                          <p:stCondLst>
                                            <p:cond delay="0"/>
                                          </p:stCondLst>
                                        </p:cTn>
                                        <p:tgtEl>
                                          <p:spTgt spid="17431"/>
                                        </p:tgtEl>
                                        <p:attrNameLst>
                                          <p:attrName>style.visibility</p:attrName>
                                        </p:attrNameLst>
                                      </p:cBhvr>
                                      <p:to>
                                        <p:strVal val="visible"/>
                                      </p:to>
                                    </p:set>
                                    <p:animEffect>
                                      <p:cBhvr>
                                        <p:cTn id="113" dur="500"/>
                                        <p:tgtEl>
                                          <p:spTgt spid="17431"/>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2"/>
                                        </p:tgtEl>
                                        <p:attrNameLst>
                                          <p:attrName>style.visibility</p:attrName>
                                        </p:attrNameLst>
                                      </p:cBhvr>
                                      <p:to>
                                        <p:strVal val="visible"/>
                                      </p:to>
                                    </p:set>
                                    <p:animEffect transition="in" filter="fade">
                                      <p:cBhvr>
                                        <p:cTn id="11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32" grpId="0" bldLvl="0" animBg="1" autoUpdateAnimBg="0"/>
      <p:bldP spid="17434" grpId="0" bldLvl="0" animBg="1" autoUpdateAnimBg="0"/>
      <p:bldP spid="17410" grpId="0" bldLvl="0" animBg="1" autoUpdateAnimBg="0"/>
      <p:bldP spid="17411" grpId="0" bldLvl="0" animBg="1" autoUpdateAnimBg="0"/>
      <p:bldP spid="17412" grpId="0" bldLvl="0" autoUpdateAnimBg="0"/>
      <p:bldP spid="17415" grpId="0" bldLvl="0" animBg="1" autoUpdateAnimBg="0"/>
      <p:bldP spid="17416" grpId="0" bldLvl="0" animBg="1" autoUpdateAnimBg="0"/>
      <p:bldP spid="17417" grpId="0" bldLvl="0" animBg="1" autoUpdateAnimBg="0"/>
      <p:bldP spid="17418" grpId="0" bldLvl="0" animBg="1" autoUpdateAnimBg="0"/>
      <p:bldP spid="17419" grpId="0" bldLvl="0" animBg="1" autoUpdateAnimBg="0"/>
      <p:bldP spid="17420" grpId="0" animBg="1"/>
      <p:bldP spid="17421" grpId="0" bldLvl="0" animBg="1" autoUpdateAnimBg="0"/>
      <p:bldP spid="17422" grpId="0" animBg="1"/>
      <p:bldP spid="17423" grpId="0" bldLvl="0" autoUpdateAnimBg="0"/>
      <p:bldP spid="17424" grpId="0" bldLvl="0" autoUpdateAnimBg="0"/>
      <p:bldP spid="17425" grpId="0" bldLvl="0" autoUpdateAnimBg="0"/>
      <p:bldP spid="17426" grpId="0" bldLvl="0" animBg="1" autoUpdateAnimBg="0"/>
      <p:bldP spid="17427" grpId="0" bldLvl="0" autoUpdateAnimBg="0"/>
      <p:bldP spid="17427" grpId="1" bldLvl="0" autoUpdateAnimBg="0"/>
      <p:bldP spid="17428" grpId="0" bldLvl="0" autoUpdateAnimBg="0"/>
      <p:bldP spid="17429" grpId="0"/>
      <p:bldP spid="17430" grpId="0"/>
      <p:bldP spid="17431" grpId="0" bldLvl="0" autoUpdateAnimBg="0"/>
      <p:bldP spid="17431" grpId="1" bldLvl="0" autoUpdateAnimBg="0"/>
      <p:bldP spid="17433" grpId="0" bldLvl="0" animBg="1" autoUpdateAnimBg="0"/>
      <p:bldP spid="2" grpId="0" animBg="1"/>
      <p:bldP spid="3" grpId="0" animBg="1"/>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话气泡: 圆角矩形 4">
            <a:extLst>
              <a:ext uri="{FF2B5EF4-FFF2-40B4-BE49-F238E27FC236}">
                <a16:creationId xmlns:a16="http://schemas.microsoft.com/office/drawing/2014/main" id="{77F6D667-D140-42B7-9CC0-1447D9C481F1}"/>
              </a:ext>
            </a:extLst>
          </p:cNvPr>
          <p:cNvSpPr/>
          <p:nvPr/>
        </p:nvSpPr>
        <p:spPr bwMode="auto">
          <a:xfrm>
            <a:off x="5547287" y="1916945"/>
            <a:ext cx="3110301" cy="1253121"/>
          </a:xfrm>
          <a:prstGeom prst="wedgeRoundRectCallout">
            <a:avLst>
              <a:gd name="adj1" fmla="val -65760"/>
              <a:gd name="adj2" fmla="val 48012"/>
              <a:gd name="adj3" fmla="val 16667"/>
            </a:avLst>
          </a:prstGeom>
          <a:solidFill>
            <a:srgbClr val="F3C97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nSpc>
                <a:spcPct val="150000"/>
              </a:lnSpc>
            </a:pPr>
            <a:r>
              <a:rPr lang="zh-CN" altLang="en-US" sz="2000" b="0" dirty="0">
                <a:latin typeface="微软雅黑" panose="020B0503020204020204" pitchFamily="34" charset="-122"/>
                <a:ea typeface="微软雅黑" panose="020B0503020204020204" pitchFamily="34" charset="-122"/>
                <a:sym typeface="Arial" panose="020B0604020202020204" pitchFamily="34" charset="0"/>
              </a:rPr>
              <a:t>同一个供给量对应不同价格水平的情形</a:t>
            </a:r>
            <a:endParaRPr lang="en-US" altLang="zh-CN" sz="2000" b="0" dirty="0">
              <a:latin typeface="微软雅黑" panose="020B0503020204020204" pitchFamily="34" charset="-122"/>
              <a:ea typeface="微软雅黑" panose="020B0503020204020204" pitchFamily="34" charset="-122"/>
              <a:sym typeface="Arial" panose="020B0604020202020204" pitchFamily="34" charset="0"/>
            </a:endParaRPr>
          </a:p>
        </p:txBody>
      </p:sp>
      <p:sp>
        <p:nvSpPr>
          <p:cNvPr id="17410" name="Line 4"/>
          <p:cNvSpPr>
            <a:spLocks noChangeShapeType="1"/>
          </p:cNvSpPr>
          <p:nvPr/>
        </p:nvSpPr>
        <p:spPr bwMode="auto">
          <a:xfrm flipH="1" flipV="1">
            <a:off x="1264026" y="1423232"/>
            <a:ext cx="2886" cy="4115383"/>
          </a:xfrm>
          <a:prstGeom prst="line">
            <a:avLst/>
          </a:prstGeom>
          <a:noFill/>
          <a:ln w="28575" cmpd="sng">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7411" name="Line 5"/>
          <p:cNvSpPr>
            <a:spLocks noChangeShapeType="1"/>
          </p:cNvSpPr>
          <p:nvPr/>
        </p:nvSpPr>
        <p:spPr bwMode="auto">
          <a:xfrm>
            <a:off x="1266911" y="5538616"/>
            <a:ext cx="3622675" cy="1587"/>
          </a:xfrm>
          <a:prstGeom prst="line">
            <a:avLst/>
          </a:prstGeom>
          <a:noFill/>
          <a:ln w="28575" cmpd="sng">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7412" name="Text Box 6"/>
          <p:cNvSpPr>
            <a:spLocks noChangeArrowheads="1"/>
          </p:cNvSpPr>
          <p:nvPr/>
        </p:nvSpPr>
        <p:spPr bwMode="auto">
          <a:xfrm>
            <a:off x="849398" y="1423232"/>
            <a:ext cx="300038"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sym typeface="Arial" panose="020B0604020202020204" pitchFamily="34" charset="0"/>
              </a:rPr>
              <a:t>P</a:t>
            </a:r>
            <a:endParaRPr lang="zh-CN" altLang="en-US" dirty="0"/>
          </a:p>
        </p:txBody>
      </p:sp>
      <p:sp>
        <p:nvSpPr>
          <p:cNvPr id="17413" name="Text Box 7"/>
          <p:cNvSpPr>
            <a:spLocks noChangeArrowheads="1"/>
          </p:cNvSpPr>
          <p:nvPr/>
        </p:nvSpPr>
        <p:spPr bwMode="auto">
          <a:xfrm>
            <a:off x="1058948" y="5538616"/>
            <a:ext cx="298450"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O</a:t>
            </a:r>
            <a:endParaRPr lang="zh-CN" altLang="en-US"/>
          </a:p>
        </p:txBody>
      </p:sp>
      <p:sp>
        <p:nvSpPr>
          <p:cNvPr id="17414" name="Text Box 8"/>
          <p:cNvSpPr>
            <a:spLocks noChangeArrowheads="1"/>
          </p:cNvSpPr>
          <p:nvPr/>
        </p:nvSpPr>
        <p:spPr bwMode="auto">
          <a:xfrm>
            <a:off x="4635586" y="5511628"/>
            <a:ext cx="3968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Q</a:t>
            </a:r>
            <a:endParaRPr lang="zh-CN" altLang="en-US"/>
          </a:p>
        </p:txBody>
      </p:sp>
      <p:sp>
        <p:nvSpPr>
          <p:cNvPr id="17415" name="Line 9"/>
          <p:cNvSpPr>
            <a:spLocks noChangeShapeType="1"/>
          </p:cNvSpPr>
          <p:nvPr/>
        </p:nvSpPr>
        <p:spPr bwMode="auto">
          <a:xfrm>
            <a:off x="2101936" y="3011316"/>
            <a:ext cx="1952625" cy="1512887"/>
          </a:xfrm>
          <a:prstGeom prst="line">
            <a:avLst/>
          </a:prstGeom>
          <a:noFill/>
          <a:ln w="28575" cmpd="sng">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7416" name="Line 10"/>
          <p:cNvSpPr>
            <a:spLocks noChangeShapeType="1"/>
          </p:cNvSpPr>
          <p:nvPr/>
        </p:nvSpPr>
        <p:spPr bwMode="auto">
          <a:xfrm>
            <a:off x="1616161" y="3235153"/>
            <a:ext cx="1254125" cy="1944688"/>
          </a:xfrm>
          <a:prstGeom prst="line">
            <a:avLst/>
          </a:prstGeom>
          <a:noFill/>
          <a:ln w="28575" cmpd="sng">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7417" name="未知"/>
          <p:cNvSpPr>
            <a:spLocks noChangeArrowheads="1"/>
          </p:cNvSpPr>
          <p:nvPr/>
        </p:nvSpPr>
        <p:spPr bwMode="auto">
          <a:xfrm>
            <a:off x="2179723" y="3170066"/>
            <a:ext cx="2216150" cy="1674812"/>
          </a:xfrm>
          <a:custGeom>
            <a:avLst/>
            <a:gdLst>
              <a:gd name="T0" fmla="*/ 2147483647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a:moveTo>
                  <a:pt x="21600" y="0"/>
                </a:moveTo>
                <a:cubicBezTo>
                  <a:pt x="20474" y="1965"/>
                  <a:pt x="18450" y="8212"/>
                  <a:pt x="14851" y="11815"/>
                </a:cubicBezTo>
                <a:cubicBezTo>
                  <a:pt x="11252" y="15418"/>
                  <a:pt x="2473" y="19970"/>
                  <a:pt x="0" y="21599"/>
                </a:cubicBezTo>
              </a:path>
            </a:pathLst>
          </a:custGeom>
          <a:noFill/>
          <a:ln w="28575" cmpd="sng">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zh-CN">
              <a:solidFill>
                <a:srgbClr val="000000"/>
              </a:solidFill>
              <a:sym typeface="Arial" panose="020B0604020202020204" pitchFamily="34" charset="0"/>
            </a:endParaRPr>
          </a:p>
        </p:txBody>
      </p:sp>
      <p:sp>
        <p:nvSpPr>
          <p:cNvPr id="17418" name="Line 12"/>
          <p:cNvSpPr>
            <a:spLocks noChangeShapeType="1"/>
          </p:cNvSpPr>
          <p:nvPr/>
        </p:nvSpPr>
        <p:spPr bwMode="auto">
          <a:xfrm>
            <a:off x="2494049" y="2609534"/>
            <a:ext cx="28574" cy="2902094"/>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7419" name="Line 13"/>
          <p:cNvSpPr>
            <a:spLocks noChangeShapeType="1"/>
          </p:cNvSpPr>
          <p:nvPr/>
        </p:nvSpPr>
        <p:spPr bwMode="auto">
          <a:xfrm flipH="1">
            <a:off x="1268498" y="3366916"/>
            <a:ext cx="1254125" cy="1587"/>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7420" name="Line 14"/>
          <p:cNvSpPr>
            <a:spLocks noChangeShapeType="1"/>
          </p:cNvSpPr>
          <p:nvPr/>
        </p:nvSpPr>
        <p:spPr bwMode="auto">
          <a:xfrm>
            <a:off x="2170199" y="2308848"/>
            <a:ext cx="3265954" cy="1778570"/>
          </a:xfrm>
          <a:prstGeom prst="line">
            <a:avLst/>
          </a:prstGeom>
          <a:noFill/>
          <a:ln w="28575" cmpd="sng">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7422" name="Line 16"/>
          <p:cNvSpPr>
            <a:spLocks noChangeShapeType="1"/>
          </p:cNvSpPr>
          <p:nvPr/>
        </p:nvSpPr>
        <p:spPr bwMode="auto">
          <a:xfrm>
            <a:off x="2106410" y="3517729"/>
            <a:ext cx="1392237" cy="1439863"/>
          </a:xfrm>
          <a:prstGeom prst="line">
            <a:avLst/>
          </a:prstGeom>
          <a:noFill/>
          <a:ln w="28575" cmpd="sng">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7423" name="Text Box 17"/>
          <p:cNvSpPr>
            <a:spLocks noChangeArrowheads="1"/>
          </p:cNvSpPr>
          <p:nvPr/>
        </p:nvSpPr>
        <p:spPr bwMode="auto">
          <a:xfrm>
            <a:off x="2044786" y="2676353"/>
            <a:ext cx="59055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d</a:t>
            </a:r>
            <a:r>
              <a:rPr lang="zh-CN" altLang="en-US" sz="1000">
                <a:solidFill>
                  <a:srgbClr val="000000"/>
                </a:solidFill>
                <a:sym typeface="Arial" panose="020B0604020202020204" pitchFamily="34" charset="0"/>
              </a:rPr>
              <a:t>1</a:t>
            </a:r>
            <a:endParaRPr lang="zh-CN" altLang="en-US"/>
          </a:p>
        </p:txBody>
      </p:sp>
      <p:sp>
        <p:nvSpPr>
          <p:cNvPr id="17424" name="Text Box 18"/>
          <p:cNvSpPr>
            <a:spLocks noChangeArrowheads="1"/>
          </p:cNvSpPr>
          <p:nvPr/>
        </p:nvSpPr>
        <p:spPr bwMode="auto">
          <a:xfrm>
            <a:off x="1349461" y="2868441"/>
            <a:ext cx="796925"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sym typeface="Arial" panose="020B0604020202020204" pitchFamily="34" charset="0"/>
              </a:rPr>
              <a:t>MR</a:t>
            </a:r>
            <a:r>
              <a:rPr lang="zh-CN" altLang="en-US" sz="1000" dirty="0">
                <a:solidFill>
                  <a:srgbClr val="000000"/>
                </a:solidFill>
                <a:sym typeface="Arial" panose="020B0604020202020204" pitchFamily="34" charset="0"/>
              </a:rPr>
              <a:t>1</a:t>
            </a:r>
            <a:endParaRPr lang="zh-CN" altLang="en-US" dirty="0"/>
          </a:p>
        </p:txBody>
      </p:sp>
      <p:sp>
        <p:nvSpPr>
          <p:cNvPr id="17425" name="Text Box 19"/>
          <p:cNvSpPr>
            <a:spLocks noChangeArrowheads="1"/>
          </p:cNvSpPr>
          <p:nvPr/>
        </p:nvSpPr>
        <p:spPr bwMode="auto">
          <a:xfrm>
            <a:off x="4202198" y="2812878"/>
            <a:ext cx="687388"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MC</a:t>
            </a:r>
            <a:endParaRPr lang="zh-CN" altLang="en-US"/>
          </a:p>
        </p:txBody>
      </p:sp>
      <p:sp>
        <p:nvSpPr>
          <p:cNvPr id="17426" name="Line 20"/>
          <p:cNvSpPr>
            <a:spLocks noChangeShapeType="1"/>
          </p:cNvSpPr>
          <p:nvPr/>
        </p:nvSpPr>
        <p:spPr bwMode="auto">
          <a:xfrm>
            <a:off x="2522624" y="3366916"/>
            <a:ext cx="0" cy="38099"/>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7427" name="Text Box 21"/>
          <p:cNvSpPr>
            <a:spLocks noChangeArrowheads="1"/>
          </p:cNvSpPr>
          <p:nvPr/>
        </p:nvSpPr>
        <p:spPr bwMode="auto">
          <a:xfrm>
            <a:off x="2381336" y="5538616"/>
            <a:ext cx="49688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sym typeface="Arial" panose="020B0604020202020204" pitchFamily="34" charset="0"/>
              </a:rPr>
              <a:t>Q</a:t>
            </a:r>
            <a:r>
              <a:rPr lang="zh-CN" altLang="en-US" sz="1000" dirty="0">
                <a:solidFill>
                  <a:srgbClr val="000000"/>
                </a:solidFill>
                <a:sym typeface="Arial" panose="020B0604020202020204" pitchFamily="34" charset="0"/>
              </a:rPr>
              <a:t>*</a:t>
            </a:r>
            <a:endParaRPr lang="zh-CN" altLang="en-US" dirty="0"/>
          </a:p>
        </p:txBody>
      </p:sp>
      <p:sp>
        <p:nvSpPr>
          <p:cNvPr id="17428" name="Text Box 22"/>
          <p:cNvSpPr>
            <a:spLocks noChangeArrowheads="1"/>
          </p:cNvSpPr>
          <p:nvPr/>
        </p:nvSpPr>
        <p:spPr bwMode="auto">
          <a:xfrm>
            <a:off x="849398" y="3235153"/>
            <a:ext cx="48736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sym typeface="Arial" panose="020B0604020202020204" pitchFamily="34" charset="0"/>
              </a:rPr>
              <a:t>P</a:t>
            </a:r>
            <a:r>
              <a:rPr lang="en-US" altLang="zh-CN" baseline="-25000" dirty="0">
                <a:solidFill>
                  <a:srgbClr val="000000"/>
                </a:solidFill>
                <a:sym typeface="Arial" panose="020B0604020202020204" pitchFamily="34" charset="0"/>
              </a:rPr>
              <a:t>1</a:t>
            </a:r>
            <a:endParaRPr lang="zh-CN" altLang="en-US" dirty="0"/>
          </a:p>
        </p:txBody>
      </p:sp>
      <p:sp>
        <p:nvSpPr>
          <p:cNvPr id="17429" name="Text Box 23"/>
          <p:cNvSpPr>
            <a:spLocks noChangeArrowheads="1"/>
          </p:cNvSpPr>
          <p:nvPr/>
        </p:nvSpPr>
        <p:spPr bwMode="auto">
          <a:xfrm>
            <a:off x="4469186" y="3882059"/>
            <a:ext cx="454025"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sym typeface="Arial" panose="020B0604020202020204" pitchFamily="34" charset="0"/>
              </a:rPr>
              <a:t>d</a:t>
            </a:r>
            <a:r>
              <a:rPr lang="zh-CN" altLang="en-US" sz="1000" dirty="0">
                <a:solidFill>
                  <a:srgbClr val="000000"/>
                </a:solidFill>
                <a:sym typeface="Arial" panose="020B0604020202020204" pitchFamily="34" charset="0"/>
              </a:rPr>
              <a:t>2</a:t>
            </a:r>
            <a:endParaRPr lang="zh-CN" altLang="en-US" dirty="0"/>
          </a:p>
        </p:txBody>
      </p:sp>
      <p:sp>
        <p:nvSpPr>
          <p:cNvPr id="17430" name="Text Box 24"/>
          <p:cNvSpPr>
            <a:spLocks noChangeArrowheads="1"/>
          </p:cNvSpPr>
          <p:nvPr/>
        </p:nvSpPr>
        <p:spPr bwMode="auto">
          <a:xfrm>
            <a:off x="3428797" y="4886154"/>
            <a:ext cx="7302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MR</a:t>
            </a:r>
            <a:r>
              <a:rPr lang="zh-CN" altLang="en-US" sz="1000">
                <a:solidFill>
                  <a:srgbClr val="000000"/>
                </a:solidFill>
                <a:sym typeface="Arial" panose="020B0604020202020204" pitchFamily="34" charset="0"/>
              </a:rPr>
              <a:t>2</a:t>
            </a:r>
            <a:endParaRPr lang="zh-CN" altLang="en-US"/>
          </a:p>
        </p:txBody>
      </p:sp>
      <p:sp>
        <p:nvSpPr>
          <p:cNvPr id="3" name="椭圆 2"/>
          <p:cNvSpPr/>
          <p:nvPr/>
        </p:nvSpPr>
        <p:spPr bwMode="auto">
          <a:xfrm>
            <a:off x="2412712" y="3249008"/>
            <a:ext cx="180916" cy="214313"/>
          </a:xfrm>
          <a:prstGeom prst="ellipse">
            <a:avLst/>
          </a:prstGeom>
          <a:solidFill>
            <a:schemeClr val="tx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30" name="Text Box 22"/>
          <p:cNvSpPr>
            <a:spLocks noChangeArrowheads="1"/>
          </p:cNvSpPr>
          <p:nvPr/>
        </p:nvSpPr>
        <p:spPr bwMode="auto">
          <a:xfrm>
            <a:off x="755735" y="2295081"/>
            <a:ext cx="48736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sym typeface="Arial" panose="020B0604020202020204" pitchFamily="34" charset="0"/>
              </a:rPr>
              <a:t>P</a:t>
            </a:r>
            <a:r>
              <a:rPr lang="en-US" altLang="zh-CN" baseline="-25000" dirty="0">
                <a:solidFill>
                  <a:srgbClr val="000000"/>
                </a:solidFill>
                <a:sym typeface="Arial" panose="020B0604020202020204" pitchFamily="34" charset="0"/>
              </a:rPr>
              <a:t>2</a:t>
            </a:r>
            <a:endParaRPr lang="zh-CN" altLang="en-US" baseline="-25000" dirty="0"/>
          </a:p>
        </p:txBody>
      </p:sp>
      <p:sp>
        <p:nvSpPr>
          <p:cNvPr id="32" name="Line 13"/>
          <p:cNvSpPr>
            <a:spLocks noChangeShapeType="1"/>
          </p:cNvSpPr>
          <p:nvPr/>
        </p:nvSpPr>
        <p:spPr bwMode="auto">
          <a:xfrm flipH="1">
            <a:off x="1226429" y="2508078"/>
            <a:ext cx="1254125" cy="1587"/>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2" name="椭圆 1"/>
          <p:cNvSpPr/>
          <p:nvPr/>
        </p:nvSpPr>
        <p:spPr bwMode="auto">
          <a:xfrm>
            <a:off x="2385002" y="2416437"/>
            <a:ext cx="180916" cy="199230"/>
          </a:xfrm>
          <a:prstGeom prst="ellipse">
            <a:avLst/>
          </a:prstGeom>
          <a:solidFill>
            <a:schemeClr val="tx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29" name="矩形 28">
            <a:extLst>
              <a:ext uri="{FF2B5EF4-FFF2-40B4-BE49-F238E27FC236}">
                <a16:creationId xmlns:a16="http://schemas.microsoft.com/office/drawing/2014/main" id="{DD257B08-480F-425E-81BE-F5BBCA168DF3}"/>
              </a:ext>
            </a:extLst>
          </p:cNvPr>
          <p:cNvSpPr/>
          <p:nvPr/>
        </p:nvSpPr>
        <p:spPr>
          <a:xfrm>
            <a:off x="467544" y="548680"/>
            <a:ext cx="3781805"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spc="150" dirty="0">
                <a:solidFill>
                  <a:srgbClr val="FFFFFF"/>
                </a:solidFill>
                <a:latin typeface="微软雅黑" panose="020B0503020204020204" pitchFamily="34" charset="-122"/>
                <a:ea typeface="微软雅黑" panose="020B0503020204020204" pitchFamily="34" charset="-122"/>
              </a:rPr>
              <a:t>三</a:t>
            </a:r>
            <a:r>
              <a:rPr lang="zh-CN" altLang="en-US" sz="2400" b="1" spc="150" dirty="0">
                <a:solidFill>
                  <a:srgbClr val="FFFFFF"/>
                </a:solidFill>
                <a:latin typeface="微软雅黑" panose="020B0503020204020204" pitchFamily="34" charset="-122"/>
                <a:ea typeface="微软雅黑" panose="020B0503020204020204" pitchFamily="34" charset="-122"/>
              </a:rPr>
              <a:t>、</a:t>
            </a:r>
            <a:r>
              <a:rPr lang="zh-CN" altLang="en-US" sz="2400" spc="15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垄断企业的短期均衡</a:t>
            </a:r>
            <a:endParaRPr lang="zh-CN" altLang="en-US" sz="2400" b="1" spc="150" dirty="0">
              <a:solidFill>
                <a:srgbClr val="FFFFFF"/>
              </a:solidFill>
              <a:latin typeface="微软雅黑" panose="020B0503020204020204" pitchFamily="34" charset="-122"/>
              <a:ea typeface="微软雅黑" panose="020B0503020204020204" pitchFamily="34" charset="-122"/>
            </a:endParaRPr>
          </a:p>
        </p:txBody>
      </p:sp>
      <p:sp>
        <p:nvSpPr>
          <p:cNvPr id="28" name="矩形 27">
            <a:extLst>
              <a:ext uri="{FF2B5EF4-FFF2-40B4-BE49-F238E27FC236}">
                <a16:creationId xmlns:a16="http://schemas.microsoft.com/office/drawing/2014/main" id="{5FA799AB-4E9C-4D37-9F7B-939FF6D68FFD}"/>
              </a:ext>
            </a:extLst>
          </p:cNvPr>
          <p:cNvSpPr/>
          <p:nvPr/>
        </p:nvSpPr>
        <p:spPr>
          <a:xfrm>
            <a:off x="7505410" y="35458"/>
            <a:ext cx="1638590" cy="369332"/>
          </a:xfrm>
          <a:prstGeom prst="rect">
            <a:avLst/>
          </a:prstGeom>
        </p:spPr>
        <p:txBody>
          <a:bodyPr wrap="none">
            <a:spAutoFit/>
          </a:bodyPr>
          <a:lstStyle/>
          <a:p>
            <a:pPr algn="dist"/>
            <a:r>
              <a:rPr lang="zh-CN" altLang="en-US" sz="1800" b="0" spc="30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第一节 垄断</a:t>
            </a:r>
            <a:endParaRPr lang="zh-CN" altLang="en-US" sz="1800" b="0" spc="300" dirty="0">
              <a:solidFill>
                <a:schemeClr val="tx2"/>
              </a:solidFill>
              <a:ea typeface="黑体" panose="02010609060101010101" pitchFamily="49" charset="-122"/>
              <a:sym typeface="Arial" panose="020B0604020202020204" pitchFamily="34" charset="0"/>
            </a:endParaRPr>
          </a:p>
        </p:txBody>
      </p:sp>
    </p:spTree>
    <p:extLst>
      <p:ext uri="{BB962C8B-B14F-4D97-AF65-F5344CB8AC3E}">
        <p14:creationId xmlns:p14="http://schemas.microsoft.com/office/powerpoint/2010/main" val="3673368241"/>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412"/>
                                        </p:tgtEl>
                                        <p:attrNameLst>
                                          <p:attrName>style.visibility</p:attrName>
                                        </p:attrNameLst>
                                      </p:cBhvr>
                                      <p:to>
                                        <p:strVal val="visible"/>
                                      </p:to>
                                    </p:set>
                                    <p:animEffect>
                                      <p:cBhvr>
                                        <p:cTn id="7" dur="500"/>
                                        <p:tgtEl>
                                          <p:spTgt spid="17412"/>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7410"/>
                                        </p:tgtEl>
                                        <p:attrNameLst>
                                          <p:attrName>style.visibility</p:attrName>
                                        </p:attrNameLst>
                                      </p:cBhvr>
                                      <p:to>
                                        <p:strVal val="visible"/>
                                      </p:to>
                                    </p:set>
                                    <p:animEffect>
                                      <p:cBhvr>
                                        <p:cTn id="10" dur="500"/>
                                        <p:tgtEl>
                                          <p:spTgt spid="17410"/>
                                        </p:tgtEl>
                                      </p:cBhvr>
                                    </p:animEffect>
                                  </p:childTnLst>
                                </p:cTn>
                              </p:par>
                              <p:par>
                                <p:cTn id="11" presetID="3" presetClass="entr" presetSubtype="10" fill="hold" nodeType="withEffect">
                                  <p:stCondLst>
                                    <p:cond delay="0"/>
                                  </p:stCondLst>
                                  <p:childTnLst>
                                    <p:set>
                                      <p:cBhvr>
                                        <p:cTn id="12" dur="1" fill="hold">
                                          <p:stCondLst>
                                            <p:cond delay="0"/>
                                          </p:stCondLst>
                                        </p:cTn>
                                        <p:tgtEl>
                                          <p:spTgt spid="17413"/>
                                        </p:tgtEl>
                                        <p:attrNameLst>
                                          <p:attrName>style.visibility</p:attrName>
                                        </p:attrNameLst>
                                      </p:cBhvr>
                                      <p:to>
                                        <p:strVal val="visible"/>
                                      </p:to>
                                    </p:set>
                                    <p:animEffect>
                                      <p:cBhvr>
                                        <p:cTn id="13" dur="500"/>
                                        <p:tgtEl>
                                          <p:spTgt spid="17413"/>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17411"/>
                                        </p:tgtEl>
                                        <p:attrNameLst>
                                          <p:attrName>style.visibility</p:attrName>
                                        </p:attrNameLst>
                                      </p:cBhvr>
                                      <p:to>
                                        <p:strVal val="visible"/>
                                      </p:to>
                                    </p:set>
                                    <p:animEffect>
                                      <p:cBhvr>
                                        <p:cTn id="16" dur="500"/>
                                        <p:tgtEl>
                                          <p:spTgt spid="17411"/>
                                        </p:tgtEl>
                                      </p:cBhvr>
                                    </p:animEffect>
                                  </p:childTnLst>
                                </p:cTn>
                              </p:par>
                              <p:par>
                                <p:cTn id="17" presetID="3" presetClass="entr" presetSubtype="10" fill="hold" nodeType="withEffect">
                                  <p:stCondLst>
                                    <p:cond delay="0"/>
                                  </p:stCondLst>
                                  <p:childTnLst>
                                    <p:set>
                                      <p:cBhvr>
                                        <p:cTn id="18" dur="1" fill="hold">
                                          <p:stCondLst>
                                            <p:cond delay="0"/>
                                          </p:stCondLst>
                                        </p:cTn>
                                        <p:tgtEl>
                                          <p:spTgt spid="17414"/>
                                        </p:tgtEl>
                                        <p:attrNameLst>
                                          <p:attrName>style.visibility</p:attrName>
                                        </p:attrNameLst>
                                      </p:cBhvr>
                                      <p:to>
                                        <p:strVal val="visible"/>
                                      </p:to>
                                    </p:set>
                                    <p:animEffect>
                                      <p:cBhvr>
                                        <p:cTn id="19" dur="500"/>
                                        <p:tgtEl>
                                          <p:spTgt spid="17414"/>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17417"/>
                                        </p:tgtEl>
                                        <p:attrNameLst>
                                          <p:attrName>style.visibility</p:attrName>
                                        </p:attrNameLst>
                                      </p:cBhvr>
                                      <p:to>
                                        <p:strVal val="visible"/>
                                      </p:to>
                                    </p:set>
                                    <p:animEffect>
                                      <p:cBhvr>
                                        <p:cTn id="24" dur="500"/>
                                        <p:tgtEl>
                                          <p:spTgt spid="17417"/>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17425"/>
                                        </p:tgtEl>
                                        <p:attrNameLst>
                                          <p:attrName>style.visibility</p:attrName>
                                        </p:attrNameLst>
                                      </p:cBhvr>
                                      <p:to>
                                        <p:strVal val="visible"/>
                                      </p:to>
                                    </p:set>
                                    <p:animEffect>
                                      <p:cBhvr>
                                        <p:cTn id="27" dur="500"/>
                                        <p:tgtEl>
                                          <p:spTgt spid="17425"/>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7423"/>
                                        </p:tgtEl>
                                        <p:attrNameLst>
                                          <p:attrName>style.visibility</p:attrName>
                                        </p:attrNameLst>
                                      </p:cBhvr>
                                      <p:to>
                                        <p:strVal val="visible"/>
                                      </p:to>
                                    </p:set>
                                    <p:animEffect>
                                      <p:cBhvr>
                                        <p:cTn id="32" dur="500"/>
                                        <p:tgtEl>
                                          <p:spTgt spid="17423"/>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17415"/>
                                        </p:tgtEl>
                                        <p:attrNameLst>
                                          <p:attrName>style.visibility</p:attrName>
                                        </p:attrNameLst>
                                      </p:cBhvr>
                                      <p:to>
                                        <p:strVal val="visible"/>
                                      </p:to>
                                    </p:set>
                                    <p:animEffect>
                                      <p:cBhvr>
                                        <p:cTn id="35" dur="500"/>
                                        <p:tgtEl>
                                          <p:spTgt spid="17415"/>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17424"/>
                                        </p:tgtEl>
                                        <p:attrNameLst>
                                          <p:attrName>style.visibility</p:attrName>
                                        </p:attrNameLst>
                                      </p:cBhvr>
                                      <p:to>
                                        <p:strVal val="visible"/>
                                      </p:to>
                                    </p:set>
                                    <p:animEffect>
                                      <p:cBhvr>
                                        <p:cTn id="38" dur="500"/>
                                        <p:tgtEl>
                                          <p:spTgt spid="17424"/>
                                        </p:tgtEl>
                                      </p:cBhvr>
                                    </p:animEffect>
                                  </p:childTnLst>
                                </p:cTn>
                              </p:par>
                              <p:par>
                                <p:cTn id="39" presetID="3" presetClass="entr" presetSubtype="10" fill="hold" grpId="0" nodeType="withEffect">
                                  <p:stCondLst>
                                    <p:cond delay="0"/>
                                  </p:stCondLst>
                                  <p:childTnLst>
                                    <p:set>
                                      <p:cBhvr>
                                        <p:cTn id="40" dur="1" fill="hold">
                                          <p:stCondLst>
                                            <p:cond delay="0"/>
                                          </p:stCondLst>
                                        </p:cTn>
                                        <p:tgtEl>
                                          <p:spTgt spid="17416"/>
                                        </p:tgtEl>
                                        <p:attrNameLst>
                                          <p:attrName>style.visibility</p:attrName>
                                        </p:attrNameLst>
                                      </p:cBhvr>
                                      <p:to>
                                        <p:strVal val="visible"/>
                                      </p:to>
                                    </p:set>
                                    <p:animEffect>
                                      <p:cBhvr>
                                        <p:cTn id="41" dur="500"/>
                                        <p:tgtEl>
                                          <p:spTgt spid="17416"/>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17418"/>
                                        </p:tgtEl>
                                        <p:attrNameLst>
                                          <p:attrName>style.visibility</p:attrName>
                                        </p:attrNameLst>
                                      </p:cBhvr>
                                      <p:to>
                                        <p:strVal val="visible"/>
                                      </p:to>
                                    </p:set>
                                    <p:animEffect>
                                      <p:cBhvr>
                                        <p:cTn id="46" dur="500"/>
                                        <p:tgtEl>
                                          <p:spTgt spid="17418"/>
                                        </p:tgtEl>
                                      </p:cBhvr>
                                    </p:animEffect>
                                  </p:childTnLst>
                                </p:cTn>
                              </p:par>
                              <p:par>
                                <p:cTn id="47" presetID="3" presetClass="entr" presetSubtype="10" fill="hold" grpId="0" nodeType="withEffect">
                                  <p:stCondLst>
                                    <p:cond delay="0"/>
                                  </p:stCondLst>
                                  <p:childTnLst>
                                    <p:set>
                                      <p:cBhvr>
                                        <p:cTn id="48" dur="1" fill="hold">
                                          <p:stCondLst>
                                            <p:cond delay="0"/>
                                          </p:stCondLst>
                                        </p:cTn>
                                        <p:tgtEl>
                                          <p:spTgt spid="17427"/>
                                        </p:tgtEl>
                                        <p:attrNameLst>
                                          <p:attrName>style.visibility</p:attrName>
                                        </p:attrNameLst>
                                      </p:cBhvr>
                                      <p:to>
                                        <p:strVal val="visible"/>
                                      </p:to>
                                    </p:set>
                                    <p:animEffect>
                                      <p:cBhvr>
                                        <p:cTn id="49" dur="500"/>
                                        <p:tgtEl>
                                          <p:spTgt spid="17427"/>
                                        </p:tgtEl>
                                      </p:cBhvr>
                                    </p:animEffect>
                                  </p:childTnLst>
                                </p:cTn>
                              </p:par>
                              <p:par>
                                <p:cTn id="50" presetID="3" presetClass="entr" presetSubtype="10" fill="hold" grpId="0" nodeType="withEffect">
                                  <p:stCondLst>
                                    <p:cond delay="0"/>
                                  </p:stCondLst>
                                  <p:childTnLst>
                                    <p:set>
                                      <p:cBhvr>
                                        <p:cTn id="51" dur="1" fill="hold">
                                          <p:stCondLst>
                                            <p:cond delay="0"/>
                                          </p:stCondLst>
                                        </p:cTn>
                                        <p:tgtEl>
                                          <p:spTgt spid="17419"/>
                                        </p:tgtEl>
                                        <p:attrNameLst>
                                          <p:attrName>style.visibility</p:attrName>
                                        </p:attrNameLst>
                                      </p:cBhvr>
                                      <p:to>
                                        <p:strVal val="visible"/>
                                      </p:to>
                                    </p:set>
                                    <p:animEffect>
                                      <p:cBhvr>
                                        <p:cTn id="52" dur="500"/>
                                        <p:tgtEl>
                                          <p:spTgt spid="17419"/>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gtEl>
                                        <p:attrNameLst>
                                          <p:attrName>style.visibility</p:attrName>
                                        </p:attrNameLst>
                                      </p:cBhvr>
                                      <p:to>
                                        <p:strVal val="visible"/>
                                      </p:to>
                                    </p:set>
                                    <p:animEffect transition="in" filter="fade">
                                      <p:cBhvr>
                                        <p:cTn id="57" dur="500"/>
                                        <p:tgtEl>
                                          <p:spTgt spid="3"/>
                                        </p:tgtEl>
                                      </p:cBhvr>
                                    </p:animEffect>
                                  </p:childTnLst>
                                </p:cTn>
                              </p:par>
                              <p:par>
                                <p:cTn id="58" presetID="3" presetClass="entr" presetSubtype="10" fill="hold" grpId="0" nodeType="withEffect">
                                  <p:stCondLst>
                                    <p:cond delay="0"/>
                                  </p:stCondLst>
                                  <p:childTnLst>
                                    <p:set>
                                      <p:cBhvr>
                                        <p:cTn id="59" dur="1" fill="hold">
                                          <p:stCondLst>
                                            <p:cond delay="0"/>
                                          </p:stCondLst>
                                        </p:cTn>
                                        <p:tgtEl>
                                          <p:spTgt spid="17428"/>
                                        </p:tgtEl>
                                        <p:attrNameLst>
                                          <p:attrName>style.visibility</p:attrName>
                                        </p:attrNameLst>
                                      </p:cBhvr>
                                      <p:to>
                                        <p:strVal val="visible"/>
                                      </p:to>
                                    </p:set>
                                    <p:animEffect>
                                      <p:cBhvr>
                                        <p:cTn id="60" dur="500"/>
                                        <p:tgtEl>
                                          <p:spTgt spid="17428"/>
                                        </p:tgtEl>
                                      </p:cBhvr>
                                    </p:animEffect>
                                  </p:childTnLst>
                                </p:cTn>
                              </p:par>
                            </p:childTnLst>
                          </p:cTn>
                        </p:par>
                      </p:childTnLst>
                    </p:cTn>
                  </p:par>
                  <p:par>
                    <p:cTn id="61" fill="hold">
                      <p:stCondLst>
                        <p:cond delay="indefinite"/>
                      </p:stCondLst>
                      <p:childTnLst>
                        <p:par>
                          <p:cTn id="62" fill="hold">
                            <p:stCondLst>
                              <p:cond delay="0"/>
                            </p:stCondLst>
                            <p:childTnLst>
                              <p:par>
                                <p:cTn id="63" presetID="3" presetClass="entr" presetSubtype="10" fill="hold" grpId="0" nodeType="clickEffect">
                                  <p:stCondLst>
                                    <p:cond delay="0"/>
                                  </p:stCondLst>
                                  <p:childTnLst>
                                    <p:set>
                                      <p:cBhvr>
                                        <p:cTn id="64" dur="1" fill="hold">
                                          <p:stCondLst>
                                            <p:cond delay="0"/>
                                          </p:stCondLst>
                                        </p:cTn>
                                        <p:tgtEl>
                                          <p:spTgt spid="17426"/>
                                        </p:tgtEl>
                                        <p:attrNameLst>
                                          <p:attrName>style.visibility</p:attrName>
                                        </p:attrNameLst>
                                      </p:cBhvr>
                                      <p:to>
                                        <p:strVal val="visible"/>
                                      </p:to>
                                    </p:set>
                                    <p:animEffect>
                                      <p:cBhvr>
                                        <p:cTn id="65" dur="500"/>
                                        <p:tgtEl>
                                          <p:spTgt spid="17426"/>
                                        </p:tgtEl>
                                      </p:cBhvr>
                                    </p:animEffect>
                                  </p:childTnLst>
                                </p:cTn>
                              </p:par>
                              <p:par>
                                <p:cTn id="66" presetID="16" presetClass="entr" presetSubtype="26" fill="hold" grpId="1" nodeType="withEffect">
                                  <p:stCondLst>
                                    <p:cond delay="0"/>
                                  </p:stCondLst>
                                  <p:childTnLst>
                                    <p:set>
                                      <p:cBhvr>
                                        <p:cTn id="67" dur="1" fill="hold">
                                          <p:stCondLst>
                                            <p:cond delay="0"/>
                                          </p:stCondLst>
                                        </p:cTn>
                                        <p:tgtEl>
                                          <p:spTgt spid="17427"/>
                                        </p:tgtEl>
                                        <p:attrNameLst>
                                          <p:attrName>style.visibility</p:attrName>
                                        </p:attrNameLst>
                                      </p:cBhvr>
                                      <p:to>
                                        <p:strVal val="visible"/>
                                      </p:to>
                                    </p:set>
                                    <p:animEffect>
                                      <p:cBhvr>
                                        <p:cTn id="68" dur="500"/>
                                        <p:tgtEl>
                                          <p:spTgt spid="17427"/>
                                        </p:tgtEl>
                                      </p:cBhvr>
                                    </p:animEffect>
                                  </p:childTnLst>
                                </p:cTn>
                              </p:par>
                              <p:par>
                                <p:cTn id="69" presetID="3" presetClass="entr" presetSubtype="10" fill="hold" grpId="0" nodeType="withEffect">
                                  <p:stCondLst>
                                    <p:cond delay="0"/>
                                  </p:stCondLst>
                                  <p:childTnLst>
                                    <p:set>
                                      <p:cBhvr>
                                        <p:cTn id="70" dur="1" fill="hold">
                                          <p:stCondLst>
                                            <p:cond delay="0"/>
                                          </p:stCondLst>
                                        </p:cTn>
                                        <p:tgtEl>
                                          <p:spTgt spid="30"/>
                                        </p:tgtEl>
                                        <p:attrNameLst>
                                          <p:attrName>style.visibility</p:attrName>
                                        </p:attrNameLst>
                                      </p:cBhvr>
                                      <p:to>
                                        <p:strVal val="visible"/>
                                      </p:to>
                                    </p:set>
                                    <p:animEffect>
                                      <p:cBhvr>
                                        <p:cTn id="71" dur="500"/>
                                        <p:tgtEl>
                                          <p:spTgt spid="30"/>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17422"/>
                                        </p:tgtEl>
                                        <p:attrNameLst>
                                          <p:attrName>style.visibility</p:attrName>
                                        </p:attrNameLst>
                                      </p:cBhvr>
                                      <p:to>
                                        <p:strVal val="visible"/>
                                      </p:to>
                                    </p:set>
                                    <p:animEffect transition="in" filter="fade">
                                      <p:cBhvr>
                                        <p:cTn id="76" dur="500"/>
                                        <p:tgtEl>
                                          <p:spTgt spid="17422"/>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17430"/>
                                        </p:tgtEl>
                                        <p:attrNameLst>
                                          <p:attrName>style.visibility</p:attrName>
                                        </p:attrNameLst>
                                      </p:cBhvr>
                                      <p:to>
                                        <p:strVal val="visible"/>
                                      </p:to>
                                    </p:set>
                                    <p:animEffect transition="in" filter="fade">
                                      <p:cBhvr>
                                        <p:cTn id="79" dur="500"/>
                                        <p:tgtEl>
                                          <p:spTgt spid="17430"/>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17420"/>
                                        </p:tgtEl>
                                        <p:attrNameLst>
                                          <p:attrName>style.visibility</p:attrName>
                                        </p:attrNameLst>
                                      </p:cBhvr>
                                      <p:to>
                                        <p:strVal val="visible"/>
                                      </p:to>
                                    </p:set>
                                    <p:animEffect transition="in" filter="fade">
                                      <p:cBhvr>
                                        <p:cTn id="82" dur="500"/>
                                        <p:tgtEl>
                                          <p:spTgt spid="17420"/>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17429"/>
                                        </p:tgtEl>
                                        <p:attrNameLst>
                                          <p:attrName>style.visibility</p:attrName>
                                        </p:attrNameLst>
                                      </p:cBhvr>
                                      <p:to>
                                        <p:strVal val="visible"/>
                                      </p:to>
                                    </p:set>
                                    <p:animEffect transition="in" filter="fade">
                                      <p:cBhvr>
                                        <p:cTn id="85" dur="500"/>
                                        <p:tgtEl>
                                          <p:spTgt spid="17429"/>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2"/>
                                        </p:tgtEl>
                                        <p:attrNameLst>
                                          <p:attrName>style.visibility</p:attrName>
                                        </p:attrNameLst>
                                      </p:cBhvr>
                                      <p:to>
                                        <p:strVal val="visible"/>
                                      </p:to>
                                    </p:set>
                                    <p:animEffect transition="in" filter="fade">
                                      <p:cBhvr>
                                        <p:cTn id="88" dur="500"/>
                                        <p:tgtEl>
                                          <p:spTgt spid="2"/>
                                        </p:tgtEl>
                                      </p:cBhvr>
                                    </p:animEffect>
                                  </p:childTnLst>
                                </p:cTn>
                              </p:par>
                              <p:par>
                                <p:cTn id="89" presetID="3" presetClass="entr" presetSubtype="10" fill="hold" grpId="0" nodeType="withEffect">
                                  <p:stCondLst>
                                    <p:cond delay="0"/>
                                  </p:stCondLst>
                                  <p:childTnLst>
                                    <p:set>
                                      <p:cBhvr>
                                        <p:cTn id="90" dur="1" fill="hold">
                                          <p:stCondLst>
                                            <p:cond delay="0"/>
                                          </p:stCondLst>
                                        </p:cTn>
                                        <p:tgtEl>
                                          <p:spTgt spid="32"/>
                                        </p:tgtEl>
                                        <p:attrNameLst>
                                          <p:attrName>style.visibility</p:attrName>
                                        </p:attrNameLst>
                                      </p:cBhvr>
                                      <p:to>
                                        <p:strVal val="visible"/>
                                      </p:to>
                                    </p:set>
                                    <p:animEffect>
                                      <p:cBhvr>
                                        <p:cTn id="91" dur="500"/>
                                        <p:tgtEl>
                                          <p:spTgt spid="32"/>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5"/>
                                        </p:tgtEl>
                                        <p:attrNameLst>
                                          <p:attrName>style.visibility</p:attrName>
                                        </p:attrNameLst>
                                      </p:cBhvr>
                                      <p:to>
                                        <p:strVal val="visible"/>
                                      </p:to>
                                    </p:set>
                                    <p:animEffect transition="in" filter="fade">
                                      <p:cBhvr>
                                        <p:cTn id="9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7410" grpId="0" bldLvl="0" animBg="1" autoUpdateAnimBg="0"/>
      <p:bldP spid="17411" grpId="0" bldLvl="0" animBg="1" autoUpdateAnimBg="0"/>
      <p:bldP spid="17412" grpId="0" bldLvl="0" autoUpdateAnimBg="0"/>
      <p:bldP spid="17415" grpId="0" bldLvl="0" animBg="1" autoUpdateAnimBg="0"/>
      <p:bldP spid="17416" grpId="0" bldLvl="0" animBg="1" autoUpdateAnimBg="0"/>
      <p:bldP spid="17417" grpId="0" bldLvl="0" animBg="1" autoUpdateAnimBg="0"/>
      <p:bldP spid="17418" grpId="0" bldLvl="0" animBg="1" autoUpdateAnimBg="0"/>
      <p:bldP spid="17419" grpId="0" bldLvl="0" animBg="1" autoUpdateAnimBg="0"/>
      <p:bldP spid="17420" grpId="0" animBg="1"/>
      <p:bldP spid="17422" grpId="0" animBg="1"/>
      <p:bldP spid="17423" grpId="0" bldLvl="0" autoUpdateAnimBg="0"/>
      <p:bldP spid="17424" grpId="0" bldLvl="0" autoUpdateAnimBg="0"/>
      <p:bldP spid="17425" grpId="0" bldLvl="0" autoUpdateAnimBg="0"/>
      <p:bldP spid="17426" grpId="0" bldLvl="0" animBg="1" autoUpdateAnimBg="0"/>
      <p:bldP spid="17427" grpId="0" bldLvl="0" autoUpdateAnimBg="0"/>
      <p:bldP spid="17427" grpId="1" bldLvl="0" autoUpdateAnimBg="0"/>
      <p:bldP spid="17428" grpId="0" bldLvl="0" autoUpdateAnimBg="0"/>
      <p:bldP spid="17429" grpId="0"/>
      <p:bldP spid="17430" grpId="0"/>
      <p:bldP spid="3" grpId="0" animBg="1"/>
      <p:bldP spid="30" grpId="0" bldLvl="0" autoUpdateAnimBg="0"/>
      <p:bldP spid="32" grpId="0" bldLvl="0" animBg="1" autoUpdateAnimBg="0"/>
      <p:bldP spid="2" grpId="0" animBg="1"/>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99" name="圆角矩形标注 43"/>
          <p:cNvSpPr>
            <a:spLocks noChangeArrowheads="1"/>
          </p:cNvSpPr>
          <p:nvPr/>
        </p:nvSpPr>
        <p:spPr bwMode="auto">
          <a:xfrm>
            <a:off x="2650384" y="1814361"/>
            <a:ext cx="1695450" cy="646986"/>
          </a:xfrm>
          <a:prstGeom prst="wedgeRoundRectCallout">
            <a:avLst>
              <a:gd name="adj1" fmla="val 14572"/>
              <a:gd name="adj2" fmla="val 155465"/>
              <a:gd name="adj3" fmla="val 16667"/>
            </a:avLst>
          </a:prstGeom>
          <a:solidFill>
            <a:schemeClr val="bg1"/>
          </a:solidFill>
          <a:ln>
            <a:solidFill>
              <a:srgbClr val="C00000"/>
            </a:solidFill>
          </a:ln>
        </p:spPr>
        <p:style>
          <a:lnRef idx="3">
            <a:schemeClr val="lt1"/>
          </a:lnRef>
          <a:fillRef idx="1">
            <a:schemeClr val="accent1"/>
          </a:fillRef>
          <a:effectRef idx="1">
            <a:schemeClr val="accent1"/>
          </a:effectRef>
          <a:fontRef idx="minor">
            <a:schemeClr val="lt1"/>
          </a:fontRef>
        </p:style>
        <p:txBody>
          <a:bodyPr>
            <a:spAutoFit/>
          </a:bodyPr>
          <a:lstStyle/>
          <a:p>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既定短期</a:t>
            </a:r>
            <a:r>
              <a:rPr lang="zh-CN" altLang="en-US" b="0">
                <a:solidFill>
                  <a:schemeClr val="tx1"/>
                </a:solidFill>
                <a:latin typeface="微软雅黑" panose="020B0503020204020204" pitchFamily="34" charset="-122"/>
                <a:ea typeface="微软雅黑" panose="020B0503020204020204" pitchFamily="34" charset="-122"/>
                <a:sym typeface="Arial" panose="020B0604020202020204" pitchFamily="34" charset="0"/>
              </a:rPr>
              <a:t>规模由</a:t>
            </a:r>
            <a:r>
              <a:rPr lang="en-US" altLang="zh-CN" b="0">
                <a:solidFill>
                  <a:schemeClr val="tx1"/>
                </a:solidFill>
                <a:latin typeface="微软雅黑" panose="020B0503020204020204" pitchFamily="34" charset="-122"/>
                <a:ea typeface="微软雅黑" panose="020B0503020204020204" pitchFamily="34" charset="-122"/>
                <a:sym typeface="Arial" panose="020B0604020202020204" pitchFamily="34" charset="0"/>
              </a:rPr>
              <a:t>MC0</a:t>
            </a:r>
            <a:r>
              <a:rPr lang="zh-CN" altLang="en-US" b="0">
                <a:solidFill>
                  <a:schemeClr val="tx1"/>
                </a:solidFill>
                <a:latin typeface="微软雅黑" panose="020B0503020204020204" pitchFamily="34" charset="-122"/>
                <a:ea typeface="微软雅黑" panose="020B0503020204020204" pitchFamily="34" charset="-122"/>
                <a:sym typeface="Arial" panose="020B0604020202020204" pitchFamily="34" charset="0"/>
              </a:rPr>
              <a:t>和</a:t>
            </a:r>
            <a:r>
              <a:rPr lang="en-US" altLang="zh-CN" b="0">
                <a:solidFill>
                  <a:schemeClr val="tx1"/>
                </a:solidFill>
                <a:latin typeface="微软雅黑" panose="020B0503020204020204" pitchFamily="34" charset="-122"/>
                <a:ea typeface="微软雅黑" panose="020B0503020204020204" pitchFamily="34" charset="-122"/>
                <a:sym typeface="Arial" panose="020B0604020202020204" pitchFamily="34" charset="0"/>
              </a:rPr>
              <a:t>AC</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0</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表示</a:t>
            </a:r>
          </a:p>
        </p:txBody>
      </p:sp>
      <p:sp>
        <p:nvSpPr>
          <p:cNvPr id="19458" name="圆角矩形标注 44"/>
          <p:cNvSpPr>
            <a:spLocks noChangeArrowheads="1"/>
          </p:cNvSpPr>
          <p:nvPr/>
        </p:nvSpPr>
        <p:spPr bwMode="auto">
          <a:xfrm>
            <a:off x="7036626" y="1726679"/>
            <a:ext cx="2071689" cy="919401"/>
          </a:xfrm>
          <a:prstGeom prst="wedgeRoundRectCallout">
            <a:avLst>
              <a:gd name="adj1" fmla="val -152661"/>
              <a:gd name="adj2" fmla="val 130555"/>
              <a:gd name="adj3" fmla="val 16667"/>
            </a:avLst>
          </a:prstGeom>
          <a:solidFill>
            <a:schemeClr val="bg1"/>
          </a:solidFill>
          <a:ln>
            <a:solidFill>
              <a:srgbClr val="C00000"/>
            </a:solidFill>
          </a:ln>
        </p:spPr>
        <p:style>
          <a:lnRef idx="3">
            <a:schemeClr val="lt1"/>
          </a:lnRef>
          <a:fillRef idx="1">
            <a:schemeClr val="accent1"/>
          </a:fillRef>
          <a:effectRef idx="1">
            <a:schemeClr val="accent1"/>
          </a:effectRef>
          <a:fontRef idx="minor">
            <a:schemeClr val="lt1"/>
          </a:fontRef>
        </p:style>
        <p:txBody>
          <a:bodyPr>
            <a:spAutoFit/>
          </a:bodyPr>
          <a:lstStyle/>
          <a:p>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长期利润最大化相应的最优</a:t>
            </a:r>
            <a:r>
              <a:rPr lang="zh-CN" altLang="en-US" b="0">
                <a:solidFill>
                  <a:schemeClr val="tx1"/>
                </a:solidFill>
                <a:latin typeface="微软雅黑" panose="020B0503020204020204" pitchFamily="34" charset="-122"/>
                <a:ea typeface="微软雅黑" panose="020B0503020204020204" pitchFamily="34" charset="-122"/>
                <a:sym typeface="Arial" panose="020B0604020202020204" pitchFamily="34" charset="0"/>
              </a:rPr>
              <a:t>规模由</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MC</a:t>
            </a:r>
            <a:r>
              <a:rPr lang="en-US" altLang="zh-CN" b="0">
                <a:solidFill>
                  <a:schemeClr val="tx1"/>
                </a:solidFill>
                <a:latin typeface="微软雅黑" panose="020B0503020204020204" pitchFamily="34" charset="-122"/>
                <a:ea typeface="微软雅黑" panose="020B0503020204020204" pitchFamily="34" charset="-122"/>
                <a:sym typeface="Arial" panose="020B0604020202020204" pitchFamily="34" charset="0"/>
              </a:rPr>
              <a:t>*</a:t>
            </a:r>
            <a:r>
              <a:rPr lang="zh-CN" altLang="en-US" b="0">
                <a:solidFill>
                  <a:schemeClr val="tx1"/>
                </a:solidFill>
                <a:latin typeface="微软雅黑" panose="020B0503020204020204" pitchFamily="34" charset="-122"/>
                <a:ea typeface="微软雅黑" panose="020B0503020204020204" pitchFamily="34" charset="-122"/>
                <a:sym typeface="Arial" panose="020B0604020202020204" pitchFamily="34" charset="0"/>
              </a:rPr>
              <a:t>和</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AC*</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表示 </a:t>
            </a:r>
          </a:p>
        </p:txBody>
      </p:sp>
      <p:sp>
        <p:nvSpPr>
          <p:cNvPr id="19459" name="圆角矩形标注 40"/>
          <p:cNvSpPr>
            <a:spLocks noChangeArrowheads="1"/>
          </p:cNvSpPr>
          <p:nvPr/>
        </p:nvSpPr>
        <p:spPr bwMode="auto">
          <a:xfrm>
            <a:off x="72005" y="4610742"/>
            <a:ext cx="1963997" cy="1464231"/>
          </a:xfrm>
          <a:prstGeom prst="wedgeRoundRectCallout">
            <a:avLst>
              <a:gd name="adj1" fmla="val 51057"/>
              <a:gd name="adj2" fmla="val -82689"/>
              <a:gd name="adj3" fmla="val 16667"/>
            </a:avLst>
          </a:prstGeom>
          <a:solidFill>
            <a:schemeClr val="bg1"/>
          </a:solidFill>
          <a:ln>
            <a:solidFill>
              <a:srgbClr val="C00000"/>
            </a:solidFill>
          </a:ln>
        </p:spPr>
        <p:style>
          <a:lnRef idx="3">
            <a:schemeClr val="lt1"/>
          </a:lnRef>
          <a:fillRef idx="1">
            <a:schemeClr val="accent1"/>
          </a:fillRef>
          <a:effectRef idx="1">
            <a:schemeClr val="accent1"/>
          </a:effectRef>
          <a:fontRef idx="minor">
            <a:schemeClr val="lt1"/>
          </a:fontRef>
        </p:style>
        <p:txBody>
          <a:bodyPr>
            <a:spAutoFit/>
          </a:bodyPr>
          <a:lstStyle/>
          <a:p>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最优的短期利润最大化产量和价格分别为</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Q*</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和</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P*</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 垄断的经济利润为</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(P*- P2)Q*</a:t>
            </a:r>
            <a:endPar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9460" name="圆角矩形标注 39"/>
          <p:cNvSpPr>
            <a:spLocks noChangeArrowheads="1"/>
          </p:cNvSpPr>
          <p:nvPr/>
        </p:nvSpPr>
        <p:spPr bwMode="auto">
          <a:xfrm>
            <a:off x="99378" y="2137854"/>
            <a:ext cx="1595629" cy="2201704"/>
          </a:xfrm>
          <a:prstGeom prst="wedgeRoundRectCallout">
            <a:avLst>
              <a:gd name="adj1" fmla="val 74229"/>
              <a:gd name="adj2" fmla="val 14831"/>
              <a:gd name="adj3" fmla="val 16667"/>
            </a:avLst>
          </a:prstGeom>
          <a:solidFill>
            <a:schemeClr val="bg1"/>
          </a:solidFill>
          <a:ln>
            <a:solidFill>
              <a:srgbClr val="C00000"/>
            </a:solidFill>
          </a:ln>
        </p:spPr>
        <p:style>
          <a:lnRef idx="3">
            <a:schemeClr val="lt1"/>
          </a:lnRef>
          <a:fillRef idx="1">
            <a:schemeClr val="accent1"/>
          </a:fillRef>
          <a:effectRef idx="1">
            <a:schemeClr val="accent1"/>
          </a:effectRef>
          <a:fontRef idx="minor">
            <a:schemeClr val="lt1"/>
          </a:fontRef>
        </p:style>
        <p:txBody>
          <a:bodyPr>
            <a:spAutoFit/>
          </a:bodyPr>
          <a:lstStyle/>
          <a:p>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利润最大化产量和价格由</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MC0</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 </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MR</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和</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d</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决定</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分别为</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Q0</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和</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P0</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 垄断的经济利润为</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(P0-P1)Q0</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a:t>
            </a:r>
            <a:endParaRPr lang="zh-CN" altLang="en-US" b="0" dirty="0">
              <a:solidFill>
                <a:schemeClr val="tx1"/>
              </a:solidFill>
              <a:latin typeface="微软雅黑" panose="020B0503020204020204" pitchFamily="34" charset="-122"/>
              <a:ea typeface="微软雅黑" panose="020B0503020204020204" pitchFamily="34" charset="-122"/>
            </a:endParaRPr>
          </a:p>
        </p:txBody>
      </p:sp>
      <p:sp>
        <p:nvSpPr>
          <p:cNvPr id="19461" name="Rectangle 3"/>
          <p:cNvSpPr>
            <a:spLocks noGrp="1" noChangeArrowheads="1"/>
          </p:cNvSpPr>
          <p:nvPr>
            <p:ph type="body" idx="4294967295"/>
          </p:nvPr>
        </p:nvSpPr>
        <p:spPr>
          <a:xfrm>
            <a:off x="504825" y="1315565"/>
            <a:ext cx="4134989" cy="517998"/>
          </a:xfrm>
          <a:ln/>
        </p:spPr>
        <p:txBody>
          <a:bodyPr/>
          <a:lstStyle/>
          <a:p>
            <a:pPr marL="457200" lvl="2" indent="-457200" eaLnBrk="1" hangingPunct="1">
              <a:buSzPct val="100000"/>
              <a:buFont typeface="Wingdings" panose="05000000000000000000" pitchFamily="2" charset="2"/>
              <a:buChar char="u"/>
            </a:pPr>
            <a:r>
              <a:rPr lang="zh-CN" altLang="zh-CN" sz="2200" b="0" dirty="0">
                <a:latin typeface="微软雅黑" panose="020B0503020204020204" pitchFamily="34" charset="-122"/>
                <a:ea typeface="微软雅黑" panose="020B0503020204020204" pitchFamily="34" charset="-122"/>
              </a:rPr>
              <a:t>垄断企业的长期规模调整</a:t>
            </a:r>
          </a:p>
        </p:txBody>
      </p:sp>
      <p:sp>
        <p:nvSpPr>
          <p:cNvPr id="19462" name="Line 4"/>
          <p:cNvSpPr>
            <a:spLocks noChangeShapeType="1"/>
          </p:cNvSpPr>
          <p:nvPr/>
        </p:nvSpPr>
        <p:spPr bwMode="auto">
          <a:xfrm flipV="1">
            <a:off x="2200843" y="2149475"/>
            <a:ext cx="1587" cy="3783013"/>
          </a:xfrm>
          <a:prstGeom prst="line">
            <a:avLst/>
          </a:prstGeom>
          <a:noFill/>
          <a:ln w="9525" cmpd="sng">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9463" name="Line 5"/>
          <p:cNvSpPr>
            <a:spLocks noChangeShapeType="1"/>
          </p:cNvSpPr>
          <p:nvPr/>
        </p:nvSpPr>
        <p:spPr bwMode="auto">
          <a:xfrm>
            <a:off x="2200843" y="5932488"/>
            <a:ext cx="5538787" cy="1587"/>
          </a:xfrm>
          <a:prstGeom prst="line">
            <a:avLst/>
          </a:prstGeom>
          <a:noFill/>
          <a:ln w="9525" cmpd="sng">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9464" name="Text Box 6"/>
          <p:cNvSpPr>
            <a:spLocks noChangeArrowheads="1"/>
          </p:cNvSpPr>
          <p:nvPr/>
        </p:nvSpPr>
        <p:spPr bwMode="auto">
          <a:xfrm>
            <a:off x="1884930" y="2073275"/>
            <a:ext cx="168275"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P</a:t>
            </a:r>
            <a:endParaRPr lang="zh-CN" altLang="en-US"/>
          </a:p>
        </p:txBody>
      </p:sp>
      <p:sp>
        <p:nvSpPr>
          <p:cNvPr id="19465" name="Text Box 7"/>
          <p:cNvSpPr>
            <a:spLocks noChangeArrowheads="1"/>
          </p:cNvSpPr>
          <p:nvPr/>
        </p:nvSpPr>
        <p:spPr bwMode="auto">
          <a:xfrm>
            <a:off x="1812925" y="5854700"/>
            <a:ext cx="341313"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O</a:t>
            </a:r>
            <a:endParaRPr lang="zh-CN" altLang="en-US"/>
          </a:p>
        </p:txBody>
      </p:sp>
      <p:sp>
        <p:nvSpPr>
          <p:cNvPr id="19466" name="Text Box 8"/>
          <p:cNvSpPr>
            <a:spLocks noChangeArrowheads="1"/>
          </p:cNvSpPr>
          <p:nvPr/>
        </p:nvSpPr>
        <p:spPr bwMode="auto">
          <a:xfrm>
            <a:off x="7589838" y="5854700"/>
            <a:ext cx="33972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Q</a:t>
            </a:r>
            <a:endParaRPr lang="zh-CN" altLang="en-US"/>
          </a:p>
        </p:txBody>
      </p:sp>
      <p:sp>
        <p:nvSpPr>
          <p:cNvPr id="19467" name="Line 9"/>
          <p:cNvSpPr>
            <a:spLocks noChangeShapeType="1"/>
          </p:cNvSpPr>
          <p:nvPr/>
        </p:nvSpPr>
        <p:spPr bwMode="auto">
          <a:xfrm>
            <a:off x="2200843" y="3000375"/>
            <a:ext cx="4511675" cy="1851025"/>
          </a:xfrm>
          <a:prstGeom prst="line">
            <a:avLst/>
          </a:prstGeom>
          <a:noFill/>
          <a:ln w="28575" cmpd="sng">
            <a:solidFill>
              <a:srgbClr val="0070C0"/>
            </a:solidFill>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9468" name="Text Box 10"/>
          <p:cNvSpPr>
            <a:spLocks noChangeArrowheads="1"/>
          </p:cNvSpPr>
          <p:nvPr/>
        </p:nvSpPr>
        <p:spPr bwMode="auto">
          <a:xfrm>
            <a:off x="6317230" y="4775200"/>
            <a:ext cx="1668463"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d =AR=LAR</a:t>
            </a:r>
            <a:endParaRPr lang="zh-CN" altLang="en-US"/>
          </a:p>
        </p:txBody>
      </p:sp>
      <p:sp>
        <p:nvSpPr>
          <p:cNvPr id="19469" name="Line 11"/>
          <p:cNvSpPr>
            <a:spLocks noChangeShapeType="1"/>
          </p:cNvSpPr>
          <p:nvPr/>
        </p:nvSpPr>
        <p:spPr bwMode="auto">
          <a:xfrm>
            <a:off x="2202430" y="3001963"/>
            <a:ext cx="3086100" cy="2390775"/>
          </a:xfrm>
          <a:prstGeom prst="line">
            <a:avLst/>
          </a:prstGeom>
          <a:noFill/>
          <a:ln w="28575" cmpd="sng">
            <a:solidFill>
              <a:srgbClr val="0070C0"/>
            </a:solidFill>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9470" name="Text Box 12"/>
          <p:cNvSpPr>
            <a:spLocks noChangeArrowheads="1"/>
          </p:cNvSpPr>
          <p:nvPr/>
        </p:nvSpPr>
        <p:spPr bwMode="auto">
          <a:xfrm>
            <a:off x="5286943" y="5470525"/>
            <a:ext cx="1284287"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MR=LMR</a:t>
            </a:r>
            <a:endParaRPr lang="zh-CN" altLang="en-US"/>
          </a:p>
        </p:txBody>
      </p:sp>
      <p:sp>
        <p:nvSpPr>
          <p:cNvPr id="19471" name="未知"/>
          <p:cNvSpPr>
            <a:spLocks noChangeArrowheads="1"/>
          </p:cNvSpPr>
          <p:nvPr/>
        </p:nvSpPr>
        <p:spPr bwMode="auto">
          <a:xfrm rot="20940000">
            <a:off x="3072380" y="3308350"/>
            <a:ext cx="2565400" cy="1952625"/>
          </a:xfrm>
          <a:custGeom>
            <a:avLst/>
            <a:gdLst>
              <a:gd name="T0" fmla="*/ 2147483647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a:moveTo>
                  <a:pt x="21600" y="0"/>
                </a:moveTo>
                <a:cubicBezTo>
                  <a:pt x="20603" y="1923"/>
                  <a:pt x="19217" y="7938"/>
                  <a:pt x="15619" y="11534"/>
                </a:cubicBezTo>
                <a:cubicBezTo>
                  <a:pt x="12020" y="15130"/>
                  <a:pt x="2602" y="19919"/>
                  <a:pt x="0" y="21600"/>
                </a:cubicBezTo>
              </a:path>
            </a:pathLst>
          </a:custGeom>
          <a:noFill/>
          <a:ln w="28575" cmpd="sng">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zh-CN">
              <a:solidFill>
                <a:srgbClr val="000000"/>
              </a:solidFill>
              <a:sym typeface="Arial" panose="020B0604020202020204" pitchFamily="34" charset="0"/>
            </a:endParaRPr>
          </a:p>
        </p:txBody>
      </p:sp>
      <p:sp>
        <p:nvSpPr>
          <p:cNvPr id="19472" name="Text Box 14"/>
          <p:cNvSpPr>
            <a:spLocks noChangeArrowheads="1"/>
          </p:cNvSpPr>
          <p:nvPr/>
        </p:nvSpPr>
        <p:spPr bwMode="auto">
          <a:xfrm>
            <a:off x="5209155" y="2767013"/>
            <a:ext cx="809625"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LMC</a:t>
            </a:r>
            <a:endParaRPr lang="zh-CN" altLang="en-US"/>
          </a:p>
        </p:txBody>
      </p:sp>
      <p:sp>
        <p:nvSpPr>
          <p:cNvPr id="19473" name="未知"/>
          <p:cNvSpPr>
            <a:spLocks noChangeArrowheads="1"/>
          </p:cNvSpPr>
          <p:nvPr/>
        </p:nvSpPr>
        <p:spPr bwMode="auto">
          <a:xfrm rot="21360000">
            <a:off x="3072380" y="2767013"/>
            <a:ext cx="3335338" cy="1525587"/>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0 w 21600"/>
              <a:gd name="T9" fmla="*/ 0 h 21600"/>
              <a:gd name="T10" fmla="*/ 0 60000 65536"/>
              <a:gd name="T11" fmla="*/ 0 60000 65536"/>
              <a:gd name="T12" fmla="*/ 0 60000 65536"/>
              <a:gd name="T13" fmla="*/ 0 60000 65536"/>
              <a:gd name="T14" fmla="*/ 0 60000 65536"/>
              <a:gd name="T15" fmla="*/ 0 w 21600"/>
              <a:gd name="T16" fmla="*/ 0 h 21600"/>
              <a:gd name="T17" fmla="*/ 21600 w 21600"/>
              <a:gd name="T18" fmla="*/ 21600 h 21600"/>
            </a:gdLst>
            <a:ahLst/>
            <a:cxnLst>
              <a:cxn ang="T10">
                <a:pos x="T0" y="T1"/>
              </a:cxn>
              <a:cxn ang="T11">
                <a:pos x="T2" y="T3"/>
              </a:cxn>
              <a:cxn ang="T12">
                <a:pos x="T4" y="T5"/>
              </a:cxn>
              <a:cxn ang="T13">
                <a:pos x="T6" y="T7"/>
              </a:cxn>
              <a:cxn ang="T14">
                <a:pos x="T8" y="T9"/>
              </a:cxn>
            </a:cxnLst>
            <a:rect l="T15" t="T16" r="T17" b="T18"/>
            <a:pathLst>
              <a:path w="21600" h="21600">
                <a:moveTo>
                  <a:pt x="21600" y="4995"/>
                </a:moveTo>
                <a:cubicBezTo>
                  <a:pt x="20904" y="7164"/>
                  <a:pt x="19480" y="15428"/>
                  <a:pt x="17424" y="18041"/>
                </a:cubicBezTo>
                <a:cubicBezTo>
                  <a:pt x="15368" y="20655"/>
                  <a:pt x="11834" y="21600"/>
                  <a:pt x="9272" y="20655"/>
                </a:cubicBezTo>
                <a:cubicBezTo>
                  <a:pt x="6710" y="19710"/>
                  <a:pt x="3583" y="15833"/>
                  <a:pt x="2037" y="12391"/>
                </a:cubicBezTo>
                <a:cubicBezTo>
                  <a:pt x="492" y="8948"/>
                  <a:pt x="338" y="2063"/>
                  <a:pt x="0" y="0"/>
                </a:cubicBezTo>
              </a:path>
            </a:pathLst>
          </a:custGeom>
          <a:noFill/>
          <a:ln w="28575" cmpd="sng">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zh-CN">
              <a:solidFill>
                <a:srgbClr val="000000"/>
              </a:solidFill>
              <a:sym typeface="Arial" panose="020B0604020202020204" pitchFamily="34" charset="0"/>
            </a:endParaRPr>
          </a:p>
        </p:txBody>
      </p:sp>
      <p:sp>
        <p:nvSpPr>
          <p:cNvPr id="19474" name="Text Box 16"/>
          <p:cNvSpPr>
            <a:spLocks noChangeArrowheads="1"/>
          </p:cNvSpPr>
          <p:nvPr/>
        </p:nvSpPr>
        <p:spPr bwMode="auto">
          <a:xfrm>
            <a:off x="6079105" y="2690813"/>
            <a:ext cx="798513"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sym typeface="Arial" panose="020B0604020202020204" pitchFamily="34" charset="0"/>
              </a:rPr>
              <a:t>LAC</a:t>
            </a:r>
            <a:endParaRPr lang="zh-CN" altLang="en-US" dirty="0"/>
          </a:p>
        </p:txBody>
      </p:sp>
      <p:sp>
        <p:nvSpPr>
          <p:cNvPr id="19475" name="未知"/>
          <p:cNvSpPr>
            <a:spLocks noChangeArrowheads="1"/>
          </p:cNvSpPr>
          <p:nvPr/>
        </p:nvSpPr>
        <p:spPr bwMode="auto">
          <a:xfrm rot="21300000">
            <a:off x="3285105" y="3360738"/>
            <a:ext cx="827088" cy="477837"/>
          </a:xfrm>
          <a:custGeom>
            <a:avLst/>
            <a:gdLst>
              <a:gd name="T0" fmla="*/ 0 w 21600"/>
              <a:gd name="T1" fmla="*/ 0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cubicBezTo>
                  <a:pt x="636" y="2773"/>
                  <a:pt x="1765" y="13249"/>
                  <a:pt x="3785" y="16669"/>
                </a:cubicBezTo>
                <a:cubicBezTo>
                  <a:pt x="5804" y="20090"/>
                  <a:pt x="9171" y="21600"/>
                  <a:pt x="12137" y="20521"/>
                </a:cubicBezTo>
                <a:cubicBezTo>
                  <a:pt x="15103" y="19443"/>
                  <a:pt x="20016" y="11955"/>
                  <a:pt x="21600" y="10260"/>
                </a:cubicBezTo>
              </a:path>
            </a:pathLst>
          </a:custGeom>
          <a:noFill/>
          <a:ln w="28575" cmpd="sng">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zh-CN">
              <a:solidFill>
                <a:srgbClr val="000000"/>
              </a:solidFill>
              <a:sym typeface="Arial" panose="020B0604020202020204" pitchFamily="34" charset="0"/>
            </a:endParaRPr>
          </a:p>
        </p:txBody>
      </p:sp>
      <p:sp>
        <p:nvSpPr>
          <p:cNvPr id="19476" name="未知"/>
          <p:cNvSpPr>
            <a:spLocks noChangeArrowheads="1"/>
          </p:cNvSpPr>
          <p:nvPr/>
        </p:nvSpPr>
        <p:spPr bwMode="auto">
          <a:xfrm rot="300000">
            <a:off x="3231130" y="3384550"/>
            <a:ext cx="654050" cy="666750"/>
          </a:xfrm>
          <a:custGeom>
            <a:avLst/>
            <a:gdLst>
              <a:gd name="T0" fmla="*/ 2147483647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a:moveTo>
                  <a:pt x="21600" y="0"/>
                </a:moveTo>
                <a:cubicBezTo>
                  <a:pt x="20562" y="2228"/>
                  <a:pt x="18972" y="9729"/>
                  <a:pt x="15375" y="13326"/>
                </a:cubicBezTo>
                <a:cubicBezTo>
                  <a:pt x="11779" y="16922"/>
                  <a:pt x="2558" y="20232"/>
                  <a:pt x="0" y="21600"/>
                </a:cubicBezTo>
              </a:path>
            </a:pathLst>
          </a:custGeom>
          <a:noFill/>
          <a:ln w="28575" cmpd="sng">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zh-CN">
              <a:solidFill>
                <a:srgbClr val="000000"/>
              </a:solidFill>
              <a:sym typeface="Arial" panose="020B0604020202020204" pitchFamily="34" charset="0"/>
            </a:endParaRPr>
          </a:p>
        </p:txBody>
      </p:sp>
      <p:sp>
        <p:nvSpPr>
          <p:cNvPr id="19477" name="Line 19"/>
          <p:cNvSpPr>
            <a:spLocks noChangeShapeType="1"/>
          </p:cNvSpPr>
          <p:nvPr/>
        </p:nvSpPr>
        <p:spPr bwMode="auto">
          <a:xfrm>
            <a:off x="3389880" y="3462338"/>
            <a:ext cx="0" cy="2470150"/>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9478" name="Line 20"/>
          <p:cNvSpPr>
            <a:spLocks noChangeShapeType="1"/>
          </p:cNvSpPr>
          <p:nvPr/>
        </p:nvSpPr>
        <p:spPr bwMode="auto">
          <a:xfrm flipH="1">
            <a:off x="2200843" y="3925888"/>
            <a:ext cx="2216150" cy="1587"/>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9479" name="Line 21"/>
          <p:cNvSpPr>
            <a:spLocks noChangeShapeType="1"/>
          </p:cNvSpPr>
          <p:nvPr/>
        </p:nvSpPr>
        <p:spPr bwMode="auto">
          <a:xfrm flipH="1">
            <a:off x="2200843" y="3692525"/>
            <a:ext cx="1189037" cy="3175"/>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9480" name="Line 22"/>
          <p:cNvSpPr>
            <a:spLocks noChangeShapeType="1"/>
          </p:cNvSpPr>
          <p:nvPr/>
        </p:nvSpPr>
        <p:spPr bwMode="auto">
          <a:xfrm flipH="1">
            <a:off x="2200843" y="3462338"/>
            <a:ext cx="1189037" cy="1587"/>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9481" name="Line 23"/>
          <p:cNvSpPr>
            <a:spLocks noChangeShapeType="1"/>
          </p:cNvSpPr>
          <p:nvPr/>
        </p:nvSpPr>
        <p:spPr bwMode="auto">
          <a:xfrm>
            <a:off x="4416993" y="3925888"/>
            <a:ext cx="1587" cy="2008187"/>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9482" name="未知"/>
          <p:cNvSpPr>
            <a:spLocks noChangeArrowheads="1"/>
          </p:cNvSpPr>
          <p:nvPr/>
        </p:nvSpPr>
        <p:spPr bwMode="auto">
          <a:xfrm rot="21300000">
            <a:off x="4020118" y="3771900"/>
            <a:ext cx="1003300" cy="487363"/>
          </a:xfrm>
          <a:custGeom>
            <a:avLst/>
            <a:gdLst>
              <a:gd name="T0" fmla="*/ 0 w 21600"/>
              <a:gd name="T1" fmla="*/ 0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cubicBezTo>
                  <a:pt x="1202" y="3124"/>
                  <a:pt x="4599" y="15952"/>
                  <a:pt x="7200" y="18776"/>
                </a:cubicBezTo>
                <a:cubicBezTo>
                  <a:pt x="9800" y="21600"/>
                  <a:pt x="13242" y="19797"/>
                  <a:pt x="15647" y="16883"/>
                </a:cubicBezTo>
                <a:cubicBezTo>
                  <a:pt x="18052" y="13969"/>
                  <a:pt x="20607" y="3845"/>
                  <a:pt x="21600" y="1231"/>
                </a:cubicBezTo>
              </a:path>
            </a:pathLst>
          </a:custGeom>
          <a:noFill/>
          <a:ln w="28575" cmpd="sng">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zh-CN">
              <a:solidFill>
                <a:srgbClr val="000000"/>
              </a:solidFill>
              <a:sym typeface="Arial" panose="020B0604020202020204" pitchFamily="34" charset="0"/>
            </a:endParaRPr>
          </a:p>
        </p:txBody>
      </p:sp>
      <p:sp>
        <p:nvSpPr>
          <p:cNvPr id="19483" name="未知"/>
          <p:cNvSpPr>
            <a:spLocks noChangeArrowheads="1"/>
          </p:cNvSpPr>
          <p:nvPr/>
        </p:nvSpPr>
        <p:spPr bwMode="auto">
          <a:xfrm rot="21480000">
            <a:off x="4178868" y="3692525"/>
            <a:ext cx="509587" cy="1347788"/>
          </a:xfrm>
          <a:custGeom>
            <a:avLst/>
            <a:gdLst>
              <a:gd name="T0" fmla="*/ 2147483647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a:moveTo>
                  <a:pt x="21600" y="0"/>
                </a:moveTo>
                <a:cubicBezTo>
                  <a:pt x="20357" y="1930"/>
                  <a:pt x="17812" y="7996"/>
                  <a:pt x="14202" y="11596"/>
                </a:cubicBezTo>
                <a:cubicBezTo>
                  <a:pt x="10592" y="15196"/>
                  <a:pt x="2367" y="19930"/>
                  <a:pt x="0" y="21600"/>
                </a:cubicBezTo>
              </a:path>
            </a:pathLst>
          </a:custGeom>
          <a:noFill/>
          <a:ln w="28575" cmpd="sng">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zh-CN">
              <a:solidFill>
                <a:srgbClr val="000000"/>
              </a:solidFill>
              <a:sym typeface="Arial" panose="020B0604020202020204" pitchFamily="34" charset="0"/>
            </a:endParaRPr>
          </a:p>
        </p:txBody>
      </p:sp>
      <p:sp>
        <p:nvSpPr>
          <p:cNvPr id="19484" name="Line 26"/>
          <p:cNvSpPr>
            <a:spLocks noChangeShapeType="1"/>
          </p:cNvSpPr>
          <p:nvPr/>
        </p:nvSpPr>
        <p:spPr bwMode="auto">
          <a:xfrm flipH="1">
            <a:off x="2200843" y="4233863"/>
            <a:ext cx="2216150" cy="1587"/>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19485" name="Text Box 27"/>
          <p:cNvSpPr>
            <a:spLocks noChangeArrowheads="1"/>
          </p:cNvSpPr>
          <p:nvPr/>
        </p:nvSpPr>
        <p:spPr bwMode="auto">
          <a:xfrm>
            <a:off x="3547043" y="3076575"/>
            <a:ext cx="81597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sym typeface="Arial" panose="020B0604020202020204" pitchFamily="34" charset="0"/>
              </a:rPr>
              <a:t>MC</a:t>
            </a:r>
            <a:r>
              <a:rPr lang="zh-CN" altLang="en-US" sz="1000" dirty="0">
                <a:solidFill>
                  <a:srgbClr val="000000"/>
                </a:solidFill>
                <a:sym typeface="Arial" panose="020B0604020202020204" pitchFamily="34" charset="0"/>
              </a:rPr>
              <a:t>0</a:t>
            </a:r>
            <a:endParaRPr lang="zh-CN" altLang="en-US" dirty="0"/>
          </a:p>
        </p:txBody>
      </p:sp>
      <p:sp>
        <p:nvSpPr>
          <p:cNvPr id="19486" name="Text Box 28"/>
          <p:cNvSpPr>
            <a:spLocks noChangeArrowheads="1"/>
          </p:cNvSpPr>
          <p:nvPr/>
        </p:nvSpPr>
        <p:spPr bwMode="auto">
          <a:xfrm>
            <a:off x="4020118" y="3230563"/>
            <a:ext cx="671512"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sym typeface="Arial" panose="020B0604020202020204" pitchFamily="34" charset="0"/>
              </a:rPr>
              <a:t>AC</a:t>
            </a:r>
            <a:r>
              <a:rPr lang="zh-CN" altLang="en-US" sz="1000" dirty="0">
                <a:solidFill>
                  <a:srgbClr val="000000"/>
                </a:solidFill>
                <a:sym typeface="Arial" panose="020B0604020202020204" pitchFamily="34" charset="0"/>
              </a:rPr>
              <a:t>0</a:t>
            </a:r>
            <a:endParaRPr lang="zh-CN" altLang="en-US" dirty="0"/>
          </a:p>
        </p:txBody>
      </p:sp>
      <p:sp>
        <p:nvSpPr>
          <p:cNvPr id="19487" name="Text Box 29"/>
          <p:cNvSpPr>
            <a:spLocks noChangeArrowheads="1"/>
          </p:cNvSpPr>
          <p:nvPr/>
        </p:nvSpPr>
        <p:spPr bwMode="auto">
          <a:xfrm>
            <a:off x="3159125" y="5854700"/>
            <a:ext cx="534988"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Q</a:t>
            </a:r>
            <a:r>
              <a:rPr lang="zh-CN" altLang="en-US" sz="1000">
                <a:solidFill>
                  <a:srgbClr val="000000"/>
                </a:solidFill>
                <a:sym typeface="Arial" panose="020B0604020202020204" pitchFamily="34" charset="0"/>
              </a:rPr>
              <a:t>0</a:t>
            </a:r>
            <a:endParaRPr lang="zh-CN" altLang="en-US"/>
          </a:p>
        </p:txBody>
      </p:sp>
      <p:sp>
        <p:nvSpPr>
          <p:cNvPr id="19488" name="Text Box 30"/>
          <p:cNvSpPr>
            <a:spLocks noChangeArrowheads="1"/>
          </p:cNvSpPr>
          <p:nvPr/>
        </p:nvSpPr>
        <p:spPr bwMode="auto">
          <a:xfrm>
            <a:off x="1805555" y="3230563"/>
            <a:ext cx="508000"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P</a:t>
            </a:r>
            <a:r>
              <a:rPr lang="zh-CN" altLang="en-US" sz="1000">
                <a:solidFill>
                  <a:srgbClr val="000000"/>
                </a:solidFill>
                <a:sym typeface="Arial" panose="020B0604020202020204" pitchFamily="34" charset="0"/>
              </a:rPr>
              <a:t>0</a:t>
            </a:r>
            <a:endParaRPr lang="zh-CN" altLang="en-US"/>
          </a:p>
        </p:txBody>
      </p:sp>
      <p:sp>
        <p:nvSpPr>
          <p:cNvPr id="19489" name="Text Box 31"/>
          <p:cNvSpPr>
            <a:spLocks noChangeArrowheads="1"/>
          </p:cNvSpPr>
          <p:nvPr/>
        </p:nvSpPr>
        <p:spPr bwMode="auto">
          <a:xfrm>
            <a:off x="1805555" y="3540125"/>
            <a:ext cx="488950"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P</a:t>
            </a:r>
            <a:r>
              <a:rPr lang="zh-CN" altLang="en-US" sz="1000">
                <a:solidFill>
                  <a:srgbClr val="000000"/>
                </a:solidFill>
                <a:sym typeface="Arial" panose="020B0604020202020204" pitchFamily="34" charset="0"/>
              </a:rPr>
              <a:t>1</a:t>
            </a:r>
            <a:endParaRPr lang="zh-CN" altLang="en-US"/>
          </a:p>
        </p:txBody>
      </p:sp>
      <p:sp>
        <p:nvSpPr>
          <p:cNvPr id="19490" name="Text Box 32"/>
          <p:cNvSpPr>
            <a:spLocks noChangeArrowheads="1"/>
          </p:cNvSpPr>
          <p:nvPr/>
        </p:nvSpPr>
        <p:spPr bwMode="auto">
          <a:xfrm>
            <a:off x="4187825" y="5854700"/>
            <a:ext cx="577850"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Q*</a:t>
            </a:r>
            <a:endParaRPr lang="zh-CN" altLang="en-US"/>
          </a:p>
        </p:txBody>
      </p:sp>
      <p:sp>
        <p:nvSpPr>
          <p:cNvPr id="19491" name="Text Box 33"/>
          <p:cNvSpPr>
            <a:spLocks noChangeArrowheads="1"/>
          </p:cNvSpPr>
          <p:nvPr/>
        </p:nvSpPr>
        <p:spPr bwMode="auto">
          <a:xfrm>
            <a:off x="1815383" y="3771900"/>
            <a:ext cx="582612"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sym typeface="Arial" panose="020B0604020202020204" pitchFamily="34" charset="0"/>
              </a:rPr>
              <a:t>P*</a:t>
            </a:r>
            <a:endParaRPr lang="zh-CN" altLang="en-US" dirty="0"/>
          </a:p>
        </p:txBody>
      </p:sp>
      <p:sp>
        <p:nvSpPr>
          <p:cNvPr id="19493" name="Text Box 35"/>
          <p:cNvSpPr>
            <a:spLocks noChangeArrowheads="1"/>
          </p:cNvSpPr>
          <p:nvPr/>
        </p:nvSpPr>
        <p:spPr bwMode="auto">
          <a:xfrm>
            <a:off x="4416993" y="3308350"/>
            <a:ext cx="712787"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sym typeface="Arial" panose="020B0604020202020204" pitchFamily="34" charset="0"/>
              </a:rPr>
              <a:t>MC*</a:t>
            </a:r>
            <a:endParaRPr lang="zh-CN" altLang="en-US" dirty="0"/>
          </a:p>
        </p:txBody>
      </p:sp>
      <p:sp>
        <p:nvSpPr>
          <p:cNvPr id="19494" name="Text Box 36"/>
          <p:cNvSpPr>
            <a:spLocks noChangeArrowheads="1"/>
          </p:cNvSpPr>
          <p:nvPr/>
        </p:nvSpPr>
        <p:spPr bwMode="auto">
          <a:xfrm>
            <a:off x="4734493" y="3462338"/>
            <a:ext cx="692150"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sym typeface="Arial" panose="020B0604020202020204" pitchFamily="34" charset="0"/>
              </a:rPr>
              <a:t>AC*</a:t>
            </a:r>
            <a:endParaRPr lang="zh-CN" altLang="en-US" dirty="0"/>
          </a:p>
        </p:txBody>
      </p:sp>
      <p:sp>
        <p:nvSpPr>
          <p:cNvPr id="19495" name="Text Box 37"/>
          <p:cNvSpPr>
            <a:spLocks noChangeArrowheads="1"/>
          </p:cNvSpPr>
          <p:nvPr/>
        </p:nvSpPr>
        <p:spPr bwMode="auto">
          <a:xfrm>
            <a:off x="1805555" y="4079875"/>
            <a:ext cx="495300"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P</a:t>
            </a:r>
            <a:r>
              <a:rPr lang="zh-CN" altLang="en-US" sz="1000">
                <a:solidFill>
                  <a:srgbClr val="000000"/>
                </a:solidFill>
                <a:sym typeface="Arial" panose="020B0604020202020204" pitchFamily="34" charset="0"/>
              </a:rPr>
              <a:t>2</a:t>
            </a:r>
            <a:endParaRPr lang="zh-CN" altLang="en-US"/>
          </a:p>
        </p:txBody>
      </p:sp>
      <p:sp>
        <p:nvSpPr>
          <p:cNvPr id="19496" name="圆角矩形标注 37"/>
          <p:cNvSpPr>
            <a:spLocks noChangeArrowheads="1"/>
          </p:cNvSpPr>
          <p:nvPr/>
        </p:nvSpPr>
        <p:spPr bwMode="auto">
          <a:xfrm>
            <a:off x="7144318" y="3173249"/>
            <a:ext cx="1963997" cy="1191816"/>
          </a:xfrm>
          <a:prstGeom prst="wedgeRoundRectCallout">
            <a:avLst>
              <a:gd name="adj1" fmla="val -56526"/>
              <a:gd name="adj2" fmla="val 78481"/>
              <a:gd name="adj3" fmla="val 16667"/>
            </a:avLst>
          </a:prstGeom>
          <a:solidFill>
            <a:schemeClr val="bg1"/>
          </a:solidFill>
          <a:ln>
            <a:solidFill>
              <a:srgbClr val="C00000"/>
            </a:solidFill>
          </a:ln>
        </p:spPr>
        <p:style>
          <a:lnRef idx="3">
            <a:schemeClr val="lt1"/>
          </a:lnRef>
          <a:fillRef idx="1">
            <a:schemeClr val="accent1"/>
          </a:fillRef>
          <a:effectRef idx="1">
            <a:schemeClr val="accent1"/>
          </a:effectRef>
          <a:fontRef idx="minor">
            <a:schemeClr val="lt1"/>
          </a:fontRef>
        </p:style>
        <p:txBody>
          <a:bodyPr>
            <a:spAutoFit/>
          </a:bodyPr>
          <a:lstStyle/>
          <a:p>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市场需求</a:t>
            </a:r>
            <a:r>
              <a:rPr lang="zh-CN" altLang="en-US" b="0">
                <a:solidFill>
                  <a:schemeClr val="tx1"/>
                </a:solidFill>
                <a:latin typeface="微软雅黑" panose="020B0503020204020204" pitchFamily="34" charset="-122"/>
                <a:ea typeface="微软雅黑" panose="020B0503020204020204" pitchFamily="34" charset="-122"/>
                <a:sym typeface="Arial" panose="020B0604020202020204" pitchFamily="34" charset="0"/>
              </a:rPr>
              <a:t>曲线为</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d, </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它同时也是短期和长期的平均</a:t>
            </a:r>
            <a:r>
              <a:rPr lang="zh-CN" altLang="en-US" b="0">
                <a:solidFill>
                  <a:schemeClr val="tx1"/>
                </a:solidFill>
                <a:latin typeface="微软雅黑" panose="020B0503020204020204" pitchFamily="34" charset="-122"/>
                <a:ea typeface="微软雅黑" panose="020B0503020204020204" pitchFamily="34" charset="-122"/>
                <a:sym typeface="Arial" panose="020B0604020202020204" pitchFamily="34" charset="0"/>
              </a:rPr>
              <a:t>收益曲线</a:t>
            </a:r>
            <a:r>
              <a:rPr lang="en-US" altLang="zh-CN" b="0">
                <a:solidFill>
                  <a:schemeClr val="tx1"/>
                </a:solidFill>
                <a:latin typeface="微软雅黑" panose="020B0503020204020204" pitchFamily="34" charset="-122"/>
                <a:ea typeface="微软雅黑" panose="020B0503020204020204" pitchFamily="34" charset="-122"/>
                <a:sym typeface="Arial" panose="020B0604020202020204" pitchFamily="34" charset="0"/>
              </a:rPr>
              <a:t>AR</a:t>
            </a:r>
            <a:r>
              <a:rPr lang="zh-CN" altLang="en-US" b="0">
                <a:solidFill>
                  <a:schemeClr val="tx1"/>
                </a:solidFill>
                <a:latin typeface="微软雅黑" panose="020B0503020204020204" pitchFamily="34" charset="-122"/>
                <a:ea typeface="微软雅黑" panose="020B0503020204020204" pitchFamily="34" charset="-122"/>
                <a:sym typeface="Arial" panose="020B0604020202020204" pitchFamily="34" charset="0"/>
              </a:rPr>
              <a:t>和</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LAR</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a:t>
            </a:r>
            <a:endParaRPr lang="zh-CN" altLang="en-US" b="0" dirty="0">
              <a:solidFill>
                <a:schemeClr val="tx1"/>
              </a:solidFill>
              <a:latin typeface="微软雅黑" panose="020B0503020204020204" pitchFamily="34" charset="-122"/>
              <a:ea typeface="微软雅黑" panose="020B0503020204020204" pitchFamily="34" charset="-122"/>
            </a:endParaRPr>
          </a:p>
        </p:txBody>
      </p:sp>
      <p:sp>
        <p:nvSpPr>
          <p:cNvPr id="19497" name="圆角矩形标注 38"/>
          <p:cNvSpPr>
            <a:spLocks noChangeArrowheads="1"/>
          </p:cNvSpPr>
          <p:nvPr/>
        </p:nvSpPr>
        <p:spPr bwMode="auto">
          <a:xfrm>
            <a:off x="6787130" y="5072063"/>
            <a:ext cx="2321185" cy="647700"/>
          </a:xfrm>
          <a:prstGeom prst="wedgeRoundRectCallout">
            <a:avLst>
              <a:gd name="adj1" fmla="val -68425"/>
              <a:gd name="adj2" fmla="val 36780"/>
              <a:gd name="adj3" fmla="val 16667"/>
            </a:avLst>
          </a:prstGeom>
          <a:solidFill>
            <a:schemeClr val="bg1"/>
          </a:solidFill>
          <a:ln>
            <a:solidFill>
              <a:srgbClr val="C00000"/>
            </a:solidFill>
          </a:ln>
        </p:spPr>
        <p:style>
          <a:lnRef idx="3">
            <a:schemeClr val="lt1"/>
          </a:lnRef>
          <a:fillRef idx="1">
            <a:schemeClr val="accent1"/>
          </a:fillRef>
          <a:effectRef idx="1">
            <a:schemeClr val="accent1"/>
          </a:effectRef>
          <a:fontRef idx="minor">
            <a:schemeClr val="lt1"/>
          </a:fontRef>
        </p:style>
        <p:txBody>
          <a:bodyPr>
            <a:spAutoFit/>
          </a:bodyPr>
          <a:lstStyle/>
          <a:p>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短期和长期边际收益曲线为</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MR=LMR</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a:t>
            </a:r>
            <a:endParaRPr lang="zh-CN" altLang="en-US" b="0" dirty="0">
              <a:solidFill>
                <a:schemeClr val="tx1"/>
              </a:solidFill>
              <a:latin typeface="微软雅黑" panose="020B0503020204020204" pitchFamily="34" charset="-122"/>
              <a:ea typeface="微软雅黑" panose="020B0503020204020204" pitchFamily="34" charset="-122"/>
            </a:endParaRPr>
          </a:p>
        </p:txBody>
      </p:sp>
      <p:sp>
        <p:nvSpPr>
          <p:cNvPr id="19498" name="圆角矩形标注 42"/>
          <p:cNvSpPr>
            <a:spLocks noChangeArrowheads="1"/>
          </p:cNvSpPr>
          <p:nvPr/>
        </p:nvSpPr>
        <p:spPr bwMode="auto">
          <a:xfrm>
            <a:off x="4521768" y="1782763"/>
            <a:ext cx="2143125" cy="647700"/>
          </a:xfrm>
          <a:prstGeom prst="wedgeRoundRectCallout">
            <a:avLst>
              <a:gd name="adj1" fmla="val 2156"/>
              <a:gd name="adj2" fmla="val 94612"/>
              <a:gd name="adj3" fmla="val 16667"/>
            </a:avLst>
          </a:prstGeom>
          <a:solidFill>
            <a:schemeClr val="bg1"/>
          </a:solidFill>
          <a:ln>
            <a:solidFill>
              <a:srgbClr val="C00000"/>
            </a:solidFill>
          </a:ln>
        </p:spPr>
        <p:style>
          <a:lnRef idx="3">
            <a:schemeClr val="lt1"/>
          </a:lnRef>
          <a:fillRef idx="1">
            <a:schemeClr val="accent1"/>
          </a:fillRef>
          <a:effectRef idx="1">
            <a:schemeClr val="accent1"/>
          </a:effectRef>
          <a:fontRef idx="minor">
            <a:schemeClr val="lt1"/>
          </a:fontRef>
        </p:style>
        <p:txBody>
          <a:bodyPr>
            <a:spAutoFit/>
          </a:bodyPr>
          <a:lstStyle/>
          <a:p>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长期成本和边际成本曲线</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LAC,LMC</a:t>
            </a:r>
            <a:endPar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46" name="矩形 45">
            <a:extLst>
              <a:ext uri="{FF2B5EF4-FFF2-40B4-BE49-F238E27FC236}">
                <a16:creationId xmlns:a16="http://schemas.microsoft.com/office/drawing/2014/main" id="{F68E5273-CD77-47B9-B841-9D29349C133D}"/>
              </a:ext>
            </a:extLst>
          </p:cNvPr>
          <p:cNvSpPr/>
          <p:nvPr/>
        </p:nvSpPr>
        <p:spPr>
          <a:xfrm>
            <a:off x="467544" y="548680"/>
            <a:ext cx="3781805"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spc="150" dirty="0">
                <a:solidFill>
                  <a:srgbClr val="FFFFFF"/>
                </a:solidFill>
                <a:latin typeface="微软雅黑" panose="020B0503020204020204" pitchFamily="34" charset="-122"/>
                <a:ea typeface="微软雅黑" panose="020B0503020204020204" pitchFamily="34" charset="-122"/>
              </a:rPr>
              <a:t>四</a:t>
            </a:r>
            <a:r>
              <a:rPr lang="zh-CN" altLang="en-US" sz="2400" b="1" spc="150" dirty="0">
                <a:solidFill>
                  <a:srgbClr val="FFFFFF"/>
                </a:solidFill>
                <a:latin typeface="微软雅黑" panose="020B0503020204020204" pitchFamily="34" charset="-122"/>
                <a:ea typeface="微软雅黑" panose="020B0503020204020204" pitchFamily="34" charset="-122"/>
              </a:rPr>
              <a:t>、</a:t>
            </a:r>
            <a:r>
              <a:rPr lang="zh-CN" altLang="en-US" sz="2400" spc="15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垄断企业的长期均衡</a:t>
            </a:r>
            <a:endParaRPr lang="zh-CN" altLang="en-US" sz="2400" b="1" spc="150" dirty="0">
              <a:solidFill>
                <a:srgbClr val="FFFFFF"/>
              </a:solidFill>
              <a:latin typeface="微软雅黑" panose="020B0503020204020204" pitchFamily="34" charset="-122"/>
              <a:ea typeface="微软雅黑" panose="020B0503020204020204" pitchFamily="34" charset="-122"/>
            </a:endParaRPr>
          </a:p>
        </p:txBody>
      </p:sp>
      <p:sp>
        <p:nvSpPr>
          <p:cNvPr id="48" name="矩形 47"/>
          <p:cNvSpPr/>
          <p:nvPr/>
        </p:nvSpPr>
        <p:spPr>
          <a:xfrm>
            <a:off x="7505410" y="35458"/>
            <a:ext cx="1638590" cy="369332"/>
          </a:xfrm>
          <a:prstGeom prst="rect">
            <a:avLst/>
          </a:prstGeom>
        </p:spPr>
        <p:txBody>
          <a:bodyPr wrap="none">
            <a:spAutoFit/>
          </a:bodyPr>
          <a:lstStyle/>
          <a:p>
            <a:pPr algn="dist"/>
            <a:r>
              <a:rPr lang="zh-CN" altLang="en-US" sz="1800" b="0" spc="30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第一节 垄断</a:t>
            </a:r>
            <a:endParaRPr lang="zh-CN" altLang="en-US" sz="1800" b="0" spc="300" dirty="0">
              <a:solidFill>
                <a:schemeClr val="tx2"/>
              </a:solidFill>
              <a:ea typeface="黑体" panose="02010609060101010101" pitchFamily="49" charset="-122"/>
              <a:sym typeface="Arial" panose="020B0604020202020204" pitchFamily="34"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9461"/>
                                        </p:tgtEl>
                                        <p:attrNameLst>
                                          <p:attrName>style.visibility</p:attrName>
                                        </p:attrNameLst>
                                      </p:cBhvr>
                                      <p:to>
                                        <p:strVal val="visible"/>
                                      </p:to>
                                    </p:set>
                                    <p:animEffect>
                                      <p:cBhvr>
                                        <p:cTn id="7" dur="500"/>
                                        <p:tgtEl>
                                          <p:spTgt spid="1946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9464"/>
                                        </p:tgtEl>
                                        <p:attrNameLst>
                                          <p:attrName>style.visibility</p:attrName>
                                        </p:attrNameLst>
                                      </p:cBhvr>
                                      <p:to>
                                        <p:strVal val="visible"/>
                                      </p:to>
                                    </p:set>
                                    <p:animEffect>
                                      <p:cBhvr>
                                        <p:cTn id="12" dur="500"/>
                                        <p:tgtEl>
                                          <p:spTgt spid="19464"/>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19462"/>
                                        </p:tgtEl>
                                        <p:attrNameLst>
                                          <p:attrName>style.visibility</p:attrName>
                                        </p:attrNameLst>
                                      </p:cBhvr>
                                      <p:to>
                                        <p:strVal val="visible"/>
                                      </p:to>
                                    </p:set>
                                    <p:animEffect>
                                      <p:cBhvr>
                                        <p:cTn id="15" dur="500"/>
                                        <p:tgtEl>
                                          <p:spTgt spid="19462"/>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19465"/>
                                        </p:tgtEl>
                                        <p:attrNameLst>
                                          <p:attrName>style.visibility</p:attrName>
                                        </p:attrNameLst>
                                      </p:cBhvr>
                                      <p:to>
                                        <p:strVal val="visible"/>
                                      </p:to>
                                    </p:set>
                                    <p:animEffect>
                                      <p:cBhvr>
                                        <p:cTn id="18" dur="500"/>
                                        <p:tgtEl>
                                          <p:spTgt spid="19465"/>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19463"/>
                                        </p:tgtEl>
                                        <p:attrNameLst>
                                          <p:attrName>style.visibility</p:attrName>
                                        </p:attrNameLst>
                                      </p:cBhvr>
                                      <p:to>
                                        <p:strVal val="visible"/>
                                      </p:to>
                                    </p:set>
                                    <p:animEffect>
                                      <p:cBhvr>
                                        <p:cTn id="21" dur="500"/>
                                        <p:tgtEl>
                                          <p:spTgt spid="19463"/>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19466"/>
                                        </p:tgtEl>
                                        <p:attrNameLst>
                                          <p:attrName>style.visibility</p:attrName>
                                        </p:attrNameLst>
                                      </p:cBhvr>
                                      <p:to>
                                        <p:strVal val="visible"/>
                                      </p:to>
                                    </p:set>
                                    <p:animEffect>
                                      <p:cBhvr>
                                        <p:cTn id="24" dur="500"/>
                                        <p:tgtEl>
                                          <p:spTgt spid="19466"/>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19472"/>
                                        </p:tgtEl>
                                        <p:attrNameLst>
                                          <p:attrName>style.visibility</p:attrName>
                                        </p:attrNameLst>
                                      </p:cBhvr>
                                      <p:to>
                                        <p:strVal val="visible"/>
                                      </p:to>
                                    </p:set>
                                    <p:animEffect>
                                      <p:cBhvr>
                                        <p:cTn id="29" dur="500"/>
                                        <p:tgtEl>
                                          <p:spTgt spid="19472"/>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19471"/>
                                        </p:tgtEl>
                                        <p:attrNameLst>
                                          <p:attrName>style.visibility</p:attrName>
                                        </p:attrNameLst>
                                      </p:cBhvr>
                                      <p:to>
                                        <p:strVal val="visible"/>
                                      </p:to>
                                    </p:set>
                                    <p:animEffect>
                                      <p:cBhvr>
                                        <p:cTn id="34" dur="500"/>
                                        <p:tgtEl>
                                          <p:spTgt spid="19471"/>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19473"/>
                                        </p:tgtEl>
                                        <p:attrNameLst>
                                          <p:attrName>style.visibility</p:attrName>
                                        </p:attrNameLst>
                                      </p:cBhvr>
                                      <p:to>
                                        <p:strVal val="visible"/>
                                      </p:to>
                                    </p:set>
                                    <p:animEffect>
                                      <p:cBhvr>
                                        <p:cTn id="39" dur="500"/>
                                        <p:tgtEl>
                                          <p:spTgt spid="19473"/>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19474"/>
                                        </p:tgtEl>
                                        <p:attrNameLst>
                                          <p:attrName>style.visibility</p:attrName>
                                        </p:attrNameLst>
                                      </p:cBhvr>
                                      <p:to>
                                        <p:strVal val="visible"/>
                                      </p:to>
                                    </p:set>
                                    <p:animEffect>
                                      <p:cBhvr>
                                        <p:cTn id="44" dur="500"/>
                                        <p:tgtEl>
                                          <p:spTgt spid="19474"/>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3" presetClass="entr" presetSubtype="10" fill="hold" grpId="0" nodeType="clickEffect">
                                  <p:stCondLst>
                                    <p:cond delay="0"/>
                                  </p:stCondLst>
                                  <p:childTnLst>
                                    <p:set>
                                      <p:cBhvr>
                                        <p:cTn id="48" dur="1" fill="hold">
                                          <p:stCondLst>
                                            <p:cond delay="0"/>
                                          </p:stCondLst>
                                        </p:cTn>
                                        <p:tgtEl>
                                          <p:spTgt spid="19498">
                                            <p:bg/>
                                          </p:spTgt>
                                        </p:tgtEl>
                                        <p:attrNameLst>
                                          <p:attrName>style.visibility</p:attrName>
                                        </p:attrNameLst>
                                      </p:cBhvr>
                                      <p:to>
                                        <p:strVal val="visible"/>
                                      </p:to>
                                    </p:set>
                                    <p:animEffect>
                                      <p:cBhvr>
                                        <p:cTn id="49" dur="500"/>
                                        <p:tgtEl>
                                          <p:spTgt spid="19498">
                                            <p:bg/>
                                          </p:spTgt>
                                        </p:tgtEl>
                                      </p:cBhvr>
                                    </p:animEffect>
                                  </p:childTnLst>
                                </p:cTn>
                              </p:par>
                              <p:par>
                                <p:cTn id="50" presetID="3" presetClass="entr" presetSubtype="10" fill="hold" grpId="0" nodeType="withEffect">
                                  <p:stCondLst>
                                    <p:cond delay="0"/>
                                  </p:stCondLst>
                                  <p:childTnLst>
                                    <p:set>
                                      <p:cBhvr>
                                        <p:cTn id="51" dur="1" fill="hold">
                                          <p:stCondLst>
                                            <p:cond delay="0"/>
                                          </p:stCondLst>
                                        </p:cTn>
                                        <p:tgtEl>
                                          <p:spTgt spid="19498">
                                            <p:txEl>
                                              <p:pRg st="0" end="0"/>
                                            </p:txEl>
                                          </p:spTgt>
                                        </p:tgtEl>
                                        <p:attrNameLst>
                                          <p:attrName>style.visibility</p:attrName>
                                        </p:attrNameLst>
                                      </p:cBhvr>
                                      <p:to>
                                        <p:strVal val="visible"/>
                                      </p:to>
                                    </p:set>
                                    <p:animEffect>
                                      <p:cBhvr>
                                        <p:cTn id="52" dur="500"/>
                                        <p:tgtEl>
                                          <p:spTgt spid="19498">
                                            <p:txEl>
                                              <p:pRg st="0" end="0"/>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6" presetClass="entr" presetSubtype="26" fill="hold" grpId="0" nodeType="clickEffect">
                                  <p:stCondLst>
                                    <p:cond delay="0"/>
                                  </p:stCondLst>
                                  <p:childTnLst>
                                    <p:set>
                                      <p:cBhvr>
                                        <p:cTn id="56" dur="1" fill="hold">
                                          <p:stCondLst>
                                            <p:cond delay="0"/>
                                          </p:stCondLst>
                                        </p:cTn>
                                        <p:tgtEl>
                                          <p:spTgt spid="19467"/>
                                        </p:tgtEl>
                                        <p:attrNameLst>
                                          <p:attrName>style.visibility</p:attrName>
                                        </p:attrNameLst>
                                      </p:cBhvr>
                                      <p:to>
                                        <p:strVal val="visible"/>
                                      </p:to>
                                    </p:set>
                                    <p:animEffect>
                                      <p:cBhvr>
                                        <p:cTn id="57" dur="500"/>
                                        <p:tgtEl>
                                          <p:spTgt spid="19467"/>
                                        </p:tgtEl>
                                      </p:cBhvr>
                                    </p:animEffect>
                                  </p:childTnLst>
                                </p:cTn>
                              </p:par>
                            </p:childTnLst>
                          </p:cTn>
                        </p:par>
                        <p:par>
                          <p:cTn id="58" fill="hold" nodeType="afterGroup">
                            <p:stCondLst>
                              <p:cond delay="500"/>
                            </p:stCondLst>
                            <p:childTnLst>
                              <p:par>
                                <p:cTn id="59" presetID="16" presetClass="entr" presetSubtype="26" fill="hold" grpId="0" nodeType="afterEffect">
                                  <p:stCondLst>
                                    <p:cond delay="0"/>
                                  </p:stCondLst>
                                  <p:childTnLst>
                                    <p:set>
                                      <p:cBhvr>
                                        <p:cTn id="60" dur="1" fill="hold">
                                          <p:stCondLst>
                                            <p:cond delay="0"/>
                                          </p:stCondLst>
                                        </p:cTn>
                                        <p:tgtEl>
                                          <p:spTgt spid="19468"/>
                                        </p:tgtEl>
                                        <p:attrNameLst>
                                          <p:attrName>style.visibility</p:attrName>
                                        </p:attrNameLst>
                                      </p:cBhvr>
                                      <p:to>
                                        <p:strVal val="visible"/>
                                      </p:to>
                                    </p:set>
                                    <p:animEffect>
                                      <p:cBhvr>
                                        <p:cTn id="61" dur="500"/>
                                        <p:tgtEl>
                                          <p:spTgt spid="19468"/>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3" presetClass="entr" presetSubtype="10" fill="hold" grpId="0" nodeType="clickEffect">
                                  <p:stCondLst>
                                    <p:cond delay="0"/>
                                  </p:stCondLst>
                                  <p:childTnLst>
                                    <p:set>
                                      <p:cBhvr>
                                        <p:cTn id="65" dur="1" fill="hold">
                                          <p:stCondLst>
                                            <p:cond delay="0"/>
                                          </p:stCondLst>
                                        </p:cTn>
                                        <p:tgtEl>
                                          <p:spTgt spid="19496"/>
                                        </p:tgtEl>
                                        <p:attrNameLst>
                                          <p:attrName>style.visibility</p:attrName>
                                        </p:attrNameLst>
                                      </p:cBhvr>
                                      <p:to>
                                        <p:strVal val="visible"/>
                                      </p:to>
                                    </p:set>
                                    <p:animEffect>
                                      <p:cBhvr>
                                        <p:cTn id="66" dur="500"/>
                                        <p:tgtEl>
                                          <p:spTgt spid="19496"/>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3" presetClass="entr" presetSubtype="10" fill="hold" grpId="0" nodeType="clickEffect">
                                  <p:stCondLst>
                                    <p:cond delay="0"/>
                                  </p:stCondLst>
                                  <p:childTnLst>
                                    <p:set>
                                      <p:cBhvr>
                                        <p:cTn id="70" dur="1" fill="hold">
                                          <p:stCondLst>
                                            <p:cond delay="0"/>
                                          </p:stCondLst>
                                        </p:cTn>
                                        <p:tgtEl>
                                          <p:spTgt spid="19469"/>
                                        </p:tgtEl>
                                        <p:attrNameLst>
                                          <p:attrName>style.visibility</p:attrName>
                                        </p:attrNameLst>
                                      </p:cBhvr>
                                      <p:to>
                                        <p:strVal val="visible"/>
                                      </p:to>
                                    </p:set>
                                    <p:animEffect>
                                      <p:cBhvr>
                                        <p:cTn id="71" dur="500"/>
                                        <p:tgtEl>
                                          <p:spTgt spid="19469"/>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3" presetClass="entr" presetSubtype="10" fill="hold" grpId="0" nodeType="clickEffect">
                                  <p:stCondLst>
                                    <p:cond delay="0"/>
                                  </p:stCondLst>
                                  <p:childTnLst>
                                    <p:set>
                                      <p:cBhvr>
                                        <p:cTn id="75" dur="1" fill="hold">
                                          <p:stCondLst>
                                            <p:cond delay="0"/>
                                          </p:stCondLst>
                                        </p:cTn>
                                        <p:tgtEl>
                                          <p:spTgt spid="19470"/>
                                        </p:tgtEl>
                                        <p:attrNameLst>
                                          <p:attrName>style.visibility</p:attrName>
                                        </p:attrNameLst>
                                      </p:cBhvr>
                                      <p:to>
                                        <p:strVal val="visible"/>
                                      </p:to>
                                    </p:set>
                                    <p:animEffect>
                                      <p:cBhvr>
                                        <p:cTn id="76" dur="500"/>
                                        <p:tgtEl>
                                          <p:spTgt spid="19470"/>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1" presetClass="entr" presetSubtype="0" fill="hold" grpId="0" nodeType="clickEffect">
                                  <p:stCondLst>
                                    <p:cond delay="0"/>
                                  </p:stCondLst>
                                  <p:childTnLst>
                                    <p:set>
                                      <p:cBhvr>
                                        <p:cTn id="80" dur="1" fill="hold">
                                          <p:stCondLst>
                                            <p:cond delay="499"/>
                                          </p:stCondLst>
                                        </p:cTn>
                                        <p:tgtEl>
                                          <p:spTgt spid="19497"/>
                                        </p:tgtEl>
                                        <p:attrNameLst>
                                          <p:attrName>style.visibility</p:attrName>
                                        </p:attrNameLst>
                                      </p:cBhvr>
                                      <p:to>
                                        <p:strVal val="visible"/>
                                      </p:to>
                                    </p:set>
                                  </p:childTnLst>
                                </p:cTn>
                              </p:par>
                            </p:childTnLst>
                          </p:cTn>
                        </p:par>
                      </p:childTnLst>
                    </p:cTn>
                  </p:par>
                  <p:par>
                    <p:cTn id="81" fill="hold" nodeType="clickPar">
                      <p:stCondLst>
                        <p:cond delay="indefinite"/>
                      </p:stCondLst>
                      <p:childTnLst>
                        <p:par>
                          <p:cTn id="82" fill="hold" nodeType="withGroup">
                            <p:stCondLst>
                              <p:cond delay="0"/>
                            </p:stCondLst>
                            <p:childTnLst>
                              <p:par>
                                <p:cTn id="83" presetID="1" presetClass="entr" presetSubtype="0" fill="hold" nodeType="clickEffect">
                                  <p:stCondLst>
                                    <p:cond delay="0"/>
                                  </p:stCondLst>
                                  <p:childTnLst>
                                    <p:set>
                                      <p:cBhvr>
                                        <p:cTn id="84" dur="1" fill="hold">
                                          <p:stCondLst>
                                            <p:cond delay="0"/>
                                          </p:stCondLst>
                                        </p:cTn>
                                        <p:tgtEl>
                                          <p:spTgt spid="19486">
                                            <p:txEl>
                                              <p:pRg st="0" end="0"/>
                                            </p:txEl>
                                          </p:spTgt>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3" presetClass="entr" presetSubtype="10" fill="hold" grpId="0" nodeType="clickEffect">
                                  <p:stCondLst>
                                    <p:cond delay="0"/>
                                  </p:stCondLst>
                                  <p:childTnLst>
                                    <p:set>
                                      <p:cBhvr>
                                        <p:cTn id="88" dur="1" fill="hold">
                                          <p:stCondLst>
                                            <p:cond delay="0"/>
                                          </p:stCondLst>
                                        </p:cTn>
                                        <p:tgtEl>
                                          <p:spTgt spid="19486"/>
                                        </p:tgtEl>
                                        <p:attrNameLst>
                                          <p:attrName>style.visibility</p:attrName>
                                        </p:attrNameLst>
                                      </p:cBhvr>
                                      <p:to>
                                        <p:strVal val="visible"/>
                                      </p:to>
                                    </p:set>
                                    <p:animEffect>
                                      <p:cBhvr>
                                        <p:cTn id="89" dur="500"/>
                                        <p:tgtEl>
                                          <p:spTgt spid="19486"/>
                                        </p:tgtEl>
                                      </p:cBhvr>
                                    </p:animEffect>
                                  </p:childTnLst>
                                </p:cTn>
                              </p:par>
                            </p:childTnLst>
                          </p:cTn>
                        </p:par>
                      </p:childTnLst>
                    </p:cTn>
                  </p:par>
                  <p:par>
                    <p:cTn id="90" fill="hold">
                      <p:stCondLst>
                        <p:cond delay="indefinite"/>
                      </p:stCondLst>
                      <p:childTnLst>
                        <p:par>
                          <p:cTn id="91" fill="hold">
                            <p:stCondLst>
                              <p:cond delay="0"/>
                            </p:stCondLst>
                            <p:childTnLst>
                              <p:par>
                                <p:cTn id="92" presetID="3" presetClass="entr" presetSubtype="10" fill="hold" grpId="0" nodeType="clickEffect">
                                  <p:stCondLst>
                                    <p:cond delay="0"/>
                                  </p:stCondLst>
                                  <p:childTnLst>
                                    <p:set>
                                      <p:cBhvr>
                                        <p:cTn id="93" dur="1" fill="hold">
                                          <p:stCondLst>
                                            <p:cond delay="0"/>
                                          </p:stCondLst>
                                        </p:cTn>
                                        <p:tgtEl>
                                          <p:spTgt spid="19475"/>
                                        </p:tgtEl>
                                        <p:attrNameLst>
                                          <p:attrName>style.visibility</p:attrName>
                                        </p:attrNameLst>
                                      </p:cBhvr>
                                      <p:to>
                                        <p:strVal val="visible"/>
                                      </p:to>
                                    </p:set>
                                    <p:animEffect>
                                      <p:cBhvr>
                                        <p:cTn id="94" dur="500"/>
                                        <p:tgtEl>
                                          <p:spTgt spid="19475"/>
                                        </p:tgtEl>
                                      </p:cBhvr>
                                    </p:animEffect>
                                  </p:childTnLst>
                                </p:cTn>
                              </p:par>
                            </p:childTnLst>
                          </p:cTn>
                        </p:par>
                      </p:childTnLst>
                    </p:cTn>
                  </p:par>
                  <p:par>
                    <p:cTn id="95" fill="hold">
                      <p:stCondLst>
                        <p:cond delay="indefinite"/>
                      </p:stCondLst>
                      <p:childTnLst>
                        <p:par>
                          <p:cTn id="96" fill="hold">
                            <p:stCondLst>
                              <p:cond delay="0"/>
                            </p:stCondLst>
                            <p:childTnLst>
                              <p:par>
                                <p:cTn id="97" presetID="3" presetClass="entr" presetSubtype="10" fill="hold" grpId="0" nodeType="clickEffect">
                                  <p:stCondLst>
                                    <p:cond delay="0"/>
                                  </p:stCondLst>
                                  <p:childTnLst>
                                    <p:set>
                                      <p:cBhvr>
                                        <p:cTn id="98" dur="1" fill="hold">
                                          <p:stCondLst>
                                            <p:cond delay="0"/>
                                          </p:stCondLst>
                                        </p:cTn>
                                        <p:tgtEl>
                                          <p:spTgt spid="19485"/>
                                        </p:tgtEl>
                                        <p:attrNameLst>
                                          <p:attrName>style.visibility</p:attrName>
                                        </p:attrNameLst>
                                      </p:cBhvr>
                                      <p:to>
                                        <p:strVal val="visible"/>
                                      </p:to>
                                    </p:set>
                                    <p:animEffect>
                                      <p:cBhvr>
                                        <p:cTn id="99" dur="500"/>
                                        <p:tgtEl>
                                          <p:spTgt spid="19485"/>
                                        </p:tgtEl>
                                      </p:cBhvr>
                                    </p:animEffect>
                                  </p:childTnLst>
                                </p:cTn>
                              </p:par>
                            </p:childTnLst>
                          </p:cTn>
                        </p:par>
                      </p:childTnLst>
                    </p:cTn>
                  </p:par>
                  <p:par>
                    <p:cTn id="100" fill="hold">
                      <p:stCondLst>
                        <p:cond delay="indefinite"/>
                      </p:stCondLst>
                      <p:childTnLst>
                        <p:par>
                          <p:cTn id="101" fill="hold">
                            <p:stCondLst>
                              <p:cond delay="0"/>
                            </p:stCondLst>
                            <p:childTnLst>
                              <p:par>
                                <p:cTn id="102" presetID="3" presetClass="entr" presetSubtype="10" fill="hold" grpId="0" nodeType="clickEffect">
                                  <p:stCondLst>
                                    <p:cond delay="0"/>
                                  </p:stCondLst>
                                  <p:childTnLst>
                                    <p:set>
                                      <p:cBhvr>
                                        <p:cTn id="103" dur="1" fill="hold">
                                          <p:stCondLst>
                                            <p:cond delay="0"/>
                                          </p:stCondLst>
                                        </p:cTn>
                                        <p:tgtEl>
                                          <p:spTgt spid="19476"/>
                                        </p:tgtEl>
                                        <p:attrNameLst>
                                          <p:attrName>style.visibility</p:attrName>
                                        </p:attrNameLst>
                                      </p:cBhvr>
                                      <p:to>
                                        <p:strVal val="visible"/>
                                      </p:to>
                                    </p:set>
                                    <p:animEffect>
                                      <p:cBhvr>
                                        <p:cTn id="104" dur="500"/>
                                        <p:tgtEl>
                                          <p:spTgt spid="19476"/>
                                        </p:tgtEl>
                                      </p:cBhvr>
                                    </p:animEffect>
                                  </p:childTnLst>
                                </p:cTn>
                              </p:par>
                            </p:childTnLst>
                          </p:cTn>
                        </p:par>
                      </p:childTnLst>
                    </p:cTn>
                  </p:par>
                  <p:par>
                    <p:cTn id="105" fill="hold">
                      <p:stCondLst>
                        <p:cond delay="indefinite"/>
                      </p:stCondLst>
                      <p:childTnLst>
                        <p:par>
                          <p:cTn id="106" fill="hold">
                            <p:stCondLst>
                              <p:cond delay="0"/>
                            </p:stCondLst>
                            <p:childTnLst>
                              <p:par>
                                <p:cTn id="107" presetID="3" presetClass="entr" presetSubtype="10" fill="hold" grpId="0" nodeType="clickEffect">
                                  <p:stCondLst>
                                    <p:cond delay="0"/>
                                  </p:stCondLst>
                                  <p:childTnLst>
                                    <p:set>
                                      <p:cBhvr>
                                        <p:cTn id="108" dur="1" fill="hold">
                                          <p:stCondLst>
                                            <p:cond delay="0"/>
                                          </p:stCondLst>
                                        </p:cTn>
                                        <p:tgtEl>
                                          <p:spTgt spid="19499"/>
                                        </p:tgtEl>
                                        <p:attrNameLst>
                                          <p:attrName>style.visibility</p:attrName>
                                        </p:attrNameLst>
                                      </p:cBhvr>
                                      <p:to>
                                        <p:strVal val="visible"/>
                                      </p:to>
                                    </p:set>
                                    <p:animEffect>
                                      <p:cBhvr>
                                        <p:cTn id="109" dur="500"/>
                                        <p:tgtEl>
                                          <p:spTgt spid="19499"/>
                                        </p:tgtEl>
                                      </p:cBhvr>
                                    </p:animEffect>
                                  </p:childTnLst>
                                </p:cTn>
                              </p:par>
                            </p:childTnLst>
                          </p:cTn>
                        </p:par>
                      </p:childTnLst>
                    </p:cTn>
                  </p:par>
                  <p:par>
                    <p:cTn id="110" fill="hold">
                      <p:stCondLst>
                        <p:cond delay="indefinite"/>
                      </p:stCondLst>
                      <p:childTnLst>
                        <p:par>
                          <p:cTn id="111" fill="hold">
                            <p:stCondLst>
                              <p:cond delay="0"/>
                            </p:stCondLst>
                            <p:childTnLst>
                              <p:par>
                                <p:cTn id="112" presetID="3" presetClass="entr" presetSubtype="10" fill="hold" grpId="0" nodeType="clickEffect">
                                  <p:stCondLst>
                                    <p:cond delay="0"/>
                                  </p:stCondLst>
                                  <p:childTnLst>
                                    <p:set>
                                      <p:cBhvr>
                                        <p:cTn id="113" dur="1" fill="hold">
                                          <p:stCondLst>
                                            <p:cond delay="0"/>
                                          </p:stCondLst>
                                        </p:cTn>
                                        <p:tgtEl>
                                          <p:spTgt spid="19477"/>
                                        </p:tgtEl>
                                        <p:attrNameLst>
                                          <p:attrName>style.visibility</p:attrName>
                                        </p:attrNameLst>
                                      </p:cBhvr>
                                      <p:to>
                                        <p:strVal val="visible"/>
                                      </p:to>
                                    </p:set>
                                    <p:animEffect>
                                      <p:cBhvr>
                                        <p:cTn id="114" dur="500"/>
                                        <p:tgtEl>
                                          <p:spTgt spid="19477"/>
                                        </p:tgtEl>
                                      </p:cBhvr>
                                    </p:animEffect>
                                  </p:childTnLst>
                                </p:cTn>
                              </p:par>
                              <p:par>
                                <p:cTn id="115" presetID="3" presetClass="entr" presetSubtype="10" fill="hold" grpId="0" nodeType="withEffect">
                                  <p:stCondLst>
                                    <p:cond delay="0"/>
                                  </p:stCondLst>
                                  <p:childTnLst>
                                    <p:set>
                                      <p:cBhvr>
                                        <p:cTn id="116" dur="1" fill="hold">
                                          <p:stCondLst>
                                            <p:cond delay="0"/>
                                          </p:stCondLst>
                                        </p:cTn>
                                        <p:tgtEl>
                                          <p:spTgt spid="19487"/>
                                        </p:tgtEl>
                                        <p:attrNameLst>
                                          <p:attrName>style.visibility</p:attrName>
                                        </p:attrNameLst>
                                      </p:cBhvr>
                                      <p:to>
                                        <p:strVal val="visible"/>
                                      </p:to>
                                    </p:set>
                                    <p:animEffect>
                                      <p:cBhvr>
                                        <p:cTn id="117" dur="500"/>
                                        <p:tgtEl>
                                          <p:spTgt spid="19487"/>
                                        </p:tgtEl>
                                      </p:cBhvr>
                                    </p:animEffect>
                                  </p:childTnLst>
                                </p:cTn>
                              </p:par>
                              <p:par>
                                <p:cTn id="118" presetID="3" presetClass="entr" presetSubtype="10" fill="hold" grpId="0" nodeType="withEffect">
                                  <p:stCondLst>
                                    <p:cond delay="0"/>
                                  </p:stCondLst>
                                  <p:childTnLst>
                                    <p:set>
                                      <p:cBhvr>
                                        <p:cTn id="119" dur="1" fill="hold">
                                          <p:stCondLst>
                                            <p:cond delay="0"/>
                                          </p:stCondLst>
                                        </p:cTn>
                                        <p:tgtEl>
                                          <p:spTgt spid="19488"/>
                                        </p:tgtEl>
                                        <p:attrNameLst>
                                          <p:attrName>style.visibility</p:attrName>
                                        </p:attrNameLst>
                                      </p:cBhvr>
                                      <p:to>
                                        <p:strVal val="visible"/>
                                      </p:to>
                                    </p:set>
                                    <p:animEffect>
                                      <p:cBhvr>
                                        <p:cTn id="120" dur="500"/>
                                        <p:tgtEl>
                                          <p:spTgt spid="19488"/>
                                        </p:tgtEl>
                                      </p:cBhvr>
                                    </p:animEffect>
                                  </p:childTnLst>
                                </p:cTn>
                              </p:par>
                              <p:par>
                                <p:cTn id="121" presetID="3" presetClass="entr" presetSubtype="10" fill="hold" grpId="0" nodeType="withEffect">
                                  <p:stCondLst>
                                    <p:cond delay="0"/>
                                  </p:stCondLst>
                                  <p:childTnLst>
                                    <p:set>
                                      <p:cBhvr>
                                        <p:cTn id="122" dur="1" fill="hold">
                                          <p:stCondLst>
                                            <p:cond delay="0"/>
                                          </p:stCondLst>
                                        </p:cTn>
                                        <p:tgtEl>
                                          <p:spTgt spid="19480"/>
                                        </p:tgtEl>
                                        <p:attrNameLst>
                                          <p:attrName>style.visibility</p:attrName>
                                        </p:attrNameLst>
                                      </p:cBhvr>
                                      <p:to>
                                        <p:strVal val="visible"/>
                                      </p:to>
                                    </p:set>
                                    <p:animEffect>
                                      <p:cBhvr>
                                        <p:cTn id="123" dur="500"/>
                                        <p:tgtEl>
                                          <p:spTgt spid="19480"/>
                                        </p:tgtEl>
                                      </p:cBhvr>
                                    </p:animEffect>
                                  </p:childTnLst>
                                </p:cTn>
                              </p:par>
                              <p:par>
                                <p:cTn id="124" presetID="3" presetClass="entr" presetSubtype="10" fill="hold" grpId="0" nodeType="withEffect">
                                  <p:stCondLst>
                                    <p:cond delay="0"/>
                                  </p:stCondLst>
                                  <p:childTnLst>
                                    <p:set>
                                      <p:cBhvr>
                                        <p:cTn id="125" dur="1" fill="hold">
                                          <p:stCondLst>
                                            <p:cond delay="0"/>
                                          </p:stCondLst>
                                        </p:cTn>
                                        <p:tgtEl>
                                          <p:spTgt spid="19489"/>
                                        </p:tgtEl>
                                        <p:attrNameLst>
                                          <p:attrName>style.visibility</p:attrName>
                                        </p:attrNameLst>
                                      </p:cBhvr>
                                      <p:to>
                                        <p:strVal val="visible"/>
                                      </p:to>
                                    </p:set>
                                    <p:animEffect>
                                      <p:cBhvr>
                                        <p:cTn id="126" dur="500"/>
                                        <p:tgtEl>
                                          <p:spTgt spid="19489"/>
                                        </p:tgtEl>
                                      </p:cBhvr>
                                    </p:animEffect>
                                  </p:childTnLst>
                                </p:cTn>
                              </p:par>
                              <p:par>
                                <p:cTn id="127" presetID="3" presetClass="entr" presetSubtype="10" fill="hold" grpId="0" nodeType="withEffect">
                                  <p:stCondLst>
                                    <p:cond delay="0"/>
                                  </p:stCondLst>
                                  <p:childTnLst>
                                    <p:set>
                                      <p:cBhvr>
                                        <p:cTn id="128" dur="1" fill="hold">
                                          <p:stCondLst>
                                            <p:cond delay="0"/>
                                          </p:stCondLst>
                                        </p:cTn>
                                        <p:tgtEl>
                                          <p:spTgt spid="19479"/>
                                        </p:tgtEl>
                                        <p:attrNameLst>
                                          <p:attrName>style.visibility</p:attrName>
                                        </p:attrNameLst>
                                      </p:cBhvr>
                                      <p:to>
                                        <p:strVal val="visible"/>
                                      </p:to>
                                    </p:set>
                                    <p:animEffect>
                                      <p:cBhvr>
                                        <p:cTn id="129" dur="500"/>
                                        <p:tgtEl>
                                          <p:spTgt spid="19479"/>
                                        </p:tgtEl>
                                      </p:cBhvr>
                                    </p:animEffect>
                                  </p:childTnLst>
                                </p:cTn>
                              </p:par>
                            </p:childTnLst>
                          </p:cTn>
                        </p:par>
                      </p:childTnLst>
                    </p:cTn>
                  </p:par>
                  <p:par>
                    <p:cTn id="130" fill="hold">
                      <p:stCondLst>
                        <p:cond delay="indefinite"/>
                      </p:stCondLst>
                      <p:childTnLst>
                        <p:par>
                          <p:cTn id="131" fill="hold">
                            <p:stCondLst>
                              <p:cond delay="0"/>
                            </p:stCondLst>
                            <p:childTnLst>
                              <p:par>
                                <p:cTn id="132" presetID="5" presetClass="entr" presetSubtype="10" fill="hold" grpId="0" nodeType="clickEffect">
                                  <p:stCondLst>
                                    <p:cond delay="0"/>
                                  </p:stCondLst>
                                  <p:childTnLst>
                                    <p:set>
                                      <p:cBhvr>
                                        <p:cTn id="133" dur="1" fill="hold">
                                          <p:stCondLst>
                                            <p:cond delay="0"/>
                                          </p:stCondLst>
                                        </p:cTn>
                                        <p:tgtEl>
                                          <p:spTgt spid="19460"/>
                                        </p:tgtEl>
                                        <p:attrNameLst>
                                          <p:attrName>style.visibility</p:attrName>
                                        </p:attrNameLst>
                                      </p:cBhvr>
                                      <p:to>
                                        <p:strVal val="visible"/>
                                      </p:to>
                                    </p:set>
                                    <p:animEffect>
                                      <p:cBhvr>
                                        <p:cTn id="134" dur="500"/>
                                        <p:tgtEl>
                                          <p:spTgt spid="19460"/>
                                        </p:tgtEl>
                                      </p:cBhvr>
                                    </p:animEffect>
                                  </p:childTnLst>
                                </p:cTn>
                              </p:par>
                            </p:childTnLst>
                          </p:cTn>
                        </p:par>
                      </p:childTnLst>
                    </p:cTn>
                  </p:par>
                  <p:par>
                    <p:cTn id="135" fill="hold">
                      <p:stCondLst>
                        <p:cond delay="indefinite"/>
                      </p:stCondLst>
                      <p:childTnLst>
                        <p:par>
                          <p:cTn id="136" fill="hold">
                            <p:stCondLst>
                              <p:cond delay="0"/>
                            </p:stCondLst>
                            <p:childTnLst>
                              <p:par>
                                <p:cTn id="137" presetID="4" presetClass="entr" presetSubtype="16" fill="hold" grpId="0" nodeType="clickEffect">
                                  <p:stCondLst>
                                    <p:cond delay="0"/>
                                  </p:stCondLst>
                                  <p:childTnLst>
                                    <p:set>
                                      <p:cBhvr>
                                        <p:cTn id="138" dur="1" fill="hold">
                                          <p:stCondLst>
                                            <p:cond delay="0"/>
                                          </p:stCondLst>
                                        </p:cTn>
                                        <p:tgtEl>
                                          <p:spTgt spid="19494"/>
                                        </p:tgtEl>
                                        <p:attrNameLst>
                                          <p:attrName>style.visibility</p:attrName>
                                        </p:attrNameLst>
                                      </p:cBhvr>
                                      <p:to>
                                        <p:strVal val="visible"/>
                                      </p:to>
                                    </p:set>
                                    <p:animEffect>
                                      <p:cBhvr>
                                        <p:cTn id="139" dur="500"/>
                                        <p:tgtEl>
                                          <p:spTgt spid="19494"/>
                                        </p:tgtEl>
                                      </p:cBhvr>
                                    </p:animEffect>
                                  </p:childTnLst>
                                </p:cTn>
                              </p:par>
                            </p:childTnLst>
                          </p:cTn>
                        </p:par>
                        <p:par>
                          <p:cTn id="140" fill="hold">
                            <p:stCondLst>
                              <p:cond delay="500"/>
                            </p:stCondLst>
                            <p:childTnLst>
                              <p:par>
                                <p:cTn id="141" presetID="4" presetClass="entr" presetSubtype="16" fill="hold" grpId="0" nodeType="afterEffect">
                                  <p:stCondLst>
                                    <p:cond delay="0"/>
                                  </p:stCondLst>
                                  <p:childTnLst>
                                    <p:set>
                                      <p:cBhvr>
                                        <p:cTn id="142" dur="1" fill="hold">
                                          <p:stCondLst>
                                            <p:cond delay="0"/>
                                          </p:stCondLst>
                                        </p:cTn>
                                        <p:tgtEl>
                                          <p:spTgt spid="19482"/>
                                        </p:tgtEl>
                                        <p:attrNameLst>
                                          <p:attrName>style.visibility</p:attrName>
                                        </p:attrNameLst>
                                      </p:cBhvr>
                                      <p:to>
                                        <p:strVal val="visible"/>
                                      </p:to>
                                    </p:set>
                                    <p:animEffect>
                                      <p:cBhvr>
                                        <p:cTn id="143" dur="500"/>
                                        <p:tgtEl>
                                          <p:spTgt spid="19482"/>
                                        </p:tgtEl>
                                      </p:cBhvr>
                                    </p:animEffect>
                                  </p:childTnLst>
                                </p:cTn>
                              </p:par>
                            </p:childTnLst>
                          </p:cTn>
                        </p:par>
                      </p:childTnLst>
                    </p:cTn>
                  </p:par>
                  <p:par>
                    <p:cTn id="144" fill="hold">
                      <p:stCondLst>
                        <p:cond delay="indefinite"/>
                      </p:stCondLst>
                      <p:childTnLst>
                        <p:par>
                          <p:cTn id="145" fill="hold">
                            <p:stCondLst>
                              <p:cond delay="0"/>
                            </p:stCondLst>
                            <p:childTnLst>
                              <p:par>
                                <p:cTn id="146" presetID="4" presetClass="entr" presetSubtype="16" fill="hold" grpId="0" nodeType="clickEffect">
                                  <p:stCondLst>
                                    <p:cond delay="0"/>
                                  </p:stCondLst>
                                  <p:childTnLst>
                                    <p:set>
                                      <p:cBhvr>
                                        <p:cTn id="147" dur="1" fill="hold">
                                          <p:stCondLst>
                                            <p:cond delay="0"/>
                                          </p:stCondLst>
                                        </p:cTn>
                                        <p:tgtEl>
                                          <p:spTgt spid="19493"/>
                                        </p:tgtEl>
                                        <p:attrNameLst>
                                          <p:attrName>style.visibility</p:attrName>
                                        </p:attrNameLst>
                                      </p:cBhvr>
                                      <p:to>
                                        <p:strVal val="visible"/>
                                      </p:to>
                                    </p:set>
                                    <p:animEffect>
                                      <p:cBhvr>
                                        <p:cTn id="148" dur="500"/>
                                        <p:tgtEl>
                                          <p:spTgt spid="19493"/>
                                        </p:tgtEl>
                                      </p:cBhvr>
                                    </p:animEffect>
                                  </p:childTnLst>
                                </p:cTn>
                              </p:par>
                            </p:childTnLst>
                          </p:cTn>
                        </p:par>
                        <p:par>
                          <p:cTn id="149" fill="hold">
                            <p:stCondLst>
                              <p:cond delay="500"/>
                            </p:stCondLst>
                            <p:childTnLst>
                              <p:par>
                                <p:cTn id="150" presetID="4" presetClass="entr" presetSubtype="16" fill="hold" grpId="0" nodeType="afterEffect">
                                  <p:stCondLst>
                                    <p:cond delay="0"/>
                                  </p:stCondLst>
                                  <p:childTnLst>
                                    <p:set>
                                      <p:cBhvr>
                                        <p:cTn id="151" dur="1" fill="hold">
                                          <p:stCondLst>
                                            <p:cond delay="0"/>
                                          </p:stCondLst>
                                        </p:cTn>
                                        <p:tgtEl>
                                          <p:spTgt spid="19483"/>
                                        </p:tgtEl>
                                        <p:attrNameLst>
                                          <p:attrName>style.visibility</p:attrName>
                                        </p:attrNameLst>
                                      </p:cBhvr>
                                      <p:to>
                                        <p:strVal val="visible"/>
                                      </p:to>
                                    </p:set>
                                    <p:animEffect>
                                      <p:cBhvr>
                                        <p:cTn id="152" dur="500"/>
                                        <p:tgtEl>
                                          <p:spTgt spid="19483"/>
                                        </p:tgtEl>
                                      </p:cBhvr>
                                    </p:animEffect>
                                  </p:childTnLst>
                                </p:cTn>
                              </p:par>
                            </p:childTnLst>
                          </p:cTn>
                        </p:par>
                      </p:childTnLst>
                    </p:cTn>
                  </p:par>
                  <p:par>
                    <p:cTn id="153" fill="hold">
                      <p:stCondLst>
                        <p:cond delay="indefinite"/>
                      </p:stCondLst>
                      <p:childTnLst>
                        <p:par>
                          <p:cTn id="154" fill="hold">
                            <p:stCondLst>
                              <p:cond delay="0"/>
                            </p:stCondLst>
                            <p:childTnLst>
                              <p:par>
                                <p:cTn id="155" presetID="3" presetClass="entr" presetSubtype="10" fill="hold" grpId="0" nodeType="clickEffect">
                                  <p:stCondLst>
                                    <p:cond delay="0"/>
                                  </p:stCondLst>
                                  <p:childTnLst>
                                    <p:set>
                                      <p:cBhvr>
                                        <p:cTn id="156" dur="1" fill="hold">
                                          <p:stCondLst>
                                            <p:cond delay="0"/>
                                          </p:stCondLst>
                                        </p:cTn>
                                        <p:tgtEl>
                                          <p:spTgt spid="19458"/>
                                        </p:tgtEl>
                                        <p:attrNameLst>
                                          <p:attrName>style.visibility</p:attrName>
                                        </p:attrNameLst>
                                      </p:cBhvr>
                                      <p:to>
                                        <p:strVal val="visible"/>
                                      </p:to>
                                    </p:set>
                                    <p:animEffect>
                                      <p:cBhvr>
                                        <p:cTn id="157" dur="500"/>
                                        <p:tgtEl>
                                          <p:spTgt spid="19458"/>
                                        </p:tgtEl>
                                      </p:cBhvr>
                                    </p:animEffect>
                                  </p:childTnLst>
                                </p:cTn>
                              </p:par>
                            </p:childTnLst>
                          </p:cTn>
                        </p:par>
                      </p:childTnLst>
                    </p:cTn>
                  </p:par>
                  <p:par>
                    <p:cTn id="158" fill="hold">
                      <p:stCondLst>
                        <p:cond delay="indefinite"/>
                      </p:stCondLst>
                      <p:childTnLst>
                        <p:par>
                          <p:cTn id="159" fill="hold">
                            <p:stCondLst>
                              <p:cond delay="0"/>
                            </p:stCondLst>
                            <p:childTnLst>
                              <p:par>
                                <p:cTn id="160" presetID="16" presetClass="entr" presetSubtype="26" fill="hold" grpId="0" nodeType="clickEffect">
                                  <p:stCondLst>
                                    <p:cond delay="0"/>
                                  </p:stCondLst>
                                  <p:childTnLst>
                                    <p:set>
                                      <p:cBhvr>
                                        <p:cTn id="161" dur="1" fill="hold">
                                          <p:stCondLst>
                                            <p:cond delay="0"/>
                                          </p:stCondLst>
                                        </p:cTn>
                                        <p:tgtEl>
                                          <p:spTgt spid="19481"/>
                                        </p:tgtEl>
                                        <p:attrNameLst>
                                          <p:attrName>style.visibility</p:attrName>
                                        </p:attrNameLst>
                                      </p:cBhvr>
                                      <p:to>
                                        <p:strVal val="visible"/>
                                      </p:to>
                                    </p:set>
                                    <p:animEffect>
                                      <p:cBhvr>
                                        <p:cTn id="162" dur="500"/>
                                        <p:tgtEl>
                                          <p:spTgt spid="19481"/>
                                        </p:tgtEl>
                                      </p:cBhvr>
                                    </p:animEffect>
                                  </p:childTnLst>
                                </p:cTn>
                              </p:par>
                            </p:childTnLst>
                          </p:cTn>
                        </p:par>
                        <p:par>
                          <p:cTn id="163" fill="hold">
                            <p:stCondLst>
                              <p:cond delay="500"/>
                            </p:stCondLst>
                            <p:childTnLst>
                              <p:par>
                                <p:cTn id="164" presetID="16" presetClass="entr" presetSubtype="26" fill="hold" grpId="0" nodeType="afterEffect">
                                  <p:stCondLst>
                                    <p:cond delay="0"/>
                                  </p:stCondLst>
                                  <p:childTnLst>
                                    <p:set>
                                      <p:cBhvr>
                                        <p:cTn id="165" dur="1" fill="hold">
                                          <p:stCondLst>
                                            <p:cond delay="0"/>
                                          </p:stCondLst>
                                        </p:cTn>
                                        <p:tgtEl>
                                          <p:spTgt spid="19490"/>
                                        </p:tgtEl>
                                        <p:attrNameLst>
                                          <p:attrName>style.visibility</p:attrName>
                                        </p:attrNameLst>
                                      </p:cBhvr>
                                      <p:to>
                                        <p:strVal val="visible"/>
                                      </p:to>
                                    </p:set>
                                    <p:animEffect>
                                      <p:cBhvr>
                                        <p:cTn id="166" dur="500"/>
                                        <p:tgtEl>
                                          <p:spTgt spid="19490"/>
                                        </p:tgtEl>
                                      </p:cBhvr>
                                    </p:animEffect>
                                  </p:childTnLst>
                                </p:cTn>
                              </p:par>
                            </p:childTnLst>
                          </p:cTn>
                        </p:par>
                        <p:par>
                          <p:cTn id="167" fill="hold">
                            <p:stCondLst>
                              <p:cond delay="1000"/>
                            </p:stCondLst>
                            <p:childTnLst>
                              <p:par>
                                <p:cTn id="168" presetID="16" presetClass="entr" presetSubtype="26" fill="hold" grpId="0" nodeType="afterEffect">
                                  <p:stCondLst>
                                    <p:cond delay="0"/>
                                  </p:stCondLst>
                                  <p:childTnLst>
                                    <p:set>
                                      <p:cBhvr>
                                        <p:cTn id="169" dur="1" fill="hold">
                                          <p:stCondLst>
                                            <p:cond delay="0"/>
                                          </p:stCondLst>
                                        </p:cTn>
                                        <p:tgtEl>
                                          <p:spTgt spid="19484"/>
                                        </p:tgtEl>
                                        <p:attrNameLst>
                                          <p:attrName>style.visibility</p:attrName>
                                        </p:attrNameLst>
                                      </p:cBhvr>
                                      <p:to>
                                        <p:strVal val="visible"/>
                                      </p:to>
                                    </p:set>
                                    <p:animEffect>
                                      <p:cBhvr>
                                        <p:cTn id="170" dur="500"/>
                                        <p:tgtEl>
                                          <p:spTgt spid="19484"/>
                                        </p:tgtEl>
                                      </p:cBhvr>
                                    </p:animEffect>
                                  </p:childTnLst>
                                </p:cTn>
                              </p:par>
                            </p:childTnLst>
                          </p:cTn>
                        </p:par>
                        <p:par>
                          <p:cTn id="171" fill="hold">
                            <p:stCondLst>
                              <p:cond delay="1500"/>
                            </p:stCondLst>
                            <p:childTnLst>
                              <p:par>
                                <p:cTn id="172" presetID="16" presetClass="entr" presetSubtype="26" fill="hold" grpId="0" nodeType="afterEffect">
                                  <p:stCondLst>
                                    <p:cond delay="0"/>
                                  </p:stCondLst>
                                  <p:childTnLst>
                                    <p:set>
                                      <p:cBhvr>
                                        <p:cTn id="173" dur="1" fill="hold">
                                          <p:stCondLst>
                                            <p:cond delay="0"/>
                                          </p:stCondLst>
                                        </p:cTn>
                                        <p:tgtEl>
                                          <p:spTgt spid="19478"/>
                                        </p:tgtEl>
                                        <p:attrNameLst>
                                          <p:attrName>style.visibility</p:attrName>
                                        </p:attrNameLst>
                                      </p:cBhvr>
                                      <p:to>
                                        <p:strVal val="visible"/>
                                      </p:to>
                                    </p:set>
                                    <p:animEffect>
                                      <p:cBhvr>
                                        <p:cTn id="174" dur="500"/>
                                        <p:tgtEl>
                                          <p:spTgt spid="19478"/>
                                        </p:tgtEl>
                                      </p:cBhvr>
                                    </p:animEffect>
                                  </p:childTnLst>
                                </p:cTn>
                              </p:par>
                            </p:childTnLst>
                          </p:cTn>
                        </p:par>
                      </p:childTnLst>
                    </p:cTn>
                  </p:par>
                  <p:par>
                    <p:cTn id="175" fill="hold">
                      <p:stCondLst>
                        <p:cond delay="indefinite"/>
                      </p:stCondLst>
                      <p:childTnLst>
                        <p:par>
                          <p:cTn id="176" fill="hold">
                            <p:stCondLst>
                              <p:cond delay="0"/>
                            </p:stCondLst>
                            <p:childTnLst>
                              <p:par>
                                <p:cTn id="177" presetID="3" presetClass="entr" presetSubtype="10" fill="hold" grpId="0" nodeType="clickEffect">
                                  <p:stCondLst>
                                    <p:cond delay="0"/>
                                  </p:stCondLst>
                                  <p:childTnLst>
                                    <p:set>
                                      <p:cBhvr>
                                        <p:cTn id="178" dur="1" fill="hold">
                                          <p:stCondLst>
                                            <p:cond delay="0"/>
                                          </p:stCondLst>
                                        </p:cTn>
                                        <p:tgtEl>
                                          <p:spTgt spid="19495"/>
                                        </p:tgtEl>
                                        <p:attrNameLst>
                                          <p:attrName>style.visibility</p:attrName>
                                        </p:attrNameLst>
                                      </p:cBhvr>
                                      <p:to>
                                        <p:strVal val="visible"/>
                                      </p:to>
                                    </p:set>
                                    <p:animEffect>
                                      <p:cBhvr>
                                        <p:cTn id="179" dur="500"/>
                                        <p:tgtEl>
                                          <p:spTgt spid="19495"/>
                                        </p:tgtEl>
                                      </p:cBhvr>
                                    </p:animEffect>
                                  </p:childTnLst>
                                </p:cTn>
                              </p:par>
                            </p:childTnLst>
                          </p:cTn>
                        </p:par>
                        <p:par>
                          <p:cTn id="180" fill="hold">
                            <p:stCondLst>
                              <p:cond delay="500"/>
                            </p:stCondLst>
                            <p:childTnLst>
                              <p:par>
                                <p:cTn id="181" presetID="16" presetClass="entr" presetSubtype="26" fill="hold" grpId="0" nodeType="afterEffect">
                                  <p:stCondLst>
                                    <p:cond delay="0"/>
                                  </p:stCondLst>
                                  <p:childTnLst>
                                    <p:set>
                                      <p:cBhvr>
                                        <p:cTn id="182" dur="1" fill="hold">
                                          <p:stCondLst>
                                            <p:cond delay="0"/>
                                          </p:stCondLst>
                                        </p:cTn>
                                        <p:tgtEl>
                                          <p:spTgt spid="19491"/>
                                        </p:tgtEl>
                                        <p:attrNameLst>
                                          <p:attrName>style.visibility</p:attrName>
                                        </p:attrNameLst>
                                      </p:cBhvr>
                                      <p:to>
                                        <p:strVal val="visible"/>
                                      </p:to>
                                    </p:set>
                                    <p:animEffect>
                                      <p:cBhvr>
                                        <p:cTn id="183" dur="500"/>
                                        <p:tgtEl>
                                          <p:spTgt spid="19491"/>
                                        </p:tgtEl>
                                      </p:cBhvr>
                                    </p:animEffect>
                                  </p:childTnLst>
                                </p:cTn>
                              </p:par>
                            </p:childTnLst>
                          </p:cTn>
                        </p:par>
                      </p:childTnLst>
                    </p:cTn>
                  </p:par>
                  <p:par>
                    <p:cTn id="184" fill="hold">
                      <p:stCondLst>
                        <p:cond delay="indefinite"/>
                      </p:stCondLst>
                      <p:childTnLst>
                        <p:par>
                          <p:cTn id="185" fill="hold">
                            <p:stCondLst>
                              <p:cond delay="0"/>
                            </p:stCondLst>
                            <p:childTnLst>
                              <p:par>
                                <p:cTn id="186" presetID="16" presetClass="entr" presetSubtype="26" fill="hold" grpId="0" nodeType="clickEffect">
                                  <p:stCondLst>
                                    <p:cond delay="0"/>
                                  </p:stCondLst>
                                  <p:childTnLst>
                                    <p:set>
                                      <p:cBhvr>
                                        <p:cTn id="187" dur="1" fill="hold">
                                          <p:stCondLst>
                                            <p:cond delay="0"/>
                                          </p:stCondLst>
                                        </p:cTn>
                                        <p:tgtEl>
                                          <p:spTgt spid="19459"/>
                                        </p:tgtEl>
                                        <p:attrNameLst>
                                          <p:attrName>style.visibility</p:attrName>
                                        </p:attrNameLst>
                                      </p:cBhvr>
                                      <p:to>
                                        <p:strVal val="visible"/>
                                      </p:to>
                                    </p:set>
                                    <p:animEffect>
                                      <p:cBhvr>
                                        <p:cTn id="188" dur="500"/>
                                        <p:tgtEl>
                                          <p:spTgt spid="194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99" grpId="0" bldLvl="0" animBg="1" autoUpdateAnimBg="0"/>
      <p:bldP spid="19458" grpId="0" bldLvl="0" animBg="1" autoUpdateAnimBg="0"/>
      <p:bldP spid="19459" grpId="0" bldLvl="0" animBg="1" autoUpdateAnimBg="0"/>
      <p:bldP spid="19460" grpId="0" bldLvl="0" animBg="1" autoUpdateAnimBg="0"/>
      <p:bldP spid="19461" grpId="0" bldLvl="0" autoUpdateAnimBg="0"/>
      <p:bldP spid="19462" grpId="0" bldLvl="0" animBg="1" autoUpdateAnimBg="0"/>
      <p:bldP spid="19463" grpId="0" bldLvl="0" animBg="1" autoUpdateAnimBg="0"/>
      <p:bldP spid="19464" grpId="0" bldLvl="0" autoUpdateAnimBg="0"/>
      <p:bldP spid="19465" grpId="0" bldLvl="0" autoUpdateAnimBg="0"/>
      <p:bldP spid="19466" grpId="0" bldLvl="0" autoUpdateAnimBg="0"/>
      <p:bldP spid="19467" grpId="0" bldLvl="0" animBg="1" autoUpdateAnimBg="0"/>
      <p:bldP spid="19468" grpId="0" bldLvl="0" autoUpdateAnimBg="0"/>
      <p:bldP spid="19469" grpId="0" bldLvl="0" animBg="1" autoUpdateAnimBg="0"/>
      <p:bldP spid="19470" grpId="0" bldLvl="0" autoUpdateAnimBg="0"/>
      <p:bldP spid="19471" grpId="0" bldLvl="0" animBg="1" autoUpdateAnimBg="0"/>
      <p:bldP spid="19472" grpId="0" bldLvl="0" autoUpdateAnimBg="0"/>
      <p:bldP spid="19473" grpId="0" bldLvl="0" animBg="1" autoUpdateAnimBg="0"/>
      <p:bldP spid="19474" grpId="0" bldLvl="0" autoUpdateAnimBg="0"/>
      <p:bldP spid="19475" grpId="0" bldLvl="0" animBg="1" autoUpdateAnimBg="0"/>
      <p:bldP spid="19476" grpId="0" bldLvl="0" animBg="1" autoUpdateAnimBg="0"/>
      <p:bldP spid="19477" grpId="0" bldLvl="0" animBg="1" autoUpdateAnimBg="0"/>
      <p:bldP spid="19478" grpId="0" bldLvl="0" animBg="1" autoUpdateAnimBg="0"/>
      <p:bldP spid="19479" grpId="0" bldLvl="0" animBg="1" autoUpdateAnimBg="0"/>
      <p:bldP spid="19480" grpId="0" bldLvl="0" animBg="1" autoUpdateAnimBg="0"/>
      <p:bldP spid="19481" grpId="0" bldLvl="0" animBg="1" autoUpdateAnimBg="0"/>
      <p:bldP spid="19482" grpId="0" bldLvl="0" animBg="1" autoUpdateAnimBg="0"/>
      <p:bldP spid="19483" grpId="0" bldLvl="0" animBg="1" autoUpdateAnimBg="0"/>
      <p:bldP spid="19484" grpId="0" bldLvl="0" animBg="1" autoUpdateAnimBg="0"/>
      <p:bldP spid="19485" grpId="0" bldLvl="0" autoUpdateAnimBg="0"/>
      <p:bldP spid="19486" grpId="0" bldLvl="0" autoUpdateAnimBg="0"/>
      <p:bldP spid="19487" grpId="0" bldLvl="0" autoUpdateAnimBg="0"/>
      <p:bldP spid="19488" grpId="0" bldLvl="0" autoUpdateAnimBg="0"/>
      <p:bldP spid="19489" grpId="0" bldLvl="0" autoUpdateAnimBg="0"/>
      <p:bldP spid="19490" grpId="0" bldLvl="0" autoUpdateAnimBg="0"/>
      <p:bldP spid="19491" grpId="0" bldLvl="0" autoUpdateAnimBg="0"/>
      <p:bldP spid="19493" grpId="0" bldLvl="0" autoUpdateAnimBg="0"/>
      <p:bldP spid="19494" grpId="0" bldLvl="0" autoUpdateAnimBg="0"/>
      <p:bldP spid="19495" grpId="0" bldLvl="0" autoUpdateAnimBg="0"/>
      <p:bldP spid="19496" grpId="0" bldLvl="0" animBg="1" autoUpdateAnimBg="0"/>
      <p:bldP spid="19497" grpId="0" bldLvl="0" animBg="1" autoUpdateAnimBg="0"/>
      <p:bldP spid="19498" grpId="0" build="allAtOnce" bldLvl="0" animBg="1"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3"/>
          <p:cNvSpPr>
            <a:spLocks noGrp="1" noChangeArrowheads="1"/>
          </p:cNvSpPr>
          <p:nvPr>
            <p:ph type="body" idx="4294967295"/>
          </p:nvPr>
        </p:nvSpPr>
        <p:spPr>
          <a:xfrm>
            <a:off x="467544" y="1268850"/>
            <a:ext cx="8229600" cy="5286375"/>
          </a:xfrm>
          <a:ln/>
        </p:spPr>
        <p:txBody>
          <a:bodyPr/>
          <a:lstStyle/>
          <a:p>
            <a:pPr marL="457200" lvl="2" indent="-457200" eaLnBrk="1" hangingPunct="1">
              <a:lnSpc>
                <a:spcPct val="300000"/>
              </a:lnSpc>
              <a:buSzPct val="100000"/>
              <a:buFont typeface="Wingdings" panose="05000000000000000000" pitchFamily="2" charset="2"/>
              <a:buChar char="u"/>
            </a:pPr>
            <a:r>
              <a:rPr lang="zh-CN" altLang="en-US" sz="2200" b="0" dirty="0">
                <a:latin typeface="微软雅黑" panose="020B0503020204020204" pitchFamily="34" charset="-122"/>
                <a:ea typeface="微软雅黑" panose="020B0503020204020204" pitchFamily="34" charset="-122"/>
              </a:rPr>
              <a:t>行业规模调整</a:t>
            </a:r>
            <a:endParaRPr lang="en-US" altLang="zh-CN" sz="2200" b="0" dirty="0">
              <a:latin typeface="微软雅黑" panose="020B0503020204020204" pitchFamily="34" charset="-122"/>
              <a:ea typeface="微软雅黑" panose="020B0503020204020204" pitchFamily="34" charset="-122"/>
            </a:endParaRPr>
          </a:p>
          <a:p>
            <a:pPr marL="742950" lvl="2" indent="-342900" eaLnBrk="1" hangingPunct="1">
              <a:lnSpc>
                <a:spcPct val="150000"/>
              </a:lnSpc>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rPr>
              <a:t>与完全竞争时的情况不同</a:t>
            </a:r>
            <a:r>
              <a:rPr lang="en-US" altLang="zh-CN" sz="2000" b="0" dirty="0">
                <a:latin typeface="微软雅黑" panose="020B0503020204020204" pitchFamily="34" charset="-122"/>
                <a:ea typeface="微软雅黑" panose="020B0503020204020204" pitchFamily="34" charset="-122"/>
              </a:rPr>
              <a:t>, </a:t>
            </a:r>
            <a:r>
              <a:rPr lang="zh-CN" altLang="en-US" sz="2000" b="0" dirty="0">
                <a:latin typeface="微软雅黑" panose="020B0503020204020204" pitchFamily="34" charset="-122"/>
                <a:ea typeface="微软雅黑" panose="020B0503020204020204" pitchFamily="34" charset="-122"/>
              </a:rPr>
              <a:t>在垄断条件下</a:t>
            </a:r>
            <a:r>
              <a:rPr lang="en-US" altLang="zh-CN" sz="2000" b="0" dirty="0">
                <a:latin typeface="微软雅黑" panose="020B0503020204020204" pitchFamily="34" charset="-122"/>
                <a:ea typeface="微软雅黑" panose="020B0503020204020204" pitchFamily="34" charset="-122"/>
              </a:rPr>
              <a:t>,</a:t>
            </a:r>
            <a:r>
              <a:rPr lang="zh-CN" altLang="en-US" sz="2000" b="0" dirty="0">
                <a:latin typeface="微软雅黑" panose="020B0503020204020204" pitchFamily="34" charset="-122"/>
                <a:ea typeface="微软雅黑" panose="020B0503020204020204" pitchFamily="34" charset="-122"/>
              </a:rPr>
              <a:t>行业规模调整是只有退出而没有进入。</a:t>
            </a:r>
            <a:endParaRPr lang="en-US" altLang="zh-CN" sz="2000" b="0" dirty="0">
              <a:latin typeface="微软雅黑" panose="020B0503020204020204" pitchFamily="34" charset="-122"/>
              <a:ea typeface="微软雅黑" panose="020B0503020204020204" pitchFamily="34" charset="-122"/>
            </a:endParaRPr>
          </a:p>
          <a:p>
            <a:pPr marL="742950" lvl="2" indent="-342900" eaLnBrk="1" hangingPunct="1">
              <a:lnSpc>
                <a:spcPct val="150000"/>
              </a:lnSpc>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rPr>
              <a:t>垄断企业在进行了所有的规模调整之后</a:t>
            </a:r>
            <a:r>
              <a:rPr lang="en-US" altLang="zh-CN" sz="2000" b="0" dirty="0">
                <a:latin typeface="微软雅黑" panose="020B0503020204020204" pitchFamily="34" charset="-122"/>
                <a:ea typeface="微软雅黑" panose="020B0503020204020204" pitchFamily="34" charset="-122"/>
              </a:rPr>
              <a:t>, </a:t>
            </a:r>
            <a:r>
              <a:rPr lang="zh-CN" altLang="en-US" sz="2000" b="0" dirty="0">
                <a:latin typeface="微软雅黑" panose="020B0503020204020204" pitchFamily="34" charset="-122"/>
                <a:ea typeface="微软雅黑" panose="020B0503020204020204" pitchFamily="34" charset="-122"/>
              </a:rPr>
              <a:t>如果仍无法避免亏损</a:t>
            </a:r>
            <a:r>
              <a:rPr lang="en-US" altLang="zh-CN" sz="2000" b="0" dirty="0">
                <a:latin typeface="微软雅黑" panose="020B0503020204020204" pitchFamily="34" charset="-122"/>
                <a:ea typeface="微软雅黑" panose="020B0503020204020204" pitchFamily="34" charset="-122"/>
              </a:rPr>
              <a:t>, </a:t>
            </a:r>
            <a:r>
              <a:rPr lang="zh-CN" altLang="en-US" sz="2000" b="0" dirty="0">
                <a:latin typeface="微软雅黑" panose="020B0503020204020204" pitchFamily="34" charset="-122"/>
                <a:ea typeface="微软雅黑" panose="020B0503020204020204" pitchFamily="34" charset="-122"/>
              </a:rPr>
              <a:t>则自然就会退出</a:t>
            </a:r>
            <a:r>
              <a:rPr lang="en-US" altLang="zh-CN" sz="2000" b="0" dirty="0">
                <a:latin typeface="微软雅黑" panose="020B0503020204020204" pitchFamily="34" charset="-122"/>
                <a:ea typeface="微软雅黑" panose="020B0503020204020204" pitchFamily="34" charset="-122"/>
              </a:rPr>
              <a:t>, </a:t>
            </a:r>
            <a:r>
              <a:rPr lang="zh-CN" altLang="en-US" sz="2000" b="0" dirty="0">
                <a:latin typeface="微软雅黑" panose="020B0503020204020204" pitchFamily="34" charset="-122"/>
                <a:ea typeface="微软雅黑" panose="020B0503020204020204" pitchFamily="34" charset="-122"/>
              </a:rPr>
              <a:t>但如果获得了带有垄断性质的经济利润</a:t>
            </a:r>
            <a:r>
              <a:rPr lang="en-US" altLang="zh-CN" sz="2000" b="0" dirty="0">
                <a:latin typeface="微软雅黑" panose="020B0503020204020204" pitchFamily="34" charset="-122"/>
                <a:ea typeface="微软雅黑" panose="020B0503020204020204" pitchFamily="34" charset="-122"/>
              </a:rPr>
              <a:t>, </a:t>
            </a:r>
            <a:r>
              <a:rPr lang="zh-CN" altLang="en-US" sz="2000" b="0" dirty="0">
                <a:latin typeface="微软雅黑" panose="020B0503020204020204" pitchFamily="34" charset="-122"/>
                <a:ea typeface="微软雅黑" panose="020B0503020204020204" pitchFamily="34" charset="-122"/>
              </a:rPr>
              <a:t>却不会引起进入。</a:t>
            </a:r>
            <a:endParaRPr lang="en-US" altLang="zh-CN" sz="2000" b="0" dirty="0">
              <a:latin typeface="微软雅黑" panose="020B0503020204020204" pitchFamily="34" charset="-122"/>
              <a:ea typeface="微软雅黑" panose="020B0503020204020204" pitchFamily="34" charset="-122"/>
            </a:endParaRPr>
          </a:p>
          <a:p>
            <a:pPr marL="742950" lvl="2" indent="-342900" eaLnBrk="1" hangingPunct="1">
              <a:lnSpc>
                <a:spcPct val="150000"/>
              </a:lnSpc>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rPr>
              <a:t>调整结果：不亏不盈或盈利</a:t>
            </a:r>
            <a:endParaRPr lang="en-US" altLang="zh-CN" sz="2000" b="0" dirty="0">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F68E5273-CD77-47B9-B841-9D29349C133D}"/>
              </a:ext>
            </a:extLst>
          </p:cNvPr>
          <p:cNvSpPr/>
          <p:nvPr/>
        </p:nvSpPr>
        <p:spPr>
          <a:xfrm>
            <a:off x="467544" y="548680"/>
            <a:ext cx="3781805"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spc="150" dirty="0">
                <a:solidFill>
                  <a:srgbClr val="FFFFFF"/>
                </a:solidFill>
                <a:latin typeface="微软雅黑" panose="020B0503020204020204" pitchFamily="34" charset="-122"/>
                <a:ea typeface="微软雅黑" panose="020B0503020204020204" pitchFamily="34" charset="-122"/>
              </a:rPr>
              <a:t>四</a:t>
            </a:r>
            <a:r>
              <a:rPr lang="zh-CN" altLang="en-US" sz="2400" b="1" spc="150" dirty="0">
                <a:solidFill>
                  <a:srgbClr val="FFFFFF"/>
                </a:solidFill>
                <a:latin typeface="微软雅黑" panose="020B0503020204020204" pitchFamily="34" charset="-122"/>
                <a:ea typeface="微软雅黑" panose="020B0503020204020204" pitchFamily="34" charset="-122"/>
              </a:rPr>
              <a:t>、</a:t>
            </a:r>
            <a:r>
              <a:rPr lang="zh-CN" altLang="en-US" sz="2400" spc="15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垄断企业的长期均衡</a:t>
            </a:r>
            <a:endParaRPr lang="zh-CN" altLang="en-US" sz="2400" b="1" spc="150" dirty="0">
              <a:solidFill>
                <a:srgbClr val="FFFFFF"/>
              </a:solidFill>
              <a:latin typeface="微软雅黑" panose="020B0503020204020204" pitchFamily="34" charset="-122"/>
              <a:ea typeface="微软雅黑" panose="020B0503020204020204" pitchFamily="34" charset="-122"/>
            </a:endParaRPr>
          </a:p>
        </p:txBody>
      </p:sp>
      <p:sp>
        <p:nvSpPr>
          <p:cNvPr id="7" name="矩形 6"/>
          <p:cNvSpPr/>
          <p:nvPr/>
        </p:nvSpPr>
        <p:spPr>
          <a:xfrm>
            <a:off x="7505410" y="35458"/>
            <a:ext cx="1638590" cy="369332"/>
          </a:xfrm>
          <a:prstGeom prst="rect">
            <a:avLst/>
          </a:prstGeom>
        </p:spPr>
        <p:txBody>
          <a:bodyPr wrap="none">
            <a:spAutoFit/>
          </a:bodyPr>
          <a:lstStyle/>
          <a:p>
            <a:pPr algn="dist"/>
            <a:r>
              <a:rPr lang="zh-CN" altLang="en-US" sz="1800" b="0" spc="30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第一节 垄断</a:t>
            </a:r>
            <a:endParaRPr lang="zh-CN" altLang="en-US" sz="1800" b="0" spc="300" dirty="0">
              <a:solidFill>
                <a:schemeClr val="tx2"/>
              </a:solidFill>
              <a:ea typeface="黑体" panose="02010609060101010101" pitchFamily="49" charset="-122"/>
              <a:sym typeface="Arial" panose="020B0604020202020204" pitchFamily="34"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0482">
                                            <p:txEl>
                                              <p:pRg st="0" end="0"/>
                                            </p:txEl>
                                          </p:spTgt>
                                        </p:tgtEl>
                                        <p:attrNameLst>
                                          <p:attrName>style.visibility</p:attrName>
                                        </p:attrNameLst>
                                      </p:cBhvr>
                                      <p:to>
                                        <p:strVal val="visible"/>
                                      </p:to>
                                    </p:set>
                                    <p:animEffect>
                                      <p:cBhvr>
                                        <p:cTn id="7" dur="500"/>
                                        <p:tgtEl>
                                          <p:spTgt spid="2048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0482">
                                            <p:txEl>
                                              <p:pRg st="1" end="1"/>
                                            </p:txEl>
                                          </p:spTgt>
                                        </p:tgtEl>
                                        <p:attrNameLst>
                                          <p:attrName>style.visibility</p:attrName>
                                        </p:attrNameLst>
                                      </p:cBhvr>
                                      <p:to>
                                        <p:strVal val="visible"/>
                                      </p:to>
                                    </p:set>
                                    <p:animEffect>
                                      <p:cBhvr>
                                        <p:cTn id="12" dur="500"/>
                                        <p:tgtEl>
                                          <p:spTgt spid="20482">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0482">
                                            <p:txEl>
                                              <p:pRg st="2" end="2"/>
                                            </p:txEl>
                                          </p:spTgt>
                                        </p:tgtEl>
                                        <p:attrNameLst>
                                          <p:attrName>style.visibility</p:attrName>
                                        </p:attrNameLst>
                                      </p:cBhvr>
                                      <p:to>
                                        <p:strVal val="visible"/>
                                      </p:to>
                                    </p:set>
                                    <p:animEffect>
                                      <p:cBhvr>
                                        <p:cTn id="17" dur="500"/>
                                        <p:tgtEl>
                                          <p:spTgt spid="20482">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0482">
                                            <p:txEl>
                                              <p:pRg st="3" end="3"/>
                                            </p:txEl>
                                          </p:spTgt>
                                        </p:tgtEl>
                                        <p:attrNameLst>
                                          <p:attrName>style.visibility</p:attrName>
                                        </p:attrNameLst>
                                      </p:cBhvr>
                                      <p:to>
                                        <p:strVal val="visible"/>
                                      </p:to>
                                    </p:set>
                                    <p:animEffect>
                                      <p:cBhvr>
                                        <p:cTn id="22" dur="500"/>
                                        <p:tgtEl>
                                          <p:spTgt spid="2048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p:cNvSpPr>
            <a:spLocks noGrp="1" noChangeArrowheads="1"/>
          </p:cNvSpPr>
          <p:nvPr>
            <p:ph type="body" idx="4294967295"/>
          </p:nvPr>
        </p:nvSpPr>
        <p:spPr>
          <a:xfrm>
            <a:off x="914400" y="1340855"/>
            <a:ext cx="8229600" cy="4930905"/>
          </a:xfrm>
          <a:ln/>
        </p:spPr>
        <p:txBody>
          <a:bodyPr/>
          <a:lstStyle/>
          <a:p>
            <a:pPr marL="457200" lvl="2" indent="-457200" eaLnBrk="1" hangingPunct="1">
              <a:buSzPct val="100000"/>
              <a:buFont typeface="Wingdings" panose="05000000000000000000" pitchFamily="2" charset="2"/>
              <a:buChar char="u"/>
            </a:pPr>
            <a:r>
              <a:rPr lang="zh-CN" altLang="en-US" sz="2200" b="0" dirty="0">
                <a:latin typeface="微软雅黑" panose="020B0503020204020204" pitchFamily="34" charset="-122"/>
                <a:ea typeface="微软雅黑" panose="020B0503020204020204" pitchFamily="34" charset="-122"/>
              </a:rPr>
              <a:t>价格歧视的含义</a:t>
            </a:r>
            <a:endParaRPr lang="en-US" altLang="zh-CN" sz="2200" b="0" dirty="0">
              <a:latin typeface="微软雅黑" panose="020B0503020204020204" pitchFamily="34" charset="-122"/>
              <a:ea typeface="微软雅黑" panose="020B0503020204020204" pitchFamily="34" charset="-122"/>
            </a:endParaRPr>
          </a:p>
          <a:p>
            <a:pPr marL="742950" lvl="2" indent="-342900" eaLnBrk="1" hangingPunct="1">
              <a:lnSpc>
                <a:spcPct val="150000"/>
              </a:lnSpc>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rPr>
              <a:t>将相同成本的一种产品以不同的价格来出售。</a:t>
            </a:r>
          </a:p>
          <a:p>
            <a:pPr marL="457200" lvl="2" indent="-457200" eaLnBrk="1" hangingPunct="1">
              <a:buSzPct val="100000"/>
              <a:buFont typeface="Wingdings" panose="05000000000000000000" pitchFamily="2" charset="2"/>
              <a:buChar char="u"/>
            </a:pPr>
            <a:r>
              <a:rPr lang="zh-CN" altLang="en-US" sz="2200" b="0" dirty="0">
                <a:latin typeface="微软雅黑" panose="020B0503020204020204" pitchFamily="34" charset="-122"/>
                <a:ea typeface="微软雅黑" panose="020B0503020204020204" pitchFamily="34" charset="-122"/>
              </a:rPr>
              <a:t>价格歧视的条件</a:t>
            </a:r>
            <a:endParaRPr lang="en-US" altLang="zh-CN" sz="2200" b="0" dirty="0">
              <a:latin typeface="微软雅黑" panose="020B0503020204020204" pitchFamily="34" charset="-122"/>
              <a:ea typeface="微软雅黑" panose="020B0503020204020204" pitchFamily="34" charset="-122"/>
            </a:endParaRPr>
          </a:p>
          <a:p>
            <a:pPr marL="742950" lvl="2" indent="-342900" eaLnBrk="1" hangingPunct="1">
              <a:lnSpc>
                <a:spcPct val="150000"/>
              </a:lnSpc>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rPr>
              <a:t>第一，生产者之间不存在产品的竞争。</a:t>
            </a:r>
          </a:p>
          <a:p>
            <a:pPr marL="742950" lvl="2" indent="-342900" eaLnBrk="1" hangingPunct="1">
              <a:lnSpc>
                <a:spcPct val="150000"/>
              </a:lnSpc>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rPr>
              <a:t>第二，消费者之间不存在产品的转售。</a:t>
            </a:r>
            <a:endParaRPr lang="en-US" altLang="zh-CN" sz="2000" b="0" dirty="0">
              <a:latin typeface="微软雅黑" panose="020B0503020204020204" pitchFamily="34" charset="-122"/>
              <a:ea typeface="微软雅黑" panose="020B0503020204020204" pitchFamily="34" charset="-122"/>
            </a:endParaRPr>
          </a:p>
          <a:p>
            <a:pPr marL="457200" lvl="2" indent="-457200" eaLnBrk="1" hangingPunct="1">
              <a:buSzPct val="100000"/>
              <a:buFont typeface="Wingdings" panose="05000000000000000000" pitchFamily="2" charset="2"/>
              <a:buChar char="u"/>
            </a:pPr>
            <a:r>
              <a:rPr lang="zh-CN" altLang="en-US" sz="2200" b="0" dirty="0">
                <a:latin typeface="微软雅黑" panose="020B0503020204020204" pitchFamily="34" charset="-122"/>
                <a:ea typeface="微软雅黑" panose="020B0503020204020204" pitchFamily="34" charset="-122"/>
              </a:rPr>
              <a:t>价格歧视的分类</a:t>
            </a:r>
            <a:endParaRPr lang="en-US" altLang="zh-CN" sz="2200" b="0" dirty="0">
              <a:latin typeface="微软雅黑" panose="020B0503020204020204" pitchFamily="34" charset="-122"/>
              <a:ea typeface="微软雅黑" panose="020B0503020204020204" pitchFamily="34" charset="-122"/>
            </a:endParaRPr>
          </a:p>
          <a:p>
            <a:pPr marL="742950" lvl="2" indent="-342900" eaLnBrk="1" hangingPunct="1">
              <a:lnSpc>
                <a:spcPct val="150000"/>
              </a:lnSpc>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rPr>
              <a:t>一级价格歧视</a:t>
            </a:r>
            <a:endParaRPr lang="en-US" altLang="zh-CN" sz="2000" b="0" dirty="0">
              <a:latin typeface="微软雅黑" panose="020B0503020204020204" pitchFamily="34" charset="-122"/>
              <a:ea typeface="微软雅黑" panose="020B0503020204020204" pitchFamily="34" charset="-122"/>
            </a:endParaRPr>
          </a:p>
          <a:p>
            <a:pPr marL="742950" lvl="2" indent="-342900" eaLnBrk="1" hangingPunct="1">
              <a:lnSpc>
                <a:spcPct val="150000"/>
              </a:lnSpc>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rPr>
              <a:t>二级价格歧视</a:t>
            </a:r>
            <a:endParaRPr lang="en-US" altLang="zh-CN" sz="2000" b="0" dirty="0">
              <a:latin typeface="微软雅黑" panose="020B0503020204020204" pitchFamily="34" charset="-122"/>
              <a:ea typeface="微软雅黑" panose="020B0503020204020204" pitchFamily="34" charset="-122"/>
            </a:endParaRPr>
          </a:p>
          <a:p>
            <a:pPr marL="742950" lvl="2" indent="-342900" eaLnBrk="1" hangingPunct="1">
              <a:lnSpc>
                <a:spcPct val="150000"/>
              </a:lnSpc>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rPr>
              <a:t>三级价格歧视</a:t>
            </a:r>
            <a:endParaRPr lang="en-US" altLang="zh-CN" sz="2000" b="0" dirty="0">
              <a:latin typeface="微软雅黑" panose="020B0503020204020204" pitchFamily="34" charset="-122"/>
              <a:ea typeface="微软雅黑" panose="020B0503020204020204" pitchFamily="34" charset="-122"/>
            </a:endParaRPr>
          </a:p>
          <a:p>
            <a:pPr lvl="3" eaLnBrk="1" hangingPunct="1">
              <a:buFontTx/>
              <a:buNone/>
            </a:pPr>
            <a:endParaRPr lang="zh-CN" altLang="en-US" b="0" dirty="0"/>
          </a:p>
          <a:p>
            <a:pPr lvl="3" eaLnBrk="1" hangingPunct="1"/>
            <a:endParaRPr lang="zh-CN" altLang="en-US" b="0" dirty="0"/>
          </a:p>
        </p:txBody>
      </p:sp>
      <p:sp>
        <p:nvSpPr>
          <p:cNvPr id="5" name="矩形 4">
            <a:extLst>
              <a:ext uri="{FF2B5EF4-FFF2-40B4-BE49-F238E27FC236}">
                <a16:creationId xmlns:a16="http://schemas.microsoft.com/office/drawing/2014/main" id="{F68E5273-CD77-47B9-B841-9D29349C133D}"/>
              </a:ext>
            </a:extLst>
          </p:cNvPr>
          <p:cNvSpPr/>
          <p:nvPr/>
        </p:nvSpPr>
        <p:spPr>
          <a:xfrm>
            <a:off x="467544" y="548680"/>
            <a:ext cx="2146742"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spc="150" dirty="0">
                <a:solidFill>
                  <a:srgbClr val="FFFFFF"/>
                </a:solidFill>
                <a:latin typeface="微软雅黑" panose="020B0503020204020204" pitchFamily="34" charset="-122"/>
                <a:ea typeface="微软雅黑" panose="020B0503020204020204" pitchFamily="34" charset="-122"/>
              </a:rPr>
              <a:t>五</a:t>
            </a:r>
            <a:r>
              <a:rPr lang="zh-CN" altLang="en-US" sz="2400" b="1" spc="150" dirty="0">
                <a:solidFill>
                  <a:srgbClr val="FFFFFF"/>
                </a:solidFill>
                <a:latin typeface="微软雅黑" panose="020B0503020204020204" pitchFamily="34" charset="-122"/>
                <a:ea typeface="微软雅黑" panose="020B0503020204020204" pitchFamily="34" charset="-122"/>
              </a:rPr>
              <a:t>、</a:t>
            </a:r>
            <a:r>
              <a:rPr lang="zh-CN" altLang="en-US" sz="2400" spc="15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价格歧视</a:t>
            </a:r>
            <a:endParaRPr lang="zh-CN" altLang="en-US" sz="2400" b="1" spc="150" dirty="0">
              <a:solidFill>
                <a:srgbClr val="FFFFFF"/>
              </a:solidFill>
              <a:latin typeface="微软雅黑" panose="020B0503020204020204" pitchFamily="34" charset="-122"/>
              <a:ea typeface="微软雅黑" panose="020B0503020204020204" pitchFamily="34" charset="-122"/>
            </a:endParaRPr>
          </a:p>
        </p:txBody>
      </p:sp>
      <p:sp>
        <p:nvSpPr>
          <p:cNvPr id="7" name="矩形 6"/>
          <p:cNvSpPr/>
          <p:nvPr/>
        </p:nvSpPr>
        <p:spPr>
          <a:xfrm>
            <a:off x="7505410" y="35458"/>
            <a:ext cx="1638590" cy="369332"/>
          </a:xfrm>
          <a:prstGeom prst="rect">
            <a:avLst/>
          </a:prstGeom>
        </p:spPr>
        <p:txBody>
          <a:bodyPr wrap="none">
            <a:spAutoFit/>
          </a:bodyPr>
          <a:lstStyle/>
          <a:p>
            <a:pPr algn="dist"/>
            <a:r>
              <a:rPr lang="zh-CN" altLang="en-US" sz="1800" b="0" spc="30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第一节 垄断</a:t>
            </a:r>
            <a:endParaRPr lang="zh-CN" altLang="en-US" sz="1800" b="0" spc="300" dirty="0">
              <a:solidFill>
                <a:schemeClr val="tx2"/>
              </a:solidFill>
              <a:ea typeface="黑体" panose="02010609060101010101" pitchFamily="49" charset="-122"/>
              <a:sym typeface="Arial" panose="020B0604020202020204" pitchFamily="34"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1506">
                                            <p:txEl>
                                              <p:pRg st="0" end="0"/>
                                            </p:txEl>
                                          </p:spTgt>
                                        </p:tgtEl>
                                        <p:attrNameLst>
                                          <p:attrName>style.visibility</p:attrName>
                                        </p:attrNameLst>
                                      </p:cBhvr>
                                      <p:to>
                                        <p:strVal val="visible"/>
                                      </p:to>
                                    </p:set>
                                    <p:animEffect>
                                      <p:cBhvr>
                                        <p:cTn id="7" dur="500"/>
                                        <p:tgtEl>
                                          <p:spTgt spid="2150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1506">
                                            <p:txEl>
                                              <p:pRg st="1" end="1"/>
                                            </p:txEl>
                                          </p:spTgt>
                                        </p:tgtEl>
                                        <p:attrNameLst>
                                          <p:attrName>style.visibility</p:attrName>
                                        </p:attrNameLst>
                                      </p:cBhvr>
                                      <p:to>
                                        <p:strVal val="visible"/>
                                      </p:to>
                                    </p:set>
                                    <p:animEffect>
                                      <p:cBhvr>
                                        <p:cTn id="12" dur="500"/>
                                        <p:tgtEl>
                                          <p:spTgt spid="21506">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1506">
                                            <p:txEl>
                                              <p:pRg st="2" end="2"/>
                                            </p:txEl>
                                          </p:spTgt>
                                        </p:tgtEl>
                                        <p:attrNameLst>
                                          <p:attrName>style.visibility</p:attrName>
                                        </p:attrNameLst>
                                      </p:cBhvr>
                                      <p:to>
                                        <p:strVal val="visible"/>
                                      </p:to>
                                    </p:set>
                                    <p:animEffect>
                                      <p:cBhvr>
                                        <p:cTn id="17" dur="500"/>
                                        <p:tgtEl>
                                          <p:spTgt spid="21506">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1506">
                                            <p:txEl>
                                              <p:pRg st="3" end="3"/>
                                            </p:txEl>
                                          </p:spTgt>
                                        </p:tgtEl>
                                        <p:attrNameLst>
                                          <p:attrName>style.visibility</p:attrName>
                                        </p:attrNameLst>
                                      </p:cBhvr>
                                      <p:to>
                                        <p:strVal val="visible"/>
                                      </p:to>
                                    </p:set>
                                    <p:animEffect>
                                      <p:cBhvr>
                                        <p:cTn id="22" dur="500"/>
                                        <p:tgtEl>
                                          <p:spTgt spid="21506">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21506">
                                            <p:txEl>
                                              <p:pRg st="4" end="4"/>
                                            </p:txEl>
                                          </p:spTgt>
                                        </p:tgtEl>
                                        <p:attrNameLst>
                                          <p:attrName>style.visibility</p:attrName>
                                        </p:attrNameLst>
                                      </p:cBhvr>
                                      <p:to>
                                        <p:strVal val="visible"/>
                                      </p:to>
                                    </p:set>
                                    <p:animEffect>
                                      <p:cBhvr>
                                        <p:cTn id="27" dur="500"/>
                                        <p:tgtEl>
                                          <p:spTgt spid="21506">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21506">
                                            <p:txEl>
                                              <p:pRg st="5" end="5"/>
                                            </p:txEl>
                                          </p:spTgt>
                                        </p:tgtEl>
                                        <p:attrNameLst>
                                          <p:attrName>style.visibility</p:attrName>
                                        </p:attrNameLst>
                                      </p:cBhvr>
                                      <p:to>
                                        <p:strVal val="visible"/>
                                      </p:to>
                                    </p:set>
                                    <p:animEffect>
                                      <p:cBhvr>
                                        <p:cTn id="32" dur="500"/>
                                        <p:tgtEl>
                                          <p:spTgt spid="21506">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21506">
                                            <p:txEl>
                                              <p:pRg st="6" end="6"/>
                                            </p:txEl>
                                          </p:spTgt>
                                        </p:tgtEl>
                                        <p:attrNameLst>
                                          <p:attrName>style.visibility</p:attrName>
                                        </p:attrNameLst>
                                      </p:cBhvr>
                                      <p:to>
                                        <p:strVal val="visible"/>
                                      </p:to>
                                    </p:set>
                                    <p:animEffect>
                                      <p:cBhvr>
                                        <p:cTn id="37" dur="500"/>
                                        <p:tgtEl>
                                          <p:spTgt spid="21506">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21506">
                                            <p:txEl>
                                              <p:pRg st="7" end="7"/>
                                            </p:txEl>
                                          </p:spTgt>
                                        </p:tgtEl>
                                        <p:attrNameLst>
                                          <p:attrName>style.visibility</p:attrName>
                                        </p:attrNameLst>
                                      </p:cBhvr>
                                      <p:to>
                                        <p:strVal val="visible"/>
                                      </p:to>
                                    </p:set>
                                    <p:animEffect>
                                      <p:cBhvr>
                                        <p:cTn id="42" dur="500"/>
                                        <p:tgtEl>
                                          <p:spTgt spid="21506">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21506">
                                            <p:txEl>
                                              <p:pRg st="8" end="8"/>
                                            </p:txEl>
                                          </p:spTgt>
                                        </p:tgtEl>
                                        <p:attrNameLst>
                                          <p:attrName>style.visibility</p:attrName>
                                        </p:attrNameLst>
                                      </p:cBhvr>
                                      <p:to>
                                        <p:strVal val="visible"/>
                                      </p:to>
                                    </p:set>
                                    <p:animEffect>
                                      <p:cBhvr>
                                        <p:cTn id="47" dur="500"/>
                                        <p:tgtEl>
                                          <p:spTgt spid="2150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2530" name="Rectangle 3"/>
          <p:cNvSpPr>
            <a:spLocks noGrp="1" noChangeArrowheads="1"/>
          </p:cNvSpPr>
          <p:nvPr>
            <p:ph type="subTitle" idx="1"/>
          </p:nvPr>
        </p:nvSpPr>
        <p:spPr>
          <a:xfrm>
            <a:off x="457200" y="1343025"/>
            <a:ext cx="8229600" cy="1395413"/>
          </a:xfrm>
          <a:ln/>
        </p:spPr>
        <p:txBody>
          <a:bodyPr/>
          <a:lstStyle/>
          <a:p>
            <a:pPr marL="457200" lvl="2" indent="-457200" algn="l" eaLnBrk="1" hangingPunct="1">
              <a:buSzPct val="100000"/>
              <a:buFont typeface="Wingdings" panose="05000000000000000000" pitchFamily="2" charset="2"/>
              <a:buChar char="u"/>
            </a:pPr>
            <a:r>
              <a:rPr lang="zh-CN" altLang="en-US" sz="2200" b="0" dirty="0">
                <a:latin typeface="微软雅黑" panose="020B0503020204020204" pitchFamily="34" charset="-122"/>
                <a:ea typeface="微软雅黑" panose="020B0503020204020204" pitchFamily="34" charset="-122"/>
              </a:rPr>
              <a:t>一级价格歧视</a:t>
            </a:r>
            <a:endParaRPr lang="en-US" altLang="zh-CN" sz="2200" b="0" dirty="0">
              <a:latin typeface="微软雅黑" panose="020B0503020204020204" pitchFamily="34" charset="-122"/>
              <a:ea typeface="微软雅黑" panose="020B0503020204020204" pitchFamily="34" charset="-122"/>
            </a:endParaRPr>
          </a:p>
          <a:p>
            <a:pPr lvl="1" algn="l" eaLnBrk="1" hangingPunct="1">
              <a:lnSpc>
                <a:spcPct val="150000"/>
              </a:lnSpc>
              <a:buSzPct val="100000"/>
              <a:buFont typeface="Arial" panose="020B0604020202020204" pitchFamily="34" charset="0"/>
              <a:buNone/>
            </a:pPr>
            <a:r>
              <a:rPr lang="zh-CN" altLang="en-US" b="0" dirty="0">
                <a:latin typeface="微软雅黑" panose="020B0503020204020204" pitchFamily="34" charset="-122"/>
                <a:ea typeface="微软雅黑" panose="020B0503020204020204" pitchFamily="34" charset="-122"/>
              </a:rPr>
              <a:t>垄断企业对每一单位的产品都按照消费者愿意接受的最高价格来出售</a:t>
            </a:r>
            <a:r>
              <a:rPr lang="en-US" altLang="zh-CN" b="0" dirty="0">
                <a:latin typeface="微软雅黑" panose="020B0503020204020204" pitchFamily="34" charset="-122"/>
                <a:ea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rPr>
              <a:t>即将价格总是定在消费者的意愿支付水平上。</a:t>
            </a:r>
          </a:p>
        </p:txBody>
      </p:sp>
      <p:sp>
        <p:nvSpPr>
          <p:cNvPr id="22531" name="Line 4"/>
          <p:cNvSpPr>
            <a:spLocks noChangeShapeType="1"/>
          </p:cNvSpPr>
          <p:nvPr/>
        </p:nvSpPr>
        <p:spPr bwMode="auto">
          <a:xfrm flipV="1">
            <a:off x="2482850" y="3054120"/>
            <a:ext cx="1588" cy="2678112"/>
          </a:xfrm>
          <a:prstGeom prst="line">
            <a:avLst/>
          </a:prstGeom>
          <a:noFill/>
          <a:ln w="9525" cmpd="sng">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22532" name="Line 5"/>
          <p:cNvSpPr>
            <a:spLocks noChangeShapeType="1"/>
          </p:cNvSpPr>
          <p:nvPr/>
        </p:nvSpPr>
        <p:spPr bwMode="auto">
          <a:xfrm>
            <a:off x="2482850" y="5732232"/>
            <a:ext cx="4105275" cy="1588"/>
          </a:xfrm>
          <a:prstGeom prst="line">
            <a:avLst/>
          </a:prstGeom>
          <a:noFill/>
          <a:ln w="9525" cmpd="sng">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22533" name="Text Box 6"/>
          <p:cNvSpPr>
            <a:spLocks noChangeArrowheads="1"/>
          </p:cNvSpPr>
          <p:nvPr/>
        </p:nvSpPr>
        <p:spPr bwMode="auto">
          <a:xfrm>
            <a:off x="2195513" y="2996970"/>
            <a:ext cx="379412" cy="26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P</a:t>
            </a:r>
            <a:endParaRPr lang="zh-CN" altLang="en-US"/>
          </a:p>
        </p:txBody>
      </p:sp>
      <p:sp>
        <p:nvSpPr>
          <p:cNvPr id="22534" name="Text Box 7"/>
          <p:cNvSpPr>
            <a:spLocks noChangeArrowheads="1"/>
          </p:cNvSpPr>
          <p:nvPr/>
        </p:nvSpPr>
        <p:spPr bwMode="auto">
          <a:xfrm>
            <a:off x="2195513" y="5675082"/>
            <a:ext cx="436562" cy="26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O</a:t>
            </a:r>
            <a:endParaRPr lang="zh-CN" altLang="en-US"/>
          </a:p>
        </p:txBody>
      </p:sp>
      <p:sp>
        <p:nvSpPr>
          <p:cNvPr id="22535" name="Text Box 8"/>
          <p:cNvSpPr>
            <a:spLocks noChangeArrowheads="1"/>
          </p:cNvSpPr>
          <p:nvPr/>
        </p:nvSpPr>
        <p:spPr bwMode="auto">
          <a:xfrm>
            <a:off x="6372225" y="5732232"/>
            <a:ext cx="485775" cy="26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Q</a:t>
            </a:r>
            <a:endParaRPr lang="zh-CN" altLang="en-US"/>
          </a:p>
        </p:txBody>
      </p:sp>
      <p:sp>
        <p:nvSpPr>
          <p:cNvPr id="22536" name="Line 9"/>
          <p:cNvSpPr>
            <a:spLocks noChangeShapeType="1"/>
          </p:cNvSpPr>
          <p:nvPr/>
        </p:nvSpPr>
        <p:spPr bwMode="auto">
          <a:xfrm>
            <a:off x="2484438" y="3338282"/>
            <a:ext cx="3311525" cy="2108200"/>
          </a:xfrm>
          <a:prstGeom prst="line">
            <a:avLst/>
          </a:prstGeom>
          <a:noFill/>
          <a:ln w="28575" cmpd="sng">
            <a:solidFill>
              <a:srgbClr val="0070C0"/>
            </a:solidFill>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22537" name="Text Box 10"/>
          <p:cNvSpPr>
            <a:spLocks noChangeArrowheads="1"/>
          </p:cNvSpPr>
          <p:nvPr/>
        </p:nvSpPr>
        <p:spPr bwMode="auto">
          <a:xfrm>
            <a:off x="5861050" y="5306782"/>
            <a:ext cx="309563" cy="26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D</a:t>
            </a:r>
            <a:endParaRPr lang="zh-CN" altLang="en-US"/>
          </a:p>
        </p:txBody>
      </p:sp>
      <p:sp>
        <p:nvSpPr>
          <p:cNvPr id="22538" name="Line 11"/>
          <p:cNvSpPr>
            <a:spLocks noChangeShapeType="1"/>
          </p:cNvSpPr>
          <p:nvPr/>
        </p:nvSpPr>
        <p:spPr bwMode="auto">
          <a:xfrm>
            <a:off x="4643438" y="4706707"/>
            <a:ext cx="1587" cy="1025525"/>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22539" name="Text Box 12"/>
          <p:cNvSpPr>
            <a:spLocks noChangeArrowheads="1"/>
          </p:cNvSpPr>
          <p:nvPr/>
        </p:nvSpPr>
        <p:spPr bwMode="auto">
          <a:xfrm>
            <a:off x="4572000" y="4422545"/>
            <a:ext cx="346075" cy="26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A</a:t>
            </a:r>
            <a:endParaRPr lang="zh-CN" altLang="en-US"/>
          </a:p>
        </p:txBody>
      </p:sp>
      <p:sp>
        <p:nvSpPr>
          <p:cNvPr id="22540" name="Text Box 13"/>
          <p:cNvSpPr>
            <a:spLocks noChangeArrowheads="1"/>
          </p:cNvSpPr>
          <p:nvPr/>
        </p:nvSpPr>
        <p:spPr bwMode="auto">
          <a:xfrm>
            <a:off x="4500563" y="5732232"/>
            <a:ext cx="574675" cy="26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Q</a:t>
            </a:r>
            <a:r>
              <a:rPr lang="zh-CN" altLang="en-US" sz="1000">
                <a:solidFill>
                  <a:srgbClr val="000000"/>
                </a:solidFill>
                <a:sym typeface="Arial" panose="020B0604020202020204" pitchFamily="34" charset="0"/>
              </a:rPr>
              <a:t>0</a:t>
            </a:r>
            <a:endParaRPr lang="zh-CN" altLang="en-US"/>
          </a:p>
        </p:txBody>
      </p:sp>
      <p:sp>
        <p:nvSpPr>
          <p:cNvPr id="22541" name="Line 14"/>
          <p:cNvSpPr>
            <a:spLocks noChangeShapeType="1"/>
          </p:cNvSpPr>
          <p:nvPr/>
        </p:nvSpPr>
        <p:spPr bwMode="auto">
          <a:xfrm flipH="1">
            <a:off x="2484438" y="4706707"/>
            <a:ext cx="2159000" cy="0"/>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22542" name="Text Box 15"/>
          <p:cNvSpPr>
            <a:spLocks noChangeArrowheads="1"/>
          </p:cNvSpPr>
          <p:nvPr/>
        </p:nvSpPr>
        <p:spPr bwMode="auto">
          <a:xfrm>
            <a:off x="2124075" y="4592407"/>
            <a:ext cx="431800" cy="26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P</a:t>
            </a:r>
            <a:r>
              <a:rPr lang="zh-CN" altLang="en-US" sz="1000">
                <a:solidFill>
                  <a:srgbClr val="000000"/>
                </a:solidFill>
                <a:sym typeface="Arial" panose="020B0604020202020204" pitchFamily="34" charset="0"/>
              </a:rPr>
              <a:t>0</a:t>
            </a:r>
            <a:endParaRPr lang="zh-CN" altLang="en-US"/>
          </a:p>
        </p:txBody>
      </p:sp>
      <p:sp>
        <p:nvSpPr>
          <p:cNvPr id="22543" name="Line 16"/>
          <p:cNvSpPr>
            <a:spLocks noChangeShapeType="1"/>
          </p:cNvSpPr>
          <p:nvPr/>
        </p:nvSpPr>
        <p:spPr bwMode="auto">
          <a:xfrm>
            <a:off x="2700338" y="3452582"/>
            <a:ext cx="1587" cy="2279650"/>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22544" name="Text Box 17"/>
          <p:cNvSpPr>
            <a:spLocks noChangeArrowheads="1"/>
          </p:cNvSpPr>
          <p:nvPr/>
        </p:nvSpPr>
        <p:spPr bwMode="auto">
          <a:xfrm>
            <a:off x="2555875" y="5732232"/>
            <a:ext cx="361950" cy="26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1</a:t>
            </a:r>
            <a:endParaRPr lang="zh-CN" altLang="en-US"/>
          </a:p>
        </p:txBody>
      </p:sp>
      <p:sp>
        <p:nvSpPr>
          <p:cNvPr id="22545" name="Line 18"/>
          <p:cNvSpPr>
            <a:spLocks noChangeShapeType="1"/>
          </p:cNvSpPr>
          <p:nvPr/>
        </p:nvSpPr>
        <p:spPr bwMode="auto">
          <a:xfrm flipH="1">
            <a:off x="2498725" y="3452582"/>
            <a:ext cx="215900" cy="0"/>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22546" name="Text Box 19"/>
          <p:cNvSpPr>
            <a:spLocks noChangeArrowheads="1"/>
          </p:cNvSpPr>
          <p:nvPr/>
        </p:nvSpPr>
        <p:spPr bwMode="auto">
          <a:xfrm>
            <a:off x="2143125" y="3282720"/>
            <a:ext cx="554038" cy="26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P</a:t>
            </a:r>
            <a:r>
              <a:rPr lang="zh-CN" altLang="en-US" sz="1000">
                <a:solidFill>
                  <a:srgbClr val="000000"/>
                </a:solidFill>
                <a:sym typeface="Arial" panose="020B0604020202020204" pitchFamily="34" charset="0"/>
              </a:rPr>
              <a:t>1</a:t>
            </a:r>
            <a:endParaRPr lang="zh-CN" altLang="en-US"/>
          </a:p>
        </p:txBody>
      </p:sp>
      <p:sp>
        <p:nvSpPr>
          <p:cNvPr id="22547" name="Line 20"/>
          <p:cNvSpPr>
            <a:spLocks noChangeShapeType="1"/>
          </p:cNvSpPr>
          <p:nvPr/>
        </p:nvSpPr>
        <p:spPr bwMode="auto">
          <a:xfrm flipV="1">
            <a:off x="2916238" y="3624032"/>
            <a:ext cx="1587" cy="2108200"/>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22548" name="Line 21"/>
          <p:cNvSpPr>
            <a:spLocks noChangeShapeType="1"/>
          </p:cNvSpPr>
          <p:nvPr/>
        </p:nvSpPr>
        <p:spPr bwMode="auto">
          <a:xfrm flipH="1">
            <a:off x="2484438" y="3624032"/>
            <a:ext cx="431800" cy="0"/>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22549" name="Text Box 22"/>
          <p:cNvSpPr>
            <a:spLocks noChangeArrowheads="1"/>
          </p:cNvSpPr>
          <p:nvPr/>
        </p:nvSpPr>
        <p:spPr bwMode="auto">
          <a:xfrm>
            <a:off x="2771775" y="5732232"/>
            <a:ext cx="342900" cy="26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2</a:t>
            </a:r>
            <a:endParaRPr lang="zh-CN" altLang="en-US"/>
          </a:p>
        </p:txBody>
      </p:sp>
      <p:sp>
        <p:nvSpPr>
          <p:cNvPr id="22550" name="Text Box 23"/>
          <p:cNvSpPr>
            <a:spLocks noChangeArrowheads="1"/>
          </p:cNvSpPr>
          <p:nvPr/>
        </p:nvSpPr>
        <p:spPr bwMode="auto">
          <a:xfrm>
            <a:off x="2124075" y="3509732"/>
            <a:ext cx="452438" cy="26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p</a:t>
            </a:r>
            <a:r>
              <a:rPr lang="zh-CN" altLang="en-US" sz="1000">
                <a:solidFill>
                  <a:srgbClr val="000000"/>
                </a:solidFill>
                <a:sym typeface="Arial" panose="020B0604020202020204" pitchFamily="34" charset="0"/>
              </a:rPr>
              <a:t>2</a:t>
            </a:r>
            <a:endParaRPr lang="zh-CN" altLang="en-US"/>
          </a:p>
        </p:txBody>
      </p:sp>
      <p:sp>
        <p:nvSpPr>
          <p:cNvPr id="22551" name="圆角矩形标注 24"/>
          <p:cNvSpPr>
            <a:spLocks noChangeArrowheads="1"/>
          </p:cNvSpPr>
          <p:nvPr/>
        </p:nvSpPr>
        <p:spPr bwMode="auto">
          <a:xfrm>
            <a:off x="6000750" y="4354282"/>
            <a:ext cx="2857500" cy="919163"/>
          </a:xfrm>
          <a:prstGeom prst="wedgeRoundRectCallout">
            <a:avLst>
              <a:gd name="adj1" fmla="val -88384"/>
              <a:gd name="adj2" fmla="val -22750"/>
              <a:gd name="adj3" fmla="val 16667"/>
            </a:avLst>
          </a:prstGeom>
          <a:solidFill>
            <a:schemeClr val="bg1"/>
          </a:solidFill>
          <a:ln>
            <a:solidFill>
              <a:srgbClr val="C00000"/>
            </a:solidFill>
          </a:ln>
        </p:spPr>
        <p:style>
          <a:lnRef idx="3">
            <a:schemeClr val="lt1"/>
          </a:lnRef>
          <a:fillRef idx="1">
            <a:schemeClr val="accent1"/>
          </a:fillRef>
          <a:effectRef idx="1">
            <a:schemeClr val="accent1"/>
          </a:effectRef>
          <a:fontRef idx="minor">
            <a:schemeClr val="lt1"/>
          </a:fontRef>
        </p:style>
        <p:txBody>
          <a:bodyPr>
            <a:spAutoFit/>
          </a:bodyPr>
          <a:lstStyle/>
          <a:p>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任意一点的“高度”代表了既定商品数量上买者的需求价格或边际意愿支付</a:t>
            </a:r>
            <a:endParaRPr lang="zh-CN" altLang="en-US" b="0" dirty="0">
              <a:solidFill>
                <a:schemeClr val="tx1"/>
              </a:solidFill>
              <a:latin typeface="微软雅黑" panose="020B0503020204020204" pitchFamily="34" charset="-122"/>
              <a:ea typeface="微软雅黑" panose="020B0503020204020204" pitchFamily="34" charset="-122"/>
            </a:endParaRPr>
          </a:p>
        </p:txBody>
      </p:sp>
      <p:sp>
        <p:nvSpPr>
          <p:cNvPr id="22552" name="圆角矩形标注 25"/>
          <p:cNvSpPr>
            <a:spLocks noChangeArrowheads="1"/>
          </p:cNvSpPr>
          <p:nvPr/>
        </p:nvSpPr>
        <p:spPr bwMode="auto">
          <a:xfrm>
            <a:off x="5000625" y="3019195"/>
            <a:ext cx="3071813" cy="919401"/>
          </a:xfrm>
          <a:prstGeom prst="wedgeRoundRectCallout">
            <a:avLst>
              <a:gd name="adj1" fmla="val -114856"/>
              <a:gd name="adj2" fmla="val 71023"/>
              <a:gd name="adj3" fmla="val 16667"/>
            </a:avLst>
          </a:prstGeom>
          <a:solidFill>
            <a:schemeClr val="bg1"/>
          </a:solidFill>
          <a:ln>
            <a:solidFill>
              <a:srgbClr val="C00000"/>
            </a:solidFill>
          </a:ln>
        </p:spPr>
        <p:style>
          <a:lnRef idx="3">
            <a:schemeClr val="lt1"/>
          </a:lnRef>
          <a:fillRef idx="1">
            <a:schemeClr val="accent1"/>
          </a:fillRef>
          <a:effectRef idx="1">
            <a:schemeClr val="accent1"/>
          </a:effectRef>
          <a:fontRef idx="minor">
            <a:schemeClr val="lt1"/>
          </a:fontRef>
        </p:style>
        <p:txBody>
          <a:bodyPr>
            <a:spAutoFit/>
          </a:bodyPr>
          <a:lstStyle/>
          <a:p>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在产量为</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2</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时</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消费者的边际意愿支付为</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P2, </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于是垄断企业按价格</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P2 </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出售第</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2</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个单位的产品</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a:t>
            </a:r>
            <a:endPar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2553" name="圆角矩形标注 26"/>
          <p:cNvSpPr>
            <a:spLocks noChangeArrowheads="1"/>
          </p:cNvSpPr>
          <p:nvPr/>
        </p:nvSpPr>
        <p:spPr bwMode="auto">
          <a:xfrm>
            <a:off x="214313" y="3211282"/>
            <a:ext cx="1500187" cy="2201704"/>
          </a:xfrm>
          <a:prstGeom prst="wedgeRoundRectCallout">
            <a:avLst>
              <a:gd name="adj1" fmla="val 78815"/>
              <a:gd name="adj2" fmla="val -35731"/>
              <a:gd name="adj3" fmla="val 16667"/>
            </a:avLst>
          </a:prstGeom>
          <a:solidFill>
            <a:schemeClr val="bg1"/>
          </a:solidFill>
          <a:ln>
            <a:solidFill>
              <a:srgbClr val="C00000"/>
            </a:solidFill>
          </a:ln>
        </p:spPr>
        <p:style>
          <a:lnRef idx="3">
            <a:schemeClr val="lt1"/>
          </a:lnRef>
          <a:fillRef idx="1">
            <a:schemeClr val="accent1"/>
          </a:fillRef>
          <a:effectRef idx="1">
            <a:schemeClr val="accent1"/>
          </a:effectRef>
          <a:fontRef idx="minor">
            <a:schemeClr val="lt1"/>
          </a:fontRef>
        </p:style>
        <p:txBody>
          <a:bodyPr>
            <a:spAutoFit/>
          </a:bodyPr>
          <a:lstStyle/>
          <a:p>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当产量为</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1</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时</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消费者的边际意愿支付为</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P1, </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于是垄断企业按价格</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P1 </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出售第</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1</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个单位的产品</a:t>
            </a:r>
          </a:p>
        </p:txBody>
      </p:sp>
      <p:sp>
        <p:nvSpPr>
          <p:cNvPr id="28" name="矩形 27">
            <a:extLst>
              <a:ext uri="{FF2B5EF4-FFF2-40B4-BE49-F238E27FC236}">
                <a16:creationId xmlns:a16="http://schemas.microsoft.com/office/drawing/2014/main" id="{F68E5273-CD77-47B9-B841-9D29349C133D}"/>
              </a:ext>
            </a:extLst>
          </p:cNvPr>
          <p:cNvSpPr/>
          <p:nvPr/>
        </p:nvSpPr>
        <p:spPr>
          <a:xfrm>
            <a:off x="467544" y="548680"/>
            <a:ext cx="2146742"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spc="150" dirty="0">
                <a:solidFill>
                  <a:srgbClr val="FFFFFF"/>
                </a:solidFill>
                <a:latin typeface="微软雅黑" panose="020B0503020204020204" pitchFamily="34" charset="-122"/>
                <a:ea typeface="微软雅黑" panose="020B0503020204020204" pitchFamily="34" charset="-122"/>
              </a:rPr>
              <a:t>五</a:t>
            </a:r>
            <a:r>
              <a:rPr lang="zh-CN" altLang="en-US" sz="2400" b="1" spc="150" dirty="0">
                <a:solidFill>
                  <a:srgbClr val="FFFFFF"/>
                </a:solidFill>
                <a:latin typeface="微软雅黑" panose="020B0503020204020204" pitchFamily="34" charset="-122"/>
                <a:ea typeface="微软雅黑" panose="020B0503020204020204" pitchFamily="34" charset="-122"/>
              </a:rPr>
              <a:t>、</a:t>
            </a:r>
            <a:r>
              <a:rPr lang="zh-CN" altLang="en-US" sz="2400" spc="15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价格歧视</a:t>
            </a:r>
            <a:endParaRPr lang="zh-CN" altLang="en-US" sz="2400" b="1" spc="150" dirty="0">
              <a:solidFill>
                <a:srgbClr val="FFFFFF"/>
              </a:solidFill>
              <a:latin typeface="微软雅黑" panose="020B0503020204020204" pitchFamily="34" charset="-122"/>
              <a:ea typeface="微软雅黑" panose="020B0503020204020204" pitchFamily="34" charset="-122"/>
            </a:endParaRPr>
          </a:p>
        </p:txBody>
      </p:sp>
      <p:sp>
        <p:nvSpPr>
          <p:cNvPr id="30" name="矩形 29"/>
          <p:cNvSpPr/>
          <p:nvPr/>
        </p:nvSpPr>
        <p:spPr>
          <a:xfrm>
            <a:off x="7505410" y="35458"/>
            <a:ext cx="1638590" cy="369332"/>
          </a:xfrm>
          <a:prstGeom prst="rect">
            <a:avLst/>
          </a:prstGeom>
        </p:spPr>
        <p:txBody>
          <a:bodyPr wrap="none">
            <a:spAutoFit/>
          </a:bodyPr>
          <a:lstStyle/>
          <a:p>
            <a:pPr algn="dist"/>
            <a:r>
              <a:rPr lang="zh-CN" altLang="en-US" sz="1800" b="0" spc="30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第一节 垄断</a:t>
            </a:r>
            <a:endParaRPr lang="zh-CN" altLang="en-US" sz="1800" b="0" spc="300" dirty="0">
              <a:solidFill>
                <a:schemeClr val="tx2"/>
              </a:solidFill>
              <a:ea typeface="黑体" panose="02010609060101010101" pitchFamily="49" charset="-122"/>
              <a:sym typeface="Arial" panose="020B0604020202020204" pitchFamily="34" charset="0"/>
            </a:endParaRPr>
          </a:p>
        </p:txBody>
      </p:sp>
    </p:spTree>
  </p:cSld>
  <p:clrMapOvr>
    <a:overrideClrMapping bg1="lt1" tx1="dk1" bg2="lt2" tx2="dk2" accent1="accent1" accent2="accent2" accent3="accent3" accent4="accent4" accent5="accent5" accent6="accent6" hlink="hlink" folHlink="folHlink"/>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2530">
                                            <p:txEl>
                                              <p:pRg st="0" end="0"/>
                                            </p:txEl>
                                          </p:spTgt>
                                        </p:tgtEl>
                                        <p:attrNameLst>
                                          <p:attrName>style.visibility</p:attrName>
                                        </p:attrNameLst>
                                      </p:cBhvr>
                                      <p:to>
                                        <p:strVal val="visible"/>
                                      </p:to>
                                    </p:set>
                                    <p:animEffect>
                                      <p:cBhvr>
                                        <p:cTn id="7" dur="500"/>
                                        <p:tgtEl>
                                          <p:spTgt spid="2253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2530">
                                            <p:txEl>
                                              <p:pRg st="1" end="1"/>
                                            </p:txEl>
                                          </p:spTgt>
                                        </p:tgtEl>
                                        <p:attrNameLst>
                                          <p:attrName>style.visibility</p:attrName>
                                        </p:attrNameLst>
                                      </p:cBhvr>
                                      <p:to>
                                        <p:strVal val="visible"/>
                                      </p:to>
                                    </p:set>
                                    <p:animEffect>
                                      <p:cBhvr>
                                        <p:cTn id="12" dur="500"/>
                                        <p:tgtEl>
                                          <p:spTgt spid="22530">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2533"/>
                                        </p:tgtEl>
                                        <p:attrNameLst>
                                          <p:attrName>style.visibility</p:attrName>
                                        </p:attrNameLst>
                                      </p:cBhvr>
                                      <p:to>
                                        <p:strVal val="visible"/>
                                      </p:to>
                                    </p:set>
                                    <p:animEffect>
                                      <p:cBhvr>
                                        <p:cTn id="17" dur="500"/>
                                        <p:tgtEl>
                                          <p:spTgt spid="22533"/>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22531"/>
                                        </p:tgtEl>
                                        <p:attrNameLst>
                                          <p:attrName>style.visibility</p:attrName>
                                        </p:attrNameLst>
                                      </p:cBhvr>
                                      <p:to>
                                        <p:strVal val="visible"/>
                                      </p:to>
                                    </p:set>
                                    <p:animEffect>
                                      <p:cBhvr>
                                        <p:cTn id="20" dur="500"/>
                                        <p:tgtEl>
                                          <p:spTgt spid="22531"/>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22534"/>
                                        </p:tgtEl>
                                        <p:attrNameLst>
                                          <p:attrName>style.visibility</p:attrName>
                                        </p:attrNameLst>
                                      </p:cBhvr>
                                      <p:to>
                                        <p:strVal val="visible"/>
                                      </p:to>
                                    </p:set>
                                    <p:animEffect>
                                      <p:cBhvr>
                                        <p:cTn id="23" dur="500"/>
                                        <p:tgtEl>
                                          <p:spTgt spid="22534"/>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22532"/>
                                        </p:tgtEl>
                                        <p:attrNameLst>
                                          <p:attrName>style.visibility</p:attrName>
                                        </p:attrNameLst>
                                      </p:cBhvr>
                                      <p:to>
                                        <p:strVal val="visible"/>
                                      </p:to>
                                    </p:set>
                                    <p:animEffect>
                                      <p:cBhvr>
                                        <p:cTn id="26" dur="500"/>
                                        <p:tgtEl>
                                          <p:spTgt spid="22532"/>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22535"/>
                                        </p:tgtEl>
                                        <p:attrNameLst>
                                          <p:attrName>style.visibility</p:attrName>
                                        </p:attrNameLst>
                                      </p:cBhvr>
                                      <p:to>
                                        <p:strVal val="visible"/>
                                      </p:to>
                                    </p:set>
                                    <p:animEffect>
                                      <p:cBhvr>
                                        <p:cTn id="29" dur="500"/>
                                        <p:tgtEl>
                                          <p:spTgt spid="22535"/>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22536"/>
                                        </p:tgtEl>
                                        <p:attrNameLst>
                                          <p:attrName>style.visibility</p:attrName>
                                        </p:attrNameLst>
                                      </p:cBhvr>
                                      <p:to>
                                        <p:strVal val="visible"/>
                                      </p:to>
                                    </p:set>
                                    <p:animEffect>
                                      <p:cBhvr>
                                        <p:cTn id="34" dur="500"/>
                                        <p:tgtEl>
                                          <p:spTgt spid="22536"/>
                                        </p:tgtEl>
                                      </p:cBhvr>
                                    </p:animEffect>
                                  </p:childTnLst>
                                </p:cTn>
                              </p:par>
                              <p:par>
                                <p:cTn id="35" presetID="3" presetClass="entr" presetSubtype="10" fill="hold" grpId="0" nodeType="withEffect">
                                  <p:stCondLst>
                                    <p:cond delay="0"/>
                                  </p:stCondLst>
                                  <p:childTnLst>
                                    <p:set>
                                      <p:cBhvr>
                                        <p:cTn id="36" dur="1" fill="hold">
                                          <p:stCondLst>
                                            <p:cond delay="0"/>
                                          </p:stCondLst>
                                        </p:cTn>
                                        <p:tgtEl>
                                          <p:spTgt spid="22537"/>
                                        </p:tgtEl>
                                        <p:attrNameLst>
                                          <p:attrName>style.visibility</p:attrName>
                                        </p:attrNameLst>
                                      </p:cBhvr>
                                      <p:to>
                                        <p:strVal val="visible"/>
                                      </p:to>
                                    </p:set>
                                    <p:animEffect>
                                      <p:cBhvr>
                                        <p:cTn id="37" dur="500"/>
                                        <p:tgtEl>
                                          <p:spTgt spid="2253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2551"/>
                                        </p:tgtEl>
                                        <p:attrNameLst>
                                          <p:attrName>style.visibility</p:attrName>
                                        </p:attrNameLst>
                                      </p:cBhvr>
                                      <p:to>
                                        <p:strVal val="visible"/>
                                      </p:to>
                                    </p:set>
                                    <p:animEffect>
                                      <p:cBhvr>
                                        <p:cTn id="42" dur="500"/>
                                        <p:tgtEl>
                                          <p:spTgt spid="22551"/>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2545"/>
                                        </p:tgtEl>
                                        <p:attrNameLst>
                                          <p:attrName>style.visibility</p:attrName>
                                        </p:attrNameLst>
                                      </p:cBhvr>
                                      <p:to>
                                        <p:strVal val="visible"/>
                                      </p:to>
                                    </p:set>
                                    <p:animEffect>
                                      <p:cBhvr>
                                        <p:cTn id="47" dur="500"/>
                                        <p:tgtEl>
                                          <p:spTgt spid="22545"/>
                                        </p:tgtEl>
                                      </p:cBhvr>
                                    </p:animEffect>
                                  </p:childTnLst>
                                </p:cTn>
                              </p:par>
                              <p:par>
                                <p:cTn id="48" presetID="3" presetClass="entr" presetSubtype="10" fill="hold" grpId="0" nodeType="withEffect">
                                  <p:stCondLst>
                                    <p:cond delay="0"/>
                                  </p:stCondLst>
                                  <p:childTnLst>
                                    <p:set>
                                      <p:cBhvr>
                                        <p:cTn id="49" dur="1" fill="hold">
                                          <p:stCondLst>
                                            <p:cond delay="0"/>
                                          </p:stCondLst>
                                        </p:cTn>
                                        <p:tgtEl>
                                          <p:spTgt spid="22546"/>
                                        </p:tgtEl>
                                        <p:attrNameLst>
                                          <p:attrName>style.visibility</p:attrName>
                                        </p:attrNameLst>
                                      </p:cBhvr>
                                      <p:to>
                                        <p:strVal val="visible"/>
                                      </p:to>
                                    </p:set>
                                    <p:animEffect>
                                      <p:cBhvr>
                                        <p:cTn id="50" dur="500"/>
                                        <p:tgtEl>
                                          <p:spTgt spid="22546"/>
                                        </p:tgtEl>
                                      </p:cBhvr>
                                    </p:animEffect>
                                  </p:childTnLst>
                                </p:cTn>
                              </p:par>
                              <p:par>
                                <p:cTn id="51" presetID="3" presetClass="entr" presetSubtype="10" fill="hold" grpId="0" nodeType="withEffect">
                                  <p:stCondLst>
                                    <p:cond delay="0"/>
                                  </p:stCondLst>
                                  <p:childTnLst>
                                    <p:set>
                                      <p:cBhvr>
                                        <p:cTn id="52" dur="1" fill="hold">
                                          <p:stCondLst>
                                            <p:cond delay="0"/>
                                          </p:stCondLst>
                                        </p:cTn>
                                        <p:tgtEl>
                                          <p:spTgt spid="22543"/>
                                        </p:tgtEl>
                                        <p:attrNameLst>
                                          <p:attrName>style.visibility</p:attrName>
                                        </p:attrNameLst>
                                      </p:cBhvr>
                                      <p:to>
                                        <p:strVal val="visible"/>
                                      </p:to>
                                    </p:set>
                                    <p:animEffect>
                                      <p:cBhvr>
                                        <p:cTn id="53" dur="500"/>
                                        <p:tgtEl>
                                          <p:spTgt spid="22543"/>
                                        </p:tgtEl>
                                      </p:cBhvr>
                                    </p:animEffect>
                                  </p:childTnLst>
                                </p:cTn>
                              </p:par>
                              <p:par>
                                <p:cTn id="54" presetID="3" presetClass="entr" presetSubtype="10" fill="hold" grpId="0" nodeType="withEffect">
                                  <p:stCondLst>
                                    <p:cond delay="0"/>
                                  </p:stCondLst>
                                  <p:childTnLst>
                                    <p:set>
                                      <p:cBhvr>
                                        <p:cTn id="55" dur="1" fill="hold">
                                          <p:stCondLst>
                                            <p:cond delay="0"/>
                                          </p:stCondLst>
                                        </p:cTn>
                                        <p:tgtEl>
                                          <p:spTgt spid="22544"/>
                                        </p:tgtEl>
                                        <p:attrNameLst>
                                          <p:attrName>style.visibility</p:attrName>
                                        </p:attrNameLst>
                                      </p:cBhvr>
                                      <p:to>
                                        <p:strVal val="visible"/>
                                      </p:to>
                                    </p:set>
                                    <p:animEffect>
                                      <p:cBhvr>
                                        <p:cTn id="56" dur="500"/>
                                        <p:tgtEl>
                                          <p:spTgt spid="22544"/>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3" presetClass="entr" presetSubtype="10" fill="hold" grpId="0" nodeType="clickEffect">
                                  <p:stCondLst>
                                    <p:cond delay="0"/>
                                  </p:stCondLst>
                                  <p:childTnLst>
                                    <p:set>
                                      <p:cBhvr>
                                        <p:cTn id="60" dur="1" fill="hold">
                                          <p:stCondLst>
                                            <p:cond delay="0"/>
                                          </p:stCondLst>
                                        </p:cTn>
                                        <p:tgtEl>
                                          <p:spTgt spid="22553"/>
                                        </p:tgtEl>
                                        <p:attrNameLst>
                                          <p:attrName>style.visibility</p:attrName>
                                        </p:attrNameLst>
                                      </p:cBhvr>
                                      <p:to>
                                        <p:strVal val="visible"/>
                                      </p:to>
                                    </p:set>
                                    <p:animEffect>
                                      <p:cBhvr>
                                        <p:cTn id="61" dur="500"/>
                                        <p:tgtEl>
                                          <p:spTgt spid="22553"/>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3" presetClass="entr" presetSubtype="10" fill="hold" grpId="0" nodeType="clickEffect">
                                  <p:stCondLst>
                                    <p:cond delay="0"/>
                                  </p:stCondLst>
                                  <p:childTnLst>
                                    <p:set>
                                      <p:cBhvr>
                                        <p:cTn id="65" dur="1" fill="hold">
                                          <p:stCondLst>
                                            <p:cond delay="0"/>
                                          </p:stCondLst>
                                        </p:cTn>
                                        <p:tgtEl>
                                          <p:spTgt spid="22550"/>
                                        </p:tgtEl>
                                        <p:attrNameLst>
                                          <p:attrName>style.visibility</p:attrName>
                                        </p:attrNameLst>
                                      </p:cBhvr>
                                      <p:to>
                                        <p:strVal val="visible"/>
                                      </p:to>
                                    </p:set>
                                    <p:animEffect>
                                      <p:cBhvr>
                                        <p:cTn id="66" dur="500"/>
                                        <p:tgtEl>
                                          <p:spTgt spid="22550"/>
                                        </p:tgtEl>
                                      </p:cBhvr>
                                    </p:animEffect>
                                  </p:childTnLst>
                                </p:cTn>
                              </p:par>
                              <p:par>
                                <p:cTn id="67" presetID="3" presetClass="entr" presetSubtype="10" fill="hold" grpId="0" nodeType="withEffect">
                                  <p:stCondLst>
                                    <p:cond delay="0"/>
                                  </p:stCondLst>
                                  <p:childTnLst>
                                    <p:set>
                                      <p:cBhvr>
                                        <p:cTn id="68" dur="1" fill="hold">
                                          <p:stCondLst>
                                            <p:cond delay="0"/>
                                          </p:stCondLst>
                                        </p:cTn>
                                        <p:tgtEl>
                                          <p:spTgt spid="22548"/>
                                        </p:tgtEl>
                                        <p:attrNameLst>
                                          <p:attrName>style.visibility</p:attrName>
                                        </p:attrNameLst>
                                      </p:cBhvr>
                                      <p:to>
                                        <p:strVal val="visible"/>
                                      </p:to>
                                    </p:set>
                                    <p:animEffect>
                                      <p:cBhvr>
                                        <p:cTn id="69" dur="500"/>
                                        <p:tgtEl>
                                          <p:spTgt spid="22548"/>
                                        </p:tgtEl>
                                      </p:cBhvr>
                                    </p:animEffect>
                                  </p:childTnLst>
                                </p:cTn>
                              </p:par>
                              <p:par>
                                <p:cTn id="70" presetID="3" presetClass="entr" presetSubtype="10" fill="hold" grpId="0" nodeType="withEffect">
                                  <p:stCondLst>
                                    <p:cond delay="0"/>
                                  </p:stCondLst>
                                  <p:childTnLst>
                                    <p:set>
                                      <p:cBhvr>
                                        <p:cTn id="71" dur="1" fill="hold">
                                          <p:stCondLst>
                                            <p:cond delay="0"/>
                                          </p:stCondLst>
                                        </p:cTn>
                                        <p:tgtEl>
                                          <p:spTgt spid="22547"/>
                                        </p:tgtEl>
                                        <p:attrNameLst>
                                          <p:attrName>style.visibility</p:attrName>
                                        </p:attrNameLst>
                                      </p:cBhvr>
                                      <p:to>
                                        <p:strVal val="visible"/>
                                      </p:to>
                                    </p:set>
                                    <p:animEffect>
                                      <p:cBhvr>
                                        <p:cTn id="72" dur="500"/>
                                        <p:tgtEl>
                                          <p:spTgt spid="22547"/>
                                        </p:tgtEl>
                                      </p:cBhvr>
                                    </p:animEffect>
                                  </p:childTnLst>
                                </p:cTn>
                              </p:par>
                              <p:par>
                                <p:cTn id="73" presetID="3" presetClass="entr" presetSubtype="10" fill="hold" grpId="0" nodeType="withEffect">
                                  <p:stCondLst>
                                    <p:cond delay="0"/>
                                  </p:stCondLst>
                                  <p:childTnLst>
                                    <p:set>
                                      <p:cBhvr>
                                        <p:cTn id="74" dur="1" fill="hold">
                                          <p:stCondLst>
                                            <p:cond delay="0"/>
                                          </p:stCondLst>
                                        </p:cTn>
                                        <p:tgtEl>
                                          <p:spTgt spid="22549"/>
                                        </p:tgtEl>
                                        <p:attrNameLst>
                                          <p:attrName>style.visibility</p:attrName>
                                        </p:attrNameLst>
                                      </p:cBhvr>
                                      <p:to>
                                        <p:strVal val="visible"/>
                                      </p:to>
                                    </p:set>
                                    <p:animEffect>
                                      <p:cBhvr>
                                        <p:cTn id="75" dur="500"/>
                                        <p:tgtEl>
                                          <p:spTgt spid="22549"/>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3" presetClass="entr" presetSubtype="10" fill="hold" grpId="0" nodeType="clickEffect">
                                  <p:stCondLst>
                                    <p:cond delay="0"/>
                                  </p:stCondLst>
                                  <p:childTnLst>
                                    <p:set>
                                      <p:cBhvr>
                                        <p:cTn id="79" dur="1" fill="hold">
                                          <p:stCondLst>
                                            <p:cond delay="0"/>
                                          </p:stCondLst>
                                        </p:cTn>
                                        <p:tgtEl>
                                          <p:spTgt spid="22552"/>
                                        </p:tgtEl>
                                        <p:attrNameLst>
                                          <p:attrName>style.visibility</p:attrName>
                                        </p:attrNameLst>
                                      </p:cBhvr>
                                      <p:to>
                                        <p:strVal val="visible"/>
                                      </p:to>
                                    </p:set>
                                    <p:animEffect>
                                      <p:cBhvr>
                                        <p:cTn id="80" dur="500"/>
                                        <p:tgtEl>
                                          <p:spTgt spid="22552"/>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3" presetClass="entr" presetSubtype="10" fill="hold" grpId="0" nodeType="clickEffect">
                                  <p:stCondLst>
                                    <p:cond delay="0"/>
                                  </p:stCondLst>
                                  <p:childTnLst>
                                    <p:set>
                                      <p:cBhvr>
                                        <p:cTn id="84" dur="1" fill="hold">
                                          <p:stCondLst>
                                            <p:cond delay="0"/>
                                          </p:stCondLst>
                                        </p:cTn>
                                        <p:tgtEl>
                                          <p:spTgt spid="22542"/>
                                        </p:tgtEl>
                                        <p:attrNameLst>
                                          <p:attrName>style.visibility</p:attrName>
                                        </p:attrNameLst>
                                      </p:cBhvr>
                                      <p:to>
                                        <p:strVal val="visible"/>
                                      </p:to>
                                    </p:set>
                                    <p:animEffect>
                                      <p:cBhvr>
                                        <p:cTn id="85" dur="500"/>
                                        <p:tgtEl>
                                          <p:spTgt spid="22542"/>
                                        </p:tgtEl>
                                      </p:cBhvr>
                                    </p:animEffect>
                                  </p:childTnLst>
                                </p:cTn>
                              </p:par>
                              <p:par>
                                <p:cTn id="86" presetID="3" presetClass="entr" presetSubtype="10" fill="hold" grpId="0" nodeType="withEffect">
                                  <p:stCondLst>
                                    <p:cond delay="0"/>
                                  </p:stCondLst>
                                  <p:childTnLst>
                                    <p:set>
                                      <p:cBhvr>
                                        <p:cTn id="87" dur="1" fill="hold">
                                          <p:stCondLst>
                                            <p:cond delay="0"/>
                                          </p:stCondLst>
                                        </p:cTn>
                                        <p:tgtEl>
                                          <p:spTgt spid="22541"/>
                                        </p:tgtEl>
                                        <p:attrNameLst>
                                          <p:attrName>style.visibility</p:attrName>
                                        </p:attrNameLst>
                                      </p:cBhvr>
                                      <p:to>
                                        <p:strVal val="visible"/>
                                      </p:to>
                                    </p:set>
                                    <p:animEffect>
                                      <p:cBhvr>
                                        <p:cTn id="88" dur="500"/>
                                        <p:tgtEl>
                                          <p:spTgt spid="22541"/>
                                        </p:tgtEl>
                                      </p:cBhvr>
                                    </p:animEffect>
                                  </p:childTnLst>
                                </p:cTn>
                              </p:par>
                              <p:par>
                                <p:cTn id="89" presetID="3" presetClass="entr" presetSubtype="10" fill="hold" grpId="0" nodeType="withEffect">
                                  <p:stCondLst>
                                    <p:cond delay="0"/>
                                  </p:stCondLst>
                                  <p:childTnLst>
                                    <p:set>
                                      <p:cBhvr>
                                        <p:cTn id="90" dur="1" fill="hold">
                                          <p:stCondLst>
                                            <p:cond delay="0"/>
                                          </p:stCondLst>
                                        </p:cTn>
                                        <p:tgtEl>
                                          <p:spTgt spid="22539"/>
                                        </p:tgtEl>
                                        <p:attrNameLst>
                                          <p:attrName>style.visibility</p:attrName>
                                        </p:attrNameLst>
                                      </p:cBhvr>
                                      <p:to>
                                        <p:strVal val="visible"/>
                                      </p:to>
                                    </p:set>
                                    <p:animEffect>
                                      <p:cBhvr>
                                        <p:cTn id="91" dur="500"/>
                                        <p:tgtEl>
                                          <p:spTgt spid="22539"/>
                                        </p:tgtEl>
                                      </p:cBhvr>
                                    </p:animEffect>
                                  </p:childTnLst>
                                </p:cTn>
                              </p:par>
                              <p:par>
                                <p:cTn id="92" presetID="3" presetClass="entr" presetSubtype="10" fill="hold" grpId="0" nodeType="withEffect">
                                  <p:stCondLst>
                                    <p:cond delay="0"/>
                                  </p:stCondLst>
                                  <p:childTnLst>
                                    <p:set>
                                      <p:cBhvr>
                                        <p:cTn id="93" dur="1" fill="hold">
                                          <p:stCondLst>
                                            <p:cond delay="0"/>
                                          </p:stCondLst>
                                        </p:cTn>
                                        <p:tgtEl>
                                          <p:spTgt spid="22538"/>
                                        </p:tgtEl>
                                        <p:attrNameLst>
                                          <p:attrName>style.visibility</p:attrName>
                                        </p:attrNameLst>
                                      </p:cBhvr>
                                      <p:to>
                                        <p:strVal val="visible"/>
                                      </p:to>
                                    </p:set>
                                    <p:animEffect>
                                      <p:cBhvr>
                                        <p:cTn id="94" dur="500"/>
                                        <p:tgtEl>
                                          <p:spTgt spid="22538"/>
                                        </p:tgtEl>
                                      </p:cBhvr>
                                    </p:animEffect>
                                  </p:childTnLst>
                                </p:cTn>
                              </p:par>
                              <p:par>
                                <p:cTn id="95" presetID="3" presetClass="entr" presetSubtype="10" fill="hold" grpId="0" nodeType="withEffect">
                                  <p:stCondLst>
                                    <p:cond delay="0"/>
                                  </p:stCondLst>
                                  <p:childTnLst>
                                    <p:set>
                                      <p:cBhvr>
                                        <p:cTn id="96" dur="1" fill="hold">
                                          <p:stCondLst>
                                            <p:cond delay="0"/>
                                          </p:stCondLst>
                                        </p:cTn>
                                        <p:tgtEl>
                                          <p:spTgt spid="22540"/>
                                        </p:tgtEl>
                                        <p:attrNameLst>
                                          <p:attrName>style.visibility</p:attrName>
                                        </p:attrNameLst>
                                      </p:cBhvr>
                                      <p:to>
                                        <p:strVal val="visible"/>
                                      </p:to>
                                    </p:set>
                                    <p:animEffect>
                                      <p:cBhvr>
                                        <p:cTn id="97" dur="500"/>
                                        <p:tgtEl>
                                          <p:spTgt spid="225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bldLvl="0" animBg="1" autoUpdateAnimBg="0"/>
      <p:bldP spid="22532" grpId="0" bldLvl="0" animBg="1" autoUpdateAnimBg="0"/>
      <p:bldP spid="22533" grpId="0" bldLvl="0" autoUpdateAnimBg="0"/>
      <p:bldP spid="22534" grpId="0" bldLvl="0" autoUpdateAnimBg="0"/>
      <p:bldP spid="22535" grpId="0" bldLvl="0" autoUpdateAnimBg="0"/>
      <p:bldP spid="22536" grpId="0" bldLvl="0" animBg="1" autoUpdateAnimBg="0"/>
      <p:bldP spid="22537" grpId="0" bldLvl="0" autoUpdateAnimBg="0"/>
      <p:bldP spid="22538" grpId="0" bldLvl="0" animBg="1" autoUpdateAnimBg="0"/>
      <p:bldP spid="22539" grpId="0" bldLvl="0" autoUpdateAnimBg="0"/>
      <p:bldP spid="22540" grpId="0" bldLvl="0" autoUpdateAnimBg="0"/>
      <p:bldP spid="22541" grpId="0" bldLvl="0" animBg="1" autoUpdateAnimBg="0"/>
      <p:bldP spid="22542" grpId="0" bldLvl="0" autoUpdateAnimBg="0"/>
      <p:bldP spid="22543" grpId="0" bldLvl="0" animBg="1" autoUpdateAnimBg="0"/>
      <p:bldP spid="22544" grpId="0" bldLvl="0" autoUpdateAnimBg="0"/>
      <p:bldP spid="22545" grpId="0" bldLvl="0" animBg="1" autoUpdateAnimBg="0"/>
      <p:bldP spid="22546" grpId="0" bldLvl="0" autoUpdateAnimBg="0"/>
      <p:bldP spid="22547" grpId="0" bldLvl="0" animBg="1" autoUpdateAnimBg="0"/>
      <p:bldP spid="22548" grpId="0" bldLvl="0" animBg="1" autoUpdateAnimBg="0"/>
      <p:bldP spid="22549" grpId="0" bldLvl="0" autoUpdateAnimBg="0"/>
      <p:bldP spid="22550" grpId="0" bldLvl="0" autoUpdateAnimBg="0"/>
      <p:bldP spid="22551" grpId="0" bldLvl="0" animBg="1" autoUpdateAnimBg="0"/>
      <p:bldP spid="22552" grpId="0" bldLvl="0" animBg="1" autoUpdateAnimBg="0"/>
      <p:bldP spid="22553" grpId="0" bldLvl="0" animBg="1"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84" name="圆角矩形标注 33"/>
          <p:cNvSpPr>
            <a:spLocks noChangeArrowheads="1"/>
          </p:cNvSpPr>
          <p:nvPr/>
        </p:nvSpPr>
        <p:spPr bwMode="auto">
          <a:xfrm>
            <a:off x="142875" y="3279883"/>
            <a:ext cx="2071688" cy="2009775"/>
          </a:xfrm>
          <a:prstGeom prst="wedgeRoundRectCallout">
            <a:avLst>
              <a:gd name="adj1" fmla="val 117005"/>
              <a:gd name="adj2" fmla="val 32457"/>
              <a:gd name="adj3" fmla="val 16667"/>
            </a:avLst>
          </a:prstGeom>
          <a:solidFill>
            <a:schemeClr val="bg1"/>
          </a:solidFill>
          <a:ln>
            <a:solidFill>
              <a:srgbClr val="C00000"/>
            </a:solidFill>
          </a:ln>
        </p:spPr>
        <p:style>
          <a:lnRef idx="3">
            <a:schemeClr val="lt1"/>
          </a:lnRef>
          <a:fillRef idx="1">
            <a:schemeClr val="accent1"/>
          </a:fillRef>
          <a:effectRef idx="1">
            <a:schemeClr val="accent1"/>
          </a:effectRef>
          <a:fontRef idx="minor">
            <a:schemeClr val="lt1"/>
          </a:fontRef>
        </p:style>
        <p:txBody>
          <a:bodyPr>
            <a:spAutoFit/>
          </a:bodyPr>
          <a:lstStyle/>
          <a:p>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垄断企业的全部产品数量为</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Q3, Q3 </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被分为三堆</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即</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OQ1</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 </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Q1Q2</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和</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Q2Q3, </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消费者对它们的边际意愿支付分别为</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P1</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 </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P2</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和</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P3</a:t>
            </a:r>
            <a:endPar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3554" name="Line 4"/>
          <p:cNvSpPr>
            <a:spLocks noChangeShapeType="1"/>
          </p:cNvSpPr>
          <p:nvPr/>
        </p:nvSpPr>
        <p:spPr bwMode="auto">
          <a:xfrm flipV="1">
            <a:off x="2911475" y="2690920"/>
            <a:ext cx="1588" cy="2555875"/>
          </a:xfrm>
          <a:prstGeom prst="line">
            <a:avLst/>
          </a:prstGeom>
          <a:noFill/>
          <a:ln w="9525" cmpd="sng">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23555" name="Line 5"/>
          <p:cNvSpPr>
            <a:spLocks noChangeShapeType="1"/>
          </p:cNvSpPr>
          <p:nvPr/>
        </p:nvSpPr>
        <p:spPr bwMode="auto">
          <a:xfrm>
            <a:off x="2911475" y="5246795"/>
            <a:ext cx="4105275" cy="0"/>
          </a:xfrm>
          <a:prstGeom prst="line">
            <a:avLst/>
          </a:prstGeom>
          <a:noFill/>
          <a:ln w="9525" cmpd="sng">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23556" name="Text Box 6"/>
          <p:cNvSpPr>
            <a:spLocks noChangeArrowheads="1"/>
          </p:cNvSpPr>
          <p:nvPr/>
        </p:nvSpPr>
        <p:spPr bwMode="auto">
          <a:xfrm>
            <a:off x="2624138" y="5192820"/>
            <a:ext cx="436562" cy="252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O</a:t>
            </a:r>
            <a:endParaRPr lang="zh-CN" altLang="en-US"/>
          </a:p>
        </p:txBody>
      </p:sp>
      <p:sp>
        <p:nvSpPr>
          <p:cNvPr id="23557" name="Text Box 7"/>
          <p:cNvSpPr>
            <a:spLocks noChangeArrowheads="1"/>
          </p:cNvSpPr>
          <p:nvPr/>
        </p:nvSpPr>
        <p:spPr bwMode="auto">
          <a:xfrm>
            <a:off x="6800850" y="5246795"/>
            <a:ext cx="485775" cy="252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Q</a:t>
            </a:r>
            <a:endParaRPr lang="zh-CN" altLang="en-US"/>
          </a:p>
        </p:txBody>
      </p:sp>
      <p:sp>
        <p:nvSpPr>
          <p:cNvPr id="23558" name="Line 8"/>
          <p:cNvSpPr>
            <a:spLocks noChangeShapeType="1"/>
          </p:cNvSpPr>
          <p:nvPr/>
        </p:nvSpPr>
        <p:spPr bwMode="auto">
          <a:xfrm>
            <a:off x="2913063" y="2962383"/>
            <a:ext cx="3311525" cy="2011362"/>
          </a:xfrm>
          <a:prstGeom prst="line">
            <a:avLst/>
          </a:prstGeom>
          <a:noFill/>
          <a:ln w="28575" cmpd="sng">
            <a:solidFill>
              <a:srgbClr val="0070C0"/>
            </a:solidFill>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23559" name="Text Box 9"/>
          <p:cNvSpPr>
            <a:spLocks noChangeArrowheads="1"/>
          </p:cNvSpPr>
          <p:nvPr/>
        </p:nvSpPr>
        <p:spPr bwMode="auto">
          <a:xfrm>
            <a:off x="6289675" y="4840395"/>
            <a:ext cx="30956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D</a:t>
            </a:r>
            <a:endParaRPr lang="zh-CN" altLang="en-US"/>
          </a:p>
        </p:txBody>
      </p:sp>
      <p:sp>
        <p:nvSpPr>
          <p:cNvPr id="23560" name="Line 10"/>
          <p:cNvSpPr>
            <a:spLocks noChangeShapeType="1"/>
          </p:cNvSpPr>
          <p:nvPr/>
        </p:nvSpPr>
        <p:spPr bwMode="auto">
          <a:xfrm>
            <a:off x="5648325" y="4648308"/>
            <a:ext cx="1588" cy="598487"/>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23561" name="Text Box 11"/>
          <p:cNvSpPr>
            <a:spLocks noChangeArrowheads="1"/>
          </p:cNvSpPr>
          <p:nvPr/>
        </p:nvSpPr>
        <p:spPr bwMode="auto">
          <a:xfrm>
            <a:off x="4640263" y="5246795"/>
            <a:ext cx="574675" cy="252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Q</a:t>
            </a:r>
            <a:r>
              <a:rPr lang="zh-CN" altLang="en-US" sz="1000">
                <a:solidFill>
                  <a:srgbClr val="000000"/>
                </a:solidFill>
                <a:sym typeface="Arial" panose="020B0604020202020204" pitchFamily="34" charset="0"/>
              </a:rPr>
              <a:t>2</a:t>
            </a:r>
            <a:endParaRPr lang="zh-CN" altLang="en-US"/>
          </a:p>
        </p:txBody>
      </p:sp>
      <p:sp>
        <p:nvSpPr>
          <p:cNvPr id="23562" name="Line 12"/>
          <p:cNvSpPr>
            <a:spLocks noChangeShapeType="1"/>
          </p:cNvSpPr>
          <p:nvPr/>
        </p:nvSpPr>
        <p:spPr bwMode="auto">
          <a:xfrm flipH="1">
            <a:off x="2913063" y="4649895"/>
            <a:ext cx="2735262" cy="0"/>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23563" name="Text Box 13"/>
          <p:cNvSpPr>
            <a:spLocks noChangeArrowheads="1"/>
          </p:cNvSpPr>
          <p:nvPr/>
        </p:nvSpPr>
        <p:spPr bwMode="auto">
          <a:xfrm>
            <a:off x="2552700" y="4540358"/>
            <a:ext cx="431800"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P</a:t>
            </a:r>
            <a:r>
              <a:rPr lang="zh-CN" altLang="en-US" sz="1000">
                <a:solidFill>
                  <a:srgbClr val="000000"/>
                </a:solidFill>
                <a:sym typeface="Arial" panose="020B0604020202020204" pitchFamily="34" charset="0"/>
              </a:rPr>
              <a:t>3</a:t>
            </a:r>
            <a:endParaRPr lang="zh-CN" altLang="en-US"/>
          </a:p>
        </p:txBody>
      </p:sp>
      <p:sp>
        <p:nvSpPr>
          <p:cNvPr id="23564" name="Line 14"/>
          <p:cNvSpPr>
            <a:spLocks noChangeShapeType="1"/>
          </p:cNvSpPr>
          <p:nvPr/>
        </p:nvSpPr>
        <p:spPr bwMode="auto">
          <a:xfrm>
            <a:off x="3776663" y="3506895"/>
            <a:ext cx="1587" cy="1739900"/>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23565" name="Text Box 15"/>
          <p:cNvSpPr>
            <a:spLocks noChangeArrowheads="1"/>
          </p:cNvSpPr>
          <p:nvPr/>
        </p:nvSpPr>
        <p:spPr bwMode="auto">
          <a:xfrm>
            <a:off x="3632200" y="5246795"/>
            <a:ext cx="504825" cy="252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Q</a:t>
            </a:r>
            <a:r>
              <a:rPr lang="zh-CN" altLang="en-US" sz="1000">
                <a:solidFill>
                  <a:srgbClr val="000000"/>
                </a:solidFill>
                <a:sym typeface="Arial" panose="020B0604020202020204" pitchFamily="34" charset="0"/>
              </a:rPr>
              <a:t>1</a:t>
            </a:r>
            <a:endParaRPr lang="zh-CN" altLang="en-US"/>
          </a:p>
        </p:txBody>
      </p:sp>
      <p:sp>
        <p:nvSpPr>
          <p:cNvPr id="23566" name="Line 16"/>
          <p:cNvSpPr>
            <a:spLocks noChangeShapeType="1"/>
          </p:cNvSpPr>
          <p:nvPr/>
        </p:nvSpPr>
        <p:spPr bwMode="auto">
          <a:xfrm flipH="1">
            <a:off x="2913063" y="3506895"/>
            <a:ext cx="863600" cy="0"/>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23567" name="Text Box 17"/>
          <p:cNvSpPr>
            <a:spLocks noChangeArrowheads="1"/>
          </p:cNvSpPr>
          <p:nvPr/>
        </p:nvSpPr>
        <p:spPr bwMode="auto">
          <a:xfrm>
            <a:off x="2552700" y="3343383"/>
            <a:ext cx="554038"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P</a:t>
            </a:r>
            <a:r>
              <a:rPr lang="zh-CN" altLang="en-US" sz="1000">
                <a:solidFill>
                  <a:srgbClr val="000000"/>
                </a:solidFill>
                <a:sym typeface="Arial" panose="020B0604020202020204" pitchFamily="34" charset="0"/>
              </a:rPr>
              <a:t>1</a:t>
            </a:r>
            <a:endParaRPr lang="zh-CN" altLang="en-US"/>
          </a:p>
        </p:txBody>
      </p:sp>
      <p:sp>
        <p:nvSpPr>
          <p:cNvPr id="23568" name="Line 18"/>
          <p:cNvSpPr>
            <a:spLocks noChangeShapeType="1"/>
          </p:cNvSpPr>
          <p:nvPr/>
        </p:nvSpPr>
        <p:spPr bwMode="auto">
          <a:xfrm flipV="1">
            <a:off x="4784725" y="4105383"/>
            <a:ext cx="0" cy="1141412"/>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23569" name="Line 19"/>
          <p:cNvSpPr>
            <a:spLocks noChangeShapeType="1"/>
          </p:cNvSpPr>
          <p:nvPr/>
        </p:nvSpPr>
        <p:spPr bwMode="auto">
          <a:xfrm flipH="1">
            <a:off x="2913063" y="4105383"/>
            <a:ext cx="1870075" cy="1587"/>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23570" name="Text Box 20"/>
          <p:cNvSpPr>
            <a:spLocks noChangeArrowheads="1"/>
          </p:cNvSpPr>
          <p:nvPr/>
        </p:nvSpPr>
        <p:spPr bwMode="auto">
          <a:xfrm>
            <a:off x="2552700" y="3940283"/>
            <a:ext cx="452438" cy="255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p</a:t>
            </a:r>
            <a:r>
              <a:rPr lang="zh-CN" altLang="en-US" sz="1000">
                <a:solidFill>
                  <a:srgbClr val="000000"/>
                </a:solidFill>
                <a:sym typeface="Arial" panose="020B0604020202020204" pitchFamily="34" charset="0"/>
              </a:rPr>
              <a:t>2</a:t>
            </a:r>
            <a:endParaRPr lang="zh-CN" altLang="en-US"/>
          </a:p>
        </p:txBody>
      </p:sp>
      <p:sp>
        <p:nvSpPr>
          <p:cNvPr id="23571" name="Text Box 21"/>
          <p:cNvSpPr>
            <a:spLocks noChangeArrowheads="1"/>
          </p:cNvSpPr>
          <p:nvPr/>
        </p:nvSpPr>
        <p:spPr bwMode="auto">
          <a:xfrm>
            <a:off x="2624138" y="2636945"/>
            <a:ext cx="309562" cy="252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P</a:t>
            </a:r>
            <a:endParaRPr lang="zh-CN" altLang="en-US"/>
          </a:p>
        </p:txBody>
      </p:sp>
      <p:sp>
        <p:nvSpPr>
          <p:cNvPr id="23572" name="Text Box 22"/>
          <p:cNvSpPr>
            <a:spLocks noChangeArrowheads="1"/>
          </p:cNvSpPr>
          <p:nvPr/>
        </p:nvSpPr>
        <p:spPr bwMode="auto">
          <a:xfrm>
            <a:off x="5432425" y="5246795"/>
            <a:ext cx="536575" cy="252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Q</a:t>
            </a:r>
            <a:r>
              <a:rPr lang="zh-CN" altLang="en-US" sz="1000">
                <a:solidFill>
                  <a:srgbClr val="000000"/>
                </a:solidFill>
                <a:sym typeface="Arial" panose="020B0604020202020204" pitchFamily="34" charset="0"/>
              </a:rPr>
              <a:t>3</a:t>
            </a:r>
            <a:endParaRPr lang="zh-CN" altLang="en-US"/>
          </a:p>
        </p:txBody>
      </p:sp>
      <p:sp>
        <p:nvSpPr>
          <p:cNvPr id="23573" name="Text Box 23"/>
          <p:cNvSpPr>
            <a:spLocks noChangeArrowheads="1"/>
          </p:cNvSpPr>
          <p:nvPr/>
        </p:nvSpPr>
        <p:spPr bwMode="auto">
          <a:xfrm>
            <a:off x="3055938" y="3181458"/>
            <a:ext cx="309562"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a</a:t>
            </a:r>
            <a:endParaRPr lang="zh-CN" altLang="en-US"/>
          </a:p>
        </p:txBody>
      </p:sp>
      <p:sp>
        <p:nvSpPr>
          <p:cNvPr id="23574" name="Text Box 24"/>
          <p:cNvSpPr>
            <a:spLocks noChangeArrowheads="1"/>
          </p:cNvSpPr>
          <p:nvPr/>
        </p:nvSpPr>
        <p:spPr bwMode="auto">
          <a:xfrm>
            <a:off x="3167063" y="3727558"/>
            <a:ext cx="320675"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b</a:t>
            </a:r>
            <a:endParaRPr lang="zh-CN" altLang="en-US"/>
          </a:p>
        </p:txBody>
      </p:sp>
      <p:sp>
        <p:nvSpPr>
          <p:cNvPr id="23575" name="Text Box 25"/>
          <p:cNvSpPr>
            <a:spLocks noChangeArrowheads="1"/>
          </p:cNvSpPr>
          <p:nvPr/>
        </p:nvSpPr>
        <p:spPr bwMode="auto">
          <a:xfrm>
            <a:off x="3200400" y="4268895"/>
            <a:ext cx="309563" cy="252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c</a:t>
            </a:r>
            <a:endParaRPr lang="zh-CN" altLang="en-US"/>
          </a:p>
        </p:txBody>
      </p:sp>
      <p:sp>
        <p:nvSpPr>
          <p:cNvPr id="23576" name="Text Box 26"/>
          <p:cNvSpPr>
            <a:spLocks noChangeArrowheads="1"/>
          </p:cNvSpPr>
          <p:nvPr/>
        </p:nvSpPr>
        <p:spPr bwMode="auto">
          <a:xfrm>
            <a:off x="3200400" y="4865795"/>
            <a:ext cx="15240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d</a:t>
            </a:r>
            <a:endParaRPr lang="zh-CN" altLang="en-US"/>
          </a:p>
        </p:txBody>
      </p:sp>
      <p:sp>
        <p:nvSpPr>
          <p:cNvPr id="23577" name="Text Box 27"/>
          <p:cNvSpPr>
            <a:spLocks noChangeArrowheads="1"/>
          </p:cNvSpPr>
          <p:nvPr/>
        </p:nvSpPr>
        <p:spPr bwMode="auto">
          <a:xfrm>
            <a:off x="4013200" y="3803758"/>
            <a:ext cx="152400"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e</a:t>
            </a:r>
            <a:endParaRPr lang="zh-CN" altLang="en-US"/>
          </a:p>
        </p:txBody>
      </p:sp>
      <p:sp>
        <p:nvSpPr>
          <p:cNvPr id="23578" name="Text Box 28"/>
          <p:cNvSpPr>
            <a:spLocks noChangeArrowheads="1"/>
          </p:cNvSpPr>
          <p:nvPr/>
        </p:nvSpPr>
        <p:spPr bwMode="auto">
          <a:xfrm>
            <a:off x="4137025" y="4268895"/>
            <a:ext cx="152400" cy="252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f</a:t>
            </a:r>
            <a:endParaRPr lang="zh-CN" altLang="en-US"/>
          </a:p>
        </p:txBody>
      </p:sp>
      <p:sp>
        <p:nvSpPr>
          <p:cNvPr id="23579" name="Text Box 29"/>
          <p:cNvSpPr>
            <a:spLocks noChangeArrowheads="1"/>
          </p:cNvSpPr>
          <p:nvPr/>
        </p:nvSpPr>
        <p:spPr bwMode="auto">
          <a:xfrm>
            <a:off x="4135438" y="4811820"/>
            <a:ext cx="168275"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g</a:t>
            </a:r>
            <a:endParaRPr lang="zh-CN" altLang="en-US"/>
          </a:p>
        </p:txBody>
      </p:sp>
      <p:sp>
        <p:nvSpPr>
          <p:cNvPr id="23580" name="Text Box 30"/>
          <p:cNvSpPr>
            <a:spLocks noChangeArrowheads="1"/>
          </p:cNvSpPr>
          <p:nvPr/>
        </p:nvSpPr>
        <p:spPr bwMode="auto">
          <a:xfrm>
            <a:off x="4929188" y="4376845"/>
            <a:ext cx="15240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h</a:t>
            </a:r>
            <a:endParaRPr lang="zh-CN" altLang="en-US"/>
          </a:p>
        </p:txBody>
      </p:sp>
      <p:sp>
        <p:nvSpPr>
          <p:cNvPr id="23581" name="Text Box 31"/>
          <p:cNvSpPr>
            <a:spLocks noChangeArrowheads="1"/>
          </p:cNvSpPr>
          <p:nvPr/>
        </p:nvSpPr>
        <p:spPr bwMode="auto">
          <a:xfrm>
            <a:off x="5057775" y="4840395"/>
            <a:ext cx="153988"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i</a:t>
            </a:r>
            <a:endParaRPr lang="zh-CN" altLang="en-US"/>
          </a:p>
        </p:txBody>
      </p:sp>
      <p:sp>
        <p:nvSpPr>
          <p:cNvPr id="23582" name="Rectangle 3"/>
          <p:cNvSpPr>
            <a:spLocks noChangeArrowheads="1"/>
          </p:cNvSpPr>
          <p:nvPr/>
        </p:nvSpPr>
        <p:spPr bwMode="auto">
          <a:xfrm>
            <a:off x="323705" y="1343025"/>
            <a:ext cx="8820295" cy="1998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342900" indent="-342900">
              <a:defRPr sz="1600" b="1">
                <a:solidFill>
                  <a:schemeClr val="tx1"/>
                </a:solidFill>
                <a:latin typeface="Arial" panose="020B0604020202020204" pitchFamily="34" charset="0"/>
                <a:ea typeface="宋体" panose="02010600030101010101" pitchFamily="2" charset="-122"/>
              </a:defRPr>
            </a:lvl3pPr>
            <a:lvl4pPr>
              <a:defRPr sz="1600" b="1">
                <a:solidFill>
                  <a:schemeClr val="tx1"/>
                </a:solidFill>
                <a:latin typeface="Arial" panose="020B0604020202020204" pitchFamily="34" charset="0"/>
                <a:ea typeface="宋体" panose="02010600030101010101" pitchFamily="2" charset="-122"/>
              </a:defRPr>
            </a:lvl4pPr>
            <a:lvl5pPr>
              <a:defRPr sz="1600" b="1">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9pPr>
          </a:lstStyle>
          <a:p>
            <a:pPr marL="457200" lvl="2" indent="-457200" defTabSz="0" eaLnBrk="1" hangingPunct="1">
              <a:spcBef>
                <a:spcPct val="20000"/>
              </a:spcBef>
              <a:buSzPct val="100000"/>
              <a:buFont typeface="Wingdings" panose="05000000000000000000" pitchFamily="2" charset="2"/>
              <a:buChar char="u"/>
            </a:pPr>
            <a:r>
              <a:rPr lang="zh-CN" altLang="en-US" sz="2200" b="0" dirty="0">
                <a:latin typeface="微软雅黑" panose="020B0503020204020204" pitchFamily="34" charset="-122"/>
                <a:ea typeface="微软雅黑" panose="020B0503020204020204" pitchFamily="34" charset="-122"/>
                <a:sym typeface="Arial" panose="020B0604020202020204" pitchFamily="34" charset="0"/>
              </a:rPr>
              <a:t>二级价格歧视</a:t>
            </a:r>
            <a:endParaRPr lang="en-US" altLang="zh-CN" sz="2200" b="0" dirty="0">
              <a:latin typeface="微软雅黑" panose="020B0503020204020204" pitchFamily="34" charset="-122"/>
              <a:ea typeface="微软雅黑" panose="020B0503020204020204" pitchFamily="34" charset="-122"/>
              <a:sym typeface="Arial" panose="020B0604020202020204" pitchFamily="34" charset="0"/>
            </a:endParaRPr>
          </a:p>
          <a:p>
            <a:pPr marL="457200" lvl="1" indent="0" defTabSz="0" eaLnBrk="1" hangingPunct="1">
              <a:lnSpc>
                <a:spcPct val="150000"/>
              </a:lnSpc>
              <a:spcBef>
                <a:spcPct val="20000"/>
              </a:spcBef>
              <a:buSzPct val="100000"/>
            </a:pPr>
            <a:r>
              <a:rPr lang="zh-CN" altLang="en-US" sz="2000" b="0" dirty="0">
                <a:latin typeface="微软雅黑" panose="020B0503020204020204" pitchFamily="34" charset="-122"/>
                <a:ea typeface="微软雅黑" panose="020B0503020204020204" pitchFamily="34" charset="-122"/>
                <a:sym typeface="Arial" panose="020B0604020202020204" pitchFamily="34" charset="0"/>
              </a:rPr>
              <a:t>把全部的产品分成若干堆”</a:t>
            </a:r>
            <a:r>
              <a:rPr lang="en-US" altLang="zh-CN" sz="2000" b="0" dirty="0">
                <a:latin typeface="微软雅黑" panose="020B0503020204020204" pitchFamily="34" charset="-122"/>
                <a:ea typeface="微软雅黑" panose="020B0503020204020204" pitchFamily="34" charset="-122"/>
                <a:sym typeface="Arial" panose="020B0604020202020204" pitchFamily="34" charset="0"/>
              </a:rPr>
              <a:t>, </a:t>
            </a:r>
            <a:r>
              <a:rPr lang="zh-CN" altLang="en-US" sz="2000" b="0" dirty="0">
                <a:latin typeface="微软雅黑" panose="020B0503020204020204" pitchFamily="34" charset="-122"/>
                <a:ea typeface="微软雅黑" panose="020B0503020204020204" pitchFamily="34" charset="-122"/>
                <a:sym typeface="Arial" panose="020B0604020202020204" pitchFamily="34" charset="0"/>
              </a:rPr>
              <a:t>对每一“堆”产品按消费者的边际意愿支付来定价。</a:t>
            </a:r>
          </a:p>
          <a:p>
            <a:pPr lvl="3">
              <a:spcBef>
                <a:spcPct val="20000"/>
              </a:spcBef>
            </a:pPr>
            <a:endParaRPr lang="zh-CN" altLang="en-US" sz="2000" b="0" dirty="0">
              <a:solidFill>
                <a:srgbClr val="000000"/>
              </a:solidFill>
              <a:sym typeface="Arial" panose="020B0604020202020204" pitchFamily="34" charset="0"/>
            </a:endParaRPr>
          </a:p>
          <a:p>
            <a:pPr lvl="3">
              <a:spcBef>
                <a:spcPct val="20000"/>
              </a:spcBef>
              <a:buFont typeface="Arial" panose="020B0604020202020204" pitchFamily="34" charset="0"/>
              <a:buChar char="–"/>
            </a:pPr>
            <a:endParaRPr lang="zh-CN" altLang="en-US" sz="2000" b="0" dirty="0">
              <a:solidFill>
                <a:srgbClr val="000000"/>
              </a:solidFill>
              <a:sym typeface="Arial" panose="020B0604020202020204" pitchFamily="34" charset="0"/>
            </a:endParaRPr>
          </a:p>
        </p:txBody>
      </p:sp>
      <p:sp>
        <p:nvSpPr>
          <p:cNvPr id="23583" name="圆角矩形标注 32"/>
          <p:cNvSpPr>
            <a:spLocks noChangeArrowheads="1"/>
          </p:cNvSpPr>
          <p:nvPr/>
        </p:nvSpPr>
        <p:spPr bwMode="auto">
          <a:xfrm>
            <a:off x="6429375" y="4208570"/>
            <a:ext cx="2500313" cy="647700"/>
          </a:xfrm>
          <a:prstGeom prst="wedgeRoundRectCallout">
            <a:avLst>
              <a:gd name="adj1" fmla="val -78301"/>
              <a:gd name="adj2" fmla="val 13144"/>
              <a:gd name="adj3" fmla="val 16667"/>
            </a:avLst>
          </a:prstGeom>
          <a:solidFill>
            <a:schemeClr val="bg1"/>
          </a:solidFill>
          <a:ln>
            <a:solidFill>
              <a:srgbClr val="C00000"/>
            </a:solidFill>
          </a:ln>
        </p:spPr>
        <p:style>
          <a:lnRef idx="3">
            <a:schemeClr val="lt1"/>
          </a:lnRef>
          <a:fillRef idx="1">
            <a:schemeClr val="accent1"/>
          </a:fillRef>
          <a:effectRef idx="1">
            <a:schemeClr val="accent1"/>
          </a:effectRef>
          <a:fontRef idx="minor">
            <a:schemeClr val="lt1"/>
          </a:fontRef>
        </p:style>
        <p:txBody>
          <a:bodyPr>
            <a:spAutoFit/>
          </a:bodyPr>
          <a:lstStyle/>
          <a:p>
            <a:r>
              <a:rPr lang="zh-CN" altLang="en-US" b="0">
                <a:solidFill>
                  <a:schemeClr val="tx1"/>
                </a:solidFill>
                <a:latin typeface="微软雅黑" panose="020B0503020204020204" pitchFamily="34" charset="-122"/>
                <a:ea typeface="微软雅黑" panose="020B0503020204020204" pitchFamily="34" charset="-122"/>
                <a:sym typeface="Arial" panose="020B0604020202020204" pitchFamily="34" charset="0"/>
              </a:rPr>
              <a:t>对超过</a:t>
            </a:r>
            <a:r>
              <a:rPr lang="en-US" altLang="zh-CN" b="0">
                <a:solidFill>
                  <a:schemeClr val="tx1"/>
                </a:solidFill>
                <a:latin typeface="微软雅黑" panose="020B0503020204020204" pitchFamily="34" charset="-122"/>
                <a:ea typeface="微软雅黑" panose="020B0503020204020204" pitchFamily="34" charset="-122"/>
                <a:sym typeface="Arial" panose="020B0604020202020204" pitchFamily="34" charset="0"/>
              </a:rPr>
              <a:t>Q</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2</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但</a:t>
            </a:r>
            <a:r>
              <a:rPr lang="zh-CN" altLang="en-US" b="0">
                <a:solidFill>
                  <a:schemeClr val="tx1"/>
                </a:solidFill>
                <a:latin typeface="微软雅黑" panose="020B0503020204020204" pitchFamily="34" charset="-122"/>
                <a:ea typeface="微软雅黑" panose="020B0503020204020204" pitchFamily="34" charset="-122"/>
                <a:sym typeface="Arial" panose="020B0604020202020204" pitchFamily="34" charset="0"/>
              </a:rPr>
              <a:t>不超过</a:t>
            </a:r>
            <a:r>
              <a:rPr lang="en-US" altLang="zh-CN" b="0">
                <a:solidFill>
                  <a:schemeClr val="tx1"/>
                </a:solidFill>
                <a:latin typeface="微软雅黑" panose="020B0503020204020204" pitchFamily="34" charset="-122"/>
                <a:ea typeface="微软雅黑" panose="020B0503020204020204" pitchFamily="34" charset="-122"/>
                <a:sym typeface="Arial" panose="020B0604020202020204" pitchFamily="34" charset="0"/>
              </a:rPr>
              <a:t>Q</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3</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的产品</a:t>
            </a:r>
            <a:r>
              <a:rPr lang="zh-CN" altLang="en-US" b="0">
                <a:solidFill>
                  <a:schemeClr val="tx1"/>
                </a:solidFill>
                <a:latin typeface="微软雅黑" panose="020B0503020204020204" pitchFamily="34" charset="-122"/>
                <a:ea typeface="微软雅黑" panose="020B0503020204020204" pitchFamily="34" charset="-122"/>
                <a:sym typeface="Arial" panose="020B0604020202020204" pitchFamily="34" charset="0"/>
              </a:rPr>
              <a:t>部分收取</a:t>
            </a:r>
            <a:r>
              <a:rPr lang="en-US" altLang="zh-CN" b="0">
                <a:solidFill>
                  <a:schemeClr val="tx1"/>
                </a:solidFill>
                <a:latin typeface="微软雅黑" panose="020B0503020204020204" pitchFamily="34" charset="-122"/>
                <a:ea typeface="微软雅黑" panose="020B0503020204020204" pitchFamily="34" charset="-122"/>
                <a:sym typeface="Arial" panose="020B0604020202020204" pitchFamily="34" charset="0"/>
              </a:rPr>
              <a:t>P</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3</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的价格</a:t>
            </a:r>
          </a:p>
        </p:txBody>
      </p:sp>
      <p:sp>
        <p:nvSpPr>
          <p:cNvPr id="23585" name="圆角矩形标注 34"/>
          <p:cNvSpPr>
            <a:spLocks noChangeArrowheads="1"/>
          </p:cNvSpPr>
          <p:nvPr/>
        </p:nvSpPr>
        <p:spPr bwMode="auto">
          <a:xfrm>
            <a:off x="4000500" y="2708383"/>
            <a:ext cx="2500313" cy="646112"/>
          </a:xfrm>
          <a:prstGeom prst="wedgeRoundRectCallout">
            <a:avLst>
              <a:gd name="adj1" fmla="val -57613"/>
              <a:gd name="adj2" fmla="val 69824"/>
              <a:gd name="adj3" fmla="val 16667"/>
            </a:avLst>
          </a:prstGeom>
          <a:solidFill>
            <a:schemeClr val="bg1"/>
          </a:solidFill>
          <a:ln>
            <a:solidFill>
              <a:srgbClr val="C00000"/>
            </a:solidFill>
          </a:ln>
        </p:spPr>
        <p:style>
          <a:lnRef idx="3">
            <a:schemeClr val="lt1"/>
          </a:lnRef>
          <a:fillRef idx="1">
            <a:schemeClr val="accent1"/>
          </a:fillRef>
          <a:effectRef idx="1">
            <a:schemeClr val="accent1"/>
          </a:effectRef>
          <a:fontRef idx="minor">
            <a:schemeClr val="lt1"/>
          </a:fontRef>
        </p:style>
        <p:txBody>
          <a:bodyPr>
            <a:spAutoFit/>
          </a:bodyPr>
          <a:lstStyle/>
          <a:p>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垄断企业对</a:t>
            </a:r>
            <a:r>
              <a:rPr lang="zh-CN" altLang="en-US" b="0">
                <a:solidFill>
                  <a:schemeClr val="tx1"/>
                </a:solidFill>
                <a:latin typeface="微软雅黑" panose="020B0503020204020204" pitchFamily="34" charset="-122"/>
                <a:ea typeface="微软雅黑" panose="020B0503020204020204" pitchFamily="34" charset="-122"/>
                <a:sym typeface="Arial" panose="020B0604020202020204" pitchFamily="34" charset="0"/>
              </a:rPr>
              <a:t>不超过</a:t>
            </a:r>
            <a:r>
              <a:rPr lang="en-US" altLang="zh-CN" b="0">
                <a:solidFill>
                  <a:schemeClr val="tx1"/>
                </a:solidFill>
                <a:latin typeface="微软雅黑" panose="020B0503020204020204" pitchFamily="34" charset="-122"/>
                <a:ea typeface="微软雅黑" panose="020B0503020204020204" pitchFamily="34" charset="-122"/>
                <a:sym typeface="Arial" panose="020B0604020202020204" pitchFamily="34" charset="0"/>
              </a:rPr>
              <a:t>Q</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1</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的产品</a:t>
            </a:r>
            <a:r>
              <a:rPr lang="zh-CN" altLang="en-US" b="0">
                <a:solidFill>
                  <a:schemeClr val="tx1"/>
                </a:solidFill>
                <a:latin typeface="微软雅黑" panose="020B0503020204020204" pitchFamily="34" charset="-122"/>
                <a:ea typeface="微软雅黑" panose="020B0503020204020204" pitchFamily="34" charset="-122"/>
                <a:sym typeface="Arial" panose="020B0604020202020204" pitchFamily="34" charset="0"/>
              </a:rPr>
              <a:t>部分收取</a:t>
            </a:r>
            <a:r>
              <a:rPr lang="en-US" altLang="zh-CN" b="0">
                <a:solidFill>
                  <a:schemeClr val="tx1"/>
                </a:solidFill>
                <a:latin typeface="微软雅黑" panose="020B0503020204020204" pitchFamily="34" charset="-122"/>
                <a:ea typeface="微软雅黑" panose="020B0503020204020204" pitchFamily="34" charset="-122"/>
                <a:sym typeface="Arial" panose="020B0604020202020204" pitchFamily="34" charset="0"/>
              </a:rPr>
              <a:t>P</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1</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的价格</a:t>
            </a:r>
          </a:p>
        </p:txBody>
      </p:sp>
      <p:sp>
        <p:nvSpPr>
          <p:cNvPr id="23586" name="圆角矩形标注 35"/>
          <p:cNvSpPr>
            <a:spLocks noChangeArrowheads="1"/>
          </p:cNvSpPr>
          <p:nvPr/>
        </p:nvSpPr>
        <p:spPr bwMode="auto">
          <a:xfrm>
            <a:off x="5143500" y="3494195"/>
            <a:ext cx="2812735" cy="646986"/>
          </a:xfrm>
          <a:prstGeom prst="wedgeRoundRectCallout">
            <a:avLst>
              <a:gd name="adj1" fmla="val -63255"/>
              <a:gd name="adj2" fmla="val 44551"/>
              <a:gd name="adj3" fmla="val 16667"/>
            </a:avLst>
          </a:prstGeom>
          <a:solidFill>
            <a:schemeClr val="bg1"/>
          </a:solidFill>
          <a:ln>
            <a:solidFill>
              <a:srgbClr val="C00000"/>
            </a:solidFill>
          </a:ln>
        </p:spPr>
        <p:style>
          <a:lnRef idx="3">
            <a:schemeClr val="lt1"/>
          </a:lnRef>
          <a:fillRef idx="1">
            <a:schemeClr val="accent1"/>
          </a:fillRef>
          <a:effectRef idx="1">
            <a:schemeClr val="accent1"/>
          </a:effectRef>
          <a:fontRef idx="minor">
            <a:schemeClr val="lt1"/>
          </a:fontRef>
        </p:style>
        <p:txBody>
          <a:bodyPr wrap="square">
            <a:spAutoFit/>
          </a:bodyPr>
          <a:lstStyle/>
          <a:p>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对超过</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Q1</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但不超过</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Q2</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的产品部分收取</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P2</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的价格</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 </a:t>
            </a:r>
            <a:endPar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3587" name="矩形标注 36"/>
          <p:cNvSpPr>
            <a:spLocks noChangeArrowheads="1"/>
          </p:cNvSpPr>
          <p:nvPr/>
        </p:nvSpPr>
        <p:spPr bwMode="auto">
          <a:xfrm>
            <a:off x="2882177" y="5588901"/>
            <a:ext cx="2300289" cy="338138"/>
          </a:xfrm>
          <a:prstGeom prst="wedgeRectCallout">
            <a:avLst>
              <a:gd name="adj1" fmla="val -20157"/>
              <a:gd name="adj2" fmla="val -91833"/>
            </a:avLst>
          </a:prstGeom>
          <a:solidFill>
            <a:schemeClr val="bg1"/>
          </a:solidFill>
          <a:ln>
            <a:solidFill>
              <a:srgbClr val="C00000"/>
            </a:solidFill>
          </a:ln>
        </p:spPr>
        <p:style>
          <a:lnRef idx="3">
            <a:schemeClr val="lt1"/>
          </a:lnRef>
          <a:fillRef idx="1">
            <a:schemeClr val="accent1"/>
          </a:fillRef>
          <a:effectRef idx="1">
            <a:schemeClr val="accent1"/>
          </a:effectRef>
          <a:fontRef idx="minor">
            <a:schemeClr val="lt1"/>
          </a:fontRef>
        </p:style>
        <p:txBody>
          <a:bodyPr>
            <a:spAutoFit/>
          </a:bodyPr>
          <a:lstStyle/>
          <a:p>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垄断企业的全部收益</a:t>
            </a:r>
            <a:endParaRPr lang="zh-CN" altLang="en-US" b="0" dirty="0">
              <a:solidFill>
                <a:schemeClr val="tx1"/>
              </a:solidFill>
              <a:latin typeface="微软雅黑" panose="020B0503020204020204" pitchFamily="34" charset="-122"/>
              <a:ea typeface="微软雅黑" panose="020B0503020204020204" pitchFamily="34" charset="-122"/>
            </a:endParaRPr>
          </a:p>
        </p:txBody>
      </p:sp>
      <p:sp>
        <p:nvSpPr>
          <p:cNvPr id="23588" name="圆角矩形标注 37"/>
          <p:cNvSpPr>
            <a:spLocks noChangeArrowheads="1"/>
          </p:cNvSpPr>
          <p:nvPr/>
        </p:nvSpPr>
        <p:spPr bwMode="auto">
          <a:xfrm>
            <a:off x="5429250" y="5565883"/>
            <a:ext cx="2382975" cy="374650"/>
          </a:xfrm>
          <a:prstGeom prst="wedgeRoundRectCallout">
            <a:avLst>
              <a:gd name="adj1" fmla="val -28222"/>
              <a:gd name="adj2" fmla="val -92491"/>
              <a:gd name="adj3" fmla="val 16667"/>
            </a:avLst>
          </a:prstGeom>
          <a:solidFill>
            <a:schemeClr val="bg1"/>
          </a:solidFill>
          <a:ln>
            <a:solidFill>
              <a:srgbClr val="C00000"/>
            </a:solidFill>
          </a:ln>
        </p:spPr>
        <p:style>
          <a:lnRef idx="3">
            <a:schemeClr val="lt1"/>
          </a:lnRef>
          <a:fillRef idx="1">
            <a:schemeClr val="accent1"/>
          </a:fillRef>
          <a:effectRef idx="1">
            <a:schemeClr val="accent1"/>
          </a:effectRef>
          <a:fontRef idx="minor">
            <a:schemeClr val="lt1"/>
          </a:fontRef>
        </p:style>
        <p:txBody>
          <a:bodyPr>
            <a:spAutoFit/>
          </a:bodyPr>
          <a:lstStyle/>
          <a:p>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消费者仍然保留的剩余</a:t>
            </a:r>
            <a:endParaRPr lang="zh-CN" altLang="en-US" b="0" dirty="0">
              <a:solidFill>
                <a:schemeClr val="tx1"/>
              </a:solidFill>
              <a:latin typeface="微软雅黑" panose="020B0503020204020204" pitchFamily="34" charset="-122"/>
              <a:ea typeface="微软雅黑" panose="020B0503020204020204" pitchFamily="34" charset="-122"/>
            </a:endParaRPr>
          </a:p>
        </p:txBody>
      </p:sp>
      <p:sp>
        <p:nvSpPr>
          <p:cNvPr id="39" name="矩形 38">
            <a:extLst>
              <a:ext uri="{FF2B5EF4-FFF2-40B4-BE49-F238E27FC236}">
                <a16:creationId xmlns:a16="http://schemas.microsoft.com/office/drawing/2014/main" id="{F68E5273-CD77-47B9-B841-9D29349C133D}"/>
              </a:ext>
            </a:extLst>
          </p:cNvPr>
          <p:cNvSpPr/>
          <p:nvPr/>
        </p:nvSpPr>
        <p:spPr>
          <a:xfrm>
            <a:off x="467544" y="548680"/>
            <a:ext cx="2146742"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spc="150" dirty="0">
                <a:solidFill>
                  <a:srgbClr val="FFFFFF"/>
                </a:solidFill>
                <a:latin typeface="微软雅黑" panose="020B0503020204020204" pitchFamily="34" charset="-122"/>
                <a:ea typeface="微软雅黑" panose="020B0503020204020204" pitchFamily="34" charset="-122"/>
              </a:rPr>
              <a:t>五</a:t>
            </a:r>
            <a:r>
              <a:rPr lang="zh-CN" altLang="en-US" sz="2400" b="1" spc="150" dirty="0">
                <a:solidFill>
                  <a:srgbClr val="FFFFFF"/>
                </a:solidFill>
                <a:latin typeface="微软雅黑" panose="020B0503020204020204" pitchFamily="34" charset="-122"/>
                <a:ea typeface="微软雅黑" panose="020B0503020204020204" pitchFamily="34" charset="-122"/>
              </a:rPr>
              <a:t>、</a:t>
            </a:r>
            <a:r>
              <a:rPr lang="zh-CN" altLang="en-US" sz="2400" spc="15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价格歧视</a:t>
            </a:r>
            <a:endParaRPr lang="zh-CN" altLang="en-US" sz="2400" b="1" spc="150" dirty="0">
              <a:solidFill>
                <a:srgbClr val="FFFFFF"/>
              </a:solidFill>
              <a:latin typeface="微软雅黑" panose="020B0503020204020204" pitchFamily="34" charset="-122"/>
              <a:ea typeface="微软雅黑" panose="020B0503020204020204" pitchFamily="34" charset="-122"/>
            </a:endParaRPr>
          </a:p>
        </p:txBody>
      </p:sp>
      <p:sp>
        <p:nvSpPr>
          <p:cNvPr id="41" name="矩形 40"/>
          <p:cNvSpPr/>
          <p:nvPr/>
        </p:nvSpPr>
        <p:spPr>
          <a:xfrm>
            <a:off x="7505410" y="35458"/>
            <a:ext cx="1638590" cy="369332"/>
          </a:xfrm>
          <a:prstGeom prst="rect">
            <a:avLst/>
          </a:prstGeom>
        </p:spPr>
        <p:txBody>
          <a:bodyPr wrap="none">
            <a:spAutoFit/>
          </a:bodyPr>
          <a:lstStyle/>
          <a:p>
            <a:pPr algn="dist"/>
            <a:r>
              <a:rPr lang="zh-CN" altLang="en-US" sz="1800" b="0" spc="30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第一节 垄断</a:t>
            </a:r>
            <a:endParaRPr lang="zh-CN" altLang="en-US" sz="1800" b="0" spc="300" dirty="0">
              <a:solidFill>
                <a:schemeClr val="tx2"/>
              </a:solidFill>
              <a:ea typeface="黑体" panose="02010609060101010101" pitchFamily="49" charset="-122"/>
              <a:sym typeface="Arial" panose="020B0604020202020204" pitchFamily="34"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3582">
                                            <p:txEl>
                                              <p:pRg st="0" end="0"/>
                                            </p:txEl>
                                          </p:spTgt>
                                        </p:tgtEl>
                                        <p:attrNameLst>
                                          <p:attrName>style.visibility</p:attrName>
                                        </p:attrNameLst>
                                      </p:cBhvr>
                                      <p:to>
                                        <p:strVal val="visible"/>
                                      </p:to>
                                    </p:set>
                                    <p:animEffect>
                                      <p:cBhvr>
                                        <p:cTn id="7" dur="500"/>
                                        <p:tgtEl>
                                          <p:spTgt spid="2358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3582">
                                            <p:txEl>
                                              <p:pRg st="1" end="1"/>
                                            </p:txEl>
                                          </p:spTgt>
                                        </p:tgtEl>
                                        <p:attrNameLst>
                                          <p:attrName>style.visibility</p:attrName>
                                        </p:attrNameLst>
                                      </p:cBhvr>
                                      <p:to>
                                        <p:strVal val="visible"/>
                                      </p:to>
                                    </p:set>
                                    <p:animEffect>
                                      <p:cBhvr>
                                        <p:cTn id="12" dur="500"/>
                                        <p:tgtEl>
                                          <p:spTgt spid="23582">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3571"/>
                                        </p:tgtEl>
                                        <p:attrNameLst>
                                          <p:attrName>style.visibility</p:attrName>
                                        </p:attrNameLst>
                                      </p:cBhvr>
                                      <p:to>
                                        <p:strVal val="visible"/>
                                      </p:to>
                                    </p:set>
                                    <p:animEffect>
                                      <p:cBhvr>
                                        <p:cTn id="17" dur="500"/>
                                        <p:tgtEl>
                                          <p:spTgt spid="23571"/>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23554"/>
                                        </p:tgtEl>
                                        <p:attrNameLst>
                                          <p:attrName>style.visibility</p:attrName>
                                        </p:attrNameLst>
                                      </p:cBhvr>
                                      <p:to>
                                        <p:strVal val="visible"/>
                                      </p:to>
                                    </p:set>
                                    <p:animEffect>
                                      <p:cBhvr>
                                        <p:cTn id="20" dur="500"/>
                                        <p:tgtEl>
                                          <p:spTgt spid="23554"/>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23556"/>
                                        </p:tgtEl>
                                        <p:attrNameLst>
                                          <p:attrName>style.visibility</p:attrName>
                                        </p:attrNameLst>
                                      </p:cBhvr>
                                      <p:to>
                                        <p:strVal val="visible"/>
                                      </p:to>
                                    </p:set>
                                    <p:animEffect>
                                      <p:cBhvr>
                                        <p:cTn id="23" dur="500"/>
                                        <p:tgtEl>
                                          <p:spTgt spid="23556"/>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23555"/>
                                        </p:tgtEl>
                                        <p:attrNameLst>
                                          <p:attrName>style.visibility</p:attrName>
                                        </p:attrNameLst>
                                      </p:cBhvr>
                                      <p:to>
                                        <p:strVal val="visible"/>
                                      </p:to>
                                    </p:set>
                                    <p:animEffect>
                                      <p:cBhvr>
                                        <p:cTn id="26" dur="500"/>
                                        <p:tgtEl>
                                          <p:spTgt spid="23555"/>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23557"/>
                                        </p:tgtEl>
                                        <p:attrNameLst>
                                          <p:attrName>style.visibility</p:attrName>
                                        </p:attrNameLst>
                                      </p:cBhvr>
                                      <p:to>
                                        <p:strVal val="visible"/>
                                      </p:to>
                                    </p:set>
                                    <p:animEffect>
                                      <p:cBhvr>
                                        <p:cTn id="29" dur="500"/>
                                        <p:tgtEl>
                                          <p:spTgt spid="23557"/>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23558"/>
                                        </p:tgtEl>
                                        <p:attrNameLst>
                                          <p:attrName>style.visibility</p:attrName>
                                        </p:attrNameLst>
                                      </p:cBhvr>
                                      <p:to>
                                        <p:strVal val="visible"/>
                                      </p:to>
                                    </p:set>
                                    <p:animEffect>
                                      <p:cBhvr>
                                        <p:cTn id="34" dur="500"/>
                                        <p:tgtEl>
                                          <p:spTgt spid="23558"/>
                                        </p:tgtEl>
                                      </p:cBhvr>
                                    </p:animEffect>
                                  </p:childTnLst>
                                </p:cTn>
                              </p:par>
                              <p:par>
                                <p:cTn id="35" presetID="3" presetClass="entr" presetSubtype="10" fill="hold" grpId="0" nodeType="withEffect">
                                  <p:stCondLst>
                                    <p:cond delay="0"/>
                                  </p:stCondLst>
                                  <p:childTnLst>
                                    <p:set>
                                      <p:cBhvr>
                                        <p:cTn id="36" dur="1" fill="hold">
                                          <p:stCondLst>
                                            <p:cond delay="0"/>
                                          </p:stCondLst>
                                        </p:cTn>
                                        <p:tgtEl>
                                          <p:spTgt spid="23559"/>
                                        </p:tgtEl>
                                        <p:attrNameLst>
                                          <p:attrName>style.visibility</p:attrName>
                                        </p:attrNameLst>
                                      </p:cBhvr>
                                      <p:to>
                                        <p:strVal val="visible"/>
                                      </p:to>
                                    </p:set>
                                    <p:animEffect>
                                      <p:cBhvr>
                                        <p:cTn id="37" dur="500"/>
                                        <p:tgtEl>
                                          <p:spTgt spid="2355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3565"/>
                                        </p:tgtEl>
                                        <p:attrNameLst>
                                          <p:attrName>style.visibility</p:attrName>
                                        </p:attrNameLst>
                                      </p:cBhvr>
                                      <p:to>
                                        <p:strVal val="visible"/>
                                      </p:to>
                                    </p:set>
                                    <p:animEffect>
                                      <p:cBhvr>
                                        <p:cTn id="42" dur="500"/>
                                        <p:tgtEl>
                                          <p:spTgt spid="23565"/>
                                        </p:tgtEl>
                                      </p:cBhvr>
                                    </p:animEffect>
                                  </p:childTnLst>
                                </p:cTn>
                              </p:par>
                              <p:par>
                                <p:cTn id="43" presetID="3" presetClass="entr" presetSubtype="10" fill="hold" grpId="0" nodeType="withEffect">
                                  <p:stCondLst>
                                    <p:cond delay="0"/>
                                  </p:stCondLst>
                                  <p:childTnLst>
                                    <p:set>
                                      <p:cBhvr>
                                        <p:cTn id="44" dur="1" fill="hold">
                                          <p:stCondLst>
                                            <p:cond delay="0"/>
                                          </p:stCondLst>
                                        </p:cTn>
                                        <p:tgtEl>
                                          <p:spTgt spid="23561"/>
                                        </p:tgtEl>
                                        <p:attrNameLst>
                                          <p:attrName>style.visibility</p:attrName>
                                        </p:attrNameLst>
                                      </p:cBhvr>
                                      <p:to>
                                        <p:strVal val="visible"/>
                                      </p:to>
                                    </p:set>
                                    <p:animEffect>
                                      <p:cBhvr>
                                        <p:cTn id="45" dur="500"/>
                                        <p:tgtEl>
                                          <p:spTgt spid="23561"/>
                                        </p:tgtEl>
                                      </p:cBhvr>
                                    </p:animEffect>
                                  </p:childTnLst>
                                </p:cTn>
                              </p:par>
                              <p:par>
                                <p:cTn id="46" presetID="3" presetClass="entr" presetSubtype="10" fill="hold" grpId="0" nodeType="withEffect">
                                  <p:stCondLst>
                                    <p:cond delay="0"/>
                                  </p:stCondLst>
                                  <p:childTnLst>
                                    <p:set>
                                      <p:cBhvr>
                                        <p:cTn id="47" dur="1" fill="hold">
                                          <p:stCondLst>
                                            <p:cond delay="0"/>
                                          </p:stCondLst>
                                        </p:cTn>
                                        <p:tgtEl>
                                          <p:spTgt spid="23572"/>
                                        </p:tgtEl>
                                        <p:attrNameLst>
                                          <p:attrName>style.visibility</p:attrName>
                                        </p:attrNameLst>
                                      </p:cBhvr>
                                      <p:to>
                                        <p:strVal val="visible"/>
                                      </p:to>
                                    </p:set>
                                    <p:animEffect>
                                      <p:cBhvr>
                                        <p:cTn id="48" dur="500"/>
                                        <p:tgtEl>
                                          <p:spTgt spid="23572"/>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23564"/>
                                        </p:tgtEl>
                                        <p:attrNameLst>
                                          <p:attrName>style.visibility</p:attrName>
                                        </p:attrNameLst>
                                      </p:cBhvr>
                                      <p:to>
                                        <p:strVal val="visible"/>
                                      </p:to>
                                    </p:set>
                                    <p:animEffect>
                                      <p:cBhvr>
                                        <p:cTn id="53" dur="500"/>
                                        <p:tgtEl>
                                          <p:spTgt spid="23564"/>
                                        </p:tgtEl>
                                      </p:cBhvr>
                                    </p:animEffect>
                                  </p:childTnLst>
                                </p:cTn>
                              </p:par>
                              <p:par>
                                <p:cTn id="54" presetID="3" presetClass="entr" presetSubtype="10" fill="hold" grpId="0" nodeType="withEffect">
                                  <p:stCondLst>
                                    <p:cond delay="0"/>
                                  </p:stCondLst>
                                  <p:childTnLst>
                                    <p:set>
                                      <p:cBhvr>
                                        <p:cTn id="55" dur="1" fill="hold">
                                          <p:stCondLst>
                                            <p:cond delay="0"/>
                                          </p:stCondLst>
                                        </p:cTn>
                                        <p:tgtEl>
                                          <p:spTgt spid="23566"/>
                                        </p:tgtEl>
                                        <p:attrNameLst>
                                          <p:attrName>style.visibility</p:attrName>
                                        </p:attrNameLst>
                                      </p:cBhvr>
                                      <p:to>
                                        <p:strVal val="visible"/>
                                      </p:to>
                                    </p:set>
                                    <p:animEffect>
                                      <p:cBhvr>
                                        <p:cTn id="56" dur="500"/>
                                        <p:tgtEl>
                                          <p:spTgt spid="23566"/>
                                        </p:tgtEl>
                                      </p:cBhvr>
                                    </p:animEffect>
                                  </p:childTnLst>
                                </p:cTn>
                              </p:par>
                              <p:par>
                                <p:cTn id="57" presetID="3" presetClass="entr" presetSubtype="10" fill="hold" grpId="0" nodeType="withEffect">
                                  <p:stCondLst>
                                    <p:cond delay="0"/>
                                  </p:stCondLst>
                                  <p:childTnLst>
                                    <p:set>
                                      <p:cBhvr>
                                        <p:cTn id="58" dur="1" fill="hold">
                                          <p:stCondLst>
                                            <p:cond delay="0"/>
                                          </p:stCondLst>
                                        </p:cTn>
                                        <p:tgtEl>
                                          <p:spTgt spid="23567"/>
                                        </p:tgtEl>
                                        <p:attrNameLst>
                                          <p:attrName>style.visibility</p:attrName>
                                        </p:attrNameLst>
                                      </p:cBhvr>
                                      <p:to>
                                        <p:strVal val="visible"/>
                                      </p:to>
                                    </p:set>
                                    <p:animEffect>
                                      <p:cBhvr>
                                        <p:cTn id="59" dur="500"/>
                                        <p:tgtEl>
                                          <p:spTgt spid="23567"/>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3" presetClass="entr" presetSubtype="10" fill="hold" nodeType="clickEffect">
                                  <p:stCondLst>
                                    <p:cond delay="0"/>
                                  </p:stCondLst>
                                  <p:childTnLst>
                                    <p:set>
                                      <p:cBhvr>
                                        <p:cTn id="63" dur="1" fill="hold">
                                          <p:stCondLst>
                                            <p:cond delay="0"/>
                                          </p:stCondLst>
                                        </p:cTn>
                                        <p:tgtEl>
                                          <p:spTgt spid="23570"/>
                                        </p:tgtEl>
                                        <p:attrNameLst>
                                          <p:attrName>style.visibility</p:attrName>
                                        </p:attrNameLst>
                                      </p:cBhvr>
                                      <p:to>
                                        <p:strVal val="visible"/>
                                      </p:to>
                                    </p:set>
                                    <p:animEffect>
                                      <p:cBhvr>
                                        <p:cTn id="64" dur="500"/>
                                        <p:tgtEl>
                                          <p:spTgt spid="23570"/>
                                        </p:tgtEl>
                                      </p:cBhvr>
                                    </p:animEffect>
                                  </p:childTnLst>
                                </p:cTn>
                              </p:par>
                              <p:par>
                                <p:cTn id="65" presetID="3" presetClass="entr" presetSubtype="10" fill="hold" grpId="0" nodeType="withEffect">
                                  <p:stCondLst>
                                    <p:cond delay="0"/>
                                  </p:stCondLst>
                                  <p:childTnLst>
                                    <p:set>
                                      <p:cBhvr>
                                        <p:cTn id="66" dur="1" fill="hold">
                                          <p:stCondLst>
                                            <p:cond delay="0"/>
                                          </p:stCondLst>
                                        </p:cTn>
                                        <p:tgtEl>
                                          <p:spTgt spid="23569"/>
                                        </p:tgtEl>
                                        <p:attrNameLst>
                                          <p:attrName>style.visibility</p:attrName>
                                        </p:attrNameLst>
                                      </p:cBhvr>
                                      <p:to>
                                        <p:strVal val="visible"/>
                                      </p:to>
                                    </p:set>
                                    <p:animEffect>
                                      <p:cBhvr>
                                        <p:cTn id="67" dur="500"/>
                                        <p:tgtEl>
                                          <p:spTgt spid="23569"/>
                                        </p:tgtEl>
                                      </p:cBhvr>
                                    </p:animEffect>
                                  </p:childTnLst>
                                </p:cTn>
                              </p:par>
                              <p:par>
                                <p:cTn id="68" presetID="3" presetClass="entr" presetSubtype="10" fill="hold" grpId="0" nodeType="withEffect">
                                  <p:stCondLst>
                                    <p:cond delay="0"/>
                                  </p:stCondLst>
                                  <p:childTnLst>
                                    <p:set>
                                      <p:cBhvr>
                                        <p:cTn id="69" dur="1" fill="hold">
                                          <p:stCondLst>
                                            <p:cond delay="0"/>
                                          </p:stCondLst>
                                        </p:cTn>
                                        <p:tgtEl>
                                          <p:spTgt spid="23568"/>
                                        </p:tgtEl>
                                        <p:attrNameLst>
                                          <p:attrName>style.visibility</p:attrName>
                                        </p:attrNameLst>
                                      </p:cBhvr>
                                      <p:to>
                                        <p:strVal val="visible"/>
                                      </p:to>
                                    </p:set>
                                    <p:animEffect>
                                      <p:cBhvr>
                                        <p:cTn id="70" dur="500"/>
                                        <p:tgtEl>
                                          <p:spTgt spid="23568"/>
                                        </p:tgtEl>
                                      </p:cBhvr>
                                    </p:animEffect>
                                  </p:childTnLst>
                                </p:cTn>
                              </p:par>
                            </p:childTnLst>
                          </p:cTn>
                        </p:par>
                      </p:childTnLst>
                    </p:cTn>
                  </p:par>
                  <p:par>
                    <p:cTn id="71" fill="hold">
                      <p:stCondLst>
                        <p:cond delay="indefinite"/>
                      </p:stCondLst>
                      <p:childTnLst>
                        <p:par>
                          <p:cTn id="72" fill="hold">
                            <p:stCondLst>
                              <p:cond delay="0"/>
                            </p:stCondLst>
                            <p:childTnLst>
                              <p:par>
                                <p:cTn id="73" presetID="3" presetClass="entr" presetSubtype="10" fill="hold" grpId="0" nodeType="clickEffect">
                                  <p:stCondLst>
                                    <p:cond delay="0"/>
                                  </p:stCondLst>
                                  <p:childTnLst>
                                    <p:set>
                                      <p:cBhvr>
                                        <p:cTn id="74" dur="1" fill="hold">
                                          <p:stCondLst>
                                            <p:cond delay="0"/>
                                          </p:stCondLst>
                                        </p:cTn>
                                        <p:tgtEl>
                                          <p:spTgt spid="23563"/>
                                        </p:tgtEl>
                                        <p:attrNameLst>
                                          <p:attrName>style.visibility</p:attrName>
                                        </p:attrNameLst>
                                      </p:cBhvr>
                                      <p:to>
                                        <p:strVal val="visible"/>
                                      </p:to>
                                    </p:set>
                                    <p:animEffect>
                                      <p:cBhvr>
                                        <p:cTn id="75" dur="500"/>
                                        <p:tgtEl>
                                          <p:spTgt spid="23563"/>
                                        </p:tgtEl>
                                      </p:cBhvr>
                                    </p:animEffect>
                                  </p:childTnLst>
                                </p:cTn>
                              </p:par>
                              <p:par>
                                <p:cTn id="76" presetID="3" presetClass="entr" presetSubtype="10" fill="hold" grpId="0" nodeType="withEffect">
                                  <p:stCondLst>
                                    <p:cond delay="0"/>
                                  </p:stCondLst>
                                  <p:childTnLst>
                                    <p:set>
                                      <p:cBhvr>
                                        <p:cTn id="77" dur="1" fill="hold">
                                          <p:stCondLst>
                                            <p:cond delay="0"/>
                                          </p:stCondLst>
                                        </p:cTn>
                                        <p:tgtEl>
                                          <p:spTgt spid="23562"/>
                                        </p:tgtEl>
                                        <p:attrNameLst>
                                          <p:attrName>style.visibility</p:attrName>
                                        </p:attrNameLst>
                                      </p:cBhvr>
                                      <p:to>
                                        <p:strVal val="visible"/>
                                      </p:to>
                                    </p:set>
                                    <p:animEffect>
                                      <p:cBhvr>
                                        <p:cTn id="78" dur="500"/>
                                        <p:tgtEl>
                                          <p:spTgt spid="23562"/>
                                        </p:tgtEl>
                                      </p:cBhvr>
                                    </p:animEffect>
                                  </p:childTnLst>
                                </p:cTn>
                              </p:par>
                              <p:par>
                                <p:cTn id="79" presetID="3" presetClass="entr" presetSubtype="10" fill="hold" grpId="0" nodeType="withEffect">
                                  <p:stCondLst>
                                    <p:cond delay="0"/>
                                  </p:stCondLst>
                                  <p:childTnLst>
                                    <p:set>
                                      <p:cBhvr>
                                        <p:cTn id="80" dur="1" fill="hold">
                                          <p:stCondLst>
                                            <p:cond delay="0"/>
                                          </p:stCondLst>
                                        </p:cTn>
                                        <p:tgtEl>
                                          <p:spTgt spid="23560"/>
                                        </p:tgtEl>
                                        <p:attrNameLst>
                                          <p:attrName>style.visibility</p:attrName>
                                        </p:attrNameLst>
                                      </p:cBhvr>
                                      <p:to>
                                        <p:strVal val="visible"/>
                                      </p:to>
                                    </p:set>
                                    <p:animEffect>
                                      <p:cBhvr>
                                        <p:cTn id="81" dur="500"/>
                                        <p:tgtEl>
                                          <p:spTgt spid="23560"/>
                                        </p:tgtEl>
                                      </p:cBhvr>
                                    </p:animEffect>
                                  </p:childTnLst>
                                </p:cTn>
                              </p:par>
                            </p:childTnLst>
                          </p:cTn>
                        </p:par>
                      </p:childTnLst>
                    </p:cTn>
                  </p:par>
                  <p:par>
                    <p:cTn id="82" fill="hold">
                      <p:stCondLst>
                        <p:cond delay="indefinite"/>
                      </p:stCondLst>
                      <p:childTnLst>
                        <p:par>
                          <p:cTn id="83" fill="hold">
                            <p:stCondLst>
                              <p:cond delay="0"/>
                            </p:stCondLst>
                            <p:childTnLst>
                              <p:par>
                                <p:cTn id="84" presetID="3" presetClass="entr" presetSubtype="10" fill="hold" grpId="0" nodeType="clickEffect">
                                  <p:stCondLst>
                                    <p:cond delay="0"/>
                                  </p:stCondLst>
                                  <p:childTnLst>
                                    <p:set>
                                      <p:cBhvr>
                                        <p:cTn id="85" dur="1" fill="hold">
                                          <p:stCondLst>
                                            <p:cond delay="0"/>
                                          </p:stCondLst>
                                        </p:cTn>
                                        <p:tgtEl>
                                          <p:spTgt spid="23584"/>
                                        </p:tgtEl>
                                        <p:attrNameLst>
                                          <p:attrName>style.visibility</p:attrName>
                                        </p:attrNameLst>
                                      </p:cBhvr>
                                      <p:to>
                                        <p:strVal val="visible"/>
                                      </p:to>
                                    </p:set>
                                    <p:animEffect>
                                      <p:cBhvr>
                                        <p:cTn id="86" dur="500"/>
                                        <p:tgtEl>
                                          <p:spTgt spid="23584"/>
                                        </p:tgtEl>
                                      </p:cBhvr>
                                    </p:animEffect>
                                  </p:childTnLst>
                                </p:cTn>
                              </p:par>
                            </p:childTnLst>
                          </p:cTn>
                        </p:par>
                      </p:childTnLst>
                    </p:cTn>
                  </p:par>
                  <p:par>
                    <p:cTn id="87" fill="hold">
                      <p:stCondLst>
                        <p:cond delay="indefinite"/>
                      </p:stCondLst>
                      <p:childTnLst>
                        <p:par>
                          <p:cTn id="88" fill="hold">
                            <p:stCondLst>
                              <p:cond delay="0"/>
                            </p:stCondLst>
                            <p:childTnLst>
                              <p:par>
                                <p:cTn id="89" presetID="3" presetClass="entr" presetSubtype="10" fill="hold" nodeType="clickEffect">
                                  <p:stCondLst>
                                    <p:cond delay="0"/>
                                  </p:stCondLst>
                                  <p:childTnLst>
                                    <p:set>
                                      <p:cBhvr>
                                        <p:cTn id="90" dur="1" fill="hold">
                                          <p:stCondLst>
                                            <p:cond delay="0"/>
                                          </p:stCondLst>
                                        </p:cTn>
                                        <p:tgtEl>
                                          <p:spTgt spid="23585"/>
                                        </p:tgtEl>
                                        <p:attrNameLst>
                                          <p:attrName>style.visibility</p:attrName>
                                        </p:attrNameLst>
                                      </p:cBhvr>
                                      <p:to>
                                        <p:strVal val="visible"/>
                                      </p:to>
                                    </p:set>
                                    <p:animEffect>
                                      <p:cBhvr>
                                        <p:cTn id="91" dur="500"/>
                                        <p:tgtEl>
                                          <p:spTgt spid="23585"/>
                                        </p:tgtEl>
                                      </p:cBhvr>
                                    </p:animEffect>
                                  </p:childTnLst>
                                </p:cTn>
                              </p:par>
                            </p:childTnLst>
                          </p:cTn>
                        </p:par>
                      </p:childTnLst>
                    </p:cTn>
                  </p:par>
                  <p:par>
                    <p:cTn id="92" fill="hold">
                      <p:stCondLst>
                        <p:cond delay="indefinite"/>
                      </p:stCondLst>
                      <p:childTnLst>
                        <p:par>
                          <p:cTn id="93" fill="hold">
                            <p:stCondLst>
                              <p:cond delay="0"/>
                            </p:stCondLst>
                            <p:childTnLst>
                              <p:par>
                                <p:cTn id="94" presetID="3" presetClass="entr" presetSubtype="10" fill="hold" grpId="0" nodeType="clickEffect">
                                  <p:stCondLst>
                                    <p:cond delay="0"/>
                                  </p:stCondLst>
                                  <p:childTnLst>
                                    <p:set>
                                      <p:cBhvr>
                                        <p:cTn id="95" dur="1" fill="hold">
                                          <p:stCondLst>
                                            <p:cond delay="0"/>
                                          </p:stCondLst>
                                        </p:cTn>
                                        <p:tgtEl>
                                          <p:spTgt spid="23586"/>
                                        </p:tgtEl>
                                        <p:attrNameLst>
                                          <p:attrName>style.visibility</p:attrName>
                                        </p:attrNameLst>
                                      </p:cBhvr>
                                      <p:to>
                                        <p:strVal val="visible"/>
                                      </p:to>
                                    </p:set>
                                    <p:animEffect>
                                      <p:cBhvr>
                                        <p:cTn id="96" dur="500"/>
                                        <p:tgtEl>
                                          <p:spTgt spid="23586"/>
                                        </p:tgtEl>
                                      </p:cBhvr>
                                    </p:animEffect>
                                  </p:childTnLst>
                                </p:cTn>
                              </p:par>
                            </p:childTnLst>
                          </p:cTn>
                        </p:par>
                      </p:childTnLst>
                    </p:cTn>
                  </p:par>
                  <p:par>
                    <p:cTn id="97" fill="hold" nodeType="clickPar">
                      <p:stCondLst>
                        <p:cond delay="indefinite"/>
                      </p:stCondLst>
                      <p:childTnLst>
                        <p:par>
                          <p:cTn id="98" fill="hold" nodeType="withGroup">
                            <p:stCondLst>
                              <p:cond delay="0"/>
                            </p:stCondLst>
                            <p:childTnLst>
                              <p:par>
                                <p:cTn id="99" presetID="3" presetClass="entr" presetSubtype="10" fill="hold" grpId="0" nodeType="clickEffect">
                                  <p:stCondLst>
                                    <p:cond delay="0"/>
                                  </p:stCondLst>
                                  <p:childTnLst>
                                    <p:set>
                                      <p:cBhvr>
                                        <p:cTn id="100" dur="1" fill="hold">
                                          <p:stCondLst>
                                            <p:cond delay="0"/>
                                          </p:stCondLst>
                                        </p:cTn>
                                        <p:tgtEl>
                                          <p:spTgt spid="23583"/>
                                        </p:tgtEl>
                                        <p:attrNameLst>
                                          <p:attrName>style.visibility</p:attrName>
                                        </p:attrNameLst>
                                      </p:cBhvr>
                                      <p:to>
                                        <p:strVal val="visible"/>
                                      </p:to>
                                    </p:set>
                                    <p:animEffect>
                                      <p:cBhvr>
                                        <p:cTn id="101" dur="500"/>
                                        <p:tgtEl>
                                          <p:spTgt spid="23583"/>
                                        </p:tgtEl>
                                      </p:cBhvr>
                                    </p:animEffec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3" presetClass="entr" presetSubtype="10" fill="hold" grpId="0" nodeType="clickEffect">
                                  <p:stCondLst>
                                    <p:cond delay="0"/>
                                  </p:stCondLst>
                                  <p:childTnLst>
                                    <p:set>
                                      <p:cBhvr>
                                        <p:cTn id="105" dur="1" fill="hold">
                                          <p:stCondLst>
                                            <p:cond delay="0"/>
                                          </p:stCondLst>
                                        </p:cTn>
                                        <p:tgtEl>
                                          <p:spTgt spid="23574"/>
                                        </p:tgtEl>
                                        <p:attrNameLst>
                                          <p:attrName>style.visibility</p:attrName>
                                        </p:attrNameLst>
                                      </p:cBhvr>
                                      <p:to>
                                        <p:strVal val="visible"/>
                                      </p:to>
                                    </p:set>
                                    <p:animEffect>
                                      <p:cBhvr>
                                        <p:cTn id="106" dur="500"/>
                                        <p:tgtEl>
                                          <p:spTgt spid="23574"/>
                                        </p:tgtEl>
                                      </p:cBhvr>
                                    </p:animEffect>
                                  </p:childTnLst>
                                </p:cTn>
                              </p:par>
                              <p:par>
                                <p:cTn id="107" presetID="3" presetClass="entr" presetSubtype="10" fill="hold" grpId="0" nodeType="withEffect">
                                  <p:stCondLst>
                                    <p:cond delay="0"/>
                                  </p:stCondLst>
                                  <p:childTnLst>
                                    <p:set>
                                      <p:cBhvr>
                                        <p:cTn id="108" dur="1" fill="hold">
                                          <p:stCondLst>
                                            <p:cond delay="0"/>
                                          </p:stCondLst>
                                        </p:cTn>
                                        <p:tgtEl>
                                          <p:spTgt spid="23575"/>
                                        </p:tgtEl>
                                        <p:attrNameLst>
                                          <p:attrName>style.visibility</p:attrName>
                                        </p:attrNameLst>
                                      </p:cBhvr>
                                      <p:to>
                                        <p:strVal val="visible"/>
                                      </p:to>
                                    </p:set>
                                    <p:animEffect>
                                      <p:cBhvr>
                                        <p:cTn id="109" dur="500"/>
                                        <p:tgtEl>
                                          <p:spTgt spid="23575"/>
                                        </p:tgtEl>
                                      </p:cBhvr>
                                    </p:animEffect>
                                  </p:childTnLst>
                                </p:cTn>
                              </p:par>
                              <p:par>
                                <p:cTn id="110" presetID="3" presetClass="entr" presetSubtype="10" fill="hold" grpId="0" nodeType="withEffect">
                                  <p:stCondLst>
                                    <p:cond delay="0"/>
                                  </p:stCondLst>
                                  <p:childTnLst>
                                    <p:set>
                                      <p:cBhvr>
                                        <p:cTn id="111" dur="1" fill="hold">
                                          <p:stCondLst>
                                            <p:cond delay="0"/>
                                          </p:stCondLst>
                                        </p:cTn>
                                        <p:tgtEl>
                                          <p:spTgt spid="23576"/>
                                        </p:tgtEl>
                                        <p:attrNameLst>
                                          <p:attrName>style.visibility</p:attrName>
                                        </p:attrNameLst>
                                      </p:cBhvr>
                                      <p:to>
                                        <p:strVal val="visible"/>
                                      </p:to>
                                    </p:set>
                                    <p:animEffect>
                                      <p:cBhvr>
                                        <p:cTn id="112" dur="500"/>
                                        <p:tgtEl>
                                          <p:spTgt spid="23576"/>
                                        </p:tgtEl>
                                      </p:cBhvr>
                                    </p:animEffect>
                                  </p:childTnLst>
                                </p:cTn>
                              </p:par>
                              <p:par>
                                <p:cTn id="113" presetID="3" presetClass="entr" presetSubtype="10" fill="hold" grpId="0" nodeType="withEffect">
                                  <p:stCondLst>
                                    <p:cond delay="0"/>
                                  </p:stCondLst>
                                  <p:childTnLst>
                                    <p:set>
                                      <p:cBhvr>
                                        <p:cTn id="114" dur="1" fill="hold">
                                          <p:stCondLst>
                                            <p:cond delay="0"/>
                                          </p:stCondLst>
                                        </p:cTn>
                                        <p:tgtEl>
                                          <p:spTgt spid="23578"/>
                                        </p:tgtEl>
                                        <p:attrNameLst>
                                          <p:attrName>style.visibility</p:attrName>
                                        </p:attrNameLst>
                                      </p:cBhvr>
                                      <p:to>
                                        <p:strVal val="visible"/>
                                      </p:to>
                                    </p:set>
                                    <p:animEffect>
                                      <p:cBhvr>
                                        <p:cTn id="115" dur="500"/>
                                        <p:tgtEl>
                                          <p:spTgt spid="23578"/>
                                        </p:tgtEl>
                                      </p:cBhvr>
                                    </p:animEffect>
                                  </p:childTnLst>
                                </p:cTn>
                              </p:par>
                              <p:par>
                                <p:cTn id="116" presetID="3" presetClass="entr" presetSubtype="10" fill="hold" grpId="0" nodeType="withEffect">
                                  <p:stCondLst>
                                    <p:cond delay="0"/>
                                  </p:stCondLst>
                                  <p:childTnLst>
                                    <p:set>
                                      <p:cBhvr>
                                        <p:cTn id="117" dur="1" fill="hold">
                                          <p:stCondLst>
                                            <p:cond delay="0"/>
                                          </p:stCondLst>
                                        </p:cTn>
                                        <p:tgtEl>
                                          <p:spTgt spid="23579"/>
                                        </p:tgtEl>
                                        <p:attrNameLst>
                                          <p:attrName>style.visibility</p:attrName>
                                        </p:attrNameLst>
                                      </p:cBhvr>
                                      <p:to>
                                        <p:strVal val="visible"/>
                                      </p:to>
                                    </p:set>
                                    <p:animEffect>
                                      <p:cBhvr>
                                        <p:cTn id="118" dur="500"/>
                                        <p:tgtEl>
                                          <p:spTgt spid="23579"/>
                                        </p:tgtEl>
                                      </p:cBhvr>
                                    </p:animEffect>
                                  </p:childTnLst>
                                </p:cTn>
                              </p:par>
                              <p:par>
                                <p:cTn id="119" presetID="3" presetClass="entr" presetSubtype="10" fill="hold" grpId="0" nodeType="withEffect">
                                  <p:stCondLst>
                                    <p:cond delay="0"/>
                                  </p:stCondLst>
                                  <p:childTnLst>
                                    <p:set>
                                      <p:cBhvr>
                                        <p:cTn id="120" dur="1" fill="hold">
                                          <p:stCondLst>
                                            <p:cond delay="0"/>
                                          </p:stCondLst>
                                        </p:cTn>
                                        <p:tgtEl>
                                          <p:spTgt spid="23581"/>
                                        </p:tgtEl>
                                        <p:attrNameLst>
                                          <p:attrName>style.visibility</p:attrName>
                                        </p:attrNameLst>
                                      </p:cBhvr>
                                      <p:to>
                                        <p:strVal val="visible"/>
                                      </p:to>
                                    </p:set>
                                    <p:animEffect>
                                      <p:cBhvr>
                                        <p:cTn id="121" dur="500"/>
                                        <p:tgtEl>
                                          <p:spTgt spid="23581"/>
                                        </p:tgtEl>
                                      </p:cBhvr>
                                    </p:animEffect>
                                  </p:childTnLst>
                                </p:cTn>
                              </p:par>
                            </p:childTnLst>
                          </p:cTn>
                        </p:par>
                      </p:childTnLst>
                    </p:cTn>
                  </p:par>
                  <p:par>
                    <p:cTn id="122" fill="hold" nodeType="clickPar">
                      <p:stCondLst>
                        <p:cond delay="indefinite"/>
                      </p:stCondLst>
                      <p:childTnLst>
                        <p:par>
                          <p:cTn id="123" fill="hold" nodeType="withGroup">
                            <p:stCondLst>
                              <p:cond delay="0"/>
                            </p:stCondLst>
                            <p:childTnLst>
                              <p:par>
                                <p:cTn id="124" presetID="16" presetClass="entr" presetSubtype="26" fill="hold" nodeType="clickEffect">
                                  <p:stCondLst>
                                    <p:cond delay="0"/>
                                  </p:stCondLst>
                                  <p:childTnLst>
                                    <p:set>
                                      <p:cBhvr>
                                        <p:cTn id="125" dur="1" fill="hold">
                                          <p:stCondLst>
                                            <p:cond delay="0"/>
                                          </p:stCondLst>
                                        </p:cTn>
                                        <p:tgtEl>
                                          <p:spTgt spid="23587"/>
                                        </p:tgtEl>
                                        <p:attrNameLst>
                                          <p:attrName>style.visibility</p:attrName>
                                        </p:attrNameLst>
                                      </p:cBhvr>
                                      <p:to>
                                        <p:strVal val="visible"/>
                                      </p:to>
                                    </p:set>
                                    <p:animEffect>
                                      <p:cBhvr>
                                        <p:cTn id="126" dur="500"/>
                                        <p:tgtEl>
                                          <p:spTgt spid="23587"/>
                                        </p:tgtEl>
                                      </p:cBhvr>
                                    </p:animEffect>
                                  </p:childTnLst>
                                </p:cTn>
                              </p:par>
                            </p:childTnLst>
                          </p:cTn>
                        </p:par>
                      </p:childTnLst>
                    </p:cTn>
                  </p:par>
                  <p:par>
                    <p:cTn id="127" fill="hold" nodeType="clickPar">
                      <p:stCondLst>
                        <p:cond delay="indefinite"/>
                      </p:stCondLst>
                      <p:childTnLst>
                        <p:par>
                          <p:cTn id="128" fill="hold" nodeType="withGroup">
                            <p:stCondLst>
                              <p:cond delay="0"/>
                            </p:stCondLst>
                            <p:childTnLst>
                              <p:par>
                                <p:cTn id="129" presetID="3" presetClass="entr" presetSubtype="10" fill="hold" grpId="0" nodeType="clickEffect">
                                  <p:stCondLst>
                                    <p:cond delay="0"/>
                                  </p:stCondLst>
                                  <p:childTnLst>
                                    <p:set>
                                      <p:cBhvr>
                                        <p:cTn id="130" dur="1" fill="hold">
                                          <p:stCondLst>
                                            <p:cond delay="0"/>
                                          </p:stCondLst>
                                        </p:cTn>
                                        <p:tgtEl>
                                          <p:spTgt spid="23573"/>
                                        </p:tgtEl>
                                        <p:attrNameLst>
                                          <p:attrName>style.visibility</p:attrName>
                                        </p:attrNameLst>
                                      </p:cBhvr>
                                      <p:to>
                                        <p:strVal val="visible"/>
                                      </p:to>
                                    </p:set>
                                    <p:animEffect>
                                      <p:cBhvr>
                                        <p:cTn id="131" dur="500"/>
                                        <p:tgtEl>
                                          <p:spTgt spid="23573"/>
                                        </p:tgtEl>
                                      </p:cBhvr>
                                    </p:animEffect>
                                  </p:childTnLst>
                                </p:cTn>
                              </p:par>
                              <p:par>
                                <p:cTn id="132" presetID="3" presetClass="entr" presetSubtype="10" fill="hold" grpId="0" nodeType="withEffect">
                                  <p:stCondLst>
                                    <p:cond delay="0"/>
                                  </p:stCondLst>
                                  <p:childTnLst>
                                    <p:set>
                                      <p:cBhvr>
                                        <p:cTn id="133" dur="1" fill="hold">
                                          <p:stCondLst>
                                            <p:cond delay="0"/>
                                          </p:stCondLst>
                                        </p:cTn>
                                        <p:tgtEl>
                                          <p:spTgt spid="23577"/>
                                        </p:tgtEl>
                                        <p:attrNameLst>
                                          <p:attrName>style.visibility</p:attrName>
                                        </p:attrNameLst>
                                      </p:cBhvr>
                                      <p:to>
                                        <p:strVal val="visible"/>
                                      </p:to>
                                    </p:set>
                                    <p:animEffect>
                                      <p:cBhvr>
                                        <p:cTn id="134" dur="500"/>
                                        <p:tgtEl>
                                          <p:spTgt spid="23577"/>
                                        </p:tgtEl>
                                      </p:cBhvr>
                                    </p:animEffect>
                                  </p:childTnLst>
                                </p:cTn>
                              </p:par>
                              <p:par>
                                <p:cTn id="135" presetID="3" presetClass="entr" presetSubtype="10" fill="hold" grpId="0" nodeType="withEffect">
                                  <p:stCondLst>
                                    <p:cond delay="0"/>
                                  </p:stCondLst>
                                  <p:childTnLst>
                                    <p:set>
                                      <p:cBhvr>
                                        <p:cTn id="136" dur="1" fill="hold">
                                          <p:stCondLst>
                                            <p:cond delay="0"/>
                                          </p:stCondLst>
                                        </p:cTn>
                                        <p:tgtEl>
                                          <p:spTgt spid="23580"/>
                                        </p:tgtEl>
                                        <p:attrNameLst>
                                          <p:attrName>style.visibility</p:attrName>
                                        </p:attrNameLst>
                                      </p:cBhvr>
                                      <p:to>
                                        <p:strVal val="visible"/>
                                      </p:to>
                                    </p:set>
                                    <p:animEffect>
                                      <p:cBhvr>
                                        <p:cTn id="137" dur="500"/>
                                        <p:tgtEl>
                                          <p:spTgt spid="23580"/>
                                        </p:tgtEl>
                                      </p:cBhvr>
                                    </p:animEffect>
                                  </p:childTnLst>
                                </p:cTn>
                              </p:par>
                            </p:childTnLst>
                          </p:cTn>
                        </p:par>
                      </p:childTnLst>
                    </p:cTn>
                  </p:par>
                  <p:par>
                    <p:cTn id="138" fill="hold" nodeType="clickPar">
                      <p:stCondLst>
                        <p:cond delay="indefinite"/>
                      </p:stCondLst>
                      <p:childTnLst>
                        <p:par>
                          <p:cTn id="139" fill="hold" nodeType="withGroup">
                            <p:stCondLst>
                              <p:cond delay="0"/>
                            </p:stCondLst>
                            <p:childTnLst>
                              <p:par>
                                <p:cTn id="140" presetID="16" presetClass="entr" presetSubtype="26" fill="hold" grpId="0" nodeType="clickEffect">
                                  <p:stCondLst>
                                    <p:cond delay="0"/>
                                  </p:stCondLst>
                                  <p:childTnLst>
                                    <p:set>
                                      <p:cBhvr>
                                        <p:cTn id="141" dur="1" fill="hold">
                                          <p:stCondLst>
                                            <p:cond delay="0"/>
                                          </p:stCondLst>
                                        </p:cTn>
                                        <p:tgtEl>
                                          <p:spTgt spid="23588"/>
                                        </p:tgtEl>
                                        <p:attrNameLst>
                                          <p:attrName>style.visibility</p:attrName>
                                        </p:attrNameLst>
                                      </p:cBhvr>
                                      <p:to>
                                        <p:strVal val="visible"/>
                                      </p:to>
                                    </p:set>
                                    <p:animEffect>
                                      <p:cBhvr>
                                        <p:cTn id="142" dur="500"/>
                                        <p:tgtEl>
                                          <p:spTgt spid="235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84" grpId="0" bldLvl="0" animBg="1" autoUpdateAnimBg="0"/>
      <p:bldP spid="23554" grpId="0" bldLvl="0" animBg="1" autoUpdateAnimBg="0"/>
      <p:bldP spid="23555" grpId="0" bldLvl="0" animBg="1" autoUpdateAnimBg="0"/>
      <p:bldP spid="23556" grpId="0" bldLvl="0" autoUpdateAnimBg="0"/>
      <p:bldP spid="23557" grpId="0" bldLvl="0" autoUpdateAnimBg="0"/>
      <p:bldP spid="23558" grpId="0" bldLvl="0" animBg="1" autoUpdateAnimBg="0"/>
      <p:bldP spid="23559" grpId="0" bldLvl="0" autoUpdateAnimBg="0"/>
      <p:bldP spid="23560" grpId="0" bldLvl="0" animBg="1" autoUpdateAnimBg="0"/>
      <p:bldP spid="23561" grpId="0" bldLvl="0" autoUpdateAnimBg="0"/>
      <p:bldP spid="23562" grpId="0" bldLvl="0" animBg="1" autoUpdateAnimBg="0"/>
      <p:bldP spid="23563" grpId="0" bldLvl="0" autoUpdateAnimBg="0"/>
      <p:bldP spid="23564" grpId="0" bldLvl="0" animBg="1" autoUpdateAnimBg="0"/>
      <p:bldP spid="23565" grpId="0" bldLvl="0" autoUpdateAnimBg="0"/>
      <p:bldP spid="23566" grpId="0" bldLvl="0" animBg="1" autoUpdateAnimBg="0"/>
      <p:bldP spid="23567" grpId="0" bldLvl="0" autoUpdateAnimBg="0"/>
      <p:bldP spid="23568" grpId="0" bldLvl="0" animBg="1" autoUpdateAnimBg="0"/>
      <p:bldP spid="23569" grpId="0" bldLvl="0" animBg="1" autoUpdateAnimBg="0"/>
      <p:bldP spid="23571" grpId="0" bldLvl="0" autoUpdateAnimBg="0"/>
      <p:bldP spid="23572" grpId="0" bldLvl="0" autoUpdateAnimBg="0"/>
      <p:bldP spid="23573" grpId="0" bldLvl="0" autoUpdateAnimBg="0"/>
      <p:bldP spid="23574" grpId="0" bldLvl="0" autoUpdateAnimBg="0"/>
      <p:bldP spid="23575" grpId="0" bldLvl="0" autoUpdateAnimBg="0"/>
      <p:bldP spid="23576" grpId="0" bldLvl="0" autoUpdateAnimBg="0"/>
      <p:bldP spid="23577" grpId="0" bldLvl="0" autoUpdateAnimBg="0"/>
      <p:bldP spid="23578" grpId="0" bldLvl="0" autoUpdateAnimBg="0"/>
      <p:bldP spid="23579" grpId="0" bldLvl="0" autoUpdateAnimBg="0"/>
      <p:bldP spid="23580" grpId="0" bldLvl="0" autoUpdateAnimBg="0"/>
      <p:bldP spid="23581" grpId="0" bldLvl="0" autoUpdateAnimBg="0"/>
      <p:bldP spid="23583" grpId="0" bldLvl="0" animBg="1" autoUpdateAnimBg="0"/>
      <p:bldP spid="23586" grpId="0" bldLvl="0" animBg="1" autoUpdateAnimBg="0"/>
      <p:bldP spid="23588" grpId="0" bldLvl="0" animBg="1"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3"/>
          <p:cNvSpPr>
            <a:spLocks noGrp="1" noChangeArrowheads="1"/>
          </p:cNvSpPr>
          <p:nvPr>
            <p:ph type="body" idx="4294967295"/>
          </p:nvPr>
        </p:nvSpPr>
        <p:spPr>
          <a:xfrm>
            <a:off x="467544" y="1412860"/>
            <a:ext cx="8229600" cy="504035"/>
          </a:xfrm>
          <a:ln/>
        </p:spPr>
        <p:txBody>
          <a:bodyPr/>
          <a:lstStyle/>
          <a:p>
            <a:pPr marL="457200" lvl="2" indent="-457200" eaLnBrk="1" hangingPunct="1">
              <a:buSzPct val="100000"/>
              <a:buFont typeface="Wingdings" panose="05000000000000000000" pitchFamily="2" charset="2"/>
              <a:buChar char="u"/>
            </a:pPr>
            <a:r>
              <a:rPr lang="zh-CN" altLang="en-US" sz="2200" b="0" dirty="0">
                <a:latin typeface="微软雅黑" panose="020B0503020204020204" pitchFamily="34" charset="-122"/>
                <a:ea typeface="微软雅黑" panose="020B0503020204020204" pitchFamily="34" charset="-122"/>
              </a:rPr>
              <a:t>三级价格歧视</a:t>
            </a:r>
            <a:endParaRPr lang="en-US" altLang="zh-CN" sz="2200" b="0" dirty="0">
              <a:latin typeface="微软雅黑" panose="020B0503020204020204" pitchFamily="34" charset="-122"/>
              <a:ea typeface="微软雅黑" panose="020B0503020204020204" pitchFamily="34" charset="-122"/>
            </a:endParaRPr>
          </a:p>
          <a:p>
            <a:pPr marL="457200" lvl="2" indent="-457200" eaLnBrk="1" hangingPunct="1">
              <a:buSzPct val="100000"/>
              <a:buFont typeface="Wingdings" panose="05000000000000000000" pitchFamily="2" charset="2"/>
              <a:buChar char="u"/>
            </a:pPr>
            <a:endParaRPr lang="en-US" altLang="zh-CN" dirty="0">
              <a:latin typeface="微软雅黑" panose="020B0503020204020204" pitchFamily="34" charset="-122"/>
              <a:ea typeface="微软雅黑" panose="020B0503020204020204" pitchFamily="34" charset="-122"/>
            </a:endParaRPr>
          </a:p>
          <a:p>
            <a:pPr marL="742950" lvl="2" indent="-342900" eaLnBrk="1" hangingPunct="1">
              <a:lnSpc>
                <a:spcPct val="150000"/>
              </a:lnSpc>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rPr>
              <a:t>对不同的需求价格弹性的消费群体收取不同的价格。</a:t>
            </a:r>
            <a:endParaRPr lang="en-US" altLang="zh-CN" sz="2000" b="0" dirty="0">
              <a:latin typeface="微软雅黑" panose="020B0503020204020204" pitchFamily="34" charset="-122"/>
              <a:ea typeface="微软雅黑" panose="020B0503020204020204" pitchFamily="34" charset="-122"/>
            </a:endParaRPr>
          </a:p>
          <a:p>
            <a:pPr marL="742950" lvl="2" indent="-342900" eaLnBrk="1" hangingPunct="1">
              <a:lnSpc>
                <a:spcPct val="150000"/>
              </a:lnSpc>
              <a:buFont typeface="Wingdings" panose="05000000000000000000" pitchFamily="2" charset="2"/>
              <a:buChar char="Ø"/>
            </a:pPr>
            <a:endParaRPr lang="en-US" altLang="zh-CN" b="0" dirty="0">
              <a:latin typeface="微软雅黑" panose="020B0503020204020204" pitchFamily="34" charset="-122"/>
              <a:ea typeface="微软雅黑" panose="020B0503020204020204" pitchFamily="34" charset="-122"/>
            </a:endParaRPr>
          </a:p>
          <a:p>
            <a:pPr marL="742950" lvl="2" indent="-342900" eaLnBrk="1" hangingPunct="1">
              <a:lnSpc>
                <a:spcPct val="150000"/>
              </a:lnSpc>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rPr>
              <a:t>特别是</a:t>
            </a:r>
            <a:r>
              <a:rPr lang="en-US" altLang="zh-CN" sz="2000" b="0" dirty="0">
                <a:latin typeface="微软雅黑" panose="020B0503020204020204" pitchFamily="34" charset="-122"/>
                <a:ea typeface="微软雅黑" panose="020B0503020204020204" pitchFamily="34" charset="-122"/>
              </a:rPr>
              <a:t>, </a:t>
            </a:r>
            <a:r>
              <a:rPr lang="zh-CN" altLang="en-US" sz="2000" b="0" dirty="0">
                <a:latin typeface="微软雅黑" panose="020B0503020204020204" pitchFamily="34" charset="-122"/>
                <a:ea typeface="微软雅黑" panose="020B0503020204020204" pitchFamily="34" charset="-122"/>
              </a:rPr>
              <a:t>对需求价格弹性较大的消费群体</a:t>
            </a:r>
            <a:endParaRPr lang="en-US" altLang="zh-CN" sz="2000" b="0" dirty="0">
              <a:latin typeface="微软雅黑" panose="020B0503020204020204" pitchFamily="34" charset="-122"/>
              <a:ea typeface="微软雅黑" panose="020B0503020204020204" pitchFamily="34" charset="-122"/>
            </a:endParaRPr>
          </a:p>
          <a:p>
            <a:pPr marL="400050" lvl="2" indent="0" eaLnBrk="1" hangingPunct="1">
              <a:lnSpc>
                <a:spcPct val="150000"/>
              </a:lnSpc>
              <a:buNone/>
            </a:pPr>
            <a:r>
              <a:rPr lang="en-US" altLang="zh-CN" sz="2000" b="0" dirty="0">
                <a:latin typeface="微软雅黑" panose="020B0503020204020204" pitchFamily="34" charset="-122"/>
                <a:ea typeface="微软雅黑" panose="020B0503020204020204" pitchFamily="34" charset="-122"/>
              </a:rPr>
              <a:t>     </a:t>
            </a:r>
            <a:r>
              <a:rPr lang="zh-CN" altLang="en-US" sz="2000" b="0" dirty="0">
                <a:latin typeface="微软雅黑" panose="020B0503020204020204" pitchFamily="34" charset="-122"/>
                <a:ea typeface="微软雅黑" panose="020B0503020204020204" pitchFamily="34" charset="-122"/>
              </a:rPr>
              <a:t>收取较低的价格</a:t>
            </a:r>
            <a:r>
              <a:rPr lang="en-US" altLang="zh-CN" sz="2000" b="0" dirty="0">
                <a:latin typeface="微软雅黑" panose="020B0503020204020204" pitchFamily="34" charset="-122"/>
                <a:ea typeface="微软雅黑" panose="020B0503020204020204" pitchFamily="34" charset="-122"/>
              </a:rPr>
              <a:t>, </a:t>
            </a:r>
            <a:r>
              <a:rPr lang="zh-CN" altLang="en-US" sz="2000" b="0" dirty="0">
                <a:latin typeface="微软雅黑" panose="020B0503020204020204" pitchFamily="34" charset="-122"/>
                <a:ea typeface="微软雅黑" panose="020B0503020204020204" pitchFamily="34" charset="-122"/>
              </a:rPr>
              <a:t>对需求价格弹性较小的</a:t>
            </a:r>
            <a:endParaRPr lang="en-US" altLang="zh-CN" sz="2000" b="0" dirty="0">
              <a:latin typeface="微软雅黑" panose="020B0503020204020204" pitchFamily="34" charset="-122"/>
              <a:ea typeface="微软雅黑" panose="020B0503020204020204" pitchFamily="34" charset="-122"/>
            </a:endParaRPr>
          </a:p>
          <a:p>
            <a:pPr marL="400050" lvl="2" indent="0" eaLnBrk="1" hangingPunct="1">
              <a:lnSpc>
                <a:spcPct val="150000"/>
              </a:lnSpc>
              <a:buNone/>
            </a:pPr>
            <a:r>
              <a:rPr lang="en-US" altLang="zh-CN" sz="2000" b="0" dirty="0">
                <a:latin typeface="微软雅黑" panose="020B0503020204020204" pitchFamily="34" charset="-122"/>
                <a:ea typeface="微软雅黑" panose="020B0503020204020204" pitchFamily="34" charset="-122"/>
              </a:rPr>
              <a:t>      </a:t>
            </a:r>
            <a:r>
              <a:rPr lang="zh-CN" altLang="en-US" sz="2000" b="0" dirty="0">
                <a:latin typeface="微软雅黑" panose="020B0503020204020204" pitchFamily="34" charset="-122"/>
                <a:ea typeface="微软雅黑" panose="020B0503020204020204" pitchFamily="34" charset="-122"/>
              </a:rPr>
              <a:t>消费群体收取较高的价格。</a:t>
            </a:r>
            <a:endParaRPr lang="zh-CN" altLang="en-US" sz="2000" dirty="0"/>
          </a:p>
          <a:p>
            <a:pPr marL="1371600" lvl="3" indent="0" eaLnBrk="1" hangingPunct="1"/>
            <a:endParaRPr lang="zh-CN" altLang="en-US" dirty="0"/>
          </a:p>
        </p:txBody>
      </p:sp>
      <p:sp>
        <p:nvSpPr>
          <p:cNvPr id="5" name="矩形 4">
            <a:extLst>
              <a:ext uri="{FF2B5EF4-FFF2-40B4-BE49-F238E27FC236}">
                <a16:creationId xmlns:a16="http://schemas.microsoft.com/office/drawing/2014/main" id="{F68E5273-CD77-47B9-B841-9D29349C133D}"/>
              </a:ext>
            </a:extLst>
          </p:cNvPr>
          <p:cNvSpPr/>
          <p:nvPr/>
        </p:nvSpPr>
        <p:spPr>
          <a:xfrm>
            <a:off x="467544" y="548680"/>
            <a:ext cx="2146742"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spc="150" dirty="0">
                <a:solidFill>
                  <a:srgbClr val="FFFFFF"/>
                </a:solidFill>
                <a:latin typeface="微软雅黑" panose="020B0503020204020204" pitchFamily="34" charset="-122"/>
                <a:ea typeface="微软雅黑" panose="020B0503020204020204" pitchFamily="34" charset="-122"/>
              </a:rPr>
              <a:t>五</a:t>
            </a:r>
            <a:r>
              <a:rPr lang="zh-CN" altLang="en-US" sz="2400" b="1" spc="150" dirty="0">
                <a:solidFill>
                  <a:srgbClr val="FFFFFF"/>
                </a:solidFill>
                <a:latin typeface="微软雅黑" panose="020B0503020204020204" pitchFamily="34" charset="-122"/>
                <a:ea typeface="微软雅黑" panose="020B0503020204020204" pitchFamily="34" charset="-122"/>
              </a:rPr>
              <a:t>、</a:t>
            </a:r>
            <a:r>
              <a:rPr lang="zh-CN" altLang="en-US" sz="2400" spc="15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价格歧视</a:t>
            </a:r>
            <a:endParaRPr lang="zh-CN" altLang="en-US" sz="2400" b="1" spc="150" dirty="0">
              <a:solidFill>
                <a:srgbClr val="FFFFFF"/>
              </a:solidFill>
              <a:latin typeface="微软雅黑" panose="020B0503020204020204" pitchFamily="34" charset="-122"/>
              <a:ea typeface="微软雅黑" panose="020B0503020204020204" pitchFamily="34" charset="-122"/>
            </a:endParaRPr>
          </a:p>
        </p:txBody>
      </p:sp>
      <p:sp>
        <p:nvSpPr>
          <p:cNvPr id="7" name="矩形 6"/>
          <p:cNvSpPr/>
          <p:nvPr/>
        </p:nvSpPr>
        <p:spPr>
          <a:xfrm>
            <a:off x="7505410" y="35458"/>
            <a:ext cx="1638590" cy="369332"/>
          </a:xfrm>
          <a:prstGeom prst="rect">
            <a:avLst/>
          </a:prstGeom>
        </p:spPr>
        <p:txBody>
          <a:bodyPr wrap="none">
            <a:spAutoFit/>
          </a:bodyPr>
          <a:lstStyle/>
          <a:p>
            <a:pPr algn="dist"/>
            <a:r>
              <a:rPr lang="zh-CN" altLang="en-US" sz="1800" b="0" spc="30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第一节 垄断</a:t>
            </a:r>
            <a:endParaRPr lang="zh-CN" altLang="en-US" sz="1800" b="0" spc="300" dirty="0">
              <a:solidFill>
                <a:schemeClr val="tx2"/>
              </a:solidFill>
              <a:ea typeface="黑体" panose="02010609060101010101" pitchFamily="49" charset="-122"/>
              <a:sym typeface="Arial" panose="020B0604020202020204" pitchFamily="34" charset="0"/>
            </a:endParaRPr>
          </a:p>
        </p:txBody>
      </p:sp>
      <p:pic>
        <p:nvPicPr>
          <p:cNvPr id="2" name="图片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502860" y="2319410"/>
            <a:ext cx="3641140" cy="3641140"/>
          </a:xfrm>
          <a:prstGeom prst="rect">
            <a:avLst/>
          </a:prstGeom>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4578">
                                            <p:txEl>
                                              <p:pRg st="0" end="0"/>
                                            </p:txEl>
                                          </p:spTgt>
                                        </p:tgtEl>
                                        <p:attrNameLst>
                                          <p:attrName>style.visibility</p:attrName>
                                        </p:attrNameLst>
                                      </p:cBhvr>
                                      <p:to>
                                        <p:strVal val="visible"/>
                                      </p:to>
                                    </p:set>
                                    <p:animEffect>
                                      <p:cBhvr>
                                        <p:cTn id="12" dur="500"/>
                                        <p:tgtEl>
                                          <p:spTgt spid="24578">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4578">
                                            <p:txEl>
                                              <p:pRg st="2" end="2"/>
                                            </p:txEl>
                                          </p:spTgt>
                                        </p:tgtEl>
                                        <p:attrNameLst>
                                          <p:attrName>style.visibility</p:attrName>
                                        </p:attrNameLst>
                                      </p:cBhvr>
                                      <p:to>
                                        <p:strVal val="visible"/>
                                      </p:to>
                                    </p:set>
                                    <p:animEffect>
                                      <p:cBhvr>
                                        <p:cTn id="17" dur="500"/>
                                        <p:tgtEl>
                                          <p:spTgt spid="24578">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4578">
                                            <p:txEl>
                                              <p:pRg st="4" end="4"/>
                                            </p:txEl>
                                          </p:spTgt>
                                        </p:tgtEl>
                                        <p:attrNameLst>
                                          <p:attrName>style.visibility</p:attrName>
                                        </p:attrNameLst>
                                      </p:cBhvr>
                                      <p:to>
                                        <p:strVal val="visible"/>
                                      </p:to>
                                    </p:set>
                                    <p:animEffect>
                                      <p:cBhvr>
                                        <p:cTn id="22" dur="500"/>
                                        <p:tgtEl>
                                          <p:spTgt spid="24578">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4578">
                                            <p:txEl>
                                              <p:pRg st="5" end="5"/>
                                            </p:txEl>
                                          </p:spTgt>
                                        </p:tgtEl>
                                        <p:attrNameLst>
                                          <p:attrName>style.visibility</p:attrName>
                                        </p:attrNameLst>
                                      </p:cBhvr>
                                      <p:to>
                                        <p:strVal val="visible"/>
                                      </p:to>
                                    </p:set>
                                    <p:animEffect>
                                      <p:cBhvr>
                                        <p:cTn id="27" dur="500"/>
                                        <p:tgtEl>
                                          <p:spTgt spid="24578">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4578">
                                            <p:txEl>
                                              <p:pRg st="6" end="6"/>
                                            </p:txEl>
                                          </p:spTgt>
                                        </p:tgtEl>
                                        <p:attrNameLst>
                                          <p:attrName>style.visibility</p:attrName>
                                        </p:attrNameLst>
                                      </p:cBhvr>
                                      <p:to>
                                        <p:strVal val="visible"/>
                                      </p:to>
                                    </p:set>
                                    <p:animEffect>
                                      <p:cBhvr>
                                        <p:cTn id="32" dur="500"/>
                                        <p:tgtEl>
                                          <p:spTgt spid="2457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Text Box 3"/>
          <p:cNvSpPr txBox="1">
            <a:spLocks noChangeArrowheads="1"/>
          </p:cNvSpPr>
          <p:nvPr/>
        </p:nvSpPr>
        <p:spPr bwMode="auto">
          <a:xfrm>
            <a:off x="468313" y="1359846"/>
            <a:ext cx="8135937" cy="5022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457200" lvl="2" indent="-457200" defTabSz="0" eaLnBrk="1" hangingPunct="1">
              <a:spcBef>
                <a:spcPct val="20000"/>
              </a:spcBef>
              <a:buSzPct val="100000"/>
              <a:buFont typeface="Wingdings" panose="05000000000000000000" pitchFamily="2" charset="2"/>
              <a:buChar char="u"/>
            </a:pPr>
            <a:r>
              <a:rPr lang="zh-CN" altLang="en-US" sz="2200" b="0" dirty="0">
                <a:latin typeface="微软雅黑" panose="020B0503020204020204" pitchFamily="34" charset="-122"/>
                <a:ea typeface="微软雅黑" panose="020B0503020204020204" pitchFamily="34" charset="-122"/>
                <a:sym typeface="Arial" panose="020B0604020202020204" pitchFamily="34" charset="0"/>
              </a:rPr>
              <a:t>价格歧视的例子：</a:t>
            </a:r>
            <a:endParaRPr lang="en-US" altLang="zh-CN" sz="2200" b="0" dirty="0">
              <a:latin typeface="微软雅黑" panose="020B0503020204020204" pitchFamily="34" charset="-122"/>
              <a:ea typeface="微软雅黑" panose="020B0503020204020204" pitchFamily="34" charset="-122"/>
              <a:sym typeface="Arial" panose="020B0604020202020204" pitchFamily="34" charset="0"/>
            </a:endParaRPr>
          </a:p>
          <a:p>
            <a:pPr marL="742950" lvl="2" indent="-342900" defTabSz="0" eaLnBrk="1" hangingPunct="1">
              <a:lnSpc>
                <a:spcPct val="150000"/>
              </a:lnSpc>
              <a:spcBef>
                <a:spcPct val="20000"/>
              </a:spcBef>
              <a:buSzPct val="50000"/>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sym typeface="Arial" panose="020B0604020202020204" pitchFamily="34" charset="0"/>
              </a:rPr>
              <a:t>飞机票的折扣</a:t>
            </a:r>
            <a:endParaRPr lang="en-US" altLang="zh-CN" sz="2000" b="0" dirty="0">
              <a:latin typeface="微软雅黑" panose="020B0503020204020204" pitchFamily="34" charset="-122"/>
              <a:ea typeface="微软雅黑" panose="020B0503020204020204" pitchFamily="34" charset="-122"/>
              <a:sym typeface="Arial" panose="020B0604020202020204" pitchFamily="34" charset="0"/>
            </a:endParaRPr>
          </a:p>
          <a:p>
            <a:pPr marL="742950" lvl="2" indent="-342900" defTabSz="0" eaLnBrk="1" hangingPunct="1">
              <a:lnSpc>
                <a:spcPct val="150000"/>
              </a:lnSpc>
              <a:spcBef>
                <a:spcPct val="20000"/>
              </a:spcBef>
              <a:buSzPct val="50000"/>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sym typeface="Arial" panose="020B0604020202020204" pitchFamily="34" charset="0"/>
              </a:rPr>
              <a:t>超市的促销措施：折扣券和定期打折</a:t>
            </a:r>
            <a:endParaRPr lang="en-US" altLang="zh-CN" sz="2000" b="0" dirty="0">
              <a:latin typeface="微软雅黑" panose="020B0503020204020204" pitchFamily="34" charset="-122"/>
              <a:ea typeface="微软雅黑" panose="020B0503020204020204" pitchFamily="34" charset="-122"/>
              <a:sym typeface="Arial" panose="020B0604020202020204" pitchFamily="34" charset="0"/>
            </a:endParaRPr>
          </a:p>
          <a:p>
            <a:pPr marL="742950" lvl="2" indent="-342900" defTabSz="0" eaLnBrk="1" hangingPunct="1">
              <a:lnSpc>
                <a:spcPct val="150000"/>
              </a:lnSpc>
              <a:spcBef>
                <a:spcPct val="20000"/>
              </a:spcBef>
              <a:buSzPct val="50000"/>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sym typeface="Arial" panose="020B0604020202020204" pitchFamily="34" charset="0"/>
              </a:rPr>
              <a:t>外版书在不同地区价格不同</a:t>
            </a:r>
            <a:endParaRPr lang="en-US" altLang="zh-CN" sz="2000" b="0" dirty="0">
              <a:latin typeface="微软雅黑" panose="020B0503020204020204" pitchFamily="34" charset="-122"/>
              <a:ea typeface="微软雅黑" panose="020B0503020204020204" pitchFamily="34" charset="-122"/>
              <a:sym typeface="Arial" panose="020B0604020202020204" pitchFamily="34" charset="0"/>
            </a:endParaRPr>
          </a:p>
          <a:p>
            <a:pPr marL="742950" lvl="2" indent="-342900" defTabSz="0" eaLnBrk="1" hangingPunct="1">
              <a:lnSpc>
                <a:spcPct val="150000"/>
              </a:lnSpc>
              <a:spcBef>
                <a:spcPct val="20000"/>
              </a:spcBef>
              <a:buSzPct val="50000"/>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sym typeface="Arial" panose="020B0604020202020204" pitchFamily="34" charset="0"/>
              </a:rPr>
              <a:t>电影票第一轮和第二轮不同</a:t>
            </a:r>
            <a:endParaRPr lang="en-US" altLang="zh-CN" sz="2000" b="0" dirty="0">
              <a:latin typeface="微软雅黑" panose="020B0503020204020204" pitchFamily="34" charset="-122"/>
              <a:ea typeface="微软雅黑" panose="020B0503020204020204" pitchFamily="34" charset="-122"/>
              <a:sym typeface="Arial" panose="020B0604020202020204" pitchFamily="34" charset="0"/>
            </a:endParaRPr>
          </a:p>
          <a:p>
            <a:pPr marL="742950" lvl="2" indent="-342900" defTabSz="0" eaLnBrk="1" hangingPunct="1">
              <a:lnSpc>
                <a:spcPct val="150000"/>
              </a:lnSpc>
              <a:spcBef>
                <a:spcPct val="20000"/>
              </a:spcBef>
              <a:buSzPct val="50000"/>
              <a:buFont typeface="Wingdings" panose="05000000000000000000" pitchFamily="2" charset="2"/>
              <a:buChar char="Ø"/>
            </a:pPr>
            <a:endParaRPr lang="en-US" altLang="zh-CN" sz="2000" b="0" dirty="0">
              <a:latin typeface="微软雅黑" panose="020B0503020204020204" pitchFamily="34" charset="-122"/>
              <a:ea typeface="微软雅黑" panose="020B0503020204020204" pitchFamily="34" charset="-122"/>
              <a:sym typeface="Arial" panose="020B0604020202020204" pitchFamily="34" charset="0"/>
            </a:endParaRPr>
          </a:p>
          <a:p>
            <a:pPr marL="457200" lvl="2" indent="-457200" defTabSz="0" eaLnBrk="1" hangingPunct="1">
              <a:spcBef>
                <a:spcPct val="20000"/>
              </a:spcBef>
              <a:buSzPct val="100000"/>
              <a:buFont typeface="Wingdings" panose="05000000000000000000" pitchFamily="2" charset="2"/>
              <a:buChar char="u"/>
            </a:pPr>
            <a:r>
              <a:rPr lang="zh-CN" altLang="en-US" sz="2200" b="0" dirty="0">
                <a:latin typeface="微软雅黑" panose="020B0503020204020204" pitchFamily="34" charset="-122"/>
                <a:ea typeface="微软雅黑" panose="020B0503020204020204" pitchFamily="34" charset="-122"/>
              </a:rPr>
              <a:t>即问即答</a:t>
            </a:r>
            <a:r>
              <a:rPr lang="en-US" altLang="zh-CN" sz="2200" b="0" dirty="0">
                <a:latin typeface="微软雅黑" panose="020B0503020204020204" pitchFamily="34" charset="-122"/>
                <a:ea typeface="微软雅黑" panose="020B0503020204020204" pitchFamily="34" charset="-122"/>
              </a:rPr>
              <a:t>——</a:t>
            </a:r>
            <a:r>
              <a:rPr lang="zh-CN" altLang="en-US" sz="2200" b="0" dirty="0">
                <a:latin typeface="微软雅黑" panose="020B0503020204020204" pitchFamily="34" charset="-122"/>
                <a:ea typeface="微软雅黑" panose="020B0503020204020204" pitchFamily="34" charset="-122"/>
              </a:rPr>
              <a:t>关于学生的</a:t>
            </a:r>
            <a:endParaRPr lang="en-US" altLang="zh-CN" sz="2200" b="0" dirty="0">
              <a:latin typeface="微软雅黑" panose="020B0503020204020204" pitchFamily="34" charset="-122"/>
              <a:ea typeface="微软雅黑" panose="020B0503020204020204" pitchFamily="34" charset="-122"/>
            </a:endParaRPr>
          </a:p>
          <a:p>
            <a:pPr marL="742950" lvl="2" indent="-342900" defTabSz="0" eaLnBrk="1" hangingPunct="1">
              <a:lnSpc>
                <a:spcPct val="150000"/>
              </a:lnSpc>
              <a:spcBef>
                <a:spcPct val="20000"/>
              </a:spcBef>
              <a:buSzPct val="50000"/>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rPr>
              <a:t>火车学生半票是不是价格歧视？ </a:t>
            </a:r>
            <a:endParaRPr lang="en-US" altLang="zh-CN" sz="2000" b="0" dirty="0">
              <a:latin typeface="微软雅黑" panose="020B0503020204020204" pitchFamily="34" charset="-122"/>
              <a:ea typeface="微软雅黑" panose="020B0503020204020204" pitchFamily="34" charset="-122"/>
            </a:endParaRPr>
          </a:p>
          <a:p>
            <a:pPr marL="742950" lvl="2" indent="-342900" defTabSz="0" eaLnBrk="1" hangingPunct="1">
              <a:lnSpc>
                <a:spcPct val="150000"/>
              </a:lnSpc>
              <a:spcBef>
                <a:spcPct val="20000"/>
              </a:spcBef>
              <a:buSzPct val="50000"/>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rPr>
              <a:t>飞机票学生折扣是不是？</a:t>
            </a:r>
            <a:endParaRPr lang="en-US" altLang="zh-CN" sz="2000" b="0" dirty="0">
              <a:latin typeface="微软雅黑" panose="020B0503020204020204" pitchFamily="34" charset="-122"/>
              <a:ea typeface="微软雅黑" panose="020B0503020204020204" pitchFamily="34" charset="-122"/>
            </a:endParaRPr>
          </a:p>
          <a:p>
            <a:pPr marL="742950" lvl="2" indent="-342900" defTabSz="0" eaLnBrk="1" hangingPunct="1">
              <a:lnSpc>
                <a:spcPct val="150000"/>
              </a:lnSpc>
              <a:spcBef>
                <a:spcPct val="20000"/>
              </a:spcBef>
              <a:buSzPct val="50000"/>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rPr>
              <a:t>学费是不是？</a:t>
            </a:r>
          </a:p>
        </p:txBody>
      </p:sp>
      <p:sp>
        <p:nvSpPr>
          <p:cNvPr id="5" name="矩形 4">
            <a:extLst>
              <a:ext uri="{FF2B5EF4-FFF2-40B4-BE49-F238E27FC236}">
                <a16:creationId xmlns:a16="http://schemas.microsoft.com/office/drawing/2014/main" id="{F68E5273-CD77-47B9-B841-9D29349C133D}"/>
              </a:ext>
            </a:extLst>
          </p:cNvPr>
          <p:cNvSpPr/>
          <p:nvPr/>
        </p:nvSpPr>
        <p:spPr>
          <a:xfrm>
            <a:off x="467544" y="548680"/>
            <a:ext cx="2146742"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spc="150" dirty="0">
                <a:solidFill>
                  <a:srgbClr val="FFFFFF"/>
                </a:solidFill>
                <a:latin typeface="微软雅黑" panose="020B0503020204020204" pitchFamily="34" charset="-122"/>
                <a:ea typeface="微软雅黑" panose="020B0503020204020204" pitchFamily="34" charset="-122"/>
              </a:rPr>
              <a:t>五</a:t>
            </a:r>
            <a:r>
              <a:rPr lang="zh-CN" altLang="en-US" sz="2400" b="1" spc="150" dirty="0">
                <a:solidFill>
                  <a:srgbClr val="FFFFFF"/>
                </a:solidFill>
                <a:latin typeface="微软雅黑" panose="020B0503020204020204" pitchFamily="34" charset="-122"/>
                <a:ea typeface="微软雅黑" panose="020B0503020204020204" pitchFamily="34" charset="-122"/>
              </a:rPr>
              <a:t>、</a:t>
            </a:r>
            <a:r>
              <a:rPr lang="zh-CN" altLang="en-US" sz="2400" spc="15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价格歧视</a:t>
            </a:r>
            <a:endParaRPr lang="zh-CN" altLang="en-US" sz="2400" b="1" spc="150" dirty="0">
              <a:solidFill>
                <a:srgbClr val="FFFFFF"/>
              </a:solidFill>
              <a:latin typeface="微软雅黑" panose="020B0503020204020204" pitchFamily="34" charset="-122"/>
              <a:ea typeface="微软雅黑" panose="020B0503020204020204" pitchFamily="34" charset="-122"/>
            </a:endParaRPr>
          </a:p>
        </p:txBody>
      </p:sp>
      <p:sp>
        <p:nvSpPr>
          <p:cNvPr id="7" name="矩形 6"/>
          <p:cNvSpPr/>
          <p:nvPr/>
        </p:nvSpPr>
        <p:spPr>
          <a:xfrm>
            <a:off x="7505410" y="35458"/>
            <a:ext cx="1638590" cy="369332"/>
          </a:xfrm>
          <a:prstGeom prst="rect">
            <a:avLst/>
          </a:prstGeom>
        </p:spPr>
        <p:txBody>
          <a:bodyPr wrap="none">
            <a:spAutoFit/>
          </a:bodyPr>
          <a:lstStyle/>
          <a:p>
            <a:pPr algn="dist"/>
            <a:r>
              <a:rPr lang="zh-CN" altLang="en-US" sz="1800" b="0" spc="30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第一节 垄断</a:t>
            </a:r>
            <a:endParaRPr lang="zh-CN" altLang="en-US" sz="1800" b="0" spc="300" dirty="0">
              <a:solidFill>
                <a:schemeClr val="tx2"/>
              </a:solidFill>
              <a:ea typeface="黑体" panose="02010609060101010101" pitchFamily="49" charset="-122"/>
              <a:sym typeface="Arial" panose="020B0604020202020204" pitchFamily="34" charset="0"/>
            </a:endParaRPr>
          </a:p>
        </p:txBody>
      </p:sp>
      <p:pic>
        <p:nvPicPr>
          <p:cNvPr id="2" name="图片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88015" y="1332018"/>
            <a:ext cx="4193964" cy="4193964"/>
          </a:xfrm>
          <a:prstGeom prst="rect">
            <a:avLst/>
          </a:prstGeom>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5603"/>
                                        </p:tgtEl>
                                        <p:attrNameLst>
                                          <p:attrName>style.visibility</p:attrName>
                                        </p:attrNameLst>
                                      </p:cBhvr>
                                      <p:to>
                                        <p:strVal val="visible"/>
                                      </p:to>
                                    </p:set>
                                    <p:animEffect transition="in" filter="wipe(down)">
                                      <p:cBhvr>
                                        <p:cTn id="12" dur="500"/>
                                        <p:tgtEl>
                                          <p:spTgt spid="2560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5603">
                                            <p:txEl>
                                              <p:pRg st="1" end="1"/>
                                            </p:txEl>
                                          </p:spTgt>
                                        </p:tgtEl>
                                        <p:attrNameLst>
                                          <p:attrName>style.visibility</p:attrName>
                                        </p:attrNameLst>
                                      </p:cBhvr>
                                      <p:to>
                                        <p:strVal val="visible"/>
                                      </p:to>
                                    </p:set>
                                    <p:animEffect transition="in" filter="wipe(down)">
                                      <p:cBhvr>
                                        <p:cTn id="17" dur="500"/>
                                        <p:tgtEl>
                                          <p:spTgt spid="2560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25603">
                                            <p:txEl>
                                              <p:pRg st="2" end="2"/>
                                            </p:txEl>
                                          </p:spTgt>
                                        </p:tgtEl>
                                        <p:attrNameLst>
                                          <p:attrName>style.visibility</p:attrName>
                                        </p:attrNameLst>
                                      </p:cBhvr>
                                      <p:to>
                                        <p:strVal val="visible"/>
                                      </p:to>
                                    </p:set>
                                    <p:animEffect transition="in" filter="wipe(down)">
                                      <p:cBhvr>
                                        <p:cTn id="22" dur="500"/>
                                        <p:tgtEl>
                                          <p:spTgt spid="2560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25603">
                                            <p:txEl>
                                              <p:pRg st="3" end="3"/>
                                            </p:txEl>
                                          </p:spTgt>
                                        </p:tgtEl>
                                        <p:attrNameLst>
                                          <p:attrName>style.visibility</p:attrName>
                                        </p:attrNameLst>
                                      </p:cBhvr>
                                      <p:to>
                                        <p:strVal val="visible"/>
                                      </p:to>
                                    </p:set>
                                    <p:animEffect transition="in" filter="wipe(down)">
                                      <p:cBhvr>
                                        <p:cTn id="27" dur="500"/>
                                        <p:tgtEl>
                                          <p:spTgt spid="2560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25603">
                                            <p:txEl>
                                              <p:pRg st="4" end="4"/>
                                            </p:txEl>
                                          </p:spTgt>
                                        </p:tgtEl>
                                        <p:attrNameLst>
                                          <p:attrName>style.visibility</p:attrName>
                                        </p:attrNameLst>
                                      </p:cBhvr>
                                      <p:to>
                                        <p:strVal val="visible"/>
                                      </p:to>
                                    </p:set>
                                    <p:animEffect transition="in" filter="wipe(down)">
                                      <p:cBhvr>
                                        <p:cTn id="32" dur="500"/>
                                        <p:tgtEl>
                                          <p:spTgt spid="2560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25603">
                                            <p:txEl>
                                              <p:pRg st="6" end="6"/>
                                            </p:txEl>
                                          </p:spTgt>
                                        </p:tgtEl>
                                        <p:attrNameLst>
                                          <p:attrName>style.visibility</p:attrName>
                                        </p:attrNameLst>
                                      </p:cBhvr>
                                      <p:to>
                                        <p:strVal val="visible"/>
                                      </p:to>
                                    </p:set>
                                    <p:animEffect transition="in" filter="wipe(down)">
                                      <p:cBhvr>
                                        <p:cTn id="37" dur="500"/>
                                        <p:tgtEl>
                                          <p:spTgt spid="2560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25603">
                                            <p:txEl>
                                              <p:pRg st="7" end="7"/>
                                            </p:txEl>
                                          </p:spTgt>
                                        </p:tgtEl>
                                        <p:attrNameLst>
                                          <p:attrName>style.visibility</p:attrName>
                                        </p:attrNameLst>
                                      </p:cBhvr>
                                      <p:to>
                                        <p:strVal val="visible"/>
                                      </p:to>
                                    </p:set>
                                    <p:animEffect transition="in" filter="wipe(down)">
                                      <p:cBhvr>
                                        <p:cTn id="42" dur="500"/>
                                        <p:tgtEl>
                                          <p:spTgt spid="2560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25603">
                                            <p:txEl>
                                              <p:pRg st="8" end="8"/>
                                            </p:txEl>
                                          </p:spTgt>
                                        </p:tgtEl>
                                        <p:attrNameLst>
                                          <p:attrName>style.visibility</p:attrName>
                                        </p:attrNameLst>
                                      </p:cBhvr>
                                      <p:to>
                                        <p:strVal val="visible"/>
                                      </p:to>
                                    </p:set>
                                    <p:animEffect transition="in" filter="wipe(down)">
                                      <p:cBhvr>
                                        <p:cTn id="47" dur="500"/>
                                        <p:tgtEl>
                                          <p:spTgt spid="2560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25603">
                                            <p:txEl>
                                              <p:pRg st="9" end="9"/>
                                            </p:txEl>
                                          </p:spTgt>
                                        </p:tgtEl>
                                        <p:attrNameLst>
                                          <p:attrName>style.visibility</p:attrName>
                                        </p:attrNameLst>
                                      </p:cBhvr>
                                      <p:to>
                                        <p:strVal val="visible"/>
                                      </p:to>
                                    </p:set>
                                    <p:animEffect transition="in" filter="wipe(down)">
                                      <p:cBhvr>
                                        <p:cTn id="52" dur="500"/>
                                        <p:tgtEl>
                                          <p:spTgt spid="2560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Text Box 3"/>
          <p:cNvSpPr txBox="1">
            <a:spLocks noChangeArrowheads="1"/>
          </p:cNvSpPr>
          <p:nvPr/>
        </p:nvSpPr>
        <p:spPr bwMode="auto">
          <a:xfrm>
            <a:off x="441175" y="1316417"/>
            <a:ext cx="8135937"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457200" lvl="2" indent="-457200" defTabSz="0" eaLnBrk="1" hangingPunct="1">
              <a:spcBef>
                <a:spcPct val="20000"/>
              </a:spcBef>
              <a:buSzPct val="100000"/>
              <a:buFont typeface="Wingdings" panose="05000000000000000000" pitchFamily="2" charset="2"/>
              <a:buChar char="u"/>
            </a:pPr>
            <a:r>
              <a:rPr lang="zh-CN" altLang="en-US" sz="2200" b="0" dirty="0">
                <a:latin typeface="微软雅黑" panose="020B0503020204020204" pitchFamily="34" charset="-122"/>
                <a:ea typeface="微软雅黑" panose="020B0503020204020204" pitchFamily="34" charset="-122"/>
              </a:rPr>
              <a:t>三级价格歧视的数理分析：如何根据需求弹性进行价格歧视</a:t>
            </a:r>
            <a:endParaRPr lang="en-US" altLang="zh-CN" sz="2200" b="0" dirty="0">
              <a:latin typeface="微软雅黑" panose="020B0503020204020204" pitchFamily="34" charset="-122"/>
              <a:ea typeface="微软雅黑" panose="020B0503020204020204" pitchFamily="34" charset="-122"/>
            </a:endParaRPr>
          </a:p>
        </p:txBody>
      </p:sp>
      <p:sp>
        <p:nvSpPr>
          <p:cNvPr id="4" name="Text Box 3"/>
          <p:cNvSpPr txBox="1">
            <a:spLocks noChangeArrowheads="1"/>
          </p:cNvSpPr>
          <p:nvPr/>
        </p:nvSpPr>
        <p:spPr bwMode="auto">
          <a:xfrm>
            <a:off x="1827084" y="3388376"/>
            <a:ext cx="107764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30000"/>
              </a:spcBef>
              <a:buSzPct val="100000"/>
            </a:pPr>
            <a:r>
              <a:rPr lang="zh-CN" altLang="en-US" sz="2000" b="0" dirty="0">
                <a:latin typeface="微软雅黑" panose="020B0503020204020204" pitchFamily="34" charset="-122"/>
                <a:ea typeface="微软雅黑" panose="020B0503020204020204" pitchFamily="34" charset="-122"/>
              </a:rPr>
              <a:t>推导</a:t>
            </a:r>
            <a:endParaRPr lang="en-US" altLang="zh-CN" sz="2000" b="0" dirty="0">
              <a:latin typeface="微软雅黑" panose="020B0503020204020204" pitchFamily="34" charset="-122"/>
              <a:ea typeface="微软雅黑" panose="020B0503020204020204" pitchFamily="34" charset="-122"/>
            </a:endParaRPr>
          </a:p>
        </p:txBody>
      </p:sp>
      <p:sp>
        <p:nvSpPr>
          <p:cNvPr id="6" name="Text Box 3"/>
          <p:cNvSpPr txBox="1">
            <a:spLocks noChangeArrowheads="1"/>
          </p:cNvSpPr>
          <p:nvPr/>
        </p:nvSpPr>
        <p:spPr bwMode="auto">
          <a:xfrm>
            <a:off x="911160" y="2066837"/>
            <a:ext cx="8135937" cy="499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742950" lvl="2" indent="-342900" defTabSz="0" eaLnBrk="1" hangingPunct="1">
              <a:lnSpc>
                <a:spcPct val="150000"/>
              </a:lnSpc>
              <a:spcBef>
                <a:spcPct val="20000"/>
              </a:spcBef>
              <a:buSzPct val="100000"/>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sym typeface="Arial" panose="020B0604020202020204" pitchFamily="34" charset="0"/>
              </a:rPr>
              <a:t>既定需求曲线下价格和需求弹性的关系</a:t>
            </a:r>
            <a:endParaRPr lang="en-US" altLang="zh-CN" sz="2000" b="0" dirty="0">
              <a:latin typeface="微软雅黑" panose="020B0503020204020204" pitchFamily="34" charset="-122"/>
              <a:ea typeface="微软雅黑" panose="020B0503020204020204" pitchFamily="34" charset="-122"/>
              <a:sym typeface="Arial" panose="020B0604020202020204" pitchFamily="34" charset="0"/>
            </a:endParaRPr>
          </a:p>
        </p:txBody>
      </p:sp>
      <p:sp>
        <p:nvSpPr>
          <p:cNvPr id="7" name="右箭头 6"/>
          <p:cNvSpPr/>
          <p:nvPr/>
        </p:nvSpPr>
        <p:spPr bwMode="auto">
          <a:xfrm>
            <a:off x="2063410" y="4140775"/>
            <a:ext cx="715077" cy="210469"/>
          </a:xfrm>
          <a:prstGeom prst="rightArrow">
            <a:avLst/>
          </a:prstGeom>
          <a:solidFill>
            <a:srgbClr val="F3C97F"/>
          </a:solidFill>
          <a:ln w="9525" cap="flat" cmpd="sng" algn="ctr">
            <a:solidFill>
              <a:srgbClr val="F3C97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6" name="矩形 15">
            <a:extLst>
              <a:ext uri="{FF2B5EF4-FFF2-40B4-BE49-F238E27FC236}">
                <a16:creationId xmlns:a16="http://schemas.microsoft.com/office/drawing/2014/main" id="{F68E5273-CD77-47B9-B841-9D29349C133D}"/>
              </a:ext>
            </a:extLst>
          </p:cNvPr>
          <p:cNvSpPr/>
          <p:nvPr/>
        </p:nvSpPr>
        <p:spPr>
          <a:xfrm>
            <a:off x="467544" y="548680"/>
            <a:ext cx="2146742"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spc="150" dirty="0">
                <a:solidFill>
                  <a:srgbClr val="FFFFFF"/>
                </a:solidFill>
                <a:latin typeface="微软雅黑" panose="020B0503020204020204" pitchFamily="34" charset="-122"/>
                <a:ea typeface="微软雅黑" panose="020B0503020204020204" pitchFamily="34" charset="-122"/>
              </a:rPr>
              <a:t>五</a:t>
            </a:r>
            <a:r>
              <a:rPr lang="zh-CN" altLang="en-US" sz="2400" b="1" spc="150" dirty="0">
                <a:solidFill>
                  <a:srgbClr val="FFFFFF"/>
                </a:solidFill>
                <a:latin typeface="微软雅黑" panose="020B0503020204020204" pitchFamily="34" charset="-122"/>
                <a:ea typeface="微软雅黑" panose="020B0503020204020204" pitchFamily="34" charset="-122"/>
              </a:rPr>
              <a:t>、</a:t>
            </a:r>
            <a:r>
              <a:rPr lang="zh-CN" altLang="en-US" sz="2400" spc="15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价格歧视</a:t>
            </a:r>
            <a:endParaRPr lang="zh-CN" altLang="en-US" sz="2400" b="1" spc="150" dirty="0">
              <a:solidFill>
                <a:srgbClr val="FFFFFF"/>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1" name="文本框 10"/>
              <p:cNvSpPr txBox="1"/>
              <p:nvPr/>
            </p:nvSpPr>
            <p:spPr>
              <a:xfrm>
                <a:off x="2054252" y="2761653"/>
                <a:ext cx="4368473" cy="57618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𝑴𝑹</m:t>
                      </m:r>
                      <m:r>
                        <a:rPr lang="en-US" altLang="zh-CN" sz="2000" i="1" smtClean="0">
                          <a:latin typeface="Cambria Math" panose="02040503050406030204" pitchFamily="18" charset="0"/>
                          <a:ea typeface="Cambria Math" panose="02040503050406030204" pitchFamily="18" charset="0"/>
                        </a:rPr>
                        <m:t>=</m:t>
                      </m:r>
                      <m:r>
                        <a:rPr lang="en-US" altLang="zh-CN" sz="2000" b="1" i="1" smtClean="0">
                          <a:latin typeface="Cambria Math" panose="02040503050406030204" pitchFamily="18" charset="0"/>
                        </a:rPr>
                        <m:t>𝑷</m:t>
                      </m:r>
                      <m:r>
                        <a:rPr lang="en-US" altLang="zh-CN" sz="2000" b="1" i="1" smtClean="0">
                          <a:latin typeface="Cambria Math" panose="02040503050406030204" pitchFamily="18" charset="0"/>
                        </a:rPr>
                        <m:t>(</m:t>
                      </m:r>
                      <m:r>
                        <a:rPr lang="en-US" altLang="zh-CN" sz="2000" b="1" i="1" smtClean="0">
                          <a:latin typeface="Cambria Math" panose="02040503050406030204" pitchFamily="18" charset="0"/>
                        </a:rPr>
                        <m:t>𝟏</m:t>
                      </m:r>
                      <m:r>
                        <a:rPr lang="en-US" altLang="zh-CN" sz="2000" b="1" i="1" smtClean="0">
                          <a:latin typeface="Cambria Math" panose="02040503050406030204" pitchFamily="18" charset="0"/>
                          <a:ea typeface="Cambria Math" panose="02040503050406030204" pitchFamily="18" charset="0"/>
                        </a:rPr>
                        <m:t>−</m:t>
                      </m:r>
                      <m:f>
                        <m:fPr>
                          <m:ctrlPr>
                            <a:rPr lang="en-US" altLang="zh-CN" sz="2000" b="1" i="1" smtClean="0">
                              <a:latin typeface="Cambria Math" panose="02040503050406030204" pitchFamily="18" charset="0"/>
                            </a:rPr>
                          </m:ctrlPr>
                        </m:fPr>
                        <m:num>
                          <m:r>
                            <a:rPr lang="en-US" altLang="zh-CN" sz="2000" b="1" i="1" smtClean="0">
                              <a:latin typeface="Cambria Math" panose="02040503050406030204" pitchFamily="18" charset="0"/>
                            </a:rPr>
                            <m:t>𝟏</m:t>
                          </m:r>
                        </m:num>
                        <m:den>
                          <m:r>
                            <a:rPr lang="en-US" altLang="zh-CN" sz="2000" b="1" i="1" smtClean="0">
                              <a:latin typeface="Cambria Math" panose="02040503050406030204" pitchFamily="18" charset="0"/>
                            </a:rPr>
                            <m:t>𝑬</m:t>
                          </m:r>
                        </m:den>
                      </m:f>
                      <m:r>
                        <a:rPr lang="en-US" altLang="zh-CN" sz="2000" b="1" i="0" smtClean="0">
                          <a:latin typeface="Cambria Math" panose="02040503050406030204" pitchFamily="18" charset="0"/>
                        </a:rPr>
                        <m:t> </m:t>
                      </m:r>
                      <m:r>
                        <a:rPr lang="en-US" altLang="zh-CN" sz="2000" i="1">
                          <a:latin typeface="Cambria Math" panose="02040503050406030204" pitchFamily="18" charset="0"/>
                        </a:rPr>
                        <m:t>)</m:t>
                      </m:r>
                    </m:oMath>
                  </m:oMathPara>
                </a14:m>
                <a:endParaRPr lang="zh-CN" altLang="en-US" sz="2000" dirty="0"/>
              </a:p>
            </p:txBody>
          </p:sp>
        </mc:Choice>
        <mc:Fallback xmlns="">
          <p:sp>
            <p:nvSpPr>
              <p:cNvPr id="11" name="文本框 10"/>
              <p:cNvSpPr txBox="1">
                <a:spLocks noRot="1" noChangeAspect="1" noMove="1" noResize="1" noEditPoints="1" noAdjustHandles="1" noChangeArrowheads="1" noChangeShapeType="1" noTextEdit="1"/>
              </p:cNvSpPr>
              <p:nvPr/>
            </p:nvSpPr>
            <p:spPr>
              <a:xfrm>
                <a:off x="2054252" y="2761653"/>
                <a:ext cx="4368473" cy="576183"/>
              </a:xfrm>
              <a:prstGeom prst="rect">
                <a:avLst/>
              </a:prstGeom>
              <a:blipFill rotWithShape="0">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p:cNvSpPr txBox="1"/>
              <p:nvPr/>
            </p:nvSpPr>
            <p:spPr>
              <a:xfrm>
                <a:off x="467715" y="4069045"/>
                <a:ext cx="1593269"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𝑹</m:t>
                      </m:r>
                      <m:r>
                        <a:rPr lang="en-US" altLang="zh-CN" sz="2000" i="1" smtClean="0">
                          <a:latin typeface="Cambria Math" panose="02040503050406030204" pitchFamily="18" charset="0"/>
                        </a:rPr>
                        <m:t>=</m:t>
                      </m:r>
                      <m:r>
                        <a:rPr lang="en-US" altLang="zh-CN" sz="2000" b="1" i="1" smtClean="0">
                          <a:latin typeface="Cambria Math" panose="02040503050406030204" pitchFamily="18" charset="0"/>
                        </a:rPr>
                        <m:t>𝑷</m:t>
                      </m:r>
                      <m:d>
                        <m:dPr>
                          <m:begChr m:val="（"/>
                          <m:endChr m:val="）"/>
                          <m:ctrlPr>
                            <a:rPr lang="zh-CN" altLang="en-US" sz="2000" b="1" i="1" smtClean="0">
                              <a:latin typeface="Cambria Math" panose="02040503050406030204" pitchFamily="18" charset="0"/>
                            </a:rPr>
                          </m:ctrlPr>
                        </m:dPr>
                        <m:e>
                          <m:r>
                            <a:rPr lang="en-US" altLang="zh-CN" sz="2000" b="1" i="1" smtClean="0">
                              <a:latin typeface="Cambria Math" panose="02040503050406030204" pitchFamily="18" charset="0"/>
                            </a:rPr>
                            <m:t>𝑸</m:t>
                          </m:r>
                        </m:e>
                      </m:d>
                      <m:r>
                        <a:rPr lang="en-US" altLang="zh-CN" sz="2000" b="1" i="1" smtClean="0">
                          <a:latin typeface="Cambria Math" panose="02040503050406030204" pitchFamily="18" charset="0"/>
                        </a:rPr>
                        <m:t>𝑸</m:t>
                      </m:r>
                    </m:oMath>
                  </m:oMathPara>
                </a14:m>
                <a:endParaRPr lang="zh-CN" altLang="en-US" sz="2000" dirty="0"/>
              </a:p>
            </p:txBody>
          </p:sp>
        </mc:Choice>
        <mc:Fallback xmlns="">
          <p:sp>
            <p:nvSpPr>
              <p:cNvPr id="15" name="文本框 14"/>
              <p:cNvSpPr txBox="1">
                <a:spLocks noRot="1" noChangeAspect="1" noMove="1" noResize="1" noEditPoints="1" noAdjustHandles="1" noChangeArrowheads="1" noChangeShapeType="1" noTextEdit="1"/>
              </p:cNvSpPr>
              <p:nvPr/>
            </p:nvSpPr>
            <p:spPr>
              <a:xfrm>
                <a:off x="467715" y="4069045"/>
                <a:ext cx="1593269" cy="307777"/>
              </a:xfrm>
              <a:prstGeom prst="rect">
                <a:avLst/>
              </a:prstGeom>
              <a:blipFill>
                <a:blip r:embed="rId4"/>
                <a:stretch>
                  <a:fillRect b="-33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矩形 19"/>
              <p:cNvSpPr/>
              <p:nvPr/>
            </p:nvSpPr>
            <p:spPr>
              <a:xfrm>
                <a:off x="2936458" y="3938967"/>
                <a:ext cx="6469035" cy="705001"/>
              </a:xfrm>
              <a:prstGeom prst="rect">
                <a:avLst/>
              </a:prstGeom>
            </p:spPr>
            <p:txBody>
              <a:bodyPr wrap="square">
                <a:spAutoFit/>
              </a:bodyPr>
              <a:lstStyle/>
              <a:p>
                <a14:m>
                  <m:oMath xmlns:m="http://schemas.openxmlformats.org/officeDocument/2006/math">
                    <m:r>
                      <a:rPr lang="en-US" altLang="zh-CN" sz="2000" i="1" smtClean="0">
                        <a:latin typeface="Cambria Math" panose="02040503050406030204" pitchFamily="18" charset="0"/>
                      </a:rPr>
                      <m:t>𝑴𝑹</m:t>
                    </m:r>
                    <m:r>
                      <a:rPr lang="en-US" altLang="zh-CN" sz="2000" i="1">
                        <a:latin typeface="Cambria Math" panose="02040503050406030204" pitchFamily="18" charset="0"/>
                        <a:ea typeface="Cambria Math" panose="02040503050406030204" pitchFamily="18" charset="0"/>
                      </a:rPr>
                      <m:t>=</m:t>
                    </m:r>
                    <m:r>
                      <a:rPr lang="en-US" altLang="zh-CN" sz="2000" i="1">
                        <a:latin typeface="Cambria Math" panose="02040503050406030204" pitchFamily="18" charset="0"/>
                      </a:rPr>
                      <m:t>𝑷</m:t>
                    </m:r>
                    <m:r>
                      <a:rPr lang="en-US" altLang="zh-CN" sz="2000" i="1">
                        <a:latin typeface="Cambria Math" panose="02040503050406030204" pitchFamily="18" charset="0"/>
                      </a:rPr>
                      <m:t>(</m:t>
                    </m:r>
                    <m:r>
                      <a:rPr lang="en-US" altLang="zh-CN" sz="2000" b="1" i="1" smtClean="0">
                        <a:latin typeface="Cambria Math" panose="02040503050406030204" pitchFamily="18" charset="0"/>
                      </a:rPr>
                      <m:t>𝑸</m:t>
                    </m:r>
                    <m:r>
                      <a:rPr lang="en-US" altLang="zh-CN" sz="2000" b="1" i="1" smtClean="0">
                        <a:latin typeface="Cambria Math" panose="02040503050406030204" pitchFamily="18" charset="0"/>
                      </a:rPr>
                      <m:t>)</m:t>
                    </m:r>
                    <m:r>
                      <a:rPr lang="en-US" altLang="zh-CN" sz="2000" i="1">
                        <a:latin typeface="Cambria Math" panose="02040503050406030204" pitchFamily="18" charset="0"/>
                        <a:ea typeface="Cambria Math" panose="02040503050406030204" pitchFamily="18" charset="0"/>
                      </a:rPr>
                      <m:t>−</m:t>
                    </m:r>
                    <m:f>
                      <m:fPr>
                        <m:ctrlPr>
                          <a:rPr lang="en-US" altLang="zh-CN" sz="2000" i="1" smtClean="0">
                            <a:latin typeface="Cambria Math" panose="02040503050406030204" pitchFamily="18" charset="0"/>
                          </a:rPr>
                        </m:ctrlPr>
                      </m:fPr>
                      <m:num>
                        <m:r>
                          <m:rPr>
                            <m:sty m:val="p"/>
                          </m:rPr>
                          <a:rPr lang="en-US" altLang="zh-CN" sz="2000" i="1" smtClean="0">
                            <a:latin typeface="Cambria Math" panose="02040503050406030204" pitchFamily="18" charset="0"/>
                          </a:rPr>
                          <m:t>dP</m:t>
                        </m:r>
                      </m:num>
                      <m:den>
                        <m:r>
                          <m:rPr>
                            <m:sty m:val="p"/>
                          </m:rPr>
                          <a:rPr lang="en-US" altLang="zh-CN" sz="2000" i="1" smtClean="0">
                            <a:latin typeface="Cambria Math" panose="02040503050406030204" pitchFamily="18" charset="0"/>
                          </a:rPr>
                          <m:t>dQ</m:t>
                        </m:r>
                      </m:den>
                    </m:f>
                    <m:r>
                      <a:rPr lang="en-US" altLang="zh-CN" sz="2000">
                        <a:latin typeface="Cambria Math" panose="02040503050406030204" pitchFamily="18" charset="0"/>
                      </a:rPr>
                      <m:t> </m:t>
                    </m:r>
                    <m:r>
                      <a:rPr lang="en-US" altLang="zh-CN" sz="2000" b="1" i="0" smtClean="0">
                        <a:latin typeface="Cambria Math" panose="02040503050406030204" pitchFamily="18" charset="0"/>
                      </a:rPr>
                      <m:t>𝐐</m:t>
                    </m:r>
                    <m:r>
                      <a:rPr lang="en-US" altLang="zh-CN" sz="2000" i="1" dirty="0" smtClean="0">
                        <a:latin typeface="Cambria Math" panose="02040503050406030204" pitchFamily="18" charset="0"/>
                        <a:ea typeface="Cambria Math" panose="02040503050406030204" pitchFamily="18" charset="0"/>
                      </a:rPr>
                      <m:t>=</m:t>
                    </m:r>
                  </m:oMath>
                </a14:m>
                <a:r>
                  <a:rPr lang="en-US" altLang="zh-CN" sz="2000" dirty="0"/>
                  <a:t>P</a:t>
                </a:r>
                <a14:m>
                  <m:oMath xmlns:m="http://schemas.openxmlformats.org/officeDocument/2006/math">
                    <m:d>
                      <m:dPr>
                        <m:ctrlPr>
                          <a:rPr lang="en-US" altLang="zh-CN" sz="2000" i="1" dirty="0" smtClean="0">
                            <a:latin typeface="Cambria Math" panose="02040503050406030204" pitchFamily="18" charset="0"/>
                          </a:rPr>
                        </m:ctrlPr>
                      </m:dPr>
                      <m:e>
                        <m:r>
                          <a:rPr lang="en-US" altLang="zh-CN" sz="2000" i="1" dirty="0">
                            <a:latin typeface="Cambria Math" panose="02040503050406030204" pitchFamily="18" charset="0"/>
                          </a:rPr>
                          <m:t>𝟏</m:t>
                        </m:r>
                        <m:r>
                          <a:rPr lang="en-US" altLang="zh-CN" sz="2000" i="1" dirty="0">
                            <a:latin typeface="Cambria Math" panose="02040503050406030204" pitchFamily="18" charset="0"/>
                            <a:ea typeface="Cambria Math" panose="02040503050406030204" pitchFamily="18" charset="0"/>
                          </a:rPr>
                          <m:t>+</m:t>
                        </m:r>
                        <m:f>
                          <m:fPr>
                            <m:ctrlPr>
                              <a:rPr lang="en-US" altLang="zh-CN" sz="2000" i="1">
                                <a:latin typeface="Cambria Math" panose="02040503050406030204" pitchFamily="18" charset="0"/>
                              </a:rPr>
                            </m:ctrlPr>
                          </m:fPr>
                          <m:num>
                            <m:r>
                              <m:rPr>
                                <m:sty m:val="p"/>
                              </m:rPr>
                              <a:rPr lang="en-US" altLang="zh-CN" sz="2000" i="1">
                                <a:latin typeface="Cambria Math" panose="02040503050406030204" pitchFamily="18" charset="0"/>
                              </a:rPr>
                              <m:t>dP</m:t>
                            </m:r>
                          </m:num>
                          <m:den>
                            <m:r>
                              <m:rPr>
                                <m:sty m:val="p"/>
                              </m:rPr>
                              <a:rPr lang="en-US" altLang="zh-CN" sz="2000" i="1">
                                <a:latin typeface="Cambria Math" panose="02040503050406030204" pitchFamily="18" charset="0"/>
                              </a:rPr>
                              <m:t>dQ</m:t>
                            </m:r>
                          </m:den>
                        </m:f>
                        <m:f>
                          <m:fPr>
                            <m:ctrlPr>
                              <a:rPr lang="en-US" altLang="zh-CN" sz="2000" i="1">
                                <a:latin typeface="Cambria Math" panose="02040503050406030204" pitchFamily="18" charset="0"/>
                              </a:rPr>
                            </m:ctrlPr>
                          </m:fPr>
                          <m:num>
                            <m:r>
                              <a:rPr lang="en-US" altLang="zh-CN" sz="2000" i="1">
                                <a:latin typeface="Cambria Math" panose="02040503050406030204" pitchFamily="18" charset="0"/>
                              </a:rPr>
                              <m:t>𝑸</m:t>
                            </m:r>
                          </m:num>
                          <m:den>
                            <m:r>
                              <a:rPr lang="en-US" altLang="zh-CN" sz="2000" i="1">
                                <a:latin typeface="Cambria Math" panose="02040503050406030204" pitchFamily="18" charset="0"/>
                              </a:rPr>
                              <m:t>𝑷</m:t>
                            </m:r>
                          </m:den>
                        </m:f>
                      </m:e>
                    </m:d>
                    <m:r>
                      <a:rPr lang="en-US" altLang="zh-CN" sz="2000" i="1" dirty="0" smtClean="0">
                        <a:latin typeface="Cambria Math" panose="02040503050406030204" pitchFamily="18" charset="0"/>
                        <a:ea typeface="Cambria Math" panose="02040503050406030204" pitchFamily="18" charset="0"/>
                      </a:rPr>
                      <m:t>=</m:t>
                    </m:r>
                  </m:oMath>
                </a14:m>
                <a:r>
                  <a:rPr lang="en-US" altLang="zh-CN" sz="2000" dirty="0"/>
                  <a:t>P</a:t>
                </a:r>
                <a14:m>
                  <m:oMath xmlns:m="http://schemas.openxmlformats.org/officeDocument/2006/math">
                    <m:d>
                      <m:dPr>
                        <m:ctrlPr>
                          <a:rPr lang="en-US" altLang="zh-CN" sz="2000" i="1" smtClean="0">
                            <a:latin typeface="Cambria Math" panose="02040503050406030204" pitchFamily="18" charset="0"/>
                          </a:rPr>
                        </m:ctrlPr>
                      </m:dPr>
                      <m:e>
                        <m:r>
                          <m:rPr>
                            <m:nor/>
                          </m:rPr>
                          <a:rPr lang="en-US" altLang="zh-CN" sz="2000" dirty="0"/>
                          <m:t>1</m:t>
                        </m:r>
                        <m:r>
                          <a:rPr lang="en-US" altLang="zh-CN" sz="2000" i="1" dirty="0">
                            <a:latin typeface="Cambria Math" panose="02040503050406030204" pitchFamily="18" charset="0"/>
                            <a:ea typeface="Cambria Math" panose="02040503050406030204" pitchFamily="18" charset="0"/>
                          </a:rPr>
                          <m:t>−</m:t>
                        </m:r>
                        <m:f>
                          <m:fPr>
                            <m:ctrlPr>
                              <a:rPr lang="en-US" altLang="zh-CN" sz="2000" i="1">
                                <a:latin typeface="Cambria Math" panose="02040503050406030204" pitchFamily="18" charset="0"/>
                              </a:rPr>
                            </m:ctrlPr>
                          </m:fPr>
                          <m:num>
                            <m:r>
                              <a:rPr lang="en-US" altLang="zh-CN" sz="2000" i="1">
                                <a:latin typeface="Cambria Math" panose="02040503050406030204" pitchFamily="18" charset="0"/>
                              </a:rPr>
                              <m:t>𝟏</m:t>
                            </m:r>
                          </m:num>
                          <m:den>
                            <m:r>
                              <a:rPr lang="en-US" altLang="zh-CN" sz="2000" i="1">
                                <a:latin typeface="Cambria Math" panose="02040503050406030204" pitchFamily="18" charset="0"/>
                                <a:ea typeface="Cambria Math" panose="02040503050406030204" pitchFamily="18" charset="0"/>
                              </a:rPr>
                              <m:t>−</m:t>
                            </m:r>
                            <m:f>
                              <m:fPr>
                                <m:ctrlPr>
                                  <a:rPr lang="en-US" altLang="zh-CN" sz="2000" i="1">
                                    <a:latin typeface="Cambria Math" panose="02040503050406030204" pitchFamily="18" charset="0"/>
                                  </a:rPr>
                                </m:ctrlPr>
                              </m:fPr>
                              <m:num>
                                <m:r>
                                  <m:rPr>
                                    <m:sty m:val="p"/>
                                  </m:rPr>
                                  <a:rPr lang="en-US" altLang="zh-CN" sz="2000" i="1">
                                    <a:latin typeface="Cambria Math" panose="02040503050406030204" pitchFamily="18" charset="0"/>
                                  </a:rPr>
                                  <m:t>dQ</m:t>
                                </m:r>
                                <m:r>
                                  <a:rPr lang="en-US" altLang="zh-CN" sz="2000" i="1">
                                    <a:latin typeface="Cambria Math" panose="02040503050406030204" pitchFamily="18" charset="0"/>
                                    <a:ea typeface="Cambria Math" panose="02040503050406030204" pitchFamily="18" charset="0"/>
                                  </a:rPr>
                                  <m:t>∕</m:t>
                                </m:r>
                                <m:r>
                                  <a:rPr lang="en-US" altLang="zh-CN" sz="2000" i="1">
                                    <a:latin typeface="Cambria Math" panose="02040503050406030204" pitchFamily="18" charset="0"/>
                                    <a:ea typeface="Cambria Math" panose="02040503050406030204" pitchFamily="18" charset="0"/>
                                  </a:rPr>
                                  <m:t>𝑸</m:t>
                                </m:r>
                              </m:num>
                              <m:den>
                                <m:r>
                                  <m:rPr>
                                    <m:sty m:val="p"/>
                                  </m:rPr>
                                  <a:rPr lang="en-US" altLang="zh-CN" sz="2000" i="1">
                                    <a:latin typeface="Cambria Math" panose="02040503050406030204" pitchFamily="18" charset="0"/>
                                  </a:rPr>
                                  <m:t>dP</m:t>
                                </m:r>
                                <m:r>
                                  <a:rPr lang="en-US" altLang="zh-CN" sz="2000" i="1">
                                    <a:latin typeface="Cambria Math" panose="02040503050406030204" pitchFamily="18" charset="0"/>
                                    <a:ea typeface="Cambria Math" panose="02040503050406030204" pitchFamily="18" charset="0"/>
                                  </a:rPr>
                                  <m:t>∕</m:t>
                                </m:r>
                                <m:r>
                                  <a:rPr lang="en-US" altLang="zh-CN" sz="2000" i="1">
                                    <a:latin typeface="Cambria Math" panose="02040503050406030204" pitchFamily="18" charset="0"/>
                                    <a:ea typeface="Cambria Math" panose="02040503050406030204" pitchFamily="18" charset="0"/>
                                  </a:rPr>
                                  <m:t>𝑷</m:t>
                                </m:r>
                              </m:den>
                            </m:f>
                          </m:den>
                        </m:f>
                        <m:r>
                          <m:rPr>
                            <m:nor/>
                          </m:rPr>
                          <a:rPr lang="zh-CN" altLang="en-US" sz="2000" dirty="0"/>
                          <m:t> </m:t>
                        </m:r>
                      </m:e>
                    </m:d>
                  </m:oMath>
                </a14:m>
                <a:endParaRPr lang="zh-CN" altLang="en-US" sz="2000" dirty="0"/>
              </a:p>
            </p:txBody>
          </p:sp>
        </mc:Choice>
        <mc:Fallback xmlns="">
          <p:sp>
            <p:nvSpPr>
              <p:cNvPr id="20" name="矩形 19"/>
              <p:cNvSpPr>
                <a:spLocks noRot="1" noChangeAspect="1" noMove="1" noResize="1" noEditPoints="1" noAdjustHandles="1" noChangeArrowheads="1" noChangeShapeType="1" noTextEdit="1"/>
              </p:cNvSpPr>
              <p:nvPr/>
            </p:nvSpPr>
            <p:spPr>
              <a:xfrm>
                <a:off x="2936458" y="3938967"/>
                <a:ext cx="6469035" cy="705001"/>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p:cNvSpPr txBox="1"/>
              <p:nvPr/>
            </p:nvSpPr>
            <p:spPr>
              <a:xfrm>
                <a:off x="2868910" y="4825609"/>
                <a:ext cx="2002695" cy="69153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ea typeface="Cambria Math" panose="02040503050406030204" pitchFamily="18" charset="0"/>
                        </a:rPr>
                        <m:t>𝑴𝑹</m:t>
                      </m:r>
                      <m:r>
                        <a:rPr lang="en-US" altLang="zh-CN" sz="2000" i="1" smtClean="0">
                          <a:latin typeface="Cambria Math" panose="02040503050406030204" pitchFamily="18" charset="0"/>
                          <a:ea typeface="Cambria Math" panose="02040503050406030204" pitchFamily="18" charset="0"/>
                        </a:rPr>
                        <m:t>=</m:t>
                      </m:r>
                      <m:r>
                        <a:rPr lang="en-US" altLang="zh-CN" sz="2000" b="1" i="1" smtClean="0">
                          <a:latin typeface="Cambria Math" panose="02040503050406030204" pitchFamily="18" charset="0"/>
                          <a:ea typeface="Cambria Math" panose="02040503050406030204" pitchFamily="18" charset="0"/>
                        </a:rPr>
                        <m:t>𝑷</m:t>
                      </m:r>
                      <m:d>
                        <m:dPr>
                          <m:ctrlPr>
                            <a:rPr lang="en-US" altLang="zh-CN" sz="2000" b="1" i="1" smtClean="0">
                              <a:latin typeface="Cambria Math" panose="02040503050406030204" pitchFamily="18" charset="0"/>
                              <a:ea typeface="Cambria Math" panose="02040503050406030204" pitchFamily="18" charset="0"/>
                            </a:rPr>
                          </m:ctrlPr>
                        </m:dPr>
                        <m:e>
                          <m:r>
                            <a:rPr lang="en-US" altLang="zh-CN" sz="2000" b="1" i="1" smtClean="0">
                              <a:latin typeface="Cambria Math" panose="02040503050406030204" pitchFamily="18" charset="0"/>
                              <a:ea typeface="Cambria Math" panose="02040503050406030204" pitchFamily="18" charset="0"/>
                            </a:rPr>
                            <m:t>𝟏</m:t>
                          </m:r>
                          <m:r>
                            <a:rPr lang="en-US" altLang="zh-CN" sz="2000" b="1" i="1" smtClean="0">
                              <a:latin typeface="Cambria Math" panose="02040503050406030204" pitchFamily="18" charset="0"/>
                              <a:ea typeface="Cambria Math" panose="02040503050406030204" pitchFamily="18" charset="0"/>
                            </a:rPr>
                            <m:t>−</m:t>
                          </m:r>
                          <m:f>
                            <m:fPr>
                              <m:type m:val="noBar"/>
                              <m:ctrlPr>
                                <a:rPr lang="en-US" altLang="zh-CN" sz="2000" b="1" i="1" smtClean="0">
                                  <a:latin typeface="Cambria Math" panose="02040503050406030204" pitchFamily="18" charset="0"/>
                                  <a:ea typeface="Cambria Math" panose="02040503050406030204" pitchFamily="18" charset="0"/>
                                </a:rPr>
                              </m:ctrlPr>
                            </m:fPr>
                            <m:num>
                              <m:r>
                                <a:rPr lang="en-US" altLang="zh-CN" sz="2000" b="1" i="1" smtClean="0">
                                  <a:latin typeface="Cambria Math" panose="02040503050406030204" pitchFamily="18" charset="0"/>
                                  <a:ea typeface="Cambria Math" panose="02040503050406030204" pitchFamily="18" charset="0"/>
                                </a:rPr>
                                <m:t>𝟏</m:t>
                              </m:r>
                            </m:num>
                            <m:den>
                              <m:r>
                                <a:rPr lang="en-US" altLang="zh-CN" sz="2000" b="1" i="1" smtClean="0">
                                  <a:latin typeface="Cambria Math" panose="02040503050406030204" pitchFamily="18" charset="0"/>
                                  <a:ea typeface="Cambria Math" panose="02040503050406030204" pitchFamily="18" charset="0"/>
                                </a:rPr>
                                <m:t>𝑬</m:t>
                              </m:r>
                            </m:den>
                          </m:f>
                        </m:e>
                      </m:d>
                    </m:oMath>
                  </m:oMathPara>
                </a14:m>
                <a:endParaRPr lang="zh-CN" altLang="en-US" sz="2000" dirty="0"/>
              </a:p>
            </p:txBody>
          </p:sp>
        </mc:Choice>
        <mc:Fallback xmlns="">
          <p:sp>
            <p:nvSpPr>
              <p:cNvPr id="23" name="文本框 22"/>
              <p:cNvSpPr txBox="1">
                <a:spLocks noRot="1" noChangeAspect="1" noMove="1" noResize="1" noEditPoints="1" noAdjustHandles="1" noChangeArrowheads="1" noChangeShapeType="1" noTextEdit="1"/>
              </p:cNvSpPr>
              <p:nvPr/>
            </p:nvSpPr>
            <p:spPr>
              <a:xfrm>
                <a:off x="2868910" y="4825609"/>
                <a:ext cx="2002695" cy="691536"/>
              </a:xfrm>
              <a:prstGeom prst="rect">
                <a:avLst/>
              </a:prstGeom>
              <a:blipFill>
                <a:blip r:embed="rId6"/>
                <a:stretch>
                  <a:fillRect/>
                </a:stretch>
              </a:blipFill>
            </p:spPr>
            <p:txBody>
              <a:bodyPr/>
              <a:lstStyle/>
              <a:p>
                <a:r>
                  <a:rPr lang="zh-CN" altLang="en-US">
                    <a:noFill/>
                  </a:rPr>
                  <a:t> </a:t>
                </a:r>
              </a:p>
            </p:txBody>
          </p:sp>
        </mc:Fallback>
      </mc:AlternateContent>
      <p:sp>
        <p:nvSpPr>
          <p:cNvPr id="26" name="右箭头 25"/>
          <p:cNvSpPr/>
          <p:nvPr/>
        </p:nvSpPr>
        <p:spPr bwMode="auto">
          <a:xfrm>
            <a:off x="2063410" y="5088203"/>
            <a:ext cx="715077" cy="210469"/>
          </a:xfrm>
          <a:prstGeom prst="rightArrow">
            <a:avLst/>
          </a:prstGeom>
          <a:solidFill>
            <a:srgbClr val="F3C97F"/>
          </a:solidFill>
          <a:ln w="9525" cap="flat" cmpd="sng" algn="ctr">
            <a:solidFill>
              <a:srgbClr val="F3C97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3" name="矩形 12"/>
          <p:cNvSpPr/>
          <p:nvPr/>
        </p:nvSpPr>
        <p:spPr>
          <a:xfrm>
            <a:off x="7505410" y="35458"/>
            <a:ext cx="1638590" cy="369332"/>
          </a:xfrm>
          <a:prstGeom prst="rect">
            <a:avLst/>
          </a:prstGeom>
        </p:spPr>
        <p:txBody>
          <a:bodyPr wrap="none">
            <a:spAutoFit/>
          </a:bodyPr>
          <a:lstStyle/>
          <a:p>
            <a:pPr algn="dist"/>
            <a:r>
              <a:rPr lang="zh-CN" altLang="en-US" sz="1800" b="0" spc="30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第一节 垄断</a:t>
            </a:r>
            <a:endParaRPr lang="zh-CN" altLang="en-US" sz="1800" b="0" spc="300" dirty="0">
              <a:solidFill>
                <a:schemeClr val="tx2"/>
              </a:solidFill>
              <a:ea typeface="黑体" panose="02010609060101010101" pitchFamily="49" charset="-122"/>
              <a:sym typeface="Arial" panose="020B0604020202020204" pitchFamily="34" charset="0"/>
            </a:endParaRPr>
          </a:p>
        </p:txBody>
      </p:sp>
    </p:spTree>
    <p:extLst>
      <p:ext uri="{BB962C8B-B14F-4D97-AF65-F5344CB8AC3E}">
        <p14:creationId xmlns:p14="http://schemas.microsoft.com/office/powerpoint/2010/main" val="607225100"/>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603"/>
                                        </p:tgtEl>
                                        <p:attrNameLst>
                                          <p:attrName>style.visibility</p:attrName>
                                        </p:attrNameLst>
                                      </p:cBhvr>
                                      <p:to>
                                        <p:strVal val="visible"/>
                                      </p:to>
                                    </p:set>
                                    <p:animEffect transition="in" filter="fade">
                                      <p:cBhvr>
                                        <p:cTn id="7" dur="500"/>
                                        <p:tgtEl>
                                          <p:spTgt spid="2560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barn(inVertical)">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down)">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down)">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21" presetClass="entr" presetSubtype="1"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heel(1)">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500"/>
                                        <p:tgtEl>
                                          <p:spTgt spid="20"/>
                                        </p:tgtEl>
                                      </p:cBhvr>
                                    </p:animEffect>
                                  </p:childTnLst>
                                </p:cTn>
                              </p:par>
                            </p:childTnLst>
                          </p:cTn>
                        </p:par>
                      </p:childTnLst>
                    </p:cTn>
                  </p:par>
                  <p:par>
                    <p:cTn id="38" fill="hold">
                      <p:stCondLst>
                        <p:cond delay="indefinite"/>
                      </p:stCondLst>
                      <p:childTnLst>
                        <p:par>
                          <p:cTn id="39" fill="hold">
                            <p:stCondLst>
                              <p:cond delay="0"/>
                            </p:stCondLst>
                            <p:childTnLst>
                              <p:par>
                                <p:cTn id="40" presetID="21" presetClass="entr" presetSubtype="1" fill="hold" grpId="0" nodeType="clickEffect">
                                  <p:stCondLst>
                                    <p:cond delay="0"/>
                                  </p:stCondLst>
                                  <p:childTnLst>
                                    <p:set>
                                      <p:cBhvr>
                                        <p:cTn id="41" dur="1" fill="hold">
                                          <p:stCondLst>
                                            <p:cond delay="0"/>
                                          </p:stCondLst>
                                        </p:cTn>
                                        <p:tgtEl>
                                          <p:spTgt spid="26"/>
                                        </p:tgtEl>
                                        <p:attrNameLst>
                                          <p:attrName>style.visibility</p:attrName>
                                        </p:attrNameLst>
                                      </p:cBhvr>
                                      <p:to>
                                        <p:strVal val="visible"/>
                                      </p:to>
                                    </p:set>
                                    <p:animEffect transition="in" filter="wheel(1)">
                                      <p:cBhvr>
                                        <p:cTn id="42" dur="500"/>
                                        <p:tgtEl>
                                          <p:spTgt spid="26"/>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p:bldP spid="4" grpId="0"/>
      <p:bldP spid="7" grpId="0" animBg="1"/>
      <p:bldP spid="11" grpId="0"/>
      <p:bldP spid="15" grpId="0"/>
      <p:bldP spid="20" grpId="0"/>
      <p:bldP spid="23" grpId="0"/>
      <p:bldP spid="26"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3"/>
          <p:cNvSpPr txBox="1">
            <a:spLocks noChangeArrowheads="1"/>
          </p:cNvSpPr>
          <p:nvPr/>
        </p:nvSpPr>
        <p:spPr bwMode="auto">
          <a:xfrm>
            <a:off x="683730" y="1196975"/>
            <a:ext cx="8135937" cy="499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742950" lvl="2" indent="-342900" defTabSz="0" eaLnBrk="1" hangingPunct="1">
              <a:lnSpc>
                <a:spcPct val="150000"/>
              </a:lnSpc>
              <a:spcBef>
                <a:spcPct val="20000"/>
              </a:spcBef>
              <a:buSzPct val="100000"/>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rPr>
              <a:t>不同消费群体的边际收益与弹性关系</a:t>
            </a:r>
            <a:endParaRPr lang="en-US" altLang="zh-CN" sz="2000" b="0" dirty="0">
              <a:latin typeface="微软雅黑" panose="020B0503020204020204" pitchFamily="34" charset="-122"/>
              <a:ea typeface="微软雅黑" panose="020B0503020204020204" pitchFamily="34" charset="-122"/>
            </a:endParaRPr>
          </a:p>
        </p:txBody>
      </p:sp>
      <p:sp>
        <p:nvSpPr>
          <p:cNvPr id="7" name="右箭头 6"/>
          <p:cNvSpPr/>
          <p:nvPr/>
        </p:nvSpPr>
        <p:spPr bwMode="auto">
          <a:xfrm>
            <a:off x="3995317" y="5182227"/>
            <a:ext cx="830945" cy="195066"/>
          </a:xfrm>
          <a:prstGeom prst="rightArrow">
            <a:avLst/>
          </a:prstGeom>
          <a:solidFill>
            <a:srgbClr val="F3C97F"/>
          </a:solidFill>
          <a:ln w="9525" cap="flat" cmpd="sng" algn="ctr">
            <a:solidFill>
              <a:srgbClr val="F3C97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12" name="右箭头 11"/>
          <p:cNvSpPr/>
          <p:nvPr/>
        </p:nvSpPr>
        <p:spPr bwMode="auto">
          <a:xfrm flipV="1">
            <a:off x="1946062" y="5182227"/>
            <a:ext cx="830945" cy="214259"/>
          </a:xfrm>
          <a:prstGeom prst="rightArrow">
            <a:avLst/>
          </a:prstGeom>
          <a:solidFill>
            <a:srgbClr val="F3C97F"/>
          </a:solidFill>
          <a:ln w="9525" cap="flat" cmpd="sng" algn="ctr">
            <a:solidFill>
              <a:srgbClr val="F3C97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17" name="Text Box 3"/>
          <p:cNvSpPr txBox="1">
            <a:spLocks noChangeArrowheads="1"/>
          </p:cNvSpPr>
          <p:nvPr/>
        </p:nvSpPr>
        <p:spPr bwMode="auto">
          <a:xfrm>
            <a:off x="717455" y="2740045"/>
            <a:ext cx="8135937" cy="499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742950" lvl="2" indent="-342900" defTabSz="0" eaLnBrk="1" hangingPunct="1">
              <a:lnSpc>
                <a:spcPct val="150000"/>
              </a:lnSpc>
              <a:spcBef>
                <a:spcPct val="20000"/>
              </a:spcBef>
              <a:buSzPct val="100000"/>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rPr>
              <a:t>不同消费群体定价原则</a:t>
            </a:r>
            <a:endParaRPr lang="en-US" altLang="zh-CN" sz="2000" b="0" dirty="0">
              <a:latin typeface="微软雅黑" panose="020B0503020204020204" pitchFamily="34" charset="-122"/>
              <a:ea typeface="微软雅黑" panose="020B0503020204020204" pitchFamily="34" charset="-122"/>
            </a:endParaRPr>
          </a:p>
        </p:txBody>
      </p:sp>
      <p:sp>
        <p:nvSpPr>
          <p:cNvPr id="19" name="Text Box 3"/>
          <p:cNvSpPr txBox="1">
            <a:spLocks noChangeArrowheads="1"/>
          </p:cNvSpPr>
          <p:nvPr/>
        </p:nvSpPr>
        <p:spPr bwMode="auto">
          <a:xfrm>
            <a:off x="717455" y="4303940"/>
            <a:ext cx="8135937" cy="499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742950" lvl="2" indent="-342900" defTabSz="0" eaLnBrk="1" hangingPunct="1">
              <a:lnSpc>
                <a:spcPct val="150000"/>
              </a:lnSpc>
              <a:spcBef>
                <a:spcPct val="20000"/>
              </a:spcBef>
              <a:buSzPct val="100000"/>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rPr>
              <a:t>价格歧视</a:t>
            </a:r>
            <a:endParaRPr lang="en-US" altLang="zh-CN" sz="2000" b="0" dirty="0">
              <a:latin typeface="微软雅黑" panose="020B0503020204020204" pitchFamily="34" charset="-122"/>
              <a:ea typeface="微软雅黑" panose="020B0503020204020204" pitchFamily="34" charset="-122"/>
            </a:endParaRPr>
          </a:p>
        </p:txBody>
      </p:sp>
      <p:sp>
        <p:nvSpPr>
          <p:cNvPr id="23" name="右箭头 22"/>
          <p:cNvSpPr/>
          <p:nvPr/>
        </p:nvSpPr>
        <p:spPr bwMode="auto">
          <a:xfrm>
            <a:off x="6554382" y="5170859"/>
            <a:ext cx="830945" cy="195066"/>
          </a:xfrm>
          <a:prstGeom prst="rightArrow">
            <a:avLst/>
          </a:prstGeom>
          <a:solidFill>
            <a:srgbClr val="F3C97F"/>
          </a:solidFill>
          <a:ln w="9525" cap="flat" cmpd="sng" algn="ctr">
            <a:solidFill>
              <a:srgbClr val="F3C97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22" name="矩形 21">
            <a:extLst>
              <a:ext uri="{FF2B5EF4-FFF2-40B4-BE49-F238E27FC236}">
                <a16:creationId xmlns:a16="http://schemas.microsoft.com/office/drawing/2014/main" id="{F68E5273-CD77-47B9-B841-9D29349C133D}"/>
              </a:ext>
            </a:extLst>
          </p:cNvPr>
          <p:cNvSpPr/>
          <p:nvPr/>
        </p:nvSpPr>
        <p:spPr>
          <a:xfrm>
            <a:off x="467544" y="548680"/>
            <a:ext cx="2146742"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spc="150" dirty="0">
                <a:solidFill>
                  <a:srgbClr val="FFFFFF"/>
                </a:solidFill>
                <a:latin typeface="微软雅黑" panose="020B0503020204020204" pitchFamily="34" charset="-122"/>
                <a:ea typeface="微软雅黑" panose="020B0503020204020204" pitchFamily="34" charset="-122"/>
              </a:rPr>
              <a:t>五</a:t>
            </a:r>
            <a:r>
              <a:rPr lang="zh-CN" altLang="en-US" sz="2400" b="1" spc="150" dirty="0">
                <a:solidFill>
                  <a:srgbClr val="FFFFFF"/>
                </a:solidFill>
                <a:latin typeface="微软雅黑" panose="020B0503020204020204" pitchFamily="34" charset="-122"/>
                <a:ea typeface="微软雅黑" panose="020B0503020204020204" pitchFamily="34" charset="-122"/>
              </a:rPr>
              <a:t>、</a:t>
            </a:r>
            <a:r>
              <a:rPr lang="zh-CN" altLang="en-US" sz="2400" spc="15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价格歧视</a:t>
            </a:r>
            <a:endParaRPr lang="zh-CN" altLang="en-US" sz="2400" b="1" spc="150" dirty="0">
              <a:solidFill>
                <a:srgbClr val="FFFFFF"/>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3" name="文本框 2"/>
              <p:cNvSpPr txBox="1"/>
              <p:nvPr/>
            </p:nvSpPr>
            <p:spPr>
              <a:xfrm>
                <a:off x="1711860" y="1916895"/>
                <a:ext cx="2358216" cy="469039"/>
              </a:xfrm>
              <a:prstGeom prst="rect">
                <a:avLst/>
              </a:prstGeom>
              <a:noFill/>
            </p:spPr>
            <p:txBody>
              <a:bodyPr wrap="square" lIns="0" tIns="0" rIns="0" bIns="0" rtlCol="0">
                <a:spAutoFit/>
              </a:bodyPr>
              <a:lstStyle/>
              <a:p>
                <a:r>
                  <a:rPr lang="pt-BR" altLang="zh-CN" sz="2000" b="1" dirty="0">
                    <a:ea typeface="Cambria Math" panose="02040503050406030204" pitchFamily="18" charset="0"/>
                  </a:rPr>
                  <a:t>M</a:t>
                </a:r>
                <a14:m>
                  <m:oMath xmlns:m="http://schemas.openxmlformats.org/officeDocument/2006/math">
                    <m:sSub>
                      <m:sSubPr>
                        <m:ctrlPr>
                          <a:rPr lang="pt-BR" altLang="zh-CN" sz="2000" b="1" i="1" smtClean="0">
                            <a:latin typeface="Cambria Math" panose="02040503050406030204" pitchFamily="18" charset="0"/>
                            <a:ea typeface="Cambria Math" panose="02040503050406030204" pitchFamily="18" charset="0"/>
                          </a:rPr>
                        </m:ctrlPr>
                      </m:sSubPr>
                      <m:e>
                        <m:r>
                          <a:rPr lang="en-US" altLang="zh-CN" sz="2000" b="1" i="1" smtClean="0">
                            <a:latin typeface="Cambria Math" panose="02040503050406030204" pitchFamily="18" charset="0"/>
                            <a:ea typeface="Cambria Math" panose="02040503050406030204" pitchFamily="18" charset="0"/>
                          </a:rPr>
                          <m:t>𝑹</m:t>
                        </m:r>
                      </m:e>
                      <m:sub>
                        <m:r>
                          <m:rPr>
                            <m:sty m:val="p"/>
                          </m:rPr>
                          <a:rPr lang="en-US" altLang="zh-CN" sz="2000" i="1">
                            <a:latin typeface="Cambria Math" panose="02040503050406030204" pitchFamily="18" charset="0"/>
                            <a:ea typeface="Cambria Math" panose="02040503050406030204" pitchFamily="18" charset="0"/>
                          </a:rPr>
                          <m:t>a</m:t>
                        </m:r>
                      </m:sub>
                    </m:sSub>
                    <m:r>
                      <a:rPr lang="en-US" altLang="zh-CN" sz="2000" i="1" smtClean="0">
                        <a:latin typeface="Cambria Math" panose="02040503050406030204" pitchFamily="18" charset="0"/>
                        <a:ea typeface="Cambria Math" panose="02040503050406030204" pitchFamily="18" charset="0"/>
                      </a:rPr>
                      <m:t>=</m:t>
                    </m:r>
                    <m:sSub>
                      <m:sSubPr>
                        <m:ctrlPr>
                          <a:rPr lang="pt-BR" altLang="zh-CN" sz="2000" i="1">
                            <a:latin typeface="Cambria Math" panose="02040503050406030204" pitchFamily="18" charset="0"/>
                            <a:ea typeface="Cambria Math" panose="02040503050406030204" pitchFamily="18" charset="0"/>
                          </a:rPr>
                        </m:ctrlPr>
                      </m:sSubPr>
                      <m:e>
                        <m:r>
                          <a:rPr lang="en-US" altLang="zh-CN" sz="2000" b="1" i="1" smtClean="0">
                            <a:latin typeface="Cambria Math" panose="02040503050406030204" pitchFamily="18" charset="0"/>
                            <a:ea typeface="Cambria Math" panose="02040503050406030204" pitchFamily="18" charset="0"/>
                          </a:rPr>
                          <m:t>𝑷</m:t>
                        </m:r>
                      </m:e>
                      <m:sub>
                        <m:r>
                          <m:rPr>
                            <m:sty m:val="p"/>
                          </m:rPr>
                          <a:rPr lang="en-US" altLang="zh-CN" sz="2000" i="1">
                            <a:latin typeface="Cambria Math" panose="02040503050406030204" pitchFamily="18" charset="0"/>
                            <a:ea typeface="Cambria Math" panose="02040503050406030204" pitchFamily="18" charset="0"/>
                          </a:rPr>
                          <m:t>a</m:t>
                        </m:r>
                      </m:sub>
                    </m:sSub>
                    <m:d>
                      <m:dPr>
                        <m:ctrlPr>
                          <a:rPr lang="en-US" altLang="zh-CN" sz="2000" i="1" smtClean="0">
                            <a:latin typeface="Cambria Math" panose="02040503050406030204" pitchFamily="18" charset="0"/>
                            <a:ea typeface="Cambria Math" panose="02040503050406030204" pitchFamily="18" charset="0"/>
                          </a:rPr>
                        </m:ctrlPr>
                      </m:dPr>
                      <m:e>
                        <m:r>
                          <a:rPr lang="en-US" altLang="zh-CN" sz="2000" b="1" i="1" smtClean="0">
                            <a:latin typeface="Cambria Math" panose="02040503050406030204" pitchFamily="18" charset="0"/>
                            <a:ea typeface="Cambria Math" panose="02040503050406030204" pitchFamily="18" charset="0"/>
                          </a:rPr>
                          <m:t>𝟏</m:t>
                        </m:r>
                        <m:r>
                          <a:rPr lang="en-US" altLang="zh-CN" sz="2000" b="1" i="1" smtClean="0">
                            <a:latin typeface="Cambria Math" panose="02040503050406030204" pitchFamily="18" charset="0"/>
                            <a:ea typeface="Cambria Math" panose="02040503050406030204" pitchFamily="18" charset="0"/>
                          </a:rPr>
                          <m:t>−</m:t>
                        </m:r>
                        <m:f>
                          <m:fPr>
                            <m:type m:val="noBar"/>
                            <m:ctrlPr>
                              <a:rPr lang="en-US" altLang="zh-CN" sz="2000" i="1" smtClean="0">
                                <a:latin typeface="Cambria Math" panose="02040503050406030204" pitchFamily="18" charset="0"/>
                                <a:ea typeface="Cambria Math" panose="02040503050406030204" pitchFamily="18" charset="0"/>
                              </a:rPr>
                            </m:ctrlPr>
                          </m:fPr>
                          <m:num>
                            <m:r>
                              <a:rPr lang="en-US" altLang="zh-CN" sz="2000" b="1" i="1" smtClean="0">
                                <a:latin typeface="Cambria Math" panose="02040503050406030204" pitchFamily="18" charset="0"/>
                                <a:ea typeface="Cambria Math" panose="02040503050406030204" pitchFamily="18" charset="0"/>
                              </a:rPr>
                              <m:t>𝟏</m:t>
                            </m:r>
                          </m:num>
                          <m:den>
                            <m:sSub>
                              <m:sSubPr>
                                <m:ctrlPr>
                                  <a:rPr lang="en-US" altLang="zh-CN" sz="2000" i="1" smtClean="0">
                                    <a:latin typeface="Cambria Math" panose="02040503050406030204" pitchFamily="18" charset="0"/>
                                    <a:ea typeface="Cambria Math" panose="02040503050406030204" pitchFamily="18" charset="0"/>
                                  </a:rPr>
                                </m:ctrlPr>
                              </m:sSubPr>
                              <m:e>
                                <m:r>
                                  <a:rPr lang="en-US" altLang="zh-CN" sz="2000" b="1" i="1" smtClean="0">
                                    <a:latin typeface="Cambria Math" panose="02040503050406030204" pitchFamily="18" charset="0"/>
                                    <a:ea typeface="Cambria Math" panose="02040503050406030204" pitchFamily="18" charset="0"/>
                                  </a:rPr>
                                  <m:t>𝑬</m:t>
                                </m:r>
                              </m:e>
                              <m:sub>
                                <m:r>
                                  <m:rPr>
                                    <m:sty m:val="p"/>
                                  </m:rPr>
                                  <a:rPr lang="en-US" altLang="zh-CN" sz="2000" b="1" i="1">
                                    <a:latin typeface="Cambria Math" panose="02040503050406030204" pitchFamily="18" charset="0"/>
                                    <a:ea typeface="Cambria Math" panose="02040503050406030204" pitchFamily="18" charset="0"/>
                                  </a:rPr>
                                  <m:t>a</m:t>
                                </m:r>
                              </m:sub>
                            </m:sSub>
                          </m:den>
                        </m:f>
                      </m:e>
                    </m:d>
                  </m:oMath>
                </a14:m>
                <a:endParaRPr lang="zh-CN" altLang="en-US" sz="2000" dirty="0"/>
              </a:p>
            </p:txBody>
          </p:sp>
        </mc:Choice>
        <mc:Fallback xmlns="">
          <p:sp>
            <p:nvSpPr>
              <p:cNvPr id="3" name="文本框 2"/>
              <p:cNvSpPr txBox="1">
                <a:spLocks noRot="1" noChangeAspect="1" noMove="1" noResize="1" noEditPoints="1" noAdjustHandles="1" noChangeArrowheads="1" noChangeShapeType="1" noTextEdit="1"/>
              </p:cNvSpPr>
              <p:nvPr/>
            </p:nvSpPr>
            <p:spPr>
              <a:xfrm>
                <a:off x="1711860" y="1916895"/>
                <a:ext cx="2358216" cy="469039"/>
              </a:xfrm>
              <a:prstGeom prst="rect">
                <a:avLst/>
              </a:prstGeom>
              <a:blipFill rotWithShape="0">
                <a:blip r:embed="rId2"/>
                <a:stretch>
                  <a:fillRect l="-6718" t="-1299" b="-1428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矩形 3"/>
              <p:cNvSpPr/>
              <p:nvPr/>
            </p:nvSpPr>
            <p:spPr>
              <a:xfrm>
                <a:off x="4513217" y="1918305"/>
                <a:ext cx="1930913" cy="467629"/>
              </a:xfrm>
              <a:prstGeom prst="rect">
                <a:avLst/>
              </a:prstGeom>
            </p:spPr>
            <p:txBody>
              <a:bodyPr wrap="none">
                <a:spAutoFit/>
              </a:bodyPr>
              <a:lstStyle/>
              <a:p>
                <a:r>
                  <a:rPr lang="pt-BR" altLang="zh-CN" dirty="0">
                    <a:ea typeface="Cambria Math" panose="02040503050406030204" pitchFamily="18" charset="0"/>
                  </a:rPr>
                  <a:t>M</a:t>
                </a:r>
                <a14:m>
                  <m:oMath xmlns:m="http://schemas.openxmlformats.org/officeDocument/2006/math">
                    <m:sSub>
                      <m:sSubPr>
                        <m:ctrlPr>
                          <a:rPr lang="pt-BR"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𝑹</m:t>
                        </m:r>
                      </m:e>
                      <m:sub>
                        <m:r>
                          <m:rPr>
                            <m:sty m:val="p"/>
                          </m:rPr>
                          <a:rPr lang="en-US" altLang="zh-CN" i="1" smtClean="0">
                            <a:latin typeface="Cambria Math" panose="02040503050406030204" pitchFamily="18" charset="0"/>
                            <a:ea typeface="Cambria Math" panose="02040503050406030204" pitchFamily="18" charset="0"/>
                          </a:rPr>
                          <m:t>b</m:t>
                        </m:r>
                      </m:sub>
                    </m:sSub>
                    <m:r>
                      <a:rPr lang="en-US" altLang="zh-CN" i="1">
                        <a:latin typeface="Cambria Math" panose="02040503050406030204" pitchFamily="18" charset="0"/>
                        <a:ea typeface="Cambria Math" panose="02040503050406030204" pitchFamily="18" charset="0"/>
                      </a:rPr>
                      <m:t>=</m:t>
                    </m:r>
                    <m:sSub>
                      <m:sSubPr>
                        <m:ctrlPr>
                          <a:rPr lang="pt-BR"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𝑷</m:t>
                        </m:r>
                      </m:e>
                      <m:sub>
                        <m:r>
                          <a:rPr lang="en-US" altLang="zh-CN" b="1" i="1" smtClean="0">
                            <a:latin typeface="Cambria Math" panose="02040503050406030204" pitchFamily="18" charset="0"/>
                            <a:ea typeface="Cambria Math" panose="02040503050406030204" pitchFamily="18" charset="0"/>
                          </a:rPr>
                          <m:t>𝒃</m:t>
                        </m:r>
                      </m:sub>
                    </m:sSub>
                    <m:d>
                      <m:dPr>
                        <m:ctrlPr>
                          <a:rPr lang="en-US" altLang="zh-CN" i="1">
                            <a:latin typeface="Cambria Math" panose="02040503050406030204" pitchFamily="18" charset="0"/>
                            <a:ea typeface="Cambria Math" panose="02040503050406030204" pitchFamily="18" charset="0"/>
                          </a:rPr>
                        </m:ctrlPr>
                      </m:dPr>
                      <m:e>
                        <m:r>
                          <a:rPr lang="en-US" altLang="zh-CN" i="1">
                            <a:latin typeface="Cambria Math" panose="02040503050406030204" pitchFamily="18" charset="0"/>
                            <a:ea typeface="Cambria Math" panose="02040503050406030204" pitchFamily="18" charset="0"/>
                          </a:rPr>
                          <m:t>𝟏</m:t>
                        </m:r>
                        <m:r>
                          <a:rPr lang="en-US" altLang="zh-CN" i="1">
                            <a:latin typeface="Cambria Math" panose="02040503050406030204" pitchFamily="18" charset="0"/>
                            <a:ea typeface="Cambria Math" panose="02040503050406030204" pitchFamily="18" charset="0"/>
                          </a:rPr>
                          <m:t>−</m:t>
                        </m:r>
                        <m:f>
                          <m:fPr>
                            <m:type m:val="noBar"/>
                            <m:ctrlPr>
                              <a:rPr lang="en-US" altLang="zh-CN" i="1">
                                <a:latin typeface="Cambria Math" panose="02040503050406030204" pitchFamily="18" charset="0"/>
                                <a:ea typeface="Cambria Math" panose="02040503050406030204" pitchFamily="18" charset="0"/>
                              </a:rPr>
                            </m:ctrlPr>
                          </m:fPr>
                          <m:num>
                            <m:r>
                              <a:rPr lang="en-US" altLang="zh-CN" i="1">
                                <a:latin typeface="Cambria Math" panose="02040503050406030204" pitchFamily="18" charset="0"/>
                                <a:ea typeface="Cambria Math" panose="02040503050406030204" pitchFamily="18" charset="0"/>
                              </a:rPr>
                              <m:t>𝟏</m:t>
                            </m:r>
                          </m:num>
                          <m:den>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𝑬</m:t>
                                </m:r>
                              </m:e>
                              <m:sub>
                                <m:r>
                                  <a:rPr lang="en-US" altLang="zh-CN" b="1" i="1" smtClean="0">
                                    <a:latin typeface="Cambria Math" panose="02040503050406030204" pitchFamily="18" charset="0"/>
                                    <a:ea typeface="Cambria Math" panose="02040503050406030204" pitchFamily="18" charset="0"/>
                                  </a:rPr>
                                  <m:t>𝒃</m:t>
                                </m:r>
                              </m:sub>
                            </m:sSub>
                          </m:den>
                        </m:f>
                      </m:e>
                    </m:d>
                  </m:oMath>
                </a14:m>
                <a:endParaRPr lang="zh-CN" altLang="en-US" dirty="0"/>
              </a:p>
            </p:txBody>
          </p:sp>
        </mc:Choice>
        <mc:Fallback xmlns="">
          <p:sp>
            <p:nvSpPr>
              <p:cNvPr id="4" name="矩形 3"/>
              <p:cNvSpPr>
                <a:spLocks noRot="1" noChangeAspect="1" noMove="1" noResize="1" noEditPoints="1" noAdjustHandles="1" noChangeArrowheads="1" noChangeShapeType="1" noTextEdit="1"/>
              </p:cNvSpPr>
              <p:nvPr/>
            </p:nvSpPr>
            <p:spPr>
              <a:xfrm>
                <a:off x="4513217" y="1918305"/>
                <a:ext cx="1930913" cy="467629"/>
              </a:xfrm>
              <a:prstGeom prst="rect">
                <a:avLst/>
              </a:prstGeom>
              <a:blipFill rotWithShape="0">
                <a:blip r:embed="rId3"/>
                <a:stretch>
                  <a:fillRect l="-1577" b="-263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p:cNvSpPr/>
              <p:nvPr/>
            </p:nvSpPr>
            <p:spPr>
              <a:xfrm>
                <a:off x="2861864" y="3429000"/>
                <a:ext cx="3068084" cy="552972"/>
              </a:xfrm>
              <a:prstGeom prst="rect">
                <a:avLst/>
              </a:prstGeom>
            </p:spPr>
            <p:txBody>
              <a:bodyPr wrap="none">
                <a:spAutoFit/>
              </a:bodyPr>
              <a:lstStyle/>
              <a:p>
                <a14:m>
                  <m:oMath xmlns:m="http://schemas.openxmlformats.org/officeDocument/2006/math">
                    <m:sSub>
                      <m:sSubPr>
                        <m:ctrlPr>
                          <a:rPr lang="pt-BR" altLang="zh-CN" sz="2000" i="1">
                            <a:latin typeface="Cambria Math" panose="02040503050406030204" pitchFamily="18" charset="0"/>
                            <a:ea typeface="Cambria Math" panose="02040503050406030204" pitchFamily="18" charset="0"/>
                          </a:rPr>
                        </m:ctrlPr>
                      </m:sSubPr>
                      <m:e>
                        <m:r>
                          <a:rPr lang="en-US" altLang="zh-CN" sz="2000" i="1">
                            <a:latin typeface="Cambria Math" panose="02040503050406030204" pitchFamily="18" charset="0"/>
                            <a:ea typeface="Cambria Math" panose="02040503050406030204" pitchFamily="18" charset="0"/>
                          </a:rPr>
                          <m:t>𝑷</m:t>
                        </m:r>
                      </m:e>
                      <m:sub>
                        <m:r>
                          <m:rPr>
                            <m:sty m:val="p"/>
                          </m:rPr>
                          <a:rPr lang="en-US" altLang="zh-CN" sz="2000" i="1">
                            <a:latin typeface="Cambria Math" panose="02040503050406030204" pitchFamily="18" charset="0"/>
                            <a:ea typeface="Cambria Math" panose="02040503050406030204" pitchFamily="18" charset="0"/>
                          </a:rPr>
                          <m:t>a</m:t>
                        </m:r>
                      </m:sub>
                    </m:sSub>
                    <m:d>
                      <m:dPr>
                        <m:ctrlPr>
                          <a:rPr lang="en-US" altLang="zh-CN" sz="2000" i="1">
                            <a:latin typeface="Cambria Math" panose="02040503050406030204" pitchFamily="18" charset="0"/>
                            <a:ea typeface="Cambria Math" panose="02040503050406030204" pitchFamily="18" charset="0"/>
                          </a:rPr>
                        </m:ctrlPr>
                      </m:dPr>
                      <m:e>
                        <m:r>
                          <a:rPr lang="en-US" altLang="zh-CN" sz="2000" i="1">
                            <a:latin typeface="Cambria Math" panose="02040503050406030204" pitchFamily="18" charset="0"/>
                            <a:ea typeface="Cambria Math" panose="02040503050406030204" pitchFamily="18" charset="0"/>
                          </a:rPr>
                          <m:t>𝟏</m:t>
                        </m:r>
                        <m:r>
                          <a:rPr lang="en-US" altLang="zh-CN" sz="2000" i="1">
                            <a:latin typeface="Cambria Math" panose="02040503050406030204" pitchFamily="18" charset="0"/>
                            <a:ea typeface="Cambria Math" panose="02040503050406030204" pitchFamily="18" charset="0"/>
                          </a:rPr>
                          <m:t>−</m:t>
                        </m:r>
                        <m:f>
                          <m:fPr>
                            <m:type m:val="noBar"/>
                            <m:ctrlPr>
                              <a:rPr lang="en-US" altLang="zh-CN" sz="2000" i="1">
                                <a:latin typeface="Cambria Math" panose="02040503050406030204" pitchFamily="18" charset="0"/>
                                <a:ea typeface="Cambria Math" panose="02040503050406030204" pitchFamily="18" charset="0"/>
                              </a:rPr>
                            </m:ctrlPr>
                          </m:fPr>
                          <m:num>
                            <m:r>
                              <a:rPr lang="en-US" altLang="zh-CN" sz="2000" i="1">
                                <a:latin typeface="Cambria Math" panose="02040503050406030204" pitchFamily="18" charset="0"/>
                                <a:ea typeface="Cambria Math" panose="02040503050406030204" pitchFamily="18" charset="0"/>
                              </a:rPr>
                              <m:t>𝟏</m:t>
                            </m:r>
                          </m:num>
                          <m:den>
                            <m:sSub>
                              <m:sSubPr>
                                <m:ctrlPr>
                                  <a:rPr lang="en-US" altLang="zh-CN" sz="2000" i="1">
                                    <a:latin typeface="Cambria Math" panose="02040503050406030204" pitchFamily="18" charset="0"/>
                                    <a:ea typeface="Cambria Math" panose="02040503050406030204" pitchFamily="18" charset="0"/>
                                  </a:rPr>
                                </m:ctrlPr>
                              </m:sSubPr>
                              <m:e>
                                <m:r>
                                  <a:rPr lang="en-US" altLang="zh-CN" sz="2000" i="1">
                                    <a:latin typeface="Cambria Math" panose="02040503050406030204" pitchFamily="18" charset="0"/>
                                    <a:ea typeface="Cambria Math" panose="02040503050406030204" pitchFamily="18" charset="0"/>
                                  </a:rPr>
                                  <m:t>𝑬</m:t>
                                </m:r>
                              </m:e>
                              <m:sub>
                                <m:r>
                                  <m:rPr>
                                    <m:sty m:val="p"/>
                                  </m:rPr>
                                  <a:rPr lang="en-US" altLang="zh-CN" sz="2000" i="1">
                                    <a:latin typeface="Cambria Math" panose="02040503050406030204" pitchFamily="18" charset="0"/>
                                    <a:ea typeface="Cambria Math" panose="02040503050406030204" pitchFamily="18" charset="0"/>
                                  </a:rPr>
                                  <m:t>a</m:t>
                                </m:r>
                              </m:sub>
                            </m:sSub>
                          </m:den>
                        </m:f>
                      </m:e>
                    </m:d>
                  </m:oMath>
                </a14:m>
                <a:r>
                  <a:rPr lang="en-US" altLang="zh-CN" sz="2000" dirty="0">
                    <a:ea typeface="Cambria Math" panose="02040503050406030204" pitchFamily="18" charset="0"/>
                  </a:rPr>
                  <a:t> </a:t>
                </a:r>
                <a14:m>
                  <m:oMath xmlns:m="http://schemas.openxmlformats.org/officeDocument/2006/math">
                    <m:r>
                      <a:rPr lang="en-US" altLang="zh-CN" sz="2000" i="1">
                        <a:latin typeface="Cambria Math" panose="02040503050406030204" pitchFamily="18" charset="0"/>
                        <a:ea typeface="Cambria Math" panose="02040503050406030204" pitchFamily="18" charset="0"/>
                      </a:rPr>
                      <m:t>=</m:t>
                    </m:r>
                    <m:sSub>
                      <m:sSubPr>
                        <m:ctrlPr>
                          <a:rPr lang="pt-BR" altLang="zh-CN" sz="2000" i="1">
                            <a:latin typeface="Cambria Math" panose="02040503050406030204" pitchFamily="18" charset="0"/>
                            <a:ea typeface="Cambria Math" panose="02040503050406030204" pitchFamily="18" charset="0"/>
                          </a:rPr>
                        </m:ctrlPr>
                      </m:sSubPr>
                      <m:e>
                        <m:r>
                          <a:rPr lang="en-US" altLang="zh-CN" sz="2000" i="1">
                            <a:latin typeface="Cambria Math" panose="02040503050406030204" pitchFamily="18" charset="0"/>
                            <a:ea typeface="Cambria Math" panose="02040503050406030204" pitchFamily="18" charset="0"/>
                          </a:rPr>
                          <m:t>𝑷</m:t>
                        </m:r>
                      </m:e>
                      <m:sub>
                        <m:r>
                          <a:rPr lang="en-US" altLang="zh-CN" sz="2000" i="1">
                            <a:latin typeface="Cambria Math" panose="02040503050406030204" pitchFamily="18" charset="0"/>
                            <a:ea typeface="Cambria Math" panose="02040503050406030204" pitchFamily="18" charset="0"/>
                          </a:rPr>
                          <m:t>𝒃</m:t>
                        </m:r>
                      </m:sub>
                    </m:sSub>
                    <m:d>
                      <m:dPr>
                        <m:ctrlPr>
                          <a:rPr lang="en-US" altLang="zh-CN" sz="2000" i="1">
                            <a:latin typeface="Cambria Math" panose="02040503050406030204" pitchFamily="18" charset="0"/>
                            <a:ea typeface="Cambria Math" panose="02040503050406030204" pitchFamily="18" charset="0"/>
                          </a:rPr>
                        </m:ctrlPr>
                      </m:dPr>
                      <m:e>
                        <m:r>
                          <a:rPr lang="en-US" altLang="zh-CN" sz="2000" i="1">
                            <a:latin typeface="Cambria Math" panose="02040503050406030204" pitchFamily="18" charset="0"/>
                            <a:ea typeface="Cambria Math" panose="02040503050406030204" pitchFamily="18" charset="0"/>
                          </a:rPr>
                          <m:t>𝟏</m:t>
                        </m:r>
                        <m:r>
                          <a:rPr lang="en-US" altLang="zh-CN" sz="2000" i="1">
                            <a:latin typeface="Cambria Math" panose="02040503050406030204" pitchFamily="18" charset="0"/>
                            <a:ea typeface="Cambria Math" panose="02040503050406030204" pitchFamily="18" charset="0"/>
                          </a:rPr>
                          <m:t>−</m:t>
                        </m:r>
                        <m:f>
                          <m:fPr>
                            <m:type m:val="noBar"/>
                            <m:ctrlPr>
                              <a:rPr lang="en-US" altLang="zh-CN" sz="2000" i="1">
                                <a:latin typeface="Cambria Math" panose="02040503050406030204" pitchFamily="18" charset="0"/>
                                <a:ea typeface="Cambria Math" panose="02040503050406030204" pitchFamily="18" charset="0"/>
                              </a:rPr>
                            </m:ctrlPr>
                          </m:fPr>
                          <m:num>
                            <m:r>
                              <a:rPr lang="en-US" altLang="zh-CN" sz="2000" i="1">
                                <a:latin typeface="Cambria Math" panose="02040503050406030204" pitchFamily="18" charset="0"/>
                                <a:ea typeface="Cambria Math" panose="02040503050406030204" pitchFamily="18" charset="0"/>
                              </a:rPr>
                              <m:t>𝟏</m:t>
                            </m:r>
                          </m:num>
                          <m:den>
                            <m:sSub>
                              <m:sSubPr>
                                <m:ctrlPr>
                                  <a:rPr lang="en-US" altLang="zh-CN" sz="2000" i="1">
                                    <a:latin typeface="Cambria Math" panose="02040503050406030204" pitchFamily="18" charset="0"/>
                                    <a:ea typeface="Cambria Math" panose="02040503050406030204" pitchFamily="18" charset="0"/>
                                  </a:rPr>
                                </m:ctrlPr>
                              </m:sSubPr>
                              <m:e>
                                <m:r>
                                  <a:rPr lang="en-US" altLang="zh-CN" sz="2000" i="1">
                                    <a:latin typeface="Cambria Math" panose="02040503050406030204" pitchFamily="18" charset="0"/>
                                    <a:ea typeface="Cambria Math" panose="02040503050406030204" pitchFamily="18" charset="0"/>
                                  </a:rPr>
                                  <m:t>𝑬</m:t>
                                </m:r>
                              </m:e>
                              <m:sub>
                                <m:r>
                                  <a:rPr lang="en-US" altLang="zh-CN" sz="2000" i="1">
                                    <a:latin typeface="Cambria Math" panose="02040503050406030204" pitchFamily="18" charset="0"/>
                                    <a:ea typeface="Cambria Math" panose="02040503050406030204" pitchFamily="18" charset="0"/>
                                  </a:rPr>
                                  <m:t>𝒃</m:t>
                                </m:r>
                              </m:sub>
                            </m:sSub>
                          </m:den>
                        </m:f>
                      </m:e>
                    </m:d>
                  </m:oMath>
                </a14:m>
                <a:endParaRPr lang="zh-CN" altLang="en-US" sz="2000" dirty="0"/>
              </a:p>
            </p:txBody>
          </p:sp>
        </mc:Choice>
        <mc:Fallback xmlns="">
          <p:sp>
            <p:nvSpPr>
              <p:cNvPr id="5" name="矩形 4"/>
              <p:cNvSpPr>
                <a:spLocks noRot="1" noChangeAspect="1" noMove="1" noResize="1" noEditPoints="1" noAdjustHandles="1" noChangeArrowheads="1" noChangeShapeType="1" noTextEdit="1"/>
              </p:cNvSpPr>
              <p:nvPr/>
            </p:nvSpPr>
            <p:spPr>
              <a:xfrm>
                <a:off x="2861864" y="3429000"/>
                <a:ext cx="3068084" cy="552972"/>
              </a:xfrm>
              <a:prstGeom prst="rect">
                <a:avLst/>
              </a:prstGeom>
              <a:blipFill rotWithShape="0">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p:cNvSpPr txBox="1"/>
              <p:nvPr/>
            </p:nvSpPr>
            <p:spPr>
              <a:xfrm>
                <a:off x="683730" y="5150587"/>
                <a:ext cx="1442474"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i="1" smtClean="0">
                              <a:latin typeface="Cambria Math" panose="02040503050406030204" pitchFamily="18" charset="0"/>
                            </a:rPr>
                          </m:ctrlPr>
                        </m:sSubPr>
                        <m:e>
                          <m:r>
                            <a:rPr lang="en-US" altLang="zh-CN" sz="2000" b="1" i="1" smtClean="0">
                              <a:latin typeface="Cambria Math" panose="02040503050406030204" pitchFamily="18" charset="0"/>
                            </a:rPr>
                            <m:t>𝑬</m:t>
                          </m:r>
                        </m:e>
                        <m:sub>
                          <m:r>
                            <a:rPr lang="en-US" altLang="zh-CN" sz="2000" b="1" i="1" smtClean="0">
                              <a:latin typeface="Cambria Math" panose="02040503050406030204" pitchFamily="18" charset="0"/>
                            </a:rPr>
                            <m:t>𝒂</m:t>
                          </m:r>
                        </m:sub>
                      </m:sSub>
                      <m:r>
                        <a:rPr lang="en-US" altLang="zh-CN" sz="2000" i="1" smtClean="0">
                          <a:latin typeface="Cambria Math" panose="02040503050406030204" pitchFamily="18" charset="0"/>
                          <a:ea typeface="Cambria Math" panose="02040503050406030204" pitchFamily="18" charset="0"/>
                        </a:rPr>
                        <m:t>&gt;</m:t>
                      </m:r>
                      <m:sSub>
                        <m:sSubPr>
                          <m:ctrlPr>
                            <a:rPr lang="en-US" altLang="zh-CN" sz="2000" i="1" smtClean="0">
                              <a:latin typeface="Cambria Math" panose="02040503050406030204" pitchFamily="18" charset="0"/>
                              <a:ea typeface="Cambria Math" panose="02040503050406030204" pitchFamily="18" charset="0"/>
                            </a:rPr>
                          </m:ctrlPr>
                        </m:sSubPr>
                        <m:e>
                          <m:r>
                            <a:rPr lang="en-US" altLang="zh-CN" sz="2000" b="1" i="1" smtClean="0">
                              <a:latin typeface="Cambria Math" panose="02040503050406030204" pitchFamily="18" charset="0"/>
                              <a:ea typeface="Cambria Math" panose="02040503050406030204" pitchFamily="18" charset="0"/>
                            </a:rPr>
                            <m:t>𝑬</m:t>
                          </m:r>
                        </m:e>
                        <m:sub>
                          <m:r>
                            <a:rPr lang="en-US" altLang="zh-CN" sz="2000" b="1" i="1" smtClean="0">
                              <a:latin typeface="Cambria Math" panose="02040503050406030204" pitchFamily="18" charset="0"/>
                              <a:ea typeface="Cambria Math" panose="02040503050406030204" pitchFamily="18" charset="0"/>
                            </a:rPr>
                            <m:t>𝒃</m:t>
                          </m:r>
                        </m:sub>
                      </m:sSub>
                    </m:oMath>
                  </m:oMathPara>
                </a14:m>
                <a:endParaRPr lang="zh-CN" altLang="en-US" sz="2000" dirty="0"/>
              </a:p>
            </p:txBody>
          </p:sp>
        </mc:Choice>
        <mc:Fallback xmlns="">
          <p:sp>
            <p:nvSpPr>
              <p:cNvPr id="8" name="文本框 7"/>
              <p:cNvSpPr txBox="1">
                <a:spLocks noRot="1" noChangeAspect="1" noMove="1" noResize="1" noEditPoints="1" noAdjustHandles="1" noChangeArrowheads="1" noChangeShapeType="1" noTextEdit="1"/>
              </p:cNvSpPr>
              <p:nvPr/>
            </p:nvSpPr>
            <p:spPr>
              <a:xfrm>
                <a:off x="683730" y="5150587"/>
                <a:ext cx="1442474" cy="307777"/>
              </a:xfrm>
              <a:prstGeom prst="rect">
                <a:avLst/>
              </a:prstGeom>
              <a:blipFill rotWithShape="0">
                <a:blip r:embed="rId5"/>
                <a:stretch>
                  <a:fillRect b="-24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p:cNvSpPr txBox="1"/>
              <p:nvPr/>
            </p:nvSpPr>
            <p:spPr>
              <a:xfrm>
                <a:off x="2522102" y="4941105"/>
                <a:ext cx="1787439" cy="62998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CN" sz="2000" i="1" smtClean="0">
                              <a:latin typeface="Cambria Math" panose="02040503050406030204" pitchFamily="18" charset="0"/>
                            </a:rPr>
                          </m:ctrlPr>
                        </m:fPr>
                        <m:num>
                          <m:r>
                            <a:rPr lang="en-US" altLang="zh-CN" sz="2000" b="1" i="1" smtClean="0">
                              <a:latin typeface="Cambria Math" panose="02040503050406030204" pitchFamily="18" charset="0"/>
                            </a:rPr>
                            <m:t>𝟏</m:t>
                          </m:r>
                        </m:num>
                        <m:den>
                          <m:sSub>
                            <m:sSubPr>
                              <m:ctrlPr>
                                <a:rPr lang="en-US" altLang="zh-CN" sz="2000" i="1" smtClean="0">
                                  <a:latin typeface="Cambria Math" panose="02040503050406030204" pitchFamily="18" charset="0"/>
                                </a:rPr>
                              </m:ctrlPr>
                            </m:sSubPr>
                            <m:e>
                              <m:r>
                                <a:rPr lang="en-US" altLang="zh-CN" sz="2000" b="1" i="1" smtClean="0">
                                  <a:latin typeface="Cambria Math" panose="02040503050406030204" pitchFamily="18" charset="0"/>
                                </a:rPr>
                                <m:t>𝑬</m:t>
                              </m:r>
                            </m:e>
                            <m:sub>
                              <m:r>
                                <a:rPr lang="en-US" altLang="zh-CN" sz="2000" b="1" i="1" smtClean="0">
                                  <a:latin typeface="Cambria Math" panose="02040503050406030204" pitchFamily="18" charset="0"/>
                                </a:rPr>
                                <m:t>𝒂</m:t>
                              </m:r>
                            </m:sub>
                          </m:sSub>
                        </m:den>
                      </m:f>
                      <m:r>
                        <a:rPr lang="en-US" altLang="zh-CN" sz="2000" i="1" smtClean="0">
                          <a:latin typeface="Cambria Math" panose="02040503050406030204" pitchFamily="18" charset="0"/>
                          <a:ea typeface="Cambria Math" panose="02040503050406030204" pitchFamily="18" charset="0"/>
                        </a:rPr>
                        <m:t>&lt;</m:t>
                      </m:r>
                      <m:f>
                        <m:fPr>
                          <m:ctrlPr>
                            <a:rPr lang="en-US" altLang="zh-CN" sz="2000" i="1" smtClean="0">
                              <a:latin typeface="Cambria Math" panose="02040503050406030204" pitchFamily="18" charset="0"/>
                              <a:ea typeface="Cambria Math" panose="02040503050406030204" pitchFamily="18" charset="0"/>
                            </a:rPr>
                          </m:ctrlPr>
                        </m:fPr>
                        <m:num>
                          <m:r>
                            <a:rPr lang="en-US" altLang="zh-CN" sz="2000" b="1" i="1" smtClean="0">
                              <a:latin typeface="Cambria Math" panose="02040503050406030204" pitchFamily="18" charset="0"/>
                              <a:ea typeface="Cambria Math" panose="02040503050406030204" pitchFamily="18" charset="0"/>
                            </a:rPr>
                            <m:t>𝟏</m:t>
                          </m:r>
                        </m:num>
                        <m:den>
                          <m:sSub>
                            <m:sSubPr>
                              <m:ctrlPr>
                                <a:rPr lang="en-US" altLang="zh-CN" sz="2000" i="1" smtClean="0">
                                  <a:latin typeface="Cambria Math" panose="02040503050406030204" pitchFamily="18" charset="0"/>
                                  <a:ea typeface="Cambria Math" panose="02040503050406030204" pitchFamily="18" charset="0"/>
                                </a:rPr>
                              </m:ctrlPr>
                            </m:sSubPr>
                            <m:e>
                              <m:r>
                                <a:rPr lang="en-US" altLang="zh-CN" sz="2000" b="1" i="1" smtClean="0">
                                  <a:latin typeface="Cambria Math" panose="02040503050406030204" pitchFamily="18" charset="0"/>
                                  <a:ea typeface="Cambria Math" panose="02040503050406030204" pitchFamily="18" charset="0"/>
                                </a:rPr>
                                <m:t>𝑬</m:t>
                              </m:r>
                            </m:e>
                            <m:sub>
                              <m:r>
                                <a:rPr lang="en-US" altLang="zh-CN" sz="2000" b="1" i="1" smtClean="0">
                                  <a:latin typeface="Cambria Math" panose="02040503050406030204" pitchFamily="18" charset="0"/>
                                  <a:ea typeface="Cambria Math" panose="02040503050406030204" pitchFamily="18" charset="0"/>
                                </a:rPr>
                                <m:t>𝒃</m:t>
                              </m:r>
                            </m:sub>
                          </m:sSub>
                        </m:den>
                      </m:f>
                    </m:oMath>
                  </m:oMathPara>
                </a14:m>
                <a:endParaRPr lang="zh-CN" altLang="en-US" sz="2000" dirty="0"/>
              </a:p>
            </p:txBody>
          </p:sp>
        </mc:Choice>
        <mc:Fallback xmlns="">
          <p:sp>
            <p:nvSpPr>
              <p:cNvPr id="9" name="文本框 8"/>
              <p:cNvSpPr txBox="1">
                <a:spLocks noRot="1" noChangeAspect="1" noMove="1" noResize="1" noEditPoints="1" noAdjustHandles="1" noChangeArrowheads="1" noChangeShapeType="1" noTextEdit="1"/>
              </p:cNvSpPr>
              <p:nvPr/>
            </p:nvSpPr>
            <p:spPr>
              <a:xfrm>
                <a:off x="2522102" y="4941105"/>
                <a:ext cx="1787439" cy="629981"/>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p:cNvSpPr txBox="1"/>
              <p:nvPr/>
            </p:nvSpPr>
            <p:spPr>
              <a:xfrm>
                <a:off x="4610247" y="5016471"/>
                <a:ext cx="2149037" cy="52411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ea typeface="Cambria Math" panose="02040503050406030204" pitchFamily="18" charset="0"/>
                        </a:rPr>
                        <m:t>𝟏</m:t>
                      </m:r>
                      <m:r>
                        <a:rPr lang="en-US" altLang="zh-CN" b="1" i="1" smtClean="0">
                          <a:latin typeface="Cambria Math" panose="02040503050406030204" pitchFamily="18" charset="0"/>
                          <a:ea typeface="Cambria Math" panose="02040503050406030204" pitchFamily="18" charset="0"/>
                        </a:rPr>
                        <m:t>−</m:t>
                      </m:r>
                      <m:f>
                        <m:fPr>
                          <m:ctrlPr>
                            <a:rPr lang="en-US" altLang="zh-CN" b="1" i="1" smtClean="0">
                              <a:latin typeface="Cambria Math" panose="02040503050406030204" pitchFamily="18" charset="0"/>
                              <a:ea typeface="Cambria Math" panose="02040503050406030204" pitchFamily="18" charset="0"/>
                            </a:rPr>
                          </m:ctrlPr>
                        </m:fPr>
                        <m:num>
                          <m:r>
                            <a:rPr lang="en-US" altLang="zh-CN" b="1" i="1" smtClean="0">
                              <a:latin typeface="Cambria Math" panose="02040503050406030204" pitchFamily="18" charset="0"/>
                              <a:ea typeface="Cambria Math" panose="02040503050406030204" pitchFamily="18" charset="0"/>
                            </a:rPr>
                            <m:t>𝟏</m:t>
                          </m:r>
                        </m:num>
                        <m:den>
                          <m:sSub>
                            <m:sSubPr>
                              <m:ctrlPr>
                                <a:rPr lang="en-US" altLang="zh-CN" b="1" i="1" smtClean="0">
                                  <a:latin typeface="Cambria Math" panose="02040503050406030204" pitchFamily="18" charset="0"/>
                                  <a:ea typeface="Cambria Math" panose="02040503050406030204" pitchFamily="18" charset="0"/>
                                </a:rPr>
                              </m:ctrlPr>
                            </m:sSubPr>
                            <m:e>
                              <m:r>
                                <a:rPr lang="en-US" altLang="zh-CN" b="1" i="1" smtClean="0">
                                  <a:latin typeface="Cambria Math" panose="02040503050406030204" pitchFamily="18" charset="0"/>
                                  <a:ea typeface="Cambria Math" panose="02040503050406030204" pitchFamily="18" charset="0"/>
                                </a:rPr>
                                <m:t>𝑬</m:t>
                              </m:r>
                            </m:e>
                            <m:sub>
                              <m:r>
                                <a:rPr lang="en-US" altLang="zh-CN" b="1" i="1" smtClean="0">
                                  <a:latin typeface="Cambria Math" panose="02040503050406030204" pitchFamily="18" charset="0"/>
                                  <a:ea typeface="Cambria Math" panose="02040503050406030204" pitchFamily="18" charset="0"/>
                                </a:rPr>
                                <m:t>𝒂</m:t>
                              </m:r>
                            </m:sub>
                          </m:sSub>
                        </m:den>
                      </m:f>
                      <m:r>
                        <a:rPr lang="en-US" altLang="zh-CN" i="1" smtClean="0">
                          <a:latin typeface="Cambria Math" panose="02040503050406030204" pitchFamily="18" charset="0"/>
                          <a:ea typeface="Cambria Math" panose="02040503050406030204" pitchFamily="18" charset="0"/>
                        </a:rPr>
                        <m:t>&gt;</m:t>
                      </m:r>
                      <m:r>
                        <a:rPr lang="en-US" altLang="zh-CN" b="1" i="1" smtClean="0">
                          <a:latin typeface="Cambria Math" panose="02040503050406030204" pitchFamily="18" charset="0"/>
                          <a:ea typeface="Cambria Math" panose="02040503050406030204" pitchFamily="18" charset="0"/>
                        </a:rPr>
                        <m:t>𝟏</m:t>
                      </m:r>
                      <m:r>
                        <a:rPr lang="en-US" altLang="zh-CN" b="1" i="1" smtClean="0">
                          <a:latin typeface="Cambria Math" panose="02040503050406030204" pitchFamily="18" charset="0"/>
                          <a:ea typeface="Cambria Math" panose="02040503050406030204" pitchFamily="18" charset="0"/>
                        </a:rPr>
                        <m:t>−</m:t>
                      </m:r>
                      <m:f>
                        <m:fPr>
                          <m:ctrlPr>
                            <a:rPr lang="en-US" altLang="zh-CN" b="1" i="1" smtClean="0">
                              <a:latin typeface="Cambria Math" panose="02040503050406030204" pitchFamily="18" charset="0"/>
                              <a:ea typeface="Cambria Math" panose="02040503050406030204" pitchFamily="18" charset="0"/>
                            </a:rPr>
                          </m:ctrlPr>
                        </m:fPr>
                        <m:num>
                          <m:r>
                            <a:rPr lang="en-US" altLang="zh-CN" b="1" i="1" smtClean="0">
                              <a:latin typeface="Cambria Math" panose="02040503050406030204" pitchFamily="18" charset="0"/>
                              <a:ea typeface="Cambria Math" panose="02040503050406030204" pitchFamily="18" charset="0"/>
                            </a:rPr>
                            <m:t>𝟏</m:t>
                          </m:r>
                        </m:num>
                        <m:den>
                          <m:sSub>
                            <m:sSubPr>
                              <m:ctrlPr>
                                <a:rPr lang="en-US" altLang="zh-CN" b="1" i="1" smtClean="0">
                                  <a:latin typeface="Cambria Math" panose="02040503050406030204" pitchFamily="18" charset="0"/>
                                  <a:ea typeface="Cambria Math" panose="02040503050406030204" pitchFamily="18" charset="0"/>
                                </a:rPr>
                              </m:ctrlPr>
                            </m:sSubPr>
                            <m:e>
                              <m:r>
                                <a:rPr lang="en-US" altLang="zh-CN" b="1" i="1" smtClean="0">
                                  <a:latin typeface="Cambria Math" panose="02040503050406030204" pitchFamily="18" charset="0"/>
                                  <a:ea typeface="Cambria Math" panose="02040503050406030204" pitchFamily="18" charset="0"/>
                                </a:rPr>
                                <m:t>𝑬</m:t>
                              </m:r>
                            </m:e>
                            <m:sub>
                              <m:r>
                                <a:rPr lang="en-US" altLang="zh-CN" b="1" i="1" smtClean="0">
                                  <a:latin typeface="Cambria Math" panose="02040503050406030204" pitchFamily="18" charset="0"/>
                                  <a:ea typeface="Cambria Math" panose="02040503050406030204" pitchFamily="18" charset="0"/>
                                </a:rPr>
                                <m:t>𝒃</m:t>
                              </m:r>
                            </m:sub>
                          </m:sSub>
                        </m:den>
                      </m:f>
                    </m:oMath>
                  </m:oMathPara>
                </a14:m>
                <a:endParaRPr lang="zh-CN" altLang="en-US" dirty="0"/>
              </a:p>
            </p:txBody>
          </p:sp>
        </mc:Choice>
        <mc:Fallback xmlns="">
          <p:sp>
            <p:nvSpPr>
              <p:cNvPr id="13" name="文本框 12"/>
              <p:cNvSpPr txBox="1">
                <a:spLocks noRot="1" noChangeAspect="1" noMove="1" noResize="1" noEditPoints="1" noAdjustHandles="1" noChangeArrowheads="1" noChangeShapeType="1" noTextEdit="1"/>
              </p:cNvSpPr>
              <p:nvPr/>
            </p:nvSpPr>
            <p:spPr>
              <a:xfrm>
                <a:off x="4610247" y="5016471"/>
                <a:ext cx="2149037" cy="524118"/>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p:cNvSpPr txBox="1"/>
              <p:nvPr/>
            </p:nvSpPr>
            <p:spPr>
              <a:xfrm>
                <a:off x="7396226" y="5114503"/>
                <a:ext cx="1149541"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i="1" smtClean="0">
                              <a:latin typeface="Cambria Math" panose="02040503050406030204" pitchFamily="18" charset="0"/>
                              <a:ea typeface="Cambria Math" panose="02040503050406030204" pitchFamily="18" charset="0"/>
                            </a:rPr>
                          </m:ctrlPr>
                        </m:sSubPr>
                        <m:e>
                          <m:r>
                            <a:rPr lang="en-US" altLang="zh-CN" sz="2000" b="1" i="1" smtClean="0">
                              <a:latin typeface="Cambria Math" panose="02040503050406030204" pitchFamily="18" charset="0"/>
                              <a:ea typeface="Cambria Math" panose="02040503050406030204" pitchFamily="18" charset="0"/>
                            </a:rPr>
                            <m:t>𝑷</m:t>
                          </m:r>
                        </m:e>
                        <m:sub>
                          <m:r>
                            <a:rPr lang="en-US" altLang="zh-CN" sz="2000" b="1" i="1" smtClean="0">
                              <a:latin typeface="Cambria Math" panose="02040503050406030204" pitchFamily="18" charset="0"/>
                              <a:ea typeface="Cambria Math" panose="02040503050406030204" pitchFamily="18" charset="0"/>
                            </a:rPr>
                            <m:t>𝒂</m:t>
                          </m:r>
                        </m:sub>
                      </m:sSub>
                      <m:r>
                        <a:rPr lang="en-US" altLang="zh-CN" sz="2000" i="1" smtClean="0">
                          <a:latin typeface="Cambria Math" panose="02040503050406030204" pitchFamily="18" charset="0"/>
                          <a:ea typeface="Cambria Math" panose="02040503050406030204" pitchFamily="18" charset="0"/>
                        </a:rPr>
                        <m:t>&lt;</m:t>
                      </m:r>
                      <m:sSub>
                        <m:sSubPr>
                          <m:ctrlPr>
                            <a:rPr lang="en-US" altLang="zh-CN" sz="2000" i="1" smtClean="0">
                              <a:latin typeface="Cambria Math" panose="02040503050406030204" pitchFamily="18" charset="0"/>
                              <a:ea typeface="Cambria Math" panose="02040503050406030204" pitchFamily="18" charset="0"/>
                            </a:rPr>
                          </m:ctrlPr>
                        </m:sSubPr>
                        <m:e>
                          <m:r>
                            <a:rPr lang="en-US" altLang="zh-CN" sz="2000" b="1" i="1" smtClean="0">
                              <a:latin typeface="Cambria Math" panose="02040503050406030204" pitchFamily="18" charset="0"/>
                              <a:ea typeface="Cambria Math" panose="02040503050406030204" pitchFamily="18" charset="0"/>
                            </a:rPr>
                            <m:t>𝑷</m:t>
                          </m:r>
                        </m:e>
                        <m:sub>
                          <m:r>
                            <a:rPr lang="en-US" altLang="zh-CN" sz="2000" b="1" i="1" smtClean="0">
                              <a:latin typeface="Cambria Math" panose="02040503050406030204" pitchFamily="18" charset="0"/>
                              <a:ea typeface="Cambria Math" panose="02040503050406030204" pitchFamily="18" charset="0"/>
                            </a:rPr>
                            <m:t>𝒃</m:t>
                          </m:r>
                        </m:sub>
                      </m:sSub>
                    </m:oMath>
                  </m:oMathPara>
                </a14:m>
                <a:endParaRPr lang="zh-CN" altLang="en-US" sz="2000" dirty="0"/>
              </a:p>
            </p:txBody>
          </p:sp>
        </mc:Choice>
        <mc:Fallback xmlns="">
          <p:sp>
            <p:nvSpPr>
              <p:cNvPr id="25" name="文本框 24"/>
              <p:cNvSpPr txBox="1">
                <a:spLocks noRot="1" noChangeAspect="1" noMove="1" noResize="1" noEditPoints="1" noAdjustHandles="1" noChangeArrowheads="1" noChangeShapeType="1" noTextEdit="1"/>
              </p:cNvSpPr>
              <p:nvPr/>
            </p:nvSpPr>
            <p:spPr>
              <a:xfrm>
                <a:off x="7396226" y="5114503"/>
                <a:ext cx="1149541" cy="307777"/>
              </a:xfrm>
              <a:prstGeom prst="rect">
                <a:avLst/>
              </a:prstGeom>
              <a:blipFill rotWithShape="0">
                <a:blip r:embed="rId8"/>
                <a:stretch>
                  <a:fillRect b="-24000"/>
                </a:stretch>
              </a:blipFill>
            </p:spPr>
            <p:txBody>
              <a:bodyPr/>
              <a:lstStyle/>
              <a:p>
                <a:r>
                  <a:rPr lang="zh-CN" altLang="en-US">
                    <a:noFill/>
                  </a:rPr>
                  <a:t> </a:t>
                </a:r>
              </a:p>
            </p:txBody>
          </p:sp>
        </mc:Fallback>
      </mc:AlternateContent>
      <p:sp>
        <p:nvSpPr>
          <p:cNvPr id="18" name="矩形 17"/>
          <p:cNvSpPr/>
          <p:nvPr/>
        </p:nvSpPr>
        <p:spPr>
          <a:xfrm>
            <a:off x="7505410" y="35458"/>
            <a:ext cx="1638590" cy="369332"/>
          </a:xfrm>
          <a:prstGeom prst="rect">
            <a:avLst/>
          </a:prstGeom>
        </p:spPr>
        <p:txBody>
          <a:bodyPr wrap="none">
            <a:spAutoFit/>
          </a:bodyPr>
          <a:lstStyle/>
          <a:p>
            <a:pPr algn="dist"/>
            <a:r>
              <a:rPr lang="zh-CN" altLang="en-US" sz="1800" b="0" spc="30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第一节 垄断</a:t>
            </a:r>
            <a:endParaRPr lang="zh-CN" altLang="en-US" sz="1800" b="0" spc="300" dirty="0">
              <a:solidFill>
                <a:schemeClr val="tx2"/>
              </a:solidFill>
              <a:ea typeface="黑体" panose="02010609060101010101" pitchFamily="49" charset="-122"/>
              <a:sym typeface="Arial" panose="020B0604020202020204" pitchFamily="34" charset="0"/>
            </a:endParaRPr>
          </a:p>
        </p:txBody>
      </p:sp>
      <p:pic>
        <p:nvPicPr>
          <p:cNvPr id="2" name="图片 1"/>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798598" y="1865616"/>
            <a:ext cx="3044402" cy="3044402"/>
          </a:xfrm>
          <a:prstGeom prst="rect">
            <a:avLst/>
          </a:prstGeom>
        </p:spPr>
      </p:pic>
    </p:spTree>
    <p:extLst>
      <p:ext uri="{BB962C8B-B14F-4D97-AF65-F5344CB8AC3E}">
        <p14:creationId xmlns:p14="http://schemas.microsoft.com/office/powerpoint/2010/main" val="1066692872"/>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ppt_x"/>
                                          </p:val>
                                        </p:tav>
                                        <p:tav tm="100000">
                                          <p:val>
                                            <p:strVal val="#ppt_x"/>
                                          </p:val>
                                        </p:tav>
                                      </p:tavLst>
                                    </p:anim>
                                    <p:anim calcmode="lin" valueType="num">
                                      <p:cBhvr additive="base">
                                        <p:cTn id="1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anim calcmode="lin" valueType="num">
                                      <p:cBhvr additive="base">
                                        <p:cTn id="23" dur="500" fill="hold"/>
                                        <p:tgtEl>
                                          <p:spTgt spid="4"/>
                                        </p:tgtEl>
                                        <p:attrNameLst>
                                          <p:attrName>ppt_x</p:attrName>
                                        </p:attrNameLst>
                                      </p:cBhvr>
                                      <p:tavLst>
                                        <p:tav tm="0">
                                          <p:val>
                                            <p:strVal val="#ppt_x"/>
                                          </p:val>
                                        </p:tav>
                                        <p:tav tm="100000">
                                          <p:val>
                                            <p:strVal val="#ppt_x"/>
                                          </p:val>
                                        </p:tav>
                                      </p:tavLst>
                                    </p:anim>
                                    <p:anim calcmode="lin" valueType="num">
                                      <p:cBhvr additive="base">
                                        <p:cTn id="2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wipe(down)">
                                      <p:cBhvr>
                                        <p:cTn id="29" dur="500"/>
                                        <p:tgtEl>
                                          <p:spTgt spid="17"/>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5"/>
                                        </p:tgtEl>
                                        <p:attrNameLst>
                                          <p:attrName>style.visibility</p:attrName>
                                        </p:attrNameLst>
                                      </p:cBhvr>
                                      <p:to>
                                        <p:strVal val="visible"/>
                                      </p:to>
                                    </p:set>
                                    <p:anim calcmode="lin" valueType="num">
                                      <p:cBhvr additive="base">
                                        <p:cTn id="34" dur="500" fill="hold"/>
                                        <p:tgtEl>
                                          <p:spTgt spid="5"/>
                                        </p:tgtEl>
                                        <p:attrNameLst>
                                          <p:attrName>ppt_x</p:attrName>
                                        </p:attrNameLst>
                                      </p:cBhvr>
                                      <p:tavLst>
                                        <p:tav tm="0">
                                          <p:val>
                                            <p:strVal val="#ppt_x"/>
                                          </p:val>
                                        </p:tav>
                                        <p:tav tm="100000">
                                          <p:val>
                                            <p:strVal val="#ppt_x"/>
                                          </p:val>
                                        </p:tav>
                                      </p:tavLst>
                                    </p:anim>
                                    <p:anim calcmode="lin" valueType="num">
                                      <p:cBhvr additive="base">
                                        <p:cTn id="35"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wipe(down)">
                                      <p:cBhvr>
                                        <p:cTn id="40" dur="500"/>
                                        <p:tgtEl>
                                          <p:spTgt spid="19"/>
                                        </p:tgtEl>
                                      </p:cBhvr>
                                    </p:animEffect>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8"/>
                                        </p:tgtEl>
                                        <p:attrNameLst>
                                          <p:attrName>style.visibility</p:attrName>
                                        </p:attrNameLst>
                                      </p:cBhvr>
                                      <p:to>
                                        <p:strVal val="visible"/>
                                      </p:to>
                                    </p:set>
                                    <p:anim calcmode="lin" valueType="num">
                                      <p:cBhvr additive="base">
                                        <p:cTn id="45" dur="500" fill="hold"/>
                                        <p:tgtEl>
                                          <p:spTgt spid="8"/>
                                        </p:tgtEl>
                                        <p:attrNameLst>
                                          <p:attrName>ppt_x</p:attrName>
                                        </p:attrNameLst>
                                      </p:cBhvr>
                                      <p:tavLst>
                                        <p:tav tm="0">
                                          <p:val>
                                            <p:strVal val="#ppt_x"/>
                                          </p:val>
                                        </p:tav>
                                        <p:tav tm="100000">
                                          <p:val>
                                            <p:strVal val="#ppt_x"/>
                                          </p:val>
                                        </p:tav>
                                      </p:tavLst>
                                    </p:anim>
                                    <p:anim calcmode="lin" valueType="num">
                                      <p:cBhvr additive="base">
                                        <p:cTn id="4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6" presetClass="entr" presetSubtype="16" fill="hold" grpId="0" nodeType="clickEffect">
                                  <p:stCondLst>
                                    <p:cond delay="0"/>
                                  </p:stCondLst>
                                  <p:childTnLst>
                                    <p:set>
                                      <p:cBhvr>
                                        <p:cTn id="50" dur="1" fill="hold">
                                          <p:stCondLst>
                                            <p:cond delay="0"/>
                                          </p:stCondLst>
                                        </p:cTn>
                                        <p:tgtEl>
                                          <p:spTgt spid="12"/>
                                        </p:tgtEl>
                                        <p:attrNameLst>
                                          <p:attrName>style.visibility</p:attrName>
                                        </p:attrNameLst>
                                      </p:cBhvr>
                                      <p:to>
                                        <p:strVal val="visible"/>
                                      </p:to>
                                    </p:set>
                                    <p:animEffect transition="in" filter="circle(in)">
                                      <p:cBhvr>
                                        <p:cTn id="51" dur="1000"/>
                                        <p:tgtEl>
                                          <p:spTgt spid="12"/>
                                        </p:tgtEl>
                                      </p:cBhvr>
                                    </p:animEffect>
                                  </p:childTnLst>
                                </p:cTn>
                              </p:par>
                            </p:childTnLst>
                          </p:cTn>
                        </p:par>
                      </p:childTnLst>
                    </p:cTn>
                  </p:par>
                  <p:par>
                    <p:cTn id="52" fill="hold">
                      <p:stCondLst>
                        <p:cond delay="indefinite"/>
                      </p:stCondLst>
                      <p:childTnLst>
                        <p:par>
                          <p:cTn id="53" fill="hold">
                            <p:stCondLst>
                              <p:cond delay="0"/>
                            </p:stCondLst>
                            <p:childTnLst>
                              <p:par>
                                <p:cTn id="54" presetID="2" presetClass="entr" presetSubtype="4" fill="hold" grpId="0" nodeType="clickEffect">
                                  <p:stCondLst>
                                    <p:cond delay="0"/>
                                  </p:stCondLst>
                                  <p:childTnLst>
                                    <p:set>
                                      <p:cBhvr>
                                        <p:cTn id="55" dur="1" fill="hold">
                                          <p:stCondLst>
                                            <p:cond delay="0"/>
                                          </p:stCondLst>
                                        </p:cTn>
                                        <p:tgtEl>
                                          <p:spTgt spid="9"/>
                                        </p:tgtEl>
                                        <p:attrNameLst>
                                          <p:attrName>style.visibility</p:attrName>
                                        </p:attrNameLst>
                                      </p:cBhvr>
                                      <p:to>
                                        <p:strVal val="visible"/>
                                      </p:to>
                                    </p:set>
                                    <p:anim calcmode="lin" valueType="num">
                                      <p:cBhvr additive="base">
                                        <p:cTn id="56" dur="500" fill="hold"/>
                                        <p:tgtEl>
                                          <p:spTgt spid="9"/>
                                        </p:tgtEl>
                                        <p:attrNameLst>
                                          <p:attrName>ppt_x</p:attrName>
                                        </p:attrNameLst>
                                      </p:cBhvr>
                                      <p:tavLst>
                                        <p:tav tm="0">
                                          <p:val>
                                            <p:strVal val="#ppt_x"/>
                                          </p:val>
                                        </p:tav>
                                        <p:tav tm="100000">
                                          <p:val>
                                            <p:strVal val="#ppt_x"/>
                                          </p:val>
                                        </p:tav>
                                      </p:tavLst>
                                    </p:anim>
                                    <p:anim calcmode="lin" valueType="num">
                                      <p:cBhvr additive="base">
                                        <p:cTn id="57"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6" presetClass="entr" presetSubtype="16" fill="hold" grpId="0" nodeType="clickEffect">
                                  <p:stCondLst>
                                    <p:cond delay="0"/>
                                  </p:stCondLst>
                                  <p:childTnLst>
                                    <p:set>
                                      <p:cBhvr>
                                        <p:cTn id="61" dur="1" fill="hold">
                                          <p:stCondLst>
                                            <p:cond delay="0"/>
                                          </p:stCondLst>
                                        </p:cTn>
                                        <p:tgtEl>
                                          <p:spTgt spid="7"/>
                                        </p:tgtEl>
                                        <p:attrNameLst>
                                          <p:attrName>style.visibility</p:attrName>
                                        </p:attrNameLst>
                                      </p:cBhvr>
                                      <p:to>
                                        <p:strVal val="visible"/>
                                      </p:to>
                                    </p:set>
                                    <p:animEffect transition="in" filter="circle(in)">
                                      <p:cBhvr>
                                        <p:cTn id="62" dur="1000"/>
                                        <p:tgtEl>
                                          <p:spTgt spid="7"/>
                                        </p:tgtEl>
                                      </p:cBhvr>
                                    </p:animEffect>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13"/>
                                        </p:tgtEl>
                                        <p:attrNameLst>
                                          <p:attrName>style.visibility</p:attrName>
                                        </p:attrNameLst>
                                      </p:cBhvr>
                                      <p:to>
                                        <p:strVal val="visible"/>
                                      </p:to>
                                    </p:set>
                                    <p:anim calcmode="lin" valueType="num">
                                      <p:cBhvr additive="base">
                                        <p:cTn id="67" dur="500" fill="hold"/>
                                        <p:tgtEl>
                                          <p:spTgt spid="13"/>
                                        </p:tgtEl>
                                        <p:attrNameLst>
                                          <p:attrName>ppt_x</p:attrName>
                                        </p:attrNameLst>
                                      </p:cBhvr>
                                      <p:tavLst>
                                        <p:tav tm="0">
                                          <p:val>
                                            <p:strVal val="#ppt_x"/>
                                          </p:val>
                                        </p:tav>
                                        <p:tav tm="100000">
                                          <p:val>
                                            <p:strVal val="#ppt_x"/>
                                          </p:val>
                                        </p:tav>
                                      </p:tavLst>
                                    </p:anim>
                                    <p:anim calcmode="lin" valueType="num">
                                      <p:cBhvr additive="base">
                                        <p:cTn id="6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6" presetClass="entr" presetSubtype="16" fill="hold" grpId="0" nodeType="clickEffect">
                                  <p:stCondLst>
                                    <p:cond delay="0"/>
                                  </p:stCondLst>
                                  <p:childTnLst>
                                    <p:set>
                                      <p:cBhvr>
                                        <p:cTn id="72" dur="1" fill="hold">
                                          <p:stCondLst>
                                            <p:cond delay="0"/>
                                          </p:stCondLst>
                                        </p:cTn>
                                        <p:tgtEl>
                                          <p:spTgt spid="23"/>
                                        </p:tgtEl>
                                        <p:attrNameLst>
                                          <p:attrName>style.visibility</p:attrName>
                                        </p:attrNameLst>
                                      </p:cBhvr>
                                      <p:to>
                                        <p:strVal val="visible"/>
                                      </p:to>
                                    </p:set>
                                    <p:animEffect transition="in" filter="circle(in)">
                                      <p:cBhvr>
                                        <p:cTn id="73" dur="1000"/>
                                        <p:tgtEl>
                                          <p:spTgt spid="23"/>
                                        </p:tgtEl>
                                      </p:cBhvr>
                                    </p:animEffect>
                                  </p:childTnLst>
                                </p:cTn>
                              </p:par>
                            </p:childTnLst>
                          </p:cTn>
                        </p:par>
                      </p:childTnLst>
                    </p:cTn>
                  </p:par>
                  <p:par>
                    <p:cTn id="74" fill="hold">
                      <p:stCondLst>
                        <p:cond delay="indefinite"/>
                      </p:stCondLst>
                      <p:childTnLst>
                        <p:par>
                          <p:cTn id="75" fill="hold">
                            <p:stCondLst>
                              <p:cond delay="0"/>
                            </p:stCondLst>
                            <p:childTnLst>
                              <p:par>
                                <p:cTn id="76" presetID="2" presetClass="entr" presetSubtype="4" fill="hold" grpId="0" nodeType="clickEffect">
                                  <p:stCondLst>
                                    <p:cond delay="0"/>
                                  </p:stCondLst>
                                  <p:childTnLst>
                                    <p:set>
                                      <p:cBhvr>
                                        <p:cTn id="77" dur="1" fill="hold">
                                          <p:stCondLst>
                                            <p:cond delay="0"/>
                                          </p:stCondLst>
                                        </p:cTn>
                                        <p:tgtEl>
                                          <p:spTgt spid="25"/>
                                        </p:tgtEl>
                                        <p:attrNameLst>
                                          <p:attrName>style.visibility</p:attrName>
                                        </p:attrNameLst>
                                      </p:cBhvr>
                                      <p:to>
                                        <p:strVal val="visible"/>
                                      </p:to>
                                    </p:set>
                                    <p:anim calcmode="lin" valueType="num">
                                      <p:cBhvr additive="base">
                                        <p:cTn id="78" dur="500" fill="hold"/>
                                        <p:tgtEl>
                                          <p:spTgt spid="25"/>
                                        </p:tgtEl>
                                        <p:attrNameLst>
                                          <p:attrName>ppt_x</p:attrName>
                                        </p:attrNameLst>
                                      </p:cBhvr>
                                      <p:tavLst>
                                        <p:tav tm="0">
                                          <p:val>
                                            <p:strVal val="#ppt_x"/>
                                          </p:val>
                                        </p:tav>
                                        <p:tav tm="100000">
                                          <p:val>
                                            <p:strVal val="#ppt_x"/>
                                          </p:val>
                                        </p:tav>
                                      </p:tavLst>
                                    </p:anim>
                                    <p:anim calcmode="lin" valueType="num">
                                      <p:cBhvr additive="base">
                                        <p:cTn id="79"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12" grpId="0" animBg="1"/>
      <p:bldP spid="17" grpId="0"/>
      <p:bldP spid="19" grpId="0"/>
      <p:bldP spid="23" grpId="0" animBg="1"/>
      <p:bldP spid="3" grpId="0"/>
      <p:bldP spid="4" grpId="0"/>
      <p:bldP spid="5" grpId="0"/>
      <p:bldP spid="8" grpId="0"/>
      <p:bldP spid="9" grpId="0"/>
      <p:bldP spid="13" grpId="0"/>
      <p:bldP spid="2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nvSpPr>
        <p:spPr bwMode="auto">
          <a:xfrm>
            <a:off x="1331775" y="3699400"/>
            <a:ext cx="6664810" cy="633372"/>
          </a:xfrm>
          <a:prstGeom prst="roundRect">
            <a:avLst/>
          </a:prstGeom>
          <a:solidFill>
            <a:srgbClr val="F3C97F">
              <a:alpha val="49000"/>
            </a:srgbClr>
          </a:solidFill>
          <a:ln w="9525" cap="flat" cmpd="sng" algn="ctr">
            <a:solidFill>
              <a:srgbClr val="F3C97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2" name="圆角矩形 1"/>
          <p:cNvSpPr/>
          <p:nvPr/>
        </p:nvSpPr>
        <p:spPr bwMode="auto">
          <a:xfrm>
            <a:off x="1310861" y="2160812"/>
            <a:ext cx="3168220" cy="1081612"/>
          </a:xfrm>
          <a:prstGeom prst="roundRect">
            <a:avLst/>
          </a:prstGeom>
          <a:solidFill>
            <a:srgbClr val="F3C97F">
              <a:alpha val="49000"/>
            </a:srgbClr>
          </a:solidFill>
          <a:ln w="9525" cap="flat" cmpd="sng" algn="ctr">
            <a:solidFill>
              <a:srgbClr val="F3C97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endPar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
        <p:nvSpPr>
          <p:cNvPr id="3" name="Rectangle 2"/>
          <p:cNvSpPr txBox="1">
            <a:spLocks noChangeArrowheads="1"/>
          </p:cNvSpPr>
          <p:nvPr/>
        </p:nvSpPr>
        <p:spPr>
          <a:xfrm>
            <a:off x="446801" y="1650557"/>
            <a:ext cx="8915400" cy="1213570"/>
          </a:xfrm>
          <a:prstGeom prst="rect">
            <a:avLst/>
          </a:prstGeom>
        </p:spPr>
        <p:txBody>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lvl="2" indent="-342900" eaLnBrk="1" hangingPunct="1">
              <a:lnSpc>
                <a:spcPct val="150000"/>
              </a:lnSpc>
              <a:buFont typeface="Wingdings" panose="05000000000000000000" pitchFamily="2" charset="2"/>
              <a:buChar char="Ø"/>
            </a:pPr>
            <a:r>
              <a:rPr lang="en-US" altLang="zh-CN" sz="2000" b="0" kern="0" dirty="0"/>
              <a:t>Market Power:</a:t>
            </a:r>
          </a:p>
          <a:p>
            <a:pPr lvl="2" eaLnBrk="1" hangingPunct="1">
              <a:lnSpc>
                <a:spcPct val="150000"/>
              </a:lnSpc>
              <a:buClr>
                <a:srgbClr val="FF6600"/>
              </a:buClr>
              <a:buFontTx/>
              <a:buNone/>
            </a:pPr>
            <a:r>
              <a:rPr lang="zh-CN" altLang="en-US" sz="1800" b="0" kern="0" dirty="0">
                <a:latin typeface="微软雅黑" panose="020B0503020204020204" pitchFamily="34" charset="-122"/>
                <a:ea typeface="微软雅黑" panose="020B0503020204020204" pitchFamily="34" charset="-122"/>
              </a:rPr>
              <a:t>垄断条件下：</a:t>
            </a:r>
            <a:r>
              <a:rPr lang="en-US" altLang="zh-CN" sz="1800" b="0" kern="0" dirty="0">
                <a:latin typeface="微软雅黑" panose="020B0503020204020204" pitchFamily="34" charset="-122"/>
                <a:ea typeface="微软雅黑" panose="020B0503020204020204" pitchFamily="34" charset="-122"/>
              </a:rPr>
              <a:t>P&gt;MR=MC</a:t>
            </a:r>
          </a:p>
          <a:p>
            <a:pPr lvl="2" eaLnBrk="1" hangingPunct="1">
              <a:lnSpc>
                <a:spcPct val="150000"/>
              </a:lnSpc>
              <a:buClr>
                <a:srgbClr val="FF6600"/>
              </a:buClr>
              <a:buFontTx/>
              <a:buNone/>
            </a:pPr>
            <a:r>
              <a:rPr lang="zh-CN" altLang="en-US" sz="1800" b="0" kern="0" dirty="0">
                <a:latin typeface="微软雅黑" panose="020B0503020204020204" pitchFamily="34" charset="-122"/>
                <a:ea typeface="微软雅黑" panose="020B0503020204020204" pitchFamily="34" charset="-122"/>
              </a:rPr>
              <a:t>竞争条件下：</a:t>
            </a:r>
            <a:r>
              <a:rPr lang="en-US" altLang="zh-CN" sz="1800" b="0" kern="0" dirty="0">
                <a:latin typeface="微软雅黑" panose="020B0503020204020204" pitchFamily="34" charset="-122"/>
                <a:ea typeface="微软雅黑" panose="020B0503020204020204" pitchFamily="34" charset="-122"/>
              </a:rPr>
              <a:t>P=MC=MR</a:t>
            </a:r>
          </a:p>
        </p:txBody>
      </p:sp>
      <p:sp>
        <p:nvSpPr>
          <p:cNvPr id="4" name="Rectangle 2"/>
          <p:cNvSpPr txBox="1">
            <a:spLocks noChangeArrowheads="1"/>
          </p:cNvSpPr>
          <p:nvPr/>
        </p:nvSpPr>
        <p:spPr>
          <a:xfrm>
            <a:off x="2123830" y="3818940"/>
            <a:ext cx="7655630" cy="394292"/>
          </a:xfrm>
          <a:prstGeom prst="rect">
            <a:avLst/>
          </a:prstGeom>
        </p:spPr>
        <p:txBody>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eaLnBrk="1" hangingPunct="1">
              <a:buClr>
                <a:srgbClr val="FF6600"/>
              </a:buClr>
              <a:buFontTx/>
              <a:buNone/>
            </a:pPr>
            <a:r>
              <a:rPr lang="en-US" altLang="zh-CN" sz="1800" b="0" kern="0" dirty="0">
                <a:latin typeface="微软雅黑" panose="020B0503020204020204" pitchFamily="34" charset="-122"/>
                <a:ea typeface="微软雅黑" panose="020B0503020204020204" pitchFamily="34" charset="-122"/>
              </a:rPr>
              <a:t>(P-MC)</a:t>
            </a:r>
            <a:r>
              <a:rPr lang="zh-CN" altLang="en-US" sz="1800" b="0" kern="0" dirty="0">
                <a:latin typeface="微软雅黑" panose="020B0503020204020204" pitchFamily="34" charset="-122"/>
                <a:ea typeface="微软雅黑" panose="020B0503020204020204" pitchFamily="34" charset="-122"/>
              </a:rPr>
              <a:t>就可以衡量（已经滥用的）垄断力量有多大</a:t>
            </a:r>
            <a:r>
              <a:rPr lang="en-US" altLang="zh-CN" sz="1800" b="0" kern="0" dirty="0">
                <a:latin typeface="微软雅黑" panose="020B0503020204020204" pitchFamily="34" charset="-122"/>
                <a:ea typeface="微软雅黑" panose="020B0503020204020204" pitchFamily="34" charset="-122"/>
              </a:rPr>
              <a:t> </a:t>
            </a:r>
            <a:r>
              <a:rPr lang="zh-CN" altLang="en-US" sz="1800" b="0" kern="0" dirty="0">
                <a:latin typeface="微软雅黑" panose="020B0503020204020204" pitchFamily="34" charset="-122"/>
                <a:ea typeface="微软雅黑" panose="020B0503020204020204" pitchFamily="34" charset="-122"/>
              </a:rPr>
              <a:t>）</a:t>
            </a:r>
            <a:endParaRPr lang="en-US" altLang="zh-CN" sz="1800" b="0" kern="0" dirty="0">
              <a:latin typeface="微软雅黑" panose="020B0503020204020204" pitchFamily="34" charset="-122"/>
              <a:ea typeface="微软雅黑" panose="020B0503020204020204" pitchFamily="34" charset="-122"/>
            </a:endParaRPr>
          </a:p>
        </p:txBody>
      </p:sp>
      <p:sp>
        <p:nvSpPr>
          <p:cNvPr id="7" name="下箭头 6"/>
          <p:cNvSpPr/>
          <p:nvPr/>
        </p:nvSpPr>
        <p:spPr bwMode="auto">
          <a:xfrm>
            <a:off x="2254261" y="3310993"/>
            <a:ext cx="360025" cy="360025"/>
          </a:xfrm>
          <a:prstGeom prst="downArrow">
            <a:avLst/>
          </a:prstGeom>
          <a:solidFill>
            <a:srgbClr val="9DA2AD"/>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8" name="Rectangle 2"/>
          <p:cNvSpPr txBox="1">
            <a:spLocks noChangeArrowheads="1"/>
          </p:cNvSpPr>
          <p:nvPr/>
        </p:nvSpPr>
        <p:spPr>
          <a:xfrm>
            <a:off x="858484" y="4509075"/>
            <a:ext cx="8612863" cy="2174888"/>
          </a:xfrm>
          <a:prstGeom prst="rect">
            <a:avLst/>
          </a:prstGeom>
        </p:spPr>
        <p:txBody>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eaLnBrk="1" hangingPunct="1">
              <a:lnSpc>
                <a:spcPct val="150000"/>
              </a:lnSpc>
              <a:buFont typeface="Wingdings" panose="05000000000000000000" pitchFamily="2" charset="2"/>
              <a:buChar char="Ø"/>
            </a:pPr>
            <a:r>
              <a:rPr lang="zh-CN" altLang="en-US" sz="2000" b="0" kern="0" dirty="0">
                <a:latin typeface="微软雅黑" panose="020B0503020204020204" pitchFamily="34" charset="-122"/>
                <a:ea typeface="微软雅黑" panose="020B0503020204020204" pitchFamily="34" charset="-122"/>
              </a:rPr>
              <a:t>根据</a:t>
            </a:r>
            <a:r>
              <a:rPr lang="en-US" altLang="zh-CN" sz="2000" b="0" kern="0" dirty="0">
                <a:latin typeface="微软雅黑" panose="020B0503020204020204" pitchFamily="34" charset="-122"/>
                <a:ea typeface="微软雅黑" panose="020B0503020204020204" pitchFamily="34" charset="-122"/>
              </a:rPr>
              <a:t>R(Q)=P(Q)Q</a:t>
            </a:r>
            <a:r>
              <a:rPr lang="zh-CN" altLang="en-US" sz="2000" b="0" kern="0" dirty="0">
                <a:latin typeface="微软雅黑" panose="020B0503020204020204" pitchFamily="34" charset="-122"/>
                <a:ea typeface="微软雅黑" panose="020B0503020204020204" pitchFamily="34" charset="-122"/>
              </a:rPr>
              <a:t>，计算出</a:t>
            </a:r>
            <a:endParaRPr lang="en-US" altLang="zh-CN" sz="2000" b="0" kern="0" dirty="0">
              <a:latin typeface="微软雅黑" panose="020B0503020204020204" pitchFamily="34" charset="-122"/>
              <a:ea typeface="微软雅黑" panose="020B0503020204020204" pitchFamily="34" charset="-122"/>
            </a:endParaRPr>
          </a:p>
          <a:p>
            <a:pPr eaLnBrk="1" hangingPunct="1">
              <a:lnSpc>
                <a:spcPct val="150000"/>
              </a:lnSpc>
              <a:buClr>
                <a:srgbClr val="FF6600"/>
              </a:buClr>
              <a:buFontTx/>
              <a:buNone/>
            </a:pPr>
            <a:r>
              <a:rPr lang="en-US" altLang="zh-CN" sz="2000" b="0" kern="0" dirty="0">
                <a:latin typeface="微软雅黑" panose="020B0503020204020204" pitchFamily="34" charset="-122"/>
                <a:ea typeface="微软雅黑" panose="020B0503020204020204" pitchFamily="34" charset="-122"/>
              </a:rPr>
              <a:t>     MR = P +(</a:t>
            </a:r>
            <a:r>
              <a:rPr lang="en-US" altLang="zh-CN" sz="2000" b="0" kern="0" dirty="0" err="1">
                <a:latin typeface="微软雅黑" panose="020B0503020204020204" pitchFamily="34" charset="-122"/>
                <a:ea typeface="微软雅黑" panose="020B0503020204020204" pitchFamily="34" charset="-122"/>
              </a:rPr>
              <a:t>dP</a:t>
            </a:r>
            <a:r>
              <a:rPr lang="en-US" altLang="zh-CN" sz="2000" b="0" kern="0" dirty="0">
                <a:latin typeface="微软雅黑" panose="020B0503020204020204" pitchFamily="34" charset="-122"/>
                <a:ea typeface="微软雅黑" panose="020B0503020204020204" pitchFamily="34" charset="-122"/>
              </a:rPr>
              <a:t>/</a:t>
            </a:r>
            <a:r>
              <a:rPr lang="en-US" altLang="zh-CN" sz="2000" b="0" kern="0" dirty="0" err="1">
                <a:latin typeface="微软雅黑" panose="020B0503020204020204" pitchFamily="34" charset="-122"/>
                <a:ea typeface="微软雅黑" panose="020B0503020204020204" pitchFamily="34" charset="-122"/>
              </a:rPr>
              <a:t>dQ</a:t>
            </a:r>
            <a:r>
              <a:rPr lang="en-US" altLang="zh-CN" sz="2000" b="0" kern="0" dirty="0">
                <a:latin typeface="微软雅黑" panose="020B0503020204020204" pitchFamily="34" charset="-122"/>
                <a:ea typeface="微软雅黑" panose="020B0503020204020204" pitchFamily="34" charset="-122"/>
              </a:rPr>
              <a:t>)Q = P [1+ (</a:t>
            </a:r>
            <a:r>
              <a:rPr lang="en-US" altLang="zh-CN" sz="2000" b="0" kern="0" dirty="0" err="1">
                <a:latin typeface="微软雅黑" panose="020B0503020204020204" pitchFamily="34" charset="-122"/>
                <a:ea typeface="微软雅黑" panose="020B0503020204020204" pitchFamily="34" charset="-122"/>
              </a:rPr>
              <a:t>dP</a:t>
            </a:r>
            <a:r>
              <a:rPr lang="en-US" altLang="zh-CN" sz="2000" b="0" kern="0" dirty="0">
                <a:latin typeface="微软雅黑" panose="020B0503020204020204" pitchFamily="34" charset="-122"/>
                <a:ea typeface="微软雅黑" panose="020B0503020204020204" pitchFamily="34" charset="-122"/>
              </a:rPr>
              <a:t>/</a:t>
            </a:r>
            <a:r>
              <a:rPr lang="en-US" altLang="zh-CN" sz="2000" b="0" kern="0" dirty="0" err="1">
                <a:latin typeface="微软雅黑" panose="020B0503020204020204" pitchFamily="34" charset="-122"/>
                <a:ea typeface="微软雅黑" panose="020B0503020204020204" pitchFamily="34" charset="-122"/>
              </a:rPr>
              <a:t>dQ</a:t>
            </a:r>
            <a:r>
              <a:rPr lang="en-US" altLang="zh-CN" sz="2000" b="0" kern="0" dirty="0">
                <a:latin typeface="微软雅黑" panose="020B0503020204020204" pitchFamily="34" charset="-122"/>
                <a:ea typeface="微软雅黑" panose="020B0503020204020204" pitchFamily="34" charset="-122"/>
              </a:rPr>
              <a:t>)(Q /P)] =P(1-1/E)</a:t>
            </a:r>
          </a:p>
          <a:p>
            <a:pPr eaLnBrk="1" hangingPunct="1">
              <a:lnSpc>
                <a:spcPct val="150000"/>
              </a:lnSpc>
              <a:buFont typeface="Wingdings" panose="05000000000000000000" pitchFamily="2" charset="2"/>
              <a:buChar char="Ø"/>
            </a:pPr>
            <a:r>
              <a:rPr lang="zh-CN" altLang="en-US" sz="2000" b="0" kern="0" dirty="0">
                <a:latin typeface="微软雅黑" panose="020B0503020204020204" pitchFamily="34" charset="-122"/>
                <a:ea typeface="微软雅黑" panose="020B0503020204020204" pitchFamily="34" charset="-122"/>
              </a:rPr>
              <a:t>根据</a:t>
            </a:r>
            <a:r>
              <a:rPr lang="en-US" altLang="zh-CN" sz="2000" b="0" kern="0" dirty="0">
                <a:latin typeface="微软雅黑" panose="020B0503020204020204" pitchFamily="34" charset="-122"/>
                <a:ea typeface="微软雅黑" panose="020B0503020204020204" pitchFamily="34" charset="-122"/>
              </a:rPr>
              <a:t>MR=MC </a:t>
            </a:r>
            <a:r>
              <a:rPr lang="zh-CN" altLang="en-US" sz="2000" b="0" kern="0" dirty="0">
                <a:latin typeface="微软雅黑" panose="020B0503020204020204" pitchFamily="34" charset="-122"/>
                <a:ea typeface="微软雅黑" panose="020B0503020204020204" pitchFamily="34" charset="-122"/>
              </a:rPr>
              <a:t>我们有</a:t>
            </a:r>
            <a:endParaRPr lang="en-US" altLang="zh-CN" sz="2000" b="0" kern="0"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5" name="文本框 4"/>
              <p:cNvSpPr txBox="1"/>
              <p:nvPr/>
            </p:nvSpPr>
            <p:spPr>
              <a:xfrm>
                <a:off x="4355985" y="5577673"/>
                <a:ext cx="1970271" cy="57823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CN" sz="2000" i="1" smtClean="0">
                              <a:latin typeface="Cambria Math" panose="02040503050406030204" pitchFamily="18" charset="0"/>
                            </a:rPr>
                          </m:ctrlPr>
                        </m:fPr>
                        <m:num>
                          <m:r>
                            <a:rPr lang="en-US" altLang="zh-CN" sz="2000" b="1" i="1" smtClean="0">
                              <a:latin typeface="Cambria Math" panose="02040503050406030204" pitchFamily="18" charset="0"/>
                            </a:rPr>
                            <m:t>𝑷</m:t>
                          </m:r>
                          <m:r>
                            <a:rPr lang="en-US" altLang="zh-CN" sz="2000" b="1" i="1" smtClean="0">
                              <a:latin typeface="Cambria Math" panose="02040503050406030204" pitchFamily="18" charset="0"/>
                              <a:ea typeface="Cambria Math" panose="02040503050406030204" pitchFamily="18" charset="0"/>
                            </a:rPr>
                            <m:t>−</m:t>
                          </m:r>
                          <m:r>
                            <a:rPr lang="en-US" altLang="zh-CN" sz="2000" b="1" i="1" smtClean="0">
                              <a:latin typeface="Cambria Math" panose="02040503050406030204" pitchFamily="18" charset="0"/>
                              <a:ea typeface="Cambria Math" panose="02040503050406030204" pitchFamily="18" charset="0"/>
                            </a:rPr>
                            <m:t>𝑴𝑪</m:t>
                          </m:r>
                        </m:num>
                        <m:den>
                          <m:r>
                            <a:rPr lang="en-US" altLang="zh-CN" sz="2000" b="1" i="1" smtClean="0">
                              <a:latin typeface="Cambria Math" panose="02040503050406030204" pitchFamily="18" charset="0"/>
                            </a:rPr>
                            <m:t>𝑴𝑪</m:t>
                          </m:r>
                        </m:den>
                      </m:f>
                      <m:r>
                        <a:rPr lang="en-US" altLang="zh-CN" sz="2000" i="1" smtClean="0">
                          <a:latin typeface="Cambria Math" panose="02040503050406030204" pitchFamily="18" charset="0"/>
                          <a:ea typeface="Cambria Math" panose="02040503050406030204" pitchFamily="18" charset="0"/>
                        </a:rPr>
                        <m:t>=</m:t>
                      </m:r>
                      <m:f>
                        <m:fPr>
                          <m:ctrlPr>
                            <a:rPr lang="en-US" altLang="zh-CN" sz="2000" i="1" smtClean="0">
                              <a:latin typeface="Cambria Math" panose="02040503050406030204" pitchFamily="18" charset="0"/>
                              <a:ea typeface="Cambria Math" panose="02040503050406030204" pitchFamily="18" charset="0"/>
                            </a:rPr>
                          </m:ctrlPr>
                        </m:fPr>
                        <m:num>
                          <m:r>
                            <a:rPr lang="en-US" altLang="zh-CN" sz="2000" b="1" i="1" smtClean="0">
                              <a:latin typeface="Cambria Math" panose="02040503050406030204" pitchFamily="18" charset="0"/>
                              <a:ea typeface="Cambria Math" panose="02040503050406030204" pitchFamily="18" charset="0"/>
                            </a:rPr>
                            <m:t>𝟏</m:t>
                          </m:r>
                        </m:num>
                        <m:den>
                          <m:r>
                            <a:rPr lang="en-US" altLang="zh-CN" sz="2000" b="1" i="1" smtClean="0">
                              <a:latin typeface="Cambria Math" panose="02040503050406030204" pitchFamily="18" charset="0"/>
                              <a:ea typeface="Cambria Math" panose="02040503050406030204" pitchFamily="18" charset="0"/>
                            </a:rPr>
                            <m:t>𝑬</m:t>
                          </m:r>
                        </m:den>
                      </m:f>
                    </m:oMath>
                  </m:oMathPara>
                </a14:m>
                <a:endParaRPr lang="zh-CN" altLang="en-US" sz="2000" dirty="0"/>
              </a:p>
            </p:txBody>
          </p:sp>
        </mc:Choice>
        <mc:Fallback xmlns="">
          <p:sp>
            <p:nvSpPr>
              <p:cNvPr id="5" name="文本框 4"/>
              <p:cNvSpPr txBox="1">
                <a:spLocks noRot="1" noChangeAspect="1" noMove="1" noResize="1" noEditPoints="1" noAdjustHandles="1" noChangeArrowheads="1" noChangeShapeType="1" noTextEdit="1"/>
              </p:cNvSpPr>
              <p:nvPr/>
            </p:nvSpPr>
            <p:spPr>
              <a:xfrm>
                <a:off x="4355985" y="5577673"/>
                <a:ext cx="1970271" cy="578235"/>
              </a:xfrm>
              <a:prstGeom prst="rect">
                <a:avLst/>
              </a:prstGeom>
              <a:blipFill>
                <a:blip r:embed="rId2"/>
                <a:stretch>
                  <a:fillRect/>
                </a:stretch>
              </a:blipFill>
            </p:spPr>
            <p:txBody>
              <a:bodyPr/>
              <a:lstStyle/>
              <a:p>
                <a:r>
                  <a:rPr lang="zh-CN" altLang="en-US">
                    <a:noFill/>
                  </a:rPr>
                  <a:t> </a:t>
                </a:r>
              </a:p>
            </p:txBody>
          </p:sp>
        </mc:Fallback>
      </mc:AlternateContent>
      <p:sp>
        <p:nvSpPr>
          <p:cNvPr id="10" name="矩形 9"/>
          <p:cNvSpPr/>
          <p:nvPr/>
        </p:nvSpPr>
        <p:spPr>
          <a:xfrm>
            <a:off x="7505410" y="35458"/>
            <a:ext cx="1638590" cy="369332"/>
          </a:xfrm>
          <a:prstGeom prst="rect">
            <a:avLst/>
          </a:prstGeom>
        </p:spPr>
        <p:txBody>
          <a:bodyPr wrap="none">
            <a:spAutoFit/>
          </a:bodyPr>
          <a:lstStyle/>
          <a:p>
            <a:pPr algn="dist"/>
            <a:r>
              <a:rPr lang="zh-CN" altLang="en-US" sz="1800" b="0" spc="30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第一节 垄断</a:t>
            </a:r>
            <a:endParaRPr lang="zh-CN" altLang="en-US" sz="1800" b="0" spc="300" dirty="0">
              <a:solidFill>
                <a:schemeClr val="tx2"/>
              </a:solidFill>
              <a:ea typeface="黑体" panose="02010609060101010101" pitchFamily="49" charset="-122"/>
              <a:sym typeface="Arial" panose="020B0604020202020204" pitchFamily="34" charset="0"/>
            </a:endParaRPr>
          </a:p>
        </p:txBody>
      </p:sp>
      <p:sp>
        <p:nvSpPr>
          <p:cNvPr id="11" name="矩形 10">
            <a:extLst>
              <a:ext uri="{FF2B5EF4-FFF2-40B4-BE49-F238E27FC236}">
                <a16:creationId xmlns:a16="http://schemas.microsoft.com/office/drawing/2014/main" id="{F68E5273-CD77-47B9-B841-9D29349C133D}"/>
              </a:ext>
            </a:extLst>
          </p:cNvPr>
          <p:cNvSpPr/>
          <p:nvPr/>
        </p:nvSpPr>
        <p:spPr>
          <a:xfrm>
            <a:off x="467544" y="548680"/>
            <a:ext cx="2146742"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spc="150" dirty="0">
                <a:solidFill>
                  <a:srgbClr val="FFFFFF"/>
                </a:solidFill>
                <a:latin typeface="微软雅黑" panose="020B0503020204020204" pitchFamily="34" charset="-122"/>
                <a:ea typeface="微软雅黑" panose="020B0503020204020204" pitchFamily="34" charset="-122"/>
              </a:rPr>
              <a:t>五</a:t>
            </a:r>
            <a:r>
              <a:rPr lang="zh-CN" altLang="en-US" sz="2400" b="1" spc="150" dirty="0">
                <a:solidFill>
                  <a:srgbClr val="FFFFFF"/>
                </a:solidFill>
                <a:latin typeface="微软雅黑" panose="020B0503020204020204" pitchFamily="34" charset="-122"/>
                <a:ea typeface="微软雅黑" panose="020B0503020204020204" pitchFamily="34" charset="-122"/>
              </a:rPr>
              <a:t>、</a:t>
            </a:r>
            <a:r>
              <a:rPr lang="zh-CN" altLang="en-US" sz="2400" spc="15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价格歧视</a:t>
            </a:r>
            <a:endParaRPr lang="zh-CN" altLang="en-US" sz="2400" b="1" spc="150" dirty="0">
              <a:solidFill>
                <a:srgbClr val="FFFFFF"/>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755735" y="1261801"/>
            <a:ext cx="2326278" cy="400110"/>
          </a:xfrm>
          <a:prstGeom prst="rect">
            <a:avLst/>
          </a:prstGeom>
          <a:noFill/>
        </p:spPr>
        <p:txBody>
          <a:bodyPr wrap="none" rtlCol="0">
            <a:spAutoFit/>
          </a:bodyPr>
          <a:lstStyle/>
          <a:p>
            <a:pPr marL="342900" lvl="0" indent="-342900" eaLnBrk="1" hangingPunct="1">
              <a:buFont typeface="Wingdings" panose="05000000000000000000" pitchFamily="2" charset="2"/>
              <a:buChar char="u"/>
            </a:pPr>
            <a:r>
              <a:rPr lang="zh-CN" altLang="en-US" sz="2000" b="0" dirty="0">
                <a:latin typeface="微软雅黑" panose="020B0503020204020204" pitchFamily="34" charset="-122"/>
                <a:ea typeface="微软雅黑" panose="020B0503020204020204" pitchFamily="34" charset="-122"/>
              </a:rPr>
              <a:t>市场势力的测度</a:t>
            </a:r>
            <a:endParaRPr lang="en-US" altLang="zh-CN" sz="2000" b="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25666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500"/>
                                        <p:tgtEl>
                                          <p:spTgt spid="3">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ppt_x</p:attrName>
                                        </p:attrNameLst>
                                      </p:cBhvr>
                                      <p:tavLst>
                                        <p:tav tm="0">
                                          <p:val>
                                            <p:strVal val="#ppt_x"/>
                                          </p:val>
                                        </p:tav>
                                        <p:tav tm="100000">
                                          <p:val>
                                            <p:strVal val="#ppt_x"/>
                                          </p:val>
                                        </p:tav>
                                      </p:tavLst>
                                    </p:anim>
                                    <p:anim calcmode="lin" valueType="num">
                                      <p:cBhvr additive="base">
                                        <p:cTn id="2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fade">
                                      <p:cBhvr>
                                        <p:cTn id="32" dur="5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50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5"/>
                                        </p:tgtEl>
                                        <p:attrNameLst>
                                          <p:attrName>style.visibility</p:attrName>
                                        </p:attrNameLst>
                                      </p:cBhvr>
                                      <p:to>
                                        <p:strVal val="visible"/>
                                      </p:to>
                                    </p:set>
                                    <p:anim calcmode="lin" valueType="num">
                                      <p:cBhvr additive="base">
                                        <p:cTn id="42" dur="500" fill="hold"/>
                                        <p:tgtEl>
                                          <p:spTgt spid="5"/>
                                        </p:tgtEl>
                                        <p:attrNameLst>
                                          <p:attrName>ppt_x</p:attrName>
                                        </p:attrNameLst>
                                      </p:cBhvr>
                                      <p:tavLst>
                                        <p:tav tm="0">
                                          <p:val>
                                            <p:strVal val="#ppt_x"/>
                                          </p:val>
                                        </p:tav>
                                        <p:tav tm="100000">
                                          <p:val>
                                            <p:strVal val="#ppt_x"/>
                                          </p:val>
                                        </p:tav>
                                      </p:tavLst>
                                    </p:anim>
                                    <p:anim calcmode="lin" valueType="num">
                                      <p:cBhvr additive="base">
                                        <p:cTn id="4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 grpId="0" animBg="1"/>
      <p:bldP spid="4" grpId="0"/>
      <p:bldP spid="7" grpId="0" animBg="1"/>
      <p:bldP spid="8" grpId="0"/>
      <p:bldP spid="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txBox="1">
            <a:spLocks noChangeArrowheads="1"/>
          </p:cNvSpPr>
          <p:nvPr/>
        </p:nvSpPr>
        <p:spPr>
          <a:xfrm>
            <a:off x="149177" y="2132910"/>
            <a:ext cx="8612863" cy="3816265"/>
          </a:xfrm>
          <a:prstGeom prst="rect">
            <a:avLst/>
          </a:prstGeom>
        </p:spPr>
        <p:txBody>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marL="742950" lvl="4" indent="-285750" defTabSz="0">
              <a:lnSpc>
                <a:spcPct val="200000"/>
              </a:lnSpc>
              <a:spcBef>
                <a:spcPct val="0"/>
              </a:spcBef>
              <a:buFont typeface="Arial" panose="020B0604020202020204" pitchFamily="34" charset="0"/>
              <a:buChar char="•"/>
            </a:pPr>
            <a:r>
              <a:rPr lang="en-US" altLang="zh-CN" b="0" spc="300" dirty="0">
                <a:latin typeface="微软雅黑" panose="020B0503020204020204" pitchFamily="34" charset="-122"/>
                <a:ea typeface="微软雅黑" panose="020B0503020204020204" pitchFamily="34" charset="-122"/>
                <a:sym typeface="Arial" panose="020B0604020202020204" pitchFamily="34" charset="0"/>
              </a:rPr>
              <a:t>E</a:t>
            </a:r>
            <a:r>
              <a:rPr lang="zh-CN" altLang="en-US" b="0" spc="300" dirty="0">
                <a:latin typeface="微软雅黑" panose="020B0503020204020204" pitchFamily="34" charset="-122"/>
                <a:ea typeface="微软雅黑" panose="020B0503020204020204" pitchFamily="34" charset="-122"/>
                <a:sym typeface="Arial" panose="020B0604020202020204" pitchFamily="34" charset="0"/>
              </a:rPr>
              <a:t>越大</a:t>
            </a:r>
            <a:r>
              <a:rPr lang="en-US" altLang="zh-CN" b="0" spc="300" dirty="0">
                <a:latin typeface="微软雅黑" panose="020B0503020204020204" pitchFamily="34" charset="-122"/>
                <a:ea typeface="微软雅黑" panose="020B0503020204020204" pitchFamily="34" charset="-122"/>
                <a:sym typeface="Wingdings" panose="05000000000000000000" pitchFamily="2" charset="2"/>
              </a:rPr>
              <a:t></a:t>
            </a:r>
            <a:r>
              <a:rPr lang="zh-CN" altLang="en-US" b="0" spc="300" dirty="0">
                <a:latin typeface="微软雅黑" panose="020B0503020204020204" pitchFamily="34" charset="-122"/>
                <a:ea typeface="微软雅黑" panose="020B0503020204020204" pitchFamily="34" charset="-122"/>
                <a:sym typeface="Wingdings" panose="05000000000000000000" pitchFamily="2" charset="2"/>
              </a:rPr>
              <a:t>弹性绝对值越大，消费者对价格敏感</a:t>
            </a:r>
            <a:r>
              <a:rPr lang="en-US" altLang="zh-CN" b="0" spc="300" dirty="0">
                <a:latin typeface="微软雅黑" panose="020B0503020204020204" pitchFamily="34" charset="-122"/>
                <a:ea typeface="微软雅黑" panose="020B0503020204020204" pitchFamily="34" charset="-122"/>
                <a:sym typeface="Wingdings" panose="05000000000000000000" pitchFamily="2" charset="2"/>
              </a:rPr>
              <a:t></a:t>
            </a:r>
            <a:r>
              <a:rPr lang="zh-CN" altLang="en-US" b="0" spc="300" dirty="0">
                <a:latin typeface="微软雅黑" panose="020B0503020204020204" pitchFamily="34" charset="-122"/>
                <a:ea typeface="微软雅黑" panose="020B0503020204020204" pitchFamily="34" charset="-122"/>
                <a:sym typeface="Wingdings" panose="05000000000000000000" pitchFamily="2" charset="2"/>
              </a:rPr>
              <a:t>厂商市场势力越小</a:t>
            </a:r>
            <a:endParaRPr lang="en-US" altLang="zh-CN" b="0" spc="300" dirty="0">
              <a:latin typeface="微软雅黑" panose="020B0503020204020204" pitchFamily="34" charset="-122"/>
              <a:ea typeface="微软雅黑" panose="020B0503020204020204" pitchFamily="34" charset="-122"/>
              <a:sym typeface="Wingdings" panose="05000000000000000000" pitchFamily="2" charset="2"/>
            </a:endParaRPr>
          </a:p>
          <a:p>
            <a:pPr marL="742950" lvl="4" indent="-285750" defTabSz="0">
              <a:lnSpc>
                <a:spcPct val="200000"/>
              </a:lnSpc>
              <a:spcBef>
                <a:spcPct val="0"/>
              </a:spcBef>
              <a:buFont typeface="Arial" panose="020B0604020202020204" pitchFamily="34" charset="0"/>
              <a:buChar char="•"/>
            </a:pPr>
            <a:r>
              <a:rPr lang="en-US" altLang="zh-CN" b="0" spc="300" dirty="0">
                <a:latin typeface="微软雅黑" panose="020B0503020204020204" pitchFamily="34" charset="-122"/>
                <a:ea typeface="微软雅黑" panose="020B0503020204020204" pitchFamily="34" charset="-122"/>
              </a:rPr>
              <a:t>E</a:t>
            </a:r>
            <a:r>
              <a:rPr lang="zh-CN" altLang="en-US" b="0" spc="300" dirty="0">
                <a:latin typeface="微软雅黑" panose="020B0503020204020204" pitchFamily="34" charset="-122"/>
                <a:ea typeface="微软雅黑" panose="020B0503020204020204" pitchFamily="34" charset="-122"/>
              </a:rPr>
              <a:t>越小</a:t>
            </a:r>
            <a:r>
              <a:rPr lang="en-US" altLang="zh-CN" b="0" spc="300" dirty="0">
                <a:latin typeface="微软雅黑" panose="020B0503020204020204" pitchFamily="34" charset="-122"/>
                <a:ea typeface="微软雅黑" panose="020B0503020204020204" pitchFamily="34" charset="-122"/>
                <a:sym typeface="Wingdings" panose="05000000000000000000" pitchFamily="2" charset="2"/>
              </a:rPr>
              <a:t></a:t>
            </a:r>
            <a:r>
              <a:rPr lang="zh-CN" altLang="en-US" b="0" spc="300" dirty="0">
                <a:latin typeface="微软雅黑" panose="020B0503020204020204" pitchFamily="34" charset="-122"/>
                <a:ea typeface="微软雅黑" panose="020B0503020204020204" pitchFamily="34" charset="-122"/>
                <a:sym typeface="Wingdings" panose="05000000000000000000" pitchFamily="2" charset="2"/>
              </a:rPr>
              <a:t>弹性绝对值越小，消费者对价格不敏感</a:t>
            </a:r>
            <a:r>
              <a:rPr lang="en-US" altLang="zh-CN" b="0" spc="300" dirty="0">
                <a:latin typeface="微软雅黑" panose="020B0503020204020204" pitchFamily="34" charset="-122"/>
                <a:ea typeface="微软雅黑" panose="020B0503020204020204" pitchFamily="34" charset="-122"/>
                <a:sym typeface="Wingdings" panose="05000000000000000000" pitchFamily="2" charset="2"/>
              </a:rPr>
              <a:t></a:t>
            </a:r>
            <a:r>
              <a:rPr lang="zh-CN" altLang="en-US" b="0" spc="300" dirty="0">
                <a:latin typeface="微软雅黑" panose="020B0503020204020204" pitchFamily="34" charset="-122"/>
                <a:ea typeface="微软雅黑" panose="020B0503020204020204" pitchFamily="34" charset="-122"/>
                <a:sym typeface="Wingdings" panose="05000000000000000000" pitchFamily="2" charset="2"/>
              </a:rPr>
              <a:t>厂商市场势力越大</a:t>
            </a:r>
            <a:endParaRPr lang="en-US" altLang="zh-CN" b="0" spc="300"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2" name="矩形 1"/>
              <p:cNvSpPr/>
              <p:nvPr/>
            </p:nvSpPr>
            <p:spPr>
              <a:xfrm>
                <a:off x="3059895" y="1340855"/>
                <a:ext cx="1635383" cy="67056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altLang="zh-CN" sz="2000" i="1">
                              <a:latin typeface="Cambria Math" panose="02040503050406030204" pitchFamily="18" charset="0"/>
                            </a:rPr>
                          </m:ctrlPr>
                        </m:fPr>
                        <m:num>
                          <m:r>
                            <a:rPr lang="en-US" altLang="zh-CN" sz="2000" i="1">
                              <a:latin typeface="Cambria Math" panose="02040503050406030204" pitchFamily="18" charset="0"/>
                            </a:rPr>
                            <m:t>𝑷</m:t>
                          </m:r>
                          <m:r>
                            <a:rPr lang="en-US" altLang="zh-CN" sz="2000" i="1">
                              <a:latin typeface="Cambria Math" panose="02040503050406030204" pitchFamily="18" charset="0"/>
                              <a:ea typeface="Cambria Math" panose="02040503050406030204" pitchFamily="18" charset="0"/>
                            </a:rPr>
                            <m:t>−</m:t>
                          </m:r>
                          <m:r>
                            <a:rPr lang="en-US" altLang="zh-CN" sz="2000" i="1">
                              <a:latin typeface="Cambria Math" panose="02040503050406030204" pitchFamily="18" charset="0"/>
                              <a:ea typeface="Cambria Math" panose="02040503050406030204" pitchFamily="18" charset="0"/>
                            </a:rPr>
                            <m:t>𝑴𝑪</m:t>
                          </m:r>
                        </m:num>
                        <m:den>
                          <m:r>
                            <a:rPr lang="en-US" altLang="zh-CN" sz="2000" i="1">
                              <a:latin typeface="Cambria Math" panose="02040503050406030204" pitchFamily="18" charset="0"/>
                            </a:rPr>
                            <m:t>𝑴𝑪</m:t>
                          </m:r>
                        </m:den>
                      </m:f>
                      <m:r>
                        <a:rPr lang="en-US" altLang="zh-CN" sz="2000" i="1">
                          <a:latin typeface="Cambria Math" panose="02040503050406030204" pitchFamily="18" charset="0"/>
                          <a:ea typeface="Cambria Math" panose="02040503050406030204" pitchFamily="18" charset="0"/>
                        </a:rPr>
                        <m:t>=</m:t>
                      </m:r>
                      <m:f>
                        <m:fPr>
                          <m:ctrlPr>
                            <a:rPr lang="en-US" altLang="zh-CN" sz="2000" i="1">
                              <a:latin typeface="Cambria Math" panose="02040503050406030204" pitchFamily="18" charset="0"/>
                              <a:ea typeface="Cambria Math" panose="02040503050406030204" pitchFamily="18" charset="0"/>
                            </a:rPr>
                          </m:ctrlPr>
                        </m:fPr>
                        <m:num>
                          <m:r>
                            <a:rPr lang="en-US" altLang="zh-CN" sz="2000" i="1">
                              <a:latin typeface="Cambria Math" panose="02040503050406030204" pitchFamily="18" charset="0"/>
                              <a:ea typeface="Cambria Math" panose="02040503050406030204" pitchFamily="18" charset="0"/>
                            </a:rPr>
                            <m:t>𝟏</m:t>
                          </m:r>
                        </m:num>
                        <m:den>
                          <m:r>
                            <a:rPr lang="en-US" altLang="zh-CN" sz="2000" i="1">
                              <a:latin typeface="Cambria Math" panose="02040503050406030204" pitchFamily="18" charset="0"/>
                              <a:ea typeface="Cambria Math" panose="02040503050406030204" pitchFamily="18" charset="0"/>
                            </a:rPr>
                            <m:t>𝑬</m:t>
                          </m:r>
                        </m:den>
                      </m:f>
                    </m:oMath>
                  </m:oMathPara>
                </a14:m>
                <a:endParaRPr lang="zh-CN" altLang="en-US" sz="2000" dirty="0"/>
              </a:p>
            </p:txBody>
          </p:sp>
        </mc:Choice>
        <mc:Fallback xmlns="">
          <p:sp>
            <p:nvSpPr>
              <p:cNvPr id="2" name="矩形 1"/>
              <p:cNvSpPr>
                <a:spLocks noRot="1" noChangeAspect="1" noMove="1" noResize="1" noEditPoints="1" noAdjustHandles="1" noChangeArrowheads="1" noChangeShapeType="1" noTextEdit="1"/>
              </p:cNvSpPr>
              <p:nvPr/>
            </p:nvSpPr>
            <p:spPr>
              <a:xfrm>
                <a:off x="3059895" y="1340855"/>
                <a:ext cx="1635383" cy="670568"/>
              </a:xfrm>
              <a:prstGeom prst="rect">
                <a:avLst/>
              </a:prstGeom>
              <a:blipFill>
                <a:blip r:embed="rId2"/>
                <a:stretch>
                  <a:fillRect/>
                </a:stretch>
              </a:blipFill>
            </p:spPr>
            <p:txBody>
              <a:bodyPr/>
              <a:lstStyle/>
              <a:p>
                <a:r>
                  <a:rPr lang="zh-CN" altLang="en-US">
                    <a:noFill/>
                  </a:rPr>
                  <a:t> </a:t>
                </a:r>
              </a:p>
            </p:txBody>
          </p:sp>
        </mc:Fallback>
      </mc:AlternateContent>
      <p:sp>
        <p:nvSpPr>
          <p:cNvPr id="3" name="矩形 2"/>
          <p:cNvSpPr/>
          <p:nvPr/>
        </p:nvSpPr>
        <p:spPr>
          <a:xfrm>
            <a:off x="7505410" y="35458"/>
            <a:ext cx="1638590" cy="369332"/>
          </a:xfrm>
          <a:prstGeom prst="rect">
            <a:avLst/>
          </a:prstGeom>
        </p:spPr>
        <p:txBody>
          <a:bodyPr wrap="none">
            <a:spAutoFit/>
          </a:bodyPr>
          <a:lstStyle/>
          <a:p>
            <a:pPr algn="dist"/>
            <a:r>
              <a:rPr lang="zh-CN" altLang="en-US" sz="1800" b="0" spc="30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第一节 垄断</a:t>
            </a:r>
            <a:endParaRPr lang="zh-CN" altLang="en-US" sz="1800" b="0" spc="300" dirty="0">
              <a:solidFill>
                <a:schemeClr val="tx2"/>
              </a:solidFill>
              <a:ea typeface="黑体" panose="02010609060101010101" pitchFamily="49" charset="-122"/>
              <a:sym typeface="Arial" panose="020B0604020202020204" pitchFamily="34" charset="0"/>
            </a:endParaRPr>
          </a:p>
        </p:txBody>
      </p:sp>
      <p:sp>
        <p:nvSpPr>
          <p:cNvPr id="5" name="矩形 4">
            <a:extLst>
              <a:ext uri="{FF2B5EF4-FFF2-40B4-BE49-F238E27FC236}">
                <a16:creationId xmlns:a16="http://schemas.microsoft.com/office/drawing/2014/main" id="{F68E5273-CD77-47B9-B841-9D29349C133D}"/>
              </a:ext>
            </a:extLst>
          </p:cNvPr>
          <p:cNvSpPr/>
          <p:nvPr/>
        </p:nvSpPr>
        <p:spPr>
          <a:xfrm>
            <a:off x="467544" y="548680"/>
            <a:ext cx="2146742"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spc="150" dirty="0">
                <a:solidFill>
                  <a:srgbClr val="FFFFFF"/>
                </a:solidFill>
                <a:latin typeface="微软雅黑" panose="020B0503020204020204" pitchFamily="34" charset="-122"/>
                <a:ea typeface="微软雅黑" panose="020B0503020204020204" pitchFamily="34" charset="-122"/>
              </a:rPr>
              <a:t>五</a:t>
            </a:r>
            <a:r>
              <a:rPr lang="zh-CN" altLang="en-US" sz="2400" b="1" spc="150" dirty="0">
                <a:solidFill>
                  <a:srgbClr val="FFFFFF"/>
                </a:solidFill>
                <a:latin typeface="微软雅黑" panose="020B0503020204020204" pitchFamily="34" charset="-122"/>
                <a:ea typeface="微软雅黑" panose="020B0503020204020204" pitchFamily="34" charset="-122"/>
              </a:rPr>
              <a:t>、</a:t>
            </a:r>
            <a:r>
              <a:rPr lang="zh-CN" altLang="en-US" sz="2400" spc="15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价格歧视</a:t>
            </a:r>
            <a:endParaRPr lang="zh-CN" altLang="en-US" sz="2400" b="1" spc="150" dirty="0">
              <a:solidFill>
                <a:srgbClr val="FFFFFF"/>
              </a:solidFill>
              <a:latin typeface="微软雅黑" panose="020B0503020204020204" pitchFamily="34" charset="-122"/>
              <a:ea typeface="微软雅黑" panose="020B0503020204020204" pitchFamily="34" charset="-122"/>
            </a:endParaRPr>
          </a:p>
        </p:txBody>
      </p:sp>
      <p:pic>
        <p:nvPicPr>
          <p:cNvPr id="6" name="图片 5">
            <a:extLst>
              <a:ext uri="{FF2B5EF4-FFF2-40B4-BE49-F238E27FC236}">
                <a16:creationId xmlns:a16="http://schemas.microsoft.com/office/drawing/2014/main" id="{73DCE1FC-60C5-49F5-96AC-C22CA24BB95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84105" y="4118983"/>
            <a:ext cx="1659233" cy="1838350"/>
          </a:xfrm>
          <a:prstGeom prst="rect">
            <a:avLst/>
          </a:prstGeom>
        </p:spPr>
      </p:pic>
    </p:spTree>
    <p:extLst>
      <p:ext uri="{BB962C8B-B14F-4D97-AF65-F5344CB8AC3E}">
        <p14:creationId xmlns:p14="http://schemas.microsoft.com/office/powerpoint/2010/main" val="3177002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0"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500"/>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8">
                                            <p:txEl>
                                              <p:pRg st="0" end="0"/>
                                            </p:txEl>
                                          </p:spTgt>
                                        </p:tgtEl>
                                        <p:attrNameLst>
                                          <p:attrName>style.visibility</p:attrName>
                                        </p:attrNameLst>
                                      </p:cBhvr>
                                      <p:to>
                                        <p:strVal val="visible"/>
                                      </p:to>
                                    </p:set>
                                    <p:animEffect transition="in" filter="fade">
                                      <p:cBhvr>
                                        <p:cTn id="14" dur="500"/>
                                        <p:tgtEl>
                                          <p:spTgt spid="8">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8">
                                            <p:txEl>
                                              <p:pRg st="1" end="1"/>
                                            </p:txEl>
                                          </p:spTgt>
                                        </p:tgtEl>
                                        <p:attrNameLst>
                                          <p:attrName>style.visibility</p:attrName>
                                        </p:attrNameLst>
                                      </p:cBhvr>
                                      <p:to>
                                        <p:strVal val="visible"/>
                                      </p:to>
                                    </p:set>
                                    <p:animEffect transition="in" filter="fade">
                                      <p:cBhvr>
                                        <p:cTn id="19" dur="500"/>
                                        <p:tgtEl>
                                          <p:spTgt spid="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99C28F72-7279-4E37-B95D-7F7C4C08FC3C}" type="slidenum">
              <a:rPr lang="zh-CN" altLang="en-US"/>
              <a:pPr/>
              <a:t>33</a:t>
            </a:fld>
            <a:endParaRPr lang="en-US" altLang="zh-CN" sz="1800" b="1"/>
          </a:p>
        </p:txBody>
      </p:sp>
      <p:sp>
        <p:nvSpPr>
          <p:cNvPr id="28674" name="Rectangle 3"/>
          <p:cNvSpPr>
            <a:spLocks noGrp="1" noChangeArrowheads="1"/>
          </p:cNvSpPr>
          <p:nvPr>
            <p:ph type="body" idx="1"/>
          </p:nvPr>
        </p:nvSpPr>
        <p:spPr>
          <a:xfrm>
            <a:off x="1759990" y="541609"/>
            <a:ext cx="5986930" cy="863240"/>
          </a:xfrm>
          <a:ln/>
        </p:spPr>
        <p:txBody>
          <a:bodyPr/>
          <a:lstStyle/>
          <a:p>
            <a:pPr marL="342900" indent="-342900">
              <a:spcBef>
                <a:spcPct val="0"/>
              </a:spcBef>
              <a:buFont typeface="Arial" panose="020B0604020202020204" pitchFamily="34" charset="0"/>
            </a:pPr>
            <a:r>
              <a:rPr lang="zh-CN" altLang="en-US" sz="3600" dirty="0">
                <a:solidFill>
                  <a:schemeClr val="tx1"/>
                </a:solidFill>
                <a:latin typeface="微软雅黑" panose="020B0503020204020204" pitchFamily="34" charset="-122"/>
                <a:ea typeface="微软雅黑" panose="020B0503020204020204" pitchFamily="34" charset="-122"/>
                <a:cs typeface="+mj-cs"/>
              </a:rPr>
              <a:t>第二节  </a:t>
            </a:r>
            <a:r>
              <a:rPr lang="en-US" altLang="zh-CN" sz="3600" dirty="0">
                <a:solidFill>
                  <a:schemeClr val="tx1"/>
                </a:solidFill>
                <a:latin typeface="微软雅黑" panose="020B0503020204020204" pitchFamily="34" charset="-122"/>
                <a:ea typeface="微软雅黑" panose="020B0503020204020204" pitchFamily="34" charset="-122"/>
                <a:cs typeface="+mj-cs"/>
              </a:rPr>
              <a:t>	</a:t>
            </a:r>
            <a:r>
              <a:rPr lang="zh-CN" altLang="en-US" sz="3600" dirty="0">
                <a:solidFill>
                  <a:schemeClr val="tx1"/>
                </a:solidFill>
                <a:latin typeface="微软雅黑" panose="020B0503020204020204" pitchFamily="34" charset="-122"/>
                <a:ea typeface="微软雅黑" panose="020B0503020204020204" pitchFamily="34" charset="-122"/>
                <a:cs typeface="+mj-cs"/>
              </a:rPr>
              <a:t>垄断竞争</a:t>
            </a:r>
          </a:p>
          <a:p>
            <a:pPr marL="742950" lvl="1" indent="-285750" algn="l" eaLnBrk="1" hangingPunct="1">
              <a:buFontTx/>
              <a:buChar char="–"/>
            </a:pPr>
            <a:endParaRPr lang="zh-CN" altLang="en-US" sz="2800" dirty="0"/>
          </a:p>
        </p:txBody>
      </p:sp>
      <p:sp>
        <p:nvSpPr>
          <p:cNvPr id="7" name="MH_SubTitle_1">
            <a:extLst>
              <a:ext uri="{FF2B5EF4-FFF2-40B4-BE49-F238E27FC236}">
                <a16:creationId xmlns:a16="http://schemas.microsoft.com/office/drawing/2014/main" id="{B811FBAD-AB8E-4852-A8D0-5E64CAD5E915}"/>
              </a:ext>
            </a:extLst>
          </p:cNvPr>
          <p:cNvSpPr>
            <a:spLocks noChangeArrowheads="1"/>
          </p:cNvSpPr>
          <p:nvPr>
            <p:custDataLst>
              <p:tags r:id="rId1"/>
            </p:custDataLst>
          </p:nvPr>
        </p:nvSpPr>
        <p:spPr bwMode="gray">
          <a:xfrm>
            <a:off x="1763688" y="1658669"/>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一</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cxnSp>
        <p:nvCxnSpPr>
          <p:cNvPr id="8" name="MH_Other_5">
            <a:extLst>
              <a:ext uri="{FF2B5EF4-FFF2-40B4-BE49-F238E27FC236}">
                <a16:creationId xmlns:a16="http://schemas.microsoft.com/office/drawing/2014/main" id="{25D06B7F-7DCD-4D03-A450-0AAC55A41525}"/>
              </a:ext>
            </a:extLst>
          </p:cNvPr>
          <p:cNvCxnSpPr/>
          <p:nvPr>
            <p:custDataLst>
              <p:tags r:id="rId2"/>
            </p:custDataLst>
          </p:nvPr>
        </p:nvCxnSpPr>
        <p:spPr>
          <a:xfrm>
            <a:off x="2343126" y="2014269"/>
            <a:ext cx="0" cy="528637"/>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sp>
        <p:nvSpPr>
          <p:cNvPr id="9" name="MH_SubTitle_2">
            <a:extLst>
              <a:ext uri="{FF2B5EF4-FFF2-40B4-BE49-F238E27FC236}">
                <a16:creationId xmlns:a16="http://schemas.microsoft.com/office/drawing/2014/main" id="{324FEB12-6B52-4D2F-B5C9-D9A603800236}"/>
              </a:ext>
            </a:extLst>
          </p:cNvPr>
          <p:cNvSpPr>
            <a:spLocks noChangeArrowheads="1"/>
          </p:cNvSpPr>
          <p:nvPr>
            <p:custDataLst>
              <p:tags r:id="rId3"/>
            </p:custDataLst>
          </p:nvPr>
        </p:nvSpPr>
        <p:spPr bwMode="gray">
          <a:xfrm>
            <a:off x="1763688" y="2542906"/>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二</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cxnSp>
        <p:nvCxnSpPr>
          <p:cNvPr id="10" name="MH_Other_6">
            <a:extLst>
              <a:ext uri="{FF2B5EF4-FFF2-40B4-BE49-F238E27FC236}">
                <a16:creationId xmlns:a16="http://schemas.microsoft.com/office/drawing/2014/main" id="{B30D78AD-B3DA-44A6-A5F6-F28D02655A40}"/>
              </a:ext>
            </a:extLst>
          </p:cNvPr>
          <p:cNvCxnSpPr/>
          <p:nvPr>
            <p:custDataLst>
              <p:tags r:id="rId4"/>
            </p:custDataLst>
          </p:nvPr>
        </p:nvCxnSpPr>
        <p:spPr>
          <a:xfrm>
            <a:off x="2343126" y="2898506"/>
            <a:ext cx="0" cy="528638"/>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sp>
        <p:nvSpPr>
          <p:cNvPr id="11" name="MH_SubTitle_3">
            <a:extLst>
              <a:ext uri="{FF2B5EF4-FFF2-40B4-BE49-F238E27FC236}">
                <a16:creationId xmlns:a16="http://schemas.microsoft.com/office/drawing/2014/main" id="{3FEC77B5-DB98-453D-BDBC-6598DEA48C49}"/>
              </a:ext>
            </a:extLst>
          </p:cNvPr>
          <p:cNvSpPr>
            <a:spLocks noChangeArrowheads="1"/>
          </p:cNvSpPr>
          <p:nvPr>
            <p:custDataLst>
              <p:tags r:id="rId5"/>
            </p:custDataLst>
          </p:nvPr>
        </p:nvSpPr>
        <p:spPr bwMode="gray">
          <a:xfrm>
            <a:off x="1763688" y="3427144"/>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三</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cxnSp>
        <p:nvCxnSpPr>
          <p:cNvPr id="12" name="MH_Other_7">
            <a:extLst>
              <a:ext uri="{FF2B5EF4-FFF2-40B4-BE49-F238E27FC236}">
                <a16:creationId xmlns:a16="http://schemas.microsoft.com/office/drawing/2014/main" id="{DF653FE5-3B26-45B8-A03B-DDBD47BE3AA3}"/>
              </a:ext>
            </a:extLst>
          </p:cNvPr>
          <p:cNvCxnSpPr/>
          <p:nvPr>
            <p:custDataLst>
              <p:tags r:id="rId6"/>
            </p:custDataLst>
          </p:nvPr>
        </p:nvCxnSpPr>
        <p:spPr>
          <a:xfrm>
            <a:off x="2343126" y="3782744"/>
            <a:ext cx="0" cy="530225"/>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sp>
        <p:nvSpPr>
          <p:cNvPr id="13" name="MH_SubTitle_4">
            <a:extLst>
              <a:ext uri="{FF2B5EF4-FFF2-40B4-BE49-F238E27FC236}">
                <a16:creationId xmlns:a16="http://schemas.microsoft.com/office/drawing/2014/main" id="{906C2589-D3EE-4ADE-A5EC-65B915A21062}"/>
              </a:ext>
            </a:extLst>
          </p:cNvPr>
          <p:cNvSpPr>
            <a:spLocks noChangeArrowheads="1"/>
          </p:cNvSpPr>
          <p:nvPr>
            <p:custDataLst>
              <p:tags r:id="rId7"/>
            </p:custDataLst>
          </p:nvPr>
        </p:nvSpPr>
        <p:spPr bwMode="gray">
          <a:xfrm>
            <a:off x="1763688" y="4312969"/>
            <a:ext cx="1158875" cy="354012"/>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四</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sp>
        <p:nvSpPr>
          <p:cNvPr id="14" name="文本框 13"/>
          <p:cNvSpPr txBox="1"/>
          <p:nvPr/>
        </p:nvSpPr>
        <p:spPr>
          <a:xfrm>
            <a:off x="2955601" y="1548728"/>
            <a:ext cx="2800767" cy="461665"/>
          </a:xfrm>
          <a:prstGeom prst="rect">
            <a:avLst/>
          </a:prstGeom>
          <a:noFill/>
        </p:spPr>
        <p:txBody>
          <a:bodyPr wrap="none" rtlCol="0">
            <a:spAutoFit/>
          </a:bodyPr>
          <a:lstStyle/>
          <a:p>
            <a:pPr marL="742950" lvl="1" indent="-285750" eaLnBrk="1" hangingPunct="1"/>
            <a:r>
              <a:rPr lang="zh-CN" altLang="en-US" sz="2400" b="0" dirty="0">
                <a:latin typeface="微软雅黑" panose="020B0503020204020204" pitchFamily="34" charset="-122"/>
                <a:ea typeface="微软雅黑" panose="020B0503020204020204" pitchFamily="34" charset="-122"/>
              </a:rPr>
              <a:t>垄断竞争的特点</a:t>
            </a:r>
          </a:p>
        </p:txBody>
      </p:sp>
      <p:sp>
        <p:nvSpPr>
          <p:cNvPr id="16" name="文本框 15"/>
          <p:cNvSpPr txBox="1"/>
          <p:nvPr/>
        </p:nvSpPr>
        <p:spPr>
          <a:xfrm>
            <a:off x="3419920" y="2397243"/>
            <a:ext cx="5109091" cy="461665"/>
          </a:xfrm>
          <a:prstGeom prst="rect">
            <a:avLst/>
          </a:prstGeom>
          <a:noFill/>
        </p:spPr>
        <p:txBody>
          <a:bodyPr wrap="none" rtlCol="0">
            <a:spAutoFit/>
          </a:bodyPr>
          <a:lstStyle/>
          <a:p>
            <a:pPr marL="0" lvl="1"/>
            <a:r>
              <a:rPr lang="zh-CN" altLang="en-US" sz="2400" b="0" dirty="0">
                <a:latin typeface="微软雅黑" panose="020B0503020204020204" pitchFamily="34" charset="-122"/>
                <a:ea typeface="微软雅黑" panose="020B0503020204020204" pitchFamily="34" charset="-122"/>
              </a:rPr>
              <a:t>垄断竞争企业的需求曲线和收益曲线</a:t>
            </a:r>
          </a:p>
        </p:txBody>
      </p:sp>
      <p:sp>
        <p:nvSpPr>
          <p:cNvPr id="17" name="文本框 16"/>
          <p:cNvSpPr txBox="1"/>
          <p:nvPr/>
        </p:nvSpPr>
        <p:spPr>
          <a:xfrm>
            <a:off x="3419920" y="3321079"/>
            <a:ext cx="3570208" cy="461665"/>
          </a:xfrm>
          <a:prstGeom prst="rect">
            <a:avLst/>
          </a:prstGeom>
          <a:noFill/>
        </p:spPr>
        <p:txBody>
          <a:bodyPr wrap="none" rtlCol="0">
            <a:spAutoFit/>
          </a:bodyPr>
          <a:lstStyle/>
          <a:p>
            <a:pPr marL="0" lvl="1"/>
            <a:r>
              <a:rPr lang="zh-CN" altLang="en-US" sz="2400" b="0" dirty="0">
                <a:latin typeface="微软雅黑" panose="020B0503020204020204" pitchFamily="34" charset="-122"/>
                <a:ea typeface="微软雅黑" panose="020B0503020204020204" pitchFamily="34" charset="-122"/>
              </a:rPr>
              <a:t>垄断竞争企业的短期均衡</a:t>
            </a:r>
            <a:endParaRPr lang="en-US" altLang="zh-CN" sz="2400" b="0" dirty="0">
              <a:latin typeface="微软雅黑" panose="020B0503020204020204" pitchFamily="34" charset="-122"/>
              <a:ea typeface="微软雅黑" panose="020B0503020204020204" pitchFamily="34" charset="-122"/>
            </a:endParaRPr>
          </a:p>
        </p:txBody>
      </p:sp>
      <p:sp>
        <p:nvSpPr>
          <p:cNvPr id="18" name="文本框 17"/>
          <p:cNvSpPr txBox="1"/>
          <p:nvPr/>
        </p:nvSpPr>
        <p:spPr>
          <a:xfrm>
            <a:off x="3419920" y="4242041"/>
            <a:ext cx="3570208" cy="461665"/>
          </a:xfrm>
          <a:prstGeom prst="rect">
            <a:avLst/>
          </a:prstGeom>
          <a:noFill/>
        </p:spPr>
        <p:txBody>
          <a:bodyPr wrap="none" rtlCol="0">
            <a:spAutoFit/>
          </a:bodyPr>
          <a:lstStyle/>
          <a:p>
            <a:pPr marL="0" lvl="1"/>
            <a:r>
              <a:rPr lang="zh-CN" altLang="en-US" sz="2400" b="0" dirty="0">
                <a:latin typeface="微软雅黑" panose="020B0503020204020204" pitchFamily="34" charset="-122"/>
                <a:ea typeface="微软雅黑" panose="020B0503020204020204" pitchFamily="34" charset="-122"/>
              </a:rPr>
              <a:t>垄断竞争企业的长期均衡</a:t>
            </a:r>
            <a:endParaRPr lang="zh-CN" altLang="en-US" sz="3200" dirty="0"/>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withEffect">
                                  <p:stCondLst>
                                    <p:cond delay="0"/>
                                  </p:stCondLst>
                                  <p:childTnLst>
                                    <p:set>
                                      <p:cBhvr>
                                        <p:cTn id="6" dur="1" fill="hold">
                                          <p:stCondLst>
                                            <p:cond delay="0"/>
                                          </p:stCondLst>
                                        </p:cTn>
                                        <p:tgtEl>
                                          <p:spTgt spid="28674">
                                            <p:txEl>
                                              <p:pRg st="0" end="0"/>
                                            </p:txEl>
                                          </p:spTgt>
                                        </p:tgtEl>
                                        <p:attrNameLst>
                                          <p:attrName>style.visibility</p:attrName>
                                        </p:attrNameLst>
                                      </p:cBhvr>
                                      <p:to>
                                        <p:strVal val="visible"/>
                                      </p:to>
                                    </p:set>
                                    <p:anim calcmode="lin" valueType="num">
                                      <p:cBhvr>
                                        <p:cTn id="7" dur="500" fill="hold"/>
                                        <p:tgtEl>
                                          <p:spTgt spid="28674">
                                            <p:txEl>
                                              <p:pRg st="0" end="0"/>
                                            </p:txEl>
                                          </p:spTgt>
                                        </p:tgtEl>
                                        <p:attrNameLst>
                                          <p:attrName>ppt_x</p:attrName>
                                        </p:attrNameLst>
                                      </p:cBhvr>
                                      <p:tavLst>
                                        <p:tav tm="0">
                                          <p:val>
                                            <p:strVal val="0-#ppt_w/2"/>
                                          </p:val>
                                        </p:tav>
                                        <p:tav tm="100000">
                                          <p:val>
                                            <p:strVal val="#ppt_x"/>
                                          </p:val>
                                        </p:tav>
                                      </p:tavLst>
                                    </p:anim>
                                    <p:anim calcmode="lin" valueType="num">
                                      <p:cBhvr>
                                        <p:cTn id="8" dur="500" fill="hold"/>
                                        <p:tgtEl>
                                          <p:spTgt spid="28674">
                                            <p:txEl>
                                              <p:pRg st="0" end="0"/>
                                            </p:txEl>
                                          </p:spTgt>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500"/>
                                        <p:tgtEl>
                                          <p:spTgt spid="7"/>
                                        </p:tgtEl>
                                      </p:cBhvr>
                                    </p:animEffect>
                                  </p:childTnLst>
                                </p:cTn>
                              </p:par>
                              <p:par>
                                <p:cTn id="12" presetID="22" presetClass="entr" presetSubtype="4" fill="hold" grpId="0" nodeType="with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wipe(down)">
                                      <p:cBhvr>
                                        <p:cTn id="14" dur="500"/>
                                        <p:tgtEl>
                                          <p:spTgt spid="14"/>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up)">
                                      <p:cBhvr>
                                        <p:cTn id="19" dur="500"/>
                                        <p:tgtEl>
                                          <p:spTgt spid="8"/>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ipe(down)">
                                      <p:cBhvr>
                                        <p:cTn id="22" dur="500"/>
                                        <p:tgtEl>
                                          <p:spTgt spid="16"/>
                                        </p:tgtEl>
                                      </p:cBhvr>
                                    </p:animEffect>
                                  </p:childTnLst>
                                </p:cTn>
                              </p:par>
                              <p:par>
                                <p:cTn id="23" presetID="22" presetClass="entr" presetSubtype="1"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up)">
                                      <p:cBhvr>
                                        <p:cTn id="25" dur="500"/>
                                        <p:tgtEl>
                                          <p:spTgt spid="9"/>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wipe(up)">
                                      <p:cBhvr>
                                        <p:cTn id="30" dur="500"/>
                                        <p:tgtEl>
                                          <p:spTgt spid="10"/>
                                        </p:tgtEl>
                                      </p:cBhvr>
                                    </p:animEffect>
                                  </p:childTnLst>
                                </p:cTn>
                              </p:par>
                              <p:par>
                                <p:cTn id="31" presetID="22" presetClass="entr" presetSubtype="1"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wipe(up)">
                                      <p:cBhvr>
                                        <p:cTn id="33" dur="500"/>
                                        <p:tgtEl>
                                          <p:spTgt spid="11"/>
                                        </p:tgtEl>
                                      </p:cBhvr>
                                    </p:animEffect>
                                  </p:childTnLst>
                                </p:cTn>
                              </p:par>
                              <p:par>
                                <p:cTn id="34" presetID="22" presetClass="entr" presetSubtype="4" fill="hold" grpId="0"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wipe(down)">
                                      <p:cBhvr>
                                        <p:cTn id="36" dur="500"/>
                                        <p:tgtEl>
                                          <p:spTgt spid="17"/>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nodeType="click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wipe(up)">
                                      <p:cBhvr>
                                        <p:cTn id="41" dur="500"/>
                                        <p:tgtEl>
                                          <p:spTgt spid="12"/>
                                        </p:tgtEl>
                                      </p:cBhvr>
                                    </p:animEffect>
                                  </p:childTnLst>
                                </p:cTn>
                              </p:par>
                              <p:par>
                                <p:cTn id="42" presetID="22" presetClass="entr" presetSubtype="1" fill="hold" grpId="0" nodeType="with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wipe(up)">
                                      <p:cBhvr>
                                        <p:cTn id="44" dur="500"/>
                                        <p:tgtEl>
                                          <p:spTgt spid="13"/>
                                        </p:tgtEl>
                                      </p:cBhvr>
                                    </p:animEffect>
                                  </p:childTnLst>
                                </p:cTn>
                              </p:par>
                              <p:par>
                                <p:cTn id="45" presetID="22" presetClass="entr" presetSubtype="4"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down)">
                                      <p:cBhvr>
                                        <p:cTn id="4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1" grpId="0" animBg="1"/>
      <p:bldP spid="13" grpId="0" animBg="1"/>
      <p:bldP spid="14" grpId="0"/>
      <p:bldP spid="16" grpId="0"/>
      <p:bldP spid="17" grpId="0"/>
      <p:bldP spid="1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3"/>
          <p:cNvSpPr>
            <a:spLocks noGrp="1" noChangeArrowheads="1"/>
          </p:cNvSpPr>
          <p:nvPr>
            <p:ph type="body" idx="4294967295"/>
          </p:nvPr>
        </p:nvSpPr>
        <p:spPr>
          <a:xfrm>
            <a:off x="467544" y="1010345"/>
            <a:ext cx="8978739" cy="5254195"/>
          </a:xfrm>
          <a:ln/>
        </p:spPr>
        <p:txBody>
          <a:bodyPr/>
          <a:lstStyle/>
          <a:p>
            <a:pPr marL="457200" lvl="2" indent="-457200" eaLnBrk="1" hangingPunct="1">
              <a:lnSpc>
                <a:spcPct val="150000"/>
              </a:lnSpc>
              <a:buSzPct val="100000"/>
              <a:buFont typeface="Wingdings" panose="05000000000000000000" pitchFamily="2" charset="2"/>
              <a:buChar char="u"/>
            </a:pPr>
            <a:r>
              <a:rPr lang="zh-CN" altLang="en-US" sz="2200" b="0" dirty="0">
                <a:latin typeface="微软雅黑" panose="020B0503020204020204" pitchFamily="34" charset="-122"/>
                <a:ea typeface="微软雅黑" panose="020B0503020204020204" pitchFamily="34" charset="-122"/>
              </a:rPr>
              <a:t>特点</a:t>
            </a:r>
            <a:endParaRPr lang="en-US" altLang="zh-CN" sz="2200" b="0" dirty="0">
              <a:latin typeface="微软雅黑" panose="020B0503020204020204" pitchFamily="34" charset="-122"/>
              <a:ea typeface="微软雅黑" panose="020B0503020204020204" pitchFamily="34" charset="-122"/>
            </a:endParaRPr>
          </a:p>
          <a:p>
            <a:pPr marL="742950" lvl="2" indent="-342900" eaLnBrk="1" hangingPunct="1">
              <a:lnSpc>
                <a:spcPct val="150000"/>
              </a:lnSpc>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rPr>
              <a:t>每个企业在整个市场中所占份额都微不足道</a:t>
            </a:r>
            <a:endParaRPr lang="en-US" altLang="zh-CN" sz="2000" b="0" dirty="0">
              <a:latin typeface="微软雅黑" panose="020B0503020204020204" pitchFamily="34" charset="-122"/>
              <a:ea typeface="微软雅黑" panose="020B0503020204020204" pitchFamily="34" charset="-122"/>
            </a:endParaRPr>
          </a:p>
          <a:p>
            <a:pPr marL="742950" lvl="2" indent="-342900" eaLnBrk="1" hangingPunct="1">
              <a:lnSpc>
                <a:spcPct val="150000"/>
              </a:lnSpc>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rPr>
              <a:t>生产的是“差异产品”</a:t>
            </a:r>
          </a:p>
          <a:p>
            <a:pPr marL="457200" lvl="2" indent="-457200" eaLnBrk="1" hangingPunct="1">
              <a:lnSpc>
                <a:spcPct val="150000"/>
              </a:lnSpc>
              <a:buSzPct val="100000"/>
              <a:buFont typeface="Wingdings" panose="05000000000000000000" pitchFamily="2" charset="2"/>
              <a:buChar char="u"/>
            </a:pPr>
            <a:r>
              <a:rPr lang="zh-CN" altLang="en-US" sz="2200" b="0" dirty="0">
                <a:latin typeface="微软雅黑" panose="020B0503020204020204" pitchFamily="34" charset="-122"/>
                <a:ea typeface="微软雅黑" panose="020B0503020204020204" pitchFamily="34" charset="-122"/>
              </a:rPr>
              <a:t>与完全竞争的区别</a:t>
            </a:r>
            <a:endParaRPr lang="en-US" altLang="zh-CN" sz="2200" b="0" dirty="0">
              <a:latin typeface="微软雅黑" panose="020B0503020204020204" pitchFamily="34" charset="-122"/>
              <a:ea typeface="微软雅黑" panose="020B0503020204020204" pitchFamily="34" charset="-122"/>
            </a:endParaRPr>
          </a:p>
          <a:p>
            <a:pPr marL="742950" lvl="2" indent="-342900" eaLnBrk="1" hangingPunct="1">
              <a:lnSpc>
                <a:spcPct val="150000"/>
              </a:lnSpc>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rPr>
              <a:t>完全竞争企业改变产量的行为不影响价格</a:t>
            </a:r>
            <a:endParaRPr lang="en-US" altLang="zh-CN" sz="2000" b="0" dirty="0">
              <a:latin typeface="微软雅黑" panose="020B0503020204020204" pitchFamily="34" charset="-122"/>
              <a:ea typeface="微软雅黑" panose="020B0503020204020204" pitchFamily="34" charset="-122"/>
            </a:endParaRPr>
          </a:p>
          <a:p>
            <a:pPr marL="742950" lvl="2" indent="-342900" eaLnBrk="1" hangingPunct="1">
              <a:lnSpc>
                <a:spcPct val="150000"/>
              </a:lnSpc>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rPr>
              <a:t>垄断竞争企业改变产量的行为却会对价格产生一定的影响。</a:t>
            </a:r>
            <a:endParaRPr lang="en-US" altLang="zh-CN" sz="2000" b="0" dirty="0">
              <a:latin typeface="微软雅黑" panose="020B0503020204020204" pitchFamily="34" charset="-122"/>
              <a:ea typeface="微软雅黑" panose="020B0503020204020204" pitchFamily="34" charset="-122"/>
            </a:endParaRPr>
          </a:p>
          <a:p>
            <a:pPr marL="457200" lvl="2" indent="-457200" eaLnBrk="1" hangingPunct="1">
              <a:lnSpc>
                <a:spcPct val="150000"/>
              </a:lnSpc>
              <a:buSzPct val="100000"/>
              <a:buFont typeface="Wingdings" panose="05000000000000000000" pitchFamily="2" charset="2"/>
              <a:buChar char="u"/>
            </a:pPr>
            <a:r>
              <a:rPr lang="zh-CN" altLang="en-US" sz="2200" b="0" dirty="0">
                <a:latin typeface="微软雅黑" panose="020B0503020204020204" pitchFamily="34" charset="-122"/>
                <a:ea typeface="微软雅黑" panose="020B0503020204020204" pitchFamily="34" charset="-122"/>
              </a:rPr>
              <a:t>与垄断的区别</a:t>
            </a:r>
            <a:endParaRPr lang="en-US" altLang="zh-CN" sz="2200" b="0" dirty="0">
              <a:latin typeface="微软雅黑" panose="020B0503020204020204" pitchFamily="34" charset="-122"/>
              <a:ea typeface="微软雅黑" panose="020B0503020204020204" pitchFamily="34" charset="-122"/>
            </a:endParaRPr>
          </a:p>
          <a:p>
            <a:pPr marL="742950" lvl="2" indent="-342900" eaLnBrk="1" hangingPunct="1">
              <a:lnSpc>
                <a:spcPct val="150000"/>
              </a:lnSpc>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rPr>
              <a:t>尽管垄断竞争企业生产的是差异产品</a:t>
            </a:r>
            <a:r>
              <a:rPr lang="en-US" altLang="zh-CN" sz="2000" b="0" dirty="0">
                <a:latin typeface="微软雅黑" panose="020B0503020204020204" pitchFamily="34" charset="-122"/>
                <a:ea typeface="微软雅黑" panose="020B0503020204020204" pitchFamily="34" charset="-122"/>
              </a:rPr>
              <a:t>, </a:t>
            </a:r>
            <a:r>
              <a:rPr lang="zh-CN" altLang="en-US" sz="2000" b="0" dirty="0">
                <a:latin typeface="微软雅黑" panose="020B0503020204020204" pitchFamily="34" charset="-122"/>
                <a:ea typeface="微软雅黑" panose="020B0503020204020204" pitchFamily="34" charset="-122"/>
              </a:rPr>
              <a:t>但它却并不是真正的垄断者。</a:t>
            </a:r>
          </a:p>
          <a:p>
            <a:pPr marL="457200" lvl="2" indent="-457200" eaLnBrk="1" hangingPunct="1">
              <a:lnSpc>
                <a:spcPct val="150000"/>
              </a:lnSpc>
              <a:buSzPct val="100000"/>
              <a:buFont typeface="Wingdings" panose="05000000000000000000" pitchFamily="2" charset="2"/>
              <a:buChar char="u"/>
            </a:pPr>
            <a:r>
              <a:rPr lang="zh-CN" altLang="en-US" sz="2200" b="0" dirty="0">
                <a:latin typeface="微软雅黑" panose="020B0503020204020204" pitchFamily="34" charset="-122"/>
                <a:ea typeface="微软雅黑" panose="020B0503020204020204" pitchFamily="34" charset="-122"/>
              </a:rPr>
              <a:t>例如：餐馆、书店等</a:t>
            </a:r>
          </a:p>
        </p:txBody>
      </p:sp>
      <p:sp>
        <p:nvSpPr>
          <p:cNvPr id="29699" name="标题 1"/>
          <p:cNvSpPr>
            <a:spLocks noChangeArrowheads="1"/>
          </p:cNvSpPr>
          <p:nvPr/>
        </p:nvSpPr>
        <p:spPr bwMode="auto">
          <a:xfrm>
            <a:off x="7236185" y="44765"/>
            <a:ext cx="1944135" cy="3599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1800" b="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第二节  垄断竞争</a:t>
            </a:r>
            <a:endParaRPr lang="zh-CN" altLang="en-US" sz="1800" b="0" dirty="0">
              <a:solidFill>
                <a:schemeClr val="tx2"/>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4" name="矩形 3">
            <a:extLst>
              <a:ext uri="{FF2B5EF4-FFF2-40B4-BE49-F238E27FC236}">
                <a16:creationId xmlns:a16="http://schemas.microsoft.com/office/drawing/2014/main" id="{F68E5273-CD77-47B9-B841-9D29349C133D}"/>
              </a:ext>
            </a:extLst>
          </p:cNvPr>
          <p:cNvSpPr/>
          <p:nvPr/>
        </p:nvSpPr>
        <p:spPr>
          <a:xfrm>
            <a:off x="467544" y="548680"/>
            <a:ext cx="3127779"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spc="150" dirty="0">
                <a:solidFill>
                  <a:srgbClr val="FFFFFF"/>
                </a:solidFill>
                <a:latin typeface="微软雅黑" panose="020B0503020204020204" pitchFamily="34" charset="-122"/>
                <a:ea typeface="微软雅黑" panose="020B0503020204020204" pitchFamily="34" charset="-122"/>
              </a:rPr>
              <a:t>一</a:t>
            </a:r>
            <a:r>
              <a:rPr lang="zh-CN" altLang="en-US" sz="2400" b="1" spc="150" dirty="0">
                <a:solidFill>
                  <a:srgbClr val="FFFFFF"/>
                </a:solidFill>
                <a:latin typeface="微软雅黑" panose="020B0503020204020204" pitchFamily="34" charset="-122"/>
                <a:ea typeface="微软雅黑" panose="020B0503020204020204" pitchFamily="34" charset="-122"/>
              </a:rPr>
              <a:t>、</a:t>
            </a:r>
            <a:r>
              <a:rPr lang="zh-CN" altLang="en-US" sz="2400" spc="15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垄断竞争的特点</a:t>
            </a:r>
            <a:endParaRPr lang="zh-CN" altLang="en-US" sz="2400" b="1" spc="150" dirty="0">
              <a:solidFill>
                <a:srgbClr val="FFFFFF"/>
              </a:solidFill>
              <a:latin typeface="微软雅黑" panose="020B0503020204020204" pitchFamily="34" charset="-122"/>
              <a:ea typeface="微软雅黑" panose="020B0503020204020204" pitchFamily="34"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9698">
                                            <p:txEl>
                                              <p:pRg st="0" end="0"/>
                                            </p:txEl>
                                          </p:spTgt>
                                        </p:tgtEl>
                                        <p:attrNameLst>
                                          <p:attrName>style.visibility</p:attrName>
                                        </p:attrNameLst>
                                      </p:cBhvr>
                                      <p:to>
                                        <p:strVal val="visible"/>
                                      </p:to>
                                    </p:set>
                                    <p:animEffect>
                                      <p:cBhvr>
                                        <p:cTn id="7" dur="500"/>
                                        <p:tgtEl>
                                          <p:spTgt spid="29698">
                                            <p:txEl>
                                              <p:pRg st="0" end="0"/>
                                            </p:txEl>
                                          </p:spTgt>
                                        </p:tgtEl>
                                      </p:cBhvr>
                                    </p:animEffect>
                                  </p:childTnLst>
                                </p:cTn>
                              </p:par>
                            </p:childTnLst>
                          </p:cTn>
                        </p:par>
                      </p:childTnLst>
                    </p:cTn>
                  </p:par>
                  <p:par>
                    <p:cTn id="8" fill="hold">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9698">
                                            <p:txEl>
                                              <p:pRg st="1" end="1"/>
                                            </p:txEl>
                                          </p:spTgt>
                                        </p:tgtEl>
                                        <p:attrNameLst>
                                          <p:attrName>style.visibility</p:attrName>
                                        </p:attrNameLst>
                                      </p:cBhvr>
                                      <p:to>
                                        <p:strVal val="visible"/>
                                      </p:to>
                                    </p:set>
                                    <p:animEffect>
                                      <p:cBhvr>
                                        <p:cTn id="12" dur="500"/>
                                        <p:tgtEl>
                                          <p:spTgt spid="2969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9698">
                                            <p:txEl>
                                              <p:pRg st="2" end="2"/>
                                            </p:txEl>
                                          </p:spTgt>
                                        </p:tgtEl>
                                        <p:attrNameLst>
                                          <p:attrName>style.visibility</p:attrName>
                                        </p:attrNameLst>
                                      </p:cBhvr>
                                      <p:to>
                                        <p:strVal val="visible"/>
                                      </p:to>
                                    </p:set>
                                    <p:animEffect>
                                      <p:cBhvr>
                                        <p:cTn id="17" dur="500"/>
                                        <p:tgtEl>
                                          <p:spTgt spid="29698">
                                            <p:txEl>
                                              <p:pRg st="2" end="2"/>
                                            </p:txEl>
                                          </p:spTgt>
                                        </p:tgtEl>
                                      </p:cBhvr>
                                    </p:animEffect>
                                  </p:childTnLst>
                                </p:cTn>
                              </p:par>
                            </p:childTnLst>
                          </p:cTn>
                        </p:par>
                      </p:childTnLst>
                    </p:cTn>
                  </p:par>
                  <p:par>
                    <p:cTn id="18" fill="hold">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9698">
                                            <p:txEl>
                                              <p:pRg st="3" end="3"/>
                                            </p:txEl>
                                          </p:spTgt>
                                        </p:tgtEl>
                                        <p:attrNameLst>
                                          <p:attrName>style.visibility</p:attrName>
                                        </p:attrNameLst>
                                      </p:cBhvr>
                                      <p:to>
                                        <p:strVal val="visible"/>
                                      </p:to>
                                    </p:set>
                                    <p:animEffect>
                                      <p:cBhvr>
                                        <p:cTn id="22" dur="500"/>
                                        <p:tgtEl>
                                          <p:spTgt spid="29698">
                                            <p:txEl>
                                              <p:pRg st="3" end="3"/>
                                            </p:txEl>
                                          </p:spTgt>
                                        </p:tgtEl>
                                      </p:cBhvr>
                                    </p:animEffect>
                                  </p:childTnLst>
                                </p:cTn>
                              </p:par>
                            </p:childTnLst>
                          </p:cTn>
                        </p:par>
                      </p:childTnLst>
                    </p:cTn>
                  </p:par>
                  <p:par>
                    <p:cTn id="23" fill="hold">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29698">
                                            <p:txEl>
                                              <p:pRg st="4" end="4"/>
                                            </p:txEl>
                                          </p:spTgt>
                                        </p:tgtEl>
                                        <p:attrNameLst>
                                          <p:attrName>style.visibility</p:attrName>
                                        </p:attrNameLst>
                                      </p:cBhvr>
                                      <p:to>
                                        <p:strVal val="visible"/>
                                      </p:to>
                                    </p:set>
                                    <p:animEffect>
                                      <p:cBhvr>
                                        <p:cTn id="27" dur="500"/>
                                        <p:tgtEl>
                                          <p:spTgt spid="29698">
                                            <p:txEl>
                                              <p:pRg st="4" end="4"/>
                                            </p:txEl>
                                          </p:spTgt>
                                        </p:tgtEl>
                                      </p:cBhvr>
                                    </p:animEffect>
                                  </p:childTnLst>
                                </p:cTn>
                              </p:par>
                            </p:childTnLst>
                          </p:cTn>
                        </p:par>
                      </p:childTnLst>
                    </p:cTn>
                  </p:par>
                  <p:par>
                    <p:cTn id="28" fill="hold">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29698">
                                            <p:txEl>
                                              <p:pRg st="5" end="5"/>
                                            </p:txEl>
                                          </p:spTgt>
                                        </p:tgtEl>
                                        <p:attrNameLst>
                                          <p:attrName>style.visibility</p:attrName>
                                        </p:attrNameLst>
                                      </p:cBhvr>
                                      <p:to>
                                        <p:strVal val="visible"/>
                                      </p:to>
                                    </p:set>
                                    <p:animEffect>
                                      <p:cBhvr>
                                        <p:cTn id="32" dur="500"/>
                                        <p:tgtEl>
                                          <p:spTgt spid="2969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29698">
                                            <p:txEl>
                                              <p:pRg st="6" end="6"/>
                                            </p:txEl>
                                          </p:spTgt>
                                        </p:tgtEl>
                                        <p:attrNameLst>
                                          <p:attrName>style.visibility</p:attrName>
                                        </p:attrNameLst>
                                      </p:cBhvr>
                                      <p:to>
                                        <p:strVal val="visible"/>
                                      </p:to>
                                    </p:set>
                                    <p:animEffect>
                                      <p:cBhvr>
                                        <p:cTn id="37" dur="500"/>
                                        <p:tgtEl>
                                          <p:spTgt spid="29698">
                                            <p:txEl>
                                              <p:pRg st="6" end="6"/>
                                            </p:txEl>
                                          </p:spTgt>
                                        </p:tgtEl>
                                      </p:cBhvr>
                                    </p:animEffect>
                                  </p:childTnLst>
                                </p:cTn>
                              </p:par>
                            </p:childTnLst>
                          </p:cTn>
                        </p:par>
                      </p:childTnLst>
                    </p:cTn>
                  </p:par>
                  <p:par>
                    <p:cTn id="38" fill="hold">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29698">
                                            <p:txEl>
                                              <p:pRg st="7" end="7"/>
                                            </p:txEl>
                                          </p:spTgt>
                                        </p:tgtEl>
                                        <p:attrNameLst>
                                          <p:attrName>style.visibility</p:attrName>
                                        </p:attrNameLst>
                                      </p:cBhvr>
                                      <p:to>
                                        <p:strVal val="visible"/>
                                      </p:to>
                                    </p:set>
                                    <p:animEffect>
                                      <p:cBhvr>
                                        <p:cTn id="42" dur="500"/>
                                        <p:tgtEl>
                                          <p:spTgt spid="29698">
                                            <p:txEl>
                                              <p:pRg st="7" end="7"/>
                                            </p:txEl>
                                          </p:spTgt>
                                        </p:tgtEl>
                                      </p:cBhvr>
                                    </p:animEffect>
                                  </p:childTnLst>
                                </p:cTn>
                              </p:par>
                            </p:childTnLst>
                          </p:cTn>
                        </p:par>
                      </p:childTnLst>
                    </p:cTn>
                  </p:par>
                  <p:par>
                    <p:cTn id="43" fill="hold">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29698">
                                            <p:txEl>
                                              <p:pRg st="8" end="8"/>
                                            </p:txEl>
                                          </p:spTgt>
                                        </p:tgtEl>
                                        <p:attrNameLst>
                                          <p:attrName>style.visibility</p:attrName>
                                        </p:attrNameLst>
                                      </p:cBhvr>
                                      <p:to>
                                        <p:strVal val="visible"/>
                                      </p:to>
                                    </p:set>
                                    <p:animEffect>
                                      <p:cBhvr>
                                        <p:cTn id="47" dur="500"/>
                                        <p:tgtEl>
                                          <p:spTgt spid="29698">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3" name="圆角矩形标注 33"/>
          <p:cNvSpPr>
            <a:spLocks noChangeArrowheads="1"/>
          </p:cNvSpPr>
          <p:nvPr/>
        </p:nvSpPr>
        <p:spPr bwMode="auto">
          <a:xfrm>
            <a:off x="6429375" y="3143250"/>
            <a:ext cx="2286000" cy="647700"/>
          </a:xfrm>
          <a:prstGeom prst="wedgeRoundRectCallout">
            <a:avLst>
              <a:gd name="adj1" fmla="val 8516"/>
              <a:gd name="adj2" fmla="val 140283"/>
              <a:gd name="adj3" fmla="val 16667"/>
            </a:avLst>
          </a:prstGeom>
          <a:solidFill>
            <a:schemeClr val="bg1"/>
          </a:solidFill>
          <a:ln>
            <a:solidFill>
              <a:srgbClr val="C00000"/>
            </a:solidFill>
          </a:ln>
        </p:spPr>
        <p:style>
          <a:lnRef idx="3">
            <a:schemeClr val="lt1"/>
          </a:lnRef>
          <a:fillRef idx="1">
            <a:schemeClr val="accent1"/>
          </a:fillRef>
          <a:effectRef idx="1">
            <a:schemeClr val="accent1"/>
          </a:effectRef>
          <a:fontRef idx="minor">
            <a:schemeClr val="lt1"/>
          </a:fontRef>
        </p:style>
        <p:txBody>
          <a:bodyPr>
            <a:spAutoFit/>
          </a:bodyPr>
          <a:lstStyle/>
          <a:p>
            <a:pPr algn="just"/>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dd`</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代表垄断竞争企业面临的需求曲线</a:t>
            </a:r>
            <a:endParaRPr lang="zh-CN" altLang="en-US" b="0" dirty="0">
              <a:solidFill>
                <a:schemeClr val="tx1"/>
              </a:solidFill>
              <a:latin typeface="微软雅黑" panose="020B0503020204020204" pitchFamily="34" charset="-122"/>
              <a:ea typeface="微软雅黑" panose="020B0503020204020204" pitchFamily="34" charset="-122"/>
            </a:endParaRPr>
          </a:p>
        </p:txBody>
      </p:sp>
      <p:sp>
        <p:nvSpPr>
          <p:cNvPr id="30722" name="Rectangle 3"/>
          <p:cNvSpPr>
            <a:spLocks noGrp="1" noChangeArrowheads="1"/>
          </p:cNvSpPr>
          <p:nvPr>
            <p:ph type="body" idx="4294967295"/>
          </p:nvPr>
        </p:nvSpPr>
        <p:spPr>
          <a:xfrm>
            <a:off x="457200" y="1341438"/>
            <a:ext cx="6037627" cy="4784725"/>
          </a:xfrm>
          <a:ln/>
        </p:spPr>
        <p:txBody>
          <a:bodyPr/>
          <a:lstStyle/>
          <a:p>
            <a:pPr marL="457200" lvl="2" indent="-457200" eaLnBrk="1" hangingPunct="1">
              <a:lnSpc>
                <a:spcPct val="150000"/>
              </a:lnSpc>
              <a:buSzPct val="100000"/>
              <a:buFont typeface="Wingdings" panose="05000000000000000000" pitchFamily="2" charset="2"/>
              <a:buChar char="u"/>
            </a:pPr>
            <a:r>
              <a:rPr lang="zh-CN" altLang="en-US" sz="2200" b="0" dirty="0">
                <a:latin typeface="微软雅黑" panose="020B0503020204020204" pitchFamily="34" charset="-122"/>
                <a:ea typeface="微软雅黑" panose="020B0503020204020204" pitchFamily="34" charset="-122"/>
              </a:rPr>
              <a:t>需求曲线</a:t>
            </a:r>
            <a:endParaRPr lang="en-US" altLang="zh-CN" sz="2200" b="0" dirty="0">
              <a:latin typeface="微软雅黑" panose="020B0503020204020204" pitchFamily="34" charset="-122"/>
              <a:ea typeface="微软雅黑" panose="020B0503020204020204" pitchFamily="34" charset="-122"/>
            </a:endParaRPr>
          </a:p>
          <a:p>
            <a:pPr marL="742950" lvl="2" indent="-342900" eaLnBrk="1" hangingPunct="1">
              <a:lnSpc>
                <a:spcPct val="150000"/>
              </a:lnSpc>
              <a:buFont typeface="Arial" panose="020B0604020202020204" pitchFamily="34" charset="0"/>
              <a:buChar char="•"/>
            </a:pPr>
            <a:r>
              <a:rPr lang="zh-CN" altLang="en-US" sz="2000" b="0" dirty="0">
                <a:latin typeface="微软雅黑" panose="020B0503020204020204" pitchFamily="34" charset="-122"/>
                <a:ea typeface="微软雅黑" panose="020B0503020204020204" pitchFamily="34" charset="-122"/>
              </a:rPr>
              <a:t>需求曲线</a:t>
            </a:r>
            <a:r>
              <a:rPr lang="en-US" altLang="zh-CN" sz="2000" b="0" dirty="0" err="1">
                <a:latin typeface="微软雅黑" panose="020B0503020204020204" pitchFamily="34" charset="-122"/>
                <a:ea typeface="微软雅黑" panose="020B0503020204020204" pitchFamily="34" charset="-122"/>
              </a:rPr>
              <a:t>dd</a:t>
            </a:r>
            <a:r>
              <a:rPr lang="en-US" altLang="zh-CN" sz="2000" b="0" dirty="0">
                <a:latin typeface="微软雅黑" panose="020B0503020204020204" pitchFamily="34" charset="-122"/>
                <a:ea typeface="微软雅黑" panose="020B0503020204020204" pitchFamily="34" charset="-122"/>
              </a:rPr>
              <a:t>'</a:t>
            </a:r>
            <a:endParaRPr lang="zh-CN" altLang="en-US" sz="2000" b="0" dirty="0">
              <a:latin typeface="微软雅黑" panose="020B0503020204020204" pitchFamily="34" charset="-122"/>
              <a:ea typeface="微软雅黑" panose="020B0503020204020204" pitchFamily="34" charset="-122"/>
            </a:endParaRPr>
          </a:p>
        </p:txBody>
      </p:sp>
      <p:sp>
        <p:nvSpPr>
          <p:cNvPr id="30723" name="Line 4"/>
          <p:cNvSpPr>
            <a:spLocks noChangeShapeType="1"/>
          </p:cNvSpPr>
          <p:nvPr/>
        </p:nvSpPr>
        <p:spPr bwMode="auto">
          <a:xfrm flipV="1">
            <a:off x="4429125" y="2565400"/>
            <a:ext cx="0" cy="3095625"/>
          </a:xfrm>
          <a:prstGeom prst="line">
            <a:avLst/>
          </a:prstGeom>
          <a:noFill/>
          <a:ln w="9525" cmpd="sng">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0724" name="Line 5"/>
          <p:cNvSpPr>
            <a:spLocks noChangeShapeType="1"/>
          </p:cNvSpPr>
          <p:nvPr/>
        </p:nvSpPr>
        <p:spPr bwMode="auto">
          <a:xfrm>
            <a:off x="4429125" y="5661025"/>
            <a:ext cx="4032250" cy="1588"/>
          </a:xfrm>
          <a:prstGeom prst="line">
            <a:avLst/>
          </a:prstGeom>
          <a:noFill/>
          <a:ln w="9525" cmpd="sng">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0725" name="Text Box 6"/>
          <p:cNvSpPr>
            <a:spLocks noChangeArrowheads="1"/>
          </p:cNvSpPr>
          <p:nvPr/>
        </p:nvSpPr>
        <p:spPr bwMode="auto">
          <a:xfrm>
            <a:off x="4140200" y="2493963"/>
            <a:ext cx="400050"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P</a:t>
            </a:r>
            <a:endParaRPr lang="zh-CN" altLang="en-US"/>
          </a:p>
        </p:txBody>
      </p:sp>
      <p:sp>
        <p:nvSpPr>
          <p:cNvPr id="30726" name="Text Box 7"/>
          <p:cNvSpPr>
            <a:spLocks noChangeArrowheads="1"/>
          </p:cNvSpPr>
          <p:nvPr/>
        </p:nvSpPr>
        <p:spPr bwMode="auto">
          <a:xfrm>
            <a:off x="4184650" y="5584825"/>
            <a:ext cx="31115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O</a:t>
            </a:r>
            <a:endParaRPr lang="zh-CN" altLang="en-US"/>
          </a:p>
        </p:txBody>
      </p:sp>
      <p:sp>
        <p:nvSpPr>
          <p:cNvPr id="30727" name="Text Box 8"/>
          <p:cNvSpPr>
            <a:spLocks noChangeArrowheads="1"/>
          </p:cNvSpPr>
          <p:nvPr/>
        </p:nvSpPr>
        <p:spPr bwMode="auto">
          <a:xfrm>
            <a:off x="8366125" y="5662613"/>
            <a:ext cx="311150"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Q</a:t>
            </a:r>
            <a:endParaRPr lang="zh-CN" altLang="en-US"/>
          </a:p>
        </p:txBody>
      </p:sp>
      <p:sp>
        <p:nvSpPr>
          <p:cNvPr id="30728" name="Line 9"/>
          <p:cNvSpPr>
            <a:spLocks noChangeShapeType="1"/>
          </p:cNvSpPr>
          <p:nvPr/>
        </p:nvSpPr>
        <p:spPr bwMode="auto">
          <a:xfrm>
            <a:off x="4429125" y="4005263"/>
            <a:ext cx="3384550" cy="1587"/>
          </a:xfrm>
          <a:prstGeom prst="line">
            <a:avLst/>
          </a:prstGeom>
          <a:noFill/>
          <a:ln w="28575" cmpd="sng">
            <a:solidFill>
              <a:srgbClr val="0070C0"/>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0729" name="Text Box 10"/>
          <p:cNvSpPr>
            <a:spLocks noChangeArrowheads="1"/>
          </p:cNvSpPr>
          <p:nvPr/>
        </p:nvSpPr>
        <p:spPr bwMode="auto">
          <a:xfrm>
            <a:off x="7813675" y="3860800"/>
            <a:ext cx="8826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P</a:t>
            </a:r>
            <a:r>
              <a:rPr lang="zh-CN" altLang="en-US" sz="1000">
                <a:solidFill>
                  <a:srgbClr val="000000"/>
                </a:solidFill>
                <a:sym typeface="Arial" panose="020B0604020202020204" pitchFamily="34" charset="0"/>
              </a:rPr>
              <a:t>0</a:t>
            </a:r>
            <a:r>
              <a:rPr lang="zh-CN" altLang="en-US">
                <a:solidFill>
                  <a:srgbClr val="000000"/>
                </a:solidFill>
                <a:sym typeface="Arial" panose="020B0604020202020204" pitchFamily="34" charset="0"/>
              </a:rPr>
              <a:t>(Q)</a:t>
            </a:r>
            <a:endParaRPr lang="zh-CN" altLang="en-US"/>
          </a:p>
        </p:txBody>
      </p:sp>
      <p:sp>
        <p:nvSpPr>
          <p:cNvPr id="30730" name="Line 11"/>
          <p:cNvSpPr>
            <a:spLocks noChangeShapeType="1"/>
          </p:cNvSpPr>
          <p:nvPr/>
        </p:nvSpPr>
        <p:spPr bwMode="auto">
          <a:xfrm>
            <a:off x="5003370" y="2781300"/>
            <a:ext cx="2736850" cy="2592388"/>
          </a:xfrm>
          <a:prstGeom prst="line">
            <a:avLst/>
          </a:prstGeom>
          <a:noFill/>
          <a:ln w="28575" cmpd="sng">
            <a:solidFill>
              <a:srgbClr val="0070C0"/>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0731" name="Text Box 12"/>
          <p:cNvSpPr>
            <a:spLocks noChangeArrowheads="1"/>
          </p:cNvSpPr>
          <p:nvPr/>
        </p:nvSpPr>
        <p:spPr bwMode="auto">
          <a:xfrm>
            <a:off x="7597775" y="5229225"/>
            <a:ext cx="7381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P</a:t>
            </a:r>
            <a:r>
              <a:rPr lang="zh-CN" altLang="en-US" sz="1000">
                <a:solidFill>
                  <a:srgbClr val="000000"/>
                </a:solidFill>
                <a:sym typeface="Arial" panose="020B0604020202020204" pitchFamily="34" charset="0"/>
              </a:rPr>
              <a:t>1</a:t>
            </a:r>
            <a:r>
              <a:rPr lang="zh-CN" altLang="en-US">
                <a:solidFill>
                  <a:srgbClr val="000000"/>
                </a:solidFill>
                <a:sym typeface="Arial" panose="020B0604020202020204" pitchFamily="34" charset="0"/>
              </a:rPr>
              <a:t>(Q)</a:t>
            </a:r>
            <a:endParaRPr lang="zh-CN" altLang="en-US"/>
          </a:p>
        </p:txBody>
      </p:sp>
      <p:sp>
        <p:nvSpPr>
          <p:cNvPr id="30732" name="Line 13"/>
          <p:cNvSpPr>
            <a:spLocks noChangeShapeType="1"/>
          </p:cNvSpPr>
          <p:nvPr/>
        </p:nvSpPr>
        <p:spPr bwMode="auto">
          <a:xfrm>
            <a:off x="4932363" y="3573463"/>
            <a:ext cx="2592387" cy="863600"/>
          </a:xfrm>
          <a:prstGeom prst="line">
            <a:avLst/>
          </a:prstGeom>
          <a:noFill/>
          <a:ln w="28575" cmpd="sng">
            <a:solidFill>
              <a:srgbClr val="0070C0"/>
            </a:solidFill>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0733" name="Text Box 14"/>
          <p:cNvSpPr>
            <a:spLocks noChangeArrowheads="1"/>
          </p:cNvSpPr>
          <p:nvPr/>
        </p:nvSpPr>
        <p:spPr bwMode="auto">
          <a:xfrm>
            <a:off x="7524750" y="4294188"/>
            <a:ext cx="650875"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dd'</a:t>
            </a:r>
            <a:endParaRPr lang="zh-CN" altLang="en-US"/>
          </a:p>
        </p:txBody>
      </p:sp>
      <p:sp>
        <p:nvSpPr>
          <p:cNvPr id="30734" name="Text Box 15"/>
          <p:cNvSpPr>
            <a:spLocks noChangeArrowheads="1"/>
          </p:cNvSpPr>
          <p:nvPr/>
        </p:nvSpPr>
        <p:spPr bwMode="auto">
          <a:xfrm>
            <a:off x="6156325" y="3717925"/>
            <a:ext cx="32702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A</a:t>
            </a:r>
            <a:endParaRPr lang="zh-CN" altLang="en-US"/>
          </a:p>
        </p:txBody>
      </p:sp>
      <p:sp>
        <p:nvSpPr>
          <p:cNvPr id="30735" name="Text Box 16"/>
          <p:cNvSpPr>
            <a:spLocks noChangeArrowheads="1"/>
          </p:cNvSpPr>
          <p:nvPr/>
        </p:nvSpPr>
        <p:spPr bwMode="auto">
          <a:xfrm>
            <a:off x="4068763" y="3789363"/>
            <a:ext cx="471487"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P</a:t>
            </a:r>
            <a:r>
              <a:rPr lang="zh-CN" altLang="en-US" sz="1000">
                <a:solidFill>
                  <a:srgbClr val="000000"/>
                </a:solidFill>
                <a:sym typeface="Arial" panose="020B0604020202020204" pitchFamily="34" charset="0"/>
              </a:rPr>
              <a:t>0</a:t>
            </a:r>
            <a:endParaRPr lang="zh-CN" altLang="en-US"/>
          </a:p>
        </p:txBody>
      </p:sp>
      <p:sp>
        <p:nvSpPr>
          <p:cNvPr id="30736" name="Line 17"/>
          <p:cNvSpPr>
            <a:spLocks noChangeShapeType="1"/>
          </p:cNvSpPr>
          <p:nvPr/>
        </p:nvSpPr>
        <p:spPr bwMode="auto">
          <a:xfrm>
            <a:off x="6229350" y="4005263"/>
            <a:ext cx="0" cy="1655762"/>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0737" name="Text Box 18"/>
          <p:cNvSpPr>
            <a:spLocks noChangeArrowheads="1"/>
          </p:cNvSpPr>
          <p:nvPr/>
        </p:nvSpPr>
        <p:spPr bwMode="auto">
          <a:xfrm>
            <a:off x="6084888" y="5661025"/>
            <a:ext cx="584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Q</a:t>
            </a:r>
            <a:r>
              <a:rPr lang="zh-CN" altLang="en-US" sz="1000">
                <a:solidFill>
                  <a:srgbClr val="000000"/>
                </a:solidFill>
                <a:sym typeface="Arial" panose="020B0604020202020204" pitchFamily="34" charset="0"/>
              </a:rPr>
              <a:t>0</a:t>
            </a:r>
            <a:endParaRPr lang="zh-CN" altLang="en-US"/>
          </a:p>
        </p:txBody>
      </p:sp>
      <p:sp>
        <p:nvSpPr>
          <p:cNvPr id="30738" name="Line 19"/>
          <p:cNvSpPr>
            <a:spLocks noChangeShapeType="1"/>
          </p:cNvSpPr>
          <p:nvPr/>
        </p:nvSpPr>
        <p:spPr bwMode="auto">
          <a:xfrm>
            <a:off x="5435600" y="3213100"/>
            <a:ext cx="1588" cy="2447925"/>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0739" name="Text Box 20"/>
          <p:cNvSpPr>
            <a:spLocks noChangeArrowheads="1"/>
          </p:cNvSpPr>
          <p:nvPr/>
        </p:nvSpPr>
        <p:spPr bwMode="auto">
          <a:xfrm>
            <a:off x="5292725" y="5661025"/>
            <a:ext cx="5381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Q</a:t>
            </a:r>
            <a:r>
              <a:rPr lang="zh-CN" altLang="en-US" sz="1000">
                <a:solidFill>
                  <a:srgbClr val="000000"/>
                </a:solidFill>
                <a:sym typeface="Arial" panose="020B0604020202020204" pitchFamily="34" charset="0"/>
              </a:rPr>
              <a:t>1</a:t>
            </a:r>
            <a:endParaRPr lang="zh-CN" altLang="en-US"/>
          </a:p>
        </p:txBody>
      </p:sp>
      <p:sp>
        <p:nvSpPr>
          <p:cNvPr id="30740" name="Line 21"/>
          <p:cNvSpPr>
            <a:spLocks noChangeShapeType="1"/>
          </p:cNvSpPr>
          <p:nvPr/>
        </p:nvSpPr>
        <p:spPr bwMode="auto">
          <a:xfrm flipH="1">
            <a:off x="4429125" y="3213100"/>
            <a:ext cx="1006475" cy="1588"/>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0741" name="Text Box 22"/>
          <p:cNvSpPr>
            <a:spLocks noChangeArrowheads="1"/>
          </p:cNvSpPr>
          <p:nvPr/>
        </p:nvSpPr>
        <p:spPr bwMode="auto">
          <a:xfrm>
            <a:off x="4068763" y="2997200"/>
            <a:ext cx="54292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P</a:t>
            </a:r>
            <a:r>
              <a:rPr lang="zh-CN" altLang="en-US" sz="1000">
                <a:solidFill>
                  <a:srgbClr val="000000"/>
                </a:solidFill>
                <a:sym typeface="Arial" panose="020B0604020202020204" pitchFamily="34" charset="0"/>
              </a:rPr>
              <a:t>1</a:t>
            </a:r>
            <a:endParaRPr lang="zh-CN" altLang="en-US"/>
          </a:p>
        </p:txBody>
      </p:sp>
      <p:sp>
        <p:nvSpPr>
          <p:cNvPr id="30742" name="Line 23"/>
          <p:cNvSpPr>
            <a:spLocks noChangeShapeType="1"/>
          </p:cNvSpPr>
          <p:nvPr/>
        </p:nvSpPr>
        <p:spPr bwMode="auto">
          <a:xfrm flipH="1">
            <a:off x="4429125" y="3717925"/>
            <a:ext cx="1006475" cy="0"/>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0743" name="Text Box 24"/>
          <p:cNvSpPr>
            <a:spLocks noChangeArrowheads="1"/>
          </p:cNvSpPr>
          <p:nvPr/>
        </p:nvSpPr>
        <p:spPr bwMode="auto">
          <a:xfrm>
            <a:off x="4068763" y="3502025"/>
            <a:ext cx="414337"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P</a:t>
            </a:r>
            <a:r>
              <a:rPr lang="zh-CN" altLang="en-US" sz="1000">
                <a:solidFill>
                  <a:srgbClr val="000000"/>
                </a:solidFill>
                <a:sym typeface="Arial" panose="020B0604020202020204" pitchFamily="34" charset="0"/>
              </a:rPr>
              <a:t>2</a:t>
            </a:r>
            <a:endParaRPr lang="zh-CN" altLang="en-US"/>
          </a:p>
        </p:txBody>
      </p:sp>
      <p:sp>
        <p:nvSpPr>
          <p:cNvPr id="30744" name="Line 25"/>
          <p:cNvSpPr>
            <a:spLocks noChangeShapeType="1"/>
          </p:cNvSpPr>
          <p:nvPr/>
        </p:nvSpPr>
        <p:spPr bwMode="auto">
          <a:xfrm>
            <a:off x="7092950" y="4005263"/>
            <a:ext cx="0" cy="1655762"/>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0745" name="Text Box 26"/>
          <p:cNvSpPr>
            <a:spLocks noChangeArrowheads="1"/>
          </p:cNvSpPr>
          <p:nvPr/>
        </p:nvSpPr>
        <p:spPr bwMode="auto">
          <a:xfrm>
            <a:off x="6948488" y="5661025"/>
            <a:ext cx="51911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Q</a:t>
            </a:r>
            <a:r>
              <a:rPr lang="zh-CN" altLang="en-US" sz="1000">
                <a:solidFill>
                  <a:srgbClr val="000000"/>
                </a:solidFill>
                <a:sym typeface="Arial" panose="020B0604020202020204" pitchFamily="34" charset="0"/>
              </a:rPr>
              <a:t>2</a:t>
            </a:r>
            <a:endParaRPr lang="zh-CN" altLang="en-US"/>
          </a:p>
        </p:txBody>
      </p:sp>
      <p:sp>
        <p:nvSpPr>
          <p:cNvPr id="30746" name="Line 27"/>
          <p:cNvSpPr>
            <a:spLocks noChangeShapeType="1"/>
          </p:cNvSpPr>
          <p:nvPr/>
        </p:nvSpPr>
        <p:spPr bwMode="auto">
          <a:xfrm flipH="1">
            <a:off x="4429125" y="4294188"/>
            <a:ext cx="2663825" cy="1587"/>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0747" name="Line 28"/>
          <p:cNvSpPr>
            <a:spLocks noChangeShapeType="1"/>
          </p:cNvSpPr>
          <p:nvPr/>
        </p:nvSpPr>
        <p:spPr bwMode="auto">
          <a:xfrm flipH="1">
            <a:off x="4429125" y="4797425"/>
            <a:ext cx="2663825" cy="0"/>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0748" name="Text Box 29"/>
          <p:cNvSpPr>
            <a:spLocks noChangeArrowheads="1"/>
          </p:cNvSpPr>
          <p:nvPr/>
        </p:nvSpPr>
        <p:spPr bwMode="auto">
          <a:xfrm>
            <a:off x="5148263" y="3429000"/>
            <a:ext cx="3095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B</a:t>
            </a:r>
            <a:endParaRPr lang="zh-CN" altLang="en-US"/>
          </a:p>
        </p:txBody>
      </p:sp>
      <p:sp>
        <p:nvSpPr>
          <p:cNvPr id="30749" name="Text Box 30"/>
          <p:cNvSpPr>
            <a:spLocks noChangeArrowheads="1"/>
          </p:cNvSpPr>
          <p:nvPr/>
        </p:nvSpPr>
        <p:spPr bwMode="auto">
          <a:xfrm>
            <a:off x="7019925" y="4005263"/>
            <a:ext cx="311150"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C</a:t>
            </a:r>
            <a:endParaRPr lang="zh-CN" altLang="en-US"/>
          </a:p>
        </p:txBody>
      </p:sp>
      <p:sp>
        <p:nvSpPr>
          <p:cNvPr id="30750" name="Text Box 31"/>
          <p:cNvSpPr>
            <a:spLocks noChangeArrowheads="1"/>
          </p:cNvSpPr>
          <p:nvPr/>
        </p:nvSpPr>
        <p:spPr bwMode="auto">
          <a:xfrm>
            <a:off x="4068763" y="4076700"/>
            <a:ext cx="4270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P</a:t>
            </a:r>
            <a:r>
              <a:rPr lang="zh-CN" altLang="en-US" sz="1000">
                <a:solidFill>
                  <a:srgbClr val="000000"/>
                </a:solidFill>
                <a:sym typeface="Arial" panose="020B0604020202020204" pitchFamily="34" charset="0"/>
              </a:rPr>
              <a:t>4</a:t>
            </a:r>
            <a:endParaRPr lang="zh-CN" altLang="en-US"/>
          </a:p>
        </p:txBody>
      </p:sp>
      <p:sp>
        <p:nvSpPr>
          <p:cNvPr id="30751" name="Text Box 32"/>
          <p:cNvSpPr>
            <a:spLocks noChangeArrowheads="1"/>
          </p:cNvSpPr>
          <p:nvPr/>
        </p:nvSpPr>
        <p:spPr bwMode="auto">
          <a:xfrm>
            <a:off x="4068763" y="4654550"/>
            <a:ext cx="601662"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P</a:t>
            </a:r>
            <a:r>
              <a:rPr lang="zh-CN" altLang="en-US" sz="1000">
                <a:solidFill>
                  <a:srgbClr val="000000"/>
                </a:solidFill>
                <a:sym typeface="Arial" panose="020B0604020202020204" pitchFamily="34" charset="0"/>
              </a:rPr>
              <a:t>3</a:t>
            </a:r>
            <a:endParaRPr lang="zh-CN" altLang="en-US"/>
          </a:p>
        </p:txBody>
      </p:sp>
      <p:sp>
        <p:nvSpPr>
          <p:cNvPr id="30752" name="圆角矩形标注 32"/>
          <p:cNvSpPr>
            <a:spLocks noChangeArrowheads="1"/>
          </p:cNvSpPr>
          <p:nvPr/>
        </p:nvSpPr>
        <p:spPr bwMode="auto">
          <a:xfrm>
            <a:off x="5342731" y="2001838"/>
            <a:ext cx="3500437" cy="919162"/>
          </a:xfrm>
          <a:prstGeom prst="wedgeRoundRectCallout">
            <a:avLst>
              <a:gd name="adj1" fmla="val -37833"/>
              <a:gd name="adj2" fmla="val 97227"/>
              <a:gd name="adj3" fmla="val 16667"/>
            </a:avLst>
          </a:prstGeom>
          <a:solidFill>
            <a:schemeClr val="bg1"/>
          </a:solidFill>
          <a:ln>
            <a:solidFill>
              <a:srgbClr val="C00000"/>
            </a:solidFill>
          </a:ln>
        </p:spPr>
        <p:style>
          <a:lnRef idx="3">
            <a:schemeClr val="lt1"/>
          </a:lnRef>
          <a:fillRef idx="1">
            <a:schemeClr val="accent1"/>
          </a:fillRef>
          <a:effectRef idx="1">
            <a:schemeClr val="accent1"/>
          </a:effectRef>
          <a:fontRef idx="minor">
            <a:schemeClr val="lt1"/>
          </a:fontRef>
        </p:style>
        <p:txBody>
          <a:bodyPr>
            <a:spAutoFit/>
          </a:bodyPr>
          <a:lstStyle/>
          <a:p>
            <a:pPr algn="just"/>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水平虚线</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P0(Q)</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和向右下方倾斜的虚线</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P1(Q)</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分别代表完全竞争企业和垄断企业面临的需求曲线</a:t>
            </a:r>
            <a:endParaRPr lang="zh-CN" altLang="en-US" b="0" dirty="0">
              <a:solidFill>
                <a:schemeClr val="tx1"/>
              </a:solidFill>
              <a:latin typeface="微软雅黑" panose="020B0503020204020204" pitchFamily="34" charset="-122"/>
              <a:ea typeface="微软雅黑" panose="020B0503020204020204" pitchFamily="34" charset="-122"/>
            </a:endParaRPr>
          </a:p>
        </p:txBody>
      </p:sp>
      <p:sp>
        <p:nvSpPr>
          <p:cNvPr id="30754" name="圆角矩形标注 34"/>
          <p:cNvSpPr>
            <a:spLocks noChangeArrowheads="1"/>
          </p:cNvSpPr>
          <p:nvPr/>
        </p:nvSpPr>
        <p:spPr bwMode="auto">
          <a:xfrm>
            <a:off x="362444" y="2615190"/>
            <a:ext cx="2857500" cy="1463675"/>
          </a:xfrm>
          <a:prstGeom prst="wedgeRoundRectCallout">
            <a:avLst>
              <a:gd name="adj1" fmla="val 47227"/>
              <a:gd name="adj2" fmla="val 21856"/>
              <a:gd name="adj3" fmla="val 16667"/>
            </a:avLst>
          </a:prstGeom>
          <a:solidFill>
            <a:schemeClr val="bg1"/>
          </a:solidFill>
          <a:ln>
            <a:solidFill>
              <a:srgbClr val="C00000"/>
            </a:solidFill>
          </a:ln>
        </p:spPr>
        <p:style>
          <a:lnRef idx="3">
            <a:schemeClr val="lt1"/>
          </a:lnRef>
          <a:fillRef idx="1">
            <a:schemeClr val="accent1"/>
          </a:fillRef>
          <a:effectRef idx="1">
            <a:schemeClr val="accent1"/>
          </a:effectRef>
          <a:fontRef idx="minor">
            <a:schemeClr val="lt1"/>
          </a:fontRef>
        </p:style>
        <p:txBody>
          <a:bodyPr>
            <a:spAutoFit/>
          </a:bodyPr>
          <a:lstStyle/>
          <a:p>
            <a:pPr algn="just"/>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在垄断竞争的条件下</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产品的替代性小于完全竞争而大于垄断</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故其价格变化所引起的产量变化要比完全竞争时小而比垄断时大。</a:t>
            </a:r>
            <a:endParaRPr lang="zh-CN" altLang="en-US" b="0" dirty="0">
              <a:solidFill>
                <a:schemeClr val="tx1"/>
              </a:solidFill>
              <a:latin typeface="微软雅黑" panose="020B0503020204020204" pitchFamily="34" charset="-122"/>
              <a:ea typeface="微软雅黑" panose="020B0503020204020204" pitchFamily="34" charset="-122"/>
            </a:endParaRPr>
          </a:p>
        </p:txBody>
      </p:sp>
      <p:sp>
        <p:nvSpPr>
          <p:cNvPr id="30755" name="圆角矩形标注 35"/>
          <p:cNvSpPr>
            <a:spLocks noChangeArrowheads="1"/>
          </p:cNvSpPr>
          <p:nvPr/>
        </p:nvSpPr>
        <p:spPr bwMode="auto">
          <a:xfrm>
            <a:off x="357188" y="4437062"/>
            <a:ext cx="3214687" cy="1771650"/>
          </a:xfrm>
          <a:prstGeom prst="wedgeRoundRectCallout">
            <a:avLst>
              <a:gd name="adj1" fmla="val 64500"/>
              <a:gd name="adj2" fmla="val -55343"/>
              <a:gd name="adj3" fmla="val 16667"/>
            </a:avLst>
          </a:prstGeom>
          <a:solidFill>
            <a:schemeClr val="bg1"/>
          </a:solidFill>
          <a:ln>
            <a:solidFill>
              <a:srgbClr val="C00000"/>
            </a:solidFill>
          </a:ln>
        </p:spPr>
        <p:style>
          <a:lnRef idx="3">
            <a:schemeClr val="lt1"/>
          </a:lnRef>
          <a:fillRef idx="1">
            <a:schemeClr val="accent1"/>
          </a:fillRef>
          <a:effectRef idx="1">
            <a:schemeClr val="accent1"/>
          </a:effectRef>
          <a:fontRef idx="minor">
            <a:schemeClr val="lt1"/>
          </a:fontRef>
        </p:style>
        <p:txBody>
          <a:bodyPr>
            <a:spAutoFit/>
          </a:bodyPr>
          <a:lstStyle/>
          <a:p>
            <a:pPr algn="just"/>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当垄断竞争企业把价格从</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P0</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提高到</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P1</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或者降低到</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P4</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时</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它的产量相应地从</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Q0</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减少到</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Q1</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或增加到</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Q2</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 这两个数量都小于完全竞争但大于垄断时由于相同的价格变动而引起的产量变动。</a:t>
            </a:r>
            <a:endParaRPr lang="zh-CN" altLang="en-US" b="0" dirty="0">
              <a:solidFill>
                <a:schemeClr val="tx1"/>
              </a:solidFill>
              <a:latin typeface="微软雅黑" panose="020B0503020204020204" pitchFamily="34" charset="-122"/>
              <a:ea typeface="微软雅黑" panose="020B0503020204020204" pitchFamily="34" charset="-122"/>
            </a:endParaRPr>
          </a:p>
        </p:txBody>
      </p:sp>
      <p:sp>
        <p:nvSpPr>
          <p:cNvPr id="38" name="矩形 37">
            <a:extLst>
              <a:ext uri="{FF2B5EF4-FFF2-40B4-BE49-F238E27FC236}">
                <a16:creationId xmlns:a16="http://schemas.microsoft.com/office/drawing/2014/main" id="{F68E5273-CD77-47B9-B841-9D29349C133D}"/>
              </a:ext>
            </a:extLst>
          </p:cNvPr>
          <p:cNvSpPr/>
          <p:nvPr/>
        </p:nvSpPr>
        <p:spPr>
          <a:xfrm>
            <a:off x="467544" y="548680"/>
            <a:ext cx="6070893"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spc="150" dirty="0">
                <a:solidFill>
                  <a:srgbClr val="FFFFFF"/>
                </a:solidFill>
                <a:latin typeface="微软雅黑" panose="020B0503020204020204" pitchFamily="34" charset="-122"/>
                <a:ea typeface="微软雅黑" panose="020B0503020204020204" pitchFamily="34" charset="-122"/>
              </a:rPr>
              <a:t>二</a:t>
            </a:r>
            <a:r>
              <a:rPr lang="zh-CN" altLang="en-US" sz="2400" b="1" spc="150" dirty="0">
                <a:solidFill>
                  <a:srgbClr val="FFFFFF"/>
                </a:solidFill>
                <a:latin typeface="微软雅黑" panose="020B0503020204020204" pitchFamily="34" charset="-122"/>
                <a:ea typeface="微软雅黑" panose="020B0503020204020204" pitchFamily="34" charset="-122"/>
              </a:rPr>
              <a:t>、</a:t>
            </a:r>
            <a:r>
              <a:rPr lang="zh-CN" altLang="en-US" sz="2400" spc="15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垄断竞争企业的需求曲线和收益曲线</a:t>
            </a:r>
            <a:endParaRPr lang="zh-CN" altLang="en-US" sz="2400" b="1" spc="150" dirty="0">
              <a:solidFill>
                <a:srgbClr val="FFFFFF"/>
              </a:solidFill>
              <a:latin typeface="微软雅黑" panose="020B0503020204020204" pitchFamily="34" charset="-122"/>
              <a:ea typeface="微软雅黑" panose="020B0503020204020204" pitchFamily="34" charset="-122"/>
            </a:endParaRPr>
          </a:p>
        </p:txBody>
      </p:sp>
      <p:sp>
        <p:nvSpPr>
          <p:cNvPr id="39" name="标题 1"/>
          <p:cNvSpPr>
            <a:spLocks noChangeArrowheads="1"/>
          </p:cNvSpPr>
          <p:nvPr/>
        </p:nvSpPr>
        <p:spPr bwMode="auto">
          <a:xfrm>
            <a:off x="7236185" y="44765"/>
            <a:ext cx="1944135" cy="3599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1800" b="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第二节  垄断竞争</a:t>
            </a:r>
            <a:endParaRPr lang="zh-CN" altLang="en-US" sz="1800" b="0" dirty="0">
              <a:solidFill>
                <a:schemeClr val="tx2"/>
              </a:solidFill>
              <a:latin typeface="微软雅黑" panose="020B0503020204020204" pitchFamily="34" charset="-122"/>
              <a:ea typeface="微软雅黑" panose="020B0503020204020204" pitchFamily="34" charset="-122"/>
              <a:sym typeface="Arial" panose="020B0604020202020204" pitchFamily="34"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0722">
                                            <p:txEl>
                                              <p:pRg st="0" end="0"/>
                                            </p:txEl>
                                          </p:spTgt>
                                        </p:tgtEl>
                                        <p:attrNameLst>
                                          <p:attrName>style.visibility</p:attrName>
                                        </p:attrNameLst>
                                      </p:cBhvr>
                                      <p:to>
                                        <p:strVal val="visible"/>
                                      </p:to>
                                    </p:set>
                                    <p:animEffect>
                                      <p:cBhvr>
                                        <p:cTn id="7" dur="500"/>
                                        <p:tgtEl>
                                          <p:spTgt spid="3072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0722">
                                            <p:txEl>
                                              <p:pRg st="1" end="1"/>
                                            </p:txEl>
                                          </p:spTgt>
                                        </p:tgtEl>
                                        <p:attrNameLst>
                                          <p:attrName>style.visibility</p:attrName>
                                        </p:attrNameLst>
                                      </p:cBhvr>
                                      <p:to>
                                        <p:strVal val="visible"/>
                                      </p:to>
                                    </p:set>
                                    <p:animEffect>
                                      <p:cBhvr>
                                        <p:cTn id="12" dur="500"/>
                                        <p:tgtEl>
                                          <p:spTgt spid="30722">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0725"/>
                                        </p:tgtEl>
                                        <p:attrNameLst>
                                          <p:attrName>style.visibility</p:attrName>
                                        </p:attrNameLst>
                                      </p:cBhvr>
                                      <p:to>
                                        <p:strVal val="visible"/>
                                      </p:to>
                                    </p:set>
                                    <p:animEffect>
                                      <p:cBhvr>
                                        <p:cTn id="17" dur="500"/>
                                        <p:tgtEl>
                                          <p:spTgt spid="30725"/>
                                        </p:tgtEl>
                                      </p:cBhvr>
                                    </p:animEffect>
                                  </p:childTnLst>
                                </p:cTn>
                              </p:par>
                              <p:par>
                                <p:cTn id="18" presetID="5" presetClass="entr" presetSubtype="10" fill="hold" grpId="0" nodeType="withEffect">
                                  <p:stCondLst>
                                    <p:cond delay="0"/>
                                  </p:stCondLst>
                                  <p:childTnLst>
                                    <p:set>
                                      <p:cBhvr>
                                        <p:cTn id="19" dur="1" fill="hold">
                                          <p:stCondLst>
                                            <p:cond delay="0"/>
                                          </p:stCondLst>
                                        </p:cTn>
                                        <p:tgtEl>
                                          <p:spTgt spid="30723"/>
                                        </p:tgtEl>
                                        <p:attrNameLst>
                                          <p:attrName>style.visibility</p:attrName>
                                        </p:attrNameLst>
                                      </p:cBhvr>
                                      <p:to>
                                        <p:strVal val="visible"/>
                                      </p:to>
                                    </p:set>
                                    <p:animEffect>
                                      <p:cBhvr>
                                        <p:cTn id="20" dur="500"/>
                                        <p:tgtEl>
                                          <p:spTgt spid="30723"/>
                                        </p:tgtEl>
                                      </p:cBhvr>
                                    </p:animEffect>
                                  </p:childTnLst>
                                </p:cTn>
                              </p:par>
                              <p:par>
                                <p:cTn id="21" presetID="5" presetClass="entr" presetSubtype="10" fill="hold" grpId="0" nodeType="withEffect">
                                  <p:stCondLst>
                                    <p:cond delay="0"/>
                                  </p:stCondLst>
                                  <p:childTnLst>
                                    <p:set>
                                      <p:cBhvr>
                                        <p:cTn id="22" dur="1" fill="hold">
                                          <p:stCondLst>
                                            <p:cond delay="0"/>
                                          </p:stCondLst>
                                        </p:cTn>
                                        <p:tgtEl>
                                          <p:spTgt spid="30726"/>
                                        </p:tgtEl>
                                        <p:attrNameLst>
                                          <p:attrName>style.visibility</p:attrName>
                                        </p:attrNameLst>
                                      </p:cBhvr>
                                      <p:to>
                                        <p:strVal val="visible"/>
                                      </p:to>
                                    </p:set>
                                    <p:animEffect>
                                      <p:cBhvr>
                                        <p:cTn id="23" dur="500"/>
                                        <p:tgtEl>
                                          <p:spTgt spid="30726"/>
                                        </p:tgtEl>
                                      </p:cBhvr>
                                    </p:animEffect>
                                  </p:childTnLst>
                                </p:cTn>
                              </p:par>
                              <p:par>
                                <p:cTn id="24" presetID="5" presetClass="entr" presetSubtype="10" fill="hold" grpId="0" nodeType="withEffect">
                                  <p:stCondLst>
                                    <p:cond delay="0"/>
                                  </p:stCondLst>
                                  <p:childTnLst>
                                    <p:set>
                                      <p:cBhvr>
                                        <p:cTn id="25" dur="1" fill="hold">
                                          <p:stCondLst>
                                            <p:cond delay="0"/>
                                          </p:stCondLst>
                                        </p:cTn>
                                        <p:tgtEl>
                                          <p:spTgt spid="30724"/>
                                        </p:tgtEl>
                                        <p:attrNameLst>
                                          <p:attrName>style.visibility</p:attrName>
                                        </p:attrNameLst>
                                      </p:cBhvr>
                                      <p:to>
                                        <p:strVal val="visible"/>
                                      </p:to>
                                    </p:set>
                                    <p:animEffect>
                                      <p:cBhvr>
                                        <p:cTn id="26" dur="500"/>
                                        <p:tgtEl>
                                          <p:spTgt spid="30724"/>
                                        </p:tgtEl>
                                      </p:cBhvr>
                                    </p:animEffect>
                                  </p:childTnLst>
                                </p:cTn>
                              </p:par>
                              <p:par>
                                <p:cTn id="27" presetID="5" presetClass="entr" presetSubtype="10" fill="hold" grpId="0" nodeType="withEffect">
                                  <p:stCondLst>
                                    <p:cond delay="0"/>
                                  </p:stCondLst>
                                  <p:childTnLst>
                                    <p:set>
                                      <p:cBhvr>
                                        <p:cTn id="28" dur="1" fill="hold">
                                          <p:stCondLst>
                                            <p:cond delay="0"/>
                                          </p:stCondLst>
                                        </p:cTn>
                                        <p:tgtEl>
                                          <p:spTgt spid="30727"/>
                                        </p:tgtEl>
                                        <p:attrNameLst>
                                          <p:attrName>style.visibility</p:attrName>
                                        </p:attrNameLst>
                                      </p:cBhvr>
                                      <p:to>
                                        <p:strVal val="visible"/>
                                      </p:to>
                                    </p:set>
                                    <p:animEffect>
                                      <p:cBhvr>
                                        <p:cTn id="29" dur="500"/>
                                        <p:tgtEl>
                                          <p:spTgt spid="30727"/>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5" presetClass="entr" presetSubtype="10" fill="hold" grpId="0" nodeType="clickEffect">
                                  <p:stCondLst>
                                    <p:cond delay="0"/>
                                  </p:stCondLst>
                                  <p:childTnLst>
                                    <p:set>
                                      <p:cBhvr>
                                        <p:cTn id="33" dur="1" fill="hold">
                                          <p:stCondLst>
                                            <p:cond delay="0"/>
                                          </p:stCondLst>
                                        </p:cTn>
                                        <p:tgtEl>
                                          <p:spTgt spid="30731"/>
                                        </p:tgtEl>
                                        <p:attrNameLst>
                                          <p:attrName>style.visibility</p:attrName>
                                        </p:attrNameLst>
                                      </p:cBhvr>
                                      <p:to>
                                        <p:strVal val="visible"/>
                                      </p:to>
                                    </p:set>
                                    <p:animEffect>
                                      <p:cBhvr>
                                        <p:cTn id="34" dur="500"/>
                                        <p:tgtEl>
                                          <p:spTgt spid="30731"/>
                                        </p:tgtEl>
                                      </p:cBhvr>
                                    </p:animEffect>
                                  </p:childTnLst>
                                </p:cTn>
                              </p:par>
                              <p:par>
                                <p:cTn id="35" presetID="5" presetClass="entr" presetSubtype="10" fill="hold" grpId="0" nodeType="withEffect">
                                  <p:stCondLst>
                                    <p:cond delay="0"/>
                                  </p:stCondLst>
                                  <p:childTnLst>
                                    <p:set>
                                      <p:cBhvr>
                                        <p:cTn id="36" dur="1" fill="hold">
                                          <p:stCondLst>
                                            <p:cond delay="0"/>
                                          </p:stCondLst>
                                        </p:cTn>
                                        <p:tgtEl>
                                          <p:spTgt spid="30730"/>
                                        </p:tgtEl>
                                        <p:attrNameLst>
                                          <p:attrName>style.visibility</p:attrName>
                                        </p:attrNameLst>
                                      </p:cBhvr>
                                      <p:to>
                                        <p:strVal val="visible"/>
                                      </p:to>
                                    </p:set>
                                    <p:animEffect>
                                      <p:cBhvr>
                                        <p:cTn id="37" dur="500"/>
                                        <p:tgtEl>
                                          <p:spTgt spid="30730"/>
                                        </p:tgtEl>
                                      </p:cBhvr>
                                    </p:animEffect>
                                  </p:childTnLst>
                                </p:cTn>
                              </p:par>
                              <p:par>
                                <p:cTn id="38" presetID="5" presetClass="entr" presetSubtype="10" fill="hold" grpId="0" nodeType="withEffect">
                                  <p:stCondLst>
                                    <p:cond delay="0"/>
                                  </p:stCondLst>
                                  <p:childTnLst>
                                    <p:set>
                                      <p:cBhvr>
                                        <p:cTn id="39" dur="1" fill="hold">
                                          <p:stCondLst>
                                            <p:cond delay="0"/>
                                          </p:stCondLst>
                                        </p:cTn>
                                        <p:tgtEl>
                                          <p:spTgt spid="30729"/>
                                        </p:tgtEl>
                                        <p:attrNameLst>
                                          <p:attrName>style.visibility</p:attrName>
                                        </p:attrNameLst>
                                      </p:cBhvr>
                                      <p:to>
                                        <p:strVal val="visible"/>
                                      </p:to>
                                    </p:set>
                                    <p:animEffect>
                                      <p:cBhvr>
                                        <p:cTn id="40" dur="500"/>
                                        <p:tgtEl>
                                          <p:spTgt spid="30729"/>
                                        </p:tgtEl>
                                      </p:cBhvr>
                                    </p:animEffect>
                                  </p:childTnLst>
                                </p:cTn>
                              </p:par>
                              <p:par>
                                <p:cTn id="41" presetID="5" presetClass="entr" presetSubtype="10" fill="hold" grpId="0" nodeType="withEffect">
                                  <p:stCondLst>
                                    <p:cond delay="0"/>
                                  </p:stCondLst>
                                  <p:childTnLst>
                                    <p:set>
                                      <p:cBhvr>
                                        <p:cTn id="42" dur="1" fill="hold">
                                          <p:stCondLst>
                                            <p:cond delay="0"/>
                                          </p:stCondLst>
                                        </p:cTn>
                                        <p:tgtEl>
                                          <p:spTgt spid="30728"/>
                                        </p:tgtEl>
                                        <p:attrNameLst>
                                          <p:attrName>style.visibility</p:attrName>
                                        </p:attrNameLst>
                                      </p:cBhvr>
                                      <p:to>
                                        <p:strVal val="visible"/>
                                      </p:to>
                                    </p:set>
                                    <p:animEffect>
                                      <p:cBhvr>
                                        <p:cTn id="43" dur="500"/>
                                        <p:tgtEl>
                                          <p:spTgt spid="30728"/>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16" presetClass="entr" presetSubtype="26" fill="hold" grpId="0" nodeType="clickEffect">
                                  <p:stCondLst>
                                    <p:cond delay="0"/>
                                  </p:stCondLst>
                                  <p:childTnLst>
                                    <p:set>
                                      <p:cBhvr>
                                        <p:cTn id="47" dur="1" fill="hold">
                                          <p:stCondLst>
                                            <p:cond delay="0"/>
                                          </p:stCondLst>
                                        </p:cTn>
                                        <p:tgtEl>
                                          <p:spTgt spid="30752"/>
                                        </p:tgtEl>
                                        <p:attrNameLst>
                                          <p:attrName>style.visibility</p:attrName>
                                        </p:attrNameLst>
                                      </p:cBhvr>
                                      <p:to>
                                        <p:strVal val="visible"/>
                                      </p:to>
                                    </p:set>
                                    <p:animEffect>
                                      <p:cBhvr>
                                        <p:cTn id="48" dur="500"/>
                                        <p:tgtEl>
                                          <p:spTgt spid="30752"/>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16" presetClass="entr" presetSubtype="26" fill="hold" grpId="0" nodeType="clickEffect">
                                  <p:stCondLst>
                                    <p:cond delay="0"/>
                                  </p:stCondLst>
                                  <p:childTnLst>
                                    <p:set>
                                      <p:cBhvr>
                                        <p:cTn id="52" dur="1" fill="hold">
                                          <p:stCondLst>
                                            <p:cond delay="0"/>
                                          </p:stCondLst>
                                        </p:cTn>
                                        <p:tgtEl>
                                          <p:spTgt spid="30733"/>
                                        </p:tgtEl>
                                        <p:attrNameLst>
                                          <p:attrName>style.visibility</p:attrName>
                                        </p:attrNameLst>
                                      </p:cBhvr>
                                      <p:to>
                                        <p:strVal val="visible"/>
                                      </p:to>
                                    </p:set>
                                    <p:animEffect>
                                      <p:cBhvr>
                                        <p:cTn id="53" dur="500"/>
                                        <p:tgtEl>
                                          <p:spTgt spid="30733"/>
                                        </p:tgtEl>
                                      </p:cBhvr>
                                    </p:animEffect>
                                  </p:childTnLst>
                                </p:cTn>
                              </p:par>
                              <p:par>
                                <p:cTn id="54" presetID="16" presetClass="entr" presetSubtype="26" fill="hold" grpId="0" nodeType="withEffect">
                                  <p:stCondLst>
                                    <p:cond delay="0"/>
                                  </p:stCondLst>
                                  <p:childTnLst>
                                    <p:set>
                                      <p:cBhvr>
                                        <p:cTn id="55" dur="1" fill="hold">
                                          <p:stCondLst>
                                            <p:cond delay="0"/>
                                          </p:stCondLst>
                                        </p:cTn>
                                        <p:tgtEl>
                                          <p:spTgt spid="30732"/>
                                        </p:tgtEl>
                                        <p:attrNameLst>
                                          <p:attrName>style.visibility</p:attrName>
                                        </p:attrNameLst>
                                      </p:cBhvr>
                                      <p:to>
                                        <p:strVal val="visible"/>
                                      </p:to>
                                    </p:set>
                                    <p:animEffect>
                                      <p:cBhvr>
                                        <p:cTn id="56" dur="500"/>
                                        <p:tgtEl>
                                          <p:spTgt spid="30732"/>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3" presetClass="entr" presetSubtype="10" fill="hold" nodeType="clickEffect">
                                  <p:stCondLst>
                                    <p:cond delay="0"/>
                                  </p:stCondLst>
                                  <p:childTnLst>
                                    <p:set>
                                      <p:cBhvr>
                                        <p:cTn id="60" dur="1" fill="hold">
                                          <p:stCondLst>
                                            <p:cond delay="0"/>
                                          </p:stCondLst>
                                        </p:cTn>
                                        <p:tgtEl>
                                          <p:spTgt spid="30753"/>
                                        </p:tgtEl>
                                        <p:attrNameLst>
                                          <p:attrName>style.visibility</p:attrName>
                                        </p:attrNameLst>
                                      </p:cBhvr>
                                      <p:to>
                                        <p:strVal val="visible"/>
                                      </p:to>
                                    </p:set>
                                    <p:animEffect>
                                      <p:cBhvr>
                                        <p:cTn id="61" dur="500"/>
                                        <p:tgtEl>
                                          <p:spTgt spid="30753"/>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16" presetClass="entr" presetSubtype="26" fill="hold" grpId="0" nodeType="clickEffect">
                                  <p:stCondLst>
                                    <p:cond delay="0"/>
                                  </p:stCondLst>
                                  <p:childTnLst>
                                    <p:set>
                                      <p:cBhvr>
                                        <p:cTn id="65" dur="1" fill="hold">
                                          <p:stCondLst>
                                            <p:cond delay="0"/>
                                          </p:stCondLst>
                                        </p:cTn>
                                        <p:tgtEl>
                                          <p:spTgt spid="30754"/>
                                        </p:tgtEl>
                                        <p:attrNameLst>
                                          <p:attrName>style.visibility</p:attrName>
                                        </p:attrNameLst>
                                      </p:cBhvr>
                                      <p:to>
                                        <p:strVal val="visible"/>
                                      </p:to>
                                    </p:set>
                                    <p:animEffect>
                                      <p:cBhvr>
                                        <p:cTn id="66" dur="500"/>
                                        <p:tgtEl>
                                          <p:spTgt spid="30754"/>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3" presetClass="entr" presetSubtype="10" fill="hold" grpId="0" nodeType="clickEffect">
                                  <p:stCondLst>
                                    <p:cond delay="0"/>
                                  </p:stCondLst>
                                  <p:childTnLst>
                                    <p:set>
                                      <p:cBhvr>
                                        <p:cTn id="70" dur="1" fill="hold">
                                          <p:stCondLst>
                                            <p:cond delay="0"/>
                                          </p:stCondLst>
                                        </p:cTn>
                                        <p:tgtEl>
                                          <p:spTgt spid="30734"/>
                                        </p:tgtEl>
                                        <p:attrNameLst>
                                          <p:attrName>style.visibility</p:attrName>
                                        </p:attrNameLst>
                                      </p:cBhvr>
                                      <p:to>
                                        <p:strVal val="visible"/>
                                      </p:to>
                                    </p:set>
                                    <p:animEffect>
                                      <p:cBhvr>
                                        <p:cTn id="71" dur="500"/>
                                        <p:tgtEl>
                                          <p:spTgt spid="30734"/>
                                        </p:tgtEl>
                                      </p:cBhvr>
                                    </p:animEffect>
                                  </p:childTnLst>
                                </p:cTn>
                              </p:par>
                              <p:par>
                                <p:cTn id="72" presetID="3" presetClass="entr" presetSubtype="10" fill="hold" grpId="0" nodeType="withEffect">
                                  <p:stCondLst>
                                    <p:cond delay="0"/>
                                  </p:stCondLst>
                                  <p:childTnLst>
                                    <p:set>
                                      <p:cBhvr>
                                        <p:cTn id="73" dur="1" fill="hold">
                                          <p:stCondLst>
                                            <p:cond delay="0"/>
                                          </p:stCondLst>
                                        </p:cTn>
                                        <p:tgtEl>
                                          <p:spTgt spid="30735"/>
                                        </p:tgtEl>
                                        <p:attrNameLst>
                                          <p:attrName>style.visibility</p:attrName>
                                        </p:attrNameLst>
                                      </p:cBhvr>
                                      <p:to>
                                        <p:strVal val="visible"/>
                                      </p:to>
                                    </p:set>
                                    <p:animEffect>
                                      <p:cBhvr>
                                        <p:cTn id="74" dur="500"/>
                                        <p:tgtEl>
                                          <p:spTgt spid="30735"/>
                                        </p:tgtEl>
                                      </p:cBhvr>
                                    </p:animEffect>
                                  </p:childTnLst>
                                </p:cTn>
                              </p:par>
                              <p:par>
                                <p:cTn id="75" presetID="3" presetClass="entr" presetSubtype="10" fill="hold" grpId="0" nodeType="withEffect">
                                  <p:stCondLst>
                                    <p:cond delay="0"/>
                                  </p:stCondLst>
                                  <p:childTnLst>
                                    <p:set>
                                      <p:cBhvr>
                                        <p:cTn id="76" dur="1" fill="hold">
                                          <p:stCondLst>
                                            <p:cond delay="0"/>
                                          </p:stCondLst>
                                        </p:cTn>
                                        <p:tgtEl>
                                          <p:spTgt spid="30736"/>
                                        </p:tgtEl>
                                        <p:attrNameLst>
                                          <p:attrName>style.visibility</p:attrName>
                                        </p:attrNameLst>
                                      </p:cBhvr>
                                      <p:to>
                                        <p:strVal val="visible"/>
                                      </p:to>
                                    </p:set>
                                    <p:animEffect>
                                      <p:cBhvr>
                                        <p:cTn id="77" dur="500"/>
                                        <p:tgtEl>
                                          <p:spTgt spid="30736"/>
                                        </p:tgtEl>
                                      </p:cBhvr>
                                    </p:animEffect>
                                  </p:childTnLst>
                                </p:cTn>
                              </p:par>
                              <p:par>
                                <p:cTn id="78" presetID="3" presetClass="entr" presetSubtype="10" fill="hold" grpId="0" nodeType="withEffect">
                                  <p:stCondLst>
                                    <p:cond delay="0"/>
                                  </p:stCondLst>
                                  <p:childTnLst>
                                    <p:set>
                                      <p:cBhvr>
                                        <p:cTn id="79" dur="1" fill="hold">
                                          <p:stCondLst>
                                            <p:cond delay="0"/>
                                          </p:stCondLst>
                                        </p:cTn>
                                        <p:tgtEl>
                                          <p:spTgt spid="30737"/>
                                        </p:tgtEl>
                                        <p:attrNameLst>
                                          <p:attrName>style.visibility</p:attrName>
                                        </p:attrNameLst>
                                      </p:cBhvr>
                                      <p:to>
                                        <p:strVal val="visible"/>
                                      </p:to>
                                    </p:set>
                                    <p:animEffect>
                                      <p:cBhvr>
                                        <p:cTn id="80" dur="500"/>
                                        <p:tgtEl>
                                          <p:spTgt spid="30737"/>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16" presetClass="entr" presetSubtype="26" fill="hold" grpId="0" nodeType="clickEffect">
                                  <p:stCondLst>
                                    <p:cond delay="0"/>
                                  </p:stCondLst>
                                  <p:childTnLst>
                                    <p:set>
                                      <p:cBhvr>
                                        <p:cTn id="84" dur="1" fill="hold">
                                          <p:stCondLst>
                                            <p:cond delay="0"/>
                                          </p:stCondLst>
                                        </p:cTn>
                                        <p:tgtEl>
                                          <p:spTgt spid="30755"/>
                                        </p:tgtEl>
                                        <p:attrNameLst>
                                          <p:attrName>style.visibility</p:attrName>
                                        </p:attrNameLst>
                                      </p:cBhvr>
                                      <p:to>
                                        <p:strVal val="visible"/>
                                      </p:to>
                                    </p:set>
                                    <p:animEffect>
                                      <p:cBhvr>
                                        <p:cTn id="85" dur="500"/>
                                        <p:tgtEl>
                                          <p:spTgt spid="30755"/>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3" presetClass="entr" presetSubtype="10" fill="hold" grpId="0" nodeType="clickEffect">
                                  <p:stCondLst>
                                    <p:cond delay="0"/>
                                  </p:stCondLst>
                                  <p:childTnLst>
                                    <p:set>
                                      <p:cBhvr>
                                        <p:cTn id="89" dur="1" fill="hold">
                                          <p:stCondLst>
                                            <p:cond delay="0"/>
                                          </p:stCondLst>
                                        </p:cTn>
                                        <p:tgtEl>
                                          <p:spTgt spid="30740"/>
                                        </p:tgtEl>
                                        <p:attrNameLst>
                                          <p:attrName>style.visibility</p:attrName>
                                        </p:attrNameLst>
                                      </p:cBhvr>
                                      <p:to>
                                        <p:strVal val="visible"/>
                                      </p:to>
                                    </p:set>
                                    <p:animEffect>
                                      <p:cBhvr>
                                        <p:cTn id="90" dur="500"/>
                                        <p:tgtEl>
                                          <p:spTgt spid="30740"/>
                                        </p:tgtEl>
                                      </p:cBhvr>
                                    </p:animEffect>
                                  </p:childTnLst>
                                </p:cTn>
                              </p:par>
                              <p:par>
                                <p:cTn id="91" presetID="3" presetClass="entr" presetSubtype="10" fill="hold" grpId="0" nodeType="withEffect">
                                  <p:stCondLst>
                                    <p:cond delay="0"/>
                                  </p:stCondLst>
                                  <p:childTnLst>
                                    <p:set>
                                      <p:cBhvr>
                                        <p:cTn id="92" dur="1" fill="hold">
                                          <p:stCondLst>
                                            <p:cond delay="0"/>
                                          </p:stCondLst>
                                        </p:cTn>
                                        <p:tgtEl>
                                          <p:spTgt spid="30741"/>
                                        </p:tgtEl>
                                        <p:attrNameLst>
                                          <p:attrName>style.visibility</p:attrName>
                                        </p:attrNameLst>
                                      </p:cBhvr>
                                      <p:to>
                                        <p:strVal val="visible"/>
                                      </p:to>
                                    </p:set>
                                    <p:animEffect>
                                      <p:cBhvr>
                                        <p:cTn id="93" dur="500"/>
                                        <p:tgtEl>
                                          <p:spTgt spid="30741"/>
                                        </p:tgtEl>
                                      </p:cBhvr>
                                    </p:animEffect>
                                  </p:childTnLst>
                                </p:cTn>
                              </p:par>
                              <p:par>
                                <p:cTn id="94" presetID="3" presetClass="entr" presetSubtype="10" fill="hold" grpId="0" nodeType="withEffect">
                                  <p:stCondLst>
                                    <p:cond delay="0"/>
                                  </p:stCondLst>
                                  <p:childTnLst>
                                    <p:set>
                                      <p:cBhvr>
                                        <p:cTn id="95" dur="1" fill="hold">
                                          <p:stCondLst>
                                            <p:cond delay="0"/>
                                          </p:stCondLst>
                                        </p:cTn>
                                        <p:tgtEl>
                                          <p:spTgt spid="30738"/>
                                        </p:tgtEl>
                                        <p:attrNameLst>
                                          <p:attrName>style.visibility</p:attrName>
                                        </p:attrNameLst>
                                      </p:cBhvr>
                                      <p:to>
                                        <p:strVal val="visible"/>
                                      </p:to>
                                    </p:set>
                                    <p:animEffect>
                                      <p:cBhvr>
                                        <p:cTn id="96" dur="500"/>
                                        <p:tgtEl>
                                          <p:spTgt spid="30738"/>
                                        </p:tgtEl>
                                      </p:cBhvr>
                                    </p:animEffect>
                                  </p:childTnLst>
                                </p:cTn>
                              </p:par>
                              <p:par>
                                <p:cTn id="97" presetID="3" presetClass="entr" presetSubtype="10" fill="hold" grpId="0" nodeType="withEffect">
                                  <p:stCondLst>
                                    <p:cond delay="0"/>
                                  </p:stCondLst>
                                  <p:childTnLst>
                                    <p:set>
                                      <p:cBhvr>
                                        <p:cTn id="98" dur="1" fill="hold">
                                          <p:stCondLst>
                                            <p:cond delay="0"/>
                                          </p:stCondLst>
                                        </p:cTn>
                                        <p:tgtEl>
                                          <p:spTgt spid="30739"/>
                                        </p:tgtEl>
                                        <p:attrNameLst>
                                          <p:attrName>style.visibility</p:attrName>
                                        </p:attrNameLst>
                                      </p:cBhvr>
                                      <p:to>
                                        <p:strVal val="visible"/>
                                      </p:to>
                                    </p:set>
                                    <p:animEffect>
                                      <p:cBhvr>
                                        <p:cTn id="99" dur="500"/>
                                        <p:tgtEl>
                                          <p:spTgt spid="30739"/>
                                        </p:tgtEl>
                                      </p:cBhvr>
                                    </p:animEffect>
                                  </p:childTnLst>
                                </p:cTn>
                              </p:par>
                            </p:childTnLst>
                          </p:cTn>
                        </p:par>
                      </p:childTnLst>
                    </p:cTn>
                  </p:par>
                  <p:par>
                    <p:cTn id="100" fill="hold" nodeType="clickPar">
                      <p:stCondLst>
                        <p:cond delay="indefinite"/>
                      </p:stCondLst>
                      <p:childTnLst>
                        <p:par>
                          <p:cTn id="101" fill="hold" nodeType="withGroup">
                            <p:stCondLst>
                              <p:cond delay="0"/>
                            </p:stCondLst>
                            <p:childTnLst>
                              <p:par>
                                <p:cTn id="102" presetID="3" presetClass="entr" presetSubtype="10" fill="hold" grpId="0" nodeType="clickEffect">
                                  <p:stCondLst>
                                    <p:cond delay="0"/>
                                  </p:stCondLst>
                                  <p:childTnLst>
                                    <p:set>
                                      <p:cBhvr>
                                        <p:cTn id="103" dur="1" fill="hold">
                                          <p:stCondLst>
                                            <p:cond delay="0"/>
                                          </p:stCondLst>
                                        </p:cTn>
                                        <p:tgtEl>
                                          <p:spTgt spid="30746"/>
                                        </p:tgtEl>
                                        <p:attrNameLst>
                                          <p:attrName>style.visibility</p:attrName>
                                        </p:attrNameLst>
                                      </p:cBhvr>
                                      <p:to>
                                        <p:strVal val="visible"/>
                                      </p:to>
                                    </p:set>
                                    <p:animEffect>
                                      <p:cBhvr>
                                        <p:cTn id="104" dur="500"/>
                                        <p:tgtEl>
                                          <p:spTgt spid="30746"/>
                                        </p:tgtEl>
                                      </p:cBhvr>
                                    </p:animEffect>
                                  </p:childTnLst>
                                </p:cTn>
                              </p:par>
                            </p:childTnLst>
                          </p:cTn>
                        </p:par>
                      </p:childTnLst>
                    </p:cTn>
                  </p:par>
                  <p:par>
                    <p:cTn id="105" fill="hold" nodeType="clickPar">
                      <p:stCondLst>
                        <p:cond delay="indefinite"/>
                      </p:stCondLst>
                      <p:childTnLst>
                        <p:par>
                          <p:cTn id="106" fill="hold" nodeType="withGroup">
                            <p:stCondLst>
                              <p:cond delay="0"/>
                            </p:stCondLst>
                            <p:childTnLst>
                              <p:par>
                                <p:cTn id="107" presetID="3" presetClass="entr" presetSubtype="10" fill="hold" grpId="0" nodeType="clickEffect">
                                  <p:stCondLst>
                                    <p:cond delay="0"/>
                                  </p:stCondLst>
                                  <p:childTnLst>
                                    <p:set>
                                      <p:cBhvr>
                                        <p:cTn id="108" dur="1" fill="hold">
                                          <p:stCondLst>
                                            <p:cond delay="0"/>
                                          </p:stCondLst>
                                        </p:cTn>
                                        <p:tgtEl>
                                          <p:spTgt spid="30744"/>
                                        </p:tgtEl>
                                        <p:attrNameLst>
                                          <p:attrName>style.visibility</p:attrName>
                                        </p:attrNameLst>
                                      </p:cBhvr>
                                      <p:to>
                                        <p:strVal val="visible"/>
                                      </p:to>
                                    </p:set>
                                    <p:animEffect>
                                      <p:cBhvr>
                                        <p:cTn id="109" dur="500"/>
                                        <p:tgtEl>
                                          <p:spTgt spid="30744"/>
                                        </p:tgtEl>
                                      </p:cBhvr>
                                    </p:animEffect>
                                  </p:childTnLst>
                                </p:cTn>
                              </p:par>
                              <p:par>
                                <p:cTn id="110" presetID="3" presetClass="entr" presetSubtype="10" fill="hold" grpId="0" nodeType="withEffect">
                                  <p:stCondLst>
                                    <p:cond delay="0"/>
                                  </p:stCondLst>
                                  <p:childTnLst>
                                    <p:set>
                                      <p:cBhvr>
                                        <p:cTn id="111" dur="1" fill="hold">
                                          <p:stCondLst>
                                            <p:cond delay="0"/>
                                          </p:stCondLst>
                                        </p:cTn>
                                        <p:tgtEl>
                                          <p:spTgt spid="30745"/>
                                        </p:tgtEl>
                                        <p:attrNameLst>
                                          <p:attrName>style.visibility</p:attrName>
                                        </p:attrNameLst>
                                      </p:cBhvr>
                                      <p:to>
                                        <p:strVal val="visible"/>
                                      </p:to>
                                    </p:set>
                                    <p:animEffect>
                                      <p:cBhvr>
                                        <p:cTn id="112" dur="500"/>
                                        <p:tgtEl>
                                          <p:spTgt spid="30745"/>
                                        </p:tgtEl>
                                      </p:cBhvr>
                                    </p:animEffect>
                                  </p:childTnLst>
                                </p:cTn>
                              </p:par>
                              <p:par>
                                <p:cTn id="113" presetID="3" presetClass="entr" presetSubtype="10" fill="hold" grpId="0" nodeType="withEffect">
                                  <p:stCondLst>
                                    <p:cond delay="0"/>
                                  </p:stCondLst>
                                  <p:childTnLst>
                                    <p:set>
                                      <p:cBhvr>
                                        <p:cTn id="114" dur="1" fill="hold">
                                          <p:stCondLst>
                                            <p:cond delay="0"/>
                                          </p:stCondLst>
                                        </p:cTn>
                                        <p:tgtEl>
                                          <p:spTgt spid="30750"/>
                                        </p:tgtEl>
                                        <p:attrNameLst>
                                          <p:attrName>style.visibility</p:attrName>
                                        </p:attrNameLst>
                                      </p:cBhvr>
                                      <p:to>
                                        <p:strVal val="visible"/>
                                      </p:to>
                                    </p:set>
                                    <p:animEffect>
                                      <p:cBhvr>
                                        <p:cTn id="115" dur="500"/>
                                        <p:tgtEl>
                                          <p:spTgt spid="30750"/>
                                        </p:tgtEl>
                                      </p:cBhvr>
                                    </p:animEffect>
                                  </p:childTnLst>
                                </p:cTn>
                              </p:par>
                              <p:par>
                                <p:cTn id="116" presetID="3" presetClass="entr" presetSubtype="10" fill="hold" grpId="0" nodeType="withEffect">
                                  <p:stCondLst>
                                    <p:cond delay="0"/>
                                  </p:stCondLst>
                                  <p:childTnLst>
                                    <p:set>
                                      <p:cBhvr>
                                        <p:cTn id="117" dur="1" fill="hold">
                                          <p:stCondLst>
                                            <p:cond delay="0"/>
                                          </p:stCondLst>
                                        </p:cTn>
                                        <p:tgtEl>
                                          <p:spTgt spid="30749"/>
                                        </p:tgtEl>
                                        <p:attrNameLst>
                                          <p:attrName>style.visibility</p:attrName>
                                        </p:attrNameLst>
                                      </p:cBhvr>
                                      <p:to>
                                        <p:strVal val="visible"/>
                                      </p:to>
                                    </p:set>
                                    <p:animEffect>
                                      <p:cBhvr>
                                        <p:cTn id="118" dur="500"/>
                                        <p:tgtEl>
                                          <p:spTgt spid="30749"/>
                                        </p:tgtEl>
                                      </p:cBhvr>
                                    </p:animEffect>
                                  </p:childTnLst>
                                </p:cTn>
                              </p:par>
                            </p:childTnLst>
                          </p:cTn>
                        </p:par>
                      </p:childTnLst>
                    </p:cTn>
                  </p:par>
                  <p:par>
                    <p:cTn id="119" fill="hold" nodeType="clickPar">
                      <p:stCondLst>
                        <p:cond delay="indefinite"/>
                      </p:stCondLst>
                      <p:childTnLst>
                        <p:par>
                          <p:cTn id="120" fill="hold" nodeType="withGroup">
                            <p:stCondLst>
                              <p:cond delay="0"/>
                            </p:stCondLst>
                            <p:childTnLst>
                              <p:par>
                                <p:cTn id="121" presetID="5" presetClass="entr" presetSubtype="10" fill="hold" grpId="0" nodeType="clickEffect">
                                  <p:stCondLst>
                                    <p:cond delay="0"/>
                                  </p:stCondLst>
                                  <p:childTnLst>
                                    <p:set>
                                      <p:cBhvr>
                                        <p:cTn id="122" dur="1" fill="hold">
                                          <p:stCondLst>
                                            <p:cond delay="0"/>
                                          </p:stCondLst>
                                        </p:cTn>
                                        <p:tgtEl>
                                          <p:spTgt spid="30742"/>
                                        </p:tgtEl>
                                        <p:attrNameLst>
                                          <p:attrName>style.visibility</p:attrName>
                                        </p:attrNameLst>
                                      </p:cBhvr>
                                      <p:to>
                                        <p:strVal val="visible"/>
                                      </p:to>
                                    </p:set>
                                    <p:animEffect>
                                      <p:cBhvr>
                                        <p:cTn id="123" dur="500"/>
                                        <p:tgtEl>
                                          <p:spTgt spid="30742"/>
                                        </p:tgtEl>
                                      </p:cBhvr>
                                    </p:animEffect>
                                  </p:childTnLst>
                                </p:cTn>
                              </p:par>
                              <p:par>
                                <p:cTn id="124" presetID="5" presetClass="entr" presetSubtype="10" fill="hold" grpId="0" nodeType="withEffect">
                                  <p:stCondLst>
                                    <p:cond delay="0"/>
                                  </p:stCondLst>
                                  <p:childTnLst>
                                    <p:set>
                                      <p:cBhvr>
                                        <p:cTn id="125" dur="1" fill="hold">
                                          <p:stCondLst>
                                            <p:cond delay="0"/>
                                          </p:stCondLst>
                                        </p:cTn>
                                        <p:tgtEl>
                                          <p:spTgt spid="30748"/>
                                        </p:tgtEl>
                                        <p:attrNameLst>
                                          <p:attrName>style.visibility</p:attrName>
                                        </p:attrNameLst>
                                      </p:cBhvr>
                                      <p:to>
                                        <p:strVal val="visible"/>
                                      </p:to>
                                    </p:set>
                                    <p:animEffect>
                                      <p:cBhvr>
                                        <p:cTn id="126" dur="500"/>
                                        <p:tgtEl>
                                          <p:spTgt spid="30748"/>
                                        </p:tgtEl>
                                      </p:cBhvr>
                                    </p:animEffect>
                                  </p:childTnLst>
                                </p:cTn>
                              </p:par>
                              <p:par>
                                <p:cTn id="127" presetID="5" presetClass="entr" presetSubtype="10" fill="hold" grpId="0" nodeType="withEffect">
                                  <p:stCondLst>
                                    <p:cond delay="0"/>
                                  </p:stCondLst>
                                  <p:childTnLst>
                                    <p:set>
                                      <p:cBhvr>
                                        <p:cTn id="128" dur="1" fill="hold">
                                          <p:stCondLst>
                                            <p:cond delay="0"/>
                                          </p:stCondLst>
                                        </p:cTn>
                                        <p:tgtEl>
                                          <p:spTgt spid="30743"/>
                                        </p:tgtEl>
                                        <p:attrNameLst>
                                          <p:attrName>style.visibility</p:attrName>
                                        </p:attrNameLst>
                                      </p:cBhvr>
                                      <p:to>
                                        <p:strVal val="visible"/>
                                      </p:to>
                                    </p:set>
                                    <p:animEffect>
                                      <p:cBhvr>
                                        <p:cTn id="129" dur="500"/>
                                        <p:tgtEl>
                                          <p:spTgt spid="30743"/>
                                        </p:tgtEl>
                                      </p:cBhvr>
                                    </p:animEffect>
                                  </p:childTnLst>
                                </p:cTn>
                              </p:par>
                              <p:par>
                                <p:cTn id="130" presetID="5" presetClass="entr" presetSubtype="10" fill="hold" grpId="0" nodeType="withEffect">
                                  <p:stCondLst>
                                    <p:cond delay="0"/>
                                  </p:stCondLst>
                                  <p:childTnLst>
                                    <p:set>
                                      <p:cBhvr>
                                        <p:cTn id="131" dur="1" fill="hold">
                                          <p:stCondLst>
                                            <p:cond delay="0"/>
                                          </p:stCondLst>
                                        </p:cTn>
                                        <p:tgtEl>
                                          <p:spTgt spid="30751"/>
                                        </p:tgtEl>
                                        <p:attrNameLst>
                                          <p:attrName>style.visibility</p:attrName>
                                        </p:attrNameLst>
                                      </p:cBhvr>
                                      <p:to>
                                        <p:strVal val="visible"/>
                                      </p:to>
                                    </p:set>
                                    <p:animEffect>
                                      <p:cBhvr>
                                        <p:cTn id="132" dur="500"/>
                                        <p:tgtEl>
                                          <p:spTgt spid="30751"/>
                                        </p:tgtEl>
                                      </p:cBhvr>
                                    </p:animEffect>
                                  </p:childTnLst>
                                </p:cTn>
                              </p:par>
                              <p:par>
                                <p:cTn id="133" presetID="5" presetClass="entr" presetSubtype="10" fill="hold" grpId="0" nodeType="withEffect">
                                  <p:stCondLst>
                                    <p:cond delay="0"/>
                                  </p:stCondLst>
                                  <p:childTnLst>
                                    <p:set>
                                      <p:cBhvr>
                                        <p:cTn id="134" dur="1" fill="hold">
                                          <p:stCondLst>
                                            <p:cond delay="0"/>
                                          </p:stCondLst>
                                        </p:cTn>
                                        <p:tgtEl>
                                          <p:spTgt spid="30747"/>
                                        </p:tgtEl>
                                        <p:attrNameLst>
                                          <p:attrName>style.visibility</p:attrName>
                                        </p:attrNameLst>
                                      </p:cBhvr>
                                      <p:to>
                                        <p:strVal val="visible"/>
                                      </p:to>
                                    </p:set>
                                    <p:animEffect>
                                      <p:cBhvr>
                                        <p:cTn id="135" dur="500"/>
                                        <p:tgtEl>
                                          <p:spTgt spid="307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bldLvl="0" animBg="1" autoUpdateAnimBg="0"/>
      <p:bldP spid="30724" grpId="0" bldLvl="0" animBg="1" autoUpdateAnimBg="0"/>
      <p:bldP spid="30725" grpId="0" bldLvl="0" autoUpdateAnimBg="0"/>
      <p:bldP spid="30726" grpId="0" bldLvl="0" autoUpdateAnimBg="0"/>
      <p:bldP spid="30727" grpId="0" bldLvl="0" autoUpdateAnimBg="0"/>
      <p:bldP spid="30728" grpId="0" bldLvl="0" animBg="1" autoUpdateAnimBg="0"/>
      <p:bldP spid="30729" grpId="0" bldLvl="0" autoUpdateAnimBg="0"/>
      <p:bldP spid="30730" grpId="0" bldLvl="0" animBg="1" autoUpdateAnimBg="0"/>
      <p:bldP spid="30731" grpId="0" bldLvl="0" autoUpdateAnimBg="0"/>
      <p:bldP spid="30732" grpId="0" bldLvl="0" animBg="1" autoUpdateAnimBg="0"/>
      <p:bldP spid="30733" grpId="0" bldLvl="0" autoUpdateAnimBg="0"/>
      <p:bldP spid="30734" grpId="0" bldLvl="0" autoUpdateAnimBg="0"/>
      <p:bldP spid="30735" grpId="0" bldLvl="0" autoUpdateAnimBg="0"/>
      <p:bldP spid="30736" grpId="0" bldLvl="0" animBg="1" autoUpdateAnimBg="0"/>
      <p:bldP spid="30737" grpId="0" bldLvl="0" autoUpdateAnimBg="0"/>
      <p:bldP spid="30738" grpId="0" bldLvl="0" animBg="1" autoUpdateAnimBg="0"/>
      <p:bldP spid="30739" grpId="0" bldLvl="0" autoUpdateAnimBg="0"/>
      <p:bldP spid="30740" grpId="0" bldLvl="0" animBg="1" autoUpdateAnimBg="0"/>
      <p:bldP spid="30741" grpId="0" bldLvl="0" autoUpdateAnimBg="0"/>
      <p:bldP spid="30742" grpId="0" bldLvl="0" animBg="1" autoUpdateAnimBg="0"/>
      <p:bldP spid="30743" grpId="0" bldLvl="0" autoUpdateAnimBg="0"/>
      <p:bldP spid="30744" grpId="0" bldLvl="0" animBg="1" autoUpdateAnimBg="0"/>
      <p:bldP spid="30745" grpId="0" bldLvl="0" autoUpdateAnimBg="0"/>
      <p:bldP spid="30746" grpId="0" bldLvl="0" animBg="1" autoUpdateAnimBg="0"/>
      <p:bldP spid="30747" grpId="0" bldLvl="0" animBg="1" autoUpdateAnimBg="0"/>
      <p:bldP spid="30748" grpId="0" bldLvl="0" autoUpdateAnimBg="0"/>
      <p:bldP spid="30749" grpId="0" bldLvl="0" autoUpdateAnimBg="0"/>
      <p:bldP spid="30750" grpId="0" bldLvl="0" autoUpdateAnimBg="0"/>
      <p:bldP spid="30751" grpId="0" bldLvl="0" autoUpdateAnimBg="0"/>
      <p:bldP spid="30752" grpId="0" bldLvl="0" animBg="1" autoUpdateAnimBg="0"/>
      <p:bldP spid="30754" grpId="0" bldLvl="0" animBg="1" autoUpdateAnimBg="0"/>
      <p:bldP spid="30755" grpId="0" bldLvl="0" animBg="1"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3"/>
          <p:cNvSpPr>
            <a:spLocks noGrp="1" noChangeArrowheads="1"/>
          </p:cNvSpPr>
          <p:nvPr>
            <p:ph type="body" idx="4294967295"/>
          </p:nvPr>
        </p:nvSpPr>
        <p:spPr>
          <a:ln/>
        </p:spPr>
        <p:txBody>
          <a:bodyPr/>
          <a:lstStyle/>
          <a:p>
            <a:pPr marL="457200" lvl="2" indent="-457200" eaLnBrk="1" hangingPunct="1">
              <a:lnSpc>
                <a:spcPct val="150000"/>
              </a:lnSpc>
              <a:buSzPct val="100000"/>
              <a:buFont typeface="Wingdings" panose="05000000000000000000" pitchFamily="2" charset="2"/>
              <a:buChar char="u"/>
            </a:pPr>
            <a:r>
              <a:rPr lang="zh-CN" altLang="en-US" sz="2200" b="0" dirty="0">
                <a:latin typeface="微软雅黑" panose="020B0503020204020204" pitchFamily="34" charset="-122"/>
                <a:ea typeface="微软雅黑" panose="020B0503020204020204" pitchFamily="34" charset="-122"/>
              </a:rPr>
              <a:t>需求曲线</a:t>
            </a:r>
            <a:endParaRPr lang="en-US" altLang="zh-CN" sz="2200" b="0" dirty="0">
              <a:latin typeface="微软雅黑" panose="020B0503020204020204" pitchFamily="34" charset="-122"/>
              <a:ea typeface="微软雅黑" panose="020B0503020204020204" pitchFamily="34" charset="-122"/>
            </a:endParaRPr>
          </a:p>
          <a:p>
            <a:pPr marL="742950" lvl="2" indent="-342900" eaLnBrk="1" hangingPunct="1">
              <a:lnSpc>
                <a:spcPct val="150000"/>
              </a:lnSpc>
              <a:buFont typeface="Arial" panose="020B0604020202020204" pitchFamily="34" charset="0"/>
              <a:buChar char="•"/>
            </a:pPr>
            <a:r>
              <a:rPr lang="zh-CN" altLang="en-US" sz="2000" b="0" dirty="0">
                <a:latin typeface="微软雅黑" panose="020B0503020204020204" pitchFamily="34" charset="-122"/>
                <a:ea typeface="微软雅黑" panose="020B0503020204020204" pitchFamily="34" charset="-122"/>
              </a:rPr>
              <a:t>需求曲线</a:t>
            </a:r>
            <a:r>
              <a:rPr lang="en-US" altLang="zh-CN" sz="2000" b="0" dirty="0">
                <a:latin typeface="微软雅黑" panose="020B0503020204020204" pitchFamily="34" charset="-122"/>
                <a:ea typeface="微软雅黑" panose="020B0503020204020204" pitchFamily="34" charset="-122"/>
              </a:rPr>
              <a:t>DD'</a:t>
            </a:r>
            <a:endParaRPr lang="zh-CN" altLang="en-US" sz="2000" b="0" dirty="0">
              <a:latin typeface="微软雅黑" panose="020B0503020204020204" pitchFamily="34" charset="-122"/>
              <a:ea typeface="微软雅黑" panose="020B0503020204020204" pitchFamily="34" charset="-122"/>
            </a:endParaRPr>
          </a:p>
          <a:p>
            <a:pPr marL="742950" lvl="2" indent="-342900" eaLnBrk="1" hangingPunct="1">
              <a:lnSpc>
                <a:spcPct val="150000"/>
              </a:lnSpc>
              <a:buFont typeface="Arial" panose="020B0604020202020204" pitchFamily="34" charset="0"/>
              <a:buChar char="•"/>
            </a:pPr>
            <a:r>
              <a:rPr lang="en-US" altLang="zh-CN" sz="2000" b="0" dirty="0" err="1">
                <a:latin typeface="微软雅黑" panose="020B0503020204020204" pitchFamily="34" charset="-122"/>
                <a:ea typeface="微软雅黑" panose="020B0503020204020204" pitchFamily="34" charset="-122"/>
              </a:rPr>
              <a:t>dd</a:t>
            </a:r>
            <a:r>
              <a:rPr lang="en-US" altLang="zh-CN" sz="2000" b="0" dirty="0">
                <a:latin typeface="微软雅黑" panose="020B0503020204020204" pitchFamily="34" charset="-122"/>
                <a:ea typeface="微软雅黑" panose="020B0503020204020204" pitchFamily="34" charset="-122"/>
              </a:rPr>
              <a:t>’</a:t>
            </a:r>
            <a:r>
              <a:rPr lang="zh-CN" altLang="en-US" sz="2000" b="0" dirty="0">
                <a:latin typeface="微软雅黑" panose="020B0503020204020204" pitchFamily="34" charset="-122"/>
                <a:ea typeface="微软雅黑" panose="020B0503020204020204" pitchFamily="34" charset="-122"/>
              </a:rPr>
              <a:t>与</a:t>
            </a:r>
            <a:r>
              <a:rPr lang="en-US" altLang="zh-CN" sz="2000" b="0" dirty="0">
                <a:latin typeface="微软雅黑" panose="020B0503020204020204" pitchFamily="34" charset="-122"/>
                <a:ea typeface="微软雅黑" panose="020B0503020204020204" pitchFamily="34" charset="-122"/>
              </a:rPr>
              <a:t>DD'</a:t>
            </a:r>
            <a:r>
              <a:rPr lang="zh-CN" altLang="en-US" sz="2000" b="0" dirty="0">
                <a:latin typeface="微软雅黑" panose="020B0503020204020204" pitchFamily="34" charset="-122"/>
                <a:ea typeface="微软雅黑" panose="020B0503020204020204" pitchFamily="34" charset="-122"/>
              </a:rPr>
              <a:t>的关系</a:t>
            </a:r>
          </a:p>
        </p:txBody>
      </p:sp>
      <p:sp>
        <p:nvSpPr>
          <p:cNvPr id="31747" name="Line 4"/>
          <p:cNvSpPr>
            <a:spLocks noChangeShapeType="1"/>
          </p:cNvSpPr>
          <p:nvPr/>
        </p:nvSpPr>
        <p:spPr bwMode="auto">
          <a:xfrm flipV="1">
            <a:off x="4129289" y="2564940"/>
            <a:ext cx="0" cy="3095625"/>
          </a:xfrm>
          <a:prstGeom prst="line">
            <a:avLst/>
          </a:prstGeom>
          <a:noFill/>
          <a:ln w="9525" cmpd="sng">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1748" name="Line 5"/>
          <p:cNvSpPr>
            <a:spLocks noChangeShapeType="1"/>
          </p:cNvSpPr>
          <p:nvPr/>
        </p:nvSpPr>
        <p:spPr bwMode="auto">
          <a:xfrm>
            <a:off x="4129289" y="5660565"/>
            <a:ext cx="4032250" cy="1588"/>
          </a:xfrm>
          <a:prstGeom prst="line">
            <a:avLst/>
          </a:prstGeom>
          <a:noFill/>
          <a:ln w="9525" cmpd="sng">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1749" name="Text Box 6"/>
          <p:cNvSpPr>
            <a:spLocks noChangeArrowheads="1"/>
          </p:cNvSpPr>
          <p:nvPr/>
        </p:nvSpPr>
        <p:spPr bwMode="auto">
          <a:xfrm>
            <a:off x="3840364" y="2493503"/>
            <a:ext cx="400050"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P</a:t>
            </a:r>
            <a:endParaRPr lang="zh-CN" altLang="en-US"/>
          </a:p>
        </p:txBody>
      </p:sp>
      <p:sp>
        <p:nvSpPr>
          <p:cNvPr id="31750" name="Text Box 7"/>
          <p:cNvSpPr>
            <a:spLocks noChangeArrowheads="1"/>
          </p:cNvSpPr>
          <p:nvPr/>
        </p:nvSpPr>
        <p:spPr bwMode="auto">
          <a:xfrm>
            <a:off x="3884814" y="5584365"/>
            <a:ext cx="31115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O</a:t>
            </a:r>
            <a:endParaRPr lang="zh-CN" altLang="en-US"/>
          </a:p>
        </p:txBody>
      </p:sp>
      <p:sp>
        <p:nvSpPr>
          <p:cNvPr id="31751" name="Text Box 8"/>
          <p:cNvSpPr>
            <a:spLocks noChangeArrowheads="1"/>
          </p:cNvSpPr>
          <p:nvPr/>
        </p:nvSpPr>
        <p:spPr bwMode="auto">
          <a:xfrm>
            <a:off x="8066289" y="5662153"/>
            <a:ext cx="311150"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Q</a:t>
            </a:r>
            <a:endParaRPr lang="zh-CN" altLang="en-US"/>
          </a:p>
        </p:txBody>
      </p:sp>
      <p:sp>
        <p:nvSpPr>
          <p:cNvPr id="31752" name="Line 11"/>
          <p:cNvSpPr>
            <a:spLocks noChangeShapeType="1"/>
          </p:cNvSpPr>
          <p:nvPr/>
        </p:nvSpPr>
        <p:spPr bwMode="auto">
          <a:xfrm>
            <a:off x="4678564" y="2764965"/>
            <a:ext cx="2736850" cy="2592388"/>
          </a:xfrm>
          <a:prstGeom prst="line">
            <a:avLst/>
          </a:prstGeom>
          <a:noFill/>
          <a:ln w="28575" cmpd="sng">
            <a:solidFill>
              <a:srgbClr val="0070C0"/>
            </a:solidFill>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1753" name="Text Box 12"/>
          <p:cNvSpPr>
            <a:spLocks noChangeArrowheads="1"/>
          </p:cNvSpPr>
          <p:nvPr/>
        </p:nvSpPr>
        <p:spPr bwMode="auto">
          <a:xfrm>
            <a:off x="7297939" y="5228765"/>
            <a:ext cx="7381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sym typeface="Arial" panose="020B0604020202020204" pitchFamily="34" charset="0"/>
              </a:rPr>
              <a:t>DD`</a:t>
            </a:r>
            <a:endParaRPr lang="zh-CN" altLang="en-US">
              <a:solidFill>
                <a:srgbClr val="000000"/>
              </a:solidFill>
              <a:sym typeface="Arial" panose="020B0604020202020204" pitchFamily="34" charset="0"/>
            </a:endParaRPr>
          </a:p>
        </p:txBody>
      </p:sp>
      <p:sp>
        <p:nvSpPr>
          <p:cNvPr id="31754" name="Line 13"/>
          <p:cNvSpPr>
            <a:spLocks noChangeShapeType="1"/>
          </p:cNvSpPr>
          <p:nvPr/>
        </p:nvSpPr>
        <p:spPr bwMode="auto">
          <a:xfrm>
            <a:off x="4700789" y="3571415"/>
            <a:ext cx="2592388" cy="863600"/>
          </a:xfrm>
          <a:prstGeom prst="line">
            <a:avLst/>
          </a:prstGeom>
          <a:noFill/>
          <a:ln w="28575" cmpd="sng">
            <a:solidFill>
              <a:srgbClr val="0070C0"/>
            </a:solidFill>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1755" name="Text Box 14"/>
          <p:cNvSpPr>
            <a:spLocks noChangeArrowheads="1"/>
          </p:cNvSpPr>
          <p:nvPr/>
        </p:nvSpPr>
        <p:spPr bwMode="auto">
          <a:xfrm>
            <a:off x="7201102" y="4450890"/>
            <a:ext cx="65087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dd'</a:t>
            </a:r>
            <a:endParaRPr lang="zh-CN" altLang="en-US"/>
          </a:p>
        </p:txBody>
      </p:sp>
      <p:sp>
        <p:nvSpPr>
          <p:cNvPr id="31756" name="Text Box 15"/>
          <p:cNvSpPr>
            <a:spLocks noChangeArrowheads="1"/>
          </p:cNvSpPr>
          <p:nvPr/>
        </p:nvSpPr>
        <p:spPr bwMode="auto">
          <a:xfrm>
            <a:off x="5873952" y="3642853"/>
            <a:ext cx="327025"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A</a:t>
            </a:r>
            <a:endParaRPr lang="zh-CN" altLang="en-US"/>
          </a:p>
        </p:txBody>
      </p:sp>
      <p:sp>
        <p:nvSpPr>
          <p:cNvPr id="31757" name="Text Box 16"/>
          <p:cNvSpPr>
            <a:spLocks noChangeArrowheads="1"/>
          </p:cNvSpPr>
          <p:nvPr/>
        </p:nvSpPr>
        <p:spPr bwMode="auto">
          <a:xfrm>
            <a:off x="3768927" y="3857165"/>
            <a:ext cx="471487"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P</a:t>
            </a:r>
            <a:r>
              <a:rPr lang="zh-CN" altLang="en-US" sz="1000">
                <a:solidFill>
                  <a:srgbClr val="000000"/>
                </a:solidFill>
                <a:sym typeface="Arial" panose="020B0604020202020204" pitchFamily="34" charset="0"/>
              </a:rPr>
              <a:t>0</a:t>
            </a:r>
            <a:endParaRPr lang="zh-CN" altLang="en-US"/>
          </a:p>
        </p:txBody>
      </p:sp>
      <p:sp>
        <p:nvSpPr>
          <p:cNvPr id="31758" name="Line 17"/>
          <p:cNvSpPr>
            <a:spLocks noChangeShapeType="1"/>
          </p:cNvSpPr>
          <p:nvPr/>
        </p:nvSpPr>
        <p:spPr bwMode="auto">
          <a:xfrm>
            <a:off x="5929514" y="4004803"/>
            <a:ext cx="0" cy="1655762"/>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1759" name="Text Box 18"/>
          <p:cNvSpPr>
            <a:spLocks noChangeArrowheads="1"/>
          </p:cNvSpPr>
          <p:nvPr/>
        </p:nvSpPr>
        <p:spPr bwMode="auto">
          <a:xfrm>
            <a:off x="5785052" y="5660565"/>
            <a:ext cx="584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Q</a:t>
            </a:r>
            <a:r>
              <a:rPr lang="zh-CN" altLang="en-US" sz="1000">
                <a:solidFill>
                  <a:srgbClr val="000000"/>
                </a:solidFill>
                <a:sym typeface="Arial" panose="020B0604020202020204" pitchFamily="34" charset="0"/>
              </a:rPr>
              <a:t>0</a:t>
            </a:r>
            <a:endParaRPr lang="zh-CN" altLang="en-US"/>
          </a:p>
        </p:txBody>
      </p:sp>
      <p:sp>
        <p:nvSpPr>
          <p:cNvPr id="31760" name="Line 19"/>
          <p:cNvSpPr>
            <a:spLocks noChangeShapeType="1"/>
          </p:cNvSpPr>
          <p:nvPr/>
        </p:nvSpPr>
        <p:spPr bwMode="auto">
          <a:xfrm>
            <a:off x="5135764" y="3714290"/>
            <a:ext cx="1588" cy="1944688"/>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1761" name="Text Box 20"/>
          <p:cNvSpPr>
            <a:spLocks noChangeArrowheads="1"/>
          </p:cNvSpPr>
          <p:nvPr/>
        </p:nvSpPr>
        <p:spPr bwMode="auto">
          <a:xfrm>
            <a:off x="4992889" y="5660565"/>
            <a:ext cx="5381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Q</a:t>
            </a:r>
            <a:r>
              <a:rPr lang="zh-CN" altLang="en-US" sz="1000">
                <a:solidFill>
                  <a:srgbClr val="000000"/>
                </a:solidFill>
                <a:sym typeface="Arial" panose="020B0604020202020204" pitchFamily="34" charset="0"/>
              </a:rPr>
              <a:t>1</a:t>
            </a:r>
            <a:endParaRPr lang="zh-CN" altLang="en-US"/>
          </a:p>
        </p:txBody>
      </p:sp>
      <p:sp>
        <p:nvSpPr>
          <p:cNvPr id="31762" name="Line 23"/>
          <p:cNvSpPr>
            <a:spLocks noChangeShapeType="1"/>
          </p:cNvSpPr>
          <p:nvPr/>
        </p:nvSpPr>
        <p:spPr bwMode="auto">
          <a:xfrm flipH="1">
            <a:off x="4129289" y="3717465"/>
            <a:ext cx="1511300" cy="0"/>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1763" name="Text Box 24"/>
          <p:cNvSpPr>
            <a:spLocks noChangeArrowheads="1"/>
          </p:cNvSpPr>
          <p:nvPr/>
        </p:nvSpPr>
        <p:spPr bwMode="auto">
          <a:xfrm>
            <a:off x="3768927" y="3501565"/>
            <a:ext cx="414337"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P</a:t>
            </a:r>
            <a:r>
              <a:rPr lang="zh-CN" altLang="en-US" sz="1000">
                <a:solidFill>
                  <a:srgbClr val="000000"/>
                </a:solidFill>
                <a:sym typeface="Arial" panose="020B0604020202020204" pitchFamily="34" charset="0"/>
              </a:rPr>
              <a:t>2</a:t>
            </a:r>
            <a:endParaRPr lang="zh-CN" altLang="en-US"/>
          </a:p>
        </p:txBody>
      </p:sp>
      <p:sp>
        <p:nvSpPr>
          <p:cNvPr id="31764" name="Line 25"/>
          <p:cNvSpPr>
            <a:spLocks noChangeShapeType="1"/>
          </p:cNvSpPr>
          <p:nvPr/>
        </p:nvSpPr>
        <p:spPr bwMode="auto">
          <a:xfrm>
            <a:off x="6793114" y="4274678"/>
            <a:ext cx="0" cy="1368425"/>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1765" name="Text Box 26"/>
          <p:cNvSpPr>
            <a:spLocks noChangeArrowheads="1"/>
          </p:cNvSpPr>
          <p:nvPr/>
        </p:nvSpPr>
        <p:spPr bwMode="auto">
          <a:xfrm>
            <a:off x="6648652" y="5660565"/>
            <a:ext cx="51911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Q</a:t>
            </a:r>
            <a:r>
              <a:rPr lang="zh-CN" altLang="en-US" sz="1000">
                <a:solidFill>
                  <a:srgbClr val="000000"/>
                </a:solidFill>
                <a:sym typeface="Arial" panose="020B0604020202020204" pitchFamily="34" charset="0"/>
              </a:rPr>
              <a:t>2</a:t>
            </a:r>
            <a:endParaRPr lang="zh-CN" altLang="en-US"/>
          </a:p>
        </p:txBody>
      </p:sp>
      <p:sp>
        <p:nvSpPr>
          <p:cNvPr id="31766" name="Line 27"/>
          <p:cNvSpPr>
            <a:spLocks noChangeShapeType="1"/>
          </p:cNvSpPr>
          <p:nvPr/>
        </p:nvSpPr>
        <p:spPr bwMode="auto">
          <a:xfrm flipH="1">
            <a:off x="4078489" y="4000040"/>
            <a:ext cx="1871663" cy="0"/>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1767" name="Line 28"/>
          <p:cNvSpPr>
            <a:spLocks noChangeShapeType="1"/>
          </p:cNvSpPr>
          <p:nvPr/>
        </p:nvSpPr>
        <p:spPr bwMode="auto">
          <a:xfrm flipH="1">
            <a:off x="4129289" y="4285790"/>
            <a:ext cx="2663825" cy="0"/>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1768" name="Text Box 29"/>
          <p:cNvSpPr>
            <a:spLocks noChangeArrowheads="1"/>
          </p:cNvSpPr>
          <p:nvPr/>
        </p:nvSpPr>
        <p:spPr bwMode="auto">
          <a:xfrm>
            <a:off x="4848427" y="3428540"/>
            <a:ext cx="3095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B</a:t>
            </a:r>
            <a:endParaRPr lang="zh-CN" altLang="en-US"/>
          </a:p>
        </p:txBody>
      </p:sp>
      <p:sp>
        <p:nvSpPr>
          <p:cNvPr id="31769" name="Text Box 30"/>
          <p:cNvSpPr>
            <a:spLocks noChangeArrowheads="1"/>
          </p:cNvSpPr>
          <p:nvPr/>
        </p:nvSpPr>
        <p:spPr bwMode="auto">
          <a:xfrm>
            <a:off x="6961389" y="4004803"/>
            <a:ext cx="311150"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C</a:t>
            </a:r>
            <a:endParaRPr lang="zh-CN" altLang="en-US"/>
          </a:p>
        </p:txBody>
      </p:sp>
      <p:sp>
        <p:nvSpPr>
          <p:cNvPr id="31770" name="Text Box 31"/>
          <p:cNvSpPr>
            <a:spLocks noChangeArrowheads="1"/>
          </p:cNvSpPr>
          <p:nvPr/>
        </p:nvSpPr>
        <p:spPr bwMode="auto">
          <a:xfrm>
            <a:off x="3768927" y="4163553"/>
            <a:ext cx="4270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P</a:t>
            </a:r>
            <a:r>
              <a:rPr lang="zh-CN" altLang="en-US" sz="1000">
                <a:solidFill>
                  <a:srgbClr val="000000"/>
                </a:solidFill>
                <a:sym typeface="Arial" panose="020B0604020202020204" pitchFamily="34" charset="0"/>
              </a:rPr>
              <a:t>4</a:t>
            </a:r>
            <a:endParaRPr lang="zh-CN" altLang="en-US"/>
          </a:p>
        </p:txBody>
      </p:sp>
      <p:sp>
        <p:nvSpPr>
          <p:cNvPr id="31771" name="Line 19"/>
          <p:cNvSpPr>
            <a:spLocks noChangeShapeType="1"/>
          </p:cNvSpPr>
          <p:nvPr/>
        </p:nvSpPr>
        <p:spPr bwMode="auto">
          <a:xfrm>
            <a:off x="5629477" y="3714290"/>
            <a:ext cx="1587" cy="1944688"/>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1772" name="Line 25"/>
          <p:cNvSpPr>
            <a:spLocks noChangeShapeType="1"/>
          </p:cNvSpPr>
          <p:nvPr/>
        </p:nvSpPr>
        <p:spPr bwMode="auto">
          <a:xfrm>
            <a:off x="6272414" y="4285790"/>
            <a:ext cx="0" cy="1368425"/>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1773" name="Text Box 20"/>
          <p:cNvSpPr>
            <a:spLocks noChangeArrowheads="1"/>
          </p:cNvSpPr>
          <p:nvPr/>
        </p:nvSpPr>
        <p:spPr bwMode="auto">
          <a:xfrm>
            <a:off x="5343727" y="5643103"/>
            <a:ext cx="5381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Q</a:t>
            </a:r>
            <a:r>
              <a:rPr lang="en-US" altLang="zh-CN" sz="1000">
                <a:solidFill>
                  <a:srgbClr val="000000"/>
                </a:solidFill>
                <a:sym typeface="Arial" panose="020B0604020202020204" pitchFamily="34" charset="0"/>
              </a:rPr>
              <a:t>3</a:t>
            </a:r>
            <a:endParaRPr lang="zh-CN" altLang="en-US" sz="1000">
              <a:solidFill>
                <a:srgbClr val="000000"/>
              </a:solidFill>
              <a:sym typeface="Arial" panose="020B0604020202020204" pitchFamily="34" charset="0"/>
            </a:endParaRPr>
          </a:p>
        </p:txBody>
      </p:sp>
      <p:sp>
        <p:nvSpPr>
          <p:cNvPr id="31774" name="Text Box 18"/>
          <p:cNvSpPr>
            <a:spLocks noChangeArrowheads="1"/>
          </p:cNvSpPr>
          <p:nvPr/>
        </p:nvSpPr>
        <p:spPr bwMode="auto">
          <a:xfrm>
            <a:off x="6129539" y="5643103"/>
            <a:ext cx="584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Q</a:t>
            </a:r>
            <a:r>
              <a:rPr lang="en-US" altLang="zh-CN" sz="1000">
                <a:solidFill>
                  <a:srgbClr val="000000"/>
                </a:solidFill>
                <a:sym typeface="Arial" panose="020B0604020202020204" pitchFamily="34" charset="0"/>
              </a:rPr>
              <a:t>4</a:t>
            </a:r>
            <a:endParaRPr lang="zh-CN" altLang="en-US" sz="1000">
              <a:solidFill>
                <a:srgbClr val="000000"/>
              </a:solidFill>
              <a:sym typeface="Arial" panose="020B0604020202020204" pitchFamily="34" charset="0"/>
            </a:endParaRPr>
          </a:p>
        </p:txBody>
      </p:sp>
      <p:sp>
        <p:nvSpPr>
          <p:cNvPr id="31775" name="圆角矩形标注 37"/>
          <p:cNvSpPr>
            <a:spLocks noChangeArrowheads="1"/>
          </p:cNvSpPr>
          <p:nvPr/>
        </p:nvSpPr>
        <p:spPr bwMode="auto">
          <a:xfrm>
            <a:off x="4486477" y="1428290"/>
            <a:ext cx="2681287" cy="1191816"/>
          </a:xfrm>
          <a:prstGeom prst="wedgeRoundRectCallout">
            <a:avLst>
              <a:gd name="adj1" fmla="val -23559"/>
              <a:gd name="adj2" fmla="val 131281"/>
              <a:gd name="adj3" fmla="val 16667"/>
            </a:avLst>
          </a:prstGeom>
          <a:solidFill>
            <a:schemeClr val="bg1"/>
          </a:solidFill>
          <a:ln>
            <a:solidFill>
              <a:srgbClr val="C00000"/>
            </a:solidFill>
          </a:ln>
        </p:spPr>
        <p:style>
          <a:lnRef idx="3">
            <a:schemeClr val="lt1"/>
          </a:lnRef>
          <a:fillRef idx="1">
            <a:schemeClr val="accent1"/>
          </a:fillRef>
          <a:effectRef idx="1">
            <a:schemeClr val="accent1"/>
          </a:effectRef>
          <a:fontRef idx="minor">
            <a:schemeClr val="lt1"/>
          </a:fontRef>
        </p:style>
        <p:txBody>
          <a:bodyPr>
            <a:spAutoFit/>
          </a:bodyPr>
          <a:lstStyle/>
          <a:p>
            <a:pPr algn="just"/>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dd`</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曲线暗含垄断竞争企业改变价格</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或产量</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的行为不会引起其他企业也同时改变价格</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或产量</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a:t>
            </a:r>
            <a:endParaRPr lang="zh-CN" altLang="en-US" b="0" dirty="0">
              <a:solidFill>
                <a:schemeClr val="tx1"/>
              </a:solidFill>
              <a:latin typeface="微软雅黑" panose="020B0503020204020204" pitchFamily="34" charset="-122"/>
              <a:ea typeface="微软雅黑" panose="020B0503020204020204" pitchFamily="34" charset="-122"/>
            </a:endParaRPr>
          </a:p>
        </p:txBody>
      </p:sp>
      <p:sp>
        <p:nvSpPr>
          <p:cNvPr id="31776" name="圆角矩形标注 38"/>
          <p:cNvSpPr>
            <a:spLocks noChangeArrowheads="1"/>
          </p:cNvSpPr>
          <p:nvPr/>
        </p:nvSpPr>
        <p:spPr bwMode="auto">
          <a:xfrm>
            <a:off x="6216299" y="2841022"/>
            <a:ext cx="2571750" cy="1192213"/>
          </a:xfrm>
          <a:prstGeom prst="wedgeRoundRectCallout">
            <a:avLst>
              <a:gd name="adj1" fmla="val 2996"/>
              <a:gd name="adj2" fmla="val 155334"/>
              <a:gd name="adj3" fmla="val 16667"/>
            </a:avLst>
          </a:prstGeom>
          <a:solidFill>
            <a:schemeClr val="bg1"/>
          </a:solidFill>
          <a:ln>
            <a:solidFill>
              <a:srgbClr val="C00000"/>
            </a:solidFill>
          </a:ln>
        </p:spPr>
        <p:style>
          <a:lnRef idx="3">
            <a:schemeClr val="lt1"/>
          </a:lnRef>
          <a:fillRef idx="1">
            <a:schemeClr val="accent1"/>
          </a:fillRef>
          <a:effectRef idx="1">
            <a:schemeClr val="accent1"/>
          </a:effectRef>
          <a:fontRef idx="minor">
            <a:schemeClr val="lt1"/>
          </a:fontRef>
        </p:style>
        <p:txBody>
          <a:bodyPr>
            <a:spAutoFit/>
          </a:bodyPr>
          <a:lstStyle/>
          <a:p>
            <a:pPr algn="just"/>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若同一市场中的其他企业同时和同等程度地改变价格。 垄断竞争企业面临的需求曲线就更陡峭。</a:t>
            </a:r>
            <a:endParaRPr lang="zh-CN" altLang="en-US" b="0" dirty="0">
              <a:solidFill>
                <a:schemeClr val="tx1"/>
              </a:solidFill>
              <a:latin typeface="微软雅黑" panose="020B0503020204020204" pitchFamily="34" charset="-122"/>
              <a:ea typeface="微软雅黑" panose="020B0503020204020204" pitchFamily="34" charset="-122"/>
            </a:endParaRPr>
          </a:p>
        </p:txBody>
      </p:sp>
      <p:sp>
        <p:nvSpPr>
          <p:cNvPr id="31777" name="圆角矩形标注 39"/>
          <p:cNvSpPr>
            <a:spLocks noChangeArrowheads="1"/>
          </p:cNvSpPr>
          <p:nvPr/>
        </p:nvSpPr>
        <p:spPr bwMode="auto">
          <a:xfrm>
            <a:off x="708478" y="3284077"/>
            <a:ext cx="2857500" cy="2281238"/>
          </a:xfrm>
          <a:prstGeom prst="wedgeRoundRectCallout">
            <a:avLst>
              <a:gd name="adj1" fmla="val 67542"/>
              <a:gd name="adj2" fmla="val 3329"/>
              <a:gd name="adj3" fmla="val 16667"/>
            </a:avLst>
          </a:prstGeom>
          <a:solidFill>
            <a:schemeClr val="bg1"/>
          </a:solidFill>
          <a:ln>
            <a:solidFill>
              <a:srgbClr val="C00000"/>
            </a:solidFill>
          </a:ln>
        </p:spPr>
        <p:style>
          <a:lnRef idx="3">
            <a:schemeClr val="lt1"/>
          </a:lnRef>
          <a:fillRef idx="1">
            <a:schemeClr val="accent1"/>
          </a:fillRef>
          <a:effectRef idx="1">
            <a:schemeClr val="accent1"/>
          </a:effectRef>
          <a:fontRef idx="minor">
            <a:schemeClr val="lt1"/>
          </a:fontRef>
        </p:style>
        <p:txBody>
          <a:bodyPr>
            <a:spAutoFit/>
          </a:bodyPr>
          <a:lstStyle/>
          <a:p>
            <a:pPr algn="just"/>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当垄断竞争企业把价格从</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P0</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降低到</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P4</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时</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若其他企业保持价格不变</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 dd`</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曲线从</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Q0</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扩大到</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Q2; </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若其他企业也同时和同等程度地降低价格，</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DD`</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曲线从</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Q0</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扩大到较小的</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Q4</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。价格上升，可同理分析。</a:t>
            </a:r>
            <a:endParaRPr lang="zh-CN" altLang="en-US" b="0" dirty="0">
              <a:solidFill>
                <a:schemeClr val="tx1"/>
              </a:solidFill>
              <a:latin typeface="微软雅黑" panose="020B0503020204020204" pitchFamily="34" charset="-122"/>
              <a:ea typeface="微软雅黑" panose="020B0503020204020204" pitchFamily="34" charset="-122"/>
            </a:endParaRPr>
          </a:p>
        </p:txBody>
      </p:sp>
      <p:sp>
        <p:nvSpPr>
          <p:cNvPr id="36" name="矩形 35">
            <a:extLst>
              <a:ext uri="{FF2B5EF4-FFF2-40B4-BE49-F238E27FC236}">
                <a16:creationId xmlns:a16="http://schemas.microsoft.com/office/drawing/2014/main" id="{F68E5273-CD77-47B9-B841-9D29349C133D}"/>
              </a:ext>
            </a:extLst>
          </p:cNvPr>
          <p:cNvSpPr/>
          <p:nvPr/>
        </p:nvSpPr>
        <p:spPr>
          <a:xfrm>
            <a:off x="457200" y="548681"/>
            <a:ext cx="6081237"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a:defRPr/>
            </a:pPr>
            <a:r>
              <a:rPr lang="zh-CN" altLang="en-US" sz="2400" spc="150" dirty="0">
                <a:solidFill>
                  <a:srgbClr val="FFFFFF"/>
                </a:solidFill>
                <a:latin typeface="微软雅黑" panose="020B0503020204020204" pitchFamily="34" charset="-122"/>
                <a:ea typeface="微软雅黑" panose="020B0503020204020204" pitchFamily="34" charset="-122"/>
              </a:rPr>
              <a:t>二</a:t>
            </a:r>
            <a:r>
              <a:rPr lang="zh-CN" altLang="en-US" sz="2400" b="1" spc="150" dirty="0">
                <a:solidFill>
                  <a:srgbClr val="FFFFFF"/>
                </a:solidFill>
                <a:latin typeface="微软雅黑" panose="020B0503020204020204" pitchFamily="34" charset="-122"/>
                <a:ea typeface="微软雅黑" panose="020B0503020204020204" pitchFamily="34" charset="-122"/>
              </a:rPr>
              <a:t>、</a:t>
            </a:r>
            <a:r>
              <a:rPr lang="zh-CN" altLang="en-US" sz="2400" spc="15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垄断竞争企业的需求曲线和收益曲线</a:t>
            </a:r>
            <a:endParaRPr lang="zh-CN" altLang="en-US" sz="2400" b="1" spc="150" dirty="0">
              <a:solidFill>
                <a:srgbClr val="FFFFFF"/>
              </a:solidFill>
              <a:latin typeface="微软雅黑" panose="020B0503020204020204" pitchFamily="34" charset="-122"/>
              <a:ea typeface="微软雅黑" panose="020B0503020204020204" pitchFamily="34" charset="-122"/>
            </a:endParaRPr>
          </a:p>
        </p:txBody>
      </p:sp>
      <p:sp>
        <p:nvSpPr>
          <p:cNvPr id="37" name="标题 1"/>
          <p:cNvSpPr>
            <a:spLocks noChangeArrowheads="1"/>
          </p:cNvSpPr>
          <p:nvPr/>
        </p:nvSpPr>
        <p:spPr bwMode="auto">
          <a:xfrm>
            <a:off x="7236185" y="44765"/>
            <a:ext cx="1944135" cy="3599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1800" b="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第二节  垄断竞争</a:t>
            </a:r>
            <a:endParaRPr lang="zh-CN" altLang="en-US" sz="1800" b="0" dirty="0">
              <a:solidFill>
                <a:schemeClr val="tx2"/>
              </a:solidFill>
              <a:latin typeface="微软雅黑" panose="020B0503020204020204" pitchFamily="34" charset="-122"/>
              <a:ea typeface="微软雅黑" panose="020B0503020204020204" pitchFamily="34" charset="-122"/>
              <a:sym typeface="Arial" panose="020B0604020202020204" pitchFamily="34"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9" fill="hold" nodeType="clickEffect">
                                  <p:stCondLst>
                                    <p:cond delay="0"/>
                                  </p:stCondLst>
                                  <p:childTnLst>
                                    <p:set>
                                      <p:cBhvr>
                                        <p:cTn id="6" dur="1" fill="hold">
                                          <p:stCondLst>
                                            <p:cond delay="0"/>
                                          </p:stCondLst>
                                        </p:cTn>
                                        <p:tgtEl>
                                          <p:spTgt spid="31746">
                                            <p:txEl>
                                              <p:pRg st="0" end="0"/>
                                            </p:txEl>
                                          </p:spTgt>
                                        </p:tgtEl>
                                        <p:attrNameLst>
                                          <p:attrName>style.visibility</p:attrName>
                                        </p:attrNameLst>
                                      </p:cBhvr>
                                      <p:to>
                                        <p:strVal val="visible"/>
                                      </p:to>
                                    </p:set>
                                    <p:anim calcmode="lin" valueType="num">
                                      <p:cBhvr>
                                        <p:cTn id="7" dur="500" fill="hold"/>
                                        <p:tgtEl>
                                          <p:spTgt spid="31746">
                                            <p:txEl>
                                              <p:pRg st="0" end="0"/>
                                            </p:txEl>
                                          </p:spTgt>
                                        </p:tgtEl>
                                        <p:attrNameLst>
                                          <p:attrName>ppt_x</p:attrName>
                                        </p:attrNameLst>
                                      </p:cBhvr>
                                      <p:tavLst>
                                        <p:tav tm="0">
                                          <p:val>
                                            <p:strVal val="0-#ppt_w/2"/>
                                          </p:val>
                                        </p:tav>
                                        <p:tav tm="100000">
                                          <p:val>
                                            <p:strVal val="#ppt_x"/>
                                          </p:val>
                                        </p:tav>
                                      </p:tavLst>
                                    </p:anim>
                                    <p:anim calcmode="lin" valueType="num">
                                      <p:cBhvr>
                                        <p:cTn id="8" dur="500" fill="hold"/>
                                        <p:tgtEl>
                                          <p:spTgt spid="31746">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nodeType="clickEffect">
                                  <p:stCondLst>
                                    <p:cond delay="0"/>
                                  </p:stCondLst>
                                  <p:childTnLst>
                                    <p:set>
                                      <p:cBhvr>
                                        <p:cTn id="12" dur="1" fill="hold">
                                          <p:stCondLst>
                                            <p:cond delay="0"/>
                                          </p:stCondLst>
                                        </p:cTn>
                                        <p:tgtEl>
                                          <p:spTgt spid="31746">
                                            <p:txEl>
                                              <p:pRg st="1" end="1"/>
                                            </p:txEl>
                                          </p:spTgt>
                                        </p:tgtEl>
                                        <p:attrNameLst>
                                          <p:attrName>style.visibility</p:attrName>
                                        </p:attrNameLst>
                                      </p:cBhvr>
                                      <p:to>
                                        <p:strVal val="visible"/>
                                      </p:to>
                                    </p:set>
                                    <p:animEffect>
                                      <p:cBhvr>
                                        <p:cTn id="13" dur="500"/>
                                        <p:tgtEl>
                                          <p:spTgt spid="31746">
                                            <p:txEl>
                                              <p:pRg st="1" end="1"/>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31746">
                                            <p:txEl>
                                              <p:pRg st="2" end="2"/>
                                            </p:txEl>
                                          </p:spTgt>
                                        </p:tgtEl>
                                        <p:attrNameLst>
                                          <p:attrName>style.visibility</p:attrName>
                                        </p:attrNameLst>
                                      </p:cBhvr>
                                      <p:to>
                                        <p:strVal val="visible"/>
                                      </p:to>
                                    </p:set>
                                    <p:animEffect>
                                      <p:cBhvr>
                                        <p:cTn id="18" dur="500"/>
                                        <p:tgtEl>
                                          <p:spTgt spid="31746">
                                            <p:txEl>
                                              <p:pRg st="2" end="2"/>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31749"/>
                                        </p:tgtEl>
                                        <p:attrNameLst>
                                          <p:attrName>style.visibility</p:attrName>
                                        </p:attrNameLst>
                                      </p:cBhvr>
                                      <p:to>
                                        <p:strVal val="visible"/>
                                      </p:to>
                                    </p:set>
                                    <p:animEffect>
                                      <p:cBhvr>
                                        <p:cTn id="23" dur="500"/>
                                        <p:tgtEl>
                                          <p:spTgt spid="31749"/>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31747"/>
                                        </p:tgtEl>
                                        <p:attrNameLst>
                                          <p:attrName>style.visibility</p:attrName>
                                        </p:attrNameLst>
                                      </p:cBhvr>
                                      <p:to>
                                        <p:strVal val="visible"/>
                                      </p:to>
                                    </p:set>
                                    <p:animEffect>
                                      <p:cBhvr>
                                        <p:cTn id="26" dur="500"/>
                                        <p:tgtEl>
                                          <p:spTgt spid="31747"/>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31750"/>
                                        </p:tgtEl>
                                        <p:attrNameLst>
                                          <p:attrName>style.visibility</p:attrName>
                                        </p:attrNameLst>
                                      </p:cBhvr>
                                      <p:to>
                                        <p:strVal val="visible"/>
                                      </p:to>
                                    </p:set>
                                    <p:animEffect>
                                      <p:cBhvr>
                                        <p:cTn id="29" dur="500"/>
                                        <p:tgtEl>
                                          <p:spTgt spid="31750"/>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31748"/>
                                        </p:tgtEl>
                                        <p:attrNameLst>
                                          <p:attrName>style.visibility</p:attrName>
                                        </p:attrNameLst>
                                      </p:cBhvr>
                                      <p:to>
                                        <p:strVal val="visible"/>
                                      </p:to>
                                    </p:set>
                                    <p:animEffect>
                                      <p:cBhvr>
                                        <p:cTn id="32" dur="500"/>
                                        <p:tgtEl>
                                          <p:spTgt spid="31748"/>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31751"/>
                                        </p:tgtEl>
                                        <p:attrNameLst>
                                          <p:attrName>style.visibility</p:attrName>
                                        </p:attrNameLst>
                                      </p:cBhvr>
                                      <p:to>
                                        <p:strVal val="visible"/>
                                      </p:to>
                                    </p:set>
                                    <p:animEffect>
                                      <p:cBhvr>
                                        <p:cTn id="35" dur="500"/>
                                        <p:tgtEl>
                                          <p:spTgt spid="31751"/>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31755"/>
                                        </p:tgtEl>
                                        <p:attrNameLst>
                                          <p:attrName>style.visibility</p:attrName>
                                        </p:attrNameLst>
                                      </p:cBhvr>
                                      <p:to>
                                        <p:strVal val="visible"/>
                                      </p:to>
                                    </p:set>
                                    <p:animEffect>
                                      <p:cBhvr>
                                        <p:cTn id="40" dur="500"/>
                                        <p:tgtEl>
                                          <p:spTgt spid="31755"/>
                                        </p:tgtEl>
                                      </p:cBhvr>
                                    </p:animEffect>
                                  </p:childTnLst>
                                </p:cTn>
                              </p:par>
                              <p:par>
                                <p:cTn id="41" presetID="3" presetClass="entr" presetSubtype="10" fill="hold" grpId="0" nodeType="withEffect">
                                  <p:stCondLst>
                                    <p:cond delay="0"/>
                                  </p:stCondLst>
                                  <p:childTnLst>
                                    <p:set>
                                      <p:cBhvr>
                                        <p:cTn id="42" dur="1" fill="hold">
                                          <p:stCondLst>
                                            <p:cond delay="0"/>
                                          </p:stCondLst>
                                        </p:cTn>
                                        <p:tgtEl>
                                          <p:spTgt spid="31754"/>
                                        </p:tgtEl>
                                        <p:attrNameLst>
                                          <p:attrName>style.visibility</p:attrName>
                                        </p:attrNameLst>
                                      </p:cBhvr>
                                      <p:to>
                                        <p:strVal val="visible"/>
                                      </p:to>
                                    </p:set>
                                    <p:animEffect>
                                      <p:cBhvr>
                                        <p:cTn id="43" dur="500"/>
                                        <p:tgtEl>
                                          <p:spTgt spid="31754"/>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31775"/>
                                        </p:tgtEl>
                                        <p:attrNameLst>
                                          <p:attrName>style.visibility</p:attrName>
                                        </p:attrNameLst>
                                      </p:cBhvr>
                                      <p:to>
                                        <p:strVal val="visible"/>
                                      </p:to>
                                    </p:set>
                                    <p:animEffect>
                                      <p:cBhvr>
                                        <p:cTn id="48" dur="500"/>
                                        <p:tgtEl>
                                          <p:spTgt spid="31775"/>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3" presetClass="entr" presetSubtype="10" fill="hold" nodeType="clickEffect">
                                  <p:stCondLst>
                                    <p:cond delay="0"/>
                                  </p:stCondLst>
                                  <p:childTnLst>
                                    <p:set>
                                      <p:cBhvr>
                                        <p:cTn id="52" dur="1" fill="hold">
                                          <p:stCondLst>
                                            <p:cond delay="0"/>
                                          </p:stCondLst>
                                        </p:cTn>
                                        <p:tgtEl>
                                          <p:spTgt spid="31776"/>
                                        </p:tgtEl>
                                        <p:attrNameLst>
                                          <p:attrName>style.visibility</p:attrName>
                                        </p:attrNameLst>
                                      </p:cBhvr>
                                      <p:to>
                                        <p:strVal val="visible"/>
                                      </p:to>
                                    </p:set>
                                    <p:animEffect>
                                      <p:cBhvr>
                                        <p:cTn id="53" dur="500"/>
                                        <p:tgtEl>
                                          <p:spTgt spid="31776"/>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5" presetClass="entr" presetSubtype="10" fill="hold" nodeType="clickEffect">
                                  <p:stCondLst>
                                    <p:cond delay="0"/>
                                  </p:stCondLst>
                                  <p:childTnLst>
                                    <p:set>
                                      <p:cBhvr>
                                        <p:cTn id="57" dur="1" fill="hold">
                                          <p:stCondLst>
                                            <p:cond delay="0"/>
                                          </p:stCondLst>
                                        </p:cTn>
                                        <p:tgtEl>
                                          <p:spTgt spid="31752"/>
                                        </p:tgtEl>
                                        <p:attrNameLst>
                                          <p:attrName>style.visibility</p:attrName>
                                        </p:attrNameLst>
                                      </p:cBhvr>
                                      <p:to>
                                        <p:strVal val="visible"/>
                                      </p:to>
                                    </p:set>
                                    <p:animEffect>
                                      <p:cBhvr>
                                        <p:cTn id="58" dur="500"/>
                                        <p:tgtEl>
                                          <p:spTgt spid="31752"/>
                                        </p:tgtEl>
                                      </p:cBhvr>
                                    </p:animEffect>
                                  </p:childTnLst>
                                </p:cTn>
                              </p:par>
                              <p:par>
                                <p:cTn id="59" presetID="5" presetClass="entr" presetSubtype="10" fill="hold" grpId="0" nodeType="withEffect">
                                  <p:stCondLst>
                                    <p:cond delay="0"/>
                                  </p:stCondLst>
                                  <p:childTnLst>
                                    <p:set>
                                      <p:cBhvr>
                                        <p:cTn id="60" dur="1" fill="hold">
                                          <p:stCondLst>
                                            <p:cond delay="0"/>
                                          </p:stCondLst>
                                        </p:cTn>
                                        <p:tgtEl>
                                          <p:spTgt spid="31753"/>
                                        </p:tgtEl>
                                        <p:attrNameLst>
                                          <p:attrName>style.visibility</p:attrName>
                                        </p:attrNameLst>
                                      </p:cBhvr>
                                      <p:to>
                                        <p:strVal val="visible"/>
                                      </p:to>
                                    </p:set>
                                    <p:animEffect>
                                      <p:cBhvr>
                                        <p:cTn id="61" dur="500"/>
                                        <p:tgtEl>
                                          <p:spTgt spid="31753"/>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5" presetClass="entr" presetSubtype="10" fill="hold" grpId="0" nodeType="clickEffect">
                                  <p:stCondLst>
                                    <p:cond delay="0"/>
                                  </p:stCondLst>
                                  <p:childTnLst>
                                    <p:set>
                                      <p:cBhvr>
                                        <p:cTn id="65" dur="1" fill="hold">
                                          <p:stCondLst>
                                            <p:cond delay="0"/>
                                          </p:stCondLst>
                                        </p:cTn>
                                        <p:tgtEl>
                                          <p:spTgt spid="31777"/>
                                        </p:tgtEl>
                                        <p:attrNameLst>
                                          <p:attrName>style.visibility</p:attrName>
                                        </p:attrNameLst>
                                      </p:cBhvr>
                                      <p:to>
                                        <p:strVal val="visible"/>
                                      </p:to>
                                    </p:set>
                                    <p:animEffect>
                                      <p:cBhvr>
                                        <p:cTn id="66" dur="500"/>
                                        <p:tgtEl>
                                          <p:spTgt spid="31777"/>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3" presetClass="entr" presetSubtype="10" fill="hold" grpId="0" nodeType="clickEffect">
                                  <p:stCondLst>
                                    <p:cond delay="0"/>
                                  </p:stCondLst>
                                  <p:childTnLst>
                                    <p:set>
                                      <p:cBhvr>
                                        <p:cTn id="70" dur="1" fill="hold">
                                          <p:stCondLst>
                                            <p:cond delay="0"/>
                                          </p:stCondLst>
                                        </p:cTn>
                                        <p:tgtEl>
                                          <p:spTgt spid="31757"/>
                                        </p:tgtEl>
                                        <p:attrNameLst>
                                          <p:attrName>style.visibility</p:attrName>
                                        </p:attrNameLst>
                                      </p:cBhvr>
                                      <p:to>
                                        <p:strVal val="visible"/>
                                      </p:to>
                                    </p:set>
                                    <p:animEffect>
                                      <p:cBhvr>
                                        <p:cTn id="71" dur="500"/>
                                        <p:tgtEl>
                                          <p:spTgt spid="31757"/>
                                        </p:tgtEl>
                                      </p:cBhvr>
                                    </p:animEffect>
                                  </p:childTnLst>
                                </p:cTn>
                              </p:par>
                              <p:par>
                                <p:cTn id="72" presetID="3" presetClass="entr" presetSubtype="10" fill="hold" grpId="0" nodeType="withEffect">
                                  <p:stCondLst>
                                    <p:cond delay="0"/>
                                  </p:stCondLst>
                                  <p:childTnLst>
                                    <p:set>
                                      <p:cBhvr>
                                        <p:cTn id="73" dur="1" fill="hold">
                                          <p:stCondLst>
                                            <p:cond delay="0"/>
                                          </p:stCondLst>
                                        </p:cTn>
                                        <p:tgtEl>
                                          <p:spTgt spid="31766"/>
                                        </p:tgtEl>
                                        <p:attrNameLst>
                                          <p:attrName>style.visibility</p:attrName>
                                        </p:attrNameLst>
                                      </p:cBhvr>
                                      <p:to>
                                        <p:strVal val="visible"/>
                                      </p:to>
                                    </p:set>
                                    <p:animEffect>
                                      <p:cBhvr>
                                        <p:cTn id="74" dur="500"/>
                                        <p:tgtEl>
                                          <p:spTgt spid="31766"/>
                                        </p:tgtEl>
                                      </p:cBhvr>
                                    </p:animEffect>
                                  </p:childTnLst>
                                </p:cTn>
                              </p:par>
                              <p:par>
                                <p:cTn id="75" presetID="3" presetClass="entr" presetSubtype="10" fill="hold" grpId="0" nodeType="withEffect">
                                  <p:stCondLst>
                                    <p:cond delay="0"/>
                                  </p:stCondLst>
                                  <p:childTnLst>
                                    <p:set>
                                      <p:cBhvr>
                                        <p:cTn id="76" dur="1" fill="hold">
                                          <p:stCondLst>
                                            <p:cond delay="0"/>
                                          </p:stCondLst>
                                        </p:cTn>
                                        <p:tgtEl>
                                          <p:spTgt spid="31756"/>
                                        </p:tgtEl>
                                        <p:attrNameLst>
                                          <p:attrName>style.visibility</p:attrName>
                                        </p:attrNameLst>
                                      </p:cBhvr>
                                      <p:to>
                                        <p:strVal val="visible"/>
                                      </p:to>
                                    </p:set>
                                    <p:animEffect>
                                      <p:cBhvr>
                                        <p:cTn id="77" dur="500"/>
                                        <p:tgtEl>
                                          <p:spTgt spid="31756"/>
                                        </p:tgtEl>
                                      </p:cBhvr>
                                    </p:animEffect>
                                  </p:childTnLst>
                                </p:cTn>
                              </p:par>
                              <p:par>
                                <p:cTn id="78" presetID="3" presetClass="entr" presetSubtype="10" fill="hold" grpId="0" nodeType="withEffect">
                                  <p:stCondLst>
                                    <p:cond delay="0"/>
                                  </p:stCondLst>
                                  <p:childTnLst>
                                    <p:set>
                                      <p:cBhvr>
                                        <p:cTn id="79" dur="1" fill="hold">
                                          <p:stCondLst>
                                            <p:cond delay="0"/>
                                          </p:stCondLst>
                                        </p:cTn>
                                        <p:tgtEl>
                                          <p:spTgt spid="31758"/>
                                        </p:tgtEl>
                                        <p:attrNameLst>
                                          <p:attrName>style.visibility</p:attrName>
                                        </p:attrNameLst>
                                      </p:cBhvr>
                                      <p:to>
                                        <p:strVal val="visible"/>
                                      </p:to>
                                    </p:set>
                                    <p:animEffect>
                                      <p:cBhvr>
                                        <p:cTn id="80" dur="500"/>
                                        <p:tgtEl>
                                          <p:spTgt spid="31758"/>
                                        </p:tgtEl>
                                      </p:cBhvr>
                                    </p:animEffect>
                                  </p:childTnLst>
                                </p:cTn>
                              </p:par>
                              <p:par>
                                <p:cTn id="81" presetID="3" presetClass="entr" presetSubtype="10" fill="hold" grpId="0" nodeType="withEffect">
                                  <p:stCondLst>
                                    <p:cond delay="0"/>
                                  </p:stCondLst>
                                  <p:childTnLst>
                                    <p:set>
                                      <p:cBhvr>
                                        <p:cTn id="82" dur="1" fill="hold">
                                          <p:stCondLst>
                                            <p:cond delay="0"/>
                                          </p:stCondLst>
                                        </p:cTn>
                                        <p:tgtEl>
                                          <p:spTgt spid="31759"/>
                                        </p:tgtEl>
                                        <p:attrNameLst>
                                          <p:attrName>style.visibility</p:attrName>
                                        </p:attrNameLst>
                                      </p:cBhvr>
                                      <p:to>
                                        <p:strVal val="visible"/>
                                      </p:to>
                                    </p:set>
                                    <p:animEffect>
                                      <p:cBhvr>
                                        <p:cTn id="83" dur="500"/>
                                        <p:tgtEl>
                                          <p:spTgt spid="31759"/>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3" presetClass="entr" presetSubtype="10" fill="hold" grpId="0" nodeType="clickEffect">
                                  <p:stCondLst>
                                    <p:cond delay="0"/>
                                  </p:stCondLst>
                                  <p:childTnLst>
                                    <p:set>
                                      <p:cBhvr>
                                        <p:cTn id="87" dur="1" fill="hold">
                                          <p:stCondLst>
                                            <p:cond delay="0"/>
                                          </p:stCondLst>
                                        </p:cTn>
                                        <p:tgtEl>
                                          <p:spTgt spid="31770"/>
                                        </p:tgtEl>
                                        <p:attrNameLst>
                                          <p:attrName>style.visibility</p:attrName>
                                        </p:attrNameLst>
                                      </p:cBhvr>
                                      <p:to>
                                        <p:strVal val="visible"/>
                                      </p:to>
                                    </p:set>
                                    <p:animEffect>
                                      <p:cBhvr>
                                        <p:cTn id="88" dur="500"/>
                                        <p:tgtEl>
                                          <p:spTgt spid="31770"/>
                                        </p:tgtEl>
                                      </p:cBhvr>
                                    </p:animEffect>
                                  </p:childTnLst>
                                </p:cTn>
                              </p:par>
                              <p:par>
                                <p:cTn id="89" presetID="3" presetClass="entr" presetSubtype="10" fill="hold" grpId="0" nodeType="withEffect">
                                  <p:stCondLst>
                                    <p:cond delay="0"/>
                                  </p:stCondLst>
                                  <p:childTnLst>
                                    <p:set>
                                      <p:cBhvr>
                                        <p:cTn id="90" dur="1" fill="hold">
                                          <p:stCondLst>
                                            <p:cond delay="0"/>
                                          </p:stCondLst>
                                        </p:cTn>
                                        <p:tgtEl>
                                          <p:spTgt spid="31767"/>
                                        </p:tgtEl>
                                        <p:attrNameLst>
                                          <p:attrName>style.visibility</p:attrName>
                                        </p:attrNameLst>
                                      </p:cBhvr>
                                      <p:to>
                                        <p:strVal val="visible"/>
                                      </p:to>
                                    </p:set>
                                    <p:animEffect>
                                      <p:cBhvr>
                                        <p:cTn id="91" dur="500"/>
                                        <p:tgtEl>
                                          <p:spTgt spid="31767"/>
                                        </p:tgtEl>
                                      </p:cBhvr>
                                    </p:animEffect>
                                  </p:childTnLst>
                                </p:cTn>
                              </p:par>
                              <p:par>
                                <p:cTn id="92" presetID="3" presetClass="entr" presetSubtype="10" fill="hold" grpId="0" nodeType="withEffect">
                                  <p:stCondLst>
                                    <p:cond delay="0"/>
                                  </p:stCondLst>
                                  <p:childTnLst>
                                    <p:set>
                                      <p:cBhvr>
                                        <p:cTn id="93" dur="1" fill="hold">
                                          <p:stCondLst>
                                            <p:cond delay="0"/>
                                          </p:stCondLst>
                                        </p:cTn>
                                        <p:tgtEl>
                                          <p:spTgt spid="31769"/>
                                        </p:tgtEl>
                                        <p:attrNameLst>
                                          <p:attrName>style.visibility</p:attrName>
                                        </p:attrNameLst>
                                      </p:cBhvr>
                                      <p:to>
                                        <p:strVal val="visible"/>
                                      </p:to>
                                    </p:set>
                                    <p:animEffect>
                                      <p:cBhvr>
                                        <p:cTn id="94" dur="500"/>
                                        <p:tgtEl>
                                          <p:spTgt spid="31769"/>
                                        </p:tgtEl>
                                      </p:cBhvr>
                                    </p:animEffect>
                                  </p:childTnLst>
                                </p:cTn>
                              </p:par>
                            </p:childTnLst>
                          </p:cTn>
                        </p:par>
                      </p:childTnLst>
                    </p:cTn>
                  </p:par>
                  <p:par>
                    <p:cTn id="95" fill="hold" nodeType="clickPar">
                      <p:stCondLst>
                        <p:cond delay="indefinite"/>
                      </p:stCondLst>
                      <p:childTnLst>
                        <p:par>
                          <p:cTn id="96" fill="hold" nodeType="withGroup">
                            <p:stCondLst>
                              <p:cond delay="0"/>
                            </p:stCondLst>
                            <p:childTnLst>
                              <p:par>
                                <p:cTn id="97" presetID="3" presetClass="entr" presetSubtype="10" fill="hold" grpId="0" nodeType="clickEffect">
                                  <p:stCondLst>
                                    <p:cond delay="0"/>
                                  </p:stCondLst>
                                  <p:childTnLst>
                                    <p:set>
                                      <p:cBhvr>
                                        <p:cTn id="98" dur="1" fill="hold">
                                          <p:stCondLst>
                                            <p:cond delay="0"/>
                                          </p:stCondLst>
                                        </p:cTn>
                                        <p:tgtEl>
                                          <p:spTgt spid="31764"/>
                                        </p:tgtEl>
                                        <p:attrNameLst>
                                          <p:attrName>style.visibility</p:attrName>
                                        </p:attrNameLst>
                                      </p:cBhvr>
                                      <p:to>
                                        <p:strVal val="visible"/>
                                      </p:to>
                                    </p:set>
                                    <p:animEffect>
                                      <p:cBhvr>
                                        <p:cTn id="99" dur="500"/>
                                        <p:tgtEl>
                                          <p:spTgt spid="31764"/>
                                        </p:tgtEl>
                                      </p:cBhvr>
                                    </p:animEffect>
                                  </p:childTnLst>
                                </p:cTn>
                              </p:par>
                              <p:par>
                                <p:cTn id="100" presetID="3" presetClass="entr" presetSubtype="10" fill="hold" grpId="0" nodeType="withEffect">
                                  <p:stCondLst>
                                    <p:cond delay="0"/>
                                  </p:stCondLst>
                                  <p:childTnLst>
                                    <p:set>
                                      <p:cBhvr>
                                        <p:cTn id="101" dur="1" fill="hold">
                                          <p:stCondLst>
                                            <p:cond delay="0"/>
                                          </p:stCondLst>
                                        </p:cTn>
                                        <p:tgtEl>
                                          <p:spTgt spid="31765"/>
                                        </p:tgtEl>
                                        <p:attrNameLst>
                                          <p:attrName>style.visibility</p:attrName>
                                        </p:attrNameLst>
                                      </p:cBhvr>
                                      <p:to>
                                        <p:strVal val="visible"/>
                                      </p:to>
                                    </p:set>
                                    <p:animEffect>
                                      <p:cBhvr>
                                        <p:cTn id="102" dur="500"/>
                                        <p:tgtEl>
                                          <p:spTgt spid="31765"/>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3" presetClass="entr" presetSubtype="10" fill="hold" grpId="0" nodeType="clickEffect">
                                  <p:stCondLst>
                                    <p:cond delay="0"/>
                                  </p:stCondLst>
                                  <p:childTnLst>
                                    <p:set>
                                      <p:cBhvr>
                                        <p:cTn id="106" dur="1" fill="hold">
                                          <p:stCondLst>
                                            <p:cond delay="0"/>
                                          </p:stCondLst>
                                        </p:cTn>
                                        <p:tgtEl>
                                          <p:spTgt spid="31772"/>
                                        </p:tgtEl>
                                        <p:attrNameLst>
                                          <p:attrName>style.visibility</p:attrName>
                                        </p:attrNameLst>
                                      </p:cBhvr>
                                      <p:to>
                                        <p:strVal val="visible"/>
                                      </p:to>
                                    </p:set>
                                    <p:animEffect>
                                      <p:cBhvr>
                                        <p:cTn id="107" dur="500"/>
                                        <p:tgtEl>
                                          <p:spTgt spid="31772"/>
                                        </p:tgtEl>
                                      </p:cBhvr>
                                    </p:animEffect>
                                  </p:childTnLst>
                                </p:cTn>
                              </p:par>
                              <p:par>
                                <p:cTn id="108" presetID="3" presetClass="entr" presetSubtype="10" fill="hold" grpId="0" nodeType="withEffect">
                                  <p:stCondLst>
                                    <p:cond delay="0"/>
                                  </p:stCondLst>
                                  <p:childTnLst>
                                    <p:set>
                                      <p:cBhvr>
                                        <p:cTn id="109" dur="1" fill="hold">
                                          <p:stCondLst>
                                            <p:cond delay="0"/>
                                          </p:stCondLst>
                                        </p:cTn>
                                        <p:tgtEl>
                                          <p:spTgt spid="31774"/>
                                        </p:tgtEl>
                                        <p:attrNameLst>
                                          <p:attrName>style.visibility</p:attrName>
                                        </p:attrNameLst>
                                      </p:cBhvr>
                                      <p:to>
                                        <p:strVal val="visible"/>
                                      </p:to>
                                    </p:set>
                                    <p:animEffect>
                                      <p:cBhvr>
                                        <p:cTn id="110" dur="500"/>
                                        <p:tgtEl>
                                          <p:spTgt spid="31774"/>
                                        </p:tgtEl>
                                      </p:cBhvr>
                                    </p:animEffect>
                                  </p:childTnLst>
                                </p:cTn>
                              </p:par>
                            </p:childTnLst>
                          </p:cTn>
                        </p:par>
                      </p:childTnLst>
                    </p:cTn>
                  </p:par>
                  <p:par>
                    <p:cTn id="111" fill="hold" nodeType="clickPar">
                      <p:stCondLst>
                        <p:cond delay="indefinite"/>
                      </p:stCondLst>
                      <p:childTnLst>
                        <p:par>
                          <p:cTn id="112" fill="hold" nodeType="withGroup">
                            <p:stCondLst>
                              <p:cond delay="0"/>
                            </p:stCondLst>
                            <p:childTnLst>
                              <p:par>
                                <p:cTn id="113" presetID="3" presetClass="entr" presetSubtype="10" fill="hold" grpId="0" nodeType="clickEffect">
                                  <p:stCondLst>
                                    <p:cond delay="0"/>
                                  </p:stCondLst>
                                  <p:childTnLst>
                                    <p:set>
                                      <p:cBhvr>
                                        <p:cTn id="114" dur="1" fill="hold">
                                          <p:stCondLst>
                                            <p:cond delay="0"/>
                                          </p:stCondLst>
                                        </p:cTn>
                                        <p:tgtEl>
                                          <p:spTgt spid="31763"/>
                                        </p:tgtEl>
                                        <p:attrNameLst>
                                          <p:attrName>style.visibility</p:attrName>
                                        </p:attrNameLst>
                                      </p:cBhvr>
                                      <p:to>
                                        <p:strVal val="visible"/>
                                      </p:to>
                                    </p:set>
                                    <p:animEffect>
                                      <p:cBhvr>
                                        <p:cTn id="115" dur="500"/>
                                        <p:tgtEl>
                                          <p:spTgt spid="31763"/>
                                        </p:tgtEl>
                                      </p:cBhvr>
                                    </p:animEffect>
                                  </p:childTnLst>
                                </p:cTn>
                              </p:par>
                              <p:par>
                                <p:cTn id="116" presetID="3" presetClass="entr" presetSubtype="10" fill="hold" grpId="0" nodeType="withEffect">
                                  <p:stCondLst>
                                    <p:cond delay="0"/>
                                  </p:stCondLst>
                                  <p:childTnLst>
                                    <p:set>
                                      <p:cBhvr>
                                        <p:cTn id="117" dur="1" fill="hold">
                                          <p:stCondLst>
                                            <p:cond delay="0"/>
                                          </p:stCondLst>
                                        </p:cTn>
                                        <p:tgtEl>
                                          <p:spTgt spid="31762"/>
                                        </p:tgtEl>
                                        <p:attrNameLst>
                                          <p:attrName>style.visibility</p:attrName>
                                        </p:attrNameLst>
                                      </p:cBhvr>
                                      <p:to>
                                        <p:strVal val="visible"/>
                                      </p:to>
                                    </p:set>
                                    <p:animEffect>
                                      <p:cBhvr>
                                        <p:cTn id="118" dur="500"/>
                                        <p:tgtEl>
                                          <p:spTgt spid="31762"/>
                                        </p:tgtEl>
                                      </p:cBhvr>
                                    </p:animEffect>
                                  </p:childTnLst>
                                </p:cTn>
                              </p:par>
                              <p:par>
                                <p:cTn id="119" presetID="3" presetClass="entr" presetSubtype="10" fill="hold" grpId="0" nodeType="withEffect">
                                  <p:stCondLst>
                                    <p:cond delay="0"/>
                                  </p:stCondLst>
                                  <p:childTnLst>
                                    <p:set>
                                      <p:cBhvr>
                                        <p:cTn id="120" dur="1" fill="hold">
                                          <p:stCondLst>
                                            <p:cond delay="0"/>
                                          </p:stCondLst>
                                        </p:cTn>
                                        <p:tgtEl>
                                          <p:spTgt spid="31768"/>
                                        </p:tgtEl>
                                        <p:attrNameLst>
                                          <p:attrName>style.visibility</p:attrName>
                                        </p:attrNameLst>
                                      </p:cBhvr>
                                      <p:to>
                                        <p:strVal val="visible"/>
                                      </p:to>
                                    </p:set>
                                    <p:animEffect>
                                      <p:cBhvr>
                                        <p:cTn id="121" dur="500"/>
                                        <p:tgtEl>
                                          <p:spTgt spid="31768"/>
                                        </p:tgtEl>
                                      </p:cBhvr>
                                    </p:animEffect>
                                  </p:childTnLst>
                                </p:cTn>
                              </p:par>
                              <p:par>
                                <p:cTn id="122" presetID="3" presetClass="entr" presetSubtype="10" fill="hold" grpId="0" nodeType="withEffect">
                                  <p:stCondLst>
                                    <p:cond delay="0"/>
                                  </p:stCondLst>
                                  <p:childTnLst>
                                    <p:set>
                                      <p:cBhvr>
                                        <p:cTn id="123" dur="1" fill="hold">
                                          <p:stCondLst>
                                            <p:cond delay="0"/>
                                          </p:stCondLst>
                                        </p:cTn>
                                        <p:tgtEl>
                                          <p:spTgt spid="31771"/>
                                        </p:tgtEl>
                                        <p:attrNameLst>
                                          <p:attrName>style.visibility</p:attrName>
                                        </p:attrNameLst>
                                      </p:cBhvr>
                                      <p:to>
                                        <p:strVal val="visible"/>
                                      </p:to>
                                    </p:set>
                                    <p:animEffect>
                                      <p:cBhvr>
                                        <p:cTn id="124" dur="500"/>
                                        <p:tgtEl>
                                          <p:spTgt spid="31771"/>
                                        </p:tgtEl>
                                      </p:cBhvr>
                                    </p:animEffect>
                                  </p:childTnLst>
                                </p:cTn>
                              </p:par>
                              <p:par>
                                <p:cTn id="125" presetID="3" presetClass="entr" presetSubtype="10" fill="hold" grpId="0" nodeType="withEffect">
                                  <p:stCondLst>
                                    <p:cond delay="0"/>
                                  </p:stCondLst>
                                  <p:childTnLst>
                                    <p:set>
                                      <p:cBhvr>
                                        <p:cTn id="126" dur="1" fill="hold">
                                          <p:stCondLst>
                                            <p:cond delay="0"/>
                                          </p:stCondLst>
                                        </p:cTn>
                                        <p:tgtEl>
                                          <p:spTgt spid="31760"/>
                                        </p:tgtEl>
                                        <p:attrNameLst>
                                          <p:attrName>style.visibility</p:attrName>
                                        </p:attrNameLst>
                                      </p:cBhvr>
                                      <p:to>
                                        <p:strVal val="visible"/>
                                      </p:to>
                                    </p:set>
                                    <p:animEffect>
                                      <p:cBhvr>
                                        <p:cTn id="127" dur="500"/>
                                        <p:tgtEl>
                                          <p:spTgt spid="31760"/>
                                        </p:tgtEl>
                                      </p:cBhvr>
                                    </p:animEffect>
                                  </p:childTnLst>
                                </p:cTn>
                              </p:par>
                              <p:par>
                                <p:cTn id="128" presetID="3" presetClass="entr" presetSubtype="10" fill="hold" grpId="0" nodeType="withEffect">
                                  <p:stCondLst>
                                    <p:cond delay="0"/>
                                  </p:stCondLst>
                                  <p:childTnLst>
                                    <p:set>
                                      <p:cBhvr>
                                        <p:cTn id="129" dur="1" fill="hold">
                                          <p:stCondLst>
                                            <p:cond delay="0"/>
                                          </p:stCondLst>
                                        </p:cTn>
                                        <p:tgtEl>
                                          <p:spTgt spid="31761"/>
                                        </p:tgtEl>
                                        <p:attrNameLst>
                                          <p:attrName>style.visibility</p:attrName>
                                        </p:attrNameLst>
                                      </p:cBhvr>
                                      <p:to>
                                        <p:strVal val="visible"/>
                                      </p:to>
                                    </p:set>
                                    <p:animEffect>
                                      <p:cBhvr>
                                        <p:cTn id="130" dur="500"/>
                                        <p:tgtEl>
                                          <p:spTgt spid="31761"/>
                                        </p:tgtEl>
                                      </p:cBhvr>
                                    </p:animEffect>
                                  </p:childTnLst>
                                </p:cTn>
                              </p:par>
                              <p:par>
                                <p:cTn id="131" presetID="3" presetClass="entr" presetSubtype="10" fill="hold" grpId="0" nodeType="withEffect">
                                  <p:stCondLst>
                                    <p:cond delay="0"/>
                                  </p:stCondLst>
                                  <p:childTnLst>
                                    <p:set>
                                      <p:cBhvr>
                                        <p:cTn id="132" dur="1" fill="hold">
                                          <p:stCondLst>
                                            <p:cond delay="0"/>
                                          </p:stCondLst>
                                        </p:cTn>
                                        <p:tgtEl>
                                          <p:spTgt spid="31773"/>
                                        </p:tgtEl>
                                        <p:attrNameLst>
                                          <p:attrName>style.visibility</p:attrName>
                                        </p:attrNameLst>
                                      </p:cBhvr>
                                      <p:to>
                                        <p:strVal val="visible"/>
                                      </p:to>
                                    </p:set>
                                    <p:animEffect>
                                      <p:cBhvr>
                                        <p:cTn id="133" dur="500"/>
                                        <p:tgtEl>
                                          <p:spTgt spid="317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bldLvl="0" animBg="1" autoUpdateAnimBg="0"/>
      <p:bldP spid="31748" grpId="0" bldLvl="0" animBg="1" autoUpdateAnimBg="0"/>
      <p:bldP spid="31749" grpId="0" bldLvl="0" autoUpdateAnimBg="0"/>
      <p:bldP spid="31750" grpId="0" bldLvl="0" autoUpdateAnimBg="0"/>
      <p:bldP spid="31751" grpId="0" bldLvl="0" autoUpdateAnimBg="0"/>
      <p:bldP spid="31753" grpId="0" bldLvl="0" autoUpdateAnimBg="0"/>
      <p:bldP spid="31754" grpId="0" bldLvl="0" animBg="1" autoUpdateAnimBg="0"/>
      <p:bldP spid="31755" grpId="0" bldLvl="0" autoUpdateAnimBg="0"/>
      <p:bldP spid="31756" grpId="0" bldLvl="0" autoUpdateAnimBg="0"/>
      <p:bldP spid="31757" grpId="0" bldLvl="0" autoUpdateAnimBg="0"/>
      <p:bldP spid="31758" grpId="0" bldLvl="0" animBg="1" autoUpdateAnimBg="0"/>
      <p:bldP spid="31759" grpId="0" bldLvl="0" autoUpdateAnimBg="0"/>
      <p:bldP spid="31760" grpId="0" bldLvl="0" animBg="1" autoUpdateAnimBg="0"/>
      <p:bldP spid="31761" grpId="0" bldLvl="0" autoUpdateAnimBg="0"/>
      <p:bldP spid="31762" grpId="0" bldLvl="0" animBg="1" autoUpdateAnimBg="0"/>
      <p:bldP spid="31763" grpId="0" bldLvl="0" autoUpdateAnimBg="0"/>
      <p:bldP spid="31764" grpId="0" bldLvl="0" animBg="1" autoUpdateAnimBg="0"/>
      <p:bldP spid="31765" grpId="0" bldLvl="0" autoUpdateAnimBg="0"/>
      <p:bldP spid="31766" grpId="0" bldLvl="0" animBg="1" autoUpdateAnimBg="0"/>
      <p:bldP spid="31767" grpId="0" bldLvl="0" animBg="1" autoUpdateAnimBg="0"/>
      <p:bldP spid="31768" grpId="0" bldLvl="0" autoUpdateAnimBg="0"/>
      <p:bldP spid="31769" grpId="0" bldLvl="0" autoUpdateAnimBg="0"/>
      <p:bldP spid="31770" grpId="0" bldLvl="0" autoUpdateAnimBg="0"/>
      <p:bldP spid="31771" grpId="0" bldLvl="0" animBg="1" autoUpdateAnimBg="0"/>
      <p:bldP spid="31772" grpId="0" bldLvl="0" animBg="1" autoUpdateAnimBg="0"/>
      <p:bldP spid="31773" grpId="0" bldLvl="0" autoUpdateAnimBg="0"/>
      <p:bldP spid="31774" grpId="0" bldLvl="0" autoUpdateAnimBg="0"/>
      <p:bldP spid="31775" grpId="0" bldLvl="0" animBg="1" autoUpdateAnimBg="0"/>
      <p:bldP spid="31777" grpId="0" bldLvl="0" animBg="1"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83" name="圆角矩形标注 15"/>
          <p:cNvSpPr>
            <a:spLocks noChangeArrowheads="1"/>
          </p:cNvSpPr>
          <p:nvPr/>
        </p:nvSpPr>
        <p:spPr bwMode="auto">
          <a:xfrm>
            <a:off x="214313" y="2571750"/>
            <a:ext cx="2500312" cy="1736725"/>
          </a:xfrm>
          <a:prstGeom prst="wedgeRoundRectCallout">
            <a:avLst>
              <a:gd name="adj1" fmla="val 86556"/>
              <a:gd name="adj2" fmla="val 5667"/>
              <a:gd name="adj3" fmla="val 16667"/>
            </a:avLst>
          </a:prstGeom>
          <a:solidFill>
            <a:schemeClr val="bg1"/>
          </a:solidFill>
          <a:ln>
            <a:solidFill>
              <a:srgbClr val="C00000"/>
            </a:solidFill>
          </a:ln>
        </p:spPr>
        <p:style>
          <a:lnRef idx="3">
            <a:schemeClr val="lt1"/>
          </a:lnRef>
          <a:fillRef idx="1">
            <a:schemeClr val="accent1"/>
          </a:fillRef>
          <a:effectRef idx="1">
            <a:schemeClr val="accent1"/>
          </a:effectRef>
          <a:fontRef idx="minor">
            <a:schemeClr val="lt1"/>
          </a:fontRef>
        </p:style>
        <p:txBody>
          <a:bodyPr>
            <a:spAutoFit/>
          </a:bodyPr>
          <a:lstStyle/>
          <a:p>
            <a:pPr algn="just"/>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垄断竞争企业面临的需求曲线</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dd`</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和</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DD`</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反映的是两种极端情况</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事实上垄断竞争企业面临的需求曲线介于</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dd`</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和</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DD`</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之间。</a:t>
            </a:r>
            <a:endParaRPr lang="zh-CN" altLang="en-US" b="0" dirty="0">
              <a:solidFill>
                <a:schemeClr val="tx1"/>
              </a:solidFill>
              <a:latin typeface="微软雅黑" panose="020B0503020204020204" pitchFamily="34" charset="-122"/>
              <a:ea typeface="微软雅黑" panose="020B0503020204020204" pitchFamily="34" charset="-122"/>
            </a:endParaRPr>
          </a:p>
        </p:txBody>
      </p:sp>
      <p:sp>
        <p:nvSpPr>
          <p:cNvPr id="32770" name="Rectangle 3"/>
          <p:cNvSpPr>
            <a:spLocks noGrp="1" noChangeArrowheads="1"/>
          </p:cNvSpPr>
          <p:nvPr>
            <p:ph type="body" idx="4294967295"/>
          </p:nvPr>
        </p:nvSpPr>
        <p:spPr>
          <a:xfrm>
            <a:off x="457200" y="1341438"/>
            <a:ext cx="8229600" cy="2087562"/>
          </a:xfrm>
          <a:ln/>
        </p:spPr>
        <p:txBody>
          <a:bodyPr/>
          <a:lstStyle/>
          <a:p>
            <a:pPr marL="457200" lvl="2" indent="-457200" eaLnBrk="1" hangingPunct="1">
              <a:lnSpc>
                <a:spcPct val="150000"/>
              </a:lnSpc>
              <a:buSzPct val="100000"/>
              <a:buFont typeface="Wingdings" panose="05000000000000000000" pitchFamily="2" charset="2"/>
              <a:buChar char="u"/>
            </a:pPr>
            <a:r>
              <a:rPr lang="zh-CN" altLang="en-US" sz="2200" b="0" dirty="0">
                <a:latin typeface="微软雅黑" panose="020B0503020204020204" pitchFamily="34" charset="-122"/>
                <a:ea typeface="微软雅黑" panose="020B0503020204020204" pitchFamily="34" charset="-122"/>
              </a:rPr>
              <a:t>收益曲线</a:t>
            </a:r>
            <a:endParaRPr lang="en-US" altLang="zh-CN" sz="2200" b="0" dirty="0">
              <a:latin typeface="微软雅黑" panose="020B0503020204020204" pitchFamily="34" charset="-122"/>
              <a:ea typeface="微软雅黑" panose="020B0503020204020204" pitchFamily="34" charset="-122"/>
            </a:endParaRPr>
          </a:p>
        </p:txBody>
      </p:sp>
      <p:sp>
        <p:nvSpPr>
          <p:cNvPr id="32771" name="Line 4"/>
          <p:cNvSpPr>
            <a:spLocks noChangeShapeType="1"/>
          </p:cNvSpPr>
          <p:nvPr/>
        </p:nvSpPr>
        <p:spPr bwMode="auto">
          <a:xfrm flipV="1">
            <a:off x="3017838" y="2441575"/>
            <a:ext cx="1587" cy="2913063"/>
          </a:xfrm>
          <a:prstGeom prst="line">
            <a:avLst/>
          </a:prstGeom>
          <a:noFill/>
          <a:ln w="9525" cmpd="sng">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2772" name="Line 5"/>
          <p:cNvSpPr>
            <a:spLocks noChangeShapeType="1"/>
          </p:cNvSpPr>
          <p:nvPr/>
        </p:nvSpPr>
        <p:spPr bwMode="auto">
          <a:xfrm>
            <a:off x="3017838" y="5354638"/>
            <a:ext cx="3744912" cy="3175"/>
          </a:xfrm>
          <a:prstGeom prst="line">
            <a:avLst/>
          </a:prstGeom>
          <a:noFill/>
          <a:ln w="9525" cmpd="sng">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2773" name="Text Box 6"/>
          <p:cNvSpPr>
            <a:spLocks noChangeArrowheads="1"/>
          </p:cNvSpPr>
          <p:nvPr/>
        </p:nvSpPr>
        <p:spPr bwMode="auto">
          <a:xfrm>
            <a:off x="2730500" y="2286000"/>
            <a:ext cx="4000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P</a:t>
            </a:r>
            <a:endParaRPr lang="zh-CN" altLang="en-US"/>
          </a:p>
        </p:txBody>
      </p:sp>
      <p:sp>
        <p:nvSpPr>
          <p:cNvPr id="32774" name="Text Box 7"/>
          <p:cNvSpPr>
            <a:spLocks noChangeArrowheads="1"/>
          </p:cNvSpPr>
          <p:nvPr/>
        </p:nvSpPr>
        <p:spPr bwMode="auto">
          <a:xfrm>
            <a:off x="2657475" y="519906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O</a:t>
            </a:r>
            <a:endParaRPr lang="zh-CN" altLang="en-US"/>
          </a:p>
        </p:txBody>
      </p:sp>
      <p:sp>
        <p:nvSpPr>
          <p:cNvPr id="32775" name="Text Box 8"/>
          <p:cNvSpPr>
            <a:spLocks noChangeArrowheads="1"/>
          </p:cNvSpPr>
          <p:nvPr/>
        </p:nvSpPr>
        <p:spPr bwMode="auto">
          <a:xfrm>
            <a:off x="6689725" y="5276850"/>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Q</a:t>
            </a:r>
            <a:endParaRPr lang="zh-CN" altLang="en-US"/>
          </a:p>
        </p:txBody>
      </p:sp>
      <p:sp>
        <p:nvSpPr>
          <p:cNvPr id="32776" name="Line 9"/>
          <p:cNvSpPr>
            <a:spLocks noChangeShapeType="1"/>
          </p:cNvSpPr>
          <p:nvPr/>
        </p:nvSpPr>
        <p:spPr bwMode="auto">
          <a:xfrm>
            <a:off x="3017838" y="3230563"/>
            <a:ext cx="3097212" cy="1023937"/>
          </a:xfrm>
          <a:prstGeom prst="line">
            <a:avLst/>
          </a:prstGeom>
          <a:noFill/>
          <a:ln w="28575" cmpd="sng">
            <a:solidFill>
              <a:srgbClr val="0070C0"/>
            </a:solidFill>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2777" name="Text Box 10"/>
          <p:cNvSpPr>
            <a:spLocks noChangeArrowheads="1"/>
          </p:cNvSpPr>
          <p:nvPr/>
        </p:nvSpPr>
        <p:spPr bwMode="auto">
          <a:xfrm>
            <a:off x="5826125" y="4254500"/>
            <a:ext cx="11398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dd'</a:t>
            </a:r>
            <a:endParaRPr lang="zh-CN" altLang="en-US"/>
          </a:p>
        </p:txBody>
      </p:sp>
      <p:sp>
        <p:nvSpPr>
          <p:cNvPr id="32778" name="Line 11"/>
          <p:cNvSpPr>
            <a:spLocks noChangeShapeType="1"/>
          </p:cNvSpPr>
          <p:nvPr/>
        </p:nvSpPr>
        <p:spPr bwMode="auto">
          <a:xfrm>
            <a:off x="3017838" y="3230563"/>
            <a:ext cx="2160587" cy="1574800"/>
          </a:xfrm>
          <a:prstGeom prst="line">
            <a:avLst/>
          </a:prstGeom>
          <a:noFill/>
          <a:ln w="28575" cmpd="sng">
            <a:solidFill>
              <a:srgbClr val="0070C0"/>
            </a:solidFill>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2779" name="Text Box 12"/>
          <p:cNvSpPr>
            <a:spLocks noChangeArrowheads="1"/>
          </p:cNvSpPr>
          <p:nvPr/>
        </p:nvSpPr>
        <p:spPr bwMode="auto">
          <a:xfrm>
            <a:off x="5105400" y="4727575"/>
            <a:ext cx="10795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MR</a:t>
            </a:r>
            <a:endParaRPr lang="zh-CN" altLang="en-US"/>
          </a:p>
        </p:txBody>
      </p:sp>
      <p:sp>
        <p:nvSpPr>
          <p:cNvPr id="32780" name="Line 13"/>
          <p:cNvSpPr>
            <a:spLocks noChangeShapeType="1"/>
          </p:cNvSpPr>
          <p:nvPr/>
        </p:nvSpPr>
        <p:spPr bwMode="auto">
          <a:xfrm>
            <a:off x="3954463" y="3073400"/>
            <a:ext cx="1081087" cy="2125663"/>
          </a:xfrm>
          <a:prstGeom prst="line">
            <a:avLst/>
          </a:prstGeom>
          <a:noFill/>
          <a:ln w="28575" cmpd="sng">
            <a:solidFill>
              <a:srgbClr val="0070C0"/>
            </a:solidFill>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2781" name="Text Box 14"/>
          <p:cNvSpPr>
            <a:spLocks noChangeArrowheads="1"/>
          </p:cNvSpPr>
          <p:nvPr/>
        </p:nvSpPr>
        <p:spPr bwMode="auto">
          <a:xfrm>
            <a:off x="4241800" y="3308350"/>
            <a:ext cx="3095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A</a:t>
            </a:r>
            <a:endParaRPr lang="zh-CN" altLang="en-US"/>
          </a:p>
        </p:txBody>
      </p:sp>
      <p:sp>
        <p:nvSpPr>
          <p:cNvPr id="32782" name="Text Box 15"/>
          <p:cNvSpPr>
            <a:spLocks noChangeArrowheads="1"/>
          </p:cNvSpPr>
          <p:nvPr/>
        </p:nvSpPr>
        <p:spPr bwMode="auto">
          <a:xfrm>
            <a:off x="4962525" y="5041900"/>
            <a:ext cx="67627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DD'</a:t>
            </a:r>
            <a:endParaRPr lang="zh-CN" altLang="en-US"/>
          </a:p>
        </p:txBody>
      </p:sp>
      <p:sp>
        <p:nvSpPr>
          <p:cNvPr id="32784" name="圆角矩形标注 16"/>
          <p:cNvSpPr>
            <a:spLocks noChangeArrowheads="1"/>
          </p:cNvSpPr>
          <p:nvPr/>
        </p:nvSpPr>
        <p:spPr bwMode="auto">
          <a:xfrm>
            <a:off x="4241799" y="1571625"/>
            <a:ext cx="3714435" cy="1464231"/>
          </a:xfrm>
          <a:prstGeom prst="wedgeRoundRectCallout">
            <a:avLst>
              <a:gd name="adj1" fmla="val -10681"/>
              <a:gd name="adj2" fmla="val 80889"/>
              <a:gd name="adj3" fmla="val 16667"/>
            </a:avLst>
          </a:prstGeom>
          <a:solidFill>
            <a:schemeClr val="bg1"/>
          </a:solidFill>
          <a:ln>
            <a:solidFill>
              <a:srgbClr val="C00000"/>
            </a:solidFill>
          </a:ln>
        </p:spPr>
        <p:style>
          <a:lnRef idx="3">
            <a:schemeClr val="lt1"/>
          </a:lnRef>
          <a:fillRef idx="1">
            <a:schemeClr val="accent1"/>
          </a:fillRef>
          <a:effectRef idx="1">
            <a:schemeClr val="accent1"/>
          </a:effectRef>
          <a:fontRef idx="minor">
            <a:schemeClr val="lt1"/>
          </a:fontRef>
        </p:style>
        <p:txBody>
          <a:bodyPr wrap="square">
            <a:spAutoFit/>
          </a:bodyPr>
          <a:lstStyle/>
          <a:p>
            <a:pPr algn="just"/>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垄断竞争企业在整个市场上占的份额非常小</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因而它的行为不会引起其他企业的反应。由</a:t>
            </a:r>
            <a:r>
              <a:rPr lang="en-US" altLang="zh-CN" b="0" dirty="0" err="1">
                <a:solidFill>
                  <a:schemeClr val="tx1"/>
                </a:solidFill>
                <a:latin typeface="微软雅黑" panose="020B0503020204020204" pitchFamily="34" charset="-122"/>
                <a:ea typeface="微软雅黑" panose="020B0503020204020204" pitchFamily="34" charset="-122"/>
                <a:sym typeface="Arial" panose="020B0604020202020204" pitchFamily="34" charset="0"/>
              </a:rPr>
              <a:t>dd</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决定收益曲线</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平均收益曲线总是与其面临的需求曲线重合。</a:t>
            </a:r>
            <a:endParaRPr lang="zh-CN" altLang="en-US" b="0" dirty="0">
              <a:solidFill>
                <a:schemeClr val="tx1"/>
              </a:solidFill>
              <a:latin typeface="微软雅黑" panose="020B0503020204020204" pitchFamily="34" charset="-122"/>
              <a:ea typeface="微软雅黑" panose="020B0503020204020204" pitchFamily="34" charset="-122"/>
            </a:endParaRPr>
          </a:p>
        </p:txBody>
      </p:sp>
      <p:sp>
        <p:nvSpPr>
          <p:cNvPr id="32785" name="圆角矩形标注 17"/>
          <p:cNvSpPr>
            <a:spLocks noChangeArrowheads="1"/>
          </p:cNvSpPr>
          <p:nvPr/>
        </p:nvSpPr>
        <p:spPr bwMode="auto">
          <a:xfrm>
            <a:off x="6929438" y="3857625"/>
            <a:ext cx="1970087" cy="1736646"/>
          </a:xfrm>
          <a:prstGeom prst="wedgeRoundRectCallout">
            <a:avLst>
              <a:gd name="adj1" fmla="val -115866"/>
              <a:gd name="adj2" fmla="val 20866"/>
              <a:gd name="adj3" fmla="val 16667"/>
            </a:avLst>
          </a:prstGeom>
          <a:solidFill>
            <a:schemeClr val="bg1"/>
          </a:solidFill>
          <a:ln>
            <a:solidFill>
              <a:srgbClr val="C00000"/>
            </a:solidFill>
          </a:ln>
        </p:spPr>
        <p:style>
          <a:lnRef idx="3">
            <a:schemeClr val="lt1"/>
          </a:lnRef>
          <a:fillRef idx="1">
            <a:schemeClr val="accent1"/>
          </a:fillRef>
          <a:effectRef idx="1">
            <a:schemeClr val="accent1"/>
          </a:effectRef>
          <a:fontRef idx="minor">
            <a:schemeClr val="lt1"/>
          </a:fontRef>
        </p:style>
        <p:txBody>
          <a:bodyPr>
            <a:spAutoFit/>
          </a:bodyPr>
          <a:lstStyle/>
          <a:p>
            <a:pPr algn="just"/>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当平均收益曲线为直线时</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边际收益曲线的纵截距总与平均收益曲线相同</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且斜率总是后者的</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2</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倍。</a:t>
            </a:r>
            <a:endParaRPr lang="zh-CN" altLang="en-US" b="0" dirty="0">
              <a:solidFill>
                <a:schemeClr val="tx1"/>
              </a:solidFill>
              <a:latin typeface="微软雅黑" panose="020B0503020204020204" pitchFamily="34" charset="-122"/>
              <a:ea typeface="微软雅黑" panose="020B0503020204020204" pitchFamily="34" charset="-122"/>
            </a:endParaRPr>
          </a:p>
        </p:txBody>
      </p:sp>
      <p:sp>
        <p:nvSpPr>
          <p:cNvPr id="32786" name="矩形 20"/>
          <p:cNvSpPr>
            <a:spLocks noChangeArrowheads="1"/>
          </p:cNvSpPr>
          <p:nvPr/>
        </p:nvSpPr>
        <p:spPr bwMode="auto">
          <a:xfrm>
            <a:off x="6143625" y="4286250"/>
            <a:ext cx="6000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a:solidFill>
                  <a:srgbClr val="000000"/>
                </a:solidFill>
                <a:sym typeface="Arial" panose="020B0604020202020204" pitchFamily="34" charset="0"/>
              </a:rPr>
              <a:t>=AR</a:t>
            </a:r>
            <a:endParaRPr lang="zh-CN" altLang="en-US"/>
          </a:p>
        </p:txBody>
      </p:sp>
      <p:sp>
        <p:nvSpPr>
          <p:cNvPr id="20" name="矩形 19">
            <a:extLst>
              <a:ext uri="{FF2B5EF4-FFF2-40B4-BE49-F238E27FC236}">
                <a16:creationId xmlns:a16="http://schemas.microsoft.com/office/drawing/2014/main" id="{F68E5273-CD77-47B9-B841-9D29349C133D}"/>
              </a:ext>
            </a:extLst>
          </p:cNvPr>
          <p:cNvSpPr/>
          <p:nvPr/>
        </p:nvSpPr>
        <p:spPr>
          <a:xfrm>
            <a:off x="457200" y="548681"/>
            <a:ext cx="6081237"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a:defRPr/>
            </a:pPr>
            <a:r>
              <a:rPr lang="zh-CN" altLang="en-US" sz="2400" spc="150" dirty="0">
                <a:solidFill>
                  <a:srgbClr val="FFFFFF"/>
                </a:solidFill>
                <a:latin typeface="微软雅黑" panose="020B0503020204020204" pitchFamily="34" charset="-122"/>
                <a:ea typeface="微软雅黑" panose="020B0503020204020204" pitchFamily="34" charset="-122"/>
              </a:rPr>
              <a:t>二</a:t>
            </a:r>
            <a:r>
              <a:rPr lang="zh-CN" altLang="en-US" sz="2400" b="1" spc="150" dirty="0">
                <a:solidFill>
                  <a:srgbClr val="FFFFFF"/>
                </a:solidFill>
                <a:latin typeface="微软雅黑" panose="020B0503020204020204" pitchFamily="34" charset="-122"/>
                <a:ea typeface="微软雅黑" panose="020B0503020204020204" pitchFamily="34" charset="-122"/>
              </a:rPr>
              <a:t>、</a:t>
            </a:r>
            <a:r>
              <a:rPr lang="zh-CN" altLang="en-US" sz="2400" spc="15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垄断竞争企业的需求曲线和收益曲线</a:t>
            </a:r>
            <a:endParaRPr lang="zh-CN" altLang="en-US" sz="2400" b="1" spc="150" dirty="0">
              <a:solidFill>
                <a:srgbClr val="FFFFFF"/>
              </a:solidFill>
              <a:latin typeface="微软雅黑" panose="020B0503020204020204" pitchFamily="34" charset="-122"/>
              <a:ea typeface="微软雅黑" panose="020B0503020204020204" pitchFamily="34" charset="-122"/>
            </a:endParaRPr>
          </a:p>
        </p:txBody>
      </p:sp>
      <p:sp>
        <p:nvSpPr>
          <p:cNvPr id="22" name="标题 1"/>
          <p:cNvSpPr>
            <a:spLocks noChangeArrowheads="1"/>
          </p:cNvSpPr>
          <p:nvPr/>
        </p:nvSpPr>
        <p:spPr bwMode="auto">
          <a:xfrm>
            <a:off x="7236185" y="44765"/>
            <a:ext cx="1944135" cy="3599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1800" b="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第二节  垄断竞争</a:t>
            </a:r>
            <a:endParaRPr lang="zh-CN" altLang="en-US" sz="1800" b="0" dirty="0">
              <a:solidFill>
                <a:schemeClr val="tx2"/>
              </a:solidFill>
              <a:latin typeface="微软雅黑" panose="020B0503020204020204" pitchFamily="34" charset="-122"/>
              <a:ea typeface="微软雅黑" panose="020B0503020204020204" pitchFamily="34" charset="-122"/>
              <a:sym typeface="Arial" panose="020B0604020202020204" pitchFamily="34"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2770">
                                            <p:txEl>
                                              <p:pRg st="0" end="0"/>
                                            </p:txEl>
                                          </p:spTgt>
                                        </p:tgtEl>
                                        <p:attrNameLst>
                                          <p:attrName>style.visibility</p:attrName>
                                        </p:attrNameLst>
                                      </p:cBhvr>
                                      <p:to>
                                        <p:strVal val="visible"/>
                                      </p:to>
                                    </p:set>
                                    <p:animEffect>
                                      <p:cBhvr>
                                        <p:cTn id="7" dur="500"/>
                                        <p:tgtEl>
                                          <p:spTgt spid="3277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2773"/>
                                        </p:tgtEl>
                                        <p:attrNameLst>
                                          <p:attrName>style.visibility</p:attrName>
                                        </p:attrNameLst>
                                      </p:cBhvr>
                                      <p:to>
                                        <p:strVal val="visible"/>
                                      </p:to>
                                    </p:set>
                                    <p:animEffect>
                                      <p:cBhvr>
                                        <p:cTn id="12" dur="500"/>
                                        <p:tgtEl>
                                          <p:spTgt spid="32773"/>
                                        </p:tgtEl>
                                      </p:cBhvr>
                                    </p:animEffect>
                                  </p:childTnLst>
                                </p:cTn>
                              </p:par>
                              <p:par>
                                <p:cTn id="13" presetID="5" presetClass="entr" presetSubtype="10" fill="hold" grpId="0" nodeType="withEffect">
                                  <p:stCondLst>
                                    <p:cond delay="0"/>
                                  </p:stCondLst>
                                  <p:childTnLst>
                                    <p:set>
                                      <p:cBhvr>
                                        <p:cTn id="14" dur="1" fill="hold">
                                          <p:stCondLst>
                                            <p:cond delay="0"/>
                                          </p:stCondLst>
                                        </p:cTn>
                                        <p:tgtEl>
                                          <p:spTgt spid="32771"/>
                                        </p:tgtEl>
                                        <p:attrNameLst>
                                          <p:attrName>style.visibility</p:attrName>
                                        </p:attrNameLst>
                                      </p:cBhvr>
                                      <p:to>
                                        <p:strVal val="visible"/>
                                      </p:to>
                                    </p:set>
                                    <p:animEffect>
                                      <p:cBhvr>
                                        <p:cTn id="15" dur="500"/>
                                        <p:tgtEl>
                                          <p:spTgt spid="32771"/>
                                        </p:tgtEl>
                                      </p:cBhvr>
                                    </p:animEffect>
                                  </p:childTnLst>
                                </p:cTn>
                              </p:par>
                              <p:par>
                                <p:cTn id="16" presetID="5" presetClass="entr" presetSubtype="10" fill="hold" grpId="0" nodeType="withEffect">
                                  <p:stCondLst>
                                    <p:cond delay="0"/>
                                  </p:stCondLst>
                                  <p:childTnLst>
                                    <p:set>
                                      <p:cBhvr>
                                        <p:cTn id="17" dur="1" fill="hold">
                                          <p:stCondLst>
                                            <p:cond delay="0"/>
                                          </p:stCondLst>
                                        </p:cTn>
                                        <p:tgtEl>
                                          <p:spTgt spid="32774"/>
                                        </p:tgtEl>
                                        <p:attrNameLst>
                                          <p:attrName>style.visibility</p:attrName>
                                        </p:attrNameLst>
                                      </p:cBhvr>
                                      <p:to>
                                        <p:strVal val="visible"/>
                                      </p:to>
                                    </p:set>
                                    <p:animEffect>
                                      <p:cBhvr>
                                        <p:cTn id="18" dur="500"/>
                                        <p:tgtEl>
                                          <p:spTgt spid="32774"/>
                                        </p:tgtEl>
                                      </p:cBhvr>
                                    </p:animEffect>
                                  </p:childTnLst>
                                </p:cTn>
                              </p:par>
                              <p:par>
                                <p:cTn id="19" presetID="5" presetClass="entr" presetSubtype="10" fill="hold" grpId="0" nodeType="withEffect">
                                  <p:stCondLst>
                                    <p:cond delay="0"/>
                                  </p:stCondLst>
                                  <p:childTnLst>
                                    <p:set>
                                      <p:cBhvr>
                                        <p:cTn id="20" dur="1" fill="hold">
                                          <p:stCondLst>
                                            <p:cond delay="0"/>
                                          </p:stCondLst>
                                        </p:cTn>
                                        <p:tgtEl>
                                          <p:spTgt spid="32772"/>
                                        </p:tgtEl>
                                        <p:attrNameLst>
                                          <p:attrName>style.visibility</p:attrName>
                                        </p:attrNameLst>
                                      </p:cBhvr>
                                      <p:to>
                                        <p:strVal val="visible"/>
                                      </p:to>
                                    </p:set>
                                    <p:animEffect>
                                      <p:cBhvr>
                                        <p:cTn id="21" dur="500"/>
                                        <p:tgtEl>
                                          <p:spTgt spid="32772"/>
                                        </p:tgtEl>
                                      </p:cBhvr>
                                    </p:animEffect>
                                  </p:childTnLst>
                                </p:cTn>
                              </p:par>
                              <p:par>
                                <p:cTn id="22" presetID="5" presetClass="entr" presetSubtype="10" fill="hold" grpId="0" nodeType="withEffect">
                                  <p:stCondLst>
                                    <p:cond delay="0"/>
                                  </p:stCondLst>
                                  <p:childTnLst>
                                    <p:set>
                                      <p:cBhvr>
                                        <p:cTn id="23" dur="1" fill="hold">
                                          <p:stCondLst>
                                            <p:cond delay="0"/>
                                          </p:stCondLst>
                                        </p:cTn>
                                        <p:tgtEl>
                                          <p:spTgt spid="32775"/>
                                        </p:tgtEl>
                                        <p:attrNameLst>
                                          <p:attrName>style.visibility</p:attrName>
                                        </p:attrNameLst>
                                      </p:cBhvr>
                                      <p:to>
                                        <p:strVal val="visible"/>
                                      </p:to>
                                    </p:set>
                                    <p:animEffect>
                                      <p:cBhvr>
                                        <p:cTn id="24" dur="500"/>
                                        <p:tgtEl>
                                          <p:spTgt spid="32775"/>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32781"/>
                                        </p:tgtEl>
                                        <p:attrNameLst>
                                          <p:attrName>style.visibility</p:attrName>
                                        </p:attrNameLst>
                                      </p:cBhvr>
                                      <p:to>
                                        <p:strVal val="visible"/>
                                      </p:to>
                                    </p:set>
                                    <p:animEffect>
                                      <p:cBhvr>
                                        <p:cTn id="29" dur="500"/>
                                        <p:tgtEl>
                                          <p:spTgt spid="32781"/>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32780"/>
                                        </p:tgtEl>
                                        <p:attrNameLst>
                                          <p:attrName>style.visibility</p:attrName>
                                        </p:attrNameLst>
                                      </p:cBhvr>
                                      <p:to>
                                        <p:strVal val="visible"/>
                                      </p:to>
                                    </p:set>
                                    <p:animEffect>
                                      <p:cBhvr>
                                        <p:cTn id="32" dur="500"/>
                                        <p:tgtEl>
                                          <p:spTgt spid="32780"/>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32776"/>
                                        </p:tgtEl>
                                        <p:attrNameLst>
                                          <p:attrName>style.visibility</p:attrName>
                                        </p:attrNameLst>
                                      </p:cBhvr>
                                      <p:to>
                                        <p:strVal val="visible"/>
                                      </p:to>
                                    </p:set>
                                    <p:animEffect>
                                      <p:cBhvr>
                                        <p:cTn id="35" dur="500"/>
                                        <p:tgtEl>
                                          <p:spTgt spid="32776"/>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32777">
                                            <p:txEl>
                                              <p:pRg st="0" end="0"/>
                                            </p:txEl>
                                          </p:spTgt>
                                        </p:tgtEl>
                                        <p:attrNameLst>
                                          <p:attrName>style.visibility</p:attrName>
                                        </p:attrNameLst>
                                      </p:cBhvr>
                                      <p:to>
                                        <p:strVal val="visible"/>
                                      </p:to>
                                    </p:set>
                                    <p:animEffect>
                                      <p:cBhvr>
                                        <p:cTn id="40" dur="500"/>
                                        <p:tgtEl>
                                          <p:spTgt spid="32777">
                                            <p:txEl>
                                              <p:pRg st="0" end="0"/>
                                            </p:txEl>
                                          </p:spTgt>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32782"/>
                                        </p:tgtEl>
                                        <p:attrNameLst>
                                          <p:attrName>style.visibility</p:attrName>
                                        </p:attrNameLst>
                                      </p:cBhvr>
                                      <p:to>
                                        <p:strVal val="visible"/>
                                      </p:to>
                                    </p:set>
                                    <p:animEffect>
                                      <p:cBhvr>
                                        <p:cTn id="45" dur="500"/>
                                        <p:tgtEl>
                                          <p:spTgt spid="32782"/>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32783"/>
                                        </p:tgtEl>
                                        <p:attrNameLst>
                                          <p:attrName>style.visibility</p:attrName>
                                        </p:attrNameLst>
                                      </p:cBhvr>
                                      <p:to>
                                        <p:strVal val="visible"/>
                                      </p:to>
                                    </p:set>
                                    <p:animEffect>
                                      <p:cBhvr>
                                        <p:cTn id="50" dur="500"/>
                                        <p:tgtEl>
                                          <p:spTgt spid="32783"/>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32784"/>
                                        </p:tgtEl>
                                        <p:attrNameLst>
                                          <p:attrName>style.visibility</p:attrName>
                                        </p:attrNameLst>
                                      </p:cBhvr>
                                      <p:to>
                                        <p:strVal val="visible"/>
                                      </p:to>
                                    </p:set>
                                    <p:animEffect>
                                      <p:cBhvr>
                                        <p:cTn id="55" dur="500"/>
                                        <p:tgtEl>
                                          <p:spTgt spid="32784"/>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3" presetClass="entr" presetSubtype="10" fill="hold" grpId="0" nodeType="clickEffect">
                                  <p:stCondLst>
                                    <p:cond delay="0"/>
                                  </p:stCondLst>
                                  <p:childTnLst>
                                    <p:set>
                                      <p:cBhvr>
                                        <p:cTn id="59" dur="1" fill="hold">
                                          <p:stCondLst>
                                            <p:cond delay="0"/>
                                          </p:stCondLst>
                                        </p:cTn>
                                        <p:tgtEl>
                                          <p:spTgt spid="32786"/>
                                        </p:tgtEl>
                                        <p:attrNameLst>
                                          <p:attrName>style.visibility</p:attrName>
                                        </p:attrNameLst>
                                      </p:cBhvr>
                                      <p:to>
                                        <p:strVal val="visible"/>
                                      </p:to>
                                    </p:set>
                                    <p:animEffect>
                                      <p:cBhvr>
                                        <p:cTn id="60" dur="500"/>
                                        <p:tgtEl>
                                          <p:spTgt spid="32786"/>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3" presetClass="entr" presetSubtype="10" fill="hold" grpId="0" nodeType="clickEffect">
                                  <p:stCondLst>
                                    <p:cond delay="0"/>
                                  </p:stCondLst>
                                  <p:childTnLst>
                                    <p:set>
                                      <p:cBhvr>
                                        <p:cTn id="64" dur="1" fill="hold">
                                          <p:stCondLst>
                                            <p:cond delay="0"/>
                                          </p:stCondLst>
                                        </p:cTn>
                                        <p:tgtEl>
                                          <p:spTgt spid="32778"/>
                                        </p:tgtEl>
                                        <p:attrNameLst>
                                          <p:attrName>style.visibility</p:attrName>
                                        </p:attrNameLst>
                                      </p:cBhvr>
                                      <p:to>
                                        <p:strVal val="visible"/>
                                      </p:to>
                                    </p:set>
                                    <p:animEffect>
                                      <p:cBhvr>
                                        <p:cTn id="65" dur="500"/>
                                        <p:tgtEl>
                                          <p:spTgt spid="32778"/>
                                        </p:tgtEl>
                                      </p:cBhvr>
                                    </p:animEffect>
                                  </p:childTnLst>
                                </p:cTn>
                              </p:par>
                              <p:par>
                                <p:cTn id="66" presetID="3" presetClass="entr" presetSubtype="10" fill="hold" grpId="0" nodeType="withEffect">
                                  <p:stCondLst>
                                    <p:cond delay="0"/>
                                  </p:stCondLst>
                                  <p:childTnLst>
                                    <p:set>
                                      <p:cBhvr>
                                        <p:cTn id="67" dur="1" fill="hold">
                                          <p:stCondLst>
                                            <p:cond delay="0"/>
                                          </p:stCondLst>
                                        </p:cTn>
                                        <p:tgtEl>
                                          <p:spTgt spid="32779"/>
                                        </p:tgtEl>
                                        <p:attrNameLst>
                                          <p:attrName>style.visibility</p:attrName>
                                        </p:attrNameLst>
                                      </p:cBhvr>
                                      <p:to>
                                        <p:strVal val="visible"/>
                                      </p:to>
                                    </p:set>
                                    <p:animEffect>
                                      <p:cBhvr>
                                        <p:cTn id="68" dur="500"/>
                                        <p:tgtEl>
                                          <p:spTgt spid="32779"/>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3" presetClass="entr" presetSubtype="10" fill="hold" grpId="0" nodeType="clickEffect">
                                  <p:stCondLst>
                                    <p:cond delay="0"/>
                                  </p:stCondLst>
                                  <p:childTnLst>
                                    <p:set>
                                      <p:cBhvr>
                                        <p:cTn id="72" dur="1" fill="hold">
                                          <p:stCondLst>
                                            <p:cond delay="0"/>
                                          </p:stCondLst>
                                        </p:cTn>
                                        <p:tgtEl>
                                          <p:spTgt spid="32785"/>
                                        </p:tgtEl>
                                        <p:attrNameLst>
                                          <p:attrName>style.visibility</p:attrName>
                                        </p:attrNameLst>
                                      </p:cBhvr>
                                      <p:to>
                                        <p:strVal val="visible"/>
                                      </p:to>
                                    </p:set>
                                    <p:animEffect>
                                      <p:cBhvr>
                                        <p:cTn id="73" dur="500"/>
                                        <p:tgtEl>
                                          <p:spTgt spid="32785"/>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3" presetClass="entr" presetSubtype="10" fill="hold" nodeType="clickEffect">
                                  <p:stCondLst>
                                    <p:cond delay="0"/>
                                  </p:stCondLst>
                                  <p:childTnLst>
                                    <p:set>
                                      <p:cBhvr>
                                        <p:cTn id="77" dur="1" fill="hold">
                                          <p:stCondLst>
                                            <p:cond delay="0"/>
                                          </p:stCondLst>
                                        </p:cTn>
                                        <p:tgtEl>
                                          <p:spTgt spid="32777">
                                            <p:txEl>
                                              <p:pRg st="0" end="0"/>
                                            </p:txEl>
                                          </p:spTgt>
                                        </p:tgtEl>
                                        <p:attrNameLst>
                                          <p:attrName>style.visibility</p:attrName>
                                        </p:attrNameLst>
                                      </p:cBhvr>
                                      <p:to>
                                        <p:strVal val="visible"/>
                                      </p:to>
                                    </p:set>
                                    <p:animEffect>
                                      <p:cBhvr>
                                        <p:cTn id="78" dur="500"/>
                                        <p:tgtEl>
                                          <p:spTgt spid="3277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83" grpId="0" bldLvl="0" animBg="1" autoUpdateAnimBg="0"/>
      <p:bldP spid="32771" grpId="0" bldLvl="0" animBg="1" autoUpdateAnimBg="0"/>
      <p:bldP spid="32772" grpId="0" bldLvl="0" animBg="1" autoUpdateAnimBg="0"/>
      <p:bldP spid="32773" grpId="0" bldLvl="0" autoUpdateAnimBg="0"/>
      <p:bldP spid="32774" grpId="0" bldLvl="0" autoUpdateAnimBg="0"/>
      <p:bldP spid="32775" grpId="0" bldLvl="0" autoUpdateAnimBg="0"/>
      <p:bldP spid="32776" grpId="0" bldLvl="0" animBg="1" autoUpdateAnimBg="0"/>
      <p:bldP spid="32777" grpId="0" build="allAtOnce" bldLvl="0" autoUpdateAnimBg="0"/>
      <p:bldP spid="32778" grpId="0" bldLvl="0" animBg="1" autoUpdateAnimBg="0"/>
      <p:bldP spid="32779" grpId="0" bldLvl="0" autoUpdateAnimBg="0"/>
      <p:bldP spid="32780" grpId="0" bldLvl="0" animBg="1" autoUpdateAnimBg="0"/>
      <p:bldP spid="32781" grpId="0" bldLvl="0" autoUpdateAnimBg="0"/>
      <p:bldP spid="32782" grpId="0" bldLvl="0" autoUpdateAnimBg="0"/>
      <p:bldP spid="32784" grpId="0" bldLvl="0" animBg="1" autoUpdateAnimBg="0"/>
      <p:bldP spid="32785" grpId="0" bldLvl="0" animBg="1" autoUpdateAnimBg="0"/>
      <p:bldP spid="32786" grpId="0" bldLvl="0"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17" name="圆角矩形标注 26"/>
          <p:cNvSpPr>
            <a:spLocks noChangeArrowheads="1"/>
          </p:cNvSpPr>
          <p:nvPr/>
        </p:nvSpPr>
        <p:spPr bwMode="auto">
          <a:xfrm>
            <a:off x="6072188" y="2143125"/>
            <a:ext cx="2714625" cy="1192213"/>
          </a:xfrm>
          <a:prstGeom prst="wedgeRoundRectCallout">
            <a:avLst>
              <a:gd name="adj1" fmla="val -101032"/>
              <a:gd name="adj2" fmla="val 180630"/>
              <a:gd name="adj3" fmla="val 16667"/>
            </a:avLst>
          </a:prstGeom>
          <a:solidFill>
            <a:schemeClr val="bg1"/>
          </a:solidFill>
          <a:ln>
            <a:solidFill>
              <a:srgbClr val="C00000"/>
            </a:solidFill>
          </a:ln>
        </p:spPr>
        <p:style>
          <a:lnRef idx="3">
            <a:schemeClr val="lt1"/>
          </a:lnRef>
          <a:fillRef idx="1">
            <a:schemeClr val="accent1"/>
          </a:fillRef>
          <a:effectRef idx="1">
            <a:schemeClr val="accent1"/>
          </a:effectRef>
          <a:fontRef idx="minor">
            <a:schemeClr val="lt1"/>
          </a:fontRef>
        </p:style>
        <p:txBody>
          <a:bodyPr>
            <a:spAutoFit/>
          </a:bodyPr>
          <a:lstStyle/>
          <a:p>
            <a:pPr algn="just"/>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边际收益曲线</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MR</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和边际成本曲线</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MC</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在点</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E</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处相交</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点</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E</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决定的利润最大化的产量和价格分别为</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Q</a:t>
            </a:r>
            <a:r>
              <a:rPr lang="en-US" altLang="zh-CN" b="0" baseline="-2500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0</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和</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P</a:t>
            </a:r>
            <a:r>
              <a:rPr lang="en-US" altLang="zh-CN" b="0" baseline="-2500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0</a:t>
            </a:r>
            <a:endParaRPr lang="zh-CN" altLang="en-US" b="0" baseline="-25000" dirty="0">
              <a:solidFill>
                <a:schemeClr val="tx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33794" name="Rectangle 3"/>
          <p:cNvSpPr>
            <a:spLocks noGrp="1" noChangeArrowheads="1"/>
          </p:cNvSpPr>
          <p:nvPr>
            <p:ph type="body" idx="4294967295"/>
          </p:nvPr>
        </p:nvSpPr>
        <p:spPr>
          <a:xfrm>
            <a:off x="457200" y="1341438"/>
            <a:ext cx="3466755" cy="825499"/>
          </a:xfrm>
          <a:ln/>
        </p:spPr>
        <p:txBody>
          <a:bodyPr/>
          <a:lstStyle/>
          <a:p>
            <a:pPr marL="457200" lvl="2" indent="-457200" eaLnBrk="1" hangingPunct="1">
              <a:lnSpc>
                <a:spcPct val="150000"/>
              </a:lnSpc>
              <a:buSzPct val="100000"/>
              <a:buFont typeface="Wingdings" panose="05000000000000000000" pitchFamily="2" charset="2"/>
              <a:buChar char="u"/>
            </a:pPr>
            <a:r>
              <a:rPr lang="zh-CN" altLang="en-US" sz="2200" b="0" dirty="0">
                <a:latin typeface="微软雅黑" panose="020B0503020204020204" pitchFamily="34" charset="-122"/>
                <a:ea typeface="微软雅黑" panose="020B0503020204020204" pitchFamily="34" charset="-122"/>
              </a:rPr>
              <a:t>短期均衡</a:t>
            </a:r>
            <a:endParaRPr lang="en-US" altLang="zh-CN" sz="2200" b="0" dirty="0">
              <a:latin typeface="微软雅黑" panose="020B0503020204020204" pitchFamily="34" charset="-122"/>
              <a:ea typeface="微软雅黑" panose="020B0503020204020204" pitchFamily="34" charset="-122"/>
            </a:endParaRPr>
          </a:p>
        </p:txBody>
      </p:sp>
      <p:sp>
        <p:nvSpPr>
          <p:cNvPr id="33795" name="Line 4"/>
          <p:cNvSpPr>
            <a:spLocks noChangeShapeType="1"/>
          </p:cNvSpPr>
          <p:nvPr/>
        </p:nvSpPr>
        <p:spPr bwMode="auto">
          <a:xfrm flipV="1">
            <a:off x="2922588" y="2509838"/>
            <a:ext cx="1587" cy="3408362"/>
          </a:xfrm>
          <a:prstGeom prst="line">
            <a:avLst/>
          </a:prstGeom>
          <a:noFill/>
          <a:ln w="9525" cmpd="sng">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3796" name="Line 5"/>
          <p:cNvSpPr>
            <a:spLocks noChangeShapeType="1"/>
          </p:cNvSpPr>
          <p:nvPr/>
        </p:nvSpPr>
        <p:spPr bwMode="auto">
          <a:xfrm>
            <a:off x="2922588" y="5918200"/>
            <a:ext cx="4073525" cy="0"/>
          </a:xfrm>
          <a:prstGeom prst="line">
            <a:avLst/>
          </a:prstGeom>
          <a:noFill/>
          <a:ln w="9525" cmpd="sng">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3797" name="Text Box 6"/>
          <p:cNvSpPr>
            <a:spLocks noChangeArrowheads="1"/>
          </p:cNvSpPr>
          <p:nvPr/>
        </p:nvSpPr>
        <p:spPr bwMode="auto">
          <a:xfrm>
            <a:off x="2584450" y="2428875"/>
            <a:ext cx="49371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P</a:t>
            </a:r>
            <a:endParaRPr lang="zh-CN" altLang="en-US"/>
          </a:p>
        </p:txBody>
      </p:sp>
      <p:sp>
        <p:nvSpPr>
          <p:cNvPr id="33798" name="Text Box 7"/>
          <p:cNvSpPr>
            <a:spLocks noChangeArrowheads="1"/>
          </p:cNvSpPr>
          <p:nvPr/>
        </p:nvSpPr>
        <p:spPr bwMode="auto">
          <a:xfrm>
            <a:off x="2584450" y="5837238"/>
            <a:ext cx="3921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O</a:t>
            </a:r>
            <a:endParaRPr lang="zh-CN" altLang="en-US"/>
          </a:p>
        </p:txBody>
      </p:sp>
      <p:sp>
        <p:nvSpPr>
          <p:cNvPr id="33799" name="Text Box 8"/>
          <p:cNvSpPr>
            <a:spLocks noChangeArrowheads="1"/>
          </p:cNvSpPr>
          <p:nvPr/>
        </p:nvSpPr>
        <p:spPr bwMode="auto">
          <a:xfrm>
            <a:off x="6742113" y="5918200"/>
            <a:ext cx="36671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Q</a:t>
            </a:r>
            <a:endParaRPr lang="zh-CN" altLang="en-US"/>
          </a:p>
        </p:txBody>
      </p:sp>
      <p:sp>
        <p:nvSpPr>
          <p:cNvPr id="33800" name="未知"/>
          <p:cNvSpPr>
            <a:spLocks noChangeArrowheads="1"/>
          </p:cNvSpPr>
          <p:nvPr/>
        </p:nvSpPr>
        <p:spPr bwMode="auto">
          <a:xfrm>
            <a:off x="4025900" y="3222625"/>
            <a:ext cx="1552575" cy="1781175"/>
          </a:xfrm>
          <a:custGeom>
            <a:avLst/>
            <a:gdLst>
              <a:gd name="T0" fmla="*/ 2147483647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a:moveTo>
                  <a:pt x="21600" y="0"/>
                </a:moveTo>
                <a:cubicBezTo>
                  <a:pt x="20110" y="2322"/>
                  <a:pt x="16278" y="10350"/>
                  <a:pt x="12674" y="13953"/>
                </a:cubicBezTo>
                <a:cubicBezTo>
                  <a:pt x="9071" y="17556"/>
                  <a:pt x="2114" y="20328"/>
                  <a:pt x="0" y="21600"/>
                </a:cubicBezTo>
              </a:path>
            </a:pathLst>
          </a:custGeom>
          <a:noFill/>
          <a:ln w="28575" cmpd="sng">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zh-CN">
              <a:solidFill>
                <a:srgbClr val="000000"/>
              </a:solidFill>
              <a:sym typeface="Arial" panose="020B0604020202020204" pitchFamily="34" charset="0"/>
            </a:endParaRPr>
          </a:p>
        </p:txBody>
      </p:sp>
      <p:sp>
        <p:nvSpPr>
          <p:cNvPr id="33801" name="未知"/>
          <p:cNvSpPr>
            <a:spLocks noChangeArrowheads="1"/>
          </p:cNvSpPr>
          <p:nvPr/>
        </p:nvSpPr>
        <p:spPr bwMode="auto">
          <a:xfrm>
            <a:off x="3517900" y="3460750"/>
            <a:ext cx="2225675" cy="1165225"/>
          </a:xfrm>
          <a:custGeom>
            <a:avLst/>
            <a:gdLst>
              <a:gd name="T0" fmla="*/ 2147483647 w 21600"/>
              <a:gd name="T1" fmla="*/ 2147483647 h 21600"/>
              <a:gd name="T2" fmla="*/ 2147483647 w 21600"/>
              <a:gd name="T3" fmla="*/ 2147483647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a:moveTo>
                  <a:pt x="21600" y="1748"/>
                </a:moveTo>
                <a:cubicBezTo>
                  <a:pt x="20017" y="5011"/>
                  <a:pt x="15706" y="21600"/>
                  <a:pt x="12106" y="21315"/>
                </a:cubicBezTo>
                <a:cubicBezTo>
                  <a:pt x="8506" y="21030"/>
                  <a:pt x="2017" y="3548"/>
                  <a:pt x="0" y="0"/>
                </a:cubicBezTo>
              </a:path>
            </a:pathLst>
          </a:custGeom>
          <a:noFill/>
          <a:ln w="28575" cmpd="sng">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zh-CN">
              <a:solidFill>
                <a:srgbClr val="000000"/>
              </a:solidFill>
              <a:sym typeface="Arial" panose="020B0604020202020204" pitchFamily="34" charset="0"/>
            </a:endParaRPr>
          </a:p>
        </p:txBody>
      </p:sp>
      <p:sp>
        <p:nvSpPr>
          <p:cNvPr id="33802" name="Line 11"/>
          <p:cNvSpPr>
            <a:spLocks noChangeShapeType="1"/>
          </p:cNvSpPr>
          <p:nvPr/>
        </p:nvSpPr>
        <p:spPr bwMode="auto">
          <a:xfrm>
            <a:off x="2922588" y="3300413"/>
            <a:ext cx="3902075" cy="2139950"/>
          </a:xfrm>
          <a:prstGeom prst="line">
            <a:avLst/>
          </a:prstGeom>
          <a:noFill/>
          <a:ln w="28575" cmpd="sng">
            <a:solidFill>
              <a:srgbClr val="0070C0"/>
            </a:solidFill>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3803" name="Line 12"/>
          <p:cNvSpPr>
            <a:spLocks noChangeShapeType="1"/>
          </p:cNvSpPr>
          <p:nvPr/>
        </p:nvSpPr>
        <p:spPr bwMode="auto">
          <a:xfrm>
            <a:off x="2922588" y="3300413"/>
            <a:ext cx="1952625" cy="2300287"/>
          </a:xfrm>
          <a:prstGeom prst="line">
            <a:avLst/>
          </a:prstGeom>
          <a:noFill/>
          <a:ln w="28575" cmpd="sng">
            <a:solidFill>
              <a:srgbClr val="0070C0"/>
            </a:solidFill>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3804" name="Line 13"/>
          <p:cNvSpPr>
            <a:spLocks noChangeShapeType="1"/>
          </p:cNvSpPr>
          <p:nvPr/>
        </p:nvSpPr>
        <p:spPr bwMode="auto">
          <a:xfrm>
            <a:off x="4283075" y="4016375"/>
            <a:ext cx="0" cy="1982788"/>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3805" name="Line 14"/>
          <p:cNvSpPr>
            <a:spLocks noChangeShapeType="1"/>
          </p:cNvSpPr>
          <p:nvPr/>
        </p:nvSpPr>
        <p:spPr bwMode="auto">
          <a:xfrm flipH="1">
            <a:off x="2922588" y="4014788"/>
            <a:ext cx="1358900" cy="3175"/>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3806" name="Line 15"/>
          <p:cNvSpPr>
            <a:spLocks noChangeShapeType="1"/>
          </p:cNvSpPr>
          <p:nvPr/>
        </p:nvSpPr>
        <p:spPr bwMode="auto">
          <a:xfrm flipH="1">
            <a:off x="2922588" y="4887913"/>
            <a:ext cx="1358900" cy="1587"/>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3807" name="Text Box 16"/>
          <p:cNvSpPr>
            <a:spLocks noChangeArrowheads="1"/>
          </p:cNvSpPr>
          <p:nvPr/>
        </p:nvSpPr>
        <p:spPr bwMode="auto">
          <a:xfrm>
            <a:off x="5297488" y="2903538"/>
            <a:ext cx="596900"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sym typeface="Arial" panose="020B0604020202020204" pitchFamily="34" charset="0"/>
              </a:rPr>
              <a:t>MC</a:t>
            </a:r>
            <a:endParaRPr lang="zh-CN" altLang="en-US" dirty="0"/>
          </a:p>
        </p:txBody>
      </p:sp>
      <p:sp>
        <p:nvSpPr>
          <p:cNvPr id="33808" name="Text Box 17"/>
          <p:cNvSpPr>
            <a:spLocks noChangeArrowheads="1"/>
          </p:cNvSpPr>
          <p:nvPr/>
        </p:nvSpPr>
        <p:spPr bwMode="auto">
          <a:xfrm>
            <a:off x="5724525" y="3143250"/>
            <a:ext cx="7175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AC</a:t>
            </a:r>
            <a:endParaRPr lang="zh-CN" altLang="en-US"/>
          </a:p>
        </p:txBody>
      </p:sp>
      <p:sp>
        <p:nvSpPr>
          <p:cNvPr id="33809" name="Text Box 18"/>
          <p:cNvSpPr>
            <a:spLocks noChangeArrowheads="1"/>
          </p:cNvSpPr>
          <p:nvPr/>
        </p:nvSpPr>
        <p:spPr bwMode="auto">
          <a:xfrm>
            <a:off x="6883400" y="5273675"/>
            <a:ext cx="10461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d = AR</a:t>
            </a:r>
            <a:endParaRPr lang="zh-CN" altLang="en-US"/>
          </a:p>
        </p:txBody>
      </p:sp>
      <p:sp>
        <p:nvSpPr>
          <p:cNvPr id="33810" name="Text Box 19"/>
          <p:cNvSpPr>
            <a:spLocks noChangeArrowheads="1"/>
          </p:cNvSpPr>
          <p:nvPr/>
        </p:nvSpPr>
        <p:spPr bwMode="auto">
          <a:xfrm>
            <a:off x="5027613" y="5529263"/>
            <a:ext cx="695325"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MR</a:t>
            </a:r>
            <a:endParaRPr lang="zh-CN" altLang="en-US"/>
          </a:p>
        </p:txBody>
      </p:sp>
      <p:sp>
        <p:nvSpPr>
          <p:cNvPr id="33811" name="Text Box 20"/>
          <p:cNvSpPr>
            <a:spLocks noChangeArrowheads="1"/>
          </p:cNvSpPr>
          <p:nvPr/>
        </p:nvSpPr>
        <p:spPr bwMode="auto">
          <a:xfrm>
            <a:off x="4113213" y="5918200"/>
            <a:ext cx="5715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Q</a:t>
            </a:r>
            <a:r>
              <a:rPr lang="zh-CN" altLang="en-US" sz="1000">
                <a:solidFill>
                  <a:srgbClr val="000000"/>
                </a:solidFill>
                <a:sym typeface="Arial" panose="020B0604020202020204" pitchFamily="34" charset="0"/>
              </a:rPr>
              <a:t>0</a:t>
            </a:r>
            <a:endParaRPr lang="zh-CN" altLang="en-US"/>
          </a:p>
        </p:txBody>
      </p:sp>
      <p:sp>
        <p:nvSpPr>
          <p:cNvPr id="33812" name="Text Box 21"/>
          <p:cNvSpPr>
            <a:spLocks noChangeArrowheads="1"/>
          </p:cNvSpPr>
          <p:nvPr/>
        </p:nvSpPr>
        <p:spPr bwMode="auto">
          <a:xfrm>
            <a:off x="2500313" y="3854450"/>
            <a:ext cx="592137"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P</a:t>
            </a:r>
            <a:r>
              <a:rPr lang="zh-CN" altLang="en-US" sz="1000">
                <a:solidFill>
                  <a:srgbClr val="000000"/>
                </a:solidFill>
                <a:sym typeface="Arial" panose="020B0604020202020204" pitchFamily="34" charset="0"/>
              </a:rPr>
              <a:t>0</a:t>
            </a:r>
            <a:endParaRPr lang="zh-CN" altLang="en-US"/>
          </a:p>
        </p:txBody>
      </p:sp>
      <p:sp>
        <p:nvSpPr>
          <p:cNvPr id="33813" name="Text Box 22"/>
          <p:cNvSpPr>
            <a:spLocks noChangeArrowheads="1"/>
          </p:cNvSpPr>
          <p:nvPr/>
        </p:nvSpPr>
        <p:spPr bwMode="auto">
          <a:xfrm>
            <a:off x="2500313" y="4173538"/>
            <a:ext cx="5111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P</a:t>
            </a:r>
            <a:r>
              <a:rPr lang="zh-CN" altLang="en-US" sz="1000">
                <a:solidFill>
                  <a:srgbClr val="000000"/>
                </a:solidFill>
                <a:sym typeface="Arial" panose="020B0604020202020204" pitchFamily="34" charset="0"/>
              </a:rPr>
              <a:t>1</a:t>
            </a:r>
            <a:endParaRPr lang="zh-CN" altLang="en-US"/>
          </a:p>
        </p:txBody>
      </p:sp>
      <p:sp>
        <p:nvSpPr>
          <p:cNvPr id="33814" name="Line 23"/>
          <p:cNvSpPr>
            <a:spLocks noChangeShapeType="1"/>
          </p:cNvSpPr>
          <p:nvPr/>
        </p:nvSpPr>
        <p:spPr bwMode="auto">
          <a:xfrm flipH="1">
            <a:off x="2922588" y="4332288"/>
            <a:ext cx="1358900" cy="1587"/>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3815" name="Text Box 24"/>
          <p:cNvSpPr>
            <a:spLocks noChangeArrowheads="1"/>
          </p:cNvSpPr>
          <p:nvPr/>
        </p:nvSpPr>
        <p:spPr bwMode="auto">
          <a:xfrm>
            <a:off x="2500313" y="4729163"/>
            <a:ext cx="61118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P</a:t>
            </a:r>
            <a:r>
              <a:rPr lang="zh-CN" altLang="en-US" sz="1000">
                <a:solidFill>
                  <a:srgbClr val="000000"/>
                </a:solidFill>
                <a:sym typeface="Arial" panose="020B0604020202020204" pitchFamily="34" charset="0"/>
              </a:rPr>
              <a:t>2</a:t>
            </a:r>
            <a:endParaRPr lang="zh-CN" altLang="en-US"/>
          </a:p>
        </p:txBody>
      </p:sp>
      <p:sp>
        <p:nvSpPr>
          <p:cNvPr id="33816" name="Text Box 25"/>
          <p:cNvSpPr>
            <a:spLocks noChangeArrowheads="1"/>
          </p:cNvSpPr>
          <p:nvPr/>
        </p:nvSpPr>
        <p:spPr bwMode="auto">
          <a:xfrm>
            <a:off x="4367213" y="4729163"/>
            <a:ext cx="4857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E</a:t>
            </a:r>
            <a:endParaRPr lang="zh-CN" altLang="en-US"/>
          </a:p>
        </p:txBody>
      </p:sp>
      <p:sp>
        <p:nvSpPr>
          <p:cNvPr id="33818" name="圆角矩形标注 27"/>
          <p:cNvSpPr>
            <a:spLocks noChangeArrowheads="1"/>
          </p:cNvSpPr>
          <p:nvPr/>
        </p:nvSpPr>
        <p:spPr bwMode="auto">
          <a:xfrm>
            <a:off x="146050" y="3000231"/>
            <a:ext cx="1990725" cy="1736646"/>
          </a:xfrm>
          <a:prstGeom prst="wedgeRoundRectCallout">
            <a:avLst>
              <a:gd name="adj1" fmla="val 71644"/>
              <a:gd name="adj2" fmla="val 21852"/>
              <a:gd name="adj3" fmla="val 16667"/>
            </a:avLst>
          </a:prstGeom>
          <a:solidFill>
            <a:schemeClr val="bg1"/>
          </a:solidFill>
          <a:ln>
            <a:solidFill>
              <a:srgbClr val="C00000"/>
            </a:solidFill>
          </a:ln>
        </p:spPr>
        <p:style>
          <a:lnRef idx="3">
            <a:schemeClr val="lt1"/>
          </a:lnRef>
          <a:fillRef idx="1">
            <a:schemeClr val="accent1"/>
          </a:fillRef>
          <a:effectRef idx="1">
            <a:schemeClr val="accent1"/>
          </a:effectRef>
          <a:fontRef idx="minor">
            <a:schemeClr val="lt1"/>
          </a:fontRef>
        </p:style>
        <p:txBody>
          <a:bodyPr>
            <a:spAutoFit/>
          </a:bodyPr>
          <a:lstStyle/>
          <a:p>
            <a:pPr algn="just"/>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利润最大化产量上的平均收益</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P</a:t>
            </a:r>
            <a:r>
              <a:rPr lang="en-US" altLang="zh-CN" b="0" baseline="-2500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0</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大于相应的平均成本</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P</a:t>
            </a:r>
            <a:r>
              <a:rPr lang="en-US" altLang="zh-CN" b="0" baseline="-2500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1</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故存在经济利润</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其大小为</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(P</a:t>
            </a:r>
            <a:r>
              <a:rPr lang="en-US" altLang="zh-CN" b="0" baseline="-2500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0</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-P</a:t>
            </a:r>
            <a:r>
              <a:rPr lang="en-US" altLang="zh-CN" b="0" baseline="-2500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1</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)Q</a:t>
            </a:r>
            <a:r>
              <a:rPr lang="en-US" altLang="zh-CN" b="0" baseline="-2500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0</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a:t>
            </a:r>
            <a:endParaRPr lang="zh-CN" altLang="en-US" b="0" dirty="0">
              <a:solidFill>
                <a:schemeClr val="tx1"/>
              </a:solidFill>
              <a:latin typeface="微软雅黑" panose="020B0503020204020204" pitchFamily="34" charset="-122"/>
              <a:ea typeface="微软雅黑" panose="020B0503020204020204" pitchFamily="34" charset="-122"/>
            </a:endParaRPr>
          </a:p>
        </p:txBody>
      </p:sp>
      <p:sp>
        <p:nvSpPr>
          <p:cNvPr id="30" name="矩形 29">
            <a:extLst>
              <a:ext uri="{FF2B5EF4-FFF2-40B4-BE49-F238E27FC236}">
                <a16:creationId xmlns:a16="http://schemas.microsoft.com/office/drawing/2014/main" id="{F68E5273-CD77-47B9-B841-9D29349C133D}"/>
              </a:ext>
            </a:extLst>
          </p:cNvPr>
          <p:cNvSpPr/>
          <p:nvPr/>
        </p:nvSpPr>
        <p:spPr>
          <a:xfrm>
            <a:off x="457200" y="548681"/>
            <a:ext cx="4570413"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a:defRPr/>
            </a:pPr>
            <a:r>
              <a:rPr lang="zh-CN" altLang="en-US" sz="2400" spc="150" dirty="0">
                <a:solidFill>
                  <a:srgbClr val="FFFFFF"/>
                </a:solidFill>
                <a:latin typeface="微软雅黑" panose="020B0503020204020204" pitchFamily="34" charset="-122"/>
                <a:ea typeface="微软雅黑" panose="020B0503020204020204" pitchFamily="34" charset="-122"/>
              </a:rPr>
              <a:t>三</a:t>
            </a:r>
            <a:r>
              <a:rPr lang="zh-CN" altLang="en-US" sz="2400" b="1" spc="150" dirty="0">
                <a:solidFill>
                  <a:srgbClr val="FFFFFF"/>
                </a:solidFill>
                <a:latin typeface="微软雅黑" panose="020B0503020204020204" pitchFamily="34" charset="-122"/>
                <a:ea typeface="微软雅黑" panose="020B0503020204020204" pitchFamily="34" charset="-122"/>
              </a:rPr>
              <a:t>、</a:t>
            </a:r>
            <a:r>
              <a:rPr lang="zh-CN" altLang="en-US" sz="2400" spc="150" dirty="0">
                <a:solidFill>
                  <a:srgbClr val="FFFFFF"/>
                </a:solidFill>
                <a:latin typeface="微软雅黑" panose="020B0503020204020204" pitchFamily="34" charset="-122"/>
                <a:ea typeface="微软雅黑" panose="020B0503020204020204" pitchFamily="34" charset="-122"/>
              </a:rPr>
              <a:t>垄断竞争企业的短期均衡</a:t>
            </a:r>
            <a:endParaRPr lang="zh-CN" altLang="en-US" sz="2400" b="1" spc="150" dirty="0">
              <a:solidFill>
                <a:srgbClr val="FFFFFF"/>
              </a:solidFill>
              <a:latin typeface="微软雅黑" panose="020B0503020204020204" pitchFamily="34" charset="-122"/>
              <a:ea typeface="微软雅黑" panose="020B0503020204020204" pitchFamily="34" charset="-122"/>
            </a:endParaRPr>
          </a:p>
        </p:txBody>
      </p:sp>
      <p:sp>
        <p:nvSpPr>
          <p:cNvPr id="31" name="标题 1"/>
          <p:cNvSpPr>
            <a:spLocks noChangeArrowheads="1"/>
          </p:cNvSpPr>
          <p:nvPr/>
        </p:nvSpPr>
        <p:spPr bwMode="auto">
          <a:xfrm>
            <a:off x="7236185" y="44765"/>
            <a:ext cx="1944135" cy="3599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1800" b="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第二节  垄断竞争</a:t>
            </a:r>
            <a:endParaRPr lang="zh-CN" altLang="en-US" sz="1800" b="0" dirty="0">
              <a:solidFill>
                <a:schemeClr val="tx2"/>
              </a:solidFill>
              <a:latin typeface="微软雅黑" panose="020B0503020204020204" pitchFamily="34" charset="-122"/>
              <a:ea typeface="微软雅黑" panose="020B0503020204020204" pitchFamily="34" charset="-122"/>
              <a:sym typeface="Arial" panose="020B0604020202020204" pitchFamily="34"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3794">
                                            <p:txEl>
                                              <p:pRg st="0" end="0"/>
                                            </p:txEl>
                                          </p:spTgt>
                                        </p:tgtEl>
                                        <p:attrNameLst>
                                          <p:attrName>style.visibility</p:attrName>
                                        </p:attrNameLst>
                                      </p:cBhvr>
                                      <p:to>
                                        <p:strVal val="visible"/>
                                      </p:to>
                                    </p:set>
                                    <p:animEffect>
                                      <p:cBhvr>
                                        <p:cTn id="7" dur="500"/>
                                        <p:tgtEl>
                                          <p:spTgt spid="3379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3797"/>
                                        </p:tgtEl>
                                        <p:attrNameLst>
                                          <p:attrName>style.visibility</p:attrName>
                                        </p:attrNameLst>
                                      </p:cBhvr>
                                      <p:to>
                                        <p:strVal val="visible"/>
                                      </p:to>
                                    </p:set>
                                    <p:animEffect>
                                      <p:cBhvr>
                                        <p:cTn id="12" dur="500"/>
                                        <p:tgtEl>
                                          <p:spTgt spid="33797"/>
                                        </p:tgtEl>
                                      </p:cBhvr>
                                    </p:animEffect>
                                  </p:childTnLst>
                                </p:cTn>
                              </p:par>
                              <p:par>
                                <p:cTn id="13" presetID="5" presetClass="entr" presetSubtype="10" fill="hold" grpId="0" nodeType="withEffect">
                                  <p:stCondLst>
                                    <p:cond delay="0"/>
                                  </p:stCondLst>
                                  <p:childTnLst>
                                    <p:set>
                                      <p:cBhvr>
                                        <p:cTn id="14" dur="1" fill="hold">
                                          <p:stCondLst>
                                            <p:cond delay="0"/>
                                          </p:stCondLst>
                                        </p:cTn>
                                        <p:tgtEl>
                                          <p:spTgt spid="33795"/>
                                        </p:tgtEl>
                                        <p:attrNameLst>
                                          <p:attrName>style.visibility</p:attrName>
                                        </p:attrNameLst>
                                      </p:cBhvr>
                                      <p:to>
                                        <p:strVal val="visible"/>
                                      </p:to>
                                    </p:set>
                                    <p:animEffect>
                                      <p:cBhvr>
                                        <p:cTn id="15" dur="500"/>
                                        <p:tgtEl>
                                          <p:spTgt spid="33795"/>
                                        </p:tgtEl>
                                      </p:cBhvr>
                                    </p:animEffect>
                                  </p:childTnLst>
                                </p:cTn>
                              </p:par>
                              <p:par>
                                <p:cTn id="16" presetID="5" presetClass="entr" presetSubtype="10" fill="hold" grpId="0" nodeType="withEffect">
                                  <p:stCondLst>
                                    <p:cond delay="0"/>
                                  </p:stCondLst>
                                  <p:childTnLst>
                                    <p:set>
                                      <p:cBhvr>
                                        <p:cTn id="17" dur="1" fill="hold">
                                          <p:stCondLst>
                                            <p:cond delay="0"/>
                                          </p:stCondLst>
                                        </p:cTn>
                                        <p:tgtEl>
                                          <p:spTgt spid="33798"/>
                                        </p:tgtEl>
                                        <p:attrNameLst>
                                          <p:attrName>style.visibility</p:attrName>
                                        </p:attrNameLst>
                                      </p:cBhvr>
                                      <p:to>
                                        <p:strVal val="visible"/>
                                      </p:to>
                                    </p:set>
                                    <p:animEffect>
                                      <p:cBhvr>
                                        <p:cTn id="18" dur="500"/>
                                        <p:tgtEl>
                                          <p:spTgt spid="33798"/>
                                        </p:tgtEl>
                                      </p:cBhvr>
                                    </p:animEffect>
                                  </p:childTnLst>
                                </p:cTn>
                              </p:par>
                              <p:par>
                                <p:cTn id="19" presetID="5" presetClass="entr" presetSubtype="10" fill="hold" grpId="0" nodeType="withEffect">
                                  <p:stCondLst>
                                    <p:cond delay="0"/>
                                  </p:stCondLst>
                                  <p:childTnLst>
                                    <p:set>
                                      <p:cBhvr>
                                        <p:cTn id="20" dur="1" fill="hold">
                                          <p:stCondLst>
                                            <p:cond delay="0"/>
                                          </p:stCondLst>
                                        </p:cTn>
                                        <p:tgtEl>
                                          <p:spTgt spid="33796"/>
                                        </p:tgtEl>
                                        <p:attrNameLst>
                                          <p:attrName>style.visibility</p:attrName>
                                        </p:attrNameLst>
                                      </p:cBhvr>
                                      <p:to>
                                        <p:strVal val="visible"/>
                                      </p:to>
                                    </p:set>
                                    <p:animEffect>
                                      <p:cBhvr>
                                        <p:cTn id="21" dur="500"/>
                                        <p:tgtEl>
                                          <p:spTgt spid="33796"/>
                                        </p:tgtEl>
                                      </p:cBhvr>
                                    </p:animEffect>
                                  </p:childTnLst>
                                </p:cTn>
                              </p:par>
                              <p:par>
                                <p:cTn id="22" presetID="5" presetClass="entr" presetSubtype="10" fill="hold" grpId="0" nodeType="withEffect">
                                  <p:stCondLst>
                                    <p:cond delay="0"/>
                                  </p:stCondLst>
                                  <p:childTnLst>
                                    <p:set>
                                      <p:cBhvr>
                                        <p:cTn id="23" dur="1" fill="hold">
                                          <p:stCondLst>
                                            <p:cond delay="0"/>
                                          </p:stCondLst>
                                        </p:cTn>
                                        <p:tgtEl>
                                          <p:spTgt spid="33799"/>
                                        </p:tgtEl>
                                        <p:attrNameLst>
                                          <p:attrName>style.visibility</p:attrName>
                                        </p:attrNameLst>
                                      </p:cBhvr>
                                      <p:to>
                                        <p:strVal val="visible"/>
                                      </p:to>
                                    </p:set>
                                    <p:animEffect>
                                      <p:cBhvr>
                                        <p:cTn id="24" dur="500"/>
                                        <p:tgtEl>
                                          <p:spTgt spid="33799"/>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33802"/>
                                        </p:tgtEl>
                                        <p:attrNameLst>
                                          <p:attrName>style.visibility</p:attrName>
                                        </p:attrNameLst>
                                      </p:cBhvr>
                                      <p:to>
                                        <p:strVal val="visible"/>
                                      </p:to>
                                    </p:set>
                                    <p:animEffect>
                                      <p:cBhvr>
                                        <p:cTn id="29" dur="500"/>
                                        <p:tgtEl>
                                          <p:spTgt spid="33802"/>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33809"/>
                                        </p:tgtEl>
                                        <p:attrNameLst>
                                          <p:attrName>style.visibility</p:attrName>
                                        </p:attrNameLst>
                                      </p:cBhvr>
                                      <p:to>
                                        <p:strVal val="visible"/>
                                      </p:to>
                                    </p:set>
                                    <p:animEffect>
                                      <p:cBhvr>
                                        <p:cTn id="32" dur="500"/>
                                        <p:tgtEl>
                                          <p:spTgt spid="3380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3801"/>
                                        </p:tgtEl>
                                        <p:attrNameLst>
                                          <p:attrName>style.visibility</p:attrName>
                                        </p:attrNameLst>
                                      </p:cBhvr>
                                      <p:to>
                                        <p:strVal val="visible"/>
                                      </p:to>
                                    </p:set>
                                    <p:animEffect>
                                      <p:cBhvr>
                                        <p:cTn id="37" dur="500"/>
                                        <p:tgtEl>
                                          <p:spTgt spid="33801"/>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33808"/>
                                        </p:tgtEl>
                                        <p:attrNameLst>
                                          <p:attrName>style.visibility</p:attrName>
                                        </p:attrNameLst>
                                      </p:cBhvr>
                                      <p:to>
                                        <p:strVal val="visible"/>
                                      </p:to>
                                    </p:set>
                                    <p:animEffect>
                                      <p:cBhvr>
                                        <p:cTn id="40" dur="500"/>
                                        <p:tgtEl>
                                          <p:spTgt spid="33808"/>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33800"/>
                                        </p:tgtEl>
                                        <p:attrNameLst>
                                          <p:attrName>style.visibility</p:attrName>
                                        </p:attrNameLst>
                                      </p:cBhvr>
                                      <p:to>
                                        <p:strVal val="visible"/>
                                      </p:to>
                                    </p:set>
                                    <p:animEffect>
                                      <p:cBhvr>
                                        <p:cTn id="45" dur="500"/>
                                        <p:tgtEl>
                                          <p:spTgt spid="33800"/>
                                        </p:tgtEl>
                                      </p:cBhvr>
                                    </p:animEffect>
                                  </p:childTnLst>
                                </p:cTn>
                              </p:par>
                              <p:par>
                                <p:cTn id="46" presetID="3" presetClass="entr" presetSubtype="10" fill="hold" grpId="0" nodeType="withEffect">
                                  <p:stCondLst>
                                    <p:cond delay="0"/>
                                  </p:stCondLst>
                                  <p:childTnLst>
                                    <p:set>
                                      <p:cBhvr>
                                        <p:cTn id="47" dur="1" fill="hold">
                                          <p:stCondLst>
                                            <p:cond delay="0"/>
                                          </p:stCondLst>
                                        </p:cTn>
                                        <p:tgtEl>
                                          <p:spTgt spid="33807"/>
                                        </p:tgtEl>
                                        <p:attrNameLst>
                                          <p:attrName>style.visibility</p:attrName>
                                        </p:attrNameLst>
                                      </p:cBhvr>
                                      <p:to>
                                        <p:strVal val="visible"/>
                                      </p:to>
                                    </p:set>
                                    <p:animEffect>
                                      <p:cBhvr>
                                        <p:cTn id="48" dur="500"/>
                                        <p:tgtEl>
                                          <p:spTgt spid="33807"/>
                                        </p:tgtEl>
                                      </p:cBhvr>
                                    </p:animEffect>
                                  </p:childTnLst>
                                </p:cTn>
                              </p:par>
                              <p:par>
                                <p:cTn id="49" presetID="3" presetClass="entr" presetSubtype="10" fill="hold" grpId="0" nodeType="withEffect">
                                  <p:stCondLst>
                                    <p:cond delay="0"/>
                                  </p:stCondLst>
                                  <p:childTnLst>
                                    <p:set>
                                      <p:cBhvr>
                                        <p:cTn id="50" dur="1" fill="hold">
                                          <p:stCondLst>
                                            <p:cond delay="0"/>
                                          </p:stCondLst>
                                        </p:cTn>
                                        <p:tgtEl>
                                          <p:spTgt spid="33803"/>
                                        </p:tgtEl>
                                        <p:attrNameLst>
                                          <p:attrName>style.visibility</p:attrName>
                                        </p:attrNameLst>
                                      </p:cBhvr>
                                      <p:to>
                                        <p:strVal val="visible"/>
                                      </p:to>
                                    </p:set>
                                    <p:animEffect>
                                      <p:cBhvr>
                                        <p:cTn id="51" dur="500"/>
                                        <p:tgtEl>
                                          <p:spTgt spid="33803"/>
                                        </p:tgtEl>
                                      </p:cBhvr>
                                    </p:animEffect>
                                  </p:childTnLst>
                                </p:cTn>
                              </p:par>
                              <p:par>
                                <p:cTn id="52" presetID="3" presetClass="entr" presetSubtype="10" fill="hold" grpId="0" nodeType="withEffect">
                                  <p:stCondLst>
                                    <p:cond delay="0"/>
                                  </p:stCondLst>
                                  <p:childTnLst>
                                    <p:set>
                                      <p:cBhvr>
                                        <p:cTn id="53" dur="1" fill="hold">
                                          <p:stCondLst>
                                            <p:cond delay="0"/>
                                          </p:stCondLst>
                                        </p:cTn>
                                        <p:tgtEl>
                                          <p:spTgt spid="33810"/>
                                        </p:tgtEl>
                                        <p:attrNameLst>
                                          <p:attrName>style.visibility</p:attrName>
                                        </p:attrNameLst>
                                      </p:cBhvr>
                                      <p:to>
                                        <p:strVal val="visible"/>
                                      </p:to>
                                    </p:set>
                                    <p:animEffect>
                                      <p:cBhvr>
                                        <p:cTn id="54" dur="500"/>
                                        <p:tgtEl>
                                          <p:spTgt spid="33810"/>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3" presetClass="entr" presetSubtype="10" fill="hold" nodeType="clickEffect">
                                  <p:stCondLst>
                                    <p:cond delay="0"/>
                                  </p:stCondLst>
                                  <p:childTnLst>
                                    <p:set>
                                      <p:cBhvr>
                                        <p:cTn id="58" dur="1" fill="hold">
                                          <p:stCondLst>
                                            <p:cond delay="0"/>
                                          </p:stCondLst>
                                        </p:cTn>
                                        <p:tgtEl>
                                          <p:spTgt spid="33817"/>
                                        </p:tgtEl>
                                        <p:attrNameLst>
                                          <p:attrName>style.visibility</p:attrName>
                                        </p:attrNameLst>
                                      </p:cBhvr>
                                      <p:to>
                                        <p:strVal val="visible"/>
                                      </p:to>
                                    </p:set>
                                    <p:animEffect>
                                      <p:cBhvr>
                                        <p:cTn id="59" dur="500"/>
                                        <p:tgtEl>
                                          <p:spTgt spid="33817"/>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3" presetClass="entr" presetSubtype="10" fill="hold" grpId="0" nodeType="clickEffect">
                                  <p:stCondLst>
                                    <p:cond delay="0"/>
                                  </p:stCondLst>
                                  <p:childTnLst>
                                    <p:set>
                                      <p:cBhvr>
                                        <p:cTn id="63" dur="1" fill="hold">
                                          <p:stCondLst>
                                            <p:cond delay="0"/>
                                          </p:stCondLst>
                                        </p:cTn>
                                        <p:tgtEl>
                                          <p:spTgt spid="33812"/>
                                        </p:tgtEl>
                                        <p:attrNameLst>
                                          <p:attrName>style.visibility</p:attrName>
                                        </p:attrNameLst>
                                      </p:cBhvr>
                                      <p:to>
                                        <p:strVal val="visible"/>
                                      </p:to>
                                    </p:set>
                                    <p:animEffect>
                                      <p:cBhvr>
                                        <p:cTn id="64" dur="500"/>
                                        <p:tgtEl>
                                          <p:spTgt spid="33812"/>
                                        </p:tgtEl>
                                      </p:cBhvr>
                                    </p:animEffect>
                                  </p:childTnLst>
                                </p:cTn>
                              </p:par>
                              <p:par>
                                <p:cTn id="65" presetID="3" presetClass="entr" presetSubtype="10" fill="hold" grpId="0" nodeType="withEffect">
                                  <p:stCondLst>
                                    <p:cond delay="0"/>
                                  </p:stCondLst>
                                  <p:childTnLst>
                                    <p:set>
                                      <p:cBhvr>
                                        <p:cTn id="66" dur="1" fill="hold">
                                          <p:stCondLst>
                                            <p:cond delay="0"/>
                                          </p:stCondLst>
                                        </p:cTn>
                                        <p:tgtEl>
                                          <p:spTgt spid="33805"/>
                                        </p:tgtEl>
                                        <p:attrNameLst>
                                          <p:attrName>style.visibility</p:attrName>
                                        </p:attrNameLst>
                                      </p:cBhvr>
                                      <p:to>
                                        <p:strVal val="visible"/>
                                      </p:to>
                                    </p:set>
                                    <p:animEffect>
                                      <p:cBhvr>
                                        <p:cTn id="67" dur="500"/>
                                        <p:tgtEl>
                                          <p:spTgt spid="33805"/>
                                        </p:tgtEl>
                                      </p:cBhvr>
                                    </p:animEffect>
                                  </p:childTnLst>
                                </p:cTn>
                              </p:par>
                              <p:par>
                                <p:cTn id="68" presetID="3" presetClass="entr" presetSubtype="10" fill="hold" grpId="0" nodeType="withEffect">
                                  <p:stCondLst>
                                    <p:cond delay="0"/>
                                  </p:stCondLst>
                                  <p:childTnLst>
                                    <p:set>
                                      <p:cBhvr>
                                        <p:cTn id="69" dur="1" fill="hold">
                                          <p:stCondLst>
                                            <p:cond delay="0"/>
                                          </p:stCondLst>
                                        </p:cTn>
                                        <p:tgtEl>
                                          <p:spTgt spid="33804"/>
                                        </p:tgtEl>
                                        <p:attrNameLst>
                                          <p:attrName>style.visibility</p:attrName>
                                        </p:attrNameLst>
                                      </p:cBhvr>
                                      <p:to>
                                        <p:strVal val="visible"/>
                                      </p:to>
                                    </p:set>
                                    <p:animEffect>
                                      <p:cBhvr>
                                        <p:cTn id="70" dur="500"/>
                                        <p:tgtEl>
                                          <p:spTgt spid="33804"/>
                                        </p:tgtEl>
                                      </p:cBhvr>
                                    </p:animEffect>
                                  </p:childTnLst>
                                </p:cTn>
                              </p:par>
                              <p:par>
                                <p:cTn id="71" presetID="3" presetClass="entr" presetSubtype="10" fill="hold" nodeType="withEffect">
                                  <p:stCondLst>
                                    <p:cond delay="0"/>
                                  </p:stCondLst>
                                  <p:childTnLst>
                                    <p:set>
                                      <p:cBhvr>
                                        <p:cTn id="72" dur="1" fill="hold">
                                          <p:stCondLst>
                                            <p:cond delay="0"/>
                                          </p:stCondLst>
                                        </p:cTn>
                                        <p:tgtEl>
                                          <p:spTgt spid="33816"/>
                                        </p:tgtEl>
                                        <p:attrNameLst>
                                          <p:attrName>style.visibility</p:attrName>
                                        </p:attrNameLst>
                                      </p:cBhvr>
                                      <p:to>
                                        <p:strVal val="visible"/>
                                      </p:to>
                                    </p:set>
                                    <p:animEffect>
                                      <p:cBhvr>
                                        <p:cTn id="73" dur="500"/>
                                        <p:tgtEl>
                                          <p:spTgt spid="33816"/>
                                        </p:tgtEl>
                                      </p:cBhvr>
                                    </p:animEffect>
                                  </p:childTnLst>
                                </p:cTn>
                              </p:par>
                              <p:par>
                                <p:cTn id="74" presetID="3" presetClass="entr" presetSubtype="10" fill="hold" nodeType="withEffect">
                                  <p:stCondLst>
                                    <p:cond delay="0"/>
                                  </p:stCondLst>
                                  <p:childTnLst>
                                    <p:set>
                                      <p:cBhvr>
                                        <p:cTn id="75" dur="1" fill="hold">
                                          <p:stCondLst>
                                            <p:cond delay="0"/>
                                          </p:stCondLst>
                                        </p:cTn>
                                        <p:tgtEl>
                                          <p:spTgt spid="33811"/>
                                        </p:tgtEl>
                                        <p:attrNameLst>
                                          <p:attrName>style.visibility</p:attrName>
                                        </p:attrNameLst>
                                      </p:cBhvr>
                                      <p:to>
                                        <p:strVal val="visible"/>
                                      </p:to>
                                    </p:set>
                                    <p:animEffect>
                                      <p:cBhvr>
                                        <p:cTn id="76" dur="500"/>
                                        <p:tgtEl>
                                          <p:spTgt spid="33811"/>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3" presetClass="entr" presetSubtype="10" fill="hold" grpId="0" nodeType="clickEffect">
                                  <p:stCondLst>
                                    <p:cond delay="0"/>
                                  </p:stCondLst>
                                  <p:childTnLst>
                                    <p:set>
                                      <p:cBhvr>
                                        <p:cTn id="80" dur="1" fill="hold">
                                          <p:stCondLst>
                                            <p:cond delay="0"/>
                                          </p:stCondLst>
                                        </p:cTn>
                                        <p:tgtEl>
                                          <p:spTgt spid="33813"/>
                                        </p:tgtEl>
                                        <p:attrNameLst>
                                          <p:attrName>style.visibility</p:attrName>
                                        </p:attrNameLst>
                                      </p:cBhvr>
                                      <p:to>
                                        <p:strVal val="visible"/>
                                      </p:to>
                                    </p:set>
                                    <p:animEffect>
                                      <p:cBhvr>
                                        <p:cTn id="81" dur="500"/>
                                        <p:tgtEl>
                                          <p:spTgt spid="33813"/>
                                        </p:tgtEl>
                                      </p:cBhvr>
                                    </p:animEffect>
                                  </p:childTnLst>
                                </p:cTn>
                              </p:par>
                              <p:par>
                                <p:cTn id="82" presetID="3" presetClass="entr" presetSubtype="10" fill="hold" grpId="0" nodeType="withEffect">
                                  <p:stCondLst>
                                    <p:cond delay="0"/>
                                  </p:stCondLst>
                                  <p:childTnLst>
                                    <p:set>
                                      <p:cBhvr>
                                        <p:cTn id="83" dur="1" fill="hold">
                                          <p:stCondLst>
                                            <p:cond delay="0"/>
                                          </p:stCondLst>
                                        </p:cTn>
                                        <p:tgtEl>
                                          <p:spTgt spid="33814"/>
                                        </p:tgtEl>
                                        <p:attrNameLst>
                                          <p:attrName>style.visibility</p:attrName>
                                        </p:attrNameLst>
                                      </p:cBhvr>
                                      <p:to>
                                        <p:strVal val="visible"/>
                                      </p:to>
                                    </p:set>
                                    <p:animEffect>
                                      <p:cBhvr>
                                        <p:cTn id="84" dur="500"/>
                                        <p:tgtEl>
                                          <p:spTgt spid="33814"/>
                                        </p:tgtEl>
                                      </p:cBhvr>
                                    </p:animEffect>
                                  </p:childTnLst>
                                </p:cTn>
                              </p:par>
                              <p:par>
                                <p:cTn id="85" presetID="3" presetClass="entr" presetSubtype="10" fill="hold" grpId="0" nodeType="withEffect">
                                  <p:stCondLst>
                                    <p:cond delay="0"/>
                                  </p:stCondLst>
                                  <p:childTnLst>
                                    <p:set>
                                      <p:cBhvr>
                                        <p:cTn id="86" dur="1" fill="hold">
                                          <p:stCondLst>
                                            <p:cond delay="0"/>
                                          </p:stCondLst>
                                        </p:cTn>
                                        <p:tgtEl>
                                          <p:spTgt spid="33815"/>
                                        </p:tgtEl>
                                        <p:attrNameLst>
                                          <p:attrName>style.visibility</p:attrName>
                                        </p:attrNameLst>
                                      </p:cBhvr>
                                      <p:to>
                                        <p:strVal val="visible"/>
                                      </p:to>
                                    </p:set>
                                    <p:animEffect>
                                      <p:cBhvr>
                                        <p:cTn id="87" dur="500"/>
                                        <p:tgtEl>
                                          <p:spTgt spid="33815"/>
                                        </p:tgtEl>
                                      </p:cBhvr>
                                    </p:animEffect>
                                  </p:childTnLst>
                                </p:cTn>
                              </p:par>
                              <p:par>
                                <p:cTn id="88" presetID="3" presetClass="entr" presetSubtype="10" fill="hold" grpId="0" nodeType="withEffect">
                                  <p:stCondLst>
                                    <p:cond delay="0"/>
                                  </p:stCondLst>
                                  <p:childTnLst>
                                    <p:set>
                                      <p:cBhvr>
                                        <p:cTn id="89" dur="1" fill="hold">
                                          <p:stCondLst>
                                            <p:cond delay="0"/>
                                          </p:stCondLst>
                                        </p:cTn>
                                        <p:tgtEl>
                                          <p:spTgt spid="33806"/>
                                        </p:tgtEl>
                                        <p:attrNameLst>
                                          <p:attrName>style.visibility</p:attrName>
                                        </p:attrNameLst>
                                      </p:cBhvr>
                                      <p:to>
                                        <p:strVal val="visible"/>
                                      </p:to>
                                    </p:set>
                                    <p:animEffect>
                                      <p:cBhvr>
                                        <p:cTn id="90" dur="500"/>
                                        <p:tgtEl>
                                          <p:spTgt spid="33806"/>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3" presetClass="entr" presetSubtype="10" fill="hold" grpId="0" nodeType="clickEffect">
                                  <p:stCondLst>
                                    <p:cond delay="0"/>
                                  </p:stCondLst>
                                  <p:childTnLst>
                                    <p:set>
                                      <p:cBhvr>
                                        <p:cTn id="94" dur="1" fill="hold">
                                          <p:stCondLst>
                                            <p:cond delay="0"/>
                                          </p:stCondLst>
                                        </p:cTn>
                                        <p:tgtEl>
                                          <p:spTgt spid="33818"/>
                                        </p:tgtEl>
                                        <p:attrNameLst>
                                          <p:attrName>style.visibility</p:attrName>
                                        </p:attrNameLst>
                                      </p:cBhvr>
                                      <p:to>
                                        <p:strVal val="visible"/>
                                      </p:to>
                                    </p:set>
                                    <p:animEffect>
                                      <p:cBhvr>
                                        <p:cTn id="95" dur="500"/>
                                        <p:tgtEl>
                                          <p:spTgt spid="338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bldLvl="0" animBg="1" autoUpdateAnimBg="0"/>
      <p:bldP spid="33796" grpId="0" bldLvl="0" animBg="1" autoUpdateAnimBg="0"/>
      <p:bldP spid="33797" grpId="0" bldLvl="0" autoUpdateAnimBg="0"/>
      <p:bldP spid="33798" grpId="0" bldLvl="0" autoUpdateAnimBg="0"/>
      <p:bldP spid="33799" grpId="0" bldLvl="0" autoUpdateAnimBg="0"/>
      <p:bldP spid="33800" grpId="0" bldLvl="0" animBg="1" autoUpdateAnimBg="0"/>
      <p:bldP spid="33801" grpId="0" bldLvl="0" animBg="1" autoUpdateAnimBg="0"/>
      <p:bldP spid="33802" grpId="0" bldLvl="0" animBg="1" autoUpdateAnimBg="0"/>
      <p:bldP spid="33803" grpId="0" bldLvl="0" animBg="1" autoUpdateAnimBg="0"/>
      <p:bldP spid="33804" grpId="0" bldLvl="0" animBg="1" autoUpdateAnimBg="0"/>
      <p:bldP spid="33805" grpId="0" bldLvl="0" animBg="1" autoUpdateAnimBg="0"/>
      <p:bldP spid="33806" grpId="0" bldLvl="0" animBg="1" autoUpdateAnimBg="0"/>
      <p:bldP spid="33807" grpId="0" bldLvl="0" autoUpdateAnimBg="0"/>
      <p:bldP spid="33808" grpId="0" bldLvl="0" autoUpdateAnimBg="0"/>
      <p:bldP spid="33809" grpId="0" bldLvl="0" autoUpdateAnimBg="0"/>
      <p:bldP spid="33810" grpId="0" bldLvl="0" autoUpdateAnimBg="0"/>
      <p:bldP spid="33812" grpId="0" bldLvl="0" autoUpdateAnimBg="0"/>
      <p:bldP spid="33813" grpId="0" bldLvl="0" autoUpdateAnimBg="0"/>
      <p:bldP spid="33814" grpId="0" bldLvl="0" animBg="1" autoUpdateAnimBg="0"/>
      <p:bldP spid="33815" grpId="0" bldLvl="0" autoUpdateAnimBg="0"/>
      <p:bldP spid="33818" grpId="0" bldLvl="0" animBg="1"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49" name="圆角矩形标注 37"/>
          <p:cNvSpPr>
            <a:spLocks noChangeArrowheads="1"/>
          </p:cNvSpPr>
          <p:nvPr/>
        </p:nvSpPr>
        <p:spPr bwMode="auto">
          <a:xfrm>
            <a:off x="6580189" y="3579715"/>
            <a:ext cx="2439240" cy="2531566"/>
          </a:xfrm>
          <a:prstGeom prst="wedgeRoundRectCallout">
            <a:avLst>
              <a:gd name="adj1" fmla="val -77038"/>
              <a:gd name="adj2" fmla="val 14343"/>
              <a:gd name="adj3" fmla="val 16667"/>
            </a:avLst>
          </a:prstGeom>
          <a:solidFill>
            <a:schemeClr val="bg1"/>
          </a:solidFill>
          <a:ln>
            <a:solidFill>
              <a:srgbClr val="C00000"/>
            </a:solidFill>
          </a:ln>
        </p:spPr>
        <p:style>
          <a:lnRef idx="3">
            <a:schemeClr val="lt1"/>
          </a:lnRef>
          <a:fillRef idx="1">
            <a:schemeClr val="accent1"/>
          </a:fillRef>
          <a:effectRef idx="1">
            <a:schemeClr val="accent1"/>
          </a:effectRef>
          <a:fontRef idx="minor">
            <a:schemeClr val="lt1"/>
          </a:fontRef>
        </p:style>
        <p:txBody>
          <a:bodyPr>
            <a:spAutoFit/>
          </a:bodyPr>
          <a:lstStyle/>
          <a:p>
            <a:pPr algn="just"/>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典型企业的销售量</a:t>
            </a:r>
            <a:r>
              <a:rPr lang="zh-CN" altLang="en-US" b="0">
                <a:solidFill>
                  <a:schemeClr val="tx1"/>
                </a:solidFill>
                <a:latin typeface="微软雅黑" panose="020B0503020204020204" pitchFamily="34" charset="-122"/>
                <a:ea typeface="微软雅黑" panose="020B0503020204020204" pitchFamily="34" charset="-122"/>
                <a:sym typeface="Arial" panose="020B0604020202020204" pitchFamily="34" charset="0"/>
              </a:rPr>
              <a:t>将增加</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因为该</a:t>
            </a:r>
            <a:r>
              <a:rPr lang="zh-CN" altLang="en-US" b="0">
                <a:solidFill>
                  <a:schemeClr val="tx1"/>
                </a:solidFill>
                <a:latin typeface="微软雅黑" panose="020B0503020204020204" pitchFamily="34" charset="-122"/>
                <a:ea typeface="微软雅黑" panose="020B0503020204020204" pitchFamily="34" charset="-122"/>
                <a:sym typeface="Arial" panose="020B0604020202020204" pitchFamily="34" charset="0"/>
              </a:rPr>
              <a:t>销量由</a:t>
            </a:r>
            <a:r>
              <a:rPr lang="en-US" altLang="zh-CN" b="0" dirty="0" err="1">
                <a:solidFill>
                  <a:schemeClr val="tx1"/>
                </a:solidFill>
                <a:latin typeface="微软雅黑" panose="020B0503020204020204" pitchFamily="34" charset="-122"/>
                <a:ea typeface="微软雅黑" panose="020B0503020204020204" pitchFamily="34" charset="-122"/>
                <a:sym typeface="Arial" panose="020B0604020202020204" pitchFamily="34" charset="0"/>
              </a:rPr>
              <a:t>dd</a:t>
            </a:r>
            <a:r>
              <a:rPr lang="zh-CN" altLang="en-US" b="0">
                <a:solidFill>
                  <a:schemeClr val="tx1"/>
                </a:solidFill>
                <a:latin typeface="微软雅黑" panose="020B0503020204020204" pitchFamily="34" charset="-122"/>
                <a:ea typeface="微软雅黑" panose="020B0503020204020204" pitchFamily="34" charset="-122"/>
                <a:sym typeface="Arial" panose="020B0604020202020204" pitchFamily="34" charset="0"/>
              </a:rPr>
              <a:t>曲线和</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DD</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曲线的</a:t>
            </a:r>
            <a:r>
              <a:rPr lang="zh-CN" altLang="en-US" b="0">
                <a:solidFill>
                  <a:schemeClr val="tx1"/>
                </a:solidFill>
                <a:latin typeface="微软雅黑" panose="020B0503020204020204" pitchFamily="34" charset="-122"/>
                <a:ea typeface="微软雅黑" panose="020B0503020204020204" pitchFamily="34" charset="-122"/>
                <a:sym typeface="Arial" panose="020B0604020202020204" pitchFamily="34" charset="0"/>
              </a:rPr>
              <a:t>交点决定</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典型企业的利润最大化产量将下降</a:t>
            </a:r>
            <a:r>
              <a:rPr lang="zh-CN" altLang="en-US" b="0">
                <a:solidFill>
                  <a:schemeClr val="tx1"/>
                </a:solidFill>
                <a:latin typeface="微软雅黑" panose="020B0503020204020204" pitchFamily="34" charset="-122"/>
                <a:ea typeface="微软雅黑" panose="020B0503020204020204" pitchFamily="34" charset="-122"/>
                <a:sym typeface="Arial" panose="020B0604020202020204" pitchFamily="34" charset="0"/>
              </a:rPr>
              <a:t>：随着</a:t>
            </a:r>
            <a:r>
              <a:rPr lang="en-US" altLang="zh-CN" b="0" dirty="0" err="1">
                <a:solidFill>
                  <a:schemeClr val="tx1"/>
                </a:solidFill>
                <a:latin typeface="微软雅黑" panose="020B0503020204020204" pitchFamily="34" charset="-122"/>
                <a:ea typeface="微软雅黑" panose="020B0503020204020204" pitchFamily="34" charset="-122"/>
                <a:sym typeface="Arial" panose="020B0604020202020204" pitchFamily="34" charset="0"/>
              </a:rPr>
              <a:t>dd</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曲线</a:t>
            </a:r>
            <a:r>
              <a:rPr lang="zh-CN" altLang="en-US" b="0">
                <a:solidFill>
                  <a:schemeClr val="tx1"/>
                </a:solidFill>
                <a:latin typeface="微软雅黑" panose="020B0503020204020204" pitchFamily="34" charset="-122"/>
                <a:ea typeface="微软雅黑" panose="020B0503020204020204" pitchFamily="34" charset="-122"/>
                <a:sym typeface="Arial" panose="020B0604020202020204" pitchFamily="34" charset="0"/>
              </a:rPr>
              <a:t>的移动</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边际</a:t>
            </a:r>
            <a:r>
              <a:rPr lang="zh-CN" altLang="en-US" b="0">
                <a:solidFill>
                  <a:schemeClr val="tx1"/>
                </a:solidFill>
                <a:latin typeface="微软雅黑" panose="020B0503020204020204" pitchFamily="34" charset="-122"/>
                <a:ea typeface="微软雅黑" panose="020B0503020204020204" pitchFamily="34" charset="-122"/>
                <a:sym typeface="Arial" panose="020B0604020202020204" pitchFamily="34" charset="0"/>
              </a:rPr>
              <a:t>收益曲线</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MR</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会向</a:t>
            </a:r>
            <a:r>
              <a:rPr lang="zh-CN" altLang="en-US" b="0">
                <a:solidFill>
                  <a:schemeClr val="tx1"/>
                </a:solidFill>
                <a:latin typeface="微软雅黑" panose="020B0503020204020204" pitchFamily="34" charset="-122"/>
                <a:ea typeface="微软雅黑" panose="020B0503020204020204" pitchFamily="34" charset="-122"/>
                <a:sym typeface="Arial" panose="020B0604020202020204" pitchFamily="34" charset="0"/>
              </a:rPr>
              <a:t>左下方移动</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 </a:t>
            </a:r>
            <a:r>
              <a:rPr lang="en-US" altLang="zh-CN" b="0">
                <a:solidFill>
                  <a:schemeClr val="tx1"/>
                </a:solidFill>
                <a:latin typeface="微软雅黑" panose="020B0503020204020204" pitchFamily="34" charset="-122"/>
                <a:ea typeface="微软雅黑" panose="020B0503020204020204" pitchFamily="34" charset="-122"/>
                <a:sym typeface="Arial" panose="020B0604020202020204" pitchFamily="34" charset="0"/>
              </a:rPr>
              <a:t>MR</a:t>
            </a:r>
            <a:r>
              <a:rPr lang="zh-CN" altLang="en-US" b="0">
                <a:solidFill>
                  <a:schemeClr val="tx1"/>
                </a:solidFill>
                <a:latin typeface="微软雅黑" panose="020B0503020204020204" pitchFamily="34" charset="-122"/>
                <a:ea typeface="微软雅黑" panose="020B0503020204020204" pitchFamily="34" charset="-122"/>
                <a:sym typeface="Arial" panose="020B0604020202020204" pitchFamily="34" charset="0"/>
              </a:rPr>
              <a:t>与</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MC</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的交点会左移。</a:t>
            </a:r>
          </a:p>
        </p:txBody>
      </p:sp>
      <p:sp>
        <p:nvSpPr>
          <p:cNvPr id="34818" name="Rectangle 3"/>
          <p:cNvSpPr>
            <a:spLocks noGrp="1" noChangeArrowheads="1"/>
          </p:cNvSpPr>
          <p:nvPr>
            <p:ph type="body" idx="4294967295"/>
          </p:nvPr>
        </p:nvSpPr>
        <p:spPr>
          <a:xfrm>
            <a:off x="457200" y="1341438"/>
            <a:ext cx="8229600" cy="587375"/>
          </a:xfrm>
          <a:ln/>
        </p:spPr>
        <p:txBody>
          <a:bodyPr/>
          <a:lstStyle/>
          <a:p>
            <a:pPr marL="457200" lvl="2" indent="-457200" eaLnBrk="1" hangingPunct="1">
              <a:lnSpc>
                <a:spcPct val="150000"/>
              </a:lnSpc>
              <a:buSzPct val="100000"/>
              <a:buFont typeface="Wingdings" panose="05000000000000000000" pitchFamily="2" charset="2"/>
              <a:buChar char="u"/>
            </a:pPr>
            <a:r>
              <a:rPr lang="zh-CN" altLang="en-US" sz="2200" b="0" dirty="0">
                <a:latin typeface="微软雅黑" panose="020B0503020204020204" pitchFamily="34" charset="-122"/>
                <a:ea typeface="微软雅黑" panose="020B0503020204020204" pitchFamily="34" charset="-122"/>
              </a:rPr>
              <a:t>短期均衡的调整过程</a:t>
            </a:r>
            <a:endParaRPr lang="en-US" altLang="zh-CN" sz="2200" b="0" dirty="0">
              <a:latin typeface="微软雅黑" panose="020B0503020204020204" pitchFamily="34" charset="-122"/>
              <a:ea typeface="微软雅黑" panose="020B0503020204020204" pitchFamily="34" charset="-122"/>
            </a:endParaRPr>
          </a:p>
          <a:p>
            <a:pPr lvl="1" eaLnBrk="1" hangingPunct="1">
              <a:buFontTx/>
              <a:buNone/>
            </a:pPr>
            <a:endParaRPr lang="zh-CN" altLang="en-US" dirty="0"/>
          </a:p>
        </p:txBody>
      </p:sp>
      <p:sp>
        <p:nvSpPr>
          <p:cNvPr id="34819" name="Line 4"/>
          <p:cNvSpPr>
            <a:spLocks noChangeShapeType="1"/>
          </p:cNvSpPr>
          <p:nvPr/>
        </p:nvSpPr>
        <p:spPr bwMode="auto">
          <a:xfrm flipV="1">
            <a:off x="2584450" y="2378075"/>
            <a:ext cx="0" cy="3470275"/>
          </a:xfrm>
          <a:prstGeom prst="line">
            <a:avLst/>
          </a:prstGeom>
          <a:noFill/>
          <a:ln w="9525" cmpd="sng">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4820" name="Line 5"/>
          <p:cNvSpPr>
            <a:spLocks noChangeShapeType="1"/>
          </p:cNvSpPr>
          <p:nvPr/>
        </p:nvSpPr>
        <p:spPr bwMode="auto">
          <a:xfrm>
            <a:off x="2584450" y="5848350"/>
            <a:ext cx="3986213" cy="0"/>
          </a:xfrm>
          <a:prstGeom prst="line">
            <a:avLst/>
          </a:prstGeom>
          <a:noFill/>
          <a:ln w="9525" cmpd="sng">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4821" name="Text Box 6"/>
          <p:cNvSpPr>
            <a:spLocks noChangeArrowheads="1"/>
          </p:cNvSpPr>
          <p:nvPr/>
        </p:nvSpPr>
        <p:spPr bwMode="auto">
          <a:xfrm>
            <a:off x="2230438" y="2217738"/>
            <a:ext cx="354012"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P</a:t>
            </a:r>
            <a:endParaRPr lang="zh-CN" altLang="en-US"/>
          </a:p>
        </p:txBody>
      </p:sp>
      <p:sp>
        <p:nvSpPr>
          <p:cNvPr id="34822" name="Text Box 7"/>
          <p:cNvSpPr>
            <a:spLocks noChangeArrowheads="1"/>
          </p:cNvSpPr>
          <p:nvPr/>
        </p:nvSpPr>
        <p:spPr bwMode="auto">
          <a:xfrm>
            <a:off x="2317750" y="5768975"/>
            <a:ext cx="352425"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O</a:t>
            </a:r>
            <a:endParaRPr lang="zh-CN" altLang="en-US"/>
          </a:p>
        </p:txBody>
      </p:sp>
      <p:sp>
        <p:nvSpPr>
          <p:cNvPr id="34823" name="Text Box 8"/>
          <p:cNvSpPr>
            <a:spLocks noChangeArrowheads="1"/>
          </p:cNvSpPr>
          <p:nvPr/>
        </p:nvSpPr>
        <p:spPr bwMode="auto">
          <a:xfrm>
            <a:off x="6014618" y="5786437"/>
            <a:ext cx="102276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dirty="0">
                <a:solidFill>
                  <a:srgbClr val="000000"/>
                </a:solidFill>
                <a:sym typeface="Arial" panose="020B0604020202020204" pitchFamily="34" charset="0"/>
              </a:rPr>
              <a:t>Q</a:t>
            </a:r>
            <a:endParaRPr lang="zh-CN" altLang="en-US" dirty="0"/>
          </a:p>
        </p:txBody>
      </p:sp>
      <p:sp>
        <p:nvSpPr>
          <p:cNvPr id="34824" name="Line 9"/>
          <p:cNvSpPr>
            <a:spLocks noChangeShapeType="1"/>
          </p:cNvSpPr>
          <p:nvPr/>
        </p:nvSpPr>
        <p:spPr bwMode="auto">
          <a:xfrm>
            <a:off x="3114675" y="2620963"/>
            <a:ext cx="2471738" cy="2501900"/>
          </a:xfrm>
          <a:prstGeom prst="line">
            <a:avLst/>
          </a:prstGeom>
          <a:noFill/>
          <a:ln w="28575" cmpd="sng">
            <a:solidFill>
              <a:srgbClr val="0070C0"/>
            </a:solidFill>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4825" name="Line 10"/>
          <p:cNvSpPr>
            <a:spLocks noChangeShapeType="1"/>
          </p:cNvSpPr>
          <p:nvPr/>
        </p:nvSpPr>
        <p:spPr bwMode="auto">
          <a:xfrm>
            <a:off x="2760663" y="2943225"/>
            <a:ext cx="3000375" cy="1695450"/>
          </a:xfrm>
          <a:prstGeom prst="line">
            <a:avLst/>
          </a:prstGeom>
          <a:noFill/>
          <a:ln w="28575" cmpd="sng">
            <a:solidFill>
              <a:srgbClr val="0070C0"/>
            </a:solidFill>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4826" name="未知"/>
          <p:cNvSpPr>
            <a:spLocks noChangeArrowheads="1"/>
          </p:cNvSpPr>
          <p:nvPr/>
        </p:nvSpPr>
        <p:spPr bwMode="auto">
          <a:xfrm rot="21300000">
            <a:off x="4083050" y="3105150"/>
            <a:ext cx="1765300" cy="1697038"/>
          </a:xfrm>
          <a:custGeom>
            <a:avLst/>
            <a:gdLst>
              <a:gd name="T0" fmla="*/ 2147483647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a:moveTo>
                  <a:pt x="21600" y="0"/>
                </a:moveTo>
                <a:cubicBezTo>
                  <a:pt x="20474" y="1965"/>
                  <a:pt x="18450" y="8212"/>
                  <a:pt x="14851" y="11815"/>
                </a:cubicBezTo>
                <a:cubicBezTo>
                  <a:pt x="11252" y="15418"/>
                  <a:pt x="2473" y="19970"/>
                  <a:pt x="0" y="21599"/>
                </a:cubicBezTo>
              </a:path>
            </a:pathLst>
          </a:custGeom>
          <a:noFill/>
          <a:ln w="28575" cmpd="sng">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zh-CN">
              <a:solidFill>
                <a:srgbClr val="000000"/>
              </a:solidFill>
              <a:sym typeface="Arial" panose="020B0604020202020204" pitchFamily="34" charset="0"/>
            </a:endParaRPr>
          </a:p>
        </p:txBody>
      </p:sp>
      <p:sp>
        <p:nvSpPr>
          <p:cNvPr id="34827" name="Line 12"/>
          <p:cNvSpPr>
            <a:spLocks noChangeShapeType="1"/>
          </p:cNvSpPr>
          <p:nvPr/>
        </p:nvSpPr>
        <p:spPr bwMode="auto">
          <a:xfrm flipH="1">
            <a:off x="3467100" y="3025775"/>
            <a:ext cx="0" cy="2824163"/>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4828" name="Line 13"/>
          <p:cNvSpPr>
            <a:spLocks noChangeShapeType="1"/>
          </p:cNvSpPr>
          <p:nvPr/>
        </p:nvSpPr>
        <p:spPr bwMode="auto">
          <a:xfrm flipH="1">
            <a:off x="2582863" y="3025775"/>
            <a:ext cx="884237" cy="1588"/>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4829" name="Line 14"/>
          <p:cNvSpPr>
            <a:spLocks noChangeShapeType="1"/>
          </p:cNvSpPr>
          <p:nvPr/>
        </p:nvSpPr>
        <p:spPr bwMode="auto">
          <a:xfrm>
            <a:off x="3027363" y="2863850"/>
            <a:ext cx="3087687" cy="968375"/>
          </a:xfrm>
          <a:prstGeom prst="line">
            <a:avLst/>
          </a:prstGeom>
          <a:noFill/>
          <a:ln w="28575" cmpd="sng">
            <a:solidFill>
              <a:srgbClr val="0070C0"/>
            </a:solidFill>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4830" name="Line 15"/>
          <p:cNvSpPr>
            <a:spLocks noChangeShapeType="1"/>
          </p:cNvSpPr>
          <p:nvPr/>
        </p:nvSpPr>
        <p:spPr bwMode="auto">
          <a:xfrm>
            <a:off x="5056188" y="3509963"/>
            <a:ext cx="1587" cy="2339975"/>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4831" name="Line 16"/>
          <p:cNvSpPr>
            <a:spLocks noChangeShapeType="1"/>
          </p:cNvSpPr>
          <p:nvPr/>
        </p:nvSpPr>
        <p:spPr bwMode="auto">
          <a:xfrm>
            <a:off x="2936875" y="3186113"/>
            <a:ext cx="2913063" cy="889000"/>
          </a:xfrm>
          <a:prstGeom prst="line">
            <a:avLst/>
          </a:prstGeom>
          <a:noFill/>
          <a:ln w="9525" cmpd="sng">
            <a:solidFill>
              <a:schemeClr val="tx2"/>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4832" name="Text Box 17"/>
          <p:cNvSpPr>
            <a:spLocks noChangeArrowheads="1"/>
          </p:cNvSpPr>
          <p:nvPr/>
        </p:nvSpPr>
        <p:spPr bwMode="auto">
          <a:xfrm>
            <a:off x="6115050" y="3668713"/>
            <a:ext cx="695325"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dd</a:t>
            </a:r>
            <a:endParaRPr lang="zh-CN" altLang="en-US" sz="1000">
              <a:solidFill>
                <a:srgbClr val="000000"/>
              </a:solidFill>
              <a:sym typeface="Arial" panose="020B0604020202020204" pitchFamily="34" charset="0"/>
            </a:endParaRPr>
          </a:p>
        </p:txBody>
      </p:sp>
      <p:sp>
        <p:nvSpPr>
          <p:cNvPr id="34833" name="Text Box 18"/>
          <p:cNvSpPr>
            <a:spLocks noChangeArrowheads="1"/>
          </p:cNvSpPr>
          <p:nvPr/>
        </p:nvSpPr>
        <p:spPr bwMode="auto">
          <a:xfrm>
            <a:off x="5673725" y="4557713"/>
            <a:ext cx="935038"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MR</a:t>
            </a:r>
            <a:endParaRPr lang="zh-CN" altLang="en-US" sz="1000">
              <a:solidFill>
                <a:srgbClr val="000000"/>
              </a:solidFill>
              <a:sym typeface="Arial" panose="020B0604020202020204" pitchFamily="34" charset="0"/>
            </a:endParaRPr>
          </a:p>
        </p:txBody>
      </p:sp>
      <p:sp>
        <p:nvSpPr>
          <p:cNvPr id="34834" name="Text Box 19"/>
          <p:cNvSpPr>
            <a:spLocks noChangeArrowheads="1"/>
          </p:cNvSpPr>
          <p:nvPr/>
        </p:nvSpPr>
        <p:spPr bwMode="auto">
          <a:xfrm>
            <a:off x="5761038" y="2620963"/>
            <a:ext cx="809625" cy="376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MC</a:t>
            </a:r>
            <a:endParaRPr lang="zh-CN" altLang="en-US"/>
          </a:p>
        </p:txBody>
      </p:sp>
      <p:sp>
        <p:nvSpPr>
          <p:cNvPr id="34835" name="Line 20"/>
          <p:cNvSpPr>
            <a:spLocks noChangeShapeType="1"/>
          </p:cNvSpPr>
          <p:nvPr/>
        </p:nvSpPr>
        <p:spPr bwMode="auto">
          <a:xfrm>
            <a:off x="2584450" y="3509963"/>
            <a:ext cx="2408238" cy="1587"/>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4836" name="Text Box 21"/>
          <p:cNvSpPr>
            <a:spLocks noChangeArrowheads="1"/>
          </p:cNvSpPr>
          <p:nvPr/>
        </p:nvSpPr>
        <p:spPr bwMode="auto">
          <a:xfrm>
            <a:off x="3817938" y="5768975"/>
            <a:ext cx="584200"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Q</a:t>
            </a:r>
            <a:r>
              <a:rPr lang="zh-CN" altLang="en-US" sz="1000">
                <a:solidFill>
                  <a:srgbClr val="000000"/>
                </a:solidFill>
                <a:sym typeface="Arial" panose="020B0604020202020204" pitchFamily="34" charset="0"/>
              </a:rPr>
              <a:t>1</a:t>
            </a:r>
            <a:endParaRPr lang="zh-CN" altLang="en-US"/>
          </a:p>
        </p:txBody>
      </p:sp>
      <p:sp>
        <p:nvSpPr>
          <p:cNvPr id="34837" name="Text Box 22"/>
          <p:cNvSpPr>
            <a:spLocks noChangeArrowheads="1"/>
          </p:cNvSpPr>
          <p:nvPr/>
        </p:nvSpPr>
        <p:spPr bwMode="auto">
          <a:xfrm>
            <a:off x="2143125" y="3348038"/>
            <a:ext cx="569913"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P</a:t>
            </a:r>
            <a:r>
              <a:rPr lang="zh-CN" altLang="en-US" sz="1000">
                <a:solidFill>
                  <a:srgbClr val="000000"/>
                </a:solidFill>
                <a:sym typeface="Arial" panose="020B0604020202020204" pitchFamily="34" charset="0"/>
              </a:rPr>
              <a:t>1</a:t>
            </a:r>
            <a:endParaRPr lang="zh-CN" altLang="en-US"/>
          </a:p>
        </p:txBody>
      </p:sp>
      <p:sp>
        <p:nvSpPr>
          <p:cNvPr id="34838" name="Text Box 23"/>
          <p:cNvSpPr>
            <a:spLocks noChangeArrowheads="1"/>
          </p:cNvSpPr>
          <p:nvPr/>
        </p:nvSpPr>
        <p:spPr bwMode="auto">
          <a:xfrm>
            <a:off x="5849938" y="3992563"/>
            <a:ext cx="617537" cy="376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dd'</a:t>
            </a:r>
            <a:endParaRPr lang="zh-CN" altLang="en-US" sz="1000">
              <a:solidFill>
                <a:srgbClr val="000000"/>
              </a:solidFill>
              <a:sym typeface="Arial" panose="020B0604020202020204" pitchFamily="34" charset="0"/>
            </a:endParaRPr>
          </a:p>
        </p:txBody>
      </p:sp>
      <p:sp>
        <p:nvSpPr>
          <p:cNvPr id="34839" name="Text Box 24"/>
          <p:cNvSpPr>
            <a:spLocks noChangeArrowheads="1"/>
          </p:cNvSpPr>
          <p:nvPr/>
        </p:nvSpPr>
        <p:spPr bwMode="auto">
          <a:xfrm>
            <a:off x="5497513" y="5041900"/>
            <a:ext cx="857250" cy="37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DD</a:t>
            </a:r>
            <a:endParaRPr lang="zh-CN" altLang="en-US" sz="1000">
              <a:solidFill>
                <a:srgbClr val="000000"/>
              </a:solidFill>
              <a:sym typeface="Arial" panose="020B0604020202020204" pitchFamily="34" charset="0"/>
            </a:endParaRPr>
          </a:p>
        </p:txBody>
      </p:sp>
      <p:sp>
        <p:nvSpPr>
          <p:cNvPr id="34840" name="Text Box 25"/>
          <p:cNvSpPr>
            <a:spLocks noChangeArrowheads="1"/>
          </p:cNvSpPr>
          <p:nvPr/>
        </p:nvSpPr>
        <p:spPr bwMode="auto">
          <a:xfrm>
            <a:off x="3289300" y="5768975"/>
            <a:ext cx="704850"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Q</a:t>
            </a:r>
            <a:r>
              <a:rPr lang="zh-CN" altLang="en-US" sz="1000">
                <a:solidFill>
                  <a:srgbClr val="000000"/>
                </a:solidFill>
                <a:sym typeface="Arial" panose="020B0604020202020204" pitchFamily="34" charset="0"/>
              </a:rPr>
              <a:t>0</a:t>
            </a:r>
            <a:endParaRPr lang="zh-CN" altLang="en-US"/>
          </a:p>
        </p:txBody>
      </p:sp>
      <p:sp>
        <p:nvSpPr>
          <p:cNvPr id="34841" name="Text Box 26"/>
          <p:cNvSpPr>
            <a:spLocks noChangeArrowheads="1"/>
          </p:cNvSpPr>
          <p:nvPr/>
        </p:nvSpPr>
        <p:spPr bwMode="auto">
          <a:xfrm>
            <a:off x="2143125" y="2863850"/>
            <a:ext cx="695325"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P</a:t>
            </a:r>
            <a:r>
              <a:rPr lang="zh-CN" altLang="en-US" sz="1000">
                <a:solidFill>
                  <a:srgbClr val="000000"/>
                </a:solidFill>
                <a:sym typeface="Arial" panose="020B0604020202020204" pitchFamily="34" charset="0"/>
              </a:rPr>
              <a:t>0</a:t>
            </a:r>
            <a:endParaRPr lang="zh-CN" altLang="en-US"/>
          </a:p>
        </p:txBody>
      </p:sp>
      <p:sp>
        <p:nvSpPr>
          <p:cNvPr id="34842" name="Line 27"/>
          <p:cNvSpPr>
            <a:spLocks noChangeShapeType="1"/>
          </p:cNvSpPr>
          <p:nvPr/>
        </p:nvSpPr>
        <p:spPr bwMode="auto">
          <a:xfrm>
            <a:off x="3995738" y="3509963"/>
            <a:ext cx="1587" cy="2338387"/>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4843" name="Text Box 28"/>
          <p:cNvSpPr>
            <a:spLocks noChangeArrowheads="1"/>
          </p:cNvSpPr>
          <p:nvPr/>
        </p:nvSpPr>
        <p:spPr bwMode="auto">
          <a:xfrm>
            <a:off x="3495675" y="2662238"/>
            <a:ext cx="412750" cy="376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A</a:t>
            </a:r>
            <a:endParaRPr lang="zh-CN" altLang="en-US"/>
          </a:p>
        </p:txBody>
      </p:sp>
      <p:sp>
        <p:nvSpPr>
          <p:cNvPr id="34844" name="Text Box 29"/>
          <p:cNvSpPr>
            <a:spLocks noChangeArrowheads="1"/>
          </p:cNvSpPr>
          <p:nvPr/>
        </p:nvSpPr>
        <p:spPr bwMode="auto">
          <a:xfrm>
            <a:off x="3924300" y="3206750"/>
            <a:ext cx="379413"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B</a:t>
            </a:r>
            <a:endParaRPr lang="zh-CN" altLang="en-US"/>
          </a:p>
        </p:txBody>
      </p:sp>
      <p:sp>
        <p:nvSpPr>
          <p:cNvPr id="34845" name="Text Box 30"/>
          <p:cNvSpPr>
            <a:spLocks noChangeArrowheads="1"/>
          </p:cNvSpPr>
          <p:nvPr/>
        </p:nvSpPr>
        <p:spPr bwMode="auto">
          <a:xfrm>
            <a:off x="4791075" y="5768975"/>
            <a:ext cx="728663"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Q*</a:t>
            </a:r>
            <a:endParaRPr lang="zh-CN" altLang="en-US"/>
          </a:p>
        </p:txBody>
      </p:sp>
      <p:sp>
        <p:nvSpPr>
          <p:cNvPr id="34846" name="圆角矩形标注 32"/>
          <p:cNvSpPr>
            <a:spLocks noChangeArrowheads="1"/>
          </p:cNvSpPr>
          <p:nvPr/>
        </p:nvSpPr>
        <p:spPr bwMode="auto">
          <a:xfrm>
            <a:off x="5497513" y="974438"/>
            <a:ext cx="3521916" cy="1192212"/>
          </a:xfrm>
          <a:prstGeom prst="wedgeRoundRectCallout">
            <a:avLst>
              <a:gd name="adj1" fmla="val -26891"/>
              <a:gd name="adj2" fmla="val 65000"/>
              <a:gd name="adj3" fmla="val 16667"/>
            </a:avLst>
          </a:prstGeom>
          <a:solidFill>
            <a:schemeClr val="bg1"/>
          </a:solidFill>
          <a:ln>
            <a:solidFill>
              <a:srgbClr val="C00000"/>
            </a:solidFill>
          </a:ln>
        </p:spPr>
        <p:style>
          <a:lnRef idx="3">
            <a:schemeClr val="lt1"/>
          </a:lnRef>
          <a:fillRef idx="1">
            <a:schemeClr val="accent1"/>
          </a:fillRef>
          <a:effectRef idx="1">
            <a:schemeClr val="accent1"/>
          </a:effectRef>
          <a:fontRef idx="minor">
            <a:schemeClr val="lt1"/>
          </a:fontRef>
        </p:style>
        <p:txBody>
          <a:bodyPr>
            <a:spAutoFit/>
          </a:bodyPr>
          <a:lstStyle/>
          <a:p>
            <a:pPr algn="just"/>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假定：所有的垄断竞争企业的情况都完全一样，分析一个典型垄断竞争企业，当该企业改变生产行为，其他企业同样改变</a:t>
            </a:r>
          </a:p>
        </p:txBody>
      </p:sp>
      <p:sp>
        <p:nvSpPr>
          <p:cNvPr id="34847" name="圆角矩形标注 34"/>
          <p:cNvSpPr>
            <a:spLocks noChangeArrowheads="1"/>
          </p:cNvSpPr>
          <p:nvPr/>
        </p:nvSpPr>
        <p:spPr bwMode="auto">
          <a:xfrm>
            <a:off x="173785" y="2357438"/>
            <a:ext cx="1780427" cy="646986"/>
          </a:xfrm>
          <a:prstGeom prst="wedgeRoundRectCallout">
            <a:avLst>
              <a:gd name="adj1" fmla="val 66361"/>
              <a:gd name="adj2" fmla="val 37819"/>
              <a:gd name="adj3" fmla="val 16667"/>
            </a:avLst>
          </a:prstGeom>
          <a:solidFill>
            <a:schemeClr val="bg1"/>
          </a:solidFill>
          <a:ln>
            <a:solidFill>
              <a:srgbClr val="C00000"/>
            </a:solidFill>
          </a:ln>
        </p:spPr>
        <p:style>
          <a:lnRef idx="3">
            <a:schemeClr val="lt1"/>
          </a:lnRef>
          <a:fillRef idx="1">
            <a:schemeClr val="accent1"/>
          </a:fillRef>
          <a:effectRef idx="1">
            <a:schemeClr val="accent1"/>
          </a:effectRef>
          <a:fontRef idx="minor">
            <a:schemeClr val="lt1"/>
          </a:fontRef>
        </p:style>
        <p:txBody>
          <a:bodyPr>
            <a:spAutoFit/>
          </a:bodyPr>
          <a:lstStyle/>
          <a:p>
            <a:pPr algn="just"/>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初始状态：价格</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P</a:t>
            </a:r>
            <a:r>
              <a:rPr lang="en-US" altLang="zh-CN" b="0" baseline="-2500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0</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和销售量</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Q</a:t>
            </a:r>
            <a:r>
              <a:rPr lang="en-US" altLang="zh-CN" b="0" baseline="-2500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0</a:t>
            </a:r>
            <a:endParaRPr lang="zh-CN" altLang="en-US" b="0" baseline="-25000" dirty="0">
              <a:solidFill>
                <a:schemeClr val="tx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34848" name="圆角矩形标注 36"/>
          <p:cNvSpPr>
            <a:spLocks noChangeArrowheads="1"/>
          </p:cNvSpPr>
          <p:nvPr/>
        </p:nvSpPr>
        <p:spPr bwMode="auto">
          <a:xfrm>
            <a:off x="173785" y="3929063"/>
            <a:ext cx="2183654" cy="1464231"/>
          </a:xfrm>
          <a:prstGeom prst="wedgeRoundRectCallout">
            <a:avLst>
              <a:gd name="adj1" fmla="val 58040"/>
              <a:gd name="adj2" fmla="val -1856"/>
              <a:gd name="adj3" fmla="val 16667"/>
            </a:avLst>
          </a:prstGeom>
          <a:solidFill>
            <a:schemeClr val="bg1"/>
          </a:solidFill>
          <a:ln>
            <a:solidFill>
              <a:srgbClr val="C00000"/>
            </a:solidFill>
          </a:ln>
        </p:spPr>
        <p:style>
          <a:lnRef idx="3">
            <a:schemeClr val="lt1"/>
          </a:lnRef>
          <a:fillRef idx="1">
            <a:schemeClr val="accent1"/>
          </a:fillRef>
          <a:effectRef idx="1">
            <a:schemeClr val="accent1"/>
          </a:effectRef>
          <a:fontRef idx="minor">
            <a:schemeClr val="lt1"/>
          </a:fontRef>
        </p:style>
        <p:txBody>
          <a:bodyPr>
            <a:spAutoFit/>
          </a:bodyPr>
          <a:lstStyle/>
          <a:p>
            <a:pPr algn="just"/>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如果增加后的销售量与减少后的利润最大化产量</a:t>
            </a:r>
            <a:r>
              <a:rPr lang="zh-CN" altLang="en-US" b="0">
                <a:solidFill>
                  <a:schemeClr val="tx1"/>
                </a:solidFill>
                <a:latin typeface="微软雅黑" panose="020B0503020204020204" pitchFamily="34" charset="-122"/>
                <a:ea typeface="微软雅黑" panose="020B0503020204020204" pitchFamily="34" charset="-122"/>
                <a:sym typeface="Arial" panose="020B0604020202020204" pitchFamily="34" charset="0"/>
              </a:rPr>
              <a:t>恰好相等</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则典型企业即实现了利润最大化</a:t>
            </a:r>
          </a:p>
        </p:txBody>
      </p:sp>
      <p:sp>
        <p:nvSpPr>
          <p:cNvPr id="34850" name="圆角矩形标注 38"/>
          <p:cNvSpPr>
            <a:spLocks noChangeArrowheads="1"/>
          </p:cNvSpPr>
          <p:nvPr/>
        </p:nvSpPr>
        <p:spPr bwMode="auto">
          <a:xfrm>
            <a:off x="6580189" y="2566193"/>
            <a:ext cx="2439240" cy="919163"/>
          </a:xfrm>
          <a:prstGeom prst="wedgeRoundRectCallout">
            <a:avLst>
              <a:gd name="adj1" fmla="val -73576"/>
              <a:gd name="adj2" fmla="val 73190"/>
              <a:gd name="adj3" fmla="val 16667"/>
            </a:avLst>
          </a:prstGeom>
          <a:solidFill>
            <a:schemeClr val="bg1"/>
          </a:solidFill>
          <a:ln>
            <a:solidFill>
              <a:srgbClr val="C00000"/>
            </a:solidFill>
          </a:ln>
        </p:spPr>
        <p:style>
          <a:lnRef idx="3">
            <a:schemeClr val="lt1"/>
          </a:lnRef>
          <a:fillRef idx="1">
            <a:schemeClr val="accent1"/>
          </a:fillRef>
          <a:effectRef idx="1">
            <a:schemeClr val="accent1"/>
          </a:effectRef>
          <a:fontRef idx="minor">
            <a:schemeClr val="lt1"/>
          </a:fontRef>
        </p:style>
        <p:txBody>
          <a:bodyPr>
            <a:spAutoFit/>
          </a:bodyPr>
          <a:lstStyle/>
          <a:p>
            <a:pPr algn="just"/>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调整</a:t>
            </a:r>
            <a:r>
              <a:rPr lang="zh-CN" altLang="en-US" b="0">
                <a:solidFill>
                  <a:schemeClr val="tx1"/>
                </a:solidFill>
                <a:latin typeface="微软雅黑" panose="020B0503020204020204" pitchFamily="34" charset="-122"/>
                <a:ea typeface="微软雅黑" panose="020B0503020204020204" pitchFamily="34" charset="-122"/>
                <a:sym typeface="Arial" panose="020B0604020202020204" pitchFamily="34" charset="0"/>
              </a:rPr>
              <a:t>过程中</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 DD</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曲线保持不</a:t>
            </a:r>
            <a:r>
              <a:rPr lang="zh-CN" altLang="en-US" b="0">
                <a:solidFill>
                  <a:schemeClr val="tx1"/>
                </a:solidFill>
                <a:latin typeface="微软雅黑" panose="020B0503020204020204" pitchFamily="34" charset="-122"/>
                <a:ea typeface="微软雅黑" panose="020B0503020204020204" pitchFamily="34" charset="-122"/>
                <a:sym typeface="Arial" panose="020B0604020202020204" pitchFamily="34" charset="0"/>
              </a:rPr>
              <a:t>动而</a:t>
            </a:r>
            <a:r>
              <a:rPr lang="en-US" altLang="zh-CN" b="0" dirty="0" err="1">
                <a:solidFill>
                  <a:schemeClr val="tx1"/>
                </a:solidFill>
                <a:latin typeface="微软雅黑" panose="020B0503020204020204" pitchFamily="34" charset="-122"/>
                <a:ea typeface="微软雅黑" panose="020B0503020204020204" pitchFamily="34" charset="-122"/>
                <a:sym typeface="Arial" panose="020B0604020202020204" pitchFamily="34" charset="0"/>
              </a:rPr>
              <a:t>dd</a:t>
            </a:r>
            <a:r>
              <a:rPr lang="zh-CN" altLang="en-US" b="0">
                <a:solidFill>
                  <a:schemeClr val="tx1"/>
                </a:solidFill>
                <a:latin typeface="微软雅黑" panose="020B0503020204020204" pitchFamily="34" charset="-122"/>
                <a:ea typeface="微软雅黑" panose="020B0503020204020204" pitchFamily="34" charset="-122"/>
                <a:sym typeface="Arial" panose="020B0604020202020204" pitchFamily="34" charset="0"/>
              </a:rPr>
              <a:t>曲线沿着</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DD</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曲线向</a:t>
            </a:r>
            <a:r>
              <a:rPr lang="zh-CN" altLang="en-US" b="0">
                <a:solidFill>
                  <a:schemeClr val="tx1"/>
                </a:solidFill>
                <a:latin typeface="微软雅黑" panose="020B0503020204020204" pitchFamily="34" charset="-122"/>
                <a:ea typeface="微软雅黑" panose="020B0503020204020204" pitchFamily="34" charset="-122"/>
                <a:sym typeface="Arial" panose="020B0604020202020204" pitchFamily="34" charset="0"/>
              </a:rPr>
              <a:t>右下方移动</a:t>
            </a:r>
            <a:endPar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37" name="矩形 36">
            <a:extLst>
              <a:ext uri="{FF2B5EF4-FFF2-40B4-BE49-F238E27FC236}">
                <a16:creationId xmlns:a16="http://schemas.microsoft.com/office/drawing/2014/main" id="{F68E5273-CD77-47B9-B841-9D29349C133D}"/>
              </a:ext>
            </a:extLst>
          </p:cNvPr>
          <p:cNvSpPr/>
          <p:nvPr/>
        </p:nvSpPr>
        <p:spPr>
          <a:xfrm>
            <a:off x="457200" y="548681"/>
            <a:ext cx="4570413"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a:defRPr/>
            </a:pPr>
            <a:r>
              <a:rPr lang="zh-CN" altLang="en-US" sz="2400" spc="150" dirty="0">
                <a:solidFill>
                  <a:srgbClr val="FFFFFF"/>
                </a:solidFill>
                <a:latin typeface="微软雅黑" panose="020B0503020204020204" pitchFamily="34" charset="-122"/>
                <a:ea typeface="微软雅黑" panose="020B0503020204020204" pitchFamily="34" charset="-122"/>
              </a:rPr>
              <a:t>三</a:t>
            </a:r>
            <a:r>
              <a:rPr lang="zh-CN" altLang="en-US" sz="2400" b="1" spc="150" dirty="0">
                <a:solidFill>
                  <a:srgbClr val="FFFFFF"/>
                </a:solidFill>
                <a:latin typeface="微软雅黑" panose="020B0503020204020204" pitchFamily="34" charset="-122"/>
                <a:ea typeface="微软雅黑" panose="020B0503020204020204" pitchFamily="34" charset="-122"/>
              </a:rPr>
              <a:t>、</a:t>
            </a:r>
            <a:r>
              <a:rPr lang="zh-CN" altLang="en-US" sz="2400" spc="150" dirty="0">
                <a:solidFill>
                  <a:srgbClr val="FFFFFF"/>
                </a:solidFill>
                <a:latin typeface="微软雅黑" panose="020B0503020204020204" pitchFamily="34" charset="-122"/>
                <a:ea typeface="微软雅黑" panose="020B0503020204020204" pitchFamily="34" charset="-122"/>
              </a:rPr>
              <a:t>垄断竞争企业的短期均衡</a:t>
            </a:r>
            <a:endParaRPr lang="zh-CN" altLang="en-US" sz="2400" b="1" spc="150" dirty="0">
              <a:solidFill>
                <a:srgbClr val="FFFFFF"/>
              </a:solidFill>
              <a:latin typeface="微软雅黑" panose="020B0503020204020204" pitchFamily="34" charset="-122"/>
              <a:ea typeface="微软雅黑" panose="020B0503020204020204" pitchFamily="34" charset="-122"/>
            </a:endParaRPr>
          </a:p>
        </p:txBody>
      </p:sp>
      <p:sp>
        <p:nvSpPr>
          <p:cNvPr id="38" name="标题 1"/>
          <p:cNvSpPr>
            <a:spLocks noChangeArrowheads="1"/>
          </p:cNvSpPr>
          <p:nvPr/>
        </p:nvSpPr>
        <p:spPr bwMode="auto">
          <a:xfrm>
            <a:off x="7236185" y="44765"/>
            <a:ext cx="1944135" cy="3599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1800" b="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第二节  垄断竞争</a:t>
            </a:r>
            <a:endParaRPr lang="zh-CN" altLang="en-US" sz="1800" b="0" dirty="0">
              <a:solidFill>
                <a:schemeClr val="tx2"/>
              </a:solidFill>
              <a:latin typeface="微软雅黑" panose="020B0503020204020204" pitchFamily="34" charset="-122"/>
              <a:ea typeface="微软雅黑" panose="020B0503020204020204" pitchFamily="34" charset="-122"/>
              <a:sym typeface="Arial" panose="020B0604020202020204" pitchFamily="34"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4818">
                                            <p:txEl>
                                              <p:pRg st="0" end="0"/>
                                            </p:txEl>
                                          </p:spTgt>
                                        </p:tgtEl>
                                        <p:attrNameLst>
                                          <p:attrName>style.visibility</p:attrName>
                                        </p:attrNameLst>
                                      </p:cBhvr>
                                      <p:to>
                                        <p:strVal val="visible"/>
                                      </p:to>
                                    </p:set>
                                    <p:animEffect>
                                      <p:cBhvr>
                                        <p:cTn id="7" dur="500"/>
                                        <p:tgtEl>
                                          <p:spTgt spid="3481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4821"/>
                                        </p:tgtEl>
                                        <p:attrNameLst>
                                          <p:attrName>style.visibility</p:attrName>
                                        </p:attrNameLst>
                                      </p:cBhvr>
                                      <p:to>
                                        <p:strVal val="visible"/>
                                      </p:to>
                                    </p:set>
                                    <p:animEffect>
                                      <p:cBhvr>
                                        <p:cTn id="12" dur="500"/>
                                        <p:tgtEl>
                                          <p:spTgt spid="34821"/>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34819"/>
                                        </p:tgtEl>
                                        <p:attrNameLst>
                                          <p:attrName>style.visibility</p:attrName>
                                        </p:attrNameLst>
                                      </p:cBhvr>
                                      <p:to>
                                        <p:strVal val="visible"/>
                                      </p:to>
                                    </p:set>
                                    <p:animEffect>
                                      <p:cBhvr>
                                        <p:cTn id="15" dur="500"/>
                                        <p:tgtEl>
                                          <p:spTgt spid="34819"/>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34822"/>
                                        </p:tgtEl>
                                        <p:attrNameLst>
                                          <p:attrName>style.visibility</p:attrName>
                                        </p:attrNameLst>
                                      </p:cBhvr>
                                      <p:to>
                                        <p:strVal val="visible"/>
                                      </p:to>
                                    </p:set>
                                    <p:animEffect>
                                      <p:cBhvr>
                                        <p:cTn id="18" dur="500"/>
                                        <p:tgtEl>
                                          <p:spTgt spid="34822"/>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34820"/>
                                        </p:tgtEl>
                                        <p:attrNameLst>
                                          <p:attrName>style.visibility</p:attrName>
                                        </p:attrNameLst>
                                      </p:cBhvr>
                                      <p:to>
                                        <p:strVal val="visible"/>
                                      </p:to>
                                    </p:set>
                                    <p:animEffect>
                                      <p:cBhvr>
                                        <p:cTn id="21" dur="500"/>
                                        <p:tgtEl>
                                          <p:spTgt spid="34820"/>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34823"/>
                                        </p:tgtEl>
                                        <p:attrNameLst>
                                          <p:attrName>style.visibility</p:attrName>
                                        </p:attrNameLst>
                                      </p:cBhvr>
                                      <p:to>
                                        <p:strVal val="visible"/>
                                      </p:to>
                                    </p:set>
                                    <p:animEffect>
                                      <p:cBhvr>
                                        <p:cTn id="24" dur="500"/>
                                        <p:tgtEl>
                                          <p:spTgt spid="34823"/>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34846"/>
                                        </p:tgtEl>
                                        <p:attrNameLst>
                                          <p:attrName>style.visibility</p:attrName>
                                        </p:attrNameLst>
                                      </p:cBhvr>
                                      <p:to>
                                        <p:strVal val="visible"/>
                                      </p:to>
                                    </p:set>
                                    <p:animEffect>
                                      <p:cBhvr>
                                        <p:cTn id="29" dur="500"/>
                                        <p:tgtEl>
                                          <p:spTgt spid="34846"/>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34829"/>
                                        </p:tgtEl>
                                        <p:attrNameLst>
                                          <p:attrName>style.visibility</p:attrName>
                                        </p:attrNameLst>
                                      </p:cBhvr>
                                      <p:to>
                                        <p:strVal val="visible"/>
                                      </p:to>
                                    </p:set>
                                    <p:animEffect>
                                      <p:cBhvr>
                                        <p:cTn id="34" dur="500"/>
                                        <p:tgtEl>
                                          <p:spTgt spid="34829"/>
                                        </p:tgtEl>
                                      </p:cBhvr>
                                    </p:animEffect>
                                  </p:childTnLst>
                                </p:cTn>
                              </p:par>
                              <p:par>
                                <p:cTn id="35" presetID="3" presetClass="entr" presetSubtype="10" fill="hold" grpId="0" nodeType="withEffect">
                                  <p:stCondLst>
                                    <p:cond delay="0"/>
                                  </p:stCondLst>
                                  <p:childTnLst>
                                    <p:set>
                                      <p:cBhvr>
                                        <p:cTn id="36" dur="1" fill="hold">
                                          <p:stCondLst>
                                            <p:cond delay="0"/>
                                          </p:stCondLst>
                                        </p:cTn>
                                        <p:tgtEl>
                                          <p:spTgt spid="34832"/>
                                        </p:tgtEl>
                                        <p:attrNameLst>
                                          <p:attrName>style.visibility</p:attrName>
                                        </p:attrNameLst>
                                      </p:cBhvr>
                                      <p:to>
                                        <p:strVal val="visible"/>
                                      </p:to>
                                    </p:set>
                                    <p:animEffect>
                                      <p:cBhvr>
                                        <p:cTn id="37" dur="500"/>
                                        <p:tgtEl>
                                          <p:spTgt spid="34832"/>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34824"/>
                                        </p:tgtEl>
                                        <p:attrNameLst>
                                          <p:attrName>style.visibility</p:attrName>
                                        </p:attrNameLst>
                                      </p:cBhvr>
                                      <p:to>
                                        <p:strVal val="visible"/>
                                      </p:to>
                                    </p:set>
                                    <p:animEffect>
                                      <p:cBhvr>
                                        <p:cTn id="40" dur="500"/>
                                        <p:tgtEl>
                                          <p:spTgt spid="34824"/>
                                        </p:tgtEl>
                                      </p:cBhvr>
                                    </p:animEffect>
                                  </p:childTnLst>
                                </p:cTn>
                              </p:par>
                              <p:par>
                                <p:cTn id="41" presetID="3" presetClass="entr" presetSubtype="10" fill="hold" grpId="0" nodeType="withEffect">
                                  <p:stCondLst>
                                    <p:cond delay="0"/>
                                  </p:stCondLst>
                                  <p:childTnLst>
                                    <p:set>
                                      <p:cBhvr>
                                        <p:cTn id="42" dur="1" fill="hold">
                                          <p:stCondLst>
                                            <p:cond delay="0"/>
                                          </p:stCondLst>
                                        </p:cTn>
                                        <p:tgtEl>
                                          <p:spTgt spid="34839"/>
                                        </p:tgtEl>
                                        <p:attrNameLst>
                                          <p:attrName>style.visibility</p:attrName>
                                        </p:attrNameLst>
                                      </p:cBhvr>
                                      <p:to>
                                        <p:strVal val="visible"/>
                                      </p:to>
                                    </p:set>
                                    <p:animEffect>
                                      <p:cBhvr>
                                        <p:cTn id="43" dur="500"/>
                                        <p:tgtEl>
                                          <p:spTgt spid="34839"/>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34847"/>
                                        </p:tgtEl>
                                        <p:attrNameLst>
                                          <p:attrName>style.visibility</p:attrName>
                                        </p:attrNameLst>
                                      </p:cBhvr>
                                      <p:to>
                                        <p:strVal val="visible"/>
                                      </p:to>
                                    </p:set>
                                    <p:animEffect>
                                      <p:cBhvr>
                                        <p:cTn id="48" dur="500"/>
                                        <p:tgtEl>
                                          <p:spTgt spid="34847"/>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5" presetClass="entr" presetSubtype="10" fill="hold" grpId="0" nodeType="clickEffect">
                                  <p:stCondLst>
                                    <p:cond delay="0"/>
                                  </p:stCondLst>
                                  <p:childTnLst>
                                    <p:set>
                                      <p:cBhvr>
                                        <p:cTn id="52" dur="1" fill="hold">
                                          <p:stCondLst>
                                            <p:cond delay="0"/>
                                          </p:stCondLst>
                                        </p:cTn>
                                        <p:tgtEl>
                                          <p:spTgt spid="34841"/>
                                        </p:tgtEl>
                                        <p:attrNameLst>
                                          <p:attrName>style.visibility</p:attrName>
                                        </p:attrNameLst>
                                      </p:cBhvr>
                                      <p:to>
                                        <p:strVal val="visible"/>
                                      </p:to>
                                    </p:set>
                                    <p:animEffect>
                                      <p:cBhvr>
                                        <p:cTn id="53" dur="500"/>
                                        <p:tgtEl>
                                          <p:spTgt spid="34841"/>
                                        </p:tgtEl>
                                      </p:cBhvr>
                                    </p:animEffect>
                                  </p:childTnLst>
                                </p:cTn>
                              </p:par>
                              <p:par>
                                <p:cTn id="54" presetID="5" presetClass="entr" presetSubtype="10" fill="hold" grpId="0" nodeType="withEffect">
                                  <p:stCondLst>
                                    <p:cond delay="0"/>
                                  </p:stCondLst>
                                  <p:childTnLst>
                                    <p:set>
                                      <p:cBhvr>
                                        <p:cTn id="55" dur="1" fill="hold">
                                          <p:stCondLst>
                                            <p:cond delay="0"/>
                                          </p:stCondLst>
                                        </p:cTn>
                                        <p:tgtEl>
                                          <p:spTgt spid="34828"/>
                                        </p:tgtEl>
                                        <p:attrNameLst>
                                          <p:attrName>style.visibility</p:attrName>
                                        </p:attrNameLst>
                                      </p:cBhvr>
                                      <p:to>
                                        <p:strVal val="visible"/>
                                      </p:to>
                                    </p:set>
                                    <p:animEffect>
                                      <p:cBhvr>
                                        <p:cTn id="56" dur="500"/>
                                        <p:tgtEl>
                                          <p:spTgt spid="34828"/>
                                        </p:tgtEl>
                                      </p:cBhvr>
                                    </p:animEffect>
                                  </p:childTnLst>
                                </p:cTn>
                              </p:par>
                              <p:par>
                                <p:cTn id="57" presetID="5" presetClass="entr" presetSubtype="10" fill="hold" grpId="0" nodeType="withEffect">
                                  <p:stCondLst>
                                    <p:cond delay="0"/>
                                  </p:stCondLst>
                                  <p:childTnLst>
                                    <p:set>
                                      <p:cBhvr>
                                        <p:cTn id="58" dur="1" fill="hold">
                                          <p:stCondLst>
                                            <p:cond delay="0"/>
                                          </p:stCondLst>
                                        </p:cTn>
                                        <p:tgtEl>
                                          <p:spTgt spid="34827"/>
                                        </p:tgtEl>
                                        <p:attrNameLst>
                                          <p:attrName>style.visibility</p:attrName>
                                        </p:attrNameLst>
                                      </p:cBhvr>
                                      <p:to>
                                        <p:strVal val="visible"/>
                                      </p:to>
                                    </p:set>
                                    <p:animEffect>
                                      <p:cBhvr>
                                        <p:cTn id="59" dur="500"/>
                                        <p:tgtEl>
                                          <p:spTgt spid="34827"/>
                                        </p:tgtEl>
                                      </p:cBhvr>
                                    </p:animEffect>
                                  </p:childTnLst>
                                </p:cTn>
                              </p:par>
                              <p:par>
                                <p:cTn id="60" presetID="5" presetClass="entr" presetSubtype="10" fill="hold" grpId="0" nodeType="withEffect">
                                  <p:stCondLst>
                                    <p:cond delay="0"/>
                                  </p:stCondLst>
                                  <p:childTnLst>
                                    <p:set>
                                      <p:cBhvr>
                                        <p:cTn id="61" dur="1" fill="hold">
                                          <p:stCondLst>
                                            <p:cond delay="0"/>
                                          </p:stCondLst>
                                        </p:cTn>
                                        <p:tgtEl>
                                          <p:spTgt spid="34840"/>
                                        </p:tgtEl>
                                        <p:attrNameLst>
                                          <p:attrName>style.visibility</p:attrName>
                                        </p:attrNameLst>
                                      </p:cBhvr>
                                      <p:to>
                                        <p:strVal val="visible"/>
                                      </p:to>
                                    </p:set>
                                    <p:animEffect>
                                      <p:cBhvr>
                                        <p:cTn id="62" dur="500"/>
                                        <p:tgtEl>
                                          <p:spTgt spid="34840"/>
                                        </p:tgtEl>
                                      </p:cBhvr>
                                    </p:animEffect>
                                  </p:childTnLst>
                                </p:cTn>
                              </p:par>
                              <p:par>
                                <p:cTn id="63" presetID="5" presetClass="entr" presetSubtype="10" fill="hold" grpId="0" nodeType="withEffect">
                                  <p:stCondLst>
                                    <p:cond delay="0"/>
                                  </p:stCondLst>
                                  <p:childTnLst>
                                    <p:set>
                                      <p:cBhvr>
                                        <p:cTn id="64" dur="1" fill="hold">
                                          <p:stCondLst>
                                            <p:cond delay="0"/>
                                          </p:stCondLst>
                                        </p:cTn>
                                        <p:tgtEl>
                                          <p:spTgt spid="34843"/>
                                        </p:tgtEl>
                                        <p:attrNameLst>
                                          <p:attrName>style.visibility</p:attrName>
                                        </p:attrNameLst>
                                      </p:cBhvr>
                                      <p:to>
                                        <p:strVal val="visible"/>
                                      </p:to>
                                    </p:set>
                                    <p:animEffect>
                                      <p:cBhvr>
                                        <p:cTn id="65" dur="500"/>
                                        <p:tgtEl>
                                          <p:spTgt spid="34843"/>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3" presetClass="entr" presetSubtype="10" fill="hold" grpId="0" nodeType="clickEffect">
                                  <p:stCondLst>
                                    <p:cond delay="0"/>
                                  </p:stCondLst>
                                  <p:childTnLst>
                                    <p:set>
                                      <p:cBhvr>
                                        <p:cTn id="69" dur="1" fill="hold">
                                          <p:stCondLst>
                                            <p:cond delay="0"/>
                                          </p:stCondLst>
                                        </p:cTn>
                                        <p:tgtEl>
                                          <p:spTgt spid="34850"/>
                                        </p:tgtEl>
                                        <p:attrNameLst>
                                          <p:attrName>style.visibility</p:attrName>
                                        </p:attrNameLst>
                                      </p:cBhvr>
                                      <p:to>
                                        <p:strVal val="visible"/>
                                      </p:to>
                                    </p:set>
                                    <p:animEffect>
                                      <p:cBhvr>
                                        <p:cTn id="70" dur="500"/>
                                        <p:tgtEl>
                                          <p:spTgt spid="34850"/>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3" presetClass="entr" presetSubtype="10" fill="hold" grpId="0" nodeType="clickEffect">
                                  <p:stCondLst>
                                    <p:cond delay="0"/>
                                  </p:stCondLst>
                                  <p:childTnLst>
                                    <p:set>
                                      <p:cBhvr>
                                        <p:cTn id="74" dur="1" fill="hold">
                                          <p:stCondLst>
                                            <p:cond delay="0"/>
                                          </p:stCondLst>
                                        </p:cTn>
                                        <p:tgtEl>
                                          <p:spTgt spid="34831"/>
                                        </p:tgtEl>
                                        <p:attrNameLst>
                                          <p:attrName>style.visibility</p:attrName>
                                        </p:attrNameLst>
                                      </p:cBhvr>
                                      <p:to>
                                        <p:strVal val="visible"/>
                                      </p:to>
                                    </p:set>
                                    <p:animEffect>
                                      <p:cBhvr>
                                        <p:cTn id="75" dur="500"/>
                                        <p:tgtEl>
                                          <p:spTgt spid="34831"/>
                                        </p:tgtEl>
                                      </p:cBhvr>
                                    </p:animEffect>
                                  </p:childTnLst>
                                </p:cTn>
                              </p:par>
                              <p:par>
                                <p:cTn id="76" presetID="3" presetClass="entr" presetSubtype="10" fill="hold" grpId="0" nodeType="withEffect">
                                  <p:stCondLst>
                                    <p:cond delay="0"/>
                                  </p:stCondLst>
                                  <p:childTnLst>
                                    <p:set>
                                      <p:cBhvr>
                                        <p:cTn id="77" dur="1" fill="hold">
                                          <p:stCondLst>
                                            <p:cond delay="0"/>
                                          </p:stCondLst>
                                        </p:cTn>
                                        <p:tgtEl>
                                          <p:spTgt spid="34838"/>
                                        </p:tgtEl>
                                        <p:attrNameLst>
                                          <p:attrName>style.visibility</p:attrName>
                                        </p:attrNameLst>
                                      </p:cBhvr>
                                      <p:to>
                                        <p:strVal val="visible"/>
                                      </p:to>
                                    </p:set>
                                    <p:animEffect>
                                      <p:cBhvr>
                                        <p:cTn id="78" dur="500"/>
                                        <p:tgtEl>
                                          <p:spTgt spid="34838"/>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5" presetClass="entr" presetSubtype="10" fill="hold" grpId="0" nodeType="clickEffect">
                                  <p:stCondLst>
                                    <p:cond delay="0"/>
                                  </p:stCondLst>
                                  <p:childTnLst>
                                    <p:set>
                                      <p:cBhvr>
                                        <p:cTn id="82" dur="1" fill="hold">
                                          <p:stCondLst>
                                            <p:cond delay="0"/>
                                          </p:stCondLst>
                                        </p:cTn>
                                        <p:tgtEl>
                                          <p:spTgt spid="34849"/>
                                        </p:tgtEl>
                                        <p:attrNameLst>
                                          <p:attrName>style.visibility</p:attrName>
                                        </p:attrNameLst>
                                      </p:cBhvr>
                                      <p:to>
                                        <p:strVal val="visible"/>
                                      </p:to>
                                    </p:set>
                                    <p:animEffect>
                                      <p:cBhvr>
                                        <p:cTn id="83" dur="500"/>
                                        <p:tgtEl>
                                          <p:spTgt spid="34849"/>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3" presetClass="entr" presetSubtype="10" fill="hold" grpId="0" nodeType="clickEffect">
                                  <p:stCondLst>
                                    <p:cond delay="0"/>
                                  </p:stCondLst>
                                  <p:childTnLst>
                                    <p:set>
                                      <p:cBhvr>
                                        <p:cTn id="87" dur="1" fill="hold">
                                          <p:stCondLst>
                                            <p:cond delay="0"/>
                                          </p:stCondLst>
                                        </p:cTn>
                                        <p:tgtEl>
                                          <p:spTgt spid="34833"/>
                                        </p:tgtEl>
                                        <p:attrNameLst>
                                          <p:attrName>style.visibility</p:attrName>
                                        </p:attrNameLst>
                                      </p:cBhvr>
                                      <p:to>
                                        <p:strVal val="visible"/>
                                      </p:to>
                                    </p:set>
                                    <p:animEffect>
                                      <p:cBhvr>
                                        <p:cTn id="88" dur="500"/>
                                        <p:tgtEl>
                                          <p:spTgt spid="34833"/>
                                        </p:tgtEl>
                                      </p:cBhvr>
                                    </p:animEffect>
                                  </p:childTnLst>
                                </p:cTn>
                              </p:par>
                              <p:par>
                                <p:cTn id="89" presetID="3" presetClass="entr" presetSubtype="10" fill="hold" grpId="0" nodeType="withEffect">
                                  <p:stCondLst>
                                    <p:cond delay="0"/>
                                  </p:stCondLst>
                                  <p:childTnLst>
                                    <p:set>
                                      <p:cBhvr>
                                        <p:cTn id="90" dur="1" fill="hold">
                                          <p:stCondLst>
                                            <p:cond delay="0"/>
                                          </p:stCondLst>
                                        </p:cTn>
                                        <p:tgtEl>
                                          <p:spTgt spid="34825"/>
                                        </p:tgtEl>
                                        <p:attrNameLst>
                                          <p:attrName>style.visibility</p:attrName>
                                        </p:attrNameLst>
                                      </p:cBhvr>
                                      <p:to>
                                        <p:strVal val="visible"/>
                                      </p:to>
                                    </p:set>
                                    <p:animEffect>
                                      <p:cBhvr>
                                        <p:cTn id="91" dur="500"/>
                                        <p:tgtEl>
                                          <p:spTgt spid="34825"/>
                                        </p:tgtEl>
                                      </p:cBhvr>
                                    </p:animEffect>
                                  </p:childTnLst>
                                </p:cTn>
                              </p:par>
                              <p:par>
                                <p:cTn id="92" presetID="3" presetClass="entr" presetSubtype="10" fill="hold" grpId="0" nodeType="withEffect">
                                  <p:stCondLst>
                                    <p:cond delay="0"/>
                                  </p:stCondLst>
                                  <p:childTnLst>
                                    <p:set>
                                      <p:cBhvr>
                                        <p:cTn id="93" dur="1" fill="hold">
                                          <p:stCondLst>
                                            <p:cond delay="0"/>
                                          </p:stCondLst>
                                        </p:cTn>
                                        <p:tgtEl>
                                          <p:spTgt spid="34834"/>
                                        </p:tgtEl>
                                        <p:attrNameLst>
                                          <p:attrName>style.visibility</p:attrName>
                                        </p:attrNameLst>
                                      </p:cBhvr>
                                      <p:to>
                                        <p:strVal val="visible"/>
                                      </p:to>
                                    </p:set>
                                    <p:animEffect>
                                      <p:cBhvr>
                                        <p:cTn id="94" dur="500"/>
                                        <p:tgtEl>
                                          <p:spTgt spid="34834"/>
                                        </p:tgtEl>
                                      </p:cBhvr>
                                    </p:animEffect>
                                  </p:childTnLst>
                                </p:cTn>
                              </p:par>
                              <p:par>
                                <p:cTn id="95" presetID="3" presetClass="entr" presetSubtype="10" fill="hold" grpId="0" nodeType="withEffect">
                                  <p:stCondLst>
                                    <p:cond delay="0"/>
                                  </p:stCondLst>
                                  <p:childTnLst>
                                    <p:set>
                                      <p:cBhvr>
                                        <p:cTn id="96" dur="1" fill="hold">
                                          <p:stCondLst>
                                            <p:cond delay="0"/>
                                          </p:stCondLst>
                                        </p:cTn>
                                        <p:tgtEl>
                                          <p:spTgt spid="34837"/>
                                        </p:tgtEl>
                                        <p:attrNameLst>
                                          <p:attrName>style.visibility</p:attrName>
                                        </p:attrNameLst>
                                      </p:cBhvr>
                                      <p:to>
                                        <p:strVal val="visible"/>
                                      </p:to>
                                    </p:set>
                                    <p:animEffect>
                                      <p:cBhvr>
                                        <p:cTn id="97" dur="500"/>
                                        <p:tgtEl>
                                          <p:spTgt spid="34837"/>
                                        </p:tgtEl>
                                      </p:cBhvr>
                                    </p:animEffect>
                                  </p:childTnLst>
                                </p:cTn>
                              </p:par>
                              <p:par>
                                <p:cTn id="98" presetID="3" presetClass="entr" presetSubtype="10" fill="hold" grpId="0" nodeType="withEffect">
                                  <p:stCondLst>
                                    <p:cond delay="0"/>
                                  </p:stCondLst>
                                  <p:childTnLst>
                                    <p:set>
                                      <p:cBhvr>
                                        <p:cTn id="99" dur="1" fill="hold">
                                          <p:stCondLst>
                                            <p:cond delay="0"/>
                                          </p:stCondLst>
                                        </p:cTn>
                                        <p:tgtEl>
                                          <p:spTgt spid="34844"/>
                                        </p:tgtEl>
                                        <p:attrNameLst>
                                          <p:attrName>style.visibility</p:attrName>
                                        </p:attrNameLst>
                                      </p:cBhvr>
                                      <p:to>
                                        <p:strVal val="visible"/>
                                      </p:to>
                                    </p:set>
                                    <p:animEffect>
                                      <p:cBhvr>
                                        <p:cTn id="100" dur="500"/>
                                        <p:tgtEl>
                                          <p:spTgt spid="34844"/>
                                        </p:tgtEl>
                                      </p:cBhvr>
                                    </p:animEffect>
                                  </p:childTnLst>
                                </p:cTn>
                              </p:par>
                              <p:par>
                                <p:cTn id="101" presetID="3" presetClass="entr" presetSubtype="10" fill="hold" grpId="0" nodeType="withEffect">
                                  <p:stCondLst>
                                    <p:cond delay="0"/>
                                  </p:stCondLst>
                                  <p:childTnLst>
                                    <p:set>
                                      <p:cBhvr>
                                        <p:cTn id="102" dur="1" fill="hold">
                                          <p:stCondLst>
                                            <p:cond delay="0"/>
                                          </p:stCondLst>
                                        </p:cTn>
                                        <p:tgtEl>
                                          <p:spTgt spid="34835"/>
                                        </p:tgtEl>
                                        <p:attrNameLst>
                                          <p:attrName>style.visibility</p:attrName>
                                        </p:attrNameLst>
                                      </p:cBhvr>
                                      <p:to>
                                        <p:strVal val="visible"/>
                                      </p:to>
                                    </p:set>
                                    <p:animEffect>
                                      <p:cBhvr>
                                        <p:cTn id="103" dur="500"/>
                                        <p:tgtEl>
                                          <p:spTgt spid="34835"/>
                                        </p:tgtEl>
                                      </p:cBhvr>
                                    </p:animEffect>
                                  </p:childTnLst>
                                </p:cTn>
                              </p:par>
                              <p:par>
                                <p:cTn id="104" presetID="3" presetClass="entr" presetSubtype="10" fill="hold" grpId="0" nodeType="withEffect">
                                  <p:stCondLst>
                                    <p:cond delay="0"/>
                                  </p:stCondLst>
                                  <p:childTnLst>
                                    <p:set>
                                      <p:cBhvr>
                                        <p:cTn id="105" dur="1" fill="hold">
                                          <p:stCondLst>
                                            <p:cond delay="0"/>
                                          </p:stCondLst>
                                        </p:cTn>
                                        <p:tgtEl>
                                          <p:spTgt spid="34826"/>
                                        </p:tgtEl>
                                        <p:attrNameLst>
                                          <p:attrName>style.visibility</p:attrName>
                                        </p:attrNameLst>
                                      </p:cBhvr>
                                      <p:to>
                                        <p:strVal val="visible"/>
                                      </p:to>
                                    </p:set>
                                    <p:animEffect>
                                      <p:cBhvr>
                                        <p:cTn id="106" dur="500"/>
                                        <p:tgtEl>
                                          <p:spTgt spid="34826"/>
                                        </p:tgtEl>
                                      </p:cBhvr>
                                    </p:animEffect>
                                  </p:childTnLst>
                                </p:cTn>
                              </p:par>
                              <p:par>
                                <p:cTn id="107" presetID="3" presetClass="entr" presetSubtype="10" fill="hold" grpId="0" nodeType="withEffect">
                                  <p:stCondLst>
                                    <p:cond delay="0"/>
                                  </p:stCondLst>
                                  <p:childTnLst>
                                    <p:set>
                                      <p:cBhvr>
                                        <p:cTn id="108" dur="1" fill="hold">
                                          <p:stCondLst>
                                            <p:cond delay="0"/>
                                          </p:stCondLst>
                                        </p:cTn>
                                        <p:tgtEl>
                                          <p:spTgt spid="34830"/>
                                        </p:tgtEl>
                                        <p:attrNameLst>
                                          <p:attrName>style.visibility</p:attrName>
                                        </p:attrNameLst>
                                      </p:cBhvr>
                                      <p:to>
                                        <p:strVal val="visible"/>
                                      </p:to>
                                    </p:set>
                                    <p:animEffect>
                                      <p:cBhvr>
                                        <p:cTn id="109" dur="500"/>
                                        <p:tgtEl>
                                          <p:spTgt spid="34830"/>
                                        </p:tgtEl>
                                      </p:cBhvr>
                                    </p:animEffect>
                                  </p:childTnLst>
                                </p:cTn>
                              </p:par>
                              <p:par>
                                <p:cTn id="110" presetID="3" presetClass="entr" presetSubtype="10" fill="hold" grpId="0" nodeType="withEffect">
                                  <p:stCondLst>
                                    <p:cond delay="0"/>
                                  </p:stCondLst>
                                  <p:childTnLst>
                                    <p:set>
                                      <p:cBhvr>
                                        <p:cTn id="111" dur="1" fill="hold">
                                          <p:stCondLst>
                                            <p:cond delay="0"/>
                                          </p:stCondLst>
                                        </p:cTn>
                                        <p:tgtEl>
                                          <p:spTgt spid="34845"/>
                                        </p:tgtEl>
                                        <p:attrNameLst>
                                          <p:attrName>style.visibility</p:attrName>
                                        </p:attrNameLst>
                                      </p:cBhvr>
                                      <p:to>
                                        <p:strVal val="visible"/>
                                      </p:to>
                                    </p:set>
                                    <p:animEffect>
                                      <p:cBhvr>
                                        <p:cTn id="112" dur="500"/>
                                        <p:tgtEl>
                                          <p:spTgt spid="34845"/>
                                        </p:tgtEl>
                                      </p:cBhvr>
                                    </p:animEffect>
                                  </p:childTnLst>
                                </p:cTn>
                              </p:par>
                              <p:par>
                                <p:cTn id="113" presetID="3" presetClass="entr" presetSubtype="10" fill="hold" grpId="0" nodeType="withEffect">
                                  <p:stCondLst>
                                    <p:cond delay="0"/>
                                  </p:stCondLst>
                                  <p:childTnLst>
                                    <p:set>
                                      <p:cBhvr>
                                        <p:cTn id="114" dur="1" fill="hold">
                                          <p:stCondLst>
                                            <p:cond delay="0"/>
                                          </p:stCondLst>
                                        </p:cTn>
                                        <p:tgtEl>
                                          <p:spTgt spid="34836"/>
                                        </p:tgtEl>
                                        <p:attrNameLst>
                                          <p:attrName>style.visibility</p:attrName>
                                        </p:attrNameLst>
                                      </p:cBhvr>
                                      <p:to>
                                        <p:strVal val="visible"/>
                                      </p:to>
                                    </p:set>
                                    <p:animEffect>
                                      <p:cBhvr>
                                        <p:cTn id="115" dur="500"/>
                                        <p:tgtEl>
                                          <p:spTgt spid="34836"/>
                                        </p:tgtEl>
                                      </p:cBhvr>
                                    </p:animEffect>
                                  </p:childTnLst>
                                </p:cTn>
                              </p:par>
                              <p:par>
                                <p:cTn id="116" presetID="3" presetClass="entr" presetSubtype="10" fill="hold" grpId="0" nodeType="withEffect">
                                  <p:stCondLst>
                                    <p:cond delay="0"/>
                                  </p:stCondLst>
                                  <p:childTnLst>
                                    <p:set>
                                      <p:cBhvr>
                                        <p:cTn id="117" dur="1" fill="hold">
                                          <p:stCondLst>
                                            <p:cond delay="0"/>
                                          </p:stCondLst>
                                        </p:cTn>
                                        <p:tgtEl>
                                          <p:spTgt spid="34842"/>
                                        </p:tgtEl>
                                        <p:attrNameLst>
                                          <p:attrName>style.visibility</p:attrName>
                                        </p:attrNameLst>
                                      </p:cBhvr>
                                      <p:to>
                                        <p:strVal val="visible"/>
                                      </p:to>
                                    </p:set>
                                    <p:animEffect>
                                      <p:cBhvr>
                                        <p:cTn id="118" dur="500"/>
                                        <p:tgtEl>
                                          <p:spTgt spid="34842"/>
                                        </p:tgtEl>
                                      </p:cBhvr>
                                    </p:animEffect>
                                  </p:childTnLst>
                                </p:cTn>
                              </p:par>
                            </p:childTnLst>
                          </p:cTn>
                        </p:par>
                      </p:childTnLst>
                    </p:cTn>
                  </p:par>
                  <p:par>
                    <p:cTn id="119" fill="hold" nodeType="clickPar">
                      <p:stCondLst>
                        <p:cond delay="indefinite"/>
                      </p:stCondLst>
                      <p:childTnLst>
                        <p:par>
                          <p:cTn id="120" fill="hold" nodeType="withGroup">
                            <p:stCondLst>
                              <p:cond delay="0"/>
                            </p:stCondLst>
                            <p:childTnLst>
                              <p:par>
                                <p:cTn id="121" presetID="3" presetClass="entr" presetSubtype="10" fill="hold" grpId="0" nodeType="clickEffect">
                                  <p:stCondLst>
                                    <p:cond delay="0"/>
                                  </p:stCondLst>
                                  <p:childTnLst>
                                    <p:set>
                                      <p:cBhvr>
                                        <p:cTn id="122" dur="1" fill="hold">
                                          <p:stCondLst>
                                            <p:cond delay="0"/>
                                          </p:stCondLst>
                                        </p:cTn>
                                        <p:tgtEl>
                                          <p:spTgt spid="34848"/>
                                        </p:tgtEl>
                                        <p:attrNameLst>
                                          <p:attrName>style.visibility</p:attrName>
                                        </p:attrNameLst>
                                      </p:cBhvr>
                                      <p:to>
                                        <p:strVal val="visible"/>
                                      </p:to>
                                    </p:set>
                                    <p:animEffect>
                                      <p:cBhvr>
                                        <p:cTn id="123" dur="500"/>
                                        <p:tgtEl>
                                          <p:spTgt spid="348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49" grpId="0" bldLvl="0" animBg="1" autoUpdateAnimBg="0"/>
      <p:bldP spid="34819" grpId="0" bldLvl="0" animBg="1" autoUpdateAnimBg="0"/>
      <p:bldP spid="34820" grpId="0" bldLvl="0" animBg="1" autoUpdateAnimBg="0"/>
      <p:bldP spid="34821" grpId="0" bldLvl="0" autoUpdateAnimBg="0"/>
      <p:bldP spid="34822" grpId="0" bldLvl="0" autoUpdateAnimBg="0"/>
      <p:bldP spid="34823" grpId="0" bldLvl="0" autoUpdateAnimBg="0"/>
      <p:bldP spid="34824" grpId="0" bldLvl="0" animBg="1" autoUpdateAnimBg="0"/>
      <p:bldP spid="34825" grpId="0" bldLvl="0" animBg="1" autoUpdateAnimBg="0"/>
      <p:bldP spid="34826" grpId="0" bldLvl="0" animBg="1" autoUpdateAnimBg="0"/>
      <p:bldP spid="34827" grpId="0" bldLvl="0" animBg="1" autoUpdateAnimBg="0"/>
      <p:bldP spid="34828" grpId="0" bldLvl="0" animBg="1" autoUpdateAnimBg="0"/>
      <p:bldP spid="34829" grpId="0" bldLvl="0" animBg="1" autoUpdateAnimBg="0"/>
      <p:bldP spid="34830" grpId="0" bldLvl="0" animBg="1" autoUpdateAnimBg="0"/>
      <p:bldP spid="34831" grpId="0" bldLvl="0" animBg="1" autoUpdateAnimBg="0"/>
      <p:bldP spid="34832" grpId="0" bldLvl="0" autoUpdateAnimBg="0"/>
      <p:bldP spid="34833" grpId="0" bldLvl="0" autoUpdateAnimBg="0"/>
      <p:bldP spid="34834" grpId="0" bldLvl="0" autoUpdateAnimBg="0"/>
      <p:bldP spid="34835" grpId="0" bldLvl="0" animBg="1" autoUpdateAnimBg="0"/>
      <p:bldP spid="34836" grpId="0" bldLvl="0" autoUpdateAnimBg="0"/>
      <p:bldP spid="34837" grpId="0" bldLvl="0" autoUpdateAnimBg="0"/>
      <p:bldP spid="34838" grpId="0" bldLvl="0" autoUpdateAnimBg="0"/>
      <p:bldP spid="34839" grpId="0" bldLvl="0" autoUpdateAnimBg="0"/>
      <p:bldP spid="34840" grpId="0" bldLvl="0" autoUpdateAnimBg="0"/>
      <p:bldP spid="34841" grpId="0" bldLvl="0" autoUpdateAnimBg="0"/>
      <p:bldP spid="34842" grpId="0" bldLvl="0" animBg="1" autoUpdateAnimBg="0"/>
      <p:bldP spid="34843" grpId="0" bldLvl="0" autoUpdateAnimBg="0"/>
      <p:bldP spid="34844" grpId="0" bldLvl="0" autoUpdateAnimBg="0"/>
      <p:bldP spid="34845" grpId="0" bldLvl="0" autoUpdateAnimBg="0"/>
      <p:bldP spid="34846" grpId="0" bldLvl="0" animBg="1" autoUpdateAnimBg="0"/>
      <p:bldP spid="34847" grpId="0" bldLvl="0" animBg="1" autoUpdateAnimBg="0"/>
      <p:bldP spid="34848" grpId="0" bldLvl="0" animBg="1" autoUpdateAnimBg="0"/>
      <p:bldP spid="34850" grpId="0" bldLvl="0" animBg="1"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3"/>
          <p:cNvSpPr>
            <a:spLocks noGrp="1" noChangeArrowheads="1"/>
          </p:cNvSpPr>
          <p:nvPr>
            <p:ph type="body" idx="4294967295"/>
          </p:nvPr>
        </p:nvSpPr>
        <p:spPr>
          <a:xfrm>
            <a:off x="457200" y="1343025"/>
            <a:ext cx="3609975" cy="667446"/>
          </a:xfrm>
          <a:ln/>
        </p:spPr>
        <p:txBody>
          <a:bodyPr/>
          <a:lstStyle/>
          <a:p>
            <a:pPr marL="457200" lvl="2" indent="-457200" eaLnBrk="1" hangingPunct="1">
              <a:lnSpc>
                <a:spcPct val="150000"/>
              </a:lnSpc>
              <a:buSzPct val="100000"/>
              <a:buFont typeface="Wingdings" panose="05000000000000000000" pitchFamily="2" charset="2"/>
              <a:buChar char="u"/>
            </a:pPr>
            <a:r>
              <a:rPr lang="zh-CN" altLang="en-US" sz="2200" b="0" dirty="0">
                <a:latin typeface="微软雅黑" panose="020B0503020204020204" pitchFamily="34" charset="-122"/>
                <a:ea typeface="微软雅黑" panose="020B0503020204020204" pitchFamily="34" charset="-122"/>
              </a:rPr>
              <a:t>短期均衡的调整过程</a:t>
            </a:r>
            <a:endParaRPr lang="en-US" altLang="zh-CN" sz="2200" b="0" dirty="0">
              <a:latin typeface="微软雅黑" panose="020B0503020204020204" pitchFamily="34" charset="-122"/>
              <a:ea typeface="微软雅黑" panose="020B0503020204020204" pitchFamily="34" charset="-122"/>
            </a:endParaRPr>
          </a:p>
        </p:txBody>
      </p:sp>
      <p:sp>
        <p:nvSpPr>
          <p:cNvPr id="35843" name="Line 4"/>
          <p:cNvSpPr>
            <a:spLocks noChangeShapeType="1"/>
          </p:cNvSpPr>
          <p:nvPr/>
        </p:nvSpPr>
        <p:spPr bwMode="auto">
          <a:xfrm flipV="1">
            <a:off x="2492375" y="2938463"/>
            <a:ext cx="1588" cy="2787650"/>
          </a:xfrm>
          <a:prstGeom prst="line">
            <a:avLst/>
          </a:prstGeom>
          <a:noFill/>
          <a:ln w="9525" cmpd="sng">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5844" name="Line 5"/>
          <p:cNvSpPr>
            <a:spLocks noChangeShapeType="1"/>
          </p:cNvSpPr>
          <p:nvPr/>
        </p:nvSpPr>
        <p:spPr bwMode="auto">
          <a:xfrm>
            <a:off x="2414588" y="5722938"/>
            <a:ext cx="4298950" cy="1587"/>
          </a:xfrm>
          <a:prstGeom prst="line">
            <a:avLst/>
          </a:prstGeom>
          <a:noFill/>
          <a:ln w="9525" cmpd="sng">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5845" name="Text Box 6"/>
          <p:cNvSpPr>
            <a:spLocks noChangeArrowheads="1"/>
          </p:cNvSpPr>
          <p:nvPr/>
        </p:nvSpPr>
        <p:spPr bwMode="auto">
          <a:xfrm>
            <a:off x="2084388" y="2786063"/>
            <a:ext cx="458787"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P</a:t>
            </a:r>
            <a:endParaRPr lang="zh-CN" altLang="en-US"/>
          </a:p>
        </p:txBody>
      </p:sp>
      <p:sp>
        <p:nvSpPr>
          <p:cNvPr id="35846" name="Text Box 7"/>
          <p:cNvSpPr>
            <a:spLocks noChangeArrowheads="1"/>
          </p:cNvSpPr>
          <p:nvPr/>
        </p:nvSpPr>
        <p:spPr bwMode="auto">
          <a:xfrm>
            <a:off x="2000250" y="5573713"/>
            <a:ext cx="357188"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O</a:t>
            </a:r>
            <a:endParaRPr lang="zh-CN" altLang="en-US"/>
          </a:p>
        </p:txBody>
      </p:sp>
      <p:sp>
        <p:nvSpPr>
          <p:cNvPr id="35847" name="Text Box 8"/>
          <p:cNvSpPr>
            <a:spLocks noChangeArrowheads="1"/>
          </p:cNvSpPr>
          <p:nvPr/>
        </p:nvSpPr>
        <p:spPr bwMode="auto">
          <a:xfrm>
            <a:off x="6629400" y="5648325"/>
            <a:ext cx="357188"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Q</a:t>
            </a:r>
            <a:endParaRPr lang="zh-CN" altLang="en-US"/>
          </a:p>
        </p:txBody>
      </p:sp>
      <p:sp>
        <p:nvSpPr>
          <p:cNvPr id="35848" name="Line 9"/>
          <p:cNvSpPr>
            <a:spLocks noChangeShapeType="1"/>
          </p:cNvSpPr>
          <p:nvPr/>
        </p:nvSpPr>
        <p:spPr bwMode="auto">
          <a:xfrm>
            <a:off x="2911475" y="3387725"/>
            <a:ext cx="1571625" cy="1960563"/>
          </a:xfrm>
          <a:prstGeom prst="line">
            <a:avLst/>
          </a:prstGeom>
          <a:noFill/>
          <a:ln w="28575" cmpd="sng">
            <a:solidFill>
              <a:srgbClr val="0070C0"/>
            </a:solidFill>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5849" name="Text Box 10"/>
          <p:cNvSpPr>
            <a:spLocks noChangeArrowheads="1"/>
          </p:cNvSpPr>
          <p:nvPr/>
        </p:nvSpPr>
        <p:spPr bwMode="auto">
          <a:xfrm>
            <a:off x="6134100" y="5119688"/>
            <a:ext cx="579438"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dd</a:t>
            </a:r>
            <a:endParaRPr lang="zh-CN" altLang="en-US"/>
          </a:p>
        </p:txBody>
      </p:sp>
      <p:sp>
        <p:nvSpPr>
          <p:cNvPr id="35850" name="Line 11"/>
          <p:cNvSpPr>
            <a:spLocks noChangeShapeType="1"/>
          </p:cNvSpPr>
          <p:nvPr/>
        </p:nvSpPr>
        <p:spPr bwMode="auto">
          <a:xfrm>
            <a:off x="2990850" y="3162300"/>
            <a:ext cx="3224213" cy="2109788"/>
          </a:xfrm>
          <a:prstGeom prst="line">
            <a:avLst/>
          </a:prstGeom>
          <a:noFill/>
          <a:ln w="28575" cmpd="sng">
            <a:solidFill>
              <a:srgbClr val="0070C0"/>
            </a:solidFill>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5851" name="Text Box 12"/>
          <p:cNvSpPr>
            <a:spLocks noChangeArrowheads="1"/>
          </p:cNvSpPr>
          <p:nvPr/>
        </p:nvSpPr>
        <p:spPr bwMode="auto">
          <a:xfrm>
            <a:off x="4479925" y="5270500"/>
            <a:ext cx="1239838"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MR</a:t>
            </a:r>
            <a:endParaRPr lang="zh-CN" altLang="en-US"/>
          </a:p>
        </p:txBody>
      </p:sp>
      <p:sp>
        <p:nvSpPr>
          <p:cNvPr id="35852" name="Line 13"/>
          <p:cNvSpPr>
            <a:spLocks noChangeShapeType="1"/>
          </p:cNvSpPr>
          <p:nvPr/>
        </p:nvSpPr>
        <p:spPr bwMode="auto">
          <a:xfrm>
            <a:off x="3500438" y="2928938"/>
            <a:ext cx="1817687" cy="2486025"/>
          </a:xfrm>
          <a:prstGeom prst="line">
            <a:avLst/>
          </a:prstGeom>
          <a:noFill/>
          <a:ln w="28575" cmpd="sng">
            <a:solidFill>
              <a:srgbClr val="0070C0"/>
            </a:solidFill>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5853" name="Text Box 14"/>
          <p:cNvSpPr>
            <a:spLocks noChangeArrowheads="1"/>
          </p:cNvSpPr>
          <p:nvPr/>
        </p:nvSpPr>
        <p:spPr bwMode="auto">
          <a:xfrm>
            <a:off x="2000250" y="3763963"/>
            <a:ext cx="661988"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P*</a:t>
            </a:r>
            <a:endParaRPr lang="zh-CN" altLang="en-US"/>
          </a:p>
        </p:txBody>
      </p:sp>
      <p:sp>
        <p:nvSpPr>
          <p:cNvPr id="35854" name="Text Box 15"/>
          <p:cNvSpPr>
            <a:spLocks noChangeArrowheads="1"/>
          </p:cNvSpPr>
          <p:nvPr/>
        </p:nvSpPr>
        <p:spPr bwMode="auto">
          <a:xfrm>
            <a:off x="5224463" y="5348288"/>
            <a:ext cx="776287"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sym typeface="Arial" panose="020B0604020202020204" pitchFamily="34" charset="0"/>
              </a:rPr>
              <a:t>DD'</a:t>
            </a:r>
            <a:endParaRPr lang="zh-CN" altLang="en-US" dirty="0"/>
          </a:p>
        </p:txBody>
      </p:sp>
      <p:sp>
        <p:nvSpPr>
          <p:cNvPr id="35855" name="Line 16"/>
          <p:cNvSpPr>
            <a:spLocks noChangeShapeType="1"/>
          </p:cNvSpPr>
          <p:nvPr/>
        </p:nvSpPr>
        <p:spPr bwMode="auto">
          <a:xfrm>
            <a:off x="4232275" y="3990975"/>
            <a:ext cx="1588" cy="1731963"/>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5856" name="Line 17"/>
          <p:cNvSpPr>
            <a:spLocks noChangeShapeType="1"/>
          </p:cNvSpPr>
          <p:nvPr/>
        </p:nvSpPr>
        <p:spPr bwMode="auto">
          <a:xfrm flipH="1">
            <a:off x="2414588" y="3990975"/>
            <a:ext cx="1817687" cy="0"/>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5857" name="未知"/>
          <p:cNvSpPr>
            <a:spLocks noChangeArrowheads="1"/>
          </p:cNvSpPr>
          <p:nvPr/>
        </p:nvSpPr>
        <p:spPr bwMode="auto">
          <a:xfrm>
            <a:off x="3697288" y="3649663"/>
            <a:ext cx="1746250" cy="1655762"/>
          </a:xfrm>
          <a:custGeom>
            <a:avLst/>
            <a:gdLst>
              <a:gd name="T0" fmla="*/ 2147483647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a:moveTo>
                  <a:pt x="21600" y="0"/>
                </a:moveTo>
                <a:cubicBezTo>
                  <a:pt x="20301" y="2350"/>
                  <a:pt x="17415" y="10522"/>
                  <a:pt x="13816" y="14122"/>
                </a:cubicBezTo>
                <a:cubicBezTo>
                  <a:pt x="10218" y="17722"/>
                  <a:pt x="2299" y="20350"/>
                  <a:pt x="0" y="21600"/>
                </a:cubicBezTo>
              </a:path>
            </a:pathLst>
          </a:custGeom>
          <a:noFill/>
          <a:ln w="28575" cmpd="sng">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zh-CN">
              <a:solidFill>
                <a:srgbClr val="000000"/>
              </a:solidFill>
              <a:sym typeface="Arial" panose="020B0604020202020204" pitchFamily="34" charset="0"/>
            </a:endParaRPr>
          </a:p>
        </p:txBody>
      </p:sp>
      <p:sp>
        <p:nvSpPr>
          <p:cNvPr id="35858" name="Text Box 19"/>
          <p:cNvSpPr>
            <a:spLocks noChangeArrowheads="1"/>
          </p:cNvSpPr>
          <p:nvPr/>
        </p:nvSpPr>
        <p:spPr bwMode="auto">
          <a:xfrm>
            <a:off x="5141913" y="3313113"/>
            <a:ext cx="779462"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MC</a:t>
            </a:r>
            <a:endParaRPr lang="zh-CN" altLang="en-US"/>
          </a:p>
        </p:txBody>
      </p:sp>
      <p:sp>
        <p:nvSpPr>
          <p:cNvPr id="35859" name="Text Box 20"/>
          <p:cNvSpPr>
            <a:spLocks noChangeArrowheads="1"/>
          </p:cNvSpPr>
          <p:nvPr/>
        </p:nvSpPr>
        <p:spPr bwMode="auto">
          <a:xfrm>
            <a:off x="4067175" y="5722938"/>
            <a:ext cx="700088"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Q*</a:t>
            </a:r>
            <a:endParaRPr lang="zh-CN" altLang="en-US"/>
          </a:p>
        </p:txBody>
      </p:sp>
      <p:sp>
        <p:nvSpPr>
          <p:cNvPr id="35860" name="圆角矩形标注 21"/>
          <p:cNvSpPr>
            <a:spLocks noChangeArrowheads="1"/>
          </p:cNvSpPr>
          <p:nvPr/>
        </p:nvSpPr>
        <p:spPr bwMode="auto">
          <a:xfrm>
            <a:off x="4232275" y="1751158"/>
            <a:ext cx="4572000" cy="1191816"/>
          </a:xfrm>
          <a:prstGeom prst="wedgeRoundRectCallout">
            <a:avLst>
              <a:gd name="adj1" fmla="val -46182"/>
              <a:gd name="adj2" fmla="val 112315"/>
              <a:gd name="adj3" fmla="val 16667"/>
            </a:avLst>
          </a:prstGeom>
          <a:solidFill>
            <a:schemeClr val="bg1"/>
          </a:solidFill>
          <a:ln>
            <a:solidFill>
              <a:srgbClr val="C00000"/>
            </a:solidFill>
          </a:ln>
        </p:spPr>
        <p:style>
          <a:lnRef idx="3">
            <a:schemeClr val="lt1"/>
          </a:lnRef>
          <a:fillRef idx="1">
            <a:schemeClr val="accent1"/>
          </a:fillRef>
          <a:effectRef idx="1">
            <a:schemeClr val="accent1"/>
          </a:effectRef>
          <a:fontRef idx="minor">
            <a:schemeClr val="lt1"/>
          </a:fontRef>
        </p:style>
        <p:txBody>
          <a:bodyPr>
            <a:spAutoFit/>
          </a:bodyPr>
          <a:lstStyle/>
          <a:p>
            <a:pPr algn="just"/>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垄断竞争企业的短期均衡</a:t>
            </a:r>
            <a:r>
              <a:rPr lang="zh-CN" altLang="en-US" b="0">
                <a:solidFill>
                  <a:schemeClr val="tx1"/>
                </a:solidFill>
                <a:latin typeface="微软雅黑" panose="020B0503020204020204" pitchFamily="34" charset="-122"/>
                <a:ea typeface="微软雅黑" panose="020B0503020204020204" pitchFamily="34" charset="-122"/>
                <a:sym typeface="Arial" panose="020B0604020202020204" pitchFamily="34" charset="0"/>
              </a:rPr>
              <a:t>条件是</a:t>
            </a:r>
            <a:r>
              <a:rPr lang="en-US" altLang="zh-CN" b="0">
                <a:solidFill>
                  <a:schemeClr val="tx1"/>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a:solidFill>
                  <a:schemeClr val="tx1"/>
                </a:solidFill>
                <a:latin typeface="微软雅黑" panose="020B0503020204020204" pitchFamily="34" charset="-122"/>
                <a:ea typeface="微软雅黑" panose="020B0503020204020204" pitchFamily="34" charset="-122"/>
                <a:sym typeface="Arial" panose="020B0604020202020204" pitchFamily="34" charset="0"/>
              </a:rPr>
              <a:t>由</a:t>
            </a:r>
            <a:r>
              <a:rPr lang="en-US" altLang="zh-CN" b="0" dirty="0" err="1">
                <a:solidFill>
                  <a:schemeClr val="tx1"/>
                </a:solidFill>
                <a:latin typeface="微软雅黑" panose="020B0503020204020204" pitchFamily="34" charset="-122"/>
                <a:ea typeface="微软雅黑" panose="020B0503020204020204" pitchFamily="34" charset="-122"/>
                <a:sym typeface="Arial" panose="020B0604020202020204" pitchFamily="34" charset="0"/>
              </a:rPr>
              <a:t>dd</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曲线与DD'曲线的交点所决定的现实产量恰好等于由边际</a:t>
            </a:r>
            <a:r>
              <a:rPr lang="zh-CN" altLang="en-US" b="0">
                <a:solidFill>
                  <a:schemeClr val="tx1"/>
                </a:solidFill>
                <a:latin typeface="微软雅黑" panose="020B0503020204020204" pitchFamily="34" charset="-122"/>
                <a:ea typeface="微软雅黑" panose="020B0503020204020204" pitchFamily="34" charset="-122"/>
                <a:sym typeface="Arial" panose="020B0604020202020204" pitchFamily="34" charset="0"/>
              </a:rPr>
              <a:t>收益曲线</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MR</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与</a:t>
            </a:r>
            <a:r>
              <a:rPr lang="zh-CN" altLang="en-US" b="0">
                <a:solidFill>
                  <a:schemeClr val="tx1"/>
                </a:solidFill>
                <a:latin typeface="微软雅黑" panose="020B0503020204020204" pitchFamily="34" charset="-122"/>
                <a:ea typeface="微软雅黑" panose="020B0503020204020204" pitchFamily="34" charset="-122"/>
                <a:sym typeface="Arial" panose="020B0604020202020204" pitchFamily="34" charset="0"/>
              </a:rPr>
              <a:t>边际成本曲线</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MC</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的交点所决定的利润最大化产量。</a:t>
            </a:r>
          </a:p>
        </p:txBody>
      </p:sp>
      <p:sp>
        <p:nvSpPr>
          <p:cNvPr id="23" name="矩形 22">
            <a:extLst>
              <a:ext uri="{FF2B5EF4-FFF2-40B4-BE49-F238E27FC236}">
                <a16:creationId xmlns:a16="http://schemas.microsoft.com/office/drawing/2014/main" id="{F68E5273-CD77-47B9-B841-9D29349C133D}"/>
              </a:ext>
            </a:extLst>
          </p:cNvPr>
          <p:cNvSpPr/>
          <p:nvPr/>
        </p:nvSpPr>
        <p:spPr>
          <a:xfrm>
            <a:off x="457200" y="548681"/>
            <a:ext cx="4570413"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a:defRPr/>
            </a:pPr>
            <a:r>
              <a:rPr lang="zh-CN" altLang="en-US" sz="2400" spc="150" dirty="0">
                <a:solidFill>
                  <a:srgbClr val="FFFFFF"/>
                </a:solidFill>
                <a:latin typeface="微软雅黑" panose="020B0503020204020204" pitchFamily="34" charset="-122"/>
                <a:ea typeface="微软雅黑" panose="020B0503020204020204" pitchFamily="34" charset="-122"/>
              </a:rPr>
              <a:t>三</a:t>
            </a:r>
            <a:r>
              <a:rPr lang="zh-CN" altLang="en-US" sz="2400" b="1" spc="150" dirty="0">
                <a:solidFill>
                  <a:srgbClr val="FFFFFF"/>
                </a:solidFill>
                <a:latin typeface="微软雅黑" panose="020B0503020204020204" pitchFamily="34" charset="-122"/>
                <a:ea typeface="微软雅黑" panose="020B0503020204020204" pitchFamily="34" charset="-122"/>
              </a:rPr>
              <a:t>、</a:t>
            </a:r>
            <a:r>
              <a:rPr lang="zh-CN" altLang="en-US" sz="2400" spc="150" dirty="0">
                <a:solidFill>
                  <a:srgbClr val="FFFFFF"/>
                </a:solidFill>
                <a:latin typeface="微软雅黑" panose="020B0503020204020204" pitchFamily="34" charset="-122"/>
                <a:ea typeface="微软雅黑" panose="020B0503020204020204" pitchFamily="34" charset="-122"/>
              </a:rPr>
              <a:t>垄断竞争企业的短期均衡</a:t>
            </a:r>
            <a:endParaRPr lang="zh-CN" altLang="en-US" sz="2400" b="1" spc="150" dirty="0">
              <a:solidFill>
                <a:srgbClr val="FFFFFF"/>
              </a:solidFill>
              <a:latin typeface="微软雅黑" panose="020B0503020204020204" pitchFamily="34" charset="-122"/>
              <a:ea typeface="微软雅黑" panose="020B0503020204020204" pitchFamily="34" charset="-122"/>
            </a:endParaRPr>
          </a:p>
        </p:txBody>
      </p:sp>
      <p:sp>
        <p:nvSpPr>
          <p:cNvPr id="24" name="标题 1"/>
          <p:cNvSpPr>
            <a:spLocks noChangeArrowheads="1"/>
          </p:cNvSpPr>
          <p:nvPr/>
        </p:nvSpPr>
        <p:spPr bwMode="auto">
          <a:xfrm>
            <a:off x="7236185" y="44765"/>
            <a:ext cx="1944135" cy="3599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1800" b="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第二节  垄断竞争</a:t>
            </a:r>
            <a:endParaRPr lang="zh-CN" altLang="en-US" sz="1800" b="0" dirty="0">
              <a:solidFill>
                <a:schemeClr val="tx2"/>
              </a:solidFill>
              <a:latin typeface="微软雅黑" panose="020B0503020204020204" pitchFamily="34" charset="-122"/>
              <a:ea typeface="微软雅黑" panose="020B0503020204020204" pitchFamily="34" charset="-122"/>
              <a:sym typeface="Arial" panose="020B0604020202020204" pitchFamily="34"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5842">
                                            <p:txEl>
                                              <p:pRg st="0" end="0"/>
                                            </p:txEl>
                                          </p:spTgt>
                                        </p:tgtEl>
                                        <p:attrNameLst>
                                          <p:attrName>style.visibility</p:attrName>
                                        </p:attrNameLst>
                                      </p:cBhvr>
                                      <p:to>
                                        <p:strVal val="visible"/>
                                      </p:to>
                                    </p:set>
                                    <p:animEffect>
                                      <p:cBhvr>
                                        <p:cTn id="7" dur="500"/>
                                        <p:tgtEl>
                                          <p:spTgt spid="3584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35843"/>
                                        </p:tgtEl>
                                        <p:attrNameLst>
                                          <p:attrName>style.visibility</p:attrName>
                                        </p:attrNameLst>
                                      </p:cBhvr>
                                      <p:to>
                                        <p:strVal val="visible"/>
                                      </p:to>
                                    </p:set>
                                    <p:animEffect>
                                      <p:cBhvr>
                                        <p:cTn id="12" dur="500"/>
                                        <p:tgtEl>
                                          <p:spTgt spid="35843"/>
                                        </p:tgtEl>
                                      </p:cBhvr>
                                    </p:animEffect>
                                  </p:childTnLst>
                                </p:cTn>
                              </p:par>
                              <p:par>
                                <p:cTn id="13" presetID="16" presetClass="entr" presetSubtype="26" fill="hold" grpId="0" nodeType="withEffect">
                                  <p:stCondLst>
                                    <p:cond delay="0"/>
                                  </p:stCondLst>
                                  <p:childTnLst>
                                    <p:set>
                                      <p:cBhvr>
                                        <p:cTn id="14" dur="1" fill="hold">
                                          <p:stCondLst>
                                            <p:cond delay="0"/>
                                          </p:stCondLst>
                                        </p:cTn>
                                        <p:tgtEl>
                                          <p:spTgt spid="35845"/>
                                        </p:tgtEl>
                                        <p:attrNameLst>
                                          <p:attrName>style.visibility</p:attrName>
                                        </p:attrNameLst>
                                      </p:cBhvr>
                                      <p:to>
                                        <p:strVal val="visible"/>
                                      </p:to>
                                    </p:set>
                                    <p:animEffect>
                                      <p:cBhvr>
                                        <p:cTn id="15" dur="500"/>
                                        <p:tgtEl>
                                          <p:spTgt spid="35845"/>
                                        </p:tgtEl>
                                      </p:cBhvr>
                                    </p:animEffect>
                                  </p:childTnLst>
                                </p:cTn>
                              </p:par>
                              <p:par>
                                <p:cTn id="16" presetID="16" presetClass="entr" presetSubtype="26" fill="hold" grpId="0" nodeType="withEffect">
                                  <p:stCondLst>
                                    <p:cond delay="0"/>
                                  </p:stCondLst>
                                  <p:childTnLst>
                                    <p:set>
                                      <p:cBhvr>
                                        <p:cTn id="17" dur="1" fill="hold">
                                          <p:stCondLst>
                                            <p:cond delay="0"/>
                                          </p:stCondLst>
                                        </p:cTn>
                                        <p:tgtEl>
                                          <p:spTgt spid="35846"/>
                                        </p:tgtEl>
                                        <p:attrNameLst>
                                          <p:attrName>style.visibility</p:attrName>
                                        </p:attrNameLst>
                                      </p:cBhvr>
                                      <p:to>
                                        <p:strVal val="visible"/>
                                      </p:to>
                                    </p:set>
                                    <p:animEffect>
                                      <p:cBhvr>
                                        <p:cTn id="18" dur="500"/>
                                        <p:tgtEl>
                                          <p:spTgt spid="35846"/>
                                        </p:tgtEl>
                                      </p:cBhvr>
                                    </p:animEffect>
                                  </p:childTnLst>
                                </p:cTn>
                              </p:par>
                              <p:par>
                                <p:cTn id="19" presetID="16" presetClass="entr" presetSubtype="26" fill="hold" grpId="0" nodeType="withEffect">
                                  <p:stCondLst>
                                    <p:cond delay="0"/>
                                  </p:stCondLst>
                                  <p:childTnLst>
                                    <p:set>
                                      <p:cBhvr>
                                        <p:cTn id="20" dur="1" fill="hold">
                                          <p:stCondLst>
                                            <p:cond delay="0"/>
                                          </p:stCondLst>
                                        </p:cTn>
                                        <p:tgtEl>
                                          <p:spTgt spid="35844"/>
                                        </p:tgtEl>
                                        <p:attrNameLst>
                                          <p:attrName>style.visibility</p:attrName>
                                        </p:attrNameLst>
                                      </p:cBhvr>
                                      <p:to>
                                        <p:strVal val="visible"/>
                                      </p:to>
                                    </p:set>
                                    <p:animEffect>
                                      <p:cBhvr>
                                        <p:cTn id="21" dur="500"/>
                                        <p:tgtEl>
                                          <p:spTgt spid="35844"/>
                                        </p:tgtEl>
                                      </p:cBhvr>
                                    </p:animEffect>
                                  </p:childTnLst>
                                </p:cTn>
                              </p:par>
                              <p:par>
                                <p:cTn id="22" presetID="16" presetClass="entr" presetSubtype="26" fill="hold" grpId="0" nodeType="withEffect">
                                  <p:stCondLst>
                                    <p:cond delay="0"/>
                                  </p:stCondLst>
                                  <p:childTnLst>
                                    <p:set>
                                      <p:cBhvr>
                                        <p:cTn id="23" dur="1" fill="hold">
                                          <p:stCondLst>
                                            <p:cond delay="0"/>
                                          </p:stCondLst>
                                        </p:cTn>
                                        <p:tgtEl>
                                          <p:spTgt spid="35847"/>
                                        </p:tgtEl>
                                        <p:attrNameLst>
                                          <p:attrName>style.visibility</p:attrName>
                                        </p:attrNameLst>
                                      </p:cBhvr>
                                      <p:to>
                                        <p:strVal val="visible"/>
                                      </p:to>
                                    </p:set>
                                    <p:animEffect>
                                      <p:cBhvr>
                                        <p:cTn id="24" dur="500"/>
                                        <p:tgtEl>
                                          <p:spTgt spid="35847"/>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35852"/>
                                        </p:tgtEl>
                                        <p:attrNameLst>
                                          <p:attrName>style.visibility</p:attrName>
                                        </p:attrNameLst>
                                      </p:cBhvr>
                                      <p:to>
                                        <p:strVal val="visible"/>
                                      </p:to>
                                    </p:set>
                                    <p:animEffect>
                                      <p:cBhvr>
                                        <p:cTn id="29" dur="500"/>
                                        <p:tgtEl>
                                          <p:spTgt spid="35852"/>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35850"/>
                                        </p:tgtEl>
                                        <p:attrNameLst>
                                          <p:attrName>style.visibility</p:attrName>
                                        </p:attrNameLst>
                                      </p:cBhvr>
                                      <p:to>
                                        <p:strVal val="visible"/>
                                      </p:to>
                                    </p:set>
                                    <p:animEffect>
                                      <p:cBhvr>
                                        <p:cTn id="32" dur="500"/>
                                        <p:tgtEl>
                                          <p:spTgt spid="35850"/>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35854"/>
                                        </p:tgtEl>
                                        <p:attrNameLst>
                                          <p:attrName>style.visibility</p:attrName>
                                        </p:attrNameLst>
                                      </p:cBhvr>
                                      <p:to>
                                        <p:strVal val="visible"/>
                                      </p:to>
                                    </p:set>
                                    <p:animEffect>
                                      <p:cBhvr>
                                        <p:cTn id="35" dur="500"/>
                                        <p:tgtEl>
                                          <p:spTgt spid="35854"/>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35849"/>
                                        </p:tgtEl>
                                        <p:attrNameLst>
                                          <p:attrName>style.visibility</p:attrName>
                                        </p:attrNameLst>
                                      </p:cBhvr>
                                      <p:to>
                                        <p:strVal val="visible"/>
                                      </p:to>
                                    </p:set>
                                    <p:animEffect>
                                      <p:cBhvr>
                                        <p:cTn id="38" dur="500"/>
                                        <p:tgtEl>
                                          <p:spTgt spid="35849"/>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35860"/>
                                        </p:tgtEl>
                                        <p:attrNameLst>
                                          <p:attrName>style.visibility</p:attrName>
                                        </p:attrNameLst>
                                      </p:cBhvr>
                                      <p:to>
                                        <p:strVal val="visible"/>
                                      </p:to>
                                    </p:set>
                                    <p:animEffect>
                                      <p:cBhvr>
                                        <p:cTn id="43" dur="500"/>
                                        <p:tgtEl>
                                          <p:spTgt spid="35860"/>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35848"/>
                                        </p:tgtEl>
                                        <p:attrNameLst>
                                          <p:attrName>style.visibility</p:attrName>
                                        </p:attrNameLst>
                                      </p:cBhvr>
                                      <p:to>
                                        <p:strVal val="visible"/>
                                      </p:to>
                                    </p:set>
                                    <p:animEffect>
                                      <p:cBhvr>
                                        <p:cTn id="48" dur="500"/>
                                        <p:tgtEl>
                                          <p:spTgt spid="35848"/>
                                        </p:tgtEl>
                                      </p:cBhvr>
                                    </p:animEffect>
                                  </p:childTnLst>
                                </p:cTn>
                              </p:par>
                              <p:par>
                                <p:cTn id="49" presetID="3" presetClass="entr" presetSubtype="10" fill="hold" grpId="0" nodeType="withEffect">
                                  <p:stCondLst>
                                    <p:cond delay="0"/>
                                  </p:stCondLst>
                                  <p:childTnLst>
                                    <p:set>
                                      <p:cBhvr>
                                        <p:cTn id="50" dur="1" fill="hold">
                                          <p:stCondLst>
                                            <p:cond delay="0"/>
                                          </p:stCondLst>
                                        </p:cTn>
                                        <p:tgtEl>
                                          <p:spTgt spid="35857"/>
                                        </p:tgtEl>
                                        <p:attrNameLst>
                                          <p:attrName>style.visibility</p:attrName>
                                        </p:attrNameLst>
                                      </p:cBhvr>
                                      <p:to>
                                        <p:strVal val="visible"/>
                                      </p:to>
                                    </p:set>
                                    <p:animEffect>
                                      <p:cBhvr>
                                        <p:cTn id="51" dur="500"/>
                                        <p:tgtEl>
                                          <p:spTgt spid="35857"/>
                                        </p:tgtEl>
                                      </p:cBhvr>
                                    </p:animEffect>
                                  </p:childTnLst>
                                </p:cTn>
                              </p:par>
                              <p:par>
                                <p:cTn id="52" presetID="3" presetClass="entr" presetSubtype="10" fill="hold" grpId="0" nodeType="withEffect">
                                  <p:stCondLst>
                                    <p:cond delay="0"/>
                                  </p:stCondLst>
                                  <p:childTnLst>
                                    <p:set>
                                      <p:cBhvr>
                                        <p:cTn id="53" dur="1" fill="hold">
                                          <p:stCondLst>
                                            <p:cond delay="0"/>
                                          </p:stCondLst>
                                        </p:cTn>
                                        <p:tgtEl>
                                          <p:spTgt spid="35858"/>
                                        </p:tgtEl>
                                        <p:attrNameLst>
                                          <p:attrName>style.visibility</p:attrName>
                                        </p:attrNameLst>
                                      </p:cBhvr>
                                      <p:to>
                                        <p:strVal val="visible"/>
                                      </p:to>
                                    </p:set>
                                    <p:animEffect>
                                      <p:cBhvr>
                                        <p:cTn id="54" dur="500"/>
                                        <p:tgtEl>
                                          <p:spTgt spid="35858"/>
                                        </p:tgtEl>
                                      </p:cBhvr>
                                    </p:animEffect>
                                  </p:childTnLst>
                                </p:cTn>
                              </p:par>
                              <p:par>
                                <p:cTn id="55" presetID="3" presetClass="entr" presetSubtype="10" fill="hold" grpId="0" nodeType="withEffect">
                                  <p:stCondLst>
                                    <p:cond delay="0"/>
                                  </p:stCondLst>
                                  <p:childTnLst>
                                    <p:set>
                                      <p:cBhvr>
                                        <p:cTn id="56" dur="1" fill="hold">
                                          <p:stCondLst>
                                            <p:cond delay="0"/>
                                          </p:stCondLst>
                                        </p:cTn>
                                        <p:tgtEl>
                                          <p:spTgt spid="35851"/>
                                        </p:tgtEl>
                                        <p:attrNameLst>
                                          <p:attrName>style.visibility</p:attrName>
                                        </p:attrNameLst>
                                      </p:cBhvr>
                                      <p:to>
                                        <p:strVal val="visible"/>
                                      </p:to>
                                    </p:set>
                                    <p:animEffect>
                                      <p:cBhvr>
                                        <p:cTn id="57" dur="500"/>
                                        <p:tgtEl>
                                          <p:spTgt spid="35851"/>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35853"/>
                                        </p:tgtEl>
                                        <p:attrNameLst>
                                          <p:attrName>style.visibility</p:attrName>
                                        </p:attrNameLst>
                                      </p:cBhvr>
                                      <p:to>
                                        <p:strVal val="visible"/>
                                      </p:to>
                                    </p:set>
                                    <p:animEffect>
                                      <p:cBhvr>
                                        <p:cTn id="62" dur="500"/>
                                        <p:tgtEl>
                                          <p:spTgt spid="35853"/>
                                        </p:tgtEl>
                                      </p:cBhvr>
                                    </p:animEffect>
                                  </p:childTnLst>
                                </p:cTn>
                              </p:par>
                              <p:par>
                                <p:cTn id="63" presetID="3" presetClass="entr" presetSubtype="10" fill="hold" grpId="0" nodeType="withEffect">
                                  <p:stCondLst>
                                    <p:cond delay="0"/>
                                  </p:stCondLst>
                                  <p:childTnLst>
                                    <p:set>
                                      <p:cBhvr>
                                        <p:cTn id="64" dur="1" fill="hold">
                                          <p:stCondLst>
                                            <p:cond delay="0"/>
                                          </p:stCondLst>
                                        </p:cTn>
                                        <p:tgtEl>
                                          <p:spTgt spid="35856"/>
                                        </p:tgtEl>
                                        <p:attrNameLst>
                                          <p:attrName>style.visibility</p:attrName>
                                        </p:attrNameLst>
                                      </p:cBhvr>
                                      <p:to>
                                        <p:strVal val="visible"/>
                                      </p:to>
                                    </p:set>
                                    <p:animEffect>
                                      <p:cBhvr>
                                        <p:cTn id="65" dur="500"/>
                                        <p:tgtEl>
                                          <p:spTgt spid="35856"/>
                                        </p:tgtEl>
                                      </p:cBhvr>
                                    </p:animEffect>
                                  </p:childTnLst>
                                </p:cTn>
                              </p:par>
                              <p:par>
                                <p:cTn id="66" presetID="3" presetClass="entr" presetSubtype="10" fill="hold" grpId="0" nodeType="withEffect">
                                  <p:stCondLst>
                                    <p:cond delay="0"/>
                                  </p:stCondLst>
                                  <p:childTnLst>
                                    <p:set>
                                      <p:cBhvr>
                                        <p:cTn id="67" dur="1" fill="hold">
                                          <p:stCondLst>
                                            <p:cond delay="0"/>
                                          </p:stCondLst>
                                        </p:cTn>
                                        <p:tgtEl>
                                          <p:spTgt spid="35855"/>
                                        </p:tgtEl>
                                        <p:attrNameLst>
                                          <p:attrName>style.visibility</p:attrName>
                                        </p:attrNameLst>
                                      </p:cBhvr>
                                      <p:to>
                                        <p:strVal val="visible"/>
                                      </p:to>
                                    </p:set>
                                    <p:animEffect>
                                      <p:cBhvr>
                                        <p:cTn id="68" dur="500"/>
                                        <p:tgtEl>
                                          <p:spTgt spid="35855"/>
                                        </p:tgtEl>
                                      </p:cBhvr>
                                    </p:animEffect>
                                  </p:childTnLst>
                                </p:cTn>
                              </p:par>
                              <p:par>
                                <p:cTn id="69" presetID="3" presetClass="entr" presetSubtype="10" fill="hold" grpId="0" nodeType="withEffect">
                                  <p:stCondLst>
                                    <p:cond delay="0"/>
                                  </p:stCondLst>
                                  <p:childTnLst>
                                    <p:set>
                                      <p:cBhvr>
                                        <p:cTn id="70" dur="1" fill="hold">
                                          <p:stCondLst>
                                            <p:cond delay="0"/>
                                          </p:stCondLst>
                                        </p:cTn>
                                        <p:tgtEl>
                                          <p:spTgt spid="35859"/>
                                        </p:tgtEl>
                                        <p:attrNameLst>
                                          <p:attrName>style.visibility</p:attrName>
                                        </p:attrNameLst>
                                      </p:cBhvr>
                                      <p:to>
                                        <p:strVal val="visible"/>
                                      </p:to>
                                    </p:set>
                                    <p:animEffect>
                                      <p:cBhvr>
                                        <p:cTn id="71" dur="500"/>
                                        <p:tgtEl>
                                          <p:spTgt spid="358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3" grpId="0" bldLvl="0" animBg="1" autoUpdateAnimBg="0"/>
      <p:bldP spid="35844" grpId="0" bldLvl="0" animBg="1" autoUpdateAnimBg="0"/>
      <p:bldP spid="35845" grpId="0" bldLvl="0" autoUpdateAnimBg="0"/>
      <p:bldP spid="35846" grpId="0" bldLvl="0" autoUpdateAnimBg="0"/>
      <p:bldP spid="35847" grpId="0" bldLvl="0" autoUpdateAnimBg="0"/>
      <p:bldP spid="35848" grpId="0" bldLvl="0" animBg="1" autoUpdateAnimBg="0"/>
      <p:bldP spid="35849" grpId="0" bldLvl="0" autoUpdateAnimBg="0"/>
      <p:bldP spid="35850" grpId="0" bldLvl="0" animBg="1" autoUpdateAnimBg="0"/>
      <p:bldP spid="35851" grpId="0" bldLvl="0" autoUpdateAnimBg="0"/>
      <p:bldP spid="35852" grpId="0" bldLvl="0" animBg="1" autoUpdateAnimBg="0"/>
      <p:bldP spid="35853" grpId="0" bldLvl="0" autoUpdateAnimBg="0"/>
      <p:bldP spid="35854" grpId="0" bldLvl="0" autoUpdateAnimBg="0"/>
      <p:bldP spid="35855" grpId="0" bldLvl="0" animBg="1" autoUpdateAnimBg="0"/>
      <p:bldP spid="35856" grpId="0" bldLvl="0" animBg="1" autoUpdateAnimBg="0"/>
      <p:bldP spid="35857" grpId="0" bldLvl="0" animBg="1" autoUpdateAnimBg="0"/>
      <p:bldP spid="35858" grpId="0" bldLvl="0" autoUpdateAnimBg="0"/>
      <p:bldP spid="35859" grpId="0" bldLvl="0" autoUpdateAnimBg="0"/>
      <p:bldP spid="35860" grpId="0" bldLvl="0" animBg="1"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3"/>
          <p:cNvSpPr>
            <a:spLocks noGrp="1" noChangeArrowheads="1"/>
          </p:cNvSpPr>
          <p:nvPr>
            <p:ph type="body" idx="4294967295"/>
          </p:nvPr>
        </p:nvSpPr>
        <p:spPr>
          <a:ln/>
        </p:spPr>
        <p:txBody>
          <a:bodyPr/>
          <a:lstStyle/>
          <a:p>
            <a:pPr marL="457200" lvl="2" indent="-457200" eaLnBrk="1" hangingPunct="1">
              <a:lnSpc>
                <a:spcPct val="150000"/>
              </a:lnSpc>
              <a:buSzPct val="100000"/>
              <a:buFont typeface="Wingdings" panose="05000000000000000000" pitchFamily="2" charset="2"/>
              <a:buChar char="u"/>
            </a:pPr>
            <a:r>
              <a:rPr lang="zh-CN" altLang="en-US" sz="2200" b="0" dirty="0">
                <a:latin typeface="微软雅黑" panose="020B0503020204020204" pitchFamily="34" charset="-122"/>
                <a:ea typeface="微软雅黑" panose="020B0503020204020204" pitchFamily="34" charset="-122"/>
              </a:rPr>
              <a:t>企业规模调整</a:t>
            </a:r>
            <a:endParaRPr lang="en-US" altLang="zh-CN" sz="2200" b="0" dirty="0">
              <a:latin typeface="微软雅黑" panose="020B0503020204020204" pitchFamily="34" charset="-122"/>
              <a:ea typeface="微软雅黑" panose="020B0503020204020204" pitchFamily="34" charset="-122"/>
            </a:endParaRPr>
          </a:p>
          <a:p>
            <a:pPr marL="742950" lvl="2" indent="-342900" eaLnBrk="1" hangingPunct="1">
              <a:lnSpc>
                <a:spcPct val="150000"/>
              </a:lnSpc>
              <a:buFont typeface="Arial" panose="020B0604020202020204" pitchFamily="34" charset="0"/>
              <a:buChar char="•"/>
            </a:pPr>
            <a:r>
              <a:rPr lang="zh-CN" altLang="en-US" sz="2000" b="0" dirty="0">
                <a:latin typeface="微软雅黑" panose="020B0503020204020204" pitchFamily="34" charset="-122"/>
                <a:ea typeface="微软雅黑" panose="020B0503020204020204" pitchFamily="34" charset="-122"/>
              </a:rPr>
              <a:t>类似于垄断</a:t>
            </a:r>
          </a:p>
          <a:p>
            <a:pPr marL="457200" lvl="2" indent="-457200" eaLnBrk="1" hangingPunct="1">
              <a:lnSpc>
                <a:spcPct val="150000"/>
              </a:lnSpc>
              <a:buSzPct val="100000"/>
              <a:buFont typeface="Wingdings" panose="05000000000000000000" pitchFamily="2" charset="2"/>
              <a:buChar char="u"/>
            </a:pPr>
            <a:r>
              <a:rPr lang="zh-CN" altLang="en-US" sz="2200" b="0" dirty="0">
                <a:latin typeface="微软雅黑" panose="020B0503020204020204" pitchFamily="34" charset="-122"/>
                <a:ea typeface="微软雅黑" panose="020B0503020204020204" pitchFamily="34" charset="-122"/>
              </a:rPr>
              <a:t>行业规模调整</a:t>
            </a:r>
            <a:endParaRPr lang="en-US" altLang="zh-CN" sz="2200" b="0" dirty="0">
              <a:latin typeface="微软雅黑" panose="020B0503020204020204" pitchFamily="34" charset="-122"/>
              <a:ea typeface="微软雅黑" panose="020B0503020204020204" pitchFamily="34" charset="-122"/>
            </a:endParaRPr>
          </a:p>
          <a:p>
            <a:pPr marL="742950" lvl="2" indent="-342900" eaLnBrk="1" hangingPunct="1">
              <a:lnSpc>
                <a:spcPct val="150000"/>
              </a:lnSpc>
              <a:buFont typeface="Arial" panose="020B0604020202020204" pitchFamily="34" charset="0"/>
              <a:buChar char="•"/>
            </a:pPr>
            <a:r>
              <a:rPr lang="zh-CN" altLang="en-US" sz="2000" b="0" dirty="0">
                <a:latin typeface="微软雅黑" panose="020B0503020204020204" pitchFamily="34" charset="-122"/>
                <a:ea typeface="微软雅黑" panose="020B0503020204020204" pitchFamily="34" charset="-122"/>
              </a:rPr>
              <a:t>见图解</a:t>
            </a:r>
            <a:endParaRPr lang="en-US" altLang="zh-CN" sz="2000" b="0" dirty="0">
              <a:latin typeface="微软雅黑" panose="020B0503020204020204" pitchFamily="34" charset="-122"/>
              <a:ea typeface="微软雅黑" panose="020B0503020204020204" pitchFamily="34" charset="-122"/>
            </a:endParaRPr>
          </a:p>
          <a:p>
            <a:pPr marL="457200" lvl="2" indent="-457200" eaLnBrk="1" hangingPunct="1">
              <a:lnSpc>
                <a:spcPct val="150000"/>
              </a:lnSpc>
              <a:buSzPct val="100000"/>
              <a:buFont typeface="Wingdings" panose="05000000000000000000" pitchFamily="2" charset="2"/>
              <a:buChar char="u"/>
            </a:pPr>
            <a:r>
              <a:rPr lang="zh-CN" altLang="en-US" sz="2200" b="0" dirty="0">
                <a:latin typeface="微软雅黑" panose="020B0503020204020204" pitchFamily="34" charset="-122"/>
                <a:ea typeface="微软雅黑" panose="020B0503020204020204" pitchFamily="34" charset="-122"/>
              </a:rPr>
              <a:t>最终均衡</a:t>
            </a:r>
            <a:endParaRPr lang="en-US" altLang="zh-CN" sz="2200" b="0" dirty="0">
              <a:latin typeface="微软雅黑" panose="020B0503020204020204" pitchFamily="34" charset="-122"/>
              <a:ea typeface="微软雅黑" panose="020B0503020204020204" pitchFamily="34" charset="-122"/>
            </a:endParaRPr>
          </a:p>
          <a:p>
            <a:pPr marL="742950" lvl="2" indent="-342900" eaLnBrk="1" hangingPunct="1">
              <a:lnSpc>
                <a:spcPct val="150000"/>
              </a:lnSpc>
              <a:buFont typeface="Arial" panose="020B0604020202020204" pitchFamily="34" charset="0"/>
              <a:buChar char="•"/>
            </a:pPr>
            <a:r>
              <a:rPr lang="zh-CN" altLang="en-US" sz="2000" b="0" dirty="0">
                <a:latin typeface="微软雅黑" panose="020B0503020204020204" pitchFamily="34" charset="-122"/>
                <a:ea typeface="微软雅黑" panose="020B0503020204020204" pitchFamily="34" charset="-122"/>
              </a:rPr>
              <a:t>不亏不盈</a:t>
            </a:r>
          </a:p>
        </p:txBody>
      </p:sp>
      <p:sp>
        <p:nvSpPr>
          <p:cNvPr id="36868" name="Line 5"/>
          <p:cNvSpPr>
            <a:spLocks noChangeShapeType="1"/>
          </p:cNvSpPr>
          <p:nvPr/>
        </p:nvSpPr>
        <p:spPr bwMode="auto">
          <a:xfrm flipV="1">
            <a:off x="3789363" y="2422525"/>
            <a:ext cx="1587" cy="3527425"/>
          </a:xfrm>
          <a:prstGeom prst="line">
            <a:avLst/>
          </a:prstGeom>
          <a:noFill/>
          <a:ln w="9525" cmpd="sng">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6869" name="Line 6"/>
          <p:cNvSpPr>
            <a:spLocks noChangeShapeType="1"/>
          </p:cNvSpPr>
          <p:nvPr/>
        </p:nvSpPr>
        <p:spPr bwMode="auto">
          <a:xfrm flipV="1">
            <a:off x="3790950" y="5949950"/>
            <a:ext cx="3886200" cy="1588"/>
          </a:xfrm>
          <a:prstGeom prst="line">
            <a:avLst/>
          </a:prstGeom>
          <a:noFill/>
          <a:ln w="9525" cmpd="sng">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6870" name="Text Box 7"/>
          <p:cNvSpPr>
            <a:spLocks noChangeArrowheads="1"/>
          </p:cNvSpPr>
          <p:nvPr/>
        </p:nvSpPr>
        <p:spPr bwMode="auto">
          <a:xfrm>
            <a:off x="3502025" y="2349500"/>
            <a:ext cx="152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P</a:t>
            </a:r>
            <a:endParaRPr lang="zh-CN" altLang="en-US"/>
          </a:p>
        </p:txBody>
      </p:sp>
      <p:sp>
        <p:nvSpPr>
          <p:cNvPr id="36871" name="Text Box 8"/>
          <p:cNvSpPr>
            <a:spLocks noChangeArrowheads="1"/>
          </p:cNvSpPr>
          <p:nvPr/>
        </p:nvSpPr>
        <p:spPr bwMode="auto">
          <a:xfrm>
            <a:off x="3502025" y="5876925"/>
            <a:ext cx="3095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O</a:t>
            </a:r>
            <a:endParaRPr lang="zh-CN" altLang="en-US"/>
          </a:p>
        </p:txBody>
      </p:sp>
      <p:sp>
        <p:nvSpPr>
          <p:cNvPr id="36872" name="Text Box 9"/>
          <p:cNvSpPr>
            <a:spLocks noChangeArrowheads="1"/>
          </p:cNvSpPr>
          <p:nvPr/>
        </p:nvSpPr>
        <p:spPr bwMode="auto">
          <a:xfrm>
            <a:off x="7534275" y="5949950"/>
            <a:ext cx="3079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Q</a:t>
            </a:r>
            <a:endParaRPr lang="zh-CN" altLang="en-US"/>
          </a:p>
        </p:txBody>
      </p:sp>
      <p:sp>
        <p:nvSpPr>
          <p:cNvPr id="36873" name="Line 10"/>
          <p:cNvSpPr>
            <a:spLocks noChangeShapeType="1"/>
          </p:cNvSpPr>
          <p:nvPr/>
        </p:nvSpPr>
        <p:spPr bwMode="auto">
          <a:xfrm>
            <a:off x="3789363" y="3216275"/>
            <a:ext cx="3529012" cy="1509713"/>
          </a:xfrm>
          <a:prstGeom prst="line">
            <a:avLst/>
          </a:prstGeom>
          <a:noFill/>
          <a:ln w="28575" cmpd="sng">
            <a:solidFill>
              <a:srgbClr val="0070C0"/>
            </a:solidFill>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6874" name="Text Box 11"/>
          <p:cNvSpPr>
            <a:spLocks noChangeArrowheads="1"/>
          </p:cNvSpPr>
          <p:nvPr/>
        </p:nvSpPr>
        <p:spPr bwMode="auto">
          <a:xfrm>
            <a:off x="7215188" y="4799013"/>
            <a:ext cx="15192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sym typeface="Arial" panose="020B0604020202020204" pitchFamily="34" charset="0"/>
              </a:rPr>
              <a:t>d =AR=LAR</a:t>
            </a:r>
            <a:endParaRPr lang="zh-CN" altLang="en-US" dirty="0"/>
          </a:p>
        </p:txBody>
      </p:sp>
      <p:sp>
        <p:nvSpPr>
          <p:cNvPr id="36875" name="Line 12"/>
          <p:cNvSpPr>
            <a:spLocks noChangeShapeType="1"/>
          </p:cNvSpPr>
          <p:nvPr/>
        </p:nvSpPr>
        <p:spPr bwMode="auto">
          <a:xfrm>
            <a:off x="3790950" y="3216275"/>
            <a:ext cx="2808288" cy="2232025"/>
          </a:xfrm>
          <a:prstGeom prst="line">
            <a:avLst/>
          </a:prstGeom>
          <a:noFill/>
          <a:ln w="28575" cmpd="sng">
            <a:solidFill>
              <a:srgbClr val="0070C0"/>
            </a:solidFill>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6876" name="Text Box 13"/>
          <p:cNvSpPr>
            <a:spLocks noChangeArrowheads="1"/>
          </p:cNvSpPr>
          <p:nvPr/>
        </p:nvSpPr>
        <p:spPr bwMode="auto">
          <a:xfrm>
            <a:off x="6597650" y="5518150"/>
            <a:ext cx="1168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sym typeface="Arial" panose="020B0604020202020204" pitchFamily="34" charset="0"/>
              </a:rPr>
              <a:t>MR=LMR</a:t>
            </a:r>
            <a:endParaRPr lang="zh-CN" altLang="en-US" dirty="0"/>
          </a:p>
        </p:txBody>
      </p:sp>
      <p:sp>
        <p:nvSpPr>
          <p:cNvPr id="36877" name="未知"/>
          <p:cNvSpPr>
            <a:spLocks noChangeArrowheads="1"/>
          </p:cNvSpPr>
          <p:nvPr/>
        </p:nvSpPr>
        <p:spPr bwMode="auto">
          <a:xfrm rot="20940000">
            <a:off x="4581525" y="3502025"/>
            <a:ext cx="2335213" cy="1822450"/>
          </a:xfrm>
          <a:custGeom>
            <a:avLst/>
            <a:gdLst>
              <a:gd name="T0" fmla="*/ 2147483647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a:moveTo>
                  <a:pt x="21600" y="0"/>
                </a:moveTo>
                <a:cubicBezTo>
                  <a:pt x="20603" y="1923"/>
                  <a:pt x="19217" y="7938"/>
                  <a:pt x="15619" y="11534"/>
                </a:cubicBezTo>
                <a:cubicBezTo>
                  <a:pt x="12020" y="15130"/>
                  <a:pt x="2602" y="19919"/>
                  <a:pt x="0" y="21600"/>
                </a:cubicBezTo>
              </a:path>
            </a:pathLst>
          </a:custGeom>
          <a:noFill/>
          <a:ln w="28575" cmpd="sng">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zh-CN">
              <a:solidFill>
                <a:srgbClr val="000000"/>
              </a:solidFill>
              <a:sym typeface="Arial" panose="020B0604020202020204" pitchFamily="34" charset="0"/>
            </a:endParaRPr>
          </a:p>
        </p:txBody>
      </p:sp>
      <p:sp>
        <p:nvSpPr>
          <p:cNvPr id="36878" name="Text Box 15"/>
          <p:cNvSpPr>
            <a:spLocks noChangeArrowheads="1"/>
          </p:cNvSpPr>
          <p:nvPr/>
        </p:nvSpPr>
        <p:spPr bwMode="auto">
          <a:xfrm>
            <a:off x="6764338" y="3235325"/>
            <a:ext cx="736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sym typeface="Arial" panose="020B0604020202020204" pitchFamily="34" charset="0"/>
              </a:rPr>
              <a:t>LMC</a:t>
            </a:r>
            <a:endParaRPr lang="zh-CN" altLang="en-US" dirty="0"/>
          </a:p>
        </p:txBody>
      </p:sp>
      <p:sp>
        <p:nvSpPr>
          <p:cNvPr id="36879" name="未知"/>
          <p:cNvSpPr>
            <a:spLocks noChangeArrowheads="1"/>
          </p:cNvSpPr>
          <p:nvPr/>
        </p:nvSpPr>
        <p:spPr bwMode="auto">
          <a:xfrm rot="21360000">
            <a:off x="4873625" y="2890838"/>
            <a:ext cx="3033713" cy="1312862"/>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0 w 21600"/>
              <a:gd name="T9" fmla="*/ 0 h 21600"/>
              <a:gd name="T10" fmla="*/ 0 60000 65536"/>
              <a:gd name="T11" fmla="*/ 0 60000 65536"/>
              <a:gd name="T12" fmla="*/ 0 60000 65536"/>
              <a:gd name="T13" fmla="*/ 0 60000 65536"/>
              <a:gd name="T14" fmla="*/ 0 60000 65536"/>
              <a:gd name="T15" fmla="*/ 0 w 21600"/>
              <a:gd name="T16" fmla="*/ 0 h 21600"/>
              <a:gd name="T17" fmla="*/ 21600 w 21600"/>
              <a:gd name="T18" fmla="*/ 21600 h 21600"/>
            </a:gdLst>
            <a:ahLst/>
            <a:cxnLst>
              <a:cxn ang="T10">
                <a:pos x="T0" y="T1"/>
              </a:cxn>
              <a:cxn ang="T11">
                <a:pos x="T2" y="T3"/>
              </a:cxn>
              <a:cxn ang="T12">
                <a:pos x="T4" y="T5"/>
              </a:cxn>
              <a:cxn ang="T13">
                <a:pos x="T6" y="T7"/>
              </a:cxn>
              <a:cxn ang="T14">
                <a:pos x="T8" y="T9"/>
              </a:cxn>
            </a:cxnLst>
            <a:rect l="T15" t="T16" r="T17" b="T18"/>
            <a:pathLst>
              <a:path w="21600" h="21600">
                <a:moveTo>
                  <a:pt x="21600" y="4995"/>
                </a:moveTo>
                <a:cubicBezTo>
                  <a:pt x="20904" y="7164"/>
                  <a:pt x="19480" y="15428"/>
                  <a:pt x="17424" y="18041"/>
                </a:cubicBezTo>
                <a:cubicBezTo>
                  <a:pt x="15368" y="20655"/>
                  <a:pt x="11834" y="21600"/>
                  <a:pt x="9272" y="20655"/>
                </a:cubicBezTo>
                <a:cubicBezTo>
                  <a:pt x="6710" y="19710"/>
                  <a:pt x="3583" y="15833"/>
                  <a:pt x="2037" y="12391"/>
                </a:cubicBezTo>
                <a:cubicBezTo>
                  <a:pt x="492" y="8948"/>
                  <a:pt x="338" y="2063"/>
                  <a:pt x="0" y="0"/>
                </a:cubicBezTo>
              </a:path>
            </a:pathLst>
          </a:custGeom>
          <a:noFill/>
          <a:ln w="28575" cmpd="sng">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zh-CN">
              <a:solidFill>
                <a:srgbClr val="000000"/>
              </a:solidFill>
              <a:sym typeface="Arial" panose="020B0604020202020204" pitchFamily="34" charset="0"/>
            </a:endParaRPr>
          </a:p>
        </p:txBody>
      </p:sp>
      <p:sp>
        <p:nvSpPr>
          <p:cNvPr id="36880" name="Text Box 17"/>
          <p:cNvSpPr>
            <a:spLocks noChangeArrowheads="1"/>
          </p:cNvSpPr>
          <p:nvPr/>
        </p:nvSpPr>
        <p:spPr bwMode="auto">
          <a:xfrm>
            <a:off x="7786688" y="3357563"/>
            <a:ext cx="7270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LAC</a:t>
            </a:r>
            <a:endParaRPr lang="zh-CN" altLang="en-US"/>
          </a:p>
        </p:txBody>
      </p:sp>
      <p:sp>
        <p:nvSpPr>
          <p:cNvPr id="36881" name="未知"/>
          <p:cNvSpPr>
            <a:spLocks noChangeArrowheads="1"/>
          </p:cNvSpPr>
          <p:nvPr/>
        </p:nvSpPr>
        <p:spPr bwMode="auto">
          <a:xfrm rot="20880000">
            <a:off x="5661025" y="3644900"/>
            <a:ext cx="752475" cy="444500"/>
          </a:xfrm>
          <a:custGeom>
            <a:avLst/>
            <a:gdLst>
              <a:gd name="T0" fmla="*/ 0 w 21600"/>
              <a:gd name="T1" fmla="*/ 0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cubicBezTo>
                  <a:pt x="636" y="2773"/>
                  <a:pt x="1765" y="13249"/>
                  <a:pt x="3785" y="16669"/>
                </a:cubicBezTo>
                <a:cubicBezTo>
                  <a:pt x="5804" y="20090"/>
                  <a:pt x="9171" y="21600"/>
                  <a:pt x="12137" y="20521"/>
                </a:cubicBezTo>
                <a:cubicBezTo>
                  <a:pt x="15103" y="19443"/>
                  <a:pt x="20016" y="11955"/>
                  <a:pt x="21600" y="10260"/>
                </a:cubicBezTo>
              </a:path>
            </a:pathLst>
          </a:custGeom>
          <a:noFill/>
          <a:ln w="28575" cmpd="sng">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zh-CN">
              <a:solidFill>
                <a:srgbClr val="000000"/>
              </a:solidFill>
              <a:sym typeface="Arial" panose="020B0604020202020204" pitchFamily="34" charset="0"/>
            </a:endParaRPr>
          </a:p>
        </p:txBody>
      </p:sp>
      <p:sp>
        <p:nvSpPr>
          <p:cNvPr id="36882" name="Line 19"/>
          <p:cNvSpPr>
            <a:spLocks noChangeShapeType="1"/>
          </p:cNvSpPr>
          <p:nvPr/>
        </p:nvSpPr>
        <p:spPr bwMode="auto">
          <a:xfrm>
            <a:off x="5807075" y="4078288"/>
            <a:ext cx="0" cy="1871662"/>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6883" name="Line 20"/>
          <p:cNvSpPr>
            <a:spLocks noChangeShapeType="1"/>
          </p:cNvSpPr>
          <p:nvPr/>
        </p:nvSpPr>
        <p:spPr bwMode="auto">
          <a:xfrm flipH="1">
            <a:off x="3789363" y="4079875"/>
            <a:ext cx="2016125" cy="0"/>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6884" name="未知"/>
          <p:cNvSpPr>
            <a:spLocks noChangeArrowheads="1"/>
          </p:cNvSpPr>
          <p:nvPr/>
        </p:nvSpPr>
        <p:spPr bwMode="auto">
          <a:xfrm rot="21480000">
            <a:off x="5549900" y="3008313"/>
            <a:ext cx="658813" cy="2354262"/>
          </a:xfrm>
          <a:custGeom>
            <a:avLst/>
            <a:gdLst>
              <a:gd name="T0" fmla="*/ 2147483647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a:moveTo>
                  <a:pt x="21600" y="0"/>
                </a:moveTo>
                <a:cubicBezTo>
                  <a:pt x="20357" y="1930"/>
                  <a:pt x="17812" y="7996"/>
                  <a:pt x="14202" y="11596"/>
                </a:cubicBezTo>
                <a:cubicBezTo>
                  <a:pt x="10592" y="15196"/>
                  <a:pt x="2367" y="19930"/>
                  <a:pt x="0" y="21600"/>
                </a:cubicBezTo>
              </a:path>
            </a:pathLst>
          </a:custGeom>
          <a:noFill/>
          <a:ln w="28575" cmpd="sng">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zh-CN">
              <a:solidFill>
                <a:srgbClr val="000000"/>
              </a:solidFill>
              <a:sym typeface="Arial" panose="020B0604020202020204" pitchFamily="34" charset="0"/>
            </a:endParaRPr>
          </a:p>
        </p:txBody>
      </p:sp>
      <p:sp>
        <p:nvSpPr>
          <p:cNvPr id="36885" name="Text Box 22"/>
          <p:cNvSpPr>
            <a:spLocks noChangeArrowheads="1"/>
          </p:cNvSpPr>
          <p:nvPr/>
        </p:nvSpPr>
        <p:spPr bwMode="auto">
          <a:xfrm>
            <a:off x="5661025" y="5876925"/>
            <a:ext cx="4873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Q</a:t>
            </a:r>
            <a:r>
              <a:rPr lang="zh-CN" altLang="en-US" sz="1000">
                <a:solidFill>
                  <a:srgbClr val="000000"/>
                </a:solidFill>
                <a:sym typeface="Arial" panose="020B0604020202020204" pitchFamily="34" charset="0"/>
              </a:rPr>
              <a:t>0</a:t>
            </a:r>
            <a:endParaRPr lang="zh-CN" altLang="en-US"/>
          </a:p>
        </p:txBody>
      </p:sp>
      <p:sp>
        <p:nvSpPr>
          <p:cNvPr id="36886" name="Text Box 23"/>
          <p:cNvSpPr>
            <a:spLocks noChangeArrowheads="1"/>
          </p:cNvSpPr>
          <p:nvPr/>
        </p:nvSpPr>
        <p:spPr bwMode="auto">
          <a:xfrm>
            <a:off x="3429000" y="3933825"/>
            <a:ext cx="461963"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P</a:t>
            </a:r>
            <a:r>
              <a:rPr lang="zh-CN" altLang="en-US" sz="1000">
                <a:solidFill>
                  <a:srgbClr val="000000"/>
                </a:solidFill>
                <a:sym typeface="Arial" panose="020B0604020202020204" pitchFamily="34" charset="0"/>
              </a:rPr>
              <a:t>0</a:t>
            </a:r>
            <a:endParaRPr lang="zh-CN" altLang="en-US"/>
          </a:p>
        </p:txBody>
      </p:sp>
      <p:sp>
        <p:nvSpPr>
          <p:cNvPr id="36887" name="Text Box 24"/>
          <p:cNvSpPr>
            <a:spLocks noChangeArrowheads="1"/>
          </p:cNvSpPr>
          <p:nvPr/>
        </p:nvSpPr>
        <p:spPr bwMode="auto">
          <a:xfrm>
            <a:off x="5500688" y="2786063"/>
            <a:ext cx="6492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sym typeface="Arial" panose="020B0604020202020204" pitchFamily="34" charset="0"/>
              </a:rPr>
              <a:t>MC*</a:t>
            </a:r>
            <a:endParaRPr lang="zh-CN" altLang="en-US" dirty="0"/>
          </a:p>
        </p:txBody>
      </p:sp>
      <p:sp>
        <p:nvSpPr>
          <p:cNvPr id="36888" name="Text Box 25"/>
          <p:cNvSpPr>
            <a:spLocks noChangeArrowheads="1"/>
          </p:cNvSpPr>
          <p:nvPr/>
        </p:nvSpPr>
        <p:spPr bwMode="auto">
          <a:xfrm>
            <a:off x="5373688" y="3429000"/>
            <a:ext cx="6302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sym typeface="Arial" panose="020B0604020202020204" pitchFamily="34" charset="0"/>
              </a:rPr>
              <a:t>AC*</a:t>
            </a:r>
            <a:endParaRPr lang="zh-CN" altLang="en-US" dirty="0"/>
          </a:p>
        </p:txBody>
      </p:sp>
      <p:sp>
        <p:nvSpPr>
          <p:cNvPr id="36889" name="圆角矩形标注 25"/>
          <p:cNvSpPr>
            <a:spLocks noChangeArrowheads="1"/>
          </p:cNvSpPr>
          <p:nvPr/>
        </p:nvSpPr>
        <p:spPr bwMode="auto">
          <a:xfrm>
            <a:off x="5588802" y="763949"/>
            <a:ext cx="3209933" cy="1736646"/>
          </a:xfrm>
          <a:prstGeom prst="wedgeRoundRectCallout">
            <a:avLst>
              <a:gd name="adj1" fmla="val -14895"/>
              <a:gd name="adj2" fmla="val 96509"/>
              <a:gd name="adj3" fmla="val 16667"/>
            </a:avLst>
          </a:prstGeom>
          <a:solidFill>
            <a:schemeClr val="bg1"/>
          </a:solidFill>
          <a:ln>
            <a:solidFill>
              <a:srgbClr val="C00000"/>
            </a:solidFill>
          </a:ln>
        </p:spPr>
        <p:style>
          <a:lnRef idx="3">
            <a:schemeClr val="lt1"/>
          </a:lnRef>
          <a:fillRef idx="1">
            <a:schemeClr val="accent1"/>
          </a:fillRef>
          <a:effectRef idx="1">
            <a:schemeClr val="accent1"/>
          </a:effectRef>
          <a:fontRef idx="minor">
            <a:schemeClr val="lt1"/>
          </a:fontRef>
        </p:style>
        <p:txBody>
          <a:bodyPr>
            <a:spAutoFit/>
          </a:bodyPr>
          <a:lstStyle/>
          <a:p>
            <a:pPr algn="just"/>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存在经济利润时，新</a:t>
            </a:r>
            <a:r>
              <a:rPr lang="zh-CN" altLang="en-US" b="0">
                <a:solidFill>
                  <a:schemeClr val="tx1"/>
                </a:solidFill>
                <a:latin typeface="微软雅黑" panose="020B0503020204020204" pitchFamily="34" charset="-122"/>
                <a:ea typeface="微软雅黑" panose="020B0503020204020204" pitchFamily="34" charset="-122"/>
                <a:sym typeface="Arial" panose="020B0604020202020204" pitchFamily="34" charset="0"/>
              </a:rPr>
              <a:t>企业进入</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产品供给量</a:t>
            </a:r>
            <a:r>
              <a:rPr lang="zh-CN" altLang="en-US" b="0">
                <a:solidFill>
                  <a:schemeClr val="tx1"/>
                </a:solidFill>
                <a:latin typeface="微软雅黑" panose="020B0503020204020204" pitchFamily="34" charset="-122"/>
                <a:ea typeface="微软雅黑" panose="020B0503020204020204" pitchFamily="34" charset="-122"/>
                <a:sym typeface="Arial" panose="020B0604020202020204" pitchFamily="34" charset="0"/>
              </a:rPr>
              <a:t>的增加</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需求曲线和边际收益曲线向左下方移动。 当需求曲线下移到在利润最大化产量上与平均成本曲线</a:t>
            </a:r>
            <a:r>
              <a:rPr lang="zh-CN" altLang="en-US" b="0">
                <a:solidFill>
                  <a:schemeClr val="tx1"/>
                </a:solidFill>
                <a:latin typeface="微软雅黑" panose="020B0503020204020204" pitchFamily="34" charset="-122"/>
                <a:ea typeface="微软雅黑" panose="020B0503020204020204" pitchFamily="34" charset="-122"/>
                <a:sym typeface="Arial" panose="020B0604020202020204" pitchFamily="34" charset="0"/>
              </a:rPr>
              <a:t>相切时</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就达到了最终的长期均衡。</a:t>
            </a:r>
          </a:p>
        </p:txBody>
      </p:sp>
      <p:sp>
        <p:nvSpPr>
          <p:cNvPr id="28" name="矩形 27">
            <a:extLst>
              <a:ext uri="{FF2B5EF4-FFF2-40B4-BE49-F238E27FC236}">
                <a16:creationId xmlns:a16="http://schemas.microsoft.com/office/drawing/2014/main" id="{F68E5273-CD77-47B9-B841-9D29349C133D}"/>
              </a:ext>
            </a:extLst>
          </p:cNvPr>
          <p:cNvSpPr/>
          <p:nvPr/>
        </p:nvSpPr>
        <p:spPr>
          <a:xfrm>
            <a:off x="457200" y="548681"/>
            <a:ext cx="4570413"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marL="0" lvl="1">
              <a:defRPr/>
            </a:pPr>
            <a:r>
              <a:rPr lang="zh-CN" altLang="en-US" sz="2400" spc="150" dirty="0">
                <a:solidFill>
                  <a:srgbClr val="FFFFFF"/>
                </a:solidFill>
                <a:latin typeface="微软雅黑" panose="020B0503020204020204" pitchFamily="34" charset="-122"/>
                <a:ea typeface="微软雅黑" panose="020B0503020204020204" pitchFamily="34" charset="-122"/>
              </a:rPr>
              <a:t>四</a:t>
            </a:r>
            <a:r>
              <a:rPr lang="zh-CN" altLang="en-US" sz="2400" b="1" spc="150" dirty="0">
                <a:solidFill>
                  <a:srgbClr val="FFFFFF"/>
                </a:solidFill>
                <a:latin typeface="微软雅黑" panose="020B0503020204020204" pitchFamily="34" charset="-122"/>
                <a:ea typeface="微软雅黑" panose="020B0503020204020204" pitchFamily="34" charset="-122"/>
              </a:rPr>
              <a:t>、</a:t>
            </a:r>
            <a:r>
              <a:rPr lang="zh-CN" altLang="en-US" sz="2400" spc="150" dirty="0">
                <a:solidFill>
                  <a:srgbClr val="FFFFFF"/>
                </a:solidFill>
                <a:latin typeface="微软雅黑" panose="020B0503020204020204" pitchFamily="34" charset="-122"/>
                <a:ea typeface="微软雅黑" panose="020B0503020204020204" pitchFamily="34" charset="-122"/>
              </a:rPr>
              <a:t>垄断竞争企业的长期均衡</a:t>
            </a:r>
          </a:p>
        </p:txBody>
      </p:sp>
      <mc:AlternateContent xmlns:mc="http://schemas.openxmlformats.org/markup-compatibility/2006" xmlns:a14="http://schemas.microsoft.com/office/drawing/2010/main">
        <mc:Choice Requires="a14">
          <p:sp>
            <p:nvSpPr>
              <p:cNvPr id="2" name="文本框 1"/>
              <p:cNvSpPr txBox="1"/>
              <p:nvPr/>
            </p:nvSpPr>
            <p:spPr>
              <a:xfrm>
                <a:off x="925821" y="4939456"/>
                <a:ext cx="3130568" cy="553998"/>
              </a:xfrm>
              <a:prstGeom prst="rect">
                <a:avLst/>
              </a:prstGeom>
              <a:noFill/>
            </p:spPr>
            <p:txBody>
              <a:bodyPr wrap="square" lIns="0" tIns="0" rIns="0" bIns="0" rtlCol="0">
                <a:spAutoFit/>
              </a:bodyPr>
              <a:lstStyle/>
              <a:p>
                <a:r>
                  <a:rPr lang="en-US" altLang="zh-CN" sz="1800" dirty="0">
                    <a:ea typeface="Cambria Math" panose="02040503050406030204" pitchFamily="18" charset="0"/>
                  </a:rPr>
                  <a:t>L</a:t>
                </a:r>
                <a14:m>
                  <m:oMath xmlns:m="http://schemas.openxmlformats.org/officeDocument/2006/math">
                    <m:r>
                      <a:rPr lang="en-US" altLang="zh-CN" sz="1800" b="1" i="0" smtClean="0">
                        <a:latin typeface="Cambria Math" panose="02040503050406030204" pitchFamily="18" charset="0"/>
                        <a:ea typeface="Cambria Math" panose="02040503050406030204" pitchFamily="18" charset="0"/>
                      </a:rPr>
                      <m:t>𝐌𝐑</m:t>
                    </m:r>
                    <m:r>
                      <a:rPr lang="en-US" altLang="zh-CN" sz="1800" i="1" smtClean="0">
                        <a:latin typeface="Cambria Math" panose="02040503050406030204" pitchFamily="18" charset="0"/>
                        <a:ea typeface="Cambria Math" panose="02040503050406030204" pitchFamily="18" charset="0"/>
                      </a:rPr>
                      <m:t>=</m:t>
                    </m:r>
                  </m:oMath>
                </a14:m>
                <a:r>
                  <a:rPr lang="en-US" altLang="zh-CN" sz="1800" dirty="0"/>
                  <a:t>LMC</a:t>
                </a:r>
                <a14:m>
                  <m:oMath xmlns:m="http://schemas.openxmlformats.org/officeDocument/2006/math">
                    <m:r>
                      <a:rPr lang="en-US" altLang="zh-CN" sz="1800" i="1" dirty="0" smtClean="0">
                        <a:latin typeface="Cambria Math" panose="02040503050406030204" pitchFamily="18" charset="0"/>
                        <a:ea typeface="Cambria Math" panose="02040503050406030204" pitchFamily="18" charset="0"/>
                      </a:rPr>
                      <m:t>=</m:t>
                    </m:r>
                    <m:r>
                      <a:rPr lang="en-US" altLang="zh-CN" sz="1800" b="1" i="1" dirty="0" smtClean="0">
                        <a:latin typeface="Cambria Math" panose="02040503050406030204" pitchFamily="18" charset="0"/>
                        <a:ea typeface="Cambria Math" panose="02040503050406030204" pitchFamily="18" charset="0"/>
                      </a:rPr>
                      <m:t>𝑴𝑹</m:t>
                    </m:r>
                    <m:r>
                      <a:rPr lang="en-US" altLang="zh-CN" sz="1800" b="1" i="1" dirty="0" smtClean="0">
                        <a:latin typeface="Cambria Math" panose="02040503050406030204" pitchFamily="18" charset="0"/>
                        <a:ea typeface="Cambria Math" panose="02040503050406030204" pitchFamily="18" charset="0"/>
                      </a:rPr>
                      <m:t>=</m:t>
                    </m:r>
                    <m:r>
                      <m:rPr>
                        <m:nor/>
                      </m:rPr>
                      <a:rPr lang="zh-CN" altLang="en-US" sz="1800" dirty="0">
                        <a:solidFill>
                          <a:srgbClr val="000000"/>
                        </a:solidFill>
                        <a:sym typeface="Arial" panose="020B0604020202020204" pitchFamily="34" charset="0"/>
                      </a:rPr>
                      <m:t>MC</m:t>
                    </m:r>
                    <m:r>
                      <m:rPr>
                        <m:nor/>
                      </m:rPr>
                      <a:rPr lang="zh-CN" altLang="en-US" sz="1800" dirty="0">
                        <a:solidFill>
                          <a:srgbClr val="000000"/>
                        </a:solidFill>
                        <a:sym typeface="Arial" panose="020B0604020202020204" pitchFamily="34" charset="0"/>
                      </a:rPr>
                      <m:t>∗</m:t>
                    </m:r>
                  </m:oMath>
                </a14:m>
                <a:endParaRPr lang="zh-CN" altLang="en-US" sz="1800" dirty="0"/>
              </a:p>
              <a:p>
                <a:endParaRPr lang="zh-CN" altLang="en-US" sz="1800" dirty="0"/>
              </a:p>
            </p:txBody>
          </p:sp>
        </mc:Choice>
        <mc:Fallback xmlns="">
          <p:sp>
            <p:nvSpPr>
              <p:cNvPr id="2" name="文本框 1"/>
              <p:cNvSpPr txBox="1">
                <a:spLocks noRot="1" noChangeAspect="1" noMove="1" noResize="1" noEditPoints="1" noAdjustHandles="1" noChangeArrowheads="1" noChangeShapeType="1" noTextEdit="1"/>
              </p:cNvSpPr>
              <p:nvPr/>
            </p:nvSpPr>
            <p:spPr>
              <a:xfrm>
                <a:off x="925821" y="4939456"/>
                <a:ext cx="3130568" cy="553998"/>
              </a:xfrm>
              <a:prstGeom prst="rect">
                <a:avLst/>
              </a:prstGeom>
              <a:blipFill>
                <a:blip r:embed="rId2"/>
                <a:stretch>
                  <a:fillRect l="-4678" t="-1428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p:cNvSpPr txBox="1"/>
              <p:nvPr/>
            </p:nvSpPr>
            <p:spPr>
              <a:xfrm>
                <a:off x="509113" y="5456161"/>
                <a:ext cx="3306454"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1800" b="1" i="0" smtClean="0">
                          <a:latin typeface="Cambria Math" panose="02040503050406030204" pitchFamily="18" charset="0"/>
                          <a:ea typeface="Cambria Math" panose="02040503050406030204" pitchFamily="18" charset="0"/>
                        </a:rPr>
                        <m:t>𝐋𝐀𝐑</m:t>
                      </m:r>
                      <m:r>
                        <a:rPr lang="en-US" altLang="zh-CN" sz="1800">
                          <a:latin typeface="Cambria Math" panose="02040503050406030204" pitchFamily="18" charset="0"/>
                          <a:ea typeface="Cambria Math" panose="02040503050406030204" pitchFamily="18" charset="0"/>
                        </a:rPr>
                        <m:t>=</m:t>
                      </m:r>
                      <m:r>
                        <a:rPr lang="en-US" altLang="zh-CN" sz="1800" b="1" i="0" smtClean="0">
                          <a:latin typeface="Cambria Math" panose="02040503050406030204" pitchFamily="18" charset="0"/>
                          <a:ea typeface="Cambria Math" panose="02040503050406030204" pitchFamily="18" charset="0"/>
                        </a:rPr>
                        <m:t>𝐋𝐀𝐂</m:t>
                      </m:r>
                      <m:r>
                        <a:rPr lang="en-US" altLang="zh-CN" sz="1800">
                          <a:latin typeface="Cambria Math" panose="02040503050406030204" pitchFamily="18" charset="0"/>
                          <a:ea typeface="Cambria Math" panose="02040503050406030204" pitchFamily="18" charset="0"/>
                        </a:rPr>
                        <m:t>=</m:t>
                      </m:r>
                      <m:r>
                        <a:rPr lang="en-US" altLang="zh-CN" sz="1800">
                          <a:latin typeface="Cambria Math" panose="02040503050406030204" pitchFamily="18" charset="0"/>
                          <a:ea typeface="Cambria Math" panose="02040503050406030204" pitchFamily="18" charset="0"/>
                        </a:rPr>
                        <m:t>𝑨𝑹</m:t>
                      </m:r>
                      <m:r>
                        <a:rPr lang="en-US" altLang="zh-CN" sz="1800">
                          <a:latin typeface="Cambria Math" panose="02040503050406030204" pitchFamily="18" charset="0"/>
                          <a:ea typeface="Cambria Math" panose="02040503050406030204" pitchFamily="18" charset="0"/>
                        </a:rPr>
                        <m:t>=</m:t>
                      </m:r>
                      <m:r>
                        <m:rPr>
                          <m:nor/>
                        </m:rPr>
                        <a:rPr lang="zh-CN" altLang="en-US" sz="1800" dirty="0">
                          <a:ea typeface="Cambria Math" panose="02040503050406030204" pitchFamily="18" charset="0"/>
                          <a:sym typeface="Arial" panose="020B0604020202020204" pitchFamily="34" charset="0"/>
                        </a:rPr>
                        <m:t>AC</m:t>
                      </m:r>
                      <m:r>
                        <m:rPr>
                          <m:nor/>
                        </m:rPr>
                        <a:rPr lang="zh-CN" altLang="en-US" sz="1800" dirty="0">
                          <a:ea typeface="Cambria Math" panose="02040503050406030204" pitchFamily="18" charset="0"/>
                          <a:sym typeface="Arial" panose="020B0604020202020204" pitchFamily="34" charset="0"/>
                        </a:rPr>
                        <m:t>∗</m:t>
                      </m:r>
                    </m:oMath>
                  </m:oMathPara>
                </a14:m>
                <a:endParaRPr lang="zh-CN" altLang="en-US" sz="1800" dirty="0">
                  <a:ea typeface="Cambria Math" panose="02040503050406030204" pitchFamily="18" charset="0"/>
                </a:endParaRPr>
              </a:p>
            </p:txBody>
          </p:sp>
        </mc:Choice>
        <mc:Fallback xmlns="">
          <p:sp>
            <p:nvSpPr>
              <p:cNvPr id="3" name="文本框 2"/>
              <p:cNvSpPr txBox="1">
                <a:spLocks noRot="1" noChangeAspect="1" noMove="1" noResize="1" noEditPoints="1" noAdjustHandles="1" noChangeArrowheads="1" noChangeShapeType="1" noTextEdit="1"/>
              </p:cNvSpPr>
              <p:nvPr/>
            </p:nvSpPr>
            <p:spPr>
              <a:xfrm>
                <a:off x="509113" y="5456161"/>
                <a:ext cx="3306454" cy="276999"/>
              </a:xfrm>
              <a:prstGeom prst="rect">
                <a:avLst/>
              </a:prstGeom>
              <a:blipFill>
                <a:blip r:embed="rId3"/>
                <a:stretch>
                  <a:fillRect b="-11111"/>
                </a:stretch>
              </a:blipFill>
            </p:spPr>
            <p:txBody>
              <a:bodyPr/>
              <a:lstStyle/>
              <a:p>
                <a:r>
                  <a:rPr lang="zh-CN" altLang="en-US">
                    <a:noFill/>
                  </a:rPr>
                  <a:t> </a:t>
                </a:r>
              </a:p>
            </p:txBody>
          </p:sp>
        </mc:Fallback>
      </mc:AlternateContent>
      <p:sp>
        <p:nvSpPr>
          <p:cNvPr id="30" name="标题 1"/>
          <p:cNvSpPr>
            <a:spLocks noChangeArrowheads="1"/>
          </p:cNvSpPr>
          <p:nvPr/>
        </p:nvSpPr>
        <p:spPr bwMode="auto">
          <a:xfrm>
            <a:off x="7236185" y="44765"/>
            <a:ext cx="1944135" cy="3599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1800" b="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第二节  垄断竞争</a:t>
            </a:r>
            <a:endParaRPr lang="zh-CN" altLang="en-US" sz="1800" b="0" dirty="0">
              <a:solidFill>
                <a:schemeClr val="tx2"/>
              </a:solidFill>
              <a:latin typeface="微软雅黑" panose="020B0503020204020204" pitchFamily="34" charset="-122"/>
              <a:ea typeface="微软雅黑" panose="020B0503020204020204" pitchFamily="34" charset="-122"/>
              <a:sym typeface="Arial" panose="020B0604020202020204" pitchFamily="34"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6866">
                                            <p:txEl>
                                              <p:pRg st="0" end="0"/>
                                            </p:txEl>
                                          </p:spTgt>
                                        </p:tgtEl>
                                        <p:attrNameLst>
                                          <p:attrName>style.visibility</p:attrName>
                                        </p:attrNameLst>
                                      </p:cBhvr>
                                      <p:to>
                                        <p:strVal val="visible"/>
                                      </p:to>
                                    </p:set>
                                    <p:animEffect>
                                      <p:cBhvr>
                                        <p:cTn id="7" dur="500"/>
                                        <p:tgtEl>
                                          <p:spTgt spid="3686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6866">
                                            <p:txEl>
                                              <p:pRg st="1" end="1"/>
                                            </p:txEl>
                                          </p:spTgt>
                                        </p:tgtEl>
                                        <p:attrNameLst>
                                          <p:attrName>style.visibility</p:attrName>
                                        </p:attrNameLst>
                                      </p:cBhvr>
                                      <p:to>
                                        <p:strVal val="visible"/>
                                      </p:to>
                                    </p:set>
                                    <p:animEffect>
                                      <p:cBhvr>
                                        <p:cTn id="12" dur="500"/>
                                        <p:tgtEl>
                                          <p:spTgt spid="36866">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6866">
                                            <p:txEl>
                                              <p:pRg st="2" end="2"/>
                                            </p:txEl>
                                          </p:spTgt>
                                        </p:tgtEl>
                                        <p:attrNameLst>
                                          <p:attrName>style.visibility</p:attrName>
                                        </p:attrNameLst>
                                      </p:cBhvr>
                                      <p:to>
                                        <p:strVal val="visible"/>
                                      </p:to>
                                    </p:set>
                                    <p:animEffect>
                                      <p:cBhvr>
                                        <p:cTn id="17" dur="500"/>
                                        <p:tgtEl>
                                          <p:spTgt spid="36866">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6866">
                                            <p:txEl>
                                              <p:pRg st="3" end="3"/>
                                            </p:txEl>
                                          </p:spTgt>
                                        </p:tgtEl>
                                        <p:attrNameLst>
                                          <p:attrName>style.visibility</p:attrName>
                                        </p:attrNameLst>
                                      </p:cBhvr>
                                      <p:to>
                                        <p:strVal val="visible"/>
                                      </p:to>
                                    </p:set>
                                    <p:animEffect>
                                      <p:cBhvr>
                                        <p:cTn id="22" dur="500"/>
                                        <p:tgtEl>
                                          <p:spTgt spid="36866">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6870"/>
                                        </p:tgtEl>
                                        <p:attrNameLst>
                                          <p:attrName>style.visibility</p:attrName>
                                        </p:attrNameLst>
                                      </p:cBhvr>
                                      <p:to>
                                        <p:strVal val="visible"/>
                                      </p:to>
                                    </p:set>
                                    <p:animEffect>
                                      <p:cBhvr>
                                        <p:cTn id="27" dur="500"/>
                                        <p:tgtEl>
                                          <p:spTgt spid="36870"/>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36868"/>
                                        </p:tgtEl>
                                        <p:attrNameLst>
                                          <p:attrName>style.visibility</p:attrName>
                                        </p:attrNameLst>
                                      </p:cBhvr>
                                      <p:to>
                                        <p:strVal val="visible"/>
                                      </p:to>
                                    </p:set>
                                    <p:animEffect>
                                      <p:cBhvr>
                                        <p:cTn id="30" dur="500"/>
                                        <p:tgtEl>
                                          <p:spTgt spid="36868"/>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36871"/>
                                        </p:tgtEl>
                                        <p:attrNameLst>
                                          <p:attrName>style.visibility</p:attrName>
                                        </p:attrNameLst>
                                      </p:cBhvr>
                                      <p:to>
                                        <p:strVal val="visible"/>
                                      </p:to>
                                    </p:set>
                                    <p:animEffect>
                                      <p:cBhvr>
                                        <p:cTn id="33" dur="500"/>
                                        <p:tgtEl>
                                          <p:spTgt spid="36871"/>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36869"/>
                                        </p:tgtEl>
                                        <p:attrNameLst>
                                          <p:attrName>style.visibility</p:attrName>
                                        </p:attrNameLst>
                                      </p:cBhvr>
                                      <p:to>
                                        <p:strVal val="visible"/>
                                      </p:to>
                                    </p:set>
                                    <p:animEffect>
                                      <p:cBhvr>
                                        <p:cTn id="36" dur="500"/>
                                        <p:tgtEl>
                                          <p:spTgt spid="36869"/>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36872"/>
                                        </p:tgtEl>
                                        <p:attrNameLst>
                                          <p:attrName>style.visibility</p:attrName>
                                        </p:attrNameLst>
                                      </p:cBhvr>
                                      <p:to>
                                        <p:strVal val="visible"/>
                                      </p:to>
                                    </p:set>
                                    <p:animEffect>
                                      <p:cBhvr>
                                        <p:cTn id="39" dur="500"/>
                                        <p:tgtEl>
                                          <p:spTgt spid="36872"/>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36873"/>
                                        </p:tgtEl>
                                        <p:attrNameLst>
                                          <p:attrName>style.visibility</p:attrName>
                                        </p:attrNameLst>
                                      </p:cBhvr>
                                      <p:to>
                                        <p:strVal val="visible"/>
                                      </p:to>
                                    </p:set>
                                    <p:animEffect>
                                      <p:cBhvr>
                                        <p:cTn id="44" dur="500"/>
                                        <p:tgtEl>
                                          <p:spTgt spid="36873"/>
                                        </p:tgtEl>
                                      </p:cBhvr>
                                    </p:animEffect>
                                  </p:childTnLst>
                                </p:cTn>
                              </p:par>
                              <p:par>
                                <p:cTn id="45" presetID="3" presetClass="entr" presetSubtype="10" fill="hold" grpId="0" nodeType="withEffect">
                                  <p:stCondLst>
                                    <p:cond delay="0"/>
                                  </p:stCondLst>
                                  <p:childTnLst>
                                    <p:set>
                                      <p:cBhvr>
                                        <p:cTn id="46" dur="1" fill="hold">
                                          <p:stCondLst>
                                            <p:cond delay="0"/>
                                          </p:stCondLst>
                                        </p:cTn>
                                        <p:tgtEl>
                                          <p:spTgt spid="36874"/>
                                        </p:tgtEl>
                                        <p:attrNameLst>
                                          <p:attrName>style.visibility</p:attrName>
                                        </p:attrNameLst>
                                      </p:cBhvr>
                                      <p:to>
                                        <p:strVal val="visible"/>
                                      </p:to>
                                    </p:set>
                                    <p:animEffect>
                                      <p:cBhvr>
                                        <p:cTn id="47" dur="500"/>
                                        <p:tgtEl>
                                          <p:spTgt spid="36874"/>
                                        </p:tgtEl>
                                      </p:cBhvr>
                                    </p:animEffect>
                                  </p:childTnLst>
                                </p:cTn>
                              </p:par>
                              <p:par>
                                <p:cTn id="48" presetID="3" presetClass="entr" presetSubtype="10" fill="hold" grpId="0" nodeType="withEffect">
                                  <p:stCondLst>
                                    <p:cond delay="0"/>
                                  </p:stCondLst>
                                  <p:childTnLst>
                                    <p:set>
                                      <p:cBhvr>
                                        <p:cTn id="49" dur="1" fill="hold">
                                          <p:stCondLst>
                                            <p:cond delay="0"/>
                                          </p:stCondLst>
                                        </p:cTn>
                                        <p:tgtEl>
                                          <p:spTgt spid="36875"/>
                                        </p:tgtEl>
                                        <p:attrNameLst>
                                          <p:attrName>style.visibility</p:attrName>
                                        </p:attrNameLst>
                                      </p:cBhvr>
                                      <p:to>
                                        <p:strVal val="visible"/>
                                      </p:to>
                                    </p:set>
                                    <p:animEffect>
                                      <p:cBhvr>
                                        <p:cTn id="50" dur="500"/>
                                        <p:tgtEl>
                                          <p:spTgt spid="36875"/>
                                        </p:tgtEl>
                                      </p:cBhvr>
                                    </p:animEffect>
                                  </p:childTnLst>
                                </p:cTn>
                              </p:par>
                              <p:par>
                                <p:cTn id="51" presetID="3" presetClass="entr" presetSubtype="10" fill="hold" grpId="0" nodeType="withEffect">
                                  <p:stCondLst>
                                    <p:cond delay="0"/>
                                  </p:stCondLst>
                                  <p:childTnLst>
                                    <p:set>
                                      <p:cBhvr>
                                        <p:cTn id="52" dur="1" fill="hold">
                                          <p:stCondLst>
                                            <p:cond delay="0"/>
                                          </p:stCondLst>
                                        </p:cTn>
                                        <p:tgtEl>
                                          <p:spTgt spid="36876"/>
                                        </p:tgtEl>
                                        <p:attrNameLst>
                                          <p:attrName>style.visibility</p:attrName>
                                        </p:attrNameLst>
                                      </p:cBhvr>
                                      <p:to>
                                        <p:strVal val="visible"/>
                                      </p:to>
                                    </p:set>
                                    <p:animEffect>
                                      <p:cBhvr>
                                        <p:cTn id="53" dur="500"/>
                                        <p:tgtEl>
                                          <p:spTgt spid="36876"/>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36888"/>
                                        </p:tgtEl>
                                        <p:attrNameLst>
                                          <p:attrName>style.visibility</p:attrName>
                                        </p:attrNameLst>
                                      </p:cBhvr>
                                      <p:to>
                                        <p:strVal val="visible"/>
                                      </p:to>
                                    </p:set>
                                    <p:animEffect>
                                      <p:cBhvr>
                                        <p:cTn id="58" dur="500"/>
                                        <p:tgtEl>
                                          <p:spTgt spid="36888"/>
                                        </p:tgtEl>
                                      </p:cBhvr>
                                    </p:animEffect>
                                  </p:childTnLst>
                                </p:cTn>
                              </p:par>
                              <p:par>
                                <p:cTn id="59" presetID="3" presetClass="entr" presetSubtype="10" fill="hold" grpId="0" nodeType="withEffect">
                                  <p:stCondLst>
                                    <p:cond delay="0"/>
                                  </p:stCondLst>
                                  <p:childTnLst>
                                    <p:set>
                                      <p:cBhvr>
                                        <p:cTn id="60" dur="1" fill="hold">
                                          <p:stCondLst>
                                            <p:cond delay="0"/>
                                          </p:stCondLst>
                                        </p:cTn>
                                        <p:tgtEl>
                                          <p:spTgt spid="36881"/>
                                        </p:tgtEl>
                                        <p:attrNameLst>
                                          <p:attrName>style.visibility</p:attrName>
                                        </p:attrNameLst>
                                      </p:cBhvr>
                                      <p:to>
                                        <p:strVal val="visible"/>
                                      </p:to>
                                    </p:set>
                                    <p:animEffect>
                                      <p:cBhvr>
                                        <p:cTn id="61" dur="500"/>
                                        <p:tgtEl>
                                          <p:spTgt spid="36881"/>
                                        </p:tgtEl>
                                      </p:cBhvr>
                                    </p:animEffect>
                                  </p:childTnLst>
                                </p:cTn>
                              </p:par>
                              <p:par>
                                <p:cTn id="62" presetID="3" presetClass="entr" presetSubtype="10" fill="hold" grpId="0" nodeType="withEffect">
                                  <p:stCondLst>
                                    <p:cond delay="0"/>
                                  </p:stCondLst>
                                  <p:childTnLst>
                                    <p:set>
                                      <p:cBhvr>
                                        <p:cTn id="63" dur="1" fill="hold">
                                          <p:stCondLst>
                                            <p:cond delay="0"/>
                                          </p:stCondLst>
                                        </p:cTn>
                                        <p:tgtEl>
                                          <p:spTgt spid="36887"/>
                                        </p:tgtEl>
                                        <p:attrNameLst>
                                          <p:attrName>style.visibility</p:attrName>
                                        </p:attrNameLst>
                                      </p:cBhvr>
                                      <p:to>
                                        <p:strVal val="visible"/>
                                      </p:to>
                                    </p:set>
                                    <p:animEffect>
                                      <p:cBhvr>
                                        <p:cTn id="64" dur="500"/>
                                        <p:tgtEl>
                                          <p:spTgt spid="36887"/>
                                        </p:tgtEl>
                                      </p:cBhvr>
                                    </p:animEffect>
                                  </p:childTnLst>
                                </p:cTn>
                              </p:par>
                              <p:par>
                                <p:cTn id="65" presetID="3" presetClass="entr" presetSubtype="10" fill="hold" grpId="0" nodeType="withEffect">
                                  <p:stCondLst>
                                    <p:cond delay="0"/>
                                  </p:stCondLst>
                                  <p:childTnLst>
                                    <p:set>
                                      <p:cBhvr>
                                        <p:cTn id="66" dur="1" fill="hold">
                                          <p:stCondLst>
                                            <p:cond delay="0"/>
                                          </p:stCondLst>
                                        </p:cTn>
                                        <p:tgtEl>
                                          <p:spTgt spid="36884"/>
                                        </p:tgtEl>
                                        <p:attrNameLst>
                                          <p:attrName>style.visibility</p:attrName>
                                        </p:attrNameLst>
                                      </p:cBhvr>
                                      <p:to>
                                        <p:strVal val="visible"/>
                                      </p:to>
                                    </p:set>
                                    <p:animEffect>
                                      <p:cBhvr>
                                        <p:cTn id="67" dur="500"/>
                                        <p:tgtEl>
                                          <p:spTgt spid="36884"/>
                                        </p:tgtEl>
                                      </p:cBhvr>
                                    </p:animEffect>
                                  </p:childTnLst>
                                </p:cTn>
                              </p:par>
                              <p:par>
                                <p:cTn id="68" presetID="3" presetClass="entr" presetSubtype="10" fill="hold" grpId="0" nodeType="withEffect">
                                  <p:stCondLst>
                                    <p:cond delay="0"/>
                                  </p:stCondLst>
                                  <p:childTnLst>
                                    <p:set>
                                      <p:cBhvr>
                                        <p:cTn id="69" dur="1" fill="hold">
                                          <p:stCondLst>
                                            <p:cond delay="0"/>
                                          </p:stCondLst>
                                        </p:cTn>
                                        <p:tgtEl>
                                          <p:spTgt spid="36878"/>
                                        </p:tgtEl>
                                        <p:attrNameLst>
                                          <p:attrName>style.visibility</p:attrName>
                                        </p:attrNameLst>
                                      </p:cBhvr>
                                      <p:to>
                                        <p:strVal val="visible"/>
                                      </p:to>
                                    </p:set>
                                    <p:animEffect>
                                      <p:cBhvr>
                                        <p:cTn id="70" dur="500"/>
                                        <p:tgtEl>
                                          <p:spTgt spid="36878"/>
                                        </p:tgtEl>
                                      </p:cBhvr>
                                    </p:animEffect>
                                  </p:childTnLst>
                                </p:cTn>
                              </p:par>
                              <p:par>
                                <p:cTn id="71" presetID="3" presetClass="entr" presetSubtype="10" fill="hold" grpId="0" nodeType="withEffect">
                                  <p:stCondLst>
                                    <p:cond delay="0"/>
                                  </p:stCondLst>
                                  <p:childTnLst>
                                    <p:set>
                                      <p:cBhvr>
                                        <p:cTn id="72" dur="1" fill="hold">
                                          <p:stCondLst>
                                            <p:cond delay="0"/>
                                          </p:stCondLst>
                                        </p:cTn>
                                        <p:tgtEl>
                                          <p:spTgt spid="36877"/>
                                        </p:tgtEl>
                                        <p:attrNameLst>
                                          <p:attrName>style.visibility</p:attrName>
                                        </p:attrNameLst>
                                      </p:cBhvr>
                                      <p:to>
                                        <p:strVal val="visible"/>
                                      </p:to>
                                    </p:set>
                                    <p:animEffect>
                                      <p:cBhvr>
                                        <p:cTn id="73" dur="500"/>
                                        <p:tgtEl>
                                          <p:spTgt spid="36877"/>
                                        </p:tgtEl>
                                      </p:cBhvr>
                                    </p:animEffect>
                                  </p:childTnLst>
                                </p:cTn>
                              </p:par>
                              <p:par>
                                <p:cTn id="74" presetID="3" presetClass="entr" presetSubtype="10" fill="hold" grpId="0" nodeType="withEffect">
                                  <p:stCondLst>
                                    <p:cond delay="0"/>
                                  </p:stCondLst>
                                  <p:childTnLst>
                                    <p:set>
                                      <p:cBhvr>
                                        <p:cTn id="75" dur="1" fill="hold">
                                          <p:stCondLst>
                                            <p:cond delay="0"/>
                                          </p:stCondLst>
                                        </p:cTn>
                                        <p:tgtEl>
                                          <p:spTgt spid="36879"/>
                                        </p:tgtEl>
                                        <p:attrNameLst>
                                          <p:attrName>style.visibility</p:attrName>
                                        </p:attrNameLst>
                                      </p:cBhvr>
                                      <p:to>
                                        <p:strVal val="visible"/>
                                      </p:to>
                                    </p:set>
                                    <p:animEffect>
                                      <p:cBhvr>
                                        <p:cTn id="76" dur="500"/>
                                        <p:tgtEl>
                                          <p:spTgt spid="36879"/>
                                        </p:tgtEl>
                                      </p:cBhvr>
                                    </p:animEffect>
                                  </p:childTnLst>
                                </p:cTn>
                              </p:par>
                              <p:par>
                                <p:cTn id="77" presetID="3" presetClass="entr" presetSubtype="10" fill="hold" grpId="0" nodeType="withEffect">
                                  <p:stCondLst>
                                    <p:cond delay="0"/>
                                  </p:stCondLst>
                                  <p:childTnLst>
                                    <p:set>
                                      <p:cBhvr>
                                        <p:cTn id="78" dur="1" fill="hold">
                                          <p:stCondLst>
                                            <p:cond delay="0"/>
                                          </p:stCondLst>
                                        </p:cTn>
                                        <p:tgtEl>
                                          <p:spTgt spid="36880"/>
                                        </p:tgtEl>
                                        <p:attrNameLst>
                                          <p:attrName>style.visibility</p:attrName>
                                        </p:attrNameLst>
                                      </p:cBhvr>
                                      <p:to>
                                        <p:strVal val="visible"/>
                                      </p:to>
                                    </p:set>
                                    <p:animEffect>
                                      <p:cBhvr>
                                        <p:cTn id="79" dur="500"/>
                                        <p:tgtEl>
                                          <p:spTgt spid="36880"/>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3" presetClass="entr" presetSubtype="10" fill="hold" grpId="0" nodeType="clickEffect">
                                  <p:stCondLst>
                                    <p:cond delay="0"/>
                                  </p:stCondLst>
                                  <p:childTnLst>
                                    <p:set>
                                      <p:cBhvr>
                                        <p:cTn id="83" dur="1" fill="hold">
                                          <p:stCondLst>
                                            <p:cond delay="0"/>
                                          </p:stCondLst>
                                        </p:cTn>
                                        <p:tgtEl>
                                          <p:spTgt spid="36889"/>
                                        </p:tgtEl>
                                        <p:attrNameLst>
                                          <p:attrName>style.visibility</p:attrName>
                                        </p:attrNameLst>
                                      </p:cBhvr>
                                      <p:to>
                                        <p:strVal val="visible"/>
                                      </p:to>
                                    </p:set>
                                    <p:animEffect>
                                      <p:cBhvr>
                                        <p:cTn id="84" dur="500"/>
                                        <p:tgtEl>
                                          <p:spTgt spid="36889"/>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3" presetClass="entr" presetSubtype="10" fill="hold" grpId="0" nodeType="clickEffect">
                                  <p:stCondLst>
                                    <p:cond delay="0"/>
                                  </p:stCondLst>
                                  <p:childTnLst>
                                    <p:set>
                                      <p:cBhvr>
                                        <p:cTn id="88" dur="1" fill="hold">
                                          <p:stCondLst>
                                            <p:cond delay="0"/>
                                          </p:stCondLst>
                                        </p:cTn>
                                        <p:tgtEl>
                                          <p:spTgt spid="36882"/>
                                        </p:tgtEl>
                                        <p:attrNameLst>
                                          <p:attrName>style.visibility</p:attrName>
                                        </p:attrNameLst>
                                      </p:cBhvr>
                                      <p:to>
                                        <p:strVal val="visible"/>
                                      </p:to>
                                    </p:set>
                                    <p:animEffect>
                                      <p:cBhvr>
                                        <p:cTn id="89" dur="500"/>
                                        <p:tgtEl>
                                          <p:spTgt spid="36882"/>
                                        </p:tgtEl>
                                      </p:cBhvr>
                                    </p:animEffect>
                                  </p:childTnLst>
                                </p:cTn>
                              </p:par>
                              <p:par>
                                <p:cTn id="90" presetID="3" presetClass="entr" presetSubtype="10" fill="hold" grpId="0" nodeType="withEffect">
                                  <p:stCondLst>
                                    <p:cond delay="0"/>
                                  </p:stCondLst>
                                  <p:childTnLst>
                                    <p:set>
                                      <p:cBhvr>
                                        <p:cTn id="91" dur="1" fill="hold">
                                          <p:stCondLst>
                                            <p:cond delay="0"/>
                                          </p:stCondLst>
                                        </p:cTn>
                                        <p:tgtEl>
                                          <p:spTgt spid="36883"/>
                                        </p:tgtEl>
                                        <p:attrNameLst>
                                          <p:attrName>style.visibility</p:attrName>
                                        </p:attrNameLst>
                                      </p:cBhvr>
                                      <p:to>
                                        <p:strVal val="visible"/>
                                      </p:to>
                                    </p:set>
                                    <p:animEffect>
                                      <p:cBhvr>
                                        <p:cTn id="92" dur="500"/>
                                        <p:tgtEl>
                                          <p:spTgt spid="36883"/>
                                        </p:tgtEl>
                                      </p:cBhvr>
                                    </p:animEffect>
                                  </p:childTnLst>
                                </p:cTn>
                              </p:par>
                              <p:par>
                                <p:cTn id="93" presetID="3" presetClass="entr" presetSubtype="10" fill="hold" grpId="0" nodeType="withEffect">
                                  <p:stCondLst>
                                    <p:cond delay="0"/>
                                  </p:stCondLst>
                                  <p:childTnLst>
                                    <p:set>
                                      <p:cBhvr>
                                        <p:cTn id="94" dur="1" fill="hold">
                                          <p:stCondLst>
                                            <p:cond delay="0"/>
                                          </p:stCondLst>
                                        </p:cTn>
                                        <p:tgtEl>
                                          <p:spTgt spid="36886"/>
                                        </p:tgtEl>
                                        <p:attrNameLst>
                                          <p:attrName>style.visibility</p:attrName>
                                        </p:attrNameLst>
                                      </p:cBhvr>
                                      <p:to>
                                        <p:strVal val="visible"/>
                                      </p:to>
                                    </p:set>
                                    <p:animEffect>
                                      <p:cBhvr>
                                        <p:cTn id="95" dur="500"/>
                                        <p:tgtEl>
                                          <p:spTgt spid="36886"/>
                                        </p:tgtEl>
                                      </p:cBhvr>
                                    </p:animEffect>
                                  </p:childTnLst>
                                </p:cTn>
                              </p:par>
                              <p:par>
                                <p:cTn id="96" presetID="3" presetClass="entr" presetSubtype="10" fill="hold" grpId="0" nodeType="withEffect">
                                  <p:stCondLst>
                                    <p:cond delay="0"/>
                                  </p:stCondLst>
                                  <p:childTnLst>
                                    <p:set>
                                      <p:cBhvr>
                                        <p:cTn id="97" dur="1" fill="hold">
                                          <p:stCondLst>
                                            <p:cond delay="0"/>
                                          </p:stCondLst>
                                        </p:cTn>
                                        <p:tgtEl>
                                          <p:spTgt spid="36885"/>
                                        </p:tgtEl>
                                        <p:attrNameLst>
                                          <p:attrName>style.visibility</p:attrName>
                                        </p:attrNameLst>
                                      </p:cBhvr>
                                      <p:to>
                                        <p:strVal val="visible"/>
                                      </p:to>
                                    </p:set>
                                    <p:animEffect>
                                      <p:cBhvr>
                                        <p:cTn id="98" dur="500"/>
                                        <p:tgtEl>
                                          <p:spTgt spid="36885"/>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3" presetClass="entr" presetSubtype="10" fill="hold" nodeType="clickEffect">
                                  <p:stCondLst>
                                    <p:cond delay="0"/>
                                  </p:stCondLst>
                                  <p:childTnLst>
                                    <p:set>
                                      <p:cBhvr>
                                        <p:cTn id="102" dur="1" fill="hold">
                                          <p:stCondLst>
                                            <p:cond delay="0"/>
                                          </p:stCondLst>
                                        </p:cTn>
                                        <p:tgtEl>
                                          <p:spTgt spid="36866">
                                            <p:txEl>
                                              <p:pRg st="4" end="4"/>
                                            </p:txEl>
                                          </p:spTgt>
                                        </p:tgtEl>
                                        <p:attrNameLst>
                                          <p:attrName>style.visibility</p:attrName>
                                        </p:attrNameLst>
                                      </p:cBhvr>
                                      <p:to>
                                        <p:strVal val="visible"/>
                                      </p:to>
                                    </p:set>
                                    <p:animEffect>
                                      <p:cBhvr>
                                        <p:cTn id="103" dur="500"/>
                                        <p:tgtEl>
                                          <p:spTgt spid="36866">
                                            <p:txEl>
                                              <p:pRg st="4" end="4"/>
                                            </p:txEl>
                                          </p:spTgt>
                                        </p:tgtEl>
                                      </p:cBhvr>
                                    </p:animEffec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3" presetClass="entr" presetSubtype="10" fill="hold" nodeType="clickEffect">
                                  <p:stCondLst>
                                    <p:cond delay="0"/>
                                  </p:stCondLst>
                                  <p:childTnLst>
                                    <p:set>
                                      <p:cBhvr>
                                        <p:cTn id="107" dur="1" fill="hold">
                                          <p:stCondLst>
                                            <p:cond delay="0"/>
                                          </p:stCondLst>
                                        </p:cTn>
                                        <p:tgtEl>
                                          <p:spTgt spid="36866">
                                            <p:txEl>
                                              <p:pRg st="5" end="5"/>
                                            </p:txEl>
                                          </p:spTgt>
                                        </p:tgtEl>
                                        <p:attrNameLst>
                                          <p:attrName>style.visibility</p:attrName>
                                        </p:attrNameLst>
                                      </p:cBhvr>
                                      <p:to>
                                        <p:strVal val="visible"/>
                                      </p:to>
                                    </p:set>
                                    <p:animEffect>
                                      <p:cBhvr>
                                        <p:cTn id="108" dur="500"/>
                                        <p:tgtEl>
                                          <p:spTgt spid="36866">
                                            <p:txEl>
                                              <p:pRg st="5" end="5"/>
                                            </p:txEl>
                                          </p:spTgt>
                                        </p:tgtEl>
                                      </p:cBhvr>
                                    </p:animEffect>
                                  </p:childTnLst>
                                </p:cTn>
                              </p:par>
                            </p:childTnLst>
                          </p:cTn>
                        </p:par>
                      </p:childTnLst>
                    </p:cTn>
                  </p:par>
                  <p:par>
                    <p:cTn id="109" fill="hold">
                      <p:stCondLst>
                        <p:cond delay="indefinite"/>
                      </p:stCondLst>
                      <p:childTnLst>
                        <p:par>
                          <p:cTn id="110" fill="hold">
                            <p:stCondLst>
                              <p:cond delay="0"/>
                            </p:stCondLst>
                            <p:childTnLst>
                              <p:par>
                                <p:cTn id="111" presetID="16" presetClass="entr" presetSubtype="21" fill="hold" grpId="0" nodeType="clickEffect">
                                  <p:stCondLst>
                                    <p:cond delay="0"/>
                                  </p:stCondLst>
                                  <p:childTnLst>
                                    <p:set>
                                      <p:cBhvr>
                                        <p:cTn id="112" dur="1" fill="hold">
                                          <p:stCondLst>
                                            <p:cond delay="0"/>
                                          </p:stCondLst>
                                        </p:cTn>
                                        <p:tgtEl>
                                          <p:spTgt spid="2"/>
                                        </p:tgtEl>
                                        <p:attrNameLst>
                                          <p:attrName>style.visibility</p:attrName>
                                        </p:attrNameLst>
                                      </p:cBhvr>
                                      <p:to>
                                        <p:strVal val="visible"/>
                                      </p:to>
                                    </p:set>
                                    <p:animEffect transition="in" filter="barn(inVertical)">
                                      <p:cBhvr>
                                        <p:cTn id="113" dur="500"/>
                                        <p:tgtEl>
                                          <p:spTgt spid="2"/>
                                        </p:tgtEl>
                                      </p:cBhvr>
                                    </p:animEffect>
                                  </p:childTnLst>
                                </p:cTn>
                              </p:par>
                              <p:par>
                                <p:cTn id="114" presetID="16" presetClass="entr" presetSubtype="21" fill="hold" grpId="0" nodeType="withEffect">
                                  <p:stCondLst>
                                    <p:cond delay="0"/>
                                  </p:stCondLst>
                                  <p:childTnLst>
                                    <p:set>
                                      <p:cBhvr>
                                        <p:cTn id="115" dur="1" fill="hold">
                                          <p:stCondLst>
                                            <p:cond delay="0"/>
                                          </p:stCondLst>
                                        </p:cTn>
                                        <p:tgtEl>
                                          <p:spTgt spid="3"/>
                                        </p:tgtEl>
                                        <p:attrNameLst>
                                          <p:attrName>style.visibility</p:attrName>
                                        </p:attrNameLst>
                                      </p:cBhvr>
                                      <p:to>
                                        <p:strVal val="visible"/>
                                      </p:to>
                                    </p:set>
                                    <p:animEffect transition="in" filter="barn(inVertical)">
                                      <p:cBhvr>
                                        <p:cTn id="11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8" grpId="0" bldLvl="0" animBg="1" autoUpdateAnimBg="0"/>
      <p:bldP spid="36869" grpId="0" bldLvl="0" animBg="1" autoUpdateAnimBg="0"/>
      <p:bldP spid="36870" grpId="0" bldLvl="0" autoUpdateAnimBg="0"/>
      <p:bldP spid="36871" grpId="0" bldLvl="0" autoUpdateAnimBg="0"/>
      <p:bldP spid="36872" grpId="0" bldLvl="0" autoUpdateAnimBg="0"/>
      <p:bldP spid="36873" grpId="0" bldLvl="0" animBg="1" autoUpdateAnimBg="0"/>
      <p:bldP spid="36874" grpId="0" bldLvl="0" autoUpdateAnimBg="0"/>
      <p:bldP spid="36875" grpId="0" bldLvl="0" animBg="1" autoUpdateAnimBg="0"/>
      <p:bldP spid="36876" grpId="0" bldLvl="0" autoUpdateAnimBg="0"/>
      <p:bldP spid="36877" grpId="0" bldLvl="0" animBg="1" autoUpdateAnimBg="0"/>
      <p:bldP spid="36878" grpId="0" bldLvl="0" autoUpdateAnimBg="0"/>
      <p:bldP spid="36879" grpId="0" bldLvl="0" animBg="1" autoUpdateAnimBg="0"/>
      <p:bldP spid="36880" grpId="0" bldLvl="0" autoUpdateAnimBg="0"/>
      <p:bldP spid="36881" grpId="0" bldLvl="0" animBg="1" autoUpdateAnimBg="0"/>
      <p:bldP spid="36882" grpId="0" bldLvl="0" animBg="1" autoUpdateAnimBg="0"/>
      <p:bldP spid="36883" grpId="0" bldLvl="0" animBg="1" autoUpdateAnimBg="0"/>
      <p:bldP spid="36884" grpId="0" bldLvl="0" animBg="1" autoUpdateAnimBg="0"/>
      <p:bldP spid="36885" grpId="0" bldLvl="0" autoUpdateAnimBg="0"/>
      <p:bldP spid="36886" grpId="0" bldLvl="0" autoUpdateAnimBg="0"/>
      <p:bldP spid="36887" grpId="0" bldLvl="0" autoUpdateAnimBg="0"/>
      <p:bldP spid="36888" grpId="0" bldLvl="0" autoUpdateAnimBg="0"/>
      <p:bldP spid="36889" grpId="0" bldLvl="0" animBg="1" autoUpdateAnimBg="0"/>
      <p:bldP spid="2" grpId="0"/>
      <p:bldP spid="3"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3"/>
          <p:cNvSpPr>
            <a:spLocks noGrp="1" noChangeArrowheads="1"/>
          </p:cNvSpPr>
          <p:nvPr>
            <p:ph type="body" idx="1"/>
          </p:nvPr>
        </p:nvSpPr>
        <p:spPr>
          <a:xfrm>
            <a:off x="1470900" y="601503"/>
            <a:ext cx="5986930" cy="792054"/>
          </a:xfrm>
          <a:ln/>
        </p:spPr>
        <p:txBody>
          <a:bodyPr/>
          <a:lstStyle/>
          <a:p>
            <a:pPr marL="342900" indent="-342900">
              <a:spcBef>
                <a:spcPct val="0"/>
              </a:spcBef>
            </a:pPr>
            <a:r>
              <a:rPr lang="zh-CN" altLang="en-US" sz="3600" dirty="0">
                <a:solidFill>
                  <a:schemeClr val="tx1"/>
                </a:solidFill>
                <a:latin typeface="微软雅黑" panose="020B0503020204020204" pitchFamily="34" charset="-122"/>
                <a:ea typeface="微软雅黑" panose="020B0503020204020204" pitchFamily="34" charset="-122"/>
                <a:cs typeface="+mj-cs"/>
              </a:rPr>
              <a:t>第三节</a:t>
            </a:r>
            <a:r>
              <a:rPr lang="en-US" altLang="zh-CN" sz="3600" dirty="0">
                <a:solidFill>
                  <a:schemeClr val="tx1"/>
                </a:solidFill>
                <a:latin typeface="微软雅黑" panose="020B0503020204020204" pitchFamily="34" charset="-122"/>
                <a:ea typeface="微软雅黑" panose="020B0503020204020204" pitchFamily="34" charset="-122"/>
                <a:cs typeface="+mj-cs"/>
              </a:rPr>
              <a:t>	 </a:t>
            </a:r>
            <a:r>
              <a:rPr lang="zh-CN" altLang="en-US" sz="3600" dirty="0">
                <a:solidFill>
                  <a:schemeClr val="tx1"/>
                </a:solidFill>
                <a:latin typeface="微软雅黑" panose="020B0503020204020204" pitchFamily="34" charset="-122"/>
                <a:ea typeface="微软雅黑" panose="020B0503020204020204" pitchFamily="34" charset="-122"/>
                <a:cs typeface="+mj-cs"/>
              </a:rPr>
              <a:t>寡头</a:t>
            </a:r>
            <a:endParaRPr lang="zh-CN" altLang="en-US" sz="2800" dirty="0"/>
          </a:p>
        </p:txBody>
      </p:sp>
      <p:sp>
        <p:nvSpPr>
          <p:cNvPr id="4" name="MH_SubTitle_1">
            <a:extLst>
              <a:ext uri="{FF2B5EF4-FFF2-40B4-BE49-F238E27FC236}">
                <a16:creationId xmlns:a16="http://schemas.microsoft.com/office/drawing/2014/main" id="{B811FBAD-AB8E-4852-A8D0-5E64CAD5E915}"/>
              </a:ext>
            </a:extLst>
          </p:cNvPr>
          <p:cNvSpPr>
            <a:spLocks noChangeArrowheads="1"/>
          </p:cNvSpPr>
          <p:nvPr>
            <p:custDataLst>
              <p:tags r:id="rId1"/>
            </p:custDataLst>
          </p:nvPr>
        </p:nvSpPr>
        <p:spPr bwMode="gray">
          <a:xfrm>
            <a:off x="1763688" y="1786785"/>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一</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cxnSp>
        <p:nvCxnSpPr>
          <p:cNvPr id="5" name="MH_Other_5">
            <a:extLst>
              <a:ext uri="{FF2B5EF4-FFF2-40B4-BE49-F238E27FC236}">
                <a16:creationId xmlns:a16="http://schemas.microsoft.com/office/drawing/2014/main" id="{25D06B7F-7DCD-4D03-A450-0AAC55A41525}"/>
              </a:ext>
            </a:extLst>
          </p:cNvPr>
          <p:cNvCxnSpPr/>
          <p:nvPr>
            <p:custDataLst>
              <p:tags r:id="rId2"/>
            </p:custDataLst>
          </p:nvPr>
        </p:nvCxnSpPr>
        <p:spPr>
          <a:xfrm>
            <a:off x="2343126" y="2142385"/>
            <a:ext cx="0" cy="528637"/>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sp>
        <p:nvSpPr>
          <p:cNvPr id="6" name="MH_SubTitle_2">
            <a:extLst>
              <a:ext uri="{FF2B5EF4-FFF2-40B4-BE49-F238E27FC236}">
                <a16:creationId xmlns:a16="http://schemas.microsoft.com/office/drawing/2014/main" id="{324FEB12-6B52-4D2F-B5C9-D9A603800236}"/>
              </a:ext>
            </a:extLst>
          </p:cNvPr>
          <p:cNvSpPr>
            <a:spLocks noChangeArrowheads="1"/>
          </p:cNvSpPr>
          <p:nvPr>
            <p:custDataLst>
              <p:tags r:id="rId3"/>
            </p:custDataLst>
          </p:nvPr>
        </p:nvSpPr>
        <p:spPr bwMode="gray">
          <a:xfrm>
            <a:off x="1763688" y="2671022"/>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二</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cxnSp>
        <p:nvCxnSpPr>
          <p:cNvPr id="7" name="MH_Other_6">
            <a:extLst>
              <a:ext uri="{FF2B5EF4-FFF2-40B4-BE49-F238E27FC236}">
                <a16:creationId xmlns:a16="http://schemas.microsoft.com/office/drawing/2014/main" id="{B30D78AD-B3DA-44A6-A5F6-F28D02655A40}"/>
              </a:ext>
            </a:extLst>
          </p:cNvPr>
          <p:cNvCxnSpPr/>
          <p:nvPr>
            <p:custDataLst>
              <p:tags r:id="rId4"/>
            </p:custDataLst>
          </p:nvPr>
        </p:nvCxnSpPr>
        <p:spPr>
          <a:xfrm>
            <a:off x="2343126" y="3026622"/>
            <a:ext cx="0" cy="528638"/>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sp>
        <p:nvSpPr>
          <p:cNvPr id="8" name="MH_SubTitle_3">
            <a:extLst>
              <a:ext uri="{FF2B5EF4-FFF2-40B4-BE49-F238E27FC236}">
                <a16:creationId xmlns:a16="http://schemas.microsoft.com/office/drawing/2014/main" id="{3FEC77B5-DB98-453D-BDBC-6598DEA48C49}"/>
              </a:ext>
            </a:extLst>
          </p:cNvPr>
          <p:cNvSpPr>
            <a:spLocks noChangeArrowheads="1"/>
          </p:cNvSpPr>
          <p:nvPr>
            <p:custDataLst>
              <p:tags r:id="rId5"/>
            </p:custDataLst>
          </p:nvPr>
        </p:nvSpPr>
        <p:spPr bwMode="gray">
          <a:xfrm>
            <a:off x="1763688" y="3555260"/>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三</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cxnSp>
        <p:nvCxnSpPr>
          <p:cNvPr id="9" name="MH_Other_7">
            <a:extLst>
              <a:ext uri="{FF2B5EF4-FFF2-40B4-BE49-F238E27FC236}">
                <a16:creationId xmlns:a16="http://schemas.microsoft.com/office/drawing/2014/main" id="{DF653FE5-3B26-45B8-A03B-DDBD47BE3AA3}"/>
              </a:ext>
            </a:extLst>
          </p:cNvPr>
          <p:cNvCxnSpPr/>
          <p:nvPr>
            <p:custDataLst>
              <p:tags r:id="rId6"/>
            </p:custDataLst>
          </p:nvPr>
        </p:nvCxnSpPr>
        <p:spPr>
          <a:xfrm>
            <a:off x="2343126" y="3910860"/>
            <a:ext cx="0" cy="530225"/>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sp>
        <p:nvSpPr>
          <p:cNvPr id="10" name="MH_SubTitle_4">
            <a:extLst>
              <a:ext uri="{FF2B5EF4-FFF2-40B4-BE49-F238E27FC236}">
                <a16:creationId xmlns:a16="http://schemas.microsoft.com/office/drawing/2014/main" id="{906C2589-D3EE-4ADE-A5EC-65B915A21062}"/>
              </a:ext>
            </a:extLst>
          </p:cNvPr>
          <p:cNvSpPr>
            <a:spLocks noChangeArrowheads="1"/>
          </p:cNvSpPr>
          <p:nvPr>
            <p:custDataLst>
              <p:tags r:id="rId7"/>
            </p:custDataLst>
          </p:nvPr>
        </p:nvSpPr>
        <p:spPr bwMode="gray">
          <a:xfrm>
            <a:off x="1763688" y="4441085"/>
            <a:ext cx="1158875" cy="354012"/>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四</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cxnSp>
        <p:nvCxnSpPr>
          <p:cNvPr id="11" name="MH_Other_7">
            <a:extLst>
              <a:ext uri="{FF2B5EF4-FFF2-40B4-BE49-F238E27FC236}">
                <a16:creationId xmlns:a16="http://schemas.microsoft.com/office/drawing/2014/main" id="{DF653FE5-3B26-45B8-A03B-DDBD47BE3AA3}"/>
              </a:ext>
            </a:extLst>
          </p:cNvPr>
          <p:cNvCxnSpPr/>
          <p:nvPr>
            <p:custDataLst>
              <p:tags r:id="rId8"/>
            </p:custDataLst>
          </p:nvPr>
        </p:nvCxnSpPr>
        <p:spPr>
          <a:xfrm>
            <a:off x="2339845" y="4781201"/>
            <a:ext cx="0" cy="530225"/>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sp>
        <p:nvSpPr>
          <p:cNvPr id="12" name="MH_SubTitle_4">
            <a:extLst>
              <a:ext uri="{FF2B5EF4-FFF2-40B4-BE49-F238E27FC236}">
                <a16:creationId xmlns:a16="http://schemas.microsoft.com/office/drawing/2014/main" id="{906C2589-D3EE-4ADE-A5EC-65B915A21062}"/>
              </a:ext>
            </a:extLst>
          </p:cNvPr>
          <p:cNvSpPr>
            <a:spLocks noChangeArrowheads="1"/>
          </p:cNvSpPr>
          <p:nvPr>
            <p:custDataLst>
              <p:tags r:id="rId9"/>
            </p:custDataLst>
          </p:nvPr>
        </p:nvSpPr>
        <p:spPr bwMode="gray">
          <a:xfrm>
            <a:off x="1763688" y="5325322"/>
            <a:ext cx="1158875" cy="354012"/>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spc="150" dirty="0">
                <a:solidFill>
                  <a:schemeClr val="bg1"/>
                </a:solidFill>
                <a:latin typeface="微软雅黑" panose="020B0503020204020204" pitchFamily="34" charset="-122"/>
                <a:ea typeface="微软雅黑" panose="020B0503020204020204" pitchFamily="34" charset="-122"/>
              </a:rPr>
              <a:t>五</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sp>
        <p:nvSpPr>
          <p:cNvPr id="13" name="文本框 12"/>
          <p:cNvSpPr txBox="1"/>
          <p:nvPr/>
        </p:nvSpPr>
        <p:spPr>
          <a:xfrm>
            <a:off x="2843880" y="1748347"/>
            <a:ext cx="3752857" cy="461665"/>
          </a:xfrm>
          <a:prstGeom prst="rect">
            <a:avLst/>
          </a:prstGeom>
          <a:noFill/>
        </p:spPr>
        <p:txBody>
          <a:bodyPr wrap="square" rtlCol="0">
            <a:spAutoFit/>
          </a:bodyPr>
          <a:lstStyle/>
          <a:p>
            <a:pPr marL="742950" lvl="1" indent="-285750" eaLnBrk="1" hangingPunct="1"/>
            <a:r>
              <a:rPr lang="zh-CN" altLang="en-US" sz="2400" b="0" dirty="0">
                <a:latin typeface="微软雅黑" panose="020B0503020204020204" pitchFamily="34" charset="-122"/>
                <a:ea typeface="微软雅黑" panose="020B0503020204020204" pitchFamily="34" charset="-122"/>
              </a:rPr>
              <a:t>寡头的含义及其特征</a:t>
            </a:r>
          </a:p>
        </p:txBody>
      </p:sp>
      <p:sp>
        <p:nvSpPr>
          <p:cNvPr id="15" name="文本框 14"/>
          <p:cNvSpPr txBox="1"/>
          <p:nvPr/>
        </p:nvSpPr>
        <p:spPr>
          <a:xfrm>
            <a:off x="3275910" y="2583055"/>
            <a:ext cx="2009345" cy="707886"/>
          </a:xfrm>
          <a:prstGeom prst="rect">
            <a:avLst/>
          </a:prstGeom>
          <a:noFill/>
        </p:spPr>
        <p:txBody>
          <a:bodyPr wrap="square" rtlCol="0">
            <a:spAutoFit/>
          </a:bodyPr>
          <a:lstStyle/>
          <a:p>
            <a:pPr marL="0" lvl="1"/>
            <a:r>
              <a:rPr lang="zh-CN" altLang="en-US" sz="2400" b="0" dirty="0">
                <a:latin typeface="微软雅黑" panose="020B0503020204020204" pitchFamily="34" charset="-122"/>
                <a:ea typeface="微软雅黑" panose="020B0503020204020204" pitchFamily="34" charset="-122"/>
              </a:rPr>
              <a:t>古诺模型</a:t>
            </a:r>
            <a:endParaRPr lang="en-US" altLang="zh-CN" sz="2400" b="0" dirty="0">
              <a:latin typeface="微软雅黑" panose="020B0503020204020204" pitchFamily="34" charset="-122"/>
              <a:ea typeface="微软雅黑" panose="020B0503020204020204" pitchFamily="34" charset="-122"/>
            </a:endParaRPr>
          </a:p>
          <a:p>
            <a:endParaRPr lang="zh-CN" altLang="en-US" dirty="0"/>
          </a:p>
        </p:txBody>
      </p:sp>
      <p:sp>
        <p:nvSpPr>
          <p:cNvPr id="16" name="文本框 15"/>
          <p:cNvSpPr txBox="1"/>
          <p:nvPr/>
        </p:nvSpPr>
        <p:spPr>
          <a:xfrm>
            <a:off x="3259516" y="3468086"/>
            <a:ext cx="2031325" cy="461665"/>
          </a:xfrm>
          <a:prstGeom prst="rect">
            <a:avLst/>
          </a:prstGeom>
          <a:noFill/>
        </p:spPr>
        <p:txBody>
          <a:bodyPr wrap="none" rtlCol="0">
            <a:spAutoFit/>
          </a:bodyPr>
          <a:lstStyle/>
          <a:p>
            <a:pPr marL="0" lvl="1"/>
            <a:r>
              <a:rPr lang="zh-CN" altLang="en-US" sz="2400" b="0" dirty="0">
                <a:latin typeface="微软雅黑" panose="020B0503020204020204" pitchFamily="34" charset="-122"/>
                <a:ea typeface="微软雅黑" panose="020B0503020204020204" pitchFamily="34" charset="-122"/>
              </a:rPr>
              <a:t>价格领袖模型</a:t>
            </a:r>
          </a:p>
        </p:txBody>
      </p:sp>
      <p:sp>
        <p:nvSpPr>
          <p:cNvPr id="17" name="文本框 16"/>
          <p:cNvSpPr txBox="1"/>
          <p:nvPr/>
        </p:nvSpPr>
        <p:spPr>
          <a:xfrm>
            <a:off x="3275910" y="4387258"/>
            <a:ext cx="1723549" cy="461665"/>
          </a:xfrm>
          <a:prstGeom prst="rect">
            <a:avLst/>
          </a:prstGeom>
          <a:noFill/>
        </p:spPr>
        <p:txBody>
          <a:bodyPr wrap="none" rtlCol="0">
            <a:spAutoFit/>
          </a:bodyPr>
          <a:lstStyle/>
          <a:p>
            <a:pPr marL="0" lvl="1"/>
            <a:r>
              <a:rPr lang="zh-CN" altLang="en-US" sz="2400" b="0" dirty="0">
                <a:latin typeface="微软雅黑" panose="020B0503020204020204" pitchFamily="34" charset="-122"/>
                <a:ea typeface="微软雅黑" panose="020B0503020204020204" pitchFamily="34" charset="-122"/>
              </a:rPr>
              <a:t>斯威齐模型</a:t>
            </a:r>
            <a:endParaRPr lang="en-US" altLang="zh-CN" sz="2400" b="0" dirty="0">
              <a:latin typeface="微软雅黑" panose="020B0503020204020204" pitchFamily="34" charset="-122"/>
              <a:ea typeface="微软雅黑" panose="020B0503020204020204" pitchFamily="34" charset="-122"/>
            </a:endParaRPr>
          </a:p>
        </p:txBody>
      </p:sp>
      <p:sp>
        <p:nvSpPr>
          <p:cNvPr id="18" name="文本框 17"/>
          <p:cNvSpPr txBox="1"/>
          <p:nvPr/>
        </p:nvSpPr>
        <p:spPr>
          <a:xfrm>
            <a:off x="3253930" y="5271495"/>
            <a:ext cx="2031325" cy="461665"/>
          </a:xfrm>
          <a:prstGeom prst="rect">
            <a:avLst/>
          </a:prstGeom>
          <a:noFill/>
        </p:spPr>
        <p:txBody>
          <a:bodyPr wrap="none" rtlCol="0">
            <a:spAutoFit/>
          </a:bodyPr>
          <a:lstStyle/>
          <a:p>
            <a:pPr marL="0" lvl="1"/>
            <a:r>
              <a:rPr lang="zh-CN" altLang="en-US" sz="2400" b="0" dirty="0">
                <a:latin typeface="微软雅黑" panose="020B0503020204020204" pitchFamily="34" charset="-122"/>
                <a:ea typeface="微软雅黑" panose="020B0503020204020204" pitchFamily="34" charset="-122"/>
              </a:rPr>
              <a:t>勾结和卡特尔</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withEffect">
                                  <p:stCondLst>
                                    <p:cond delay="0"/>
                                  </p:stCondLst>
                                  <p:childTnLst>
                                    <p:set>
                                      <p:cBhvr>
                                        <p:cTn id="6" dur="1" fill="hold">
                                          <p:stCondLst>
                                            <p:cond delay="0"/>
                                          </p:stCondLst>
                                        </p:cTn>
                                        <p:tgtEl>
                                          <p:spTgt spid="37890">
                                            <p:txEl>
                                              <p:pRg st="0" end="0"/>
                                            </p:txEl>
                                          </p:spTgt>
                                        </p:tgtEl>
                                        <p:attrNameLst>
                                          <p:attrName>style.visibility</p:attrName>
                                        </p:attrNameLst>
                                      </p:cBhvr>
                                      <p:to>
                                        <p:strVal val="visible"/>
                                      </p:to>
                                    </p:set>
                                    <p:anim calcmode="lin" valueType="num">
                                      <p:cBhvr>
                                        <p:cTn id="7" dur="500" fill="hold"/>
                                        <p:tgtEl>
                                          <p:spTgt spid="37890">
                                            <p:txEl>
                                              <p:pRg st="0" end="0"/>
                                            </p:txEl>
                                          </p:spTgt>
                                        </p:tgtEl>
                                        <p:attrNameLst>
                                          <p:attrName>ppt_x</p:attrName>
                                        </p:attrNameLst>
                                      </p:cBhvr>
                                      <p:tavLst>
                                        <p:tav tm="0">
                                          <p:val>
                                            <p:strVal val="0-#ppt_w/2"/>
                                          </p:val>
                                        </p:tav>
                                        <p:tav tm="100000">
                                          <p:val>
                                            <p:strVal val="#ppt_x"/>
                                          </p:val>
                                        </p:tav>
                                      </p:tavLst>
                                    </p:anim>
                                    <p:anim calcmode="lin" valueType="num">
                                      <p:cBhvr>
                                        <p:cTn id="8" dur="500" fill="hold"/>
                                        <p:tgtEl>
                                          <p:spTgt spid="3789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ipe(left)">
                                      <p:cBhvr>
                                        <p:cTn id="13" dur="500"/>
                                        <p:tgtEl>
                                          <p:spTgt spid="4"/>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wipe(down)">
                                      <p:cBhvr>
                                        <p:cTn id="16" dur="500"/>
                                        <p:tgtEl>
                                          <p:spTgt spid="13"/>
                                        </p:tgtEl>
                                      </p:cBhvr>
                                    </p:animEffect>
                                  </p:childTnLst>
                                </p:cTn>
                              </p:par>
                            </p:childTnLst>
                          </p:cTn>
                        </p:par>
                        <p:par>
                          <p:cTn id="17" fill="hold">
                            <p:stCondLst>
                              <p:cond delay="500"/>
                            </p:stCondLst>
                            <p:childTnLst>
                              <p:par>
                                <p:cTn id="18" presetID="22" presetClass="entr" presetSubtype="1" fill="hold" nodeType="after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wipe(up)">
                                      <p:cBhvr>
                                        <p:cTn id="20" dur="500"/>
                                        <p:tgtEl>
                                          <p:spTgt spid="5"/>
                                        </p:tgtEl>
                                      </p:cBhvr>
                                    </p:animEffect>
                                  </p:childTnLst>
                                </p:cTn>
                              </p:par>
                              <p:par>
                                <p:cTn id="21" presetID="22" presetClass="entr" presetSubtype="4"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down)">
                                      <p:cBhvr>
                                        <p:cTn id="23" dur="500"/>
                                        <p:tgtEl>
                                          <p:spTgt spid="15"/>
                                        </p:tgtEl>
                                      </p:cBhvr>
                                    </p:animEffect>
                                  </p:childTnLst>
                                </p:cTn>
                              </p:par>
                              <p:par>
                                <p:cTn id="24" presetID="22" presetClass="entr" presetSubtype="1" fill="hold" grpId="0" nodeType="with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wipe(up)">
                                      <p:cBhvr>
                                        <p:cTn id="26" dur="500"/>
                                        <p:tgtEl>
                                          <p:spTgt spid="6"/>
                                        </p:tgtEl>
                                      </p:cBhvr>
                                    </p:animEffect>
                                  </p:childTnLst>
                                </p:cTn>
                              </p:par>
                            </p:childTnLst>
                          </p:cTn>
                        </p:par>
                        <p:par>
                          <p:cTn id="27" fill="hold">
                            <p:stCondLst>
                              <p:cond delay="1000"/>
                            </p:stCondLst>
                            <p:childTnLst>
                              <p:par>
                                <p:cTn id="28" presetID="22" presetClass="entr" presetSubtype="1" fill="hold" nodeType="after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wipe(up)">
                                      <p:cBhvr>
                                        <p:cTn id="30" dur="500"/>
                                        <p:tgtEl>
                                          <p:spTgt spid="7"/>
                                        </p:tgtEl>
                                      </p:cBhvr>
                                    </p:animEffect>
                                  </p:childTnLst>
                                </p:cTn>
                              </p:par>
                              <p:par>
                                <p:cTn id="31" presetID="22" presetClass="entr" presetSubtype="1" fill="hold" grpId="0" nodeType="with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wipe(up)">
                                      <p:cBhvr>
                                        <p:cTn id="33" dur="500"/>
                                        <p:tgtEl>
                                          <p:spTgt spid="8"/>
                                        </p:tgtEl>
                                      </p:cBhvr>
                                    </p:animEffect>
                                  </p:childTnLst>
                                </p:cTn>
                              </p:par>
                              <p:par>
                                <p:cTn id="34" presetID="22" presetClass="entr" presetSubtype="4"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down)">
                                      <p:cBhvr>
                                        <p:cTn id="36" dur="500"/>
                                        <p:tgtEl>
                                          <p:spTgt spid="16"/>
                                        </p:tgtEl>
                                      </p:cBhvr>
                                    </p:animEffect>
                                  </p:childTnLst>
                                </p:cTn>
                              </p:par>
                            </p:childTnLst>
                          </p:cTn>
                        </p:par>
                        <p:par>
                          <p:cTn id="37" fill="hold">
                            <p:stCondLst>
                              <p:cond delay="1500"/>
                            </p:stCondLst>
                            <p:childTnLst>
                              <p:par>
                                <p:cTn id="38" presetID="22" presetClass="entr" presetSubtype="1" fill="hold" nodeType="after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wipe(up)">
                                      <p:cBhvr>
                                        <p:cTn id="40" dur="500"/>
                                        <p:tgtEl>
                                          <p:spTgt spid="9"/>
                                        </p:tgtEl>
                                      </p:cBhvr>
                                    </p:animEffect>
                                  </p:childTnLst>
                                </p:cTn>
                              </p:par>
                              <p:par>
                                <p:cTn id="41" presetID="22" presetClass="entr" presetSubtype="4"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wipe(down)">
                                      <p:cBhvr>
                                        <p:cTn id="43" dur="500"/>
                                        <p:tgtEl>
                                          <p:spTgt spid="17"/>
                                        </p:tgtEl>
                                      </p:cBhvr>
                                    </p:animEffect>
                                  </p:childTnLst>
                                </p:cTn>
                              </p:par>
                              <p:par>
                                <p:cTn id="44" presetID="22" presetClass="entr" presetSubtype="1" fill="hold" grpId="0" nodeType="with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wipe(up)">
                                      <p:cBhvr>
                                        <p:cTn id="46" dur="500"/>
                                        <p:tgtEl>
                                          <p:spTgt spid="10"/>
                                        </p:tgtEl>
                                      </p:cBhvr>
                                    </p:animEffect>
                                  </p:childTnLst>
                                </p:cTn>
                              </p:par>
                            </p:childTnLst>
                          </p:cTn>
                        </p:par>
                        <p:par>
                          <p:cTn id="47" fill="hold">
                            <p:stCondLst>
                              <p:cond delay="2000"/>
                            </p:stCondLst>
                            <p:childTnLst>
                              <p:par>
                                <p:cTn id="48" presetID="22" presetClass="entr" presetSubtype="1" fill="hold" nodeType="afterEffect">
                                  <p:stCondLst>
                                    <p:cond delay="0"/>
                                  </p:stCondLst>
                                  <p:childTnLst>
                                    <p:set>
                                      <p:cBhvr>
                                        <p:cTn id="49" dur="1" fill="hold">
                                          <p:stCondLst>
                                            <p:cond delay="0"/>
                                          </p:stCondLst>
                                        </p:cTn>
                                        <p:tgtEl>
                                          <p:spTgt spid="11"/>
                                        </p:tgtEl>
                                        <p:attrNameLst>
                                          <p:attrName>style.visibility</p:attrName>
                                        </p:attrNameLst>
                                      </p:cBhvr>
                                      <p:to>
                                        <p:strVal val="visible"/>
                                      </p:to>
                                    </p:set>
                                    <p:animEffect transition="in" filter="wipe(up)">
                                      <p:cBhvr>
                                        <p:cTn id="50" dur="500"/>
                                        <p:tgtEl>
                                          <p:spTgt spid="11"/>
                                        </p:tgtEl>
                                      </p:cBhvr>
                                    </p:animEffect>
                                  </p:childTnLst>
                                </p:cTn>
                              </p:par>
                              <p:par>
                                <p:cTn id="51" presetID="22" presetClass="entr" presetSubtype="1" fill="hold" grpId="0" nodeType="withEffect">
                                  <p:stCondLst>
                                    <p:cond delay="0"/>
                                  </p:stCondLst>
                                  <p:childTnLst>
                                    <p:set>
                                      <p:cBhvr>
                                        <p:cTn id="52" dur="1" fill="hold">
                                          <p:stCondLst>
                                            <p:cond delay="0"/>
                                          </p:stCondLst>
                                        </p:cTn>
                                        <p:tgtEl>
                                          <p:spTgt spid="12"/>
                                        </p:tgtEl>
                                        <p:attrNameLst>
                                          <p:attrName>style.visibility</p:attrName>
                                        </p:attrNameLst>
                                      </p:cBhvr>
                                      <p:to>
                                        <p:strVal val="visible"/>
                                      </p:to>
                                    </p:set>
                                    <p:animEffect transition="in" filter="wipe(up)">
                                      <p:cBhvr>
                                        <p:cTn id="53" dur="500"/>
                                        <p:tgtEl>
                                          <p:spTgt spid="12"/>
                                        </p:tgtEl>
                                      </p:cBhvr>
                                    </p:animEffect>
                                  </p:childTnLst>
                                </p:cTn>
                              </p:par>
                              <p:par>
                                <p:cTn id="54" presetID="22" presetClass="entr" presetSubtype="4" fill="hold" grpId="0" nodeType="withEffect">
                                  <p:stCondLst>
                                    <p:cond delay="0"/>
                                  </p:stCondLst>
                                  <p:childTnLst>
                                    <p:set>
                                      <p:cBhvr>
                                        <p:cTn id="55" dur="1" fill="hold">
                                          <p:stCondLst>
                                            <p:cond delay="0"/>
                                          </p:stCondLst>
                                        </p:cTn>
                                        <p:tgtEl>
                                          <p:spTgt spid="18"/>
                                        </p:tgtEl>
                                        <p:attrNameLst>
                                          <p:attrName>style.visibility</p:attrName>
                                        </p:attrNameLst>
                                      </p:cBhvr>
                                      <p:to>
                                        <p:strVal val="visible"/>
                                      </p:to>
                                    </p:set>
                                    <p:animEffect transition="in" filter="wipe(down)">
                                      <p:cBhvr>
                                        <p:cTn id="56"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8" grpId="0" animBg="1"/>
      <p:bldP spid="10" grpId="0" animBg="1"/>
      <p:bldP spid="12" grpId="0" animBg="1"/>
      <p:bldP spid="13" grpId="0"/>
      <p:bldP spid="15" grpId="0"/>
      <p:bldP spid="16" grpId="0"/>
      <p:bldP spid="17" grpId="0"/>
      <p:bldP spid="18"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3"/>
          <p:cNvSpPr>
            <a:spLocks noGrp="1" noChangeArrowheads="1"/>
          </p:cNvSpPr>
          <p:nvPr>
            <p:ph type="body" idx="4294967295"/>
          </p:nvPr>
        </p:nvSpPr>
        <p:spPr>
          <a:xfrm>
            <a:off x="457200" y="1215198"/>
            <a:ext cx="8229600" cy="2447586"/>
          </a:xfrm>
          <a:ln/>
        </p:spPr>
        <p:txBody>
          <a:bodyPr/>
          <a:lstStyle/>
          <a:p>
            <a:pPr marL="457200" lvl="2" indent="-457200" eaLnBrk="1" hangingPunct="1">
              <a:lnSpc>
                <a:spcPct val="150000"/>
              </a:lnSpc>
              <a:buSzPct val="100000"/>
              <a:buFont typeface="Wingdings" panose="05000000000000000000" pitchFamily="2" charset="2"/>
              <a:buChar char="u"/>
            </a:pPr>
            <a:r>
              <a:rPr lang="zh-CN" altLang="en-US" sz="2200" b="0" dirty="0">
                <a:latin typeface="微软雅黑" panose="020B0503020204020204" pitchFamily="34" charset="-122"/>
                <a:ea typeface="微软雅黑" panose="020B0503020204020204" pitchFamily="34" charset="-122"/>
              </a:rPr>
              <a:t>寡头</a:t>
            </a:r>
            <a:endParaRPr lang="en-US" altLang="zh-CN" sz="2200" b="0" dirty="0">
              <a:latin typeface="微软雅黑" panose="020B0503020204020204" pitchFamily="34" charset="-122"/>
              <a:ea typeface="微软雅黑" panose="020B0503020204020204" pitchFamily="34" charset="-122"/>
            </a:endParaRPr>
          </a:p>
          <a:p>
            <a:pPr marL="742950" lvl="2" indent="-342900" eaLnBrk="1" hangingPunct="1">
              <a:lnSpc>
                <a:spcPct val="150000"/>
              </a:lnSpc>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rPr>
              <a:t>少数几家企业掌握了大部分市场</a:t>
            </a:r>
            <a:r>
              <a:rPr lang="en-US" altLang="zh-CN" sz="2000" b="0" dirty="0">
                <a:latin typeface="微软雅黑" panose="020B0503020204020204" pitchFamily="34" charset="-122"/>
                <a:ea typeface="微软雅黑" panose="020B0503020204020204" pitchFamily="34" charset="-122"/>
                <a:sym typeface="Wingdings" panose="05000000000000000000" pitchFamily="2" charset="2"/>
              </a:rPr>
              <a:t></a:t>
            </a:r>
            <a:r>
              <a:rPr lang="zh-CN" altLang="en-US" sz="2000" b="0" dirty="0">
                <a:latin typeface="微软雅黑" panose="020B0503020204020204" pitchFamily="34" charset="-122"/>
                <a:ea typeface="微软雅黑" panose="020B0503020204020204" pitchFamily="34" charset="-122"/>
                <a:sym typeface="Wingdings" panose="05000000000000000000" pitchFamily="2" charset="2"/>
              </a:rPr>
              <a:t>相互依赖</a:t>
            </a:r>
            <a:endParaRPr lang="en-US" altLang="zh-CN" sz="2000" b="0" dirty="0">
              <a:latin typeface="微软雅黑" panose="020B0503020204020204" pitchFamily="34" charset="-122"/>
              <a:ea typeface="微软雅黑" panose="020B0503020204020204" pitchFamily="34" charset="-122"/>
            </a:endParaRPr>
          </a:p>
          <a:p>
            <a:pPr marL="742950" lvl="2" indent="-342900" eaLnBrk="1" hangingPunct="1">
              <a:lnSpc>
                <a:spcPct val="150000"/>
              </a:lnSpc>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rPr>
              <a:t>可能只有几个寡头，也可能在几个寡头之外还存在众多小厂商</a:t>
            </a:r>
            <a:endParaRPr lang="en-US" altLang="zh-CN" sz="2000" b="0" dirty="0">
              <a:latin typeface="微软雅黑" panose="020B0503020204020204" pitchFamily="34" charset="-122"/>
              <a:ea typeface="微软雅黑" panose="020B0503020204020204" pitchFamily="34" charset="-122"/>
            </a:endParaRPr>
          </a:p>
          <a:p>
            <a:pPr marL="457200" lvl="2" indent="-457200" eaLnBrk="1" hangingPunct="1">
              <a:buFont typeface="Wingdings" panose="05000000000000000000" pitchFamily="2" charset="2"/>
              <a:buChar char="n"/>
            </a:pPr>
            <a:endParaRPr lang="en-US" altLang="zh-CN" sz="2800" dirty="0"/>
          </a:p>
        </p:txBody>
      </p:sp>
      <p:sp>
        <p:nvSpPr>
          <p:cNvPr id="4" name="Rectangle 3"/>
          <p:cNvSpPr txBox="1">
            <a:spLocks noChangeArrowheads="1"/>
          </p:cNvSpPr>
          <p:nvPr/>
        </p:nvSpPr>
        <p:spPr bwMode="auto">
          <a:xfrm>
            <a:off x="512270" y="3068975"/>
            <a:ext cx="8229600" cy="2232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0" rtl="0" eaLnBrk="0" fontAlgn="base" hangingPunct="0">
              <a:spcBef>
                <a:spcPct val="20000"/>
              </a:spcBef>
              <a:spcAft>
                <a:spcPct val="0"/>
              </a:spcAft>
              <a:buChar char="•"/>
              <a:defRPr sz="3200" b="1" kern="1200">
                <a:solidFill>
                  <a:srgbClr val="CC0000"/>
                </a:solidFill>
                <a:latin typeface="+mn-lt"/>
                <a:ea typeface="+mn-ea"/>
                <a:cs typeface="+mn-cs"/>
                <a:sym typeface="Arial" panose="020B0604020202020204" pitchFamily="34" charset="0"/>
              </a:defRPr>
            </a:lvl1pPr>
            <a:lvl2pPr marL="742950" indent="-285750" algn="l" defTabSz="0" rtl="0" eaLnBrk="0" fontAlgn="base" hangingPunct="0">
              <a:spcBef>
                <a:spcPct val="20000"/>
              </a:spcBef>
              <a:spcAft>
                <a:spcPct val="0"/>
              </a:spcAft>
              <a:buChar char="–"/>
              <a:defRPr sz="2800" b="1" kern="1200">
                <a:solidFill>
                  <a:schemeClr val="tx1"/>
                </a:solidFill>
                <a:latin typeface="+mn-lt"/>
                <a:ea typeface="+mn-ea"/>
                <a:cs typeface="+mn-cs"/>
                <a:sym typeface="Arial" panose="020B0604020202020204" pitchFamily="34" charset="0"/>
              </a:defRPr>
            </a:lvl2pPr>
            <a:lvl3pPr marL="1143000" indent="-228600" algn="l" defTabSz="0" rtl="0" eaLnBrk="0" fontAlgn="base" hangingPunct="0">
              <a:spcBef>
                <a:spcPct val="20000"/>
              </a:spcBef>
              <a:spcAft>
                <a:spcPct val="0"/>
              </a:spcAft>
              <a:buChar char="•"/>
              <a:defRPr sz="2400" b="1" kern="1200">
                <a:solidFill>
                  <a:schemeClr val="tx1"/>
                </a:solidFill>
                <a:latin typeface="+mn-lt"/>
                <a:ea typeface="+mn-ea"/>
                <a:cs typeface="+mn-cs"/>
                <a:sym typeface="Arial" panose="020B0604020202020204" pitchFamily="34" charset="0"/>
              </a:defRPr>
            </a:lvl3pPr>
            <a:lvl4pPr marL="1600200" indent="-228600" algn="l" defTabSz="0" rtl="0" eaLnBrk="0" fontAlgn="base" hangingPunct="0">
              <a:spcBef>
                <a:spcPct val="20000"/>
              </a:spcBef>
              <a:spcAft>
                <a:spcPct val="0"/>
              </a:spcAft>
              <a:buChar char="–"/>
              <a:defRPr sz="2000" b="1" kern="1200">
                <a:solidFill>
                  <a:schemeClr val="tx1"/>
                </a:solidFill>
                <a:latin typeface="+mn-lt"/>
                <a:ea typeface="+mn-ea"/>
                <a:cs typeface="+mn-cs"/>
                <a:sym typeface="Arial" panose="020B0604020202020204" pitchFamily="34" charset="0"/>
              </a:defRPr>
            </a:lvl4pPr>
            <a:lvl5pPr marL="2057400" indent="-228600" algn="l" defTabSz="0" rtl="0" eaLnBrk="0" fontAlgn="base" hangingPunct="0">
              <a:spcBef>
                <a:spcPct val="20000"/>
              </a:spcBef>
              <a:spcAft>
                <a:spcPct val="0"/>
              </a:spcAft>
              <a:buChar char="»"/>
              <a:defRPr sz="2000" b="1" kern="1200">
                <a:solidFill>
                  <a:schemeClr val="tx1"/>
                </a:solidFill>
                <a:latin typeface="+mn-lt"/>
                <a:ea typeface="+mn-ea"/>
                <a:cs typeface="+mn-cs"/>
                <a:sym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2" indent="-457200" eaLnBrk="1" hangingPunct="1">
              <a:lnSpc>
                <a:spcPct val="150000"/>
              </a:lnSpc>
              <a:buSzPct val="100000"/>
              <a:buFont typeface="Wingdings" panose="05000000000000000000" pitchFamily="2" charset="2"/>
              <a:buChar char="u"/>
            </a:pPr>
            <a:r>
              <a:rPr lang="zh-CN" altLang="en-US" sz="2200" b="0" dirty="0">
                <a:latin typeface="微软雅黑" panose="020B0503020204020204" pitchFamily="34" charset="-122"/>
                <a:ea typeface="微软雅黑" panose="020B0503020204020204" pitchFamily="34" charset="-122"/>
              </a:rPr>
              <a:t>寡头的原因：</a:t>
            </a:r>
            <a:endParaRPr lang="en-US" altLang="zh-CN" sz="2200" b="0" dirty="0">
              <a:latin typeface="微软雅黑" panose="020B0503020204020204" pitchFamily="34" charset="-122"/>
              <a:ea typeface="微软雅黑" panose="020B0503020204020204" pitchFamily="34" charset="-122"/>
            </a:endParaRPr>
          </a:p>
          <a:p>
            <a:pPr marL="742950" lvl="2" indent="-342900" eaLnBrk="1" hangingPunct="1">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rPr>
              <a:t>资源控制</a:t>
            </a:r>
            <a:endParaRPr lang="en-US" altLang="zh-CN" sz="2000" b="0" dirty="0">
              <a:latin typeface="微软雅黑" panose="020B0503020204020204" pitchFamily="34" charset="-122"/>
              <a:ea typeface="微软雅黑" panose="020B0503020204020204" pitchFamily="34" charset="-122"/>
            </a:endParaRPr>
          </a:p>
          <a:p>
            <a:pPr marL="742950" lvl="2" indent="-342900" eaLnBrk="1" hangingPunct="1">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rPr>
              <a:t>政府特许</a:t>
            </a:r>
            <a:endParaRPr lang="en-US" altLang="zh-CN" sz="2000" b="0" dirty="0">
              <a:latin typeface="微软雅黑" panose="020B0503020204020204" pitchFamily="34" charset="-122"/>
              <a:ea typeface="微软雅黑" panose="020B0503020204020204" pitchFamily="34" charset="-122"/>
            </a:endParaRPr>
          </a:p>
          <a:p>
            <a:pPr marL="742950" lvl="2" indent="-342900" eaLnBrk="1" hangingPunct="1">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rPr>
              <a:t>专利技术</a:t>
            </a:r>
            <a:endParaRPr lang="en-US" altLang="zh-CN" sz="2000" b="0" dirty="0">
              <a:latin typeface="微软雅黑" panose="020B0503020204020204" pitchFamily="34" charset="-122"/>
              <a:ea typeface="微软雅黑" panose="020B0503020204020204" pitchFamily="34" charset="-122"/>
            </a:endParaRPr>
          </a:p>
          <a:p>
            <a:pPr marL="742950" lvl="2" indent="-342900" eaLnBrk="1" hangingPunct="1">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rPr>
              <a:t>规模经济</a:t>
            </a:r>
            <a:endParaRPr lang="en-US" altLang="zh-CN" sz="2000" b="0" dirty="0">
              <a:latin typeface="微软雅黑" panose="020B0503020204020204" pitchFamily="34" charset="-122"/>
              <a:ea typeface="微软雅黑" panose="020B0503020204020204" pitchFamily="34" charset="-122"/>
            </a:endParaRPr>
          </a:p>
        </p:txBody>
      </p:sp>
      <p:sp>
        <p:nvSpPr>
          <p:cNvPr id="3" name="矩形 2"/>
          <p:cNvSpPr/>
          <p:nvPr/>
        </p:nvSpPr>
        <p:spPr>
          <a:xfrm>
            <a:off x="4067965" y="3521329"/>
            <a:ext cx="2901230" cy="2000548"/>
          </a:xfrm>
          <a:prstGeom prst="rect">
            <a:avLst/>
          </a:prstGeom>
          <a:noFill/>
          <a:ln>
            <a:noFill/>
          </a:ln>
        </p:spPr>
        <p:style>
          <a:lnRef idx="3">
            <a:schemeClr val="lt1"/>
          </a:lnRef>
          <a:fillRef idx="1">
            <a:schemeClr val="accent1"/>
          </a:fillRef>
          <a:effectRef idx="1">
            <a:schemeClr val="accent1"/>
          </a:effectRef>
          <a:fontRef idx="minor">
            <a:schemeClr val="lt1"/>
          </a:fontRef>
        </p:style>
        <p:txBody>
          <a:bodyPr wrap="square">
            <a:spAutoFit/>
          </a:bodyPr>
          <a:lstStyle/>
          <a:p>
            <a:pPr marL="457200" indent="-457200" eaLnBrk="1" hangingPunct="1">
              <a:lnSpc>
                <a:spcPts val="3000"/>
              </a:lnSpc>
              <a:buSzPct val="100000"/>
            </a:pPr>
            <a:r>
              <a:rPr lang="zh-CN" altLang="en-US" sz="2200"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     寡头的例子：</a:t>
            </a:r>
            <a:endParaRPr lang="en-US" altLang="zh-CN" sz="2200" b="0" dirty="0">
              <a:solidFill>
                <a:schemeClr val="tx1"/>
              </a:solidFill>
              <a:latin typeface="微软雅黑" panose="020B0503020204020204" pitchFamily="34" charset="-122"/>
              <a:ea typeface="微软雅黑" panose="020B0503020204020204" pitchFamily="34" charset="-122"/>
              <a:sym typeface="Arial" panose="020B0604020202020204" pitchFamily="34" charset="0"/>
            </a:endParaRPr>
          </a:p>
          <a:p>
            <a:pPr marL="914400" lvl="1" indent="-457200" eaLnBrk="1" hangingPunct="1">
              <a:lnSpc>
                <a:spcPts val="3000"/>
              </a:lnSpc>
              <a:buSzPct val="100000"/>
            </a:pPr>
            <a:r>
              <a:rPr lang="zh-CN" altLang="en-US" sz="2000"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汽车生产商</a:t>
            </a:r>
            <a:endParaRPr lang="en-US" altLang="zh-CN" sz="2000" b="0" dirty="0">
              <a:solidFill>
                <a:schemeClr val="tx1"/>
              </a:solidFill>
              <a:latin typeface="微软雅黑" panose="020B0503020204020204" pitchFamily="34" charset="-122"/>
              <a:ea typeface="微软雅黑" panose="020B0503020204020204" pitchFamily="34" charset="-122"/>
              <a:sym typeface="Arial" panose="020B0604020202020204" pitchFamily="34" charset="0"/>
            </a:endParaRPr>
          </a:p>
          <a:p>
            <a:pPr marL="914400" lvl="1" indent="-457200" eaLnBrk="1" hangingPunct="1">
              <a:lnSpc>
                <a:spcPts val="3000"/>
              </a:lnSpc>
              <a:buSzPct val="100000"/>
            </a:pPr>
            <a:r>
              <a:rPr lang="zh-CN" altLang="en-US" sz="2000"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水泥生产商</a:t>
            </a:r>
            <a:endParaRPr lang="en-US" altLang="zh-CN" sz="2000" b="0" dirty="0">
              <a:solidFill>
                <a:schemeClr val="tx1"/>
              </a:solidFill>
              <a:latin typeface="微软雅黑" panose="020B0503020204020204" pitchFamily="34" charset="-122"/>
              <a:ea typeface="微软雅黑" panose="020B0503020204020204" pitchFamily="34" charset="-122"/>
              <a:sym typeface="Arial" panose="020B0604020202020204" pitchFamily="34" charset="0"/>
            </a:endParaRPr>
          </a:p>
          <a:p>
            <a:pPr marL="914400" lvl="1" indent="-457200" eaLnBrk="1" hangingPunct="1">
              <a:lnSpc>
                <a:spcPts val="3000"/>
              </a:lnSpc>
              <a:buSzPct val="100000"/>
            </a:pPr>
            <a:r>
              <a:rPr lang="zh-CN" altLang="en-US" sz="2000"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化工企业</a:t>
            </a:r>
          </a:p>
          <a:p>
            <a:pPr marL="457200" indent="-457200" eaLnBrk="1" hangingPunct="1">
              <a:buSzPct val="100000"/>
            </a:pPr>
            <a:endParaRPr lang="en-US" altLang="zh-CN" sz="2400" dirty="0">
              <a:solidFill>
                <a:schemeClr val="tx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 name="矩形 5"/>
          <p:cNvSpPr/>
          <p:nvPr/>
        </p:nvSpPr>
        <p:spPr>
          <a:xfrm>
            <a:off x="7543092" y="44765"/>
            <a:ext cx="1600908" cy="369332"/>
          </a:xfrm>
          <a:prstGeom prst="rect">
            <a:avLst/>
          </a:prstGeom>
        </p:spPr>
        <p:txBody>
          <a:bodyPr wrap="square">
            <a:spAutoFit/>
          </a:bodyPr>
          <a:lstStyle/>
          <a:p>
            <a:r>
              <a:rPr lang="zh-CN" altLang="en-US" sz="1800" b="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第三节  寡头</a:t>
            </a:r>
            <a:endParaRPr lang="zh-CN" altLang="en-US" sz="18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7" name="矩形 6">
            <a:extLst>
              <a:ext uri="{FF2B5EF4-FFF2-40B4-BE49-F238E27FC236}">
                <a16:creationId xmlns:a16="http://schemas.microsoft.com/office/drawing/2014/main" id="{F68E5273-CD77-47B9-B841-9D29349C133D}"/>
              </a:ext>
            </a:extLst>
          </p:cNvPr>
          <p:cNvSpPr/>
          <p:nvPr/>
        </p:nvSpPr>
        <p:spPr>
          <a:xfrm>
            <a:off x="457200" y="548681"/>
            <a:ext cx="4570413"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marL="0" lvl="1">
              <a:defRPr/>
            </a:pPr>
            <a:r>
              <a:rPr lang="zh-CN" altLang="en-US" sz="2400" spc="150" dirty="0">
                <a:solidFill>
                  <a:srgbClr val="FFFFFF"/>
                </a:solidFill>
                <a:latin typeface="微软雅黑" panose="020B0503020204020204" pitchFamily="34" charset="-122"/>
                <a:ea typeface="微软雅黑" panose="020B0503020204020204" pitchFamily="34" charset="-122"/>
              </a:rPr>
              <a:t>一</a:t>
            </a:r>
            <a:r>
              <a:rPr lang="zh-CN" altLang="en-US" sz="2400" b="1" spc="150" dirty="0">
                <a:solidFill>
                  <a:srgbClr val="FFFFFF"/>
                </a:solidFill>
                <a:latin typeface="微软雅黑" panose="020B0503020204020204" pitchFamily="34" charset="-122"/>
                <a:ea typeface="微软雅黑" panose="020B0503020204020204" pitchFamily="34" charset="-122"/>
              </a:rPr>
              <a:t>、</a:t>
            </a:r>
            <a:r>
              <a:rPr lang="zh-CN" altLang="en-US" sz="2400" spc="15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寡头的含义及其特征</a:t>
            </a:r>
            <a:endParaRPr lang="zh-CN" altLang="en-US" sz="2400" spc="150" dirty="0">
              <a:solidFill>
                <a:srgbClr val="FFFFFF"/>
              </a:solidFill>
              <a:latin typeface="微软雅黑" panose="020B0503020204020204" pitchFamily="34" charset="-122"/>
              <a:ea typeface="微软雅黑" panose="020B0503020204020204" pitchFamily="34" charset="-122"/>
            </a:endParaRPr>
          </a:p>
        </p:txBody>
      </p:sp>
      <p:grpSp>
        <p:nvGrpSpPr>
          <p:cNvPr id="8" name="组合 7">
            <a:extLst>
              <a:ext uri="{FF2B5EF4-FFF2-40B4-BE49-F238E27FC236}">
                <a16:creationId xmlns:a16="http://schemas.microsoft.com/office/drawing/2014/main" id="{5BC8FBFB-90C5-4D91-A513-C7398E054A1B}"/>
              </a:ext>
            </a:extLst>
          </p:cNvPr>
          <p:cNvGrpSpPr/>
          <p:nvPr/>
        </p:nvGrpSpPr>
        <p:grpSpPr>
          <a:xfrm>
            <a:off x="457200" y="5516561"/>
            <a:ext cx="8229600" cy="400110"/>
            <a:chOff x="457200" y="5516561"/>
            <a:chExt cx="8229600" cy="400110"/>
          </a:xfrm>
        </p:grpSpPr>
        <p:sp>
          <p:nvSpPr>
            <p:cNvPr id="5" name="流程图: 过程 4">
              <a:extLst>
                <a:ext uri="{FF2B5EF4-FFF2-40B4-BE49-F238E27FC236}">
                  <a16:creationId xmlns:a16="http://schemas.microsoft.com/office/drawing/2014/main" id="{C9B68544-131F-441C-A32F-96ECC2C49C94}"/>
                </a:ext>
              </a:extLst>
            </p:cNvPr>
            <p:cNvSpPr/>
            <p:nvPr/>
          </p:nvSpPr>
          <p:spPr bwMode="auto">
            <a:xfrm>
              <a:off x="457200" y="5516561"/>
              <a:ext cx="8229600" cy="400110"/>
            </a:xfrm>
            <a:prstGeom prst="flowChartProcess">
              <a:avLst/>
            </a:prstGeom>
            <a:solidFill>
              <a:srgbClr val="C00000"/>
            </a:solid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2" name="文本框 1"/>
            <p:cNvSpPr txBox="1"/>
            <p:nvPr/>
          </p:nvSpPr>
          <p:spPr>
            <a:xfrm>
              <a:off x="495403" y="5516561"/>
              <a:ext cx="8153194" cy="400110"/>
            </a:xfrm>
            <a:prstGeom prst="rect">
              <a:avLst/>
            </a:prstGeom>
            <a:noFill/>
          </p:spPr>
          <p:txBody>
            <a:bodyPr wrap="none" rtlCol="0">
              <a:spAutoFit/>
            </a:bodyPr>
            <a:lstStyle/>
            <a:p>
              <a:r>
                <a:rPr lang="zh-CN" altLang="en-US" sz="2000" b="0" dirty="0">
                  <a:solidFill>
                    <a:schemeClr val="bg1"/>
                  </a:solidFill>
                  <a:latin typeface="微软雅黑" panose="020B0503020204020204" pitchFamily="34" charset="-122"/>
                  <a:ea typeface="微软雅黑" panose="020B0503020204020204" pitchFamily="34" charset="-122"/>
                </a:rPr>
                <a:t>市场容量有限和规模经济对生产规模的要求</a:t>
              </a:r>
              <a:r>
                <a:rPr lang="en-US" altLang="zh-CN" sz="2000" b="0" dirty="0">
                  <a:solidFill>
                    <a:schemeClr val="bg1"/>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z="2000" b="0" dirty="0">
                  <a:solidFill>
                    <a:schemeClr val="bg1"/>
                  </a:solidFill>
                  <a:latin typeface="微软雅黑" panose="020B0503020204020204" pitchFamily="34" charset="-122"/>
                  <a:ea typeface="微软雅黑" panose="020B0503020204020204" pitchFamily="34" charset="-122"/>
                  <a:sym typeface="Wingdings" panose="05000000000000000000" pitchFamily="2" charset="2"/>
                </a:rPr>
                <a:t>市场上只能存在少量企业</a:t>
              </a:r>
              <a:endParaRPr lang="zh-CN" altLang="en-US" sz="2000" b="0" dirty="0">
                <a:solidFill>
                  <a:schemeClr val="bg1"/>
                </a:solidFill>
                <a:latin typeface="微软雅黑" panose="020B0503020204020204" pitchFamily="34" charset="-122"/>
                <a:ea typeface="微软雅黑" panose="020B0503020204020204" pitchFamily="34" charset="-122"/>
              </a:endParaRPr>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9" fill="hold" nodeType="clickEffect">
                                  <p:stCondLst>
                                    <p:cond delay="0"/>
                                  </p:stCondLst>
                                  <p:childTnLst>
                                    <p:set>
                                      <p:cBhvr>
                                        <p:cTn id="6" dur="1" fill="hold">
                                          <p:stCondLst>
                                            <p:cond delay="0"/>
                                          </p:stCondLst>
                                        </p:cTn>
                                        <p:tgtEl>
                                          <p:spTgt spid="38914">
                                            <p:txEl>
                                              <p:pRg st="0" end="0"/>
                                            </p:txEl>
                                          </p:spTgt>
                                        </p:tgtEl>
                                        <p:attrNameLst>
                                          <p:attrName>style.visibility</p:attrName>
                                        </p:attrNameLst>
                                      </p:cBhvr>
                                      <p:to>
                                        <p:strVal val="visible"/>
                                      </p:to>
                                    </p:set>
                                    <p:anim calcmode="lin" valueType="num">
                                      <p:cBhvr>
                                        <p:cTn id="7" dur="500" fill="hold"/>
                                        <p:tgtEl>
                                          <p:spTgt spid="38914">
                                            <p:txEl>
                                              <p:pRg st="0" end="0"/>
                                            </p:txEl>
                                          </p:spTgt>
                                        </p:tgtEl>
                                        <p:attrNameLst>
                                          <p:attrName>ppt_x</p:attrName>
                                        </p:attrNameLst>
                                      </p:cBhvr>
                                      <p:tavLst>
                                        <p:tav tm="0">
                                          <p:val>
                                            <p:strVal val="0-#ppt_w/2"/>
                                          </p:val>
                                        </p:tav>
                                        <p:tav tm="100000">
                                          <p:val>
                                            <p:strVal val="#ppt_x"/>
                                          </p:val>
                                        </p:tav>
                                      </p:tavLst>
                                    </p:anim>
                                    <p:anim calcmode="lin" valueType="num">
                                      <p:cBhvr>
                                        <p:cTn id="8" dur="500" fill="hold"/>
                                        <p:tgtEl>
                                          <p:spTgt spid="38914">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9" fill="hold" nodeType="clickEffect">
                                  <p:stCondLst>
                                    <p:cond delay="0"/>
                                  </p:stCondLst>
                                  <p:childTnLst>
                                    <p:set>
                                      <p:cBhvr>
                                        <p:cTn id="12" dur="1" fill="hold">
                                          <p:stCondLst>
                                            <p:cond delay="0"/>
                                          </p:stCondLst>
                                        </p:cTn>
                                        <p:tgtEl>
                                          <p:spTgt spid="38914">
                                            <p:txEl>
                                              <p:pRg st="1" end="1"/>
                                            </p:txEl>
                                          </p:spTgt>
                                        </p:tgtEl>
                                        <p:attrNameLst>
                                          <p:attrName>style.visibility</p:attrName>
                                        </p:attrNameLst>
                                      </p:cBhvr>
                                      <p:to>
                                        <p:strVal val="visible"/>
                                      </p:to>
                                    </p:set>
                                    <p:anim calcmode="lin" valueType="num">
                                      <p:cBhvr>
                                        <p:cTn id="13" dur="500" fill="hold"/>
                                        <p:tgtEl>
                                          <p:spTgt spid="38914">
                                            <p:txEl>
                                              <p:pRg st="1" end="1"/>
                                            </p:txEl>
                                          </p:spTgt>
                                        </p:tgtEl>
                                        <p:attrNameLst>
                                          <p:attrName>ppt_x</p:attrName>
                                        </p:attrNameLst>
                                      </p:cBhvr>
                                      <p:tavLst>
                                        <p:tav tm="0">
                                          <p:val>
                                            <p:strVal val="0-#ppt_w/2"/>
                                          </p:val>
                                        </p:tav>
                                        <p:tav tm="100000">
                                          <p:val>
                                            <p:strVal val="#ppt_x"/>
                                          </p:val>
                                        </p:tav>
                                      </p:tavLst>
                                    </p:anim>
                                    <p:anim calcmode="lin" valueType="num">
                                      <p:cBhvr>
                                        <p:cTn id="14" dur="500" fill="hold"/>
                                        <p:tgtEl>
                                          <p:spTgt spid="38914">
                                            <p:txEl>
                                              <p:pRg st="1" end="1"/>
                                            </p:txEl>
                                          </p:spTgt>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9" fill="hold" nodeType="clickEffect">
                                  <p:stCondLst>
                                    <p:cond delay="0"/>
                                  </p:stCondLst>
                                  <p:childTnLst>
                                    <p:set>
                                      <p:cBhvr>
                                        <p:cTn id="18" dur="1" fill="hold">
                                          <p:stCondLst>
                                            <p:cond delay="0"/>
                                          </p:stCondLst>
                                        </p:cTn>
                                        <p:tgtEl>
                                          <p:spTgt spid="38914">
                                            <p:txEl>
                                              <p:pRg st="2" end="2"/>
                                            </p:txEl>
                                          </p:spTgt>
                                        </p:tgtEl>
                                        <p:attrNameLst>
                                          <p:attrName>style.visibility</p:attrName>
                                        </p:attrNameLst>
                                      </p:cBhvr>
                                      <p:to>
                                        <p:strVal val="visible"/>
                                      </p:to>
                                    </p:set>
                                    <p:anim calcmode="lin" valueType="num">
                                      <p:cBhvr>
                                        <p:cTn id="19" dur="500" fill="hold"/>
                                        <p:tgtEl>
                                          <p:spTgt spid="38914">
                                            <p:txEl>
                                              <p:pRg st="2" end="2"/>
                                            </p:txEl>
                                          </p:spTgt>
                                        </p:tgtEl>
                                        <p:attrNameLst>
                                          <p:attrName>ppt_x</p:attrName>
                                        </p:attrNameLst>
                                      </p:cBhvr>
                                      <p:tavLst>
                                        <p:tav tm="0">
                                          <p:val>
                                            <p:strVal val="0-#ppt_w/2"/>
                                          </p:val>
                                        </p:tav>
                                        <p:tav tm="100000">
                                          <p:val>
                                            <p:strVal val="#ppt_x"/>
                                          </p:val>
                                        </p:tav>
                                      </p:tavLst>
                                    </p:anim>
                                    <p:anim calcmode="lin" valueType="num">
                                      <p:cBhvr>
                                        <p:cTn id="20" dur="500" fill="hold"/>
                                        <p:tgtEl>
                                          <p:spTgt spid="38914">
                                            <p:txEl>
                                              <p:pRg st="2" end="2"/>
                                            </p:txEl>
                                          </p:spTgt>
                                        </p:tgtEl>
                                        <p:attrNameLst>
                                          <p:attrName>ppt_y</p:attrName>
                                        </p:attrNameLst>
                                      </p:cBhvr>
                                      <p:tavLst>
                                        <p:tav tm="0">
                                          <p:val>
                                            <p:strVal val="0-#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0" end="0"/>
                                            </p:txEl>
                                          </p:spTgt>
                                        </p:tgtEl>
                                        <p:attrNameLst>
                                          <p:attrName>style.visibility</p:attrName>
                                        </p:attrNameLst>
                                      </p:cBhvr>
                                      <p:to>
                                        <p:strVal val="visible"/>
                                      </p:to>
                                    </p:set>
                                    <p:anim calcmode="lin" valueType="num">
                                      <p:cBhvr additive="base">
                                        <p:cTn id="25"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4">
                                            <p:txEl>
                                              <p:pRg st="1" end="1"/>
                                            </p:txEl>
                                          </p:spTgt>
                                        </p:tgtEl>
                                        <p:attrNameLst>
                                          <p:attrName>style.visibility</p:attrName>
                                        </p:attrNameLst>
                                      </p:cBhvr>
                                      <p:to>
                                        <p:strVal val="visible"/>
                                      </p:to>
                                    </p:set>
                                    <p:animEffect>
                                      <p:cBhvr>
                                        <p:cTn id="31" dur="500"/>
                                        <p:tgtEl>
                                          <p:spTgt spid="4">
                                            <p:txEl>
                                              <p:pRg st="1" end="1"/>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4">
                                            <p:txEl>
                                              <p:pRg st="2" end="2"/>
                                            </p:txEl>
                                          </p:spTgt>
                                        </p:tgtEl>
                                        <p:attrNameLst>
                                          <p:attrName>style.visibility</p:attrName>
                                        </p:attrNameLst>
                                      </p:cBhvr>
                                      <p:to>
                                        <p:strVal val="visible"/>
                                      </p:to>
                                    </p:set>
                                    <p:animEffect>
                                      <p:cBhvr>
                                        <p:cTn id="36" dur="500"/>
                                        <p:tgtEl>
                                          <p:spTgt spid="4">
                                            <p:txEl>
                                              <p:pRg st="2" end="2"/>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nodeType="clickEffect">
                                  <p:stCondLst>
                                    <p:cond delay="0"/>
                                  </p:stCondLst>
                                  <p:childTnLst>
                                    <p:set>
                                      <p:cBhvr>
                                        <p:cTn id="40" dur="1" fill="hold">
                                          <p:stCondLst>
                                            <p:cond delay="0"/>
                                          </p:stCondLst>
                                        </p:cTn>
                                        <p:tgtEl>
                                          <p:spTgt spid="4">
                                            <p:txEl>
                                              <p:pRg st="3" end="3"/>
                                            </p:txEl>
                                          </p:spTgt>
                                        </p:tgtEl>
                                        <p:attrNameLst>
                                          <p:attrName>style.visibility</p:attrName>
                                        </p:attrNameLst>
                                      </p:cBhvr>
                                      <p:to>
                                        <p:strVal val="visible"/>
                                      </p:to>
                                    </p:set>
                                    <p:animEffect>
                                      <p:cBhvr>
                                        <p:cTn id="41" dur="500"/>
                                        <p:tgtEl>
                                          <p:spTgt spid="4">
                                            <p:txEl>
                                              <p:pRg st="3" end="3"/>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nodeType="clickEffect">
                                  <p:stCondLst>
                                    <p:cond delay="0"/>
                                  </p:stCondLst>
                                  <p:childTnLst>
                                    <p:set>
                                      <p:cBhvr>
                                        <p:cTn id="45" dur="1" fill="hold">
                                          <p:stCondLst>
                                            <p:cond delay="0"/>
                                          </p:stCondLst>
                                        </p:cTn>
                                        <p:tgtEl>
                                          <p:spTgt spid="4">
                                            <p:txEl>
                                              <p:pRg st="4" end="4"/>
                                            </p:txEl>
                                          </p:spTgt>
                                        </p:tgtEl>
                                        <p:attrNameLst>
                                          <p:attrName>style.visibility</p:attrName>
                                        </p:attrNameLst>
                                      </p:cBhvr>
                                      <p:to>
                                        <p:strVal val="visible"/>
                                      </p:to>
                                    </p:set>
                                    <p:animEffect>
                                      <p:cBhvr>
                                        <p:cTn id="46" dur="500"/>
                                        <p:tgtEl>
                                          <p:spTgt spid="4">
                                            <p:txEl>
                                              <p:pRg st="4" end="4"/>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4" presetClass="entr" presetSubtype="10" fill="hold" grpId="0" nodeType="clickEffect">
                                  <p:stCondLst>
                                    <p:cond delay="0"/>
                                  </p:stCondLst>
                                  <p:childTnLst>
                                    <p:set>
                                      <p:cBhvr>
                                        <p:cTn id="50" dur="1" fill="hold">
                                          <p:stCondLst>
                                            <p:cond delay="0"/>
                                          </p:stCondLst>
                                        </p:cTn>
                                        <p:tgtEl>
                                          <p:spTgt spid="3"/>
                                        </p:tgtEl>
                                        <p:attrNameLst>
                                          <p:attrName>style.visibility</p:attrName>
                                        </p:attrNameLst>
                                      </p:cBhvr>
                                      <p:to>
                                        <p:strVal val="visible"/>
                                      </p:to>
                                    </p:set>
                                    <p:animEffect transition="in" filter="randombar(horizontal)">
                                      <p:cBhvr>
                                        <p:cTn id="51" dur="500"/>
                                        <p:tgtEl>
                                          <p:spTgt spid="3"/>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8"/>
                                        </p:tgtEl>
                                        <p:attrNameLst>
                                          <p:attrName>style.visibility</p:attrName>
                                        </p:attrNameLst>
                                      </p:cBhvr>
                                      <p:to>
                                        <p:strVal val="visible"/>
                                      </p:to>
                                    </p:set>
                                    <p:animEffect transition="in" filter="fade">
                                      <p:cBhvr>
                                        <p:cTn id="5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3"/>
          <p:cNvSpPr>
            <a:spLocks noGrp="1" noChangeArrowheads="1"/>
          </p:cNvSpPr>
          <p:nvPr>
            <p:ph type="body" idx="4294967295"/>
          </p:nvPr>
        </p:nvSpPr>
        <p:spPr>
          <a:xfrm>
            <a:off x="457200" y="1340855"/>
            <a:ext cx="8229600" cy="4784725"/>
          </a:xfrm>
          <a:ln/>
        </p:spPr>
        <p:txBody>
          <a:bodyPr/>
          <a:lstStyle/>
          <a:p>
            <a:pPr marL="457200" lvl="2" indent="-457200" eaLnBrk="1" hangingPunct="1">
              <a:lnSpc>
                <a:spcPct val="200000"/>
              </a:lnSpc>
              <a:buSzPct val="100000"/>
              <a:buFont typeface="Wingdings" panose="05000000000000000000" pitchFamily="2" charset="2"/>
              <a:buChar char="u"/>
            </a:pPr>
            <a:r>
              <a:rPr lang="zh-CN" altLang="en-US" sz="2200" b="0" dirty="0">
                <a:latin typeface="微软雅黑" panose="020B0503020204020204" pitchFamily="34" charset="-122"/>
                <a:ea typeface="微软雅黑" panose="020B0503020204020204" pitchFamily="34" charset="-122"/>
              </a:rPr>
              <a:t>寡头的特点：相互依赖</a:t>
            </a:r>
            <a:endParaRPr lang="en-US" altLang="zh-CN" sz="2200" b="0" dirty="0">
              <a:latin typeface="微软雅黑" panose="020B0503020204020204" pitchFamily="34" charset="-122"/>
              <a:ea typeface="微软雅黑" panose="020B0503020204020204" pitchFamily="34" charset="-122"/>
            </a:endParaRPr>
          </a:p>
          <a:p>
            <a:pPr marL="742950" lvl="2" indent="-342900" eaLnBrk="1" hangingPunct="1">
              <a:lnSpc>
                <a:spcPct val="200000"/>
              </a:lnSpc>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rPr>
              <a:t>存在一个连续不断的“影响</a:t>
            </a:r>
            <a:r>
              <a:rPr lang="en-US" altLang="zh-CN" sz="2000" b="0" dirty="0">
                <a:latin typeface="微软雅黑" panose="020B0503020204020204" pitchFamily="34" charset="-122"/>
                <a:ea typeface="微软雅黑" panose="020B0503020204020204" pitchFamily="34" charset="-122"/>
              </a:rPr>
              <a:t>—</a:t>
            </a:r>
            <a:r>
              <a:rPr lang="zh-CN" altLang="en-US" sz="2000" b="0" dirty="0">
                <a:latin typeface="微软雅黑" panose="020B0503020204020204" pitchFamily="34" charset="-122"/>
                <a:ea typeface="微软雅黑" panose="020B0503020204020204" pitchFamily="34" charset="-122"/>
              </a:rPr>
              <a:t>反应”的链条</a:t>
            </a:r>
            <a:r>
              <a:rPr lang="en-US" altLang="zh-CN" sz="2000" b="0" dirty="0">
                <a:latin typeface="微软雅黑" panose="020B0503020204020204" pitchFamily="34" charset="-122"/>
                <a:ea typeface="微软雅黑" panose="020B0503020204020204" pitchFamily="34" charset="-122"/>
              </a:rPr>
              <a:t>, </a:t>
            </a:r>
            <a:r>
              <a:rPr lang="zh-CN" altLang="en-US" sz="2000" b="0" dirty="0">
                <a:latin typeface="微软雅黑" panose="020B0503020204020204" pitchFamily="34" charset="-122"/>
                <a:ea typeface="微软雅黑" panose="020B0503020204020204" pitchFamily="34" charset="-122"/>
              </a:rPr>
              <a:t>寡头企业最初行动的结果到底如何</a:t>
            </a:r>
            <a:r>
              <a:rPr lang="en-US" altLang="zh-CN" sz="2000" b="0" dirty="0">
                <a:latin typeface="微软雅黑" panose="020B0503020204020204" pitchFamily="34" charset="-122"/>
                <a:ea typeface="微软雅黑" panose="020B0503020204020204" pitchFamily="34" charset="-122"/>
              </a:rPr>
              <a:t>, </a:t>
            </a:r>
            <a:r>
              <a:rPr lang="zh-CN" altLang="en-US" sz="2000" b="0" dirty="0">
                <a:latin typeface="微软雅黑" panose="020B0503020204020204" pitchFamily="34" charset="-122"/>
                <a:ea typeface="微软雅黑" panose="020B0503020204020204" pitchFamily="34" charset="-122"/>
              </a:rPr>
              <a:t>要取决于其他企业的反应情况。</a:t>
            </a:r>
            <a:endParaRPr lang="en-US" altLang="zh-CN" sz="2000" b="0" dirty="0">
              <a:latin typeface="微软雅黑" panose="020B0503020204020204" pitchFamily="34" charset="-122"/>
              <a:ea typeface="微软雅黑" panose="020B0503020204020204" pitchFamily="34" charset="-122"/>
            </a:endParaRPr>
          </a:p>
          <a:p>
            <a:pPr marL="742950" lvl="2" indent="-342900" eaLnBrk="1" hangingPunct="1">
              <a:lnSpc>
                <a:spcPct val="200000"/>
              </a:lnSpc>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rPr>
              <a:t>每个企业的行为举足轻重，实质性影响到其他企业</a:t>
            </a:r>
          </a:p>
          <a:p>
            <a:pPr marL="742950" lvl="2" indent="-342900" eaLnBrk="1" hangingPunct="1">
              <a:lnSpc>
                <a:spcPct val="200000"/>
              </a:lnSpc>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rPr>
              <a:t>企业必须考虑其他企业的反应</a:t>
            </a:r>
            <a:endParaRPr lang="en-US" altLang="zh-CN" sz="2000" b="0" dirty="0">
              <a:latin typeface="微软雅黑" panose="020B0503020204020204" pitchFamily="34" charset="-122"/>
              <a:ea typeface="微软雅黑" panose="020B0503020204020204" pitchFamily="34" charset="-122"/>
            </a:endParaRPr>
          </a:p>
        </p:txBody>
      </p:sp>
      <p:sp>
        <p:nvSpPr>
          <p:cNvPr id="5" name="矩形 4"/>
          <p:cNvSpPr/>
          <p:nvPr/>
        </p:nvSpPr>
        <p:spPr>
          <a:xfrm>
            <a:off x="7543092" y="44765"/>
            <a:ext cx="1600908" cy="369332"/>
          </a:xfrm>
          <a:prstGeom prst="rect">
            <a:avLst/>
          </a:prstGeom>
        </p:spPr>
        <p:txBody>
          <a:bodyPr wrap="square">
            <a:spAutoFit/>
          </a:bodyPr>
          <a:lstStyle/>
          <a:p>
            <a:r>
              <a:rPr lang="zh-CN" altLang="en-US" sz="1800" b="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第三节  寡头</a:t>
            </a:r>
            <a:endParaRPr lang="zh-CN" altLang="en-US" sz="18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 name="矩形 5">
            <a:extLst>
              <a:ext uri="{FF2B5EF4-FFF2-40B4-BE49-F238E27FC236}">
                <a16:creationId xmlns:a16="http://schemas.microsoft.com/office/drawing/2014/main" id="{F68E5273-CD77-47B9-B841-9D29349C133D}"/>
              </a:ext>
            </a:extLst>
          </p:cNvPr>
          <p:cNvSpPr/>
          <p:nvPr/>
        </p:nvSpPr>
        <p:spPr>
          <a:xfrm>
            <a:off x="457200" y="548681"/>
            <a:ext cx="4570413"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marL="0" lvl="1">
              <a:defRPr/>
            </a:pPr>
            <a:r>
              <a:rPr lang="zh-CN" altLang="en-US" sz="2400" spc="150" dirty="0">
                <a:solidFill>
                  <a:srgbClr val="FFFFFF"/>
                </a:solidFill>
                <a:latin typeface="微软雅黑" panose="020B0503020204020204" pitchFamily="34" charset="-122"/>
                <a:ea typeface="微软雅黑" panose="020B0503020204020204" pitchFamily="34" charset="-122"/>
              </a:rPr>
              <a:t>一</a:t>
            </a:r>
            <a:r>
              <a:rPr lang="zh-CN" altLang="en-US" sz="2400" b="1" spc="150" dirty="0">
                <a:solidFill>
                  <a:srgbClr val="FFFFFF"/>
                </a:solidFill>
                <a:latin typeface="微软雅黑" panose="020B0503020204020204" pitchFamily="34" charset="-122"/>
                <a:ea typeface="微软雅黑" panose="020B0503020204020204" pitchFamily="34" charset="-122"/>
              </a:rPr>
              <a:t>、</a:t>
            </a:r>
            <a:r>
              <a:rPr lang="zh-CN" altLang="en-US" sz="2400" spc="15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寡头的含义及其特征</a:t>
            </a:r>
            <a:endParaRPr lang="zh-CN" altLang="en-US" sz="2400" spc="150" dirty="0">
              <a:solidFill>
                <a:srgbClr val="FFFFFF"/>
              </a:solidFill>
              <a:latin typeface="微软雅黑" panose="020B0503020204020204" pitchFamily="34" charset="-122"/>
              <a:ea typeface="微软雅黑" panose="020B0503020204020204" pitchFamily="34" charset="-122"/>
            </a:endParaRPr>
          </a:p>
        </p:txBody>
      </p:sp>
      <p:pic>
        <p:nvPicPr>
          <p:cNvPr id="7" name="图片 6">
            <a:extLst>
              <a:ext uri="{FF2B5EF4-FFF2-40B4-BE49-F238E27FC236}">
                <a16:creationId xmlns:a16="http://schemas.microsoft.com/office/drawing/2014/main" id="{E3C09B96-BC08-4CD4-84FA-7CC3E0210F7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81147" y="4221088"/>
            <a:ext cx="2211108" cy="1700808"/>
          </a:xfrm>
          <a:prstGeom prst="rect">
            <a:avLst/>
          </a:prstGeom>
        </p:spPr>
      </p:pic>
    </p:spTree>
    <p:extLst>
      <p:ext uri="{BB962C8B-B14F-4D97-AF65-F5344CB8AC3E}">
        <p14:creationId xmlns:p14="http://schemas.microsoft.com/office/powerpoint/2010/main" val="799556118"/>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8914">
                                            <p:txEl>
                                              <p:pRg st="0" end="0"/>
                                            </p:txEl>
                                          </p:spTgt>
                                        </p:tgtEl>
                                        <p:attrNameLst>
                                          <p:attrName>style.visibility</p:attrName>
                                        </p:attrNameLst>
                                      </p:cBhvr>
                                      <p:to>
                                        <p:strVal val="visible"/>
                                      </p:to>
                                    </p:set>
                                    <p:animEffect>
                                      <p:cBhvr>
                                        <p:cTn id="7" dur="500"/>
                                        <p:tgtEl>
                                          <p:spTgt spid="38914">
                                            <p:txEl>
                                              <p:pRg st="0" end="0"/>
                                            </p:txEl>
                                          </p:spTgt>
                                        </p:tgtEl>
                                      </p:cBhvr>
                                    </p:animEffect>
                                  </p:childTnLst>
                                </p:cTn>
                              </p:par>
                              <p:par>
                                <p:cTn id="8" presetID="42"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1000"/>
                                        <p:tgtEl>
                                          <p:spTgt spid="7"/>
                                        </p:tgtEl>
                                      </p:cBhvr>
                                    </p:animEffect>
                                    <p:anim calcmode="lin" valueType="num">
                                      <p:cBhvr>
                                        <p:cTn id="11" dur="1000" fill="hold"/>
                                        <p:tgtEl>
                                          <p:spTgt spid="7"/>
                                        </p:tgtEl>
                                        <p:attrNameLst>
                                          <p:attrName>ppt_x</p:attrName>
                                        </p:attrNameLst>
                                      </p:cBhvr>
                                      <p:tavLst>
                                        <p:tav tm="0">
                                          <p:val>
                                            <p:strVal val="#ppt_x"/>
                                          </p:val>
                                        </p:tav>
                                        <p:tav tm="100000">
                                          <p:val>
                                            <p:strVal val="#ppt_x"/>
                                          </p:val>
                                        </p:tav>
                                      </p:tavLst>
                                    </p:anim>
                                    <p:anim calcmode="lin" valueType="num">
                                      <p:cBhvr>
                                        <p:cTn id="12"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8914">
                                            <p:txEl>
                                              <p:pRg st="1" end="1"/>
                                            </p:txEl>
                                          </p:spTgt>
                                        </p:tgtEl>
                                        <p:attrNameLst>
                                          <p:attrName>style.visibility</p:attrName>
                                        </p:attrNameLst>
                                      </p:cBhvr>
                                      <p:to>
                                        <p:strVal val="visible"/>
                                      </p:to>
                                    </p:set>
                                    <p:animEffect>
                                      <p:cBhvr>
                                        <p:cTn id="17" dur="500"/>
                                        <p:tgtEl>
                                          <p:spTgt spid="38914">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8914">
                                            <p:txEl>
                                              <p:pRg st="2" end="2"/>
                                            </p:txEl>
                                          </p:spTgt>
                                        </p:tgtEl>
                                        <p:attrNameLst>
                                          <p:attrName>style.visibility</p:attrName>
                                        </p:attrNameLst>
                                      </p:cBhvr>
                                      <p:to>
                                        <p:strVal val="visible"/>
                                      </p:to>
                                    </p:set>
                                    <p:animEffect>
                                      <p:cBhvr>
                                        <p:cTn id="22" dur="500"/>
                                        <p:tgtEl>
                                          <p:spTgt spid="38914">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8914">
                                            <p:txEl>
                                              <p:pRg st="3" end="3"/>
                                            </p:txEl>
                                          </p:spTgt>
                                        </p:tgtEl>
                                        <p:attrNameLst>
                                          <p:attrName>style.visibility</p:attrName>
                                        </p:attrNameLst>
                                      </p:cBhvr>
                                      <p:to>
                                        <p:strVal val="visible"/>
                                      </p:to>
                                    </p:set>
                                    <p:animEffect>
                                      <p:cBhvr>
                                        <p:cTn id="27" dur="500"/>
                                        <p:tgtEl>
                                          <p:spTgt spid="3891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3"/>
          <p:cNvSpPr>
            <a:spLocks noGrp="1" noChangeArrowheads="1"/>
          </p:cNvSpPr>
          <p:nvPr>
            <p:ph type="body" idx="4294967295"/>
          </p:nvPr>
        </p:nvSpPr>
        <p:spPr>
          <a:xfrm>
            <a:off x="1043755" y="1056968"/>
            <a:ext cx="8229600" cy="3735963"/>
          </a:xfrm>
          <a:ln/>
        </p:spPr>
        <p:txBody>
          <a:bodyPr/>
          <a:lstStyle/>
          <a:p>
            <a:pPr marL="457200" lvl="2" indent="-457200" eaLnBrk="1" hangingPunct="1">
              <a:lnSpc>
                <a:spcPct val="200000"/>
              </a:lnSpc>
              <a:buSzPct val="100000"/>
              <a:buFont typeface="Wingdings" panose="05000000000000000000" pitchFamily="2" charset="2"/>
              <a:buChar char="u"/>
            </a:pPr>
            <a:r>
              <a:rPr lang="zh-CN" altLang="en-US" sz="2200" b="0" dirty="0">
                <a:latin typeface="微软雅黑" panose="020B0503020204020204" pitchFamily="34" charset="-122"/>
                <a:ea typeface="微软雅黑" panose="020B0503020204020204" pitchFamily="34" charset="-122"/>
              </a:rPr>
              <a:t>假定</a:t>
            </a:r>
            <a:endParaRPr lang="en-US" altLang="zh-CN" sz="2200" b="0" dirty="0">
              <a:latin typeface="微软雅黑" panose="020B0503020204020204" pitchFamily="34" charset="-122"/>
              <a:ea typeface="微软雅黑" panose="020B0503020204020204" pitchFamily="34" charset="-122"/>
            </a:endParaRPr>
          </a:p>
          <a:p>
            <a:pPr marL="342900" lvl="1" indent="-342900" eaLnBrk="1" hangingPunct="1">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rPr>
              <a:t>其他企业的产量或价格不随寡头企业的改变而改变</a:t>
            </a:r>
            <a:endParaRPr lang="en-US" altLang="zh-CN" sz="2000" b="0" dirty="0">
              <a:latin typeface="微软雅黑" panose="020B0503020204020204" pitchFamily="34" charset="-122"/>
              <a:ea typeface="微软雅黑" panose="020B0503020204020204" pitchFamily="34" charset="-122"/>
            </a:endParaRPr>
          </a:p>
          <a:p>
            <a:pPr marL="342900" lvl="1" indent="-342900" eaLnBrk="1" hangingPunct="1">
              <a:lnSpc>
                <a:spcPct val="150000"/>
              </a:lnSpc>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rPr>
              <a:t>市场上只有两个企业</a:t>
            </a:r>
            <a:r>
              <a:rPr lang="en-US" altLang="zh-CN" sz="2000" b="0" dirty="0">
                <a:latin typeface="微软雅黑" panose="020B0503020204020204" pitchFamily="34" charset="-122"/>
                <a:ea typeface="微软雅黑" panose="020B0503020204020204" pitchFamily="34" charset="-122"/>
              </a:rPr>
              <a:t>,</a:t>
            </a:r>
            <a:r>
              <a:rPr lang="zh-CN" altLang="en-US" sz="2000" b="0" dirty="0">
                <a:latin typeface="微软雅黑" panose="020B0503020204020204" pitchFamily="34" charset="-122"/>
                <a:ea typeface="微软雅黑" panose="020B0503020204020204" pitchFamily="34" charset="-122"/>
              </a:rPr>
              <a:t> 生产的产品完全相同。（</a:t>
            </a:r>
            <a:r>
              <a:rPr lang="en-US" altLang="zh-CN" sz="2000" b="0" dirty="0">
                <a:latin typeface="微软雅黑" panose="020B0503020204020204" pitchFamily="34" charset="-122"/>
                <a:ea typeface="微软雅黑" panose="020B0503020204020204" pitchFamily="34" charset="-122"/>
              </a:rPr>
              <a:t>N</a:t>
            </a:r>
            <a:r>
              <a:rPr lang="zh-CN" altLang="en-US" sz="2000" b="0" dirty="0">
                <a:latin typeface="微软雅黑" panose="020B0503020204020204" pitchFamily="34" charset="-122"/>
                <a:ea typeface="微软雅黑" panose="020B0503020204020204" pitchFamily="34" charset="-122"/>
              </a:rPr>
              <a:t>个企业也适用）</a:t>
            </a:r>
            <a:endParaRPr lang="en-US" altLang="zh-CN" sz="2000" b="0" dirty="0">
              <a:latin typeface="微软雅黑" panose="020B0503020204020204" pitchFamily="34" charset="-122"/>
              <a:ea typeface="微软雅黑" panose="020B0503020204020204" pitchFamily="34" charset="-122"/>
            </a:endParaRPr>
          </a:p>
          <a:p>
            <a:pPr marL="0" lvl="1" indent="0" eaLnBrk="1" hangingPunct="1">
              <a:lnSpc>
                <a:spcPct val="150000"/>
              </a:lnSpc>
              <a:buNone/>
            </a:pPr>
            <a:r>
              <a:rPr lang="zh-CN" altLang="en-US" sz="2000" b="0" dirty="0">
                <a:latin typeface="微软雅黑" panose="020B0503020204020204" pitchFamily="34" charset="-122"/>
                <a:ea typeface="微软雅黑" panose="020B0503020204020204" pitchFamily="34" charset="-122"/>
              </a:rPr>
              <a:t>     为简单起见，假设成本为零</a:t>
            </a:r>
            <a:endParaRPr lang="en-US" altLang="zh-CN" sz="2000" b="0" dirty="0">
              <a:latin typeface="微软雅黑" panose="020B0503020204020204" pitchFamily="34" charset="-122"/>
              <a:ea typeface="微软雅黑" panose="020B0503020204020204" pitchFamily="34" charset="-122"/>
            </a:endParaRPr>
          </a:p>
          <a:p>
            <a:pPr marL="342900" lvl="1" indent="-342900" eaLnBrk="1" hangingPunct="1"/>
            <a:endParaRPr lang="en-US" altLang="zh-CN" sz="2400" b="0" dirty="0"/>
          </a:p>
        </p:txBody>
      </p:sp>
      <p:sp>
        <p:nvSpPr>
          <p:cNvPr id="2" name="矩形 1"/>
          <p:cNvSpPr/>
          <p:nvPr/>
        </p:nvSpPr>
        <p:spPr>
          <a:xfrm>
            <a:off x="2659440" y="5702657"/>
            <a:ext cx="4031873" cy="400110"/>
          </a:xfrm>
          <a:prstGeom prst="rect">
            <a:avLst/>
          </a:prstGeom>
        </p:spPr>
        <p:txBody>
          <a:bodyPr wrap="none">
            <a:spAutoFit/>
          </a:bodyPr>
          <a:lstStyle/>
          <a:p>
            <a:pPr marL="342900" lvl="1" indent="-342900" eaLnBrk="1" hangingPunct="1"/>
            <a:r>
              <a:rPr lang="zh-CN" altLang="en-US" sz="2000" b="0" dirty="0">
                <a:latin typeface="微软雅黑" panose="020B0503020204020204" pitchFamily="34" charset="-122"/>
                <a:ea typeface="微软雅黑" panose="020B0503020204020204" pitchFamily="34" charset="-122"/>
              </a:rPr>
              <a:t>思考：为什么可以假设成本为零？</a:t>
            </a:r>
            <a:endParaRPr lang="en-US" altLang="zh-CN" sz="2000" b="0" dirty="0">
              <a:latin typeface="微软雅黑" panose="020B0503020204020204" pitchFamily="34" charset="-122"/>
              <a:ea typeface="微软雅黑" panose="020B0503020204020204" pitchFamily="34" charset="-122"/>
            </a:endParaRPr>
          </a:p>
        </p:txBody>
      </p:sp>
      <p:sp>
        <p:nvSpPr>
          <p:cNvPr id="6" name="矩形 5"/>
          <p:cNvSpPr/>
          <p:nvPr/>
        </p:nvSpPr>
        <p:spPr>
          <a:xfrm>
            <a:off x="7543092" y="44765"/>
            <a:ext cx="1600908" cy="369332"/>
          </a:xfrm>
          <a:prstGeom prst="rect">
            <a:avLst/>
          </a:prstGeom>
        </p:spPr>
        <p:txBody>
          <a:bodyPr wrap="square">
            <a:spAutoFit/>
          </a:bodyPr>
          <a:lstStyle/>
          <a:p>
            <a:r>
              <a:rPr lang="zh-CN" altLang="en-US" sz="1800" b="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第三节  寡头</a:t>
            </a:r>
            <a:endParaRPr lang="zh-CN" altLang="en-US" sz="18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7" name="矩形 6">
            <a:extLst>
              <a:ext uri="{FF2B5EF4-FFF2-40B4-BE49-F238E27FC236}">
                <a16:creationId xmlns:a16="http://schemas.microsoft.com/office/drawing/2014/main" id="{F68E5273-CD77-47B9-B841-9D29349C133D}"/>
              </a:ext>
            </a:extLst>
          </p:cNvPr>
          <p:cNvSpPr/>
          <p:nvPr/>
        </p:nvSpPr>
        <p:spPr>
          <a:xfrm>
            <a:off x="457201" y="548681"/>
            <a:ext cx="2386680"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marL="0" lvl="1">
              <a:defRPr/>
            </a:pPr>
            <a:r>
              <a:rPr lang="zh-CN" altLang="en-US" sz="2400" spc="150" dirty="0">
                <a:solidFill>
                  <a:srgbClr val="FFFFFF"/>
                </a:solidFill>
                <a:latin typeface="微软雅黑" panose="020B0503020204020204" pitchFamily="34" charset="-122"/>
                <a:ea typeface="微软雅黑" panose="020B0503020204020204" pitchFamily="34" charset="-122"/>
              </a:rPr>
              <a:t>二</a:t>
            </a:r>
            <a:r>
              <a:rPr lang="zh-CN" altLang="en-US" sz="2400" b="1" spc="150" dirty="0">
                <a:solidFill>
                  <a:srgbClr val="FFFFFF"/>
                </a:solidFill>
                <a:latin typeface="微软雅黑" panose="020B0503020204020204" pitchFamily="34" charset="-122"/>
                <a:ea typeface="微软雅黑" panose="020B0503020204020204" pitchFamily="34" charset="-122"/>
              </a:rPr>
              <a:t>、</a:t>
            </a:r>
            <a:r>
              <a:rPr lang="zh-CN" altLang="en-US" sz="2400" spc="15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古诺模型</a:t>
            </a:r>
            <a:endParaRPr lang="zh-CN" altLang="en-US" sz="2400" spc="150" dirty="0">
              <a:solidFill>
                <a:srgbClr val="FFFFFF"/>
              </a:solidFill>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33346" y="3667258"/>
            <a:ext cx="1331028" cy="1331028"/>
          </a:xfrm>
          <a:prstGeom prst="ellipse">
            <a:avLst/>
          </a:prstGeom>
          <a:ln w="38100" cap="rnd">
            <a:solidFill>
              <a:schemeClr val="accent1"/>
            </a:solidFill>
          </a:ln>
          <a:effectLst/>
          <a:scene3d>
            <a:camera prst="orthographicFront"/>
            <a:lightRig rig="contrasting" dir="t">
              <a:rot lat="0" lon="0" rev="3000000"/>
            </a:lightRig>
          </a:scene3d>
          <a:sp3d contourW="7620">
            <a:bevelT w="95250" h="31750"/>
            <a:contourClr>
              <a:srgbClr val="333333"/>
            </a:contourClr>
          </a:sp3d>
        </p:spPr>
      </p:pic>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68346" y="3667258"/>
            <a:ext cx="1331028" cy="1331028"/>
          </a:xfrm>
          <a:prstGeom prst="ellipse">
            <a:avLst/>
          </a:prstGeom>
          <a:ln w="38100" cap="rnd">
            <a:solidFill>
              <a:srgbClr val="E0E2E2"/>
            </a:solidFill>
          </a:ln>
          <a:effectLst/>
        </p:spPr>
      </p:pic>
      <p:sp>
        <p:nvSpPr>
          <p:cNvPr id="8" name="文本框 7"/>
          <p:cNvSpPr txBox="1"/>
          <p:nvPr/>
        </p:nvSpPr>
        <p:spPr>
          <a:xfrm>
            <a:off x="457201" y="5126041"/>
            <a:ext cx="3888270" cy="400110"/>
          </a:xfrm>
          <a:prstGeom prst="rect">
            <a:avLst/>
          </a:prstGeom>
          <a:noFill/>
        </p:spPr>
        <p:txBody>
          <a:bodyPr wrap="square" rtlCol="0">
            <a:spAutoFit/>
          </a:bodyPr>
          <a:lstStyle/>
          <a:p>
            <a:r>
              <a:rPr lang="zh-CN" altLang="en-US" sz="2000" b="0" dirty="0">
                <a:latin typeface="微软雅黑" panose="020B0503020204020204" pitchFamily="34" charset="-122"/>
                <a:ea typeface="微软雅黑" panose="020B0503020204020204" pitchFamily="34" charset="-122"/>
                <a:sym typeface="Arial" panose="020B0604020202020204" pitchFamily="34" charset="0"/>
              </a:rPr>
              <a:t>如中石油、中石化、中海油</a:t>
            </a:r>
          </a:p>
        </p:txBody>
      </p:sp>
      <p:sp>
        <p:nvSpPr>
          <p:cNvPr id="9" name="文本框 8"/>
          <p:cNvSpPr txBox="1"/>
          <p:nvPr/>
        </p:nvSpPr>
        <p:spPr>
          <a:xfrm>
            <a:off x="4675377" y="4998286"/>
            <a:ext cx="4968344" cy="499624"/>
          </a:xfrm>
          <a:prstGeom prst="rect">
            <a:avLst/>
          </a:prstGeom>
          <a:noFill/>
        </p:spPr>
        <p:txBody>
          <a:bodyPr wrap="square" rtlCol="0">
            <a:spAutoFit/>
          </a:bodyPr>
          <a:lstStyle/>
          <a:p>
            <a:pPr marL="0" lvl="1" eaLnBrk="1" hangingPunct="1">
              <a:lnSpc>
                <a:spcPct val="150000"/>
              </a:lnSpc>
            </a:pPr>
            <a:r>
              <a:rPr lang="zh-CN" altLang="en-US" sz="2000" b="0" dirty="0">
                <a:latin typeface="微软雅黑" panose="020B0503020204020204" pitchFamily="34" charset="-122"/>
                <a:ea typeface="微软雅黑" panose="020B0503020204020204" pitchFamily="34" charset="-122"/>
              </a:rPr>
              <a:t>如中国电信、中国移动、中国联通</a:t>
            </a:r>
            <a:endParaRPr lang="en-US" altLang="zh-CN" sz="2000" b="0" dirty="0">
              <a:latin typeface="微软雅黑" panose="020B0503020204020204" pitchFamily="34" charset="-122"/>
              <a:ea typeface="微软雅黑" panose="020B0503020204020204" pitchFamily="34"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9938">
                                            <p:txEl>
                                              <p:pRg st="0" end="0"/>
                                            </p:txEl>
                                          </p:spTgt>
                                        </p:tgtEl>
                                        <p:attrNameLst>
                                          <p:attrName>style.visibility</p:attrName>
                                        </p:attrNameLst>
                                      </p:cBhvr>
                                      <p:to>
                                        <p:strVal val="visible"/>
                                      </p:to>
                                    </p:set>
                                    <p:animEffect>
                                      <p:cBhvr>
                                        <p:cTn id="7" dur="500"/>
                                        <p:tgtEl>
                                          <p:spTgt spid="3993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9938">
                                            <p:txEl>
                                              <p:pRg st="1" end="1"/>
                                            </p:txEl>
                                          </p:spTgt>
                                        </p:tgtEl>
                                        <p:attrNameLst>
                                          <p:attrName>style.visibility</p:attrName>
                                        </p:attrNameLst>
                                      </p:cBhvr>
                                      <p:to>
                                        <p:strVal val="visible"/>
                                      </p:to>
                                    </p:set>
                                    <p:animEffect>
                                      <p:cBhvr>
                                        <p:cTn id="12" dur="500"/>
                                        <p:tgtEl>
                                          <p:spTgt spid="3993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9938">
                                            <p:txEl>
                                              <p:pRg st="2" end="2"/>
                                            </p:txEl>
                                          </p:spTgt>
                                        </p:tgtEl>
                                        <p:attrNameLst>
                                          <p:attrName>style.visibility</p:attrName>
                                        </p:attrNameLst>
                                      </p:cBhvr>
                                      <p:to>
                                        <p:strVal val="visible"/>
                                      </p:to>
                                    </p:set>
                                    <p:animEffect>
                                      <p:cBhvr>
                                        <p:cTn id="17" dur="500"/>
                                        <p:tgtEl>
                                          <p:spTgt spid="3993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9938">
                                            <p:txEl>
                                              <p:pRg st="3" end="3"/>
                                            </p:txEl>
                                          </p:spTgt>
                                        </p:tgtEl>
                                        <p:attrNameLst>
                                          <p:attrName>style.visibility</p:attrName>
                                        </p:attrNameLst>
                                      </p:cBhvr>
                                      <p:to>
                                        <p:strVal val="visible"/>
                                      </p:to>
                                    </p:set>
                                    <p:animEffect>
                                      <p:cBhvr>
                                        <p:cTn id="22" dur="500"/>
                                        <p:tgtEl>
                                          <p:spTgt spid="3993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6"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down)">
                                      <p:cBhvr>
                                        <p:cTn id="27" dur="580">
                                          <p:stCondLst>
                                            <p:cond delay="0"/>
                                          </p:stCondLst>
                                        </p:cTn>
                                        <p:tgtEl>
                                          <p:spTgt spid="4"/>
                                        </p:tgtEl>
                                      </p:cBhvr>
                                    </p:animEffect>
                                    <p:anim calcmode="lin" valueType="num">
                                      <p:cBhvr>
                                        <p:cTn id="2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2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3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3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3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33" dur="26">
                                          <p:stCondLst>
                                            <p:cond delay="650"/>
                                          </p:stCondLst>
                                        </p:cTn>
                                        <p:tgtEl>
                                          <p:spTgt spid="4"/>
                                        </p:tgtEl>
                                      </p:cBhvr>
                                      <p:to x="100000" y="60000"/>
                                    </p:animScale>
                                    <p:animScale>
                                      <p:cBhvr>
                                        <p:cTn id="34" dur="166" decel="50000">
                                          <p:stCondLst>
                                            <p:cond delay="676"/>
                                          </p:stCondLst>
                                        </p:cTn>
                                        <p:tgtEl>
                                          <p:spTgt spid="4"/>
                                        </p:tgtEl>
                                      </p:cBhvr>
                                      <p:to x="100000" y="100000"/>
                                    </p:animScale>
                                    <p:animScale>
                                      <p:cBhvr>
                                        <p:cTn id="35" dur="26">
                                          <p:stCondLst>
                                            <p:cond delay="1312"/>
                                          </p:stCondLst>
                                        </p:cTn>
                                        <p:tgtEl>
                                          <p:spTgt spid="4"/>
                                        </p:tgtEl>
                                      </p:cBhvr>
                                      <p:to x="100000" y="80000"/>
                                    </p:animScale>
                                    <p:animScale>
                                      <p:cBhvr>
                                        <p:cTn id="36" dur="166" decel="50000">
                                          <p:stCondLst>
                                            <p:cond delay="1338"/>
                                          </p:stCondLst>
                                        </p:cTn>
                                        <p:tgtEl>
                                          <p:spTgt spid="4"/>
                                        </p:tgtEl>
                                      </p:cBhvr>
                                      <p:to x="100000" y="100000"/>
                                    </p:animScale>
                                    <p:animScale>
                                      <p:cBhvr>
                                        <p:cTn id="37" dur="26">
                                          <p:stCondLst>
                                            <p:cond delay="1642"/>
                                          </p:stCondLst>
                                        </p:cTn>
                                        <p:tgtEl>
                                          <p:spTgt spid="4"/>
                                        </p:tgtEl>
                                      </p:cBhvr>
                                      <p:to x="100000" y="90000"/>
                                    </p:animScale>
                                    <p:animScale>
                                      <p:cBhvr>
                                        <p:cTn id="38" dur="166" decel="50000">
                                          <p:stCondLst>
                                            <p:cond delay="1668"/>
                                          </p:stCondLst>
                                        </p:cTn>
                                        <p:tgtEl>
                                          <p:spTgt spid="4"/>
                                        </p:tgtEl>
                                      </p:cBhvr>
                                      <p:to x="100000" y="100000"/>
                                    </p:animScale>
                                    <p:animScale>
                                      <p:cBhvr>
                                        <p:cTn id="39" dur="26">
                                          <p:stCondLst>
                                            <p:cond delay="1808"/>
                                          </p:stCondLst>
                                        </p:cTn>
                                        <p:tgtEl>
                                          <p:spTgt spid="4"/>
                                        </p:tgtEl>
                                      </p:cBhvr>
                                      <p:to x="100000" y="95000"/>
                                    </p:animScale>
                                    <p:animScale>
                                      <p:cBhvr>
                                        <p:cTn id="40" dur="166" decel="50000">
                                          <p:stCondLst>
                                            <p:cond delay="1834"/>
                                          </p:stCondLst>
                                        </p:cTn>
                                        <p:tgtEl>
                                          <p:spTgt spid="4"/>
                                        </p:tgtEl>
                                      </p:cBhvr>
                                      <p:to x="100000" y="100000"/>
                                    </p:animScale>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fade">
                                      <p:cBhvr>
                                        <p:cTn id="45" dur="500"/>
                                        <p:tgtEl>
                                          <p:spTgt spid="8"/>
                                        </p:tgtEl>
                                      </p:cBhvr>
                                    </p:animEffect>
                                  </p:childTnLst>
                                </p:cTn>
                              </p:par>
                            </p:childTnLst>
                          </p:cTn>
                        </p:par>
                      </p:childTnLst>
                    </p:cTn>
                  </p:par>
                  <p:par>
                    <p:cTn id="46" fill="hold">
                      <p:stCondLst>
                        <p:cond delay="indefinite"/>
                      </p:stCondLst>
                      <p:childTnLst>
                        <p:par>
                          <p:cTn id="47" fill="hold">
                            <p:stCondLst>
                              <p:cond delay="0"/>
                            </p:stCondLst>
                            <p:childTnLst>
                              <p:par>
                                <p:cTn id="48" presetID="26" presetClass="entr" presetSubtype="0" fill="hold" nodeType="clickEffect">
                                  <p:stCondLst>
                                    <p:cond delay="0"/>
                                  </p:stCondLst>
                                  <p:childTnLst>
                                    <p:set>
                                      <p:cBhvr>
                                        <p:cTn id="49" dur="1" fill="hold">
                                          <p:stCondLst>
                                            <p:cond delay="0"/>
                                          </p:stCondLst>
                                        </p:cTn>
                                        <p:tgtEl>
                                          <p:spTgt spid="5"/>
                                        </p:tgtEl>
                                        <p:attrNameLst>
                                          <p:attrName>style.visibility</p:attrName>
                                        </p:attrNameLst>
                                      </p:cBhvr>
                                      <p:to>
                                        <p:strVal val="visible"/>
                                      </p:to>
                                    </p:set>
                                    <p:animEffect transition="in" filter="wipe(down)">
                                      <p:cBhvr>
                                        <p:cTn id="50" dur="580">
                                          <p:stCondLst>
                                            <p:cond delay="0"/>
                                          </p:stCondLst>
                                        </p:cTn>
                                        <p:tgtEl>
                                          <p:spTgt spid="5"/>
                                        </p:tgtEl>
                                      </p:cBhvr>
                                    </p:animEffect>
                                    <p:anim calcmode="lin" valueType="num">
                                      <p:cBhvr>
                                        <p:cTn id="51"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52"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53"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54"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55"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56" dur="26">
                                          <p:stCondLst>
                                            <p:cond delay="650"/>
                                          </p:stCondLst>
                                        </p:cTn>
                                        <p:tgtEl>
                                          <p:spTgt spid="5"/>
                                        </p:tgtEl>
                                      </p:cBhvr>
                                      <p:to x="100000" y="60000"/>
                                    </p:animScale>
                                    <p:animScale>
                                      <p:cBhvr>
                                        <p:cTn id="57" dur="166" decel="50000">
                                          <p:stCondLst>
                                            <p:cond delay="676"/>
                                          </p:stCondLst>
                                        </p:cTn>
                                        <p:tgtEl>
                                          <p:spTgt spid="5"/>
                                        </p:tgtEl>
                                      </p:cBhvr>
                                      <p:to x="100000" y="100000"/>
                                    </p:animScale>
                                    <p:animScale>
                                      <p:cBhvr>
                                        <p:cTn id="58" dur="26">
                                          <p:stCondLst>
                                            <p:cond delay="1312"/>
                                          </p:stCondLst>
                                        </p:cTn>
                                        <p:tgtEl>
                                          <p:spTgt spid="5"/>
                                        </p:tgtEl>
                                      </p:cBhvr>
                                      <p:to x="100000" y="80000"/>
                                    </p:animScale>
                                    <p:animScale>
                                      <p:cBhvr>
                                        <p:cTn id="59" dur="166" decel="50000">
                                          <p:stCondLst>
                                            <p:cond delay="1338"/>
                                          </p:stCondLst>
                                        </p:cTn>
                                        <p:tgtEl>
                                          <p:spTgt spid="5"/>
                                        </p:tgtEl>
                                      </p:cBhvr>
                                      <p:to x="100000" y="100000"/>
                                    </p:animScale>
                                    <p:animScale>
                                      <p:cBhvr>
                                        <p:cTn id="60" dur="26">
                                          <p:stCondLst>
                                            <p:cond delay="1642"/>
                                          </p:stCondLst>
                                        </p:cTn>
                                        <p:tgtEl>
                                          <p:spTgt spid="5"/>
                                        </p:tgtEl>
                                      </p:cBhvr>
                                      <p:to x="100000" y="90000"/>
                                    </p:animScale>
                                    <p:animScale>
                                      <p:cBhvr>
                                        <p:cTn id="61" dur="166" decel="50000">
                                          <p:stCondLst>
                                            <p:cond delay="1668"/>
                                          </p:stCondLst>
                                        </p:cTn>
                                        <p:tgtEl>
                                          <p:spTgt spid="5"/>
                                        </p:tgtEl>
                                      </p:cBhvr>
                                      <p:to x="100000" y="100000"/>
                                    </p:animScale>
                                    <p:animScale>
                                      <p:cBhvr>
                                        <p:cTn id="62" dur="26">
                                          <p:stCondLst>
                                            <p:cond delay="1808"/>
                                          </p:stCondLst>
                                        </p:cTn>
                                        <p:tgtEl>
                                          <p:spTgt spid="5"/>
                                        </p:tgtEl>
                                      </p:cBhvr>
                                      <p:to x="100000" y="95000"/>
                                    </p:animScale>
                                    <p:animScale>
                                      <p:cBhvr>
                                        <p:cTn id="63" dur="166" decel="50000">
                                          <p:stCondLst>
                                            <p:cond delay="1834"/>
                                          </p:stCondLst>
                                        </p:cTn>
                                        <p:tgtEl>
                                          <p:spTgt spid="5"/>
                                        </p:tgtEl>
                                      </p:cBhvr>
                                      <p:to x="100000" y="100000"/>
                                    </p:animScale>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9"/>
                                        </p:tgtEl>
                                        <p:attrNameLst>
                                          <p:attrName>style.visibility</p:attrName>
                                        </p:attrNameLst>
                                      </p:cBhvr>
                                      <p:to>
                                        <p:strVal val="visible"/>
                                      </p:to>
                                    </p:set>
                                    <p:animEffect transition="in" filter="fade">
                                      <p:cBhvr>
                                        <p:cTn id="68" dur="500"/>
                                        <p:tgtEl>
                                          <p:spTgt spid="9"/>
                                        </p:tgtEl>
                                      </p:cBhvr>
                                    </p:animEffect>
                                  </p:childTnLst>
                                </p:cTn>
                              </p:par>
                            </p:childTnLst>
                          </p:cTn>
                        </p:par>
                      </p:childTnLst>
                    </p:cTn>
                  </p:par>
                  <p:par>
                    <p:cTn id="69" fill="hold">
                      <p:stCondLst>
                        <p:cond delay="indefinite"/>
                      </p:stCondLst>
                      <p:childTnLst>
                        <p:par>
                          <p:cTn id="70" fill="hold">
                            <p:stCondLst>
                              <p:cond delay="0"/>
                            </p:stCondLst>
                            <p:childTnLst>
                              <p:par>
                                <p:cTn id="71" presetID="14" presetClass="entr" presetSubtype="10" fill="hold" grpId="0" nodeType="clickEffect">
                                  <p:stCondLst>
                                    <p:cond delay="0"/>
                                  </p:stCondLst>
                                  <p:childTnLst>
                                    <p:set>
                                      <p:cBhvr>
                                        <p:cTn id="72" dur="1" fill="hold">
                                          <p:stCondLst>
                                            <p:cond delay="0"/>
                                          </p:stCondLst>
                                        </p:cTn>
                                        <p:tgtEl>
                                          <p:spTgt spid="2"/>
                                        </p:tgtEl>
                                        <p:attrNameLst>
                                          <p:attrName>style.visibility</p:attrName>
                                        </p:attrNameLst>
                                      </p:cBhvr>
                                      <p:to>
                                        <p:strVal val="visible"/>
                                      </p:to>
                                    </p:set>
                                    <p:animEffect transition="in" filter="randombar(horizontal)">
                                      <p:cBhvr>
                                        <p:cTn id="7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p:bldP spid="9"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3"/>
          <p:cNvSpPr>
            <a:spLocks noGrp="1" noChangeArrowheads="1"/>
          </p:cNvSpPr>
          <p:nvPr>
            <p:ph type="body" idx="4294967295"/>
          </p:nvPr>
        </p:nvSpPr>
        <p:spPr>
          <a:xfrm>
            <a:off x="578774" y="779513"/>
            <a:ext cx="8229600" cy="5513388"/>
          </a:xfrm>
          <a:ln/>
        </p:spPr>
        <p:txBody>
          <a:bodyPr/>
          <a:lstStyle/>
          <a:p>
            <a:pPr marL="342900" lvl="1" indent="-342900" eaLnBrk="1" hangingPunct="1"/>
            <a:endParaRPr lang="en-US" altLang="zh-CN" sz="2400" dirty="0"/>
          </a:p>
          <a:p>
            <a:pPr marL="457200" lvl="2" indent="-457200" eaLnBrk="1" hangingPunct="1">
              <a:lnSpc>
                <a:spcPct val="200000"/>
              </a:lnSpc>
              <a:buSzPct val="100000"/>
              <a:buFont typeface="Wingdings" panose="05000000000000000000" pitchFamily="2" charset="2"/>
              <a:buChar char="u"/>
            </a:pPr>
            <a:r>
              <a:rPr lang="zh-CN" altLang="en-US" sz="2200" b="0" dirty="0">
                <a:latin typeface="微软雅黑" panose="020B0503020204020204" pitchFamily="34" charset="-122"/>
                <a:ea typeface="微软雅黑" panose="020B0503020204020204" pitchFamily="34" charset="-122"/>
              </a:rPr>
              <a:t>（双寡头下）寡头企业的需求</a:t>
            </a:r>
            <a:r>
              <a:rPr lang="zh-CN" altLang="en-US" sz="2200" b="0" dirty="0">
                <a:solidFill>
                  <a:srgbClr val="000000"/>
                </a:solidFill>
                <a:latin typeface="微软雅黑" panose="020B0503020204020204" pitchFamily="34" charset="-122"/>
                <a:ea typeface="微软雅黑" panose="020B0503020204020204" pitchFamily="34" charset="-122"/>
              </a:rPr>
              <a:t>曲线</a:t>
            </a:r>
            <a:endParaRPr lang="en-US" altLang="zh-CN" sz="2200" b="0" dirty="0">
              <a:solidFill>
                <a:srgbClr val="000000"/>
              </a:solidFill>
              <a:latin typeface="微软雅黑" panose="020B0503020204020204" pitchFamily="34" charset="-122"/>
              <a:ea typeface="微软雅黑" panose="020B0503020204020204" pitchFamily="34" charset="-122"/>
            </a:endParaRPr>
          </a:p>
        </p:txBody>
      </p:sp>
      <p:sp>
        <p:nvSpPr>
          <p:cNvPr id="39939" name="Line 4"/>
          <p:cNvSpPr>
            <a:spLocks noChangeShapeType="1"/>
          </p:cNvSpPr>
          <p:nvPr/>
        </p:nvSpPr>
        <p:spPr bwMode="auto">
          <a:xfrm flipV="1">
            <a:off x="2821118" y="2661348"/>
            <a:ext cx="1587" cy="2808287"/>
          </a:xfrm>
          <a:prstGeom prst="line">
            <a:avLst/>
          </a:prstGeom>
          <a:noFill/>
          <a:ln w="9525" cmpd="sng">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9940" name="Line 5"/>
          <p:cNvSpPr>
            <a:spLocks noChangeShapeType="1"/>
          </p:cNvSpPr>
          <p:nvPr/>
        </p:nvSpPr>
        <p:spPr bwMode="auto">
          <a:xfrm>
            <a:off x="2821118" y="5469635"/>
            <a:ext cx="3744912" cy="1588"/>
          </a:xfrm>
          <a:prstGeom prst="line">
            <a:avLst/>
          </a:prstGeom>
          <a:noFill/>
          <a:ln w="9525" cmpd="sng">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9941" name="Text Box 6"/>
          <p:cNvSpPr>
            <a:spLocks noChangeArrowheads="1"/>
          </p:cNvSpPr>
          <p:nvPr/>
        </p:nvSpPr>
        <p:spPr bwMode="auto">
          <a:xfrm>
            <a:off x="2533780" y="2516885"/>
            <a:ext cx="4000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P</a:t>
            </a:r>
            <a:endParaRPr lang="zh-CN" altLang="en-US"/>
          </a:p>
        </p:txBody>
      </p:sp>
      <p:sp>
        <p:nvSpPr>
          <p:cNvPr id="39942" name="Text Box 7"/>
          <p:cNvSpPr>
            <a:spLocks noChangeArrowheads="1"/>
          </p:cNvSpPr>
          <p:nvPr/>
        </p:nvSpPr>
        <p:spPr bwMode="auto">
          <a:xfrm>
            <a:off x="2460755" y="5326760"/>
            <a:ext cx="31115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O</a:t>
            </a:r>
            <a:endParaRPr lang="zh-CN" altLang="en-US"/>
          </a:p>
        </p:txBody>
      </p:sp>
      <p:sp>
        <p:nvSpPr>
          <p:cNvPr id="39943" name="Text Box 8"/>
          <p:cNvSpPr>
            <a:spLocks noChangeArrowheads="1"/>
          </p:cNvSpPr>
          <p:nvPr/>
        </p:nvSpPr>
        <p:spPr bwMode="auto">
          <a:xfrm>
            <a:off x="6493005" y="5398198"/>
            <a:ext cx="311150"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Q</a:t>
            </a:r>
            <a:endParaRPr lang="zh-CN" altLang="en-US"/>
          </a:p>
        </p:txBody>
      </p:sp>
      <p:sp>
        <p:nvSpPr>
          <p:cNvPr id="39944" name="Line 9"/>
          <p:cNvSpPr>
            <a:spLocks noChangeShapeType="1"/>
          </p:cNvSpPr>
          <p:nvPr/>
        </p:nvSpPr>
        <p:spPr bwMode="auto">
          <a:xfrm>
            <a:off x="2821118" y="3237610"/>
            <a:ext cx="2952750" cy="2232025"/>
          </a:xfrm>
          <a:prstGeom prst="line">
            <a:avLst/>
          </a:prstGeom>
          <a:noFill/>
          <a:ln w="28575" cmpd="sng">
            <a:solidFill>
              <a:srgbClr val="0070C0"/>
            </a:solidFill>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9945" name="Line 10"/>
          <p:cNvSpPr>
            <a:spLocks noChangeShapeType="1"/>
          </p:cNvSpPr>
          <p:nvPr/>
        </p:nvSpPr>
        <p:spPr bwMode="auto">
          <a:xfrm>
            <a:off x="2822705" y="3813873"/>
            <a:ext cx="2159000" cy="1655762"/>
          </a:xfrm>
          <a:prstGeom prst="line">
            <a:avLst/>
          </a:prstGeom>
          <a:noFill/>
          <a:ln w="28575" cmpd="sng">
            <a:solidFill>
              <a:srgbClr val="0070C0"/>
            </a:solidFill>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9946" name="Text Box 11"/>
          <p:cNvSpPr>
            <a:spLocks noChangeArrowheads="1"/>
          </p:cNvSpPr>
          <p:nvPr/>
        </p:nvSpPr>
        <p:spPr bwMode="auto">
          <a:xfrm>
            <a:off x="3108455" y="3813873"/>
            <a:ext cx="433388"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d</a:t>
            </a:r>
            <a:endParaRPr lang="zh-CN" altLang="en-US"/>
          </a:p>
        </p:txBody>
      </p:sp>
      <p:sp>
        <p:nvSpPr>
          <p:cNvPr id="39947" name="Text Box 12"/>
          <p:cNvSpPr>
            <a:spLocks noChangeArrowheads="1"/>
          </p:cNvSpPr>
          <p:nvPr/>
        </p:nvSpPr>
        <p:spPr bwMode="auto">
          <a:xfrm>
            <a:off x="3540255" y="3453510"/>
            <a:ext cx="3111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D</a:t>
            </a:r>
            <a:endParaRPr lang="zh-CN" altLang="en-US"/>
          </a:p>
        </p:txBody>
      </p:sp>
      <p:sp>
        <p:nvSpPr>
          <p:cNvPr id="39948" name="Text Box 13"/>
          <p:cNvSpPr>
            <a:spLocks noChangeArrowheads="1"/>
          </p:cNvSpPr>
          <p:nvPr/>
        </p:nvSpPr>
        <p:spPr bwMode="auto">
          <a:xfrm>
            <a:off x="5551840" y="4365065"/>
            <a:ext cx="67627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sym typeface="Arial" panose="020B0604020202020204" pitchFamily="34" charset="0"/>
              </a:rPr>
              <a:t>∆Q</a:t>
            </a:r>
            <a:endParaRPr lang="zh-CN" altLang="en-US" dirty="0"/>
          </a:p>
        </p:txBody>
      </p:sp>
      <p:sp>
        <p:nvSpPr>
          <p:cNvPr id="39949" name="Line 14"/>
          <p:cNvSpPr>
            <a:spLocks noChangeShapeType="1"/>
          </p:cNvSpPr>
          <p:nvPr/>
        </p:nvSpPr>
        <p:spPr bwMode="auto">
          <a:xfrm flipH="1">
            <a:off x="5436743" y="4653085"/>
            <a:ext cx="287337" cy="574675"/>
          </a:xfrm>
          <a:prstGeom prst="line">
            <a:avLst/>
          </a:prstGeom>
          <a:noFill/>
          <a:ln w="9525" cmpd="sng">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39950" name="Text Box 15"/>
          <p:cNvSpPr>
            <a:spLocks noChangeArrowheads="1"/>
          </p:cNvSpPr>
          <p:nvPr/>
        </p:nvSpPr>
        <p:spPr bwMode="auto">
          <a:xfrm rot="5400000">
            <a:off x="5201559" y="4551266"/>
            <a:ext cx="374650" cy="1201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7200" b="0" dirty="0">
                <a:solidFill>
                  <a:srgbClr val="000000"/>
                </a:solidFill>
                <a:latin typeface="新宋体" panose="02010609030101010101" pitchFamily="49" charset="-122"/>
                <a:ea typeface="新宋体" panose="02010609030101010101" pitchFamily="49" charset="-122"/>
                <a:sym typeface="新宋体" panose="02010609030101010101" pitchFamily="49" charset="-122"/>
              </a:rPr>
              <a:t>{</a:t>
            </a:r>
            <a:endParaRPr lang="zh-CN" altLang="en-US" dirty="0"/>
          </a:p>
        </p:txBody>
      </p:sp>
      <p:sp>
        <p:nvSpPr>
          <p:cNvPr id="2" name="矩形 1"/>
          <p:cNvSpPr/>
          <p:nvPr/>
        </p:nvSpPr>
        <p:spPr>
          <a:xfrm>
            <a:off x="2749642" y="4401496"/>
            <a:ext cx="1005403" cy="338554"/>
          </a:xfrm>
          <a:prstGeom prst="rect">
            <a:avLst/>
          </a:prstGeom>
        </p:spPr>
        <p:txBody>
          <a:bodyPr wrap="none">
            <a:spAutoFit/>
          </a:bodyPr>
          <a:lstStyle/>
          <a:p>
            <a:r>
              <a:rPr lang="zh-CN" altLang="en-US" b="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厂商需求</a:t>
            </a:r>
            <a:endParaRPr lang="zh-CN" altLang="en-US" dirty="0">
              <a:latin typeface="微软雅黑" panose="020B0503020204020204" pitchFamily="34" charset="-122"/>
              <a:ea typeface="微软雅黑" panose="020B0503020204020204" pitchFamily="34" charset="-122"/>
            </a:endParaRPr>
          </a:p>
        </p:txBody>
      </p:sp>
      <p:sp>
        <p:nvSpPr>
          <p:cNvPr id="3" name="矩形 2"/>
          <p:cNvSpPr/>
          <p:nvPr/>
        </p:nvSpPr>
        <p:spPr>
          <a:xfrm>
            <a:off x="4016949" y="3812849"/>
            <a:ext cx="1005403" cy="338554"/>
          </a:xfrm>
          <a:prstGeom prst="rect">
            <a:avLst/>
          </a:prstGeom>
        </p:spPr>
        <p:txBody>
          <a:bodyPr wrap="none">
            <a:spAutoFit/>
          </a:bodyPr>
          <a:lstStyle/>
          <a:p>
            <a:r>
              <a:rPr lang="zh-CN" altLang="en-US" b="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市场需求</a:t>
            </a:r>
            <a:endParaRPr lang="zh-CN" altLang="en-US" dirty="0">
              <a:latin typeface="微软雅黑" panose="020B0503020204020204" pitchFamily="34" charset="-122"/>
              <a:ea typeface="微软雅黑" panose="020B0503020204020204" pitchFamily="34" charset="-122"/>
            </a:endParaRPr>
          </a:p>
        </p:txBody>
      </p:sp>
      <p:sp>
        <p:nvSpPr>
          <p:cNvPr id="18" name="矩形 17"/>
          <p:cNvSpPr/>
          <p:nvPr/>
        </p:nvSpPr>
        <p:spPr>
          <a:xfrm>
            <a:off x="7543092" y="44765"/>
            <a:ext cx="1600908" cy="369332"/>
          </a:xfrm>
          <a:prstGeom prst="rect">
            <a:avLst/>
          </a:prstGeom>
        </p:spPr>
        <p:txBody>
          <a:bodyPr wrap="square">
            <a:spAutoFit/>
          </a:bodyPr>
          <a:lstStyle/>
          <a:p>
            <a:r>
              <a:rPr lang="zh-CN" altLang="en-US" sz="1800" b="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第三节  寡头</a:t>
            </a:r>
            <a:endParaRPr lang="zh-CN" altLang="en-US" sz="18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9" name="矩形 18">
            <a:extLst>
              <a:ext uri="{FF2B5EF4-FFF2-40B4-BE49-F238E27FC236}">
                <a16:creationId xmlns:a16="http://schemas.microsoft.com/office/drawing/2014/main" id="{F68E5273-CD77-47B9-B841-9D29349C133D}"/>
              </a:ext>
            </a:extLst>
          </p:cNvPr>
          <p:cNvSpPr/>
          <p:nvPr/>
        </p:nvSpPr>
        <p:spPr>
          <a:xfrm>
            <a:off x="457201" y="548681"/>
            <a:ext cx="2386680"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marL="0" lvl="1">
              <a:defRPr/>
            </a:pPr>
            <a:r>
              <a:rPr lang="zh-CN" altLang="en-US" sz="2400" spc="150" dirty="0">
                <a:solidFill>
                  <a:srgbClr val="FFFFFF"/>
                </a:solidFill>
                <a:latin typeface="微软雅黑" panose="020B0503020204020204" pitchFamily="34" charset="-122"/>
                <a:ea typeface="微软雅黑" panose="020B0503020204020204" pitchFamily="34" charset="-122"/>
              </a:rPr>
              <a:t>二</a:t>
            </a:r>
            <a:r>
              <a:rPr lang="zh-CN" altLang="en-US" sz="2400" b="1" spc="150" dirty="0">
                <a:solidFill>
                  <a:srgbClr val="FFFFFF"/>
                </a:solidFill>
                <a:latin typeface="微软雅黑" panose="020B0503020204020204" pitchFamily="34" charset="-122"/>
                <a:ea typeface="微软雅黑" panose="020B0503020204020204" pitchFamily="34" charset="-122"/>
              </a:rPr>
              <a:t>、</a:t>
            </a:r>
            <a:r>
              <a:rPr lang="zh-CN" altLang="en-US" sz="2400" spc="15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古诺模型</a:t>
            </a:r>
            <a:endParaRPr lang="zh-CN" altLang="en-US" sz="2400" spc="150" dirty="0">
              <a:solidFill>
                <a:srgbClr val="FFFFFF"/>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97097302"/>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9938">
                                            <p:txEl>
                                              <p:pRg st="1" end="1"/>
                                            </p:txEl>
                                          </p:spTgt>
                                        </p:tgtEl>
                                        <p:attrNameLst>
                                          <p:attrName>style.visibility</p:attrName>
                                        </p:attrNameLst>
                                      </p:cBhvr>
                                      <p:to>
                                        <p:strVal val="visible"/>
                                      </p:to>
                                    </p:set>
                                    <p:animEffect>
                                      <p:cBhvr>
                                        <p:cTn id="7" dur="500"/>
                                        <p:tgtEl>
                                          <p:spTgt spid="39938">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9939"/>
                                        </p:tgtEl>
                                        <p:attrNameLst>
                                          <p:attrName>style.visibility</p:attrName>
                                        </p:attrNameLst>
                                      </p:cBhvr>
                                      <p:to>
                                        <p:strVal val="visible"/>
                                      </p:to>
                                    </p:set>
                                    <p:animEffect>
                                      <p:cBhvr>
                                        <p:cTn id="12" dur="500"/>
                                        <p:tgtEl>
                                          <p:spTgt spid="39939"/>
                                        </p:tgtEl>
                                      </p:cBhvr>
                                    </p:animEffect>
                                  </p:childTnLst>
                                </p:cTn>
                              </p:par>
                            </p:childTnLst>
                          </p:cTn>
                        </p:par>
                        <p:par>
                          <p:cTn id="13" fill="hold" nodeType="afterGroup">
                            <p:stCondLst>
                              <p:cond delay="500"/>
                            </p:stCondLst>
                            <p:childTnLst>
                              <p:par>
                                <p:cTn id="14" presetID="2" presetClass="entr" presetSubtype="4" fill="hold" grpId="0" nodeType="afterEffect">
                                  <p:stCondLst>
                                    <p:cond delay="0"/>
                                  </p:stCondLst>
                                  <p:childTnLst>
                                    <p:set>
                                      <p:cBhvr>
                                        <p:cTn id="15" dur="1" fill="hold">
                                          <p:stCondLst>
                                            <p:cond delay="0"/>
                                          </p:stCondLst>
                                        </p:cTn>
                                        <p:tgtEl>
                                          <p:spTgt spid="39940"/>
                                        </p:tgtEl>
                                        <p:attrNameLst>
                                          <p:attrName>style.visibility</p:attrName>
                                        </p:attrNameLst>
                                      </p:cBhvr>
                                      <p:to>
                                        <p:strVal val="visible"/>
                                      </p:to>
                                    </p:set>
                                    <p:anim calcmode="lin" valueType="num">
                                      <p:cBhvr>
                                        <p:cTn id="16" dur="500" fill="hold"/>
                                        <p:tgtEl>
                                          <p:spTgt spid="39940"/>
                                        </p:tgtEl>
                                        <p:attrNameLst>
                                          <p:attrName>ppt_x</p:attrName>
                                        </p:attrNameLst>
                                      </p:cBhvr>
                                      <p:tavLst>
                                        <p:tav tm="0">
                                          <p:val>
                                            <p:strVal val="#ppt_x"/>
                                          </p:val>
                                        </p:tav>
                                        <p:tav tm="100000">
                                          <p:val>
                                            <p:strVal val="#ppt_x"/>
                                          </p:val>
                                        </p:tav>
                                      </p:tavLst>
                                    </p:anim>
                                    <p:anim calcmode="lin" valueType="num">
                                      <p:cBhvr>
                                        <p:cTn id="17" dur="500" fill="hold"/>
                                        <p:tgtEl>
                                          <p:spTgt spid="39940"/>
                                        </p:tgtEl>
                                        <p:attrNameLst>
                                          <p:attrName>ppt_y</p:attrName>
                                        </p:attrNameLst>
                                      </p:cBhvr>
                                      <p:tavLst>
                                        <p:tav tm="0">
                                          <p:val>
                                            <p:strVal val="1+#ppt_h/2"/>
                                          </p:val>
                                        </p:tav>
                                        <p:tav tm="100000">
                                          <p:val>
                                            <p:strVal val="#ppt_y"/>
                                          </p:val>
                                        </p:tav>
                                      </p:tavLst>
                                    </p:anim>
                                  </p:childTnLst>
                                </p:cTn>
                              </p:par>
                            </p:childTnLst>
                          </p:cTn>
                        </p:par>
                        <p:par>
                          <p:cTn id="18" fill="hold" nodeType="afterGroup">
                            <p:stCondLst>
                              <p:cond delay="1000"/>
                            </p:stCondLst>
                            <p:childTnLst>
                              <p:par>
                                <p:cTn id="19" presetID="2" presetClass="entr" presetSubtype="4" fill="hold" grpId="0" nodeType="afterEffect">
                                  <p:stCondLst>
                                    <p:cond delay="0"/>
                                  </p:stCondLst>
                                  <p:childTnLst>
                                    <p:set>
                                      <p:cBhvr>
                                        <p:cTn id="20" dur="1" fill="hold">
                                          <p:stCondLst>
                                            <p:cond delay="0"/>
                                          </p:stCondLst>
                                        </p:cTn>
                                        <p:tgtEl>
                                          <p:spTgt spid="39941"/>
                                        </p:tgtEl>
                                        <p:attrNameLst>
                                          <p:attrName>style.visibility</p:attrName>
                                        </p:attrNameLst>
                                      </p:cBhvr>
                                      <p:to>
                                        <p:strVal val="visible"/>
                                      </p:to>
                                    </p:set>
                                    <p:anim calcmode="lin" valueType="num">
                                      <p:cBhvr>
                                        <p:cTn id="21" dur="500" fill="hold"/>
                                        <p:tgtEl>
                                          <p:spTgt spid="39941"/>
                                        </p:tgtEl>
                                        <p:attrNameLst>
                                          <p:attrName>ppt_x</p:attrName>
                                        </p:attrNameLst>
                                      </p:cBhvr>
                                      <p:tavLst>
                                        <p:tav tm="0">
                                          <p:val>
                                            <p:strVal val="#ppt_x"/>
                                          </p:val>
                                        </p:tav>
                                        <p:tav tm="100000">
                                          <p:val>
                                            <p:strVal val="#ppt_x"/>
                                          </p:val>
                                        </p:tav>
                                      </p:tavLst>
                                    </p:anim>
                                    <p:anim calcmode="lin" valueType="num">
                                      <p:cBhvr>
                                        <p:cTn id="22" dur="500" fill="hold"/>
                                        <p:tgtEl>
                                          <p:spTgt spid="39941"/>
                                        </p:tgtEl>
                                        <p:attrNameLst>
                                          <p:attrName>ppt_y</p:attrName>
                                        </p:attrNameLst>
                                      </p:cBhvr>
                                      <p:tavLst>
                                        <p:tav tm="0">
                                          <p:val>
                                            <p:strVal val="1+#ppt_h/2"/>
                                          </p:val>
                                        </p:tav>
                                        <p:tav tm="100000">
                                          <p:val>
                                            <p:strVal val="#ppt_y"/>
                                          </p:val>
                                        </p:tav>
                                      </p:tavLst>
                                    </p:anim>
                                  </p:childTnLst>
                                </p:cTn>
                              </p:par>
                            </p:childTnLst>
                          </p:cTn>
                        </p:par>
                        <p:par>
                          <p:cTn id="23" fill="hold" nodeType="afterGroup">
                            <p:stCondLst>
                              <p:cond delay="1500"/>
                            </p:stCondLst>
                            <p:childTnLst>
                              <p:par>
                                <p:cTn id="24" presetID="2" presetClass="entr" presetSubtype="4" fill="hold" grpId="0" nodeType="afterEffect">
                                  <p:stCondLst>
                                    <p:cond delay="0"/>
                                  </p:stCondLst>
                                  <p:childTnLst>
                                    <p:set>
                                      <p:cBhvr>
                                        <p:cTn id="25" dur="1" fill="hold">
                                          <p:stCondLst>
                                            <p:cond delay="0"/>
                                          </p:stCondLst>
                                        </p:cTn>
                                        <p:tgtEl>
                                          <p:spTgt spid="39942"/>
                                        </p:tgtEl>
                                        <p:attrNameLst>
                                          <p:attrName>style.visibility</p:attrName>
                                        </p:attrNameLst>
                                      </p:cBhvr>
                                      <p:to>
                                        <p:strVal val="visible"/>
                                      </p:to>
                                    </p:set>
                                    <p:anim calcmode="lin" valueType="num">
                                      <p:cBhvr>
                                        <p:cTn id="26" dur="500" fill="hold"/>
                                        <p:tgtEl>
                                          <p:spTgt spid="39942"/>
                                        </p:tgtEl>
                                        <p:attrNameLst>
                                          <p:attrName>ppt_x</p:attrName>
                                        </p:attrNameLst>
                                      </p:cBhvr>
                                      <p:tavLst>
                                        <p:tav tm="0">
                                          <p:val>
                                            <p:strVal val="#ppt_x"/>
                                          </p:val>
                                        </p:tav>
                                        <p:tav tm="100000">
                                          <p:val>
                                            <p:strVal val="#ppt_x"/>
                                          </p:val>
                                        </p:tav>
                                      </p:tavLst>
                                    </p:anim>
                                    <p:anim calcmode="lin" valueType="num">
                                      <p:cBhvr>
                                        <p:cTn id="27" dur="500" fill="hold"/>
                                        <p:tgtEl>
                                          <p:spTgt spid="39942"/>
                                        </p:tgtEl>
                                        <p:attrNameLst>
                                          <p:attrName>ppt_y</p:attrName>
                                        </p:attrNameLst>
                                      </p:cBhvr>
                                      <p:tavLst>
                                        <p:tav tm="0">
                                          <p:val>
                                            <p:strVal val="1+#ppt_h/2"/>
                                          </p:val>
                                        </p:tav>
                                        <p:tav tm="100000">
                                          <p:val>
                                            <p:strVal val="#ppt_y"/>
                                          </p:val>
                                        </p:tav>
                                      </p:tavLst>
                                    </p:anim>
                                  </p:childTnLst>
                                </p:cTn>
                              </p:par>
                            </p:childTnLst>
                          </p:cTn>
                        </p:par>
                        <p:par>
                          <p:cTn id="28" fill="hold" nodeType="afterGroup">
                            <p:stCondLst>
                              <p:cond delay="2000"/>
                            </p:stCondLst>
                            <p:childTnLst>
                              <p:par>
                                <p:cTn id="29" presetID="2" presetClass="entr" presetSubtype="4" fill="hold" grpId="0" nodeType="afterEffect">
                                  <p:stCondLst>
                                    <p:cond delay="0"/>
                                  </p:stCondLst>
                                  <p:childTnLst>
                                    <p:set>
                                      <p:cBhvr>
                                        <p:cTn id="30" dur="1" fill="hold">
                                          <p:stCondLst>
                                            <p:cond delay="0"/>
                                          </p:stCondLst>
                                        </p:cTn>
                                        <p:tgtEl>
                                          <p:spTgt spid="39943"/>
                                        </p:tgtEl>
                                        <p:attrNameLst>
                                          <p:attrName>style.visibility</p:attrName>
                                        </p:attrNameLst>
                                      </p:cBhvr>
                                      <p:to>
                                        <p:strVal val="visible"/>
                                      </p:to>
                                    </p:set>
                                    <p:anim calcmode="lin" valueType="num">
                                      <p:cBhvr>
                                        <p:cTn id="31" dur="500" fill="hold"/>
                                        <p:tgtEl>
                                          <p:spTgt spid="39943"/>
                                        </p:tgtEl>
                                        <p:attrNameLst>
                                          <p:attrName>ppt_x</p:attrName>
                                        </p:attrNameLst>
                                      </p:cBhvr>
                                      <p:tavLst>
                                        <p:tav tm="0">
                                          <p:val>
                                            <p:strVal val="#ppt_x"/>
                                          </p:val>
                                        </p:tav>
                                        <p:tav tm="100000">
                                          <p:val>
                                            <p:strVal val="#ppt_x"/>
                                          </p:val>
                                        </p:tav>
                                      </p:tavLst>
                                    </p:anim>
                                    <p:anim calcmode="lin" valueType="num">
                                      <p:cBhvr>
                                        <p:cTn id="32" dur="500" fill="hold"/>
                                        <p:tgtEl>
                                          <p:spTgt spid="39943"/>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9944"/>
                                        </p:tgtEl>
                                        <p:attrNameLst>
                                          <p:attrName>style.visibility</p:attrName>
                                        </p:attrNameLst>
                                      </p:cBhvr>
                                      <p:to>
                                        <p:strVal val="visible"/>
                                      </p:to>
                                    </p:set>
                                    <p:animEffect>
                                      <p:cBhvr>
                                        <p:cTn id="37" dur="500"/>
                                        <p:tgtEl>
                                          <p:spTgt spid="39944"/>
                                        </p:tgtEl>
                                      </p:cBhvr>
                                    </p:animEffect>
                                  </p:childTnLst>
                                </p:cTn>
                              </p:par>
                              <p:par>
                                <p:cTn id="38" presetID="2" presetClass="entr" presetSubtype="4" fill="hold" grpId="0" nodeType="withEffect">
                                  <p:stCondLst>
                                    <p:cond delay="0"/>
                                  </p:stCondLst>
                                  <p:childTnLst>
                                    <p:set>
                                      <p:cBhvr>
                                        <p:cTn id="39" dur="1" fill="hold">
                                          <p:stCondLst>
                                            <p:cond delay="0"/>
                                          </p:stCondLst>
                                        </p:cTn>
                                        <p:tgtEl>
                                          <p:spTgt spid="39947"/>
                                        </p:tgtEl>
                                        <p:attrNameLst>
                                          <p:attrName>style.visibility</p:attrName>
                                        </p:attrNameLst>
                                      </p:cBhvr>
                                      <p:to>
                                        <p:strVal val="visible"/>
                                      </p:to>
                                    </p:set>
                                    <p:anim calcmode="lin" valueType="num">
                                      <p:cBhvr>
                                        <p:cTn id="40" dur="500" fill="hold"/>
                                        <p:tgtEl>
                                          <p:spTgt spid="39947"/>
                                        </p:tgtEl>
                                        <p:attrNameLst>
                                          <p:attrName>ppt_x</p:attrName>
                                        </p:attrNameLst>
                                      </p:cBhvr>
                                      <p:tavLst>
                                        <p:tav tm="0">
                                          <p:val>
                                            <p:strVal val="#ppt_x"/>
                                          </p:val>
                                        </p:tav>
                                        <p:tav tm="100000">
                                          <p:val>
                                            <p:strVal val="#ppt_x"/>
                                          </p:val>
                                        </p:tav>
                                      </p:tavLst>
                                    </p:anim>
                                    <p:anim calcmode="lin" valueType="num">
                                      <p:cBhvr>
                                        <p:cTn id="41" dur="500" fill="hold"/>
                                        <p:tgtEl>
                                          <p:spTgt spid="39947"/>
                                        </p:tgtEl>
                                        <p:attrNameLst>
                                          <p:attrName>ppt_y</p:attrName>
                                        </p:attrNameLst>
                                      </p:cBhvr>
                                      <p:tavLst>
                                        <p:tav tm="0">
                                          <p:val>
                                            <p:strVal val="1+#ppt_h/2"/>
                                          </p:val>
                                        </p:tav>
                                        <p:tav tm="100000">
                                          <p:val>
                                            <p:strVal val="#ppt_y"/>
                                          </p:val>
                                        </p:tav>
                                      </p:tavLst>
                                    </p:anim>
                                  </p:childTnLst>
                                </p:cTn>
                              </p:par>
                              <p:par>
                                <p:cTn id="42" presetID="2" presetClass="entr" presetSubtype="4" fill="hold" grpId="0" nodeType="withEffect">
                                  <p:stCondLst>
                                    <p:cond delay="0"/>
                                  </p:stCondLst>
                                  <p:childTnLst>
                                    <p:set>
                                      <p:cBhvr>
                                        <p:cTn id="43" dur="1" fill="hold">
                                          <p:stCondLst>
                                            <p:cond delay="0"/>
                                          </p:stCondLst>
                                        </p:cTn>
                                        <p:tgtEl>
                                          <p:spTgt spid="3"/>
                                        </p:tgtEl>
                                        <p:attrNameLst>
                                          <p:attrName>style.visibility</p:attrName>
                                        </p:attrNameLst>
                                      </p:cBhvr>
                                      <p:to>
                                        <p:strVal val="visible"/>
                                      </p:to>
                                    </p:set>
                                    <p:anim calcmode="lin" valueType="num">
                                      <p:cBhvr additive="base">
                                        <p:cTn id="44" dur="500" fill="hold"/>
                                        <p:tgtEl>
                                          <p:spTgt spid="3"/>
                                        </p:tgtEl>
                                        <p:attrNameLst>
                                          <p:attrName>ppt_x</p:attrName>
                                        </p:attrNameLst>
                                      </p:cBhvr>
                                      <p:tavLst>
                                        <p:tav tm="0">
                                          <p:val>
                                            <p:strVal val="#ppt_x"/>
                                          </p:val>
                                        </p:tav>
                                        <p:tav tm="100000">
                                          <p:val>
                                            <p:strVal val="#ppt_x"/>
                                          </p:val>
                                        </p:tav>
                                      </p:tavLst>
                                    </p:anim>
                                    <p:anim calcmode="lin" valueType="num">
                                      <p:cBhvr additive="base">
                                        <p:cTn id="45"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4" presetClass="entr" presetSubtype="16" fill="hold" grpId="0" nodeType="clickEffect">
                                  <p:stCondLst>
                                    <p:cond delay="0"/>
                                  </p:stCondLst>
                                  <p:childTnLst>
                                    <p:set>
                                      <p:cBhvr>
                                        <p:cTn id="49" dur="1" fill="hold">
                                          <p:stCondLst>
                                            <p:cond delay="0"/>
                                          </p:stCondLst>
                                        </p:cTn>
                                        <p:tgtEl>
                                          <p:spTgt spid="39945"/>
                                        </p:tgtEl>
                                        <p:attrNameLst>
                                          <p:attrName>style.visibility</p:attrName>
                                        </p:attrNameLst>
                                      </p:cBhvr>
                                      <p:to>
                                        <p:strVal val="visible"/>
                                      </p:to>
                                    </p:set>
                                    <p:animEffect>
                                      <p:cBhvr>
                                        <p:cTn id="50" dur="500"/>
                                        <p:tgtEl>
                                          <p:spTgt spid="39945"/>
                                        </p:tgtEl>
                                      </p:cBhvr>
                                    </p:animEffect>
                                  </p:childTnLst>
                                </p:cTn>
                              </p:par>
                              <p:par>
                                <p:cTn id="51" presetID="2" presetClass="entr" presetSubtype="4" fill="hold" grpId="0" nodeType="withEffect">
                                  <p:stCondLst>
                                    <p:cond delay="0"/>
                                  </p:stCondLst>
                                  <p:childTnLst>
                                    <p:set>
                                      <p:cBhvr>
                                        <p:cTn id="52" dur="1" fill="hold">
                                          <p:stCondLst>
                                            <p:cond delay="0"/>
                                          </p:stCondLst>
                                        </p:cTn>
                                        <p:tgtEl>
                                          <p:spTgt spid="39946"/>
                                        </p:tgtEl>
                                        <p:attrNameLst>
                                          <p:attrName>style.visibility</p:attrName>
                                        </p:attrNameLst>
                                      </p:cBhvr>
                                      <p:to>
                                        <p:strVal val="visible"/>
                                      </p:to>
                                    </p:set>
                                    <p:anim calcmode="lin" valueType="num">
                                      <p:cBhvr>
                                        <p:cTn id="53" dur="500" fill="hold"/>
                                        <p:tgtEl>
                                          <p:spTgt spid="39946"/>
                                        </p:tgtEl>
                                        <p:attrNameLst>
                                          <p:attrName>ppt_x</p:attrName>
                                        </p:attrNameLst>
                                      </p:cBhvr>
                                      <p:tavLst>
                                        <p:tav tm="0">
                                          <p:val>
                                            <p:strVal val="#ppt_x"/>
                                          </p:val>
                                        </p:tav>
                                        <p:tav tm="100000">
                                          <p:val>
                                            <p:strVal val="#ppt_x"/>
                                          </p:val>
                                        </p:tav>
                                      </p:tavLst>
                                    </p:anim>
                                    <p:anim calcmode="lin" valueType="num">
                                      <p:cBhvr>
                                        <p:cTn id="54" dur="500" fill="hold"/>
                                        <p:tgtEl>
                                          <p:spTgt spid="39946"/>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2"/>
                                        </p:tgtEl>
                                        <p:attrNameLst>
                                          <p:attrName>style.visibility</p:attrName>
                                        </p:attrNameLst>
                                      </p:cBhvr>
                                      <p:to>
                                        <p:strVal val="visible"/>
                                      </p:to>
                                    </p:set>
                                    <p:anim calcmode="lin" valueType="num">
                                      <p:cBhvr additive="base">
                                        <p:cTn id="57" dur="500" fill="hold"/>
                                        <p:tgtEl>
                                          <p:spTgt spid="2"/>
                                        </p:tgtEl>
                                        <p:attrNameLst>
                                          <p:attrName>ppt_x</p:attrName>
                                        </p:attrNameLst>
                                      </p:cBhvr>
                                      <p:tavLst>
                                        <p:tav tm="0">
                                          <p:val>
                                            <p:strVal val="#ppt_x"/>
                                          </p:val>
                                        </p:tav>
                                        <p:tav tm="100000">
                                          <p:val>
                                            <p:strVal val="#ppt_x"/>
                                          </p:val>
                                        </p:tav>
                                      </p:tavLst>
                                    </p:anim>
                                    <p:anim calcmode="lin" valueType="num">
                                      <p:cBhvr additive="base">
                                        <p:cTn id="5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8" presetClass="entr" presetSubtype="16" fill="hold" grpId="0" nodeType="clickEffect">
                                  <p:stCondLst>
                                    <p:cond delay="0"/>
                                  </p:stCondLst>
                                  <p:childTnLst>
                                    <p:set>
                                      <p:cBhvr>
                                        <p:cTn id="62" dur="1" fill="hold">
                                          <p:stCondLst>
                                            <p:cond delay="0"/>
                                          </p:stCondLst>
                                        </p:cTn>
                                        <p:tgtEl>
                                          <p:spTgt spid="39950"/>
                                        </p:tgtEl>
                                        <p:attrNameLst>
                                          <p:attrName>style.visibility</p:attrName>
                                        </p:attrNameLst>
                                      </p:cBhvr>
                                      <p:to>
                                        <p:strVal val="visible"/>
                                      </p:to>
                                    </p:set>
                                    <p:animEffect>
                                      <p:cBhvr>
                                        <p:cTn id="63" dur="2000"/>
                                        <p:tgtEl>
                                          <p:spTgt spid="39950"/>
                                        </p:tgtEl>
                                      </p:cBhvr>
                                    </p:animEffect>
                                  </p:childTnLst>
                                </p:cTn>
                              </p:par>
                              <p:par>
                                <p:cTn id="64" presetID="2" presetClass="entr" presetSubtype="4" fill="hold" grpId="0" nodeType="withEffect">
                                  <p:stCondLst>
                                    <p:cond delay="0"/>
                                  </p:stCondLst>
                                  <p:childTnLst>
                                    <p:set>
                                      <p:cBhvr>
                                        <p:cTn id="65" dur="1" fill="hold">
                                          <p:stCondLst>
                                            <p:cond delay="0"/>
                                          </p:stCondLst>
                                        </p:cTn>
                                        <p:tgtEl>
                                          <p:spTgt spid="39949"/>
                                        </p:tgtEl>
                                        <p:attrNameLst>
                                          <p:attrName>style.visibility</p:attrName>
                                        </p:attrNameLst>
                                      </p:cBhvr>
                                      <p:to>
                                        <p:strVal val="visible"/>
                                      </p:to>
                                    </p:set>
                                    <p:anim calcmode="lin" valueType="num">
                                      <p:cBhvr>
                                        <p:cTn id="66" dur="500" fill="hold"/>
                                        <p:tgtEl>
                                          <p:spTgt spid="39949"/>
                                        </p:tgtEl>
                                        <p:attrNameLst>
                                          <p:attrName>ppt_x</p:attrName>
                                        </p:attrNameLst>
                                      </p:cBhvr>
                                      <p:tavLst>
                                        <p:tav tm="0">
                                          <p:val>
                                            <p:strVal val="#ppt_x"/>
                                          </p:val>
                                        </p:tav>
                                        <p:tav tm="100000">
                                          <p:val>
                                            <p:strVal val="#ppt_x"/>
                                          </p:val>
                                        </p:tav>
                                      </p:tavLst>
                                    </p:anim>
                                    <p:anim calcmode="lin" valueType="num">
                                      <p:cBhvr>
                                        <p:cTn id="67" dur="500" fill="hold"/>
                                        <p:tgtEl>
                                          <p:spTgt spid="39949"/>
                                        </p:tgtEl>
                                        <p:attrNameLst>
                                          <p:attrName>ppt_y</p:attrName>
                                        </p:attrNameLst>
                                      </p:cBhvr>
                                      <p:tavLst>
                                        <p:tav tm="0">
                                          <p:val>
                                            <p:strVal val="1+#ppt_h/2"/>
                                          </p:val>
                                        </p:tav>
                                        <p:tav tm="100000">
                                          <p:val>
                                            <p:strVal val="#ppt_y"/>
                                          </p:val>
                                        </p:tav>
                                      </p:tavLst>
                                    </p:anim>
                                  </p:childTnLst>
                                </p:cTn>
                              </p:par>
                              <p:par>
                                <p:cTn id="68" presetID="2" presetClass="entr" presetSubtype="4" fill="hold" grpId="0" nodeType="withEffect">
                                  <p:stCondLst>
                                    <p:cond delay="0"/>
                                  </p:stCondLst>
                                  <p:childTnLst>
                                    <p:set>
                                      <p:cBhvr>
                                        <p:cTn id="69" dur="1" fill="hold">
                                          <p:stCondLst>
                                            <p:cond delay="0"/>
                                          </p:stCondLst>
                                        </p:cTn>
                                        <p:tgtEl>
                                          <p:spTgt spid="39948"/>
                                        </p:tgtEl>
                                        <p:attrNameLst>
                                          <p:attrName>style.visibility</p:attrName>
                                        </p:attrNameLst>
                                      </p:cBhvr>
                                      <p:to>
                                        <p:strVal val="visible"/>
                                      </p:to>
                                    </p:set>
                                    <p:anim calcmode="lin" valueType="num">
                                      <p:cBhvr>
                                        <p:cTn id="70" dur="500" fill="hold"/>
                                        <p:tgtEl>
                                          <p:spTgt spid="39948"/>
                                        </p:tgtEl>
                                        <p:attrNameLst>
                                          <p:attrName>ppt_x</p:attrName>
                                        </p:attrNameLst>
                                      </p:cBhvr>
                                      <p:tavLst>
                                        <p:tav tm="0">
                                          <p:val>
                                            <p:strVal val="#ppt_x"/>
                                          </p:val>
                                        </p:tav>
                                        <p:tav tm="100000">
                                          <p:val>
                                            <p:strVal val="#ppt_x"/>
                                          </p:val>
                                        </p:tav>
                                      </p:tavLst>
                                    </p:anim>
                                    <p:anim calcmode="lin" valueType="num">
                                      <p:cBhvr>
                                        <p:cTn id="71" dur="500" fill="hold"/>
                                        <p:tgtEl>
                                          <p:spTgt spid="3994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9" grpId="0" bldLvl="0" animBg="1" autoUpdateAnimBg="0"/>
      <p:bldP spid="39940" grpId="0" bldLvl="0" animBg="1" autoUpdateAnimBg="0"/>
      <p:bldP spid="39941" grpId="0" bldLvl="0" autoUpdateAnimBg="0"/>
      <p:bldP spid="39942" grpId="0" bldLvl="0" autoUpdateAnimBg="0"/>
      <p:bldP spid="39943" grpId="0" bldLvl="0" autoUpdateAnimBg="0"/>
      <p:bldP spid="39944" grpId="0" bldLvl="0" animBg="1" autoUpdateAnimBg="0"/>
      <p:bldP spid="39945" grpId="0" bldLvl="0" animBg="1" autoUpdateAnimBg="0"/>
      <p:bldP spid="39946" grpId="0" bldLvl="0" autoUpdateAnimBg="0"/>
      <p:bldP spid="39947" grpId="0" bldLvl="0" autoUpdateAnimBg="0"/>
      <p:bldP spid="39948" grpId="0" bldLvl="0" autoUpdateAnimBg="0"/>
      <p:bldP spid="39949" grpId="0" bldLvl="0" animBg="1" autoUpdateAnimBg="0"/>
      <p:bldP spid="39950" grpId="0" bldLvl="0" autoUpdateAnimBg="0"/>
      <p:bldP spid="2" grpId="0"/>
      <p:bldP spid="3"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3"/>
          <p:cNvSpPr>
            <a:spLocks noGrp="1" noChangeArrowheads="1"/>
          </p:cNvSpPr>
          <p:nvPr>
            <p:ph type="body" idx="4294967295"/>
          </p:nvPr>
        </p:nvSpPr>
        <p:spPr>
          <a:xfrm>
            <a:off x="457201" y="1237803"/>
            <a:ext cx="8229600" cy="3384289"/>
          </a:xfrm>
          <a:ln/>
        </p:spPr>
        <p:txBody>
          <a:bodyPr/>
          <a:lstStyle/>
          <a:p>
            <a:pPr marL="457200" lvl="2" indent="-457200" eaLnBrk="1" hangingPunct="1">
              <a:lnSpc>
                <a:spcPct val="200000"/>
              </a:lnSpc>
              <a:buSzPct val="100000"/>
              <a:buFont typeface="Wingdings" panose="05000000000000000000" pitchFamily="2" charset="2"/>
              <a:buChar char="u"/>
            </a:pPr>
            <a:r>
              <a:rPr lang="zh-CN" altLang="en-US" sz="2200" b="0" dirty="0">
                <a:latin typeface="微软雅黑" panose="020B0503020204020204" pitchFamily="34" charset="-122"/>
                <a:ea typeface="微软雅黑" panose="020B0503020204020204" pitchFamily="34" charset="-122"/>
              </a:rPr>
              <a:t>市场需求曲线与厂商收益</a:t>
            </a:r>
            <a:endParaRPr lang="en-US" altLang="zh-CN" sz="2200" b="0" dirty="0">
              <a:latin typeface="微软雅黑" panose="020B0503020204020204" pitchFamily="34" charset="-122"/>
              <a:ea typeface="微软雅黑" panose="020B0503020204020204" pitchFamily="34" charset="-122"/>
            </a:endParaRPr>
          </a:p>
          <a:p>
            <a:pPr marL="742950" lvl="2" indent="-342900" eaLnBrk="1" hangingPunct="1">
              <a:lnSpc>
                <a:spcPct val="150000"/>
              </a:lnSpc>
              <a:buFont typeface="Wingdings" panose="05000000000000000000" pitchFamily="2" charset="2"/>
              <a:buChar char="Ø"/>
            </a:pPr>
            <a:r>
              <a:rPr lang="zh-CN" altLang="en-US" sz="2200" b="0" dirty="0">
                <a:latin typeface="微软雅黑" panose="020B0503020204020204" pitchFamily="34" charset="-122"/>
                <a:ea typeface="微软雅黑" panose="020B0503020204020204" pitchFamily="34" charset="-122"/>
              </a:rPr>
              <a:t>市场需求函数</a:t>
            </a:r>
            <a:endParaRPr lang="en-US" altLang="zh-CN" sz="2200" b="0" dirty="0">
              <a:latin typeface="微软雅黑" panose="020B0503020204020204" pitchFamily="34" charset="-122"/>
              <a:ea typeface="微软雅黑" panose="020B0503020204020204" pitchFamily="34" charset="-122"/>
            </a:endParaRPr>
          </a:p>
          <a:p>
            <a:pPr marL="457200" lvl="1" indent="0" eaLnBrk="1" hangingPunct="1">
              <a:buNone/>
            </a:pPr>
            <a:endParaRPr lang="en-US" altLang="zh-CN" b="0" dirty="0"/>
          </a:p>
          <a:p>
            <a:pPr marL="742950" lvl="2" indent="-342900" eaLnBrk="1" hangingPunct="1">
              <a:lnSpc>
                <a:spcPct val="200000"/>
              </a:lnSpc>
              <a:buFont typeface="Wingdings" panose="05000000000000000000" pitchFamily="2" charset="2"/>
              <a:buChar char="Ø"/>
            </a:pPr>
            <a:r>
              <a:rPr lang="zh-CN" altLang="en-US" sz="2200" b="0" dirty="0">
                <a:latin typeface="微软雅黑" panose="020B0503020204020204" pitchFamily="34" charset="-122"/>
                <a:ea typeface="微软雅黑" panose="020B0503020204020204" pitchFamily="34" charset="-122"/>
              </a:rPr>
              <a:t>厂商收益</a:t>
            </a:r>
            <a:endParaRPr lang="en-US" altLang="zh-CN" sz="2200" b="0" dirty="0">
              <a:latin typeface="微软雅黑" panose="020B0503020204020204" pitchFamily="34" charset="-122"/>
              <a:ea typeface="微软雅黑" panose="020B0503020204020204" pitchFamily="34" charset="-122"/>
            </a:endParaRPr>
          </a:p>
          <a:p>
            <a:pPr marL="457200" lvl="1" indent="0" eaLnBrk="1" hangingPunct="1">
              <a:buNone/>
            </a:pPr>
            <a:endParaRPr lang="en-US" altLang="zh-CN" b="0" dirty="0"/>
          </a:p>
          <a:p>
            <a:pPr marL="742950" lvl="2" indent="-342900" eaLnBrk="1" hangingPunct="1">
              <a:lnSpc>
                <a:spcPct val="200000"/>
              </a:lnSpc>
              <a:buFont typeface="Wingdings" panose="05000000000000000000" pitchFamily="2" charset="2"/>
              <a:buChar char="Ø"/>
            </a:pPr>
            <a:r>
              <a:rPr lang="zh-CN" altLang="en-US" sz="2200" b="0" dirty="0">
                <a:latin typeface="微软雅黑" panose="020B0503020204020204" pitchFamily="34" charset="-122"/>
                <a:ea typeface="微软雅黑" panose="020B0503020204020204" pitchFamily="34" charset="-122"/>
              </a:rPr>
              <a:t>边际收益</a:t>
            </a:r>
          </a:p>
        </p:txBody>
      </p:sp>
      <p:sp>
        <p:nvSpPr>
          <p:cNvPr id="8" name="矩形 7"/>
          <p:cNvSpPr/>
          <p:nvPr/>
        </p:nvSpPr>
        <p:spPr>
          <a:xfrm>
            <a:off x="7543092" y="44765"/>
            <a:ext cx="1600908" cy="369332"/>
          </a:xfrm>
          <a:prstGeom prst="rect">
            <a:avLst/>
          </a:prstGeom>
        </p:spPr>
        <p:txBody>
          <a:bodyPr wrap="square">
            <a:spAutoFit/>
          </a:bodyPr>
          <a:lstStyle/>
          <a:p>
            <a:r>
              <a:rPr lang="zh-CN" altLang="en-US" sz="1800" b="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第三节  寡头</a:t>
            </a:r>
            <a:endParaRPr lang="zh-CN" altLang="en-US" sz="18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9" name="矩形 8">
            <a:extLst>
              <a:ext uri="{FF2B5EF4-FFF2-40B4-BE49-F238E27FC236}">
                <a16:creationId xmlns:a16="http://schemas.microsoft.com/office/drawing/2014/main" id="{F68E5273-CD77-47B9-B841-9D29349C133D}"/>
              </a:ext>
            </a:extLst>
          </p:cNvPr>
          <p:cNvSpPr/>
          <p:nvPr/>
        </p:nvSpPr>
        <p:spPr>
          <a:xfrm>
            <a:off x="457201" y="548681"/>
            <a:ext cx="2386680"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marL="0" lvl="1">
              <a:defRPr/>
            </a:pPr>
            <a:r>
              <a:rPr lang="zh-CN" altLang="en-US" sz="2400" spc="150" dirty="0">
                <a:solidFill>
                  <a:srgbClr val="FFFFFF"/>
                </a:solidFill>
                <a:latin typeface="微软雅黑" panose="020B0503020204020204" pitchFamily="34" charset="-122"/>
                <a:ea typeface="微软雅黑" panose="020B0503020204020204" pitchFamily="34" charset="-122"/>
              </a:rPr>
              <a:t>二</a:t>
            </a:r>
            <a:r>
              <a:rPr lang="zh-CN" altLang="en-US" sz="2400" b="1" spc="150" dirty="0">
                <a:solidFill>
                  <a:srgbClr val="FFFFFF"/>
                </a:solidFill>
                <a:latin typeface="微软雅黑" panose="020B0503020204020204" pitchFamily="34" charset="-122"/>
                <a:ea typeface="微软雅黑" panose="020B0503020204020204" pitchFamily="34" charset="-122"/>
              </a:rPr>
              <a:t>、</a:t>
            </a:r>
            <a:r>
              <a:rPr lang="zh-CN" altLang="en-US" sz="2400" spc="15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古诺模型</a:t>
            </a:r>
            <a:endParaRPr lang="zh-CN" altLang="en-US" sz="2400" spc="150" dirty="0">
              <a:solidFill>
                <a:srgbClr val="FFFFFF"/>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2" name="文本框 1"/>
              <p:cNvSpPr txBox="1"/>
              <p:nvPr/>
            </p:nvSpPr>
            <p:spPr>
              <a:xfrm>
                <a:off x="3149303" y="2582399"/>
                <a:ext cx="3546164"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ea typeface="Cambria Math" panose="02040503050406030204" pitchFamily="18" charset="0"/>
                        </a:rPr>
                        <m:t>𝑷</m:t>
                      </m:r>
                      <m:r>
                        <a:rPr lang="en-US" altLang="zh-CN" sz="2000" i="1" smtClean="0">
                          <a:latin typeface="Cambria Math" panose="02040503050406030204" pitchFamily="18" charset="0"/>
                          <a:ea typeface="Cambria Math" panose="02040503050406030204" pitchFamily="18" charset="0"/>
                        </a:rPr>
                        <m:t>=</m:t>
                      </m:r>
                      <m:r>
                        <a:rPr lang="zh-CN" altLang="en-US" sz="2000" i="1" smtClean="0">
                          <a:latin typeface="Cambria Math" panose="02040503050406030204" pitchFamily="18" charset="0"/>
                          <a:ea typeface="Cambria Math" panose="02040503050406030204" pitchFamily="18" charset="0"/>
                        </a:rPr>
                        <m:t>𝜶</m:t>
                      </m:r>
                      <m:r>
                        <a:rPr lang="zh-CN" altLang="en-US" sz="2000" i="1" smtClean="0">
                          <a:latin typeface="Cambria Math" panose="02040503050406030204" pitchFamily="18" charset="0"/>
                          <a:ea typeface="Cambria Math" panose="02040503050406030204" pitchFamily="18" charset="0"/>
                        </a:rPr>
                        <m:t>−</m:t>
                      </m:r>
                      <m:r>
                        <a:rPr lang="zh-CN" altLang="en-US" sz="2000" i="1" smtClean="0">
                          <a:latin typeface="Cambria Math" panose="02040503050406030204" pitchFamily="18" charset="0"/>
                          <a:ea typeface="Cambria Math" panose="02040503050406030204" pitchFamily="18" charset="0"/>
                        </a:rPr>
                        <m:t>𝜷</m:t>
                      </m:r>
                      <m:r>
                        <a:rPr lang="en-US" altLang="zh-CN" sz="2000" b="1" i="1" smtClean="0">
                          <a:latin typeface="Cambria Math" panose="02040503050406030204" pitchFamily="18" charset="0"/>
                          <a:ea typeface="Cambria Math" panose="02040503050406030204" pitchFamily="18" charset="0"/>
                        </a:rPr>
                        <m:t>𝑸</m:t>
                      </m:r>
                      <m:r>
                        <a:rPr lang="en-US" altLang="zh-CN" sz="2000" b="1" i="1" smtClean="0">
                          <a:latin typeface="Cambria Math" panose="02040503050406030204" pitchFamily="18" charset="0"/>
                          <a:ea typeface="Cambria Math" panose="02040503050406030204" pitchFamily="18" charset="0"/>
                        </a:rPr>
                        <m:t>=</m:t>
                      </m:r>
                      <m:r>
                        <a:rPr lang="zh-CN" altLang="en-US" sz="2000" b="1" i="1" smtClean="0">
                          <a:latin typeface="Cambria Math" panose="02040503050406030204" pitchFamily="18" charset="0"/>
                          <a:ea typeface="Cambria Math" panose="02040503050406030204" pitchFamily="18" charset="0"/>
                        </a:rPr>
                        <m:t>𝜶</m:t>
                      </m:r>
                      <m:r>
                        <a:rPr lang="zh-CN" altLang="en-US" sz="2000" b="1" i="1" smtClean="0">
                          <a:latin typeface="Cambria Math" panose="02040503050406030204" pitchFamily="18" charset="0"/>
                          <a:ea typeface="Cambria Math" panose="02040503050406030204" pitchFamily="18" charset="0"/>
                        </a:rPr>
                        <m:t>−</m:t>
                      </m:r>
                      <m:r>
                        <a:rPr lang="zh-CN" altLang="en-US" sz="2000" b="1" i="1" smtClean="0">
                          <a:latin typeface="Cambria Math" panose="02040503050406030204" pitchFamily="18" charset="0"/>
                          <a:ea typeface="Cambria Math" panose="02040503050406030204" pitchFamily="18" charset="0"/>
                        </a:rPr>
                        <m:t>𝜷</m:t>
                      </m:r>
                      <m:d>
                        <m:dPr>
                          <m:ctrlPr>
                            <a:rPr lang="en-US" altLang="zh-CN" sz="2000" b="1" i="1" smtClean="0">
                              <a:latin typeface="Cambria Math" panose="02040503050406030204" pitchFamily="18" charset="0"/>
                              <a:ea typeface="Cambria Math" panose="02040503050406030204" pitchFamily="18" charset="0"/>
                            </a:rPr>
                          </m:ctrlPr>
                        </m:dPr>
                        <m:e>
                          <m:sSub>
                            <m:sSubPr>
                              <m:ctrlPr>
                                <a:rPr lang="en-US" altLang="zh-CN" sz="2000" b="1" i="1" smtClean="0">
                                  <a:latin typeface="Cambria Math" panose="02040503050406030204" pitchFamily="18" charset="0"/>
                                  <a:ea typeface="Cambria Math" panose="02040503050406030204" pitchFamily="18" charset="0"/>
                                </a:rPr>
                              </m:ctrlPr>
                            </m:sSubPr>
                            <m:e>
                              <m:r>
                                <a:rPr lang="en-US" altLang="zh-CN" sz="2000" b="1" i="1" smtClean="0">
                                  <a:latin typeface="Cambria Math" panose="02040503050406030204" pitchFamily="18" charset="0"/>
                                  <a:ea typeface="Cambria Math" panose="02040503050406030204" pitchFamily="18" charset="0"/>
                                </a:rPr>
                                <m:t>𝑸</m:t>
                              </m:r>
                            </m:e>
                            <m:sub>
                              <m:r>
                                <a:rPr lang="en-US" altLang="zh-CN" sz="2000" b="1" i="1" smtClean="0">
                                  <a:latin typeface="Cambria Math" panose="02040503050406030204" pitchFamily="18" charset="0"/>
                                  <a:ea typeface="Cambria Math" panose="02040503050406030204" pitchFamily="18" charset="0"/>
                                </a:rPr>
                                <m:t>𝟏</m:t>
                              </m:r>
                            </m:sub>
                          </m:sSub>
                          <m:r>
                            <a:rPr lang="en-US" altLang="zh-CN" sz="2000" b="1" i="1" smtClean="0">
                              <a:latin typeface="Cambria Math" panose="02040503050406030204" pitchFamily="18" charset="0"/>
                              <a:ea typeface="Cambria Math" panose="02040503050406030204" pitchFamily="18" charset="0"/>
                            </a:rPr>
                            <m:t>+</m:t>
                          </m:r>
                          <m:sSub>
                            <m:sSubPr>
                              <m:ctrlPr>
                                <a:rPr lang="en-US" altLang="zh-CN" sz="2000" b="1" i="1" smtClean="0">
                                  <a:latin typeface="Cambria Math" panose="02040503050406030204" pitchFamily="18" charset="0"/>
                                  <a:ea typeface="Cambria Math" panose="02040503050406030204" pitchFamily="18" charset="0"/>
                                </a:rPr>
                              </m:ctrlPr>
                            </m:sSubPr>
                            <m:e>
                              <m:r>
                                <a:rPr lang="en-US" altLang="zh-CN" sz="2000" b="1" i="1" smtClean="0">
                                  <a:latin typeface="Cambria Math" panose="02040503050406030204" pitchFamily="18" charset="0"/>
                                  <a:ea typeface="Cambria Math" panose="02040503050406030204" pitchFamily="18" charset="0"/>
                                </a:rPr>
                                <m:t>𝑸</m:t>
                              </m:r>
                            </m:e>
                            <m:sub>
                              <m:r>
                                <a:rPr lang="en-US" altLang="zh-CN" sz="2000" b="1" i="1" smtClean="0">
                                  <a:latin typeface="Cambria Math" panose="02040503050406030204" pitchFamily="18" charset="0"/>
                                  <a:ea typeface="Cambria Math" panose="02040503050406030204" pitchFamily="18" charset="0"/>
                                </a:rPr>
                                <m:t>𝟐</m:t>
                              </m:r>
                            </m:sub>
                          </m:sSub>
                        </m:e>
                      </m:d>
                    </m:oMath>
                  </m:oMathPara>
                </a14:m>
                <a:endParaRPr lang="zh-CN" altLang="en-US" sz="2000" dirty="0"/>
              </a:p>
            </p:txBody>
          </p:sp>
        </mc:Choice>
        <mc:Fallback xmlns="">
          <p:sp>
            <p:nvSpPr>
              <p:cNvPr id="2" name="文本框 1"/>
              <p:cNvSpPr txBox="1">
                <a:spLocks noRot="1" noChangeAspect="1" noMove="1" noResize="1" noEditPoints="1" noAdjustHandles="1" noChangeArrowheads="1" noChangeShapeType="1" noTextEdit="1"/>
              </p:cNvSpPr>
              <p:nvPr/>
            </p:nvSpPr>
            <p:spPr>
              <a:xfrm>
                <a:off x="3149303" y="2582399"/>
                <a:ext cx="3546164" cy="307777"/>
              </a:xfrm>
              <a:prstGeom prst="rect">
                <a:avLst/>
              </a:prstGeom>
              <a:blipFill>
                <a:blip r:embed="rId2"/>
                <a:stretch>
                  <a:fillRect l="-1205" b="-38000"/>
                </a:stretch>
              </a:blipFill>
            </p:spPr>
            <p:txBody>
              <a:bodyPr/>
              <a:lstStyle/>
              <a:p>
                <a:r>
                  <a:rPr lang="zh-CN" altLang="en-US">
                    <a:noFill/>
                  </a:rPr>
                  <a:t> </a:t>
                </a:r>
              </a:p>
            </p:txBody>
          </p:sp>
        </mc:Fallback>
      </mc:AlternateContent>
      <p:sp>
        <p:nvSpPr>
          <p:cNvPr id="3" name="文本框 2"/>
          <p:cNvSpPr txBox="1"/>
          <p:nvPr/>
        </p:nvSpPr>
        <p:spPr>
          <a:xfrm>
            <a:off x="4114800" y="2971800"/>
            <a:ext cx="65" cy="246221"/>
          </a:xfrm>
          <a:prstGeom prst="rect">
            <a:avLst/>
          </a:prstGeom>
          <a:noFill/>
        </p:spPr>
        <p:txBody>
          <a:bodyPr wrap="none" lIns="0" tIns="0" rIns="0" bIns="0" rtlCol="0">
            <a:spAutoFit/>
          </a:bodyPr>
          <a:lstStyle/>
          <a:p>
            <a:endParaRPr lang="zh-CN" altLang="en-US" dirty="0"/>
          </a:p>
        </p:txBody>
      </p:sp>
      <mc:AlternateContent xmlns:mc="http://schemas.openxmlformats.org/markup-compatibility/2006" xmlns:a14="http://schemas.microsoft.com/office/drawing/2010/main">
        <mc:Choice Requires="a14">
          <p:sp>
            <p:nvSpPr>
              <p:cNvPr id="4" name="文本框 3"/>
              <p:cNvSpPr txBox="1"/>
              <p:nvPr/>
            </p:nvSpPr>
            <p:spPr>
              <a:xfrm>
                <a:off x="3149303" y="3803998"/>
                <a:ext cx="3729739" cy="32765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i="1" smtClean="0">
                              <a:latin typeface="Cambria Math" panose="02040503050406030204" pitchFamily="18" charset="0"/>
                              <a:ea typeface="Cambria Math" panose="02040503050406030204" pitchFamily="18" charset="0"/>
                            </a:rPr>
                          </m:ctrlPr>
                        </m:sSubPr>
                        <m:e>
                          <m:r>
                            <a:rPr lang="en-US" altLang="zh-CN" sz="2000" b="1" i="1" smtClean="0">
                              <a:latin typeface="Cambria Math" panose="02040503050406030204" pitchFamily="18" charset="0"/>
                              <a:ea typeface="Cambria Math" panose="02040503050406030204" pitchFamily="18" charset="0"/>
                            </a:rPr>
                            <m:t>𝑹</m:t>
                          </m:r>
                        </m:e>
                        <m:sub>
                          <m:r>
                            <a:rPr lang="en-US" altLang="zh-CN" sz="2000" b="1" i="1" smtClean="0">
                              <a:latin typeface="Cambria Math" panose="02040503050406030204" pitchFamily="18" charset="0"/>
                              <a:ea typeface="Cambria Math" panose="02040503050406030204" pitchFamily="18" charset="0"/>
                            </a:rPr>
                            <m:t>𝟏</m:t>
                          </m:r>
                        </m:sub>
                      </m:sSub>
                      <m:r>
                        <a:rPr lang="en-US" altLang="zh-CN" sz="2000" i="1" smtClean="0">
                          <a:latin typeface="Cambria Math" panose="02040503050406030204" pitchFamily="18" charset="0"/>
                          <a:ea typeface="Cambria Math" panose="02040503050406030204" pitchFamily="18" charset="0"/>
                        </a:rPr>
                        <m:t>=</m:t>
                      </m:r>
                      <m:r>
                        <a:rPr lang="en-US" altLang="zh-CN" sz="2000" b="1" i="1" smtClean="0">
                          <a:latin typeface="Cambria Math" panose="02040503050406030204" pitchFamily="18" charset="0"/>
                          <a:ea typeface="Cambria Math" panose="02040503050406030204" pitchFamily="18" charset="0"/>
                        </a:rPr>
                        <m:t>𝑷</m:t>
                      </m:r>
                      <m:sSub>
                        <m:sSubPr>
                          <m:ctrlPr>
                            <a:rPr lang="en-US" altLang="zh-CN" sz="2000" b="1" i="1" smtClean="0">
                              <a:latin typeface="Cambria Math" panose="02040503050406030204" pitchFamily="18" charset="0"/>
                              <a:ea typeface="Cambria Math" panose="02040503050406030204" pitchFamily="18" charset="0"/>
                            </a:rPr>
                          </m:ctrlPr>
                        </m:sSubPr>
                        <m:e>
                          <m:r>
                            <a:rPr lang="en-US" altLang="zh-CN" sz="2000" b="1" i="1" smtClean="0">
                              <a:latin typeface="Cambria Math" panose="02040503050406030204" pitchFamily="18" charset="0"/>
                              <a:ea typeface="Cambria Math" panose="02040503050406030204" pitchFamily="18" charset="0"/>
                            </a:rPr>
                            <m:t>𝑸</m:t>
                          </m:r>
                        </m:e>
                        <m:sub>
                          <m:r>
                            <a:rPr lang="en-US" altLang="zh-CN" sz="2000" b="1" i="1" smtClean="0">
                              <a:latin typeface="Cambria Math" panose="02040503050406030204" pitchFamily="18" charset="0"/>
                              <a:ea typeface="Cambria Math" panose="02040503050406030204" pitchFamily="18" charset="0"/>
                            </a:rPr>
                            <m:t>𝟏</m:t>
                          </m:r>
                        </m:sub>
                      </m:sSub>
                      <m:r>
                        <a:rPr lang="en-US" altLang="zh-CN" sz="2000" b="1" i="1" smtClean="0">
                          <a:latin typeface="Cambria Math" panose="02040503050406030204" pitchFamily="18" charset="0"/>
                          <a:ea typeface="Cambria Math" panose="02040503050406030204" pitchFamily="18" charset="0"/>
                        </a:rPr>
                        <m:t>=</m:t>
                      </m:r>
                      <m:r>
                        <a:rPr lang="zh-CN" altLang="en-US" sz="2000" b="1" i="1" smtClean="0">
                          <a:latin typeface="Cambria Math" panose="02040503050406030204" pitchFamily="18" charset="0"/>
                          <a:ea typeface="Cambria Math" panose="02040503050406030204" pitchFamily="18" charset="0"/>
                        </a:rPr>
                        <m:t>𝜶</m:t>
                      </m:r>
                      <m:sSub>
                        <m:sSubPr>
                          <m:ctrlPr>
                            <a:rPr lang="en-US" altLang="zh-CN" sz="2000" b="1" i="1" smtClean="0">
                              <a:latin typeface="Cambria Math" panose="02040503050406030204" pitchFamily="18" charset="0"/>
                              <a:ea typeface="Cambria Math" panose="02040503050406030204" pitchFamily="18" charset="0"/>
                            </a:rPr>
                          </m:ctrlPr>
                        </m:sSubPr>
                        <m:e>
                          <m:r>
                            <a:rPr lang="en-US" altLang="zh-CN" sz="2000" b="1" i="1" smtClean="0">
                              <a:latin typeface="Cambria Math" panose="02040503050406030204" pitchFamily="18" charset="0"/>
                              <a:ea typeface="Cambria Math" panose="02040503050406030204" pitchFamily="18" charset="0"/>
                            </a:rPr>
                            <m:t>𝑸</m:t>
                          </m:r>
                        </m:e>
                        <m:sub>
                          <m:r>
                            <a:rPr lang="en-US" altLang="zh-CN" sz="2000" b="1" i="1" smtClean="0">
                              <a:latin typeface="Cambria Math" panose="02040503050406030204" pitchFamily="18" charset="0"/>
                              <a:ea typeface="Cambria Math" panose="02040503050406030204" pitchFamily="18" charset="0"/>
                            </a:rPr>
                            <m:t>𝟏</m:t>
                          </m:r>
                          <m:r>
                            <a:rPr lang="en-US" altLang="zh-CN" sz="2000" b="1" i="1" smtClean="0">
                              <a:latin typeface="Cambria Math" panose="02040503050406030204" pitchFamily="18" charset="0"/>
                              <a:ea typeface="Cambria Math" panose="02040503050406030204" pitchFamily="18" charset="0"/>
                            </a:rPr>
                            <m:t>−</m:t>
                          </m:r>
                        </m:sub>
                      </m:sSub>
                      <m:r>
                        <a:rPr lang="zh-CN" altLang="en-US" sz="2000" b="1" i="1" smtClean="0">
                          <a:latin typeface="Cambria Math" panose="02040503050406030204" pitchFamily="18" charset="0"/>
                          <a:ea typeface="Cambria Math" panose="02040503050406030204" pitchFamily="18" charset="0"/>
                        </a:rPr>
                        <m:t>𝜷</m:t>
                      </m:r>
                      <m:sSub>
                        <m:sSubPr>
                          <m:ctrlPr>
                            <a:rPr lang="en-US" altLang="zh-CN" sz="2000" b="1" i="1" smtClean="0">
                              <a:latin typeface="Cambria Math" panose="02040503050406030204" pitchFamily="18" charset="0"/>
                              <a:ea typeface="Cambria Math" panose="02040503050406030204" pitchFamily="18" charset="0"/>
                            </a:rPr>
                          </m:ctrlPr>
                        </m:sSubPr>
                        <m:e>
                          <m:r>
                            <a:rPr lang="en-US" altLang="zh-CN" sz="2000" b="1" i="1" smtClean="0">
                              <a:latin typeface="Cambria Math" panose="02040503050406030204" pitchFamily="18" charset="0"/>
                              <a:ea typeface="Cambria Math" panose="02040503050406030204" pitchFamily="18" charset="0"/>
                            </a:rPr>
                            <m:t>𝑸</m:t>
                          </m:r>
                        </m:e>
                        <m:sub>
                          <m:r>
                            <a:rPr lang="en-US" altLang="zh-CN" sz="2000" b="1" i="1" smtClean="0">
                              <a:latin typeface="Cambria Math" panose="02040503050406030204" pitchFamily="18" charset="0"/>
                              <a:ea typeface="Cambria Math" panose="02040503050406030204" pitchFamily="18" charset="0"/>
                            </a:rPr>
                            <m:t>𝟏</m:t>
                          </m:r>
                        </m:sub>
                      </m:sSub>
                      <m:sSub>
                        <m:sSubPr>
                          <m:ctrlPr>
                            <a:rPr lang="en-US" altLang="zh-CN" sz="2000" b="1" i="1" smtClean="0">
                              <a:latin typeface="Cambria Math" panose="02040503050406030204" pitchFamily="18" charset="0"/>
                              <a:ea typeface="Cambria Math" panose="02040503050406030204" pitchFamily="18" charset="0"/>
                            </a:rPr>
                          </m:ctrlPr>
                        </m:sSubPr>
                        <m:e>
                          <m:r>
                            <a:rPr lang="en-US" altLang="zh-CN" sz="2000" b="1" i="1" smtClean="0">
                              <a:latin typeface="Cambria Math" panose="02040503050406030204" pitchFamily="18" charset="0"/>
                              <a:ea typeface="Cambria Math" panose="02040503050406030204" pitchFamily="18" charset="0"/>
                            </a:rPr>
                            <m:t>𝑸</m:t>
                          </m:r>
                        </m:e>
                        <m:sub>
                          <m:r>
                            <a:rPr lang="en-US" altLang="zh-CN" sz="2000" b="1" i="1" smtClean="0">
                              <a:latin typeface="Cambria Math" panose="02040503050406030204" pitchFamily="18" charset="0"/>
                              <a:ea typeface="Cambria Math" panose="02040503050406030204" pitchFamily="18" charset="0"/>
                            </a:rPr>
                            <m:t>𝟐</m:t>
                          </m:r>
                        </m:sub>
                      </m:sSub>
                      <m:r>
                        <a:rPr lang="en-US" altLang="zh-CN" sz="2000" b="1" i="1" smtClean="0">
                          <a:latin typeface="Cambria Math" panose="02040503050406030204" pitchFamily="18" charset="0"/>
                          <a:ea typeface="Cambria Math" panose="02040503050406030204" pitchFamily="18" charset="0"/>
                        </a:rPr>
                        <m:t>−</m:t>
                      </m:r>
                      <m:r>
                        <a:rPr lang="zh-CN" altLang="en-US" sz="2000" b="1" i="1" smtClean="0">
                          <a:latin typeface="Cambria Math" panose="02040503050406030204" pitchFamily="18" charset="0"/>
                          <a:ea typeface="Cambria Math" panose="02040503050406030204" pitchFamily="18" charset="0"/>
                        </a:rPr>
                        <m:t>𝜷</m:t>
                      </m:r>
                      <m:sSubSup>
                        <m:sSubSupPr>
                          <m:ctrlPr>
                            <a:rPr lang="en-US" altLang="zh-CN" sz="2000" b="1" i="1" smtClean="0">
                              <a:latin typeface="Cambria Math" panose="02040503050406030204" pitchFamily="18" charset="0"/>
                              <a:ea typeface="Cambria Math" panose="02040503050406030204" pitchFamily="18" charset="0"/>
                            </a:rPr>
                          </m:ctrlPr>
                        </m:sSubSupPr>
                        <m:e>
                          <m:r>
                            <a:rPr lang="en-US" altLang="zh-CN" sz="2000" b="1" i="1" smtClean="0">
                              <a:latin typeface="Cambria Math" panose="02040503050406030204" pitchFamily="18" charset="0"/>
                              <a:ea typeface="Cambria Math" panose="02040503050406030204" pitchFamily="18" charset="0"/>
                            </a:rPr>
                            <m:t>𝑸</m:t>
                          </m:r>
                        </m:e>
                        <m:sub>
                          <m:r>
                            <a:rPr lang="en-US" altLang="zh-CN" sz="2000" b="1" i="1" smtClean="0">
                              <a:latin typeface="Cambria Math" panose="02040503050406030204" pitchFamily="18" charset="0"/>
                              <a:ea typeface="Cambria Math" panose="02040503050406030204" pitchFamily="18" charset="0"/>
                            </a:rPr>
                            <m:t>𝟏</m:t>
                          </m:r>
                        </m:sub>
                        <m:sup>
                          <m:r>
                            <a:rPr lang="en-US" altLang="zh-CN" sz="2000" b="1" i="1" smtClean="0">
                              <a:latin typeface="Cambria Math" panose="02040503050406030204" pitchFamily="18" charset="0"/>
                              <a:ea typeface="Cambria Math" panose="02040503050406030204" pitchFamily="18" charset="0"/>
                            </a:rPr>
                            <m:t>𝟐</m:t>
                          </m:r>
                        </m:sup>
                      </m:sSubSup>
                    </m:oMath>
                  </m:oMathPara>
                </a14:m>
                <a:endParaRPr lang="zh-CN" altLang="en-US" sz="2000" dirty="0"/>
              </a:p>
            </p:txBody>
          </p:sp>
        </mc:Choice>
        <mc:Fallback xmlns="">
          <p:sp>
            <p:nvSpPr>
              <p:cNvPr id="4" name="文本框 3"/>
              <p:cNvSpPr txBox="1">
                <a:spLocks noRot="1" noChangeAspect="1" noMove="1" noResize="1" noEditPoints="1" noAdjustHandles="1" noChangeArrowheads="1" noChangeShapeType="1" noTextEdit="1"/>
              </p:cNvSpPr>
              <p:nvPr/>
            </p:nvSpPr>
            <p:spPr>
              <a:xfrm>
                <a:off x="3149303" y="3803998"/>
                <a:ext cx="3729739" cy="327654"/>
              </a:xfrm>
              <a:prstGeom prst="rect">
                <a:avLst/>
              </a:prstGeom>
              <a:blipFill>
                <a:blip r:embed="rId3"/>
                <a:stretch>
                  <a:fillRect l="-982" r="-327" b="-33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p:cNvSpPr txBox="1"/>
              <p:nvPr/>
            </p:nvSpPr>
            <p:spPr>
              <a:xfrm>
                <a:off x="3149303" y="5138021"/>
                <a:ext cx="2845394"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ea typeface="Cambria Math" panose="02040503050406030204" pitchFamily="18" charset="0"/>
                        </a:rPr>
                        <m:t>𝑴</m:t>
                      </m:r>
                      <m:sSub>
                        <m:sSubPr>
                          <m:ctrlPr>
                            <a:rPr lang="en-US" altLang="zh-CN" sz="2000" b="1" i="1" smtClean="0">
                              <a:latin typeface="Cambria Math" panose="02040503050406030204" pitchFamily="18" charset="0"/>
                              <a:ea typeface="Cambria Math" panose="02040503050406030204" pitchFamily="18" charset="0"/>
                            </a:rPr>
                          </m:ctrlPr>
                        </m:sSubPr>
                        <m:e>
                          <m:r>
                            <a:rPr lang="en-US" altLang="zh-CN" sz="2000" b="1" i="1" smtClean="0">
                              <a:latin typeface="Cambria Math" panose="02040503050406030204" pitchFamily="18" charset="0"/>
                              <a:ea typeface="Cambria Math" panose="02040503050406030204" pitchFamily="18" charset="0"/>
                            </a:rPr>
                            <m:t>𝑹</m:t>
                          </m:r>
                        </m:e>
                        <m:sub>
                          <m:r>
                            <a:rPr lang="en-US" altLang="zh-CN" sz="2000" b="1" i="1" smtClean="0">
                              <a:latin typeface="Cambria Math" panose="02040503050406030204" pitchFamily="18" charset="0"/>
                              <a:ea typeface="Cambria Math" panose="02040503050406030204" pitchFamily="18" charset="0"/>
                            </a:rPr>
                            <m:t>𝟏</m:t>
                          </m:r>
                        </m:sub>
                      </m:sSub>
                      <m:r>
                        <a:rPr lang="en-US" altLang="zh-CN" sz="2000" i="1" smtClean="0">
                          <a:latin typeface="Cambria Math" panose="02040503050406030204" pitchFamily="18" charset="0"/>
                          <a:ea typeface="Cambria Math" panose="02040503050406030204" pitchFamily="18" charset="0"/>
                        </a:rPr>
                        <m:t>=</m:t>
                      </m:r>
                      <m:r>
                        <a:rPr lang="zh-CN" altLang="en-US" sz="2000" i="1" smtClean="0">
                          <a:latin typeface="Cambria Math" panose="02040503050406030204" pitchFamily="18" charset="0"/>
                          <a:ea typeface="Cambria Math" panose="02040503050406030204" pitchFamily="18" charset="0"/>
                        </a:rPr>
                        <m:t>𝜶</m:t>
                      </m:r>
                      <m:r>
                        <a:rPr lang="zh-CN" altLang="en-US" sz="2000" i="1" smtClean="0">
                          <a:latin typeface="Cambria Math" panose="02040503050406030204" pitchFamily="18" charset="0"/>
                          <a:ea typeface="Cambria Math" panose="02040503050406030204" pitchFamily="18" charset="0"/>
                        </a:rPr>
                        <m:t>−</m:t>
                      </m:r>
                      <m:r>
                        <a:rPr lang="zh-CN" altLang="en-US" sz="2000" i="1" smtClean="0">
                          <a:latin typeface="Cambria Math" panose="02040503050406030204" pitchFamily="18" charset="0"/>
                          <a:ea typeface="Cambria Math" panose="02040503050406030204" pitchFamily="18" charset="0"/>
                        </a:rPr>
                        <m:t>𝜷</m:t>
                      </m:r>
                      <m:sSub>
                        <m:sSubPr>
                          <m:ctrlPr>
                            <a:rPr lang="en-US" altLang="zh-CN" sz="2000" i="1" smtClean="0">
                              <a:latin typeface="Cambria Math" panose="02040503050406030204" pitchFamily="18" charset="0"/>
                              <a:ea typeface="Cambria Math" panose="02040503050406030204" pitchFamily="18" charset="0"/>
                            </a:rPr>
                          </m:ctrlPr>
                        </m:sSubPr>
                        <m:e>
                          <m:r>
                            <a:rPr lang="en-US" altLang="zh-CN" sz="2000" b="1" i="1" smtClean="0">
                              <a:latin typeface="Cambria Math" panose="02040503050406030204" pitchFamily="18" charset="0"/>
                              <a:ea typeface="Cambria Math" panose="02040503050406030204" pitchFamily="18" charset="0"/>
                            </a:rPr>
                            <m:t>𝑸</m:t>
                          </m:r>
                        </m:e>
                        <m:sub>
                          <m:r>
                            <a:rPr lang="en-US" altLang="zh-CN" sz="2000" b="1" i="1" smtClean="0">
                              <a:latin typeface="Cambria Math" panose="02040503050406030204" pitchFamily="18" charset="0"/>
                              <a:ea typeface="Cambria Math" panose="02040503050406030204" pitchFamily="18" charset="0"/>
                            </a:rPr>
                            <m:t>𝟐</m:t>
                          </m:r>
                        </m:sub>
                      </m:sSub>
                      <m:r>
                        <a:rPr lang="en-US" altLang="zh-CN" sz="2000" i="1">
                          <a:latin typeface="Cambria Math" panose="02040503050406030204" pitchFamily="18" charset="0"/>
                          <a:ea typeface="Cambria Math" panose="02040503050406030204" pitchFamily="18" charset="0"/>
                        </a:rPr>
                        <m:t>−</m:t>
                      </m:r>
                      <m:r>
                        <a:rPr lang="en-US" altLang="zh-CN" sz="2000" b="1" i="1" smtClean="0">
                          <a:latin typeface="Cambria Math" panose="02040503050406030204" pitchFamily="18" charset="0"/>
                          <a:ea typeface="Cambria Math" panose="02040503050406030204" pitchFamily="18" charset="0"/>
                        </a:rPr>
                        <m:t>𝟐</m:t>
                      </m:r>
                      <m:r>
                        <a:rPr lang="zh-CN" altLang="en-US" sz="2000" b="1" i="1" smtClean="0">
                          <a:latin typeface="Cambria Math" panose="02040503050406030204" pitchFamily="18" charset="0"/>
                          <a:ea typeface="Cambria Math" panose="02040503050406030204" pitchFamily="18" charset="0"/>
                        </a:rPr>
                        <m:t>𝜷</m:t>
                      </m:r>
                      <m:sSub>
                        <m:sSubPr>
                          <m:ctrlPr>
                            <a:rPr lang="en-US" altLang="zh-CN" sz="2000" b="1" i="1" smtClean="0">
                              <a:latin typeface="Cambria Math" panose="02040503050406030204" pitchFamily="18" charset="0"/>
                              <a:ea typeface="Cambria Math" panose="02040503050406030204" pitchFamily="18" charset="0"/>
                            </a:rPr>
                          </m:ctrlPr>
                        </m:sSubPr>
                        <m:e>
                          <m:r>
                            <a:rPr lang="en-US" altLang="zh-CN" sz="2000" b="1" i="1" smtClean="0">
                              <a:latin typeface="Cambria Math" panose="02040503050406030204" pitchFamily="18" charset="0"/>
                              <a:ea typeface="Cambria Math" panose="02040503050406030204" pitchFamily="18" charset="0"/>
                            </a:rPr>
                            <m:t>𝑸</m:t>
                          </m:r>
                        </m:e>
                        <m:sub>
                          <m:r>
                            <a:rPr lang="en-US" altLang="zh-CN" sz="2000" b="1" i="1" smtClean="0">
                              <a:latin typeface="Cambria Math" panose="02040503050406030204" pitchFamily="18" charset="0"/>
                              <a:ea typeface="Cambria Math" panose="02040503050406030204" pitchFamily="18" charset="0"/>
                            </a:rPr>
                            <m:t>𝟏</m:t>
                          </m:r>
                        </m:sub>
                      </m:sSub>
                    </m:oMath>
                  </m:oMathPara>
                </a14:m>
                <a:endParaRPr lang="zh-CN" altLang="en-US" sz="2000" dirty="0"/>
              </a:p>
            </p:txBody>
          </p:sp>
        </mc:Choice>
        <mc:Fallback xmlns="">
          <p:sp>
            <p:nvSpPr>
              <p:cNvPr id="5" name="文本框 4"/>
              <p:cNvSpPr txBox="1">
                <a:spLocks noRot="1" noChangeAspect="1" noMove="1" noResize="1" noEditPoints="1" noAdjustHandles="1" noChangeArrowheads="1" noChangeShapeType="1" noTextEdit="1"/>
              </p:cNvSpPr>
              <p:nvPr/>
            </p:nvSpPr>
            <p:spPr>
              <a:xfrm>
                <a:off x="3149303" y="5138021"/>
                <a:ext cx="2845394" cy="307777"/>
              </a:xfrm>
              <a:prstGeom prst="rect">
                <a:avLst/>
              </a:prstGeom>
              <a:blipFill>
                <a:blip r:embed="rId4"/>
                <a:stretch>
                  <a:fillRect l="-1502" r="-644" b="-38000"/>
                </a:stretch>
              </a:blipFill>
            </p:spPr>
            <p:txBody>
              <a:bodyPr/>
              <a:lstStyle/>
              <a:p>
                <a:r>
                  <a:rPr lang="zh-CN" altLang="en-US">
                    <a:noFill/>
                  </a:rPr>
                  <a:t> </a:t>
                </a:r>
              </a:p>
            </p:txBody>
          </p:sp>
        </mc:Fallback>
      </mc:AlternateContent>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0962">
                                            <p:txEl>
                                              <p:pRg st="0" end="0"/>
                                            </p:txEl>
                                          </p:spTgt>
                                        </p:tgtEl>
                                        <p:attrNameLst>
                                          <p:attrName>style.visibility</p:attrName>
                                        </p:attrNameLst>
                                      </p:cBhvr>
                                      <p:to>
                                        <p:strVal val="visible"/>
                                      </p:to>
                                    </p:set>
                                    <p:animEffect>
                                      <p:cBhvr>
                                        <p:cTn id="7" dur="500"/>
                                        <p:tgtEl>
                                          <p:spTgt spid="4096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0962">
                                            <p:txEl>
                                              <p:pRg st="1" end="1"/>
                                            </p:txEl>
                                          </p:spTgt>
                                        </p:tgtEl>
                                        <p:attrNameLst>
                                          <p:attrName>style.visibility</p:attrName>
                                        </p:attrNameLst>
                                      </p:cBhvr>
                                      <p:to>
                                        <p:strVal val="visible"/>
                                      </p:to>
                                    </p:set>
                                    <p:animEffect>
                                      <p:cBhvr>
                                        <p:cTn id="12" dur="500"/>
                                        <p:tgtEl>
                                          <p:spTgt spid="4096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40962">
                                            <p:txEl>
                                              <p:pRg st="3" end="3"/>
                                            </p:txEl>
                                          </p:spTgt>
                                        </p:tgtEl>
                                        <p:attrNameLst>
                                          <p:attrName>style.visibility</p:attrName>
                                        </p:attrNameLst>
                                      </p:cBhvr>
                                      <p:to>
                                        <p:strVal val="visible"/>
                                      </p:to>
                                    </p:set>
                                    <p:animEffect>
                                      <p:cBhvr>
                                        <p:cTn id="23" dur="500"/>
                                        <p:tgtEl>
                                          <p:spTgt spid="40962">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4"/>
                                        </p:tgtEl>
                                        <p:attrNameLst>
                                          <p:attrName>style.visibility</p:attrName>
                                        </p:attrNameLst>
                                      </p:cBhvr>
                                      <p:to>
                                        <p:strVal val="visible"/>
                                      </p:to>
                                    </p:set>
                                    <p:anim calcmode="lin" valueType="num">
                                      <p:cBhvr additive="base">
                                        <p:cTn id="28" dur="500" fill="hold"/>
                                        <p:tgtEl>
                                          <p:spTgt spid="4"/>
                                        </p:tgtEl>
                                        <p:attrNameLst>
                                          <p:attrName>ppt_x</p:attrName>
                                        </p:attrNameLst>
                                      </p:cBhvr>
                                      <p:tavLst>
                                        <p:tav tm="0">
                                          <p:val>
                                            <p:strVal val="#ppt_x"/>
                                          </p:val>
                                        </p:tav>
                                        <p:tav tm="100000">
                                          <p:val>
                                            <p:strVal val="#ppt_x"/>
                                          </p:val>
                                        </p:tav>
                                      </p:tavLst>
                                    </p:anim>
                                    <p:anim calcmode="lin" valueType="num">
                                      <p:cBhvr additive="base">
                                        <p:cTn id="29"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40962">
                                            <p:txEl>
                                              <p:pRg st="5" end="5"/>
                                            </p:txEl>
                                          </p:spTgt>
                                        </p:tgtEl>
                                        <p:attrNameLst>
                                          <p:attrName>style.visibility</p:attrName>
                                        </p:attrNameLst>
                                      </p:cBhvr>
                                      <p:to>
                                        <p:strVal val="visible"/>
                                      </p:to>
                                    </p:set>
                                    <p:animEffect>
                                      <p:cBhvr>
                                        <p:cTn id="34" dur="500"/>
                                        <p:tgtEl>
                                          <p:spTgt spid="40962">
                                            <p:txEl>
                                              <p:pRg st="5" end="5"/>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5"/>
                                        </p:tgtEl>
                                        <p:attrNameLst>
                                          <p:attrName>style.visibility</p:attrName>
                                        </p:attrNameLst>
                                      </p:cBhvr>
                                      <p:to>
                                        <p:strVal val="visible"/>
                                      </p:to>
                                    </p:set>
                                    <p:anim calcmode="lin" valueType="num">
                                      <p:cBhvr additive="base">
                                        <p:cTn id="39" dur="500" fill="hold"/>
                                        <p:tgtEl>
                                          <p:spTgt spid="5"/>
                                        </p:tgtEl>
                                        <p:attrNameLst>
                                          <p:attrName>ppt_x</p:attrName>
                                        </p:attrNameLst>
                                      </p:cBhvr>
                                      <p:tavLst>
                                        <p:tav tm="0">
                                          <p:val>
                                            <p:strVal val="#ppt_x"/>
                                          </p:val>
                                        </p:tav>
                                        <p:tav tm="100000">
                                          <p:val>
                                            <p:strVal val="#ppt_x"/>
                                          </p:val>
                                        </p:tav>
                                      </p:tavLst>
                                    </p:anim>
                                    <p:anim calcmode="lin" valueType="num">
                                      <p:cBhvr additive="base">
                                        <p:cTn id="4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3"/>
          <p:cNvSpPr>
            <a:spLocks noGrp="1" noChangeArrowheads="1"/>
          </p:cNvSpPr>
          <p:nvPr>
            <p:ph type="body" idx="4294967295"/>
          </p:nvPr>
        </p:nvSpPr>
        <p:spPr>
          <a:xfrm>
            <a:off x="457200" y="773112"/>
            <a:ext cx="8229600" cy="5513388"/>
          </a:xfrm>
          <a:ln/>
        </p:spPr>
        <p:txBody>
          <a:bodyPr/>
          <a:lstStyle/>
          <a:p>
            <a:pPr marL="342900" lvl="1" indent="-342900" eaLnBrk="1" hangingPunct="1"/>
            <a:endParaRPr lang="en-US" altLang="zh-CN" sz="2400" b="0" dirty="0"/>
          </a:p>
          <a:p>
            <a:pPr marL="457200" lvl="2" indent="-457200" eaLnBrk="1" hangingPunct="1">
              <a:lnSpc>
                <a:spcPct val="200000"/>
              </a:lnSpc>
              <a:buSzPct val="100000"/>
              <a:buFont typeface="Wingdings" panose="05000000000000000000" pitchFamily="2" charset="2"/>
              <a:buChar char="u"/>
            </a:pPr>
            <a:r>
              <a:rPr lang="zh-CN" altLang="en-US" sz="2200" b="0" dirty="0">
                <a:latin typeface="微软雅黑" panose="020B0503020204020204" pitchFamily="34" charset="-122"/>
                <a:ea typeface="微软雅黑" panose="020B0503020204020204" pitchFamily="34" charset="-122"/>
              </a:rPr>
              <a:t>（双寡头下）厂商产量决策</a:t>
            </a:r>
            <a:endParaRPr lang="en-US" altLang="zh-CN" sz="2200" b="0" dirty="0">
              <a:latin typeface="微软雅黑" panose="020B0503020204020204" pitchFamily="34" charset="-122"/>
              <a:ea typeface="微软雅黑" panose="020B0503020204020204" pitchFamily="34" charset="-122"/>
            </a:endParaRPr>
          </a:p>
          <a:p>
            <a:pPr marL="742950" lvl="2" indent="-342900" eaLnBrk="1" hangingPunct="1">
              <a:lnSpc>
                <a:spcPct val="150000"/>
              </a:lnSpc>
              <a:buFont typeface="Wingdings" panose="05000000000000000000" pitchFamily="2" charset="2"/>
              <a:buChar char="Ø"/>
            </a:pPr>
            <a:r>
              <a:rPr lang="zh-CN" altLang="en-US" b="0" dirty="0">
                <a:latin typeface="微软雅黑" panose="020B0503020204020204" pitchFamily="34" charset="-122"/>
                <a:ea typeface="微软雅黑" panose="020B0503020204020204" pitchFamily="34" charset="-122"/>
              </a:rPr>
              <a:t>决策特点：</a:t>
            </a:r>
            <a:endParaRPr lang="en-US" altLang="zh-CN" b="0" dirty="0">
              <a:latin typeface="微软雅黑" panose="020B0503020204020204" pitchFamily="34" charset="-122"/>
              <a:ea typeface="微软雅黑" panose="020B0503020204020204" pitchFamily="34" charset="-122"/>
            </a:endParaRPr>
          </a:p>
          <a:p>
            <a:pPr marL="1200150" lvl="3" indent="-342900" eaLnBrk="1" hangingPunct="1">
              <a:lnSpc>
                <a:spcPct val="150000"/>
              </a:lnSpc>
              <a:buFont typeface="Arial" panose="020B0604020202020204" pitchFamily="34" charset="0"/>
              <a:buChar char="•"/>
            </a:pPr>
            <a:r>
              <a:rPr lang="zh-CN" altLang="en-US" b="0" dirty="0">
                <a:latin typeface="微软雅黑" panose="020B0503020204020204" pitchFamily="34" charset="-122"/>
                <a:ea typeface="微软雅黑" panose="020B0503020204020204" pitchFamily="34" charset="-122"/>
              </a:rPr>
              <a:t>同时确定产量</a:t>
            </a:r>
            <a:endParaRPr lang="en-US" altLang="zh-CN" b="0" dirty="0">
              <a:latin typeface="微软雅黑" panose="020B0503020204020204" pitchFamily="34" charset="-122"/>
              <a:ea typeface="微软雅黑" panose="020B0503020204020204" pitchFamily="34" charset="-122"/>
            </a:endParaRPr>
          </a:p>
          <a:p>
            <a:pPr marL="1200150" lvl="3" indent="-342900" eaLnBrk="1" hangingPunct="1">
              <a:lnSpc>
                <a:spcPct val="150000"/>
              </a:lnSpc>
              <a:buFont typeface="Arial" panose="020B0604020202020204" pitchFamily="34" charset="0"/>
              <a:buChar char="•"/>
            </a:pPr>
            <a:r>
              <a:rPr lang="zh-CN" altLang="en-US" b="0" dirty="0">
                <a:latin typeface="微软雅黑" panose="020B0503020204020204" pitchFamily="34" charset="-122"/>
                <a:ea typeface="微软雅黑" panose="020B0503020204020204" pitchFamily="34" charset="-122"/>
              </a:rPr>
              <a:t>以对方产量为既定，计算自己的最优产量</a:t>
            </a:r>
            <a:r>
              <a:rPr lang="en-US" altLang="zh-CN" b="0" dirty="0">
                <a:latin typeface="微软雅黑" panose="020B0503020204020204" pitchFamily="34" charset="-122"/>
                <a:ea typeface="微软雅黑" panose="020B0503020204020204" pitchFamily="34" charset="-122"/>
                <a:sym typeface="Wingdings" panose="05000000000000000000" pitchFamily="2" charset="2"/>
              </a:rPr>
              <a:t></a:t>
            </a:r>
            <a:r>
              <a:rPr lang="zh-CN" altLang="en-US" b="0" dirty="0">
                <a:latin typeface="微软雅黑" panose="020B0503020204020204" pitchFamily="34" charset="-122"/>
                <a:ea typeface="微软雅黑" panose="020B0503020204020204" pitchFamily="34" charset="-122"/>
                <a:sym typeface="Wingdings" panose="05000000000000000000" pitchFamily="2" charset="2"/>
              </a:rPr>
              <a:t>反应函数</a:t>
            </a:r>
            <a:endParaRPr lang="en-US" altLang="zh-CN" b="0" dirty="0">
              <a:latin typeface="微软雅黑" panose="020B0503020204020204" pitchFamily="34" charset="-122"/>
              <a:ea typeface="微软雅黑" panose="020B0503020204020204" pitchFamily="34" charset="-122"/>
            </a:endParaRPr>
          </a:p>
          <a:p>
            <a:pPr marL="1200150" lvl="3" indent="-342900" eaLnBrk="1" hangingPunct="1">
              <a:lnSpc>
                <a:spcPct val="150000"/>
              </a:lnSpc>
              <a:buFont typeface="Arial" panose="020B0604020202020204" pitchFamily="34" charset="0"/>
              <a:buChar char="•"/>
            </a:pPr>
            <a:r>
              <a:rPr lang="zh-CN" altLang="en-US" b="0" dirty="0">
                <a:latin typeface="微软雅黑" panose="020B0503020204020204" pitchFamily="34" charset="-122"/>
                <a:ea typeface="微软雅黑" panose="020B0503020204020204" pitchFamily="34" charset="-122"/>
              </a:rPr>
              <a:t>认为对方也会想自己一样考虑，按此方式计算其产量</a:t>
            </a:r>
            <a:endParaRPr lang="en-US" altLang="zh-CN" b="0" dirty="0">
              <a:latin typeface="微软雅黑" panose="020B0503020204020204" pitchFamily="34" charset="-122"/>
              <a:ea typeface="微软雅黑" panose="020B0503020204020204" pitchFamily="34" charset="-122"/>
            </a:endParaRPr>
          </a:p>
          <a:p>
            <a:pPr marL="857250" lvl="3" indent="0" eaLnBrk="1" hangingPunct="1">
              <a:lnSpc>
                <a:spcPct val="150000"/>
              </a:lnSpc>
              <a:buNone/>
            </a:pPr>
            <a:r>
              <a:rPr lang="zh-CN" altLang="en-US" b="0" dirty="0">
                <a:latin typeface="微软雅黑" panose="020B0503020204020204" pitchFamily="34" charset="-122"/>
                <a:ea typeface="微软雅黑" panose="020B0503020204020204" pitchFamily="34" charset="-122"/>
              </a:rPr>
              <a:t>     结果其实就是纳什均衡</a:t>
            </a:r>
            <a:endParaRPr lang="en-US" altLang="zh-CN" b="0" dirty="0">
              <a:latin typeface="微软雅黑" panose="020B0503020204020204" pitchFamily="34" charset="-122"/>
              <a:ea typeface="微软雅黑" panose="020B0503020204020204" pitchFamily="34" charset="-122"/>
            </a:endParaRPr>
          </a:p>
          <a:p>
            <a:pPr marL="1200150" lvl="3" indent="-342900" eaLnBrk="1" hangingPunct="1">
              <a:lnSpc>
                <a:spcPct val="150000"/>
              </a:lnSpc>
              <a:buFont typeface="Arial" panose="020B0604020202020204" pitchFamily="34" charset="0"/>
              <a:buChar char="•"/>
            </a:pPr>
            <a:r>
              <a:rPr lang="zh-CN" altLang="en-US" b="0" dirty="0">
                <a:latin typeface="微软雅黑" panose="020B0503020204020204" pitchFamily="34" charset="-122"/>
                <a:ea typeface="微软雅黑" panose="020B0503020204020204" pitchFamily="34" charset="-122"/>
              </a:rPr>
              <a:t>（注意这里假定成本为零）</a:t>
            </a:r>
            <a:endParaRPr lang="en-US" altLang="zh-CN" b="0" dirty="0">
              <a:latin typeface="微软雅黑" panose="020B0503020204020204" pitchFamily="34" charset="-122"/>
              <a:ea typeface="微软雅黑" panose="020B0503020204020204" pitchFamily="34" charset="-122"/>
            </a:endParaRPr>
          </a:p>
        </p:txBody>
      </p:sp>
      <p:sp>
        <p:nvSpPr>
          <p:cNvPr id="4" name="矩形 3"/>
          <p:cNvSpPr/>
          <p:nvPr/>
        </p:nvSpPr>
        <p:spPr>
          <a:xfrm>
            <a:off x="7543092" y="44765"/>
            <a:ext cx="1600908" cy="369332"/>
          </a:xfrm>
          <a:prstGeom prst="rect">
            <a:avLst/>
          </a:prstGeom>
        </p:spPr>
        <p:txBody>
          <a:bodyPr wrap="square">
            <a:spAutoFit/>
          </a:bodyPr>
          <a:lstStyle/>
          <a:p>
            <a:r>
              <a:rPr lang="zh-CN" altLang="en-US" sz="1800" b="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第三节  寡头</a:t>
            </a:r>
            <a:endParaRPr lang="zh-CN" altLang="en-US" sz="18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 name="矩形 4">
            <a:extLst>
              <a:ext uri="{FF2B5EF4-FFF2-40B4-BE49-F238E27FC236}">
                <a16:creationId xmlns:a16="http://schemas.microsoft.com/office/drawing/2014/main" id="{F68E5273-CD77-47B9-B841-9D29349C133D}"/>
              </a:ext>
            </a:extLst>
          </p:cNvPr>
          <p:cNvSpPr/>
          <p:nvPr/>
        </p:nvSpPr>
        <p:spPr>
          <a:xfrm>
            <a:off x="457201" y="548681"/>
            <a:ext cx="2386680"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marL="0" lvl="1">
              <a:defRPr/>
            </a:pPr>
            <a:r>
              <a:rPr lang="zh-CN" altLang="en-US" sz="2400" spc="150" dirty="0">
                <a:solidFill>
                  <a:srgbClr val="FFFFFF"/>
                </a:solidFill>
                <a:latin typeface="微软雅黑" panose="020B0503020204020204" pitchFamily="34" charset="-122"/>
                <a:ea typeface="微软雅黑" panose="020B0503020204020204" pitchFamily="34" charset="-122"/>
              </a:rPr>
              <a:t>二</a:t>
            </a:r>
            <a:r>
              <a:rPr lang="zh-CN" altLang="en-US" sz="2400" b="1" spc="150" dirty="0">
                <a:solidFill>
                  <a:srgbClr val="FFFFFF"/>
                </a:solidFill>
                <a:latin typeface="微软雅黑" panose="020B0503020204020204" pitchFamily="34" charset="-122"/>
                <a:ea typeface="微软雅黑" panose="020B0503020204020204" pitchFamily="34" charset="-122"/>
              </a:rPr>
              <a:t>、</a:t>
            </a:r>
            <a:r>
              <a:rPr lang="zh-CN" altLang="en-US" sz="2400" spc="15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古诺模型</a:t>
            </a:r>
            <a:endParaRPr lang="zh-CN" altLang="en-US" sz="2400" spc="150" dirty="0">
              <a:solidFill>
                <a:srgbClr val="FFFFFF"/>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82187348"/>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9938">
                                            <p:txEl>
                                              <p:pRg st="1" end="1"/>
                                            </p:txEl>
                                          </p:spTgt>
                                        </p:tgtEl>
                                        <p:attrNameLst>
                                          <p:attrName>style.visibility</p:attrName>
                                        </p:attrNameLst>
                                      </p:cBhvr>
                                      <p:to>
                                        <p:strVal val="visible"/>
                                      </p:to>
                                    </p:set>
                                    <p:animEffect>
                                      <p:cBhvr>
                                        <p:cTn id="7" dur="500"/>
                                        <p:tgtEl>
                                          <p:spTgt spid="39938">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9938">
                                            <p:txEl>
                                              <p:pRg st="2" end="2"/>
                                            </p:txEl>
                                          </p:spTgt>
                                        </p:tgtEl>
                                        <p:attrNameLst>
                                          <p:attrName>style.visibility</p:attrName>
                                        </p:attrNameLst>
                                      </p:cBhvr>
                                      <p:to>
                                        <p:strVal val="visible"/>
                                      </p:to>
                                    </p:set>
                                    <p:animEffect>
                                      <p:cBhvr>
                                        <p:cTn id="12" dur="500"/>
                                        <p:tgtEl>
                                          <p:spTgt spid="3993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9938">
                                            <p:txEl>
                                              <p:pRg st="3" end="3"/>
                                            </p:txEl>
                                          </p:spTgt>
                                        </p:tgtEl>
                                        <p:attrNameLst>
                                          <p:attrName>style.visibility</p:attrName>
                                        </p:attrNameLst>
                                      </p:cBhvr>
                                      <p:to>
                                        <p:strVal val="visible"/>
                                      </p:to>
                                    </p:set>
                                    <p:animEffect>
                                      <p:cBhvr>
                                        <p:cTn id="17" dur="500"/>
                                        <p:tgtEl>
                                          <p:spTgt spid="39938">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9938">
                                            <p:txEl>
                                              <p:pRg st="4" end="4"/>
                                            </p:txEl>
                                          </p:spTgt>
                                        </p:tgtEl>
                                        <p:attrNameLst>
                                          <p:attrName>style.visibility</p:attrName>
                                        </p:attrNameLst>
                                      </p:cBhvr>
                                      <p:to>
                                        <p:strVal val="visible"/>
                                      </p:to>
                                    </p:set>
                                    <p:animEffect>
                                      <p:cBhvr>
                                        <p:cTn id="22" dur="500"/>
                                        <p:tgtEl>
                                          <p:spTgt spid="39938">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9938">
                                            <p:txEl>
                                              <p:pRg st="5" end="5"/>
                                            </p:txEl>
                                          </p:spTgt>
                                        </p:tgtEl>
                                        <p:attrNameLst>
                                          <p:attrName>style.visibility</p:attrName>
                                        </p:attrNameLst>
                                      </p:cBhvr>
                                      <p:to>
                                        <p:strVal val="visible"/>
                                      </p:to>
                                    </p:set>
                                    <p:animEffect>
                                      <p:cBhvr>
                                        <p:cTn id="27" dur="500"/>
                                        <p:tgtEl>
                                          <p:spTgt spid="39938">
                                            <p:txEl>
                                              <p:pRg st="5" end="5"/>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39938">
                                            <p:txEl>
                                              <p:pRg st="6" end="6"/>
                                            </p:txEl>
                                          </p:spTgt>
                                        </p:tgtEl>
                                        <p:attrNameLst>
                                          <p:attrName>style.visibility</p:attrName>
                                        </p:attrNameLst>
                                      </p:cBhvr>
                                      <p:to>
                                        <p:strVal val="visible"/>
                                      </p:to>
                                    </p:set>
                                    <p:animEffect>
                                      <p:cBhvr>
                                        <p:cTn id="30" dur="500"/>
                                        <p:tgtEl>
                                          <p:spTgt spid="39938">
                                            <p:txEl>
                                              <p:pRg st="6" end="6"/>
                                            </p:txEl>
                                          </p:spTgt>
                                        </p:tgtEl>
                                      </p:cBhvr>
                                    </p:animEffect>
                                  </p:childTnLst>
                                </p:cTn>
                              </p:par>
                              <p:par>
                                <p:cTn id="31" presetID="3" presetClass="entr" presetSubtype="10" fill="hold" nodeType="withEffect">
                                  <p:stCondLst>
                                    <p:cond delay="0"/>
                                  </p:stCondLst>
                                  <p:childTnLst>
                                    <p:set>
                                      <p:cBhvr>
                                        <p:cTn id="32" dur="1" fill="hold">
                                          <p:stCondLst>
                                            <p:cond delay="0"/>
                                          </p:stCondLst>
                                        </p:cTn>
                                        <p:tgtEl>
                                          <p:spTgt spid="39938">
                                            <p:txEl>
                                              <p:pRg st="7" end="7"/>
                                            </p:txEl>
                                          </p:spTgt>
                                        </p:tgtEl>
                                        <p:attrNameLst>
                                          <p:attrName>style.visibility</p:attrName>
                                        </p:attrNameLst>
                                      </p:cBhvr>
                                      <p:to>
                                        <p:strVal val="visible"/>
                                      </p:to>
                                    </p:set>
                                    <p:animEffect>
                                      <p:cBhvr>
                                        <p:cTn id="33" dur="500"/>
                                        <p:tgtEl>
                                          <p:spTgt spid="39938">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3"/>
          <p:cNvSpPr>
            <a:spLocks noGrp="1" noChangeArrowheads="1"/>
          </p:cNvSpPr>
          <p:nvPr>
            <p:ph type="body" idx="4294967295"/>
          </p:nvPr>
        </p:nvSpPr>
        <p:spPr>
          <a:xfrm>
            <a:off x="457200" y="773112"/>
            <a:ext cx="8229600" cy="1575813"/>
          </a:xfrm>
          <a:ln/>
        </p:spPr>
        <p:txBody>
          <a:bodyPr/>
          <a:lstStyle/>
          <a:p>
            <a:pPr marL="342900" lvl="1" indent="-342900" eaLnBrk="1" hangingPunct="1"/>
            <a:endParaRPr lang="en-US" altLang="zh-CN" sz="2400" b="0" dirty="0"/>
          </a:p>
          <a:p>
            <a:pPr marL="457200" lvl="2" indent="-457200" eaLnBrk="1" hangingPunct="1">
              <a:lnSpc>
                <a:spcPct val="200000"/>
              </a:lnSpc>
              <a:buSzPct val="100000"/>
              <a:buFont typeface="Wingdings" panose="05000000000000000000" pitchFamily="2" charset="2"/>
              <a:buChar char="u"/>
            </a:pPr>
            <a:r>
              <a:rPr lang="zh-CN" altLang="en-US" sz="2200" b="0" dirty="0">
                <a:latin typeface="微软雅黑" panose="020B0503020204020204" pitchFamily="34" charset="-122"/>
                <a:ea typeface="微软雅黑" panose="020B0503020204020204" pitchFamily="34" charset="-122"/>
              </a:rPr>
              <a:t>（双寡头下）厂商产量决策</a:t>
            </a:r>
            <a:endParaRPr lang="en-US" altLang="zh-CN" sz="2200" b="0" dirty="0">
              <a:latin typeface="微软雅黑" panose="020B0503020204020204" pitchFamily="34" charset="-122"/>
              <a:ea typeface="微软雅黑" panose="020B0503020204020204" pitchFamily="34" charset="-122"/>
            </a:endParaRPr>
          </a:p>
          <a:p>
            <a:pPr marL="742950" lvl="2" indent="-342900" eaLnBrk="1" hangingPunct="1">
              <a:lnSpc>
                <a:spcPct val="150000"/>
              </a:lnSpc>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rPr>
              <a:t>厂商</a:t>
            </a:r>
            <a:r>
              <a:rPr lang="en-US" altLang="zh-CN" sz="2000" b="0" dirty="0">
                <a:latin typeface="微软雅黑" panose="020B0503020204020204" pitchFamily="34" charset="-122"/>
                <a:ea typeface="微软雅黑" panose="020B0503020204020204" pitchFamily="34" charset="-122"/>
              </a:rPr>
              <a:t>1</a:t>
            </a:r>
            <a:r>
              <a:rPr lang="zh-CN" altLang="en-US" sz="2000" b="0" dirty="0">
                <a:latin typeface="微软雅黑" panose="020B0503020204020204" pitchFamily="34" charset="-122"/>
                <a:ea typeface="微软雅黑" panose="020B0503020204020204" pitchFamily="34" charset="-122"/>
              </a:rPr>
              <a:t>的决策</a:t>
            </a:r>
            <a:endParaRPr lang="en-US" altLang="zh-CN" sz="2000" b="0" dirty="0">
              <a:latin typeface="微软雅黑" panose="020B0503020204020204" pitchFamily="34" charset="-122"/>
              <a:ea typeface="微软雅黑" panose="020B0503020204020204" pitchFamily="34" charset="-122"/>
            </a:endParaRPr>
          </a:p>
        </p:txBody>
      </p:sp>
      <p:sp>
        <p:nvSpPr>
          <p:cNvPr id="6" name="下箭头 5"/>
          <p:cNvSpPr/>
          <p:nvPr/>
        </p:nvSpPr>
        <p:spPr bwMode="auto">
          <a:xfrm>
            <a:off x="5013222" y="2924965"/>
            <a:ext cx="288020" cy="372046"/>
          </a:xfrm>
          <a:prstGeom prst="downArrow">
            <a:avLst/>
          </a:prstGeom>
          <a:solidFill>
            <a:srgbClr val="F3C97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9" name="Rectangle 3"/>
          <p:cNvSpPr txBox="1">
            <a:spLocks noChangeArrowheads="1"/>
          </p:cNvSpPr>
          <p:nvPr/>
        </p:nvSpPr>
        <p:spPr bwMode="auto">
          <a:xfrm>
            <a:off x="2194218" y="4077487"/>
            <a:ext cx="5926028" cy="892785"/>
          </a:xfrm>
          <a:prstGeom prst="rect">
            <a:avLst/>
          </a:prstGeom>
          <a:noFill/>
          <a:ln>
            <a:noFill/>
          </a:ln>
        </p:spPr>
        <p:txBody>
          <a:bodyPr vert="horz" wrap="square" lIns="91440" tIns="45720" rIns="91440" bIns="45720" numCol="1" anchor="t" anchorCtr="0" compatLnSpc="1">
            <a:prstTxWarp prst="textNoShape">
              <a:avLst/>
            </a:prstTxWarp>
          </a:bodyPr>
          <a:lstStyle>
            <a:lvl1pPr marL="342900" indent="-342900" algn="l" defTabSz="0" rtl="0" eaLnBrk="0" fontAlgn="base" hangingPunct="0">
              <a:spcBef>
                <a:spcPct val="20000"/>
              </a:spcBef>
              <a:spcAft>
                <a:spcPct val="0"/>
              </a:spcAft>
              <a:buChar char="•"/>
              <a:defRPr sz="3200" b="1" kern="1200">
                <a:solidFill>
                  <a:srgbClr val="CC0000"/>
                </a:solidFill>
                <a:latin typeface="+mn-lt"/>
                <a:ea typeface="+mn-ea"/>
                <a:cs typeface="+mn-cs"/>
                <a:sym typeface="Arial" panose="020B0604020202020204" pitchFamily="34" charset="0"/>
              </a:defRPr>
            </a:lvl1pPr>
            <a:lvl2pPr marL="742950" indent="-285750" algn="l" defTabSz="0" rtl="0" eaLnBrk="0" fontAlgn="base" hangingPunct="0">
              <a:spcBef>
                <a:spcPct val="20000"/>
              </a:spcBef>
              <a:spcAft>
                <a:spcPct val="0"/>
              </a:spcAft>
              <a:buChar char="–"/>
              <a:defRPr sz="2800" b="1" kern="1200">
                <a:solidFill>
                  <a:schemeClr val="tx1"/>
                </a:solidFill>
                <a:latin typeface="+mn-lt"/>
                <a:ea typeface="+mn-ea"/>
                <a:cs typeface="+mn-cs"/>
                <a:sym typeface="Arial" panose="020B0604020202020204" pitchFamily="34" charset="0"/>
              </a:defRPr>
            </a:lvl2pPr>
            <a:lvl3pPr marL="1143000" indent="-228600" algn="l" defTabSz="0" rtl="0" eaLnBrk="0" fontAlgn="base" hangingPunct="0">
              <a:spcBef>
                <a:spcPct val="20000"/>
              </a:spcBef>
              <a:spcAft>
                <a:spcPct val="0"/>
              </a:spcAft>
              <a:buChar char="•"/>
              <a:defRPr sz="2400" b="1" kern="1200">
                <a:solidFill>
                  <a:schemeClr val="tx1"/>
                </a:solidFill>
                <a:latin typeface="+mn-lt"/>
                <a:ea typeface="+mn-ea"/>
                <a:cs typeface="+mn-cs"/>
                <a:sym typeface="Arial" panose="020B0604020202020204" pitchFamily="34" charset="0"/>
              </a:defRPr>
            </a:lvl3pPr>
            <a:lvl4pPr marL="1600200" indent="-228600" algn="l" defTabSz="0" rtl="0" eaLnBrk="0" fontAlgn="base" hangingPunct="0">
              <a:spcBef>
                <a:spcPct val="20000"/>
              </a:spcBef>
              <a:spcAft>
                <a:spcPct val="0"/>
              </a:spcAft>
              <a:buChar char="–"/>
              <a:defRPr sz="2000" b="1" kern="1200">
                <a:solidFill>
                  <a:schemeClr val="tx1"/>
                </a:solidFill>
                <a:latin typeface="+mn-lt"/>
                <a:ea typeface="+mn-ea"/>
                <a:cs typeface="+mn-cs"/>
                <a:sym typeface="Arial" panose="020B0604020202020204" pitchFamily="34" charset="0"/>
              </a:defRPr>
            </a:lvl4pPr>
            <a:lvl5pPr marL="2057400" indent="-228600" algn="l" defTabSz="0" rtl="0" eaLnBrk="0" fontAlgn="base" hangingPunct="0">
              <a:spcBef>
                <a:spcPct val="20000"/>
              </a:spcBef>
              <a:spcAft>
                <a:spcPct val="0"/>
              </a:spcAft>
              <a:buChar char="»"/>
              <a:defRPr sz="2000" b="1" kern="1200">
                <a:solidFill>
                  <a:schemeClr val="tx1"/>
                </a:solidFill>
                <a:latin typeface="+mn-lt"/>
                <a:ea typeface="+mn-ea"/>
                <a:cs typeface="+mn-cs"/>
                <a:sym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eaLnBrk="1" hangingPunct="1">
              <a:buNone/>
            </a:pPr>
            <a:r>
              <a:rPr lang="zh-CN" altLang="en-US" sz="2000" b="0" dirty="0">
                <a:latin typeface="微软雅黑" panose="020B0503020204020204" pitchFamily="34" charset="-122"/>
                <a:ea typeface="微软雅黑" panose="020B0503020204020204" pitchFamily="34" charset="-122"/>
              </a:rPr>
              <a:t>利润最大化的条件是</a:t>
            </a:r>
            <a:r>
              <a:rPr lang="en-US" altLang="zh-CN" sz="2000" b="0" dirty="0">
                <a:latin typeface="微软雅黑" panose="020B0503020204020204" pitchFamily="34" charset="-122"/>
                <a:ea typeface="微软雅黑" panose="020B0503020204020204" pitchFamily="34" charset="-122"/>
              </a:rPr>
              <a:t>MR=MC</a:t>
            </a:r>
            <a:r>
              <a:rPr lang="en-US" altLang="zh-CN" sz="2000" b="0" dirty="0">
                <a:latin typeface="微软雅黑" panose="020B0503020204020204" pitchFamily="34" charset="-122"/>
                <a:ea typeface="微软雅黑" panose="020B0503020204020204" pitchFamily="34" charset="-122"/>
                <a:sym typeface="Wingdings" panose="05000000000000000000" pitchFamily="2" charset="2"/>
              </a:rPr>
              <a:t></a:t>
            </a:r>
          </a:p>
          <a:p>
            <a:pPr marL="0" lvl="1" indent="0" eaLnBrk="1" hangingPunct="1">
              <a:buNone/>
            </a:pPr>
            <a:r>
              <a:rPr lang="zh-CN" altLang="en-US" sz="2000" b="0" dirty="0">
                <a:latin typeface="微软雅黑" panose="020B0503020204020204" pitchFamily="34" charset="-122"/>
                <a:ea typeface="微软雅黑" panose="020B0503020204020204" pitchFamily="34" charset="-122"/>
                <a:sym typeface="Wingdings" panose="05000000000000000000" pitchFamily="2" charset="2"/>
              </a:rPr>
              <a:t>厂商</a:t>
            </a:r>
            <a:r>
              <a:rPr lang="en-US" altLang="zh-CN" sz="2000" b="0" dirty="0">
                <a:latin typeface="微软雅黑" panose="020B0503020204020204" pitchFamily="34" charset="-122"/>
                <a:ea typeface="微软雅黑" panose="020B0503020204020204" pitchFamily="34" charset="-122"/>
                <a:sym typeface="Wingdings" panose="05000000000000000000" pitchFamily="2" charset="2"/>
              </a:rPr>
              <a:t>1</a:t>
            </a:r>
            <a:r>
              <a:rPr lang="zh-CN" altLang="en-US" sz="2000" b="0" dirty="0">
                <a:latin typeface="微软雅黑" panose="020B0503020204020204" pitchFamily="34" charset="-122"/>
                <a:ea typeface="微软雅黑" panose="020B0503020204020204" pitchFamily="34" charset="-122"/>
                <a:sym typeface="Wingdings" panose="05000000000000000000" pitchFamily="2" charset="2"/>
              </a:rPr>
              <a:t>要选择产量确保</a:t>
            </a:r>
            <a:r>
              <a:rPr lang="en-US" altLang="zh-CN" sz="2000" b="0" dirty="0">
                <a:latin typeface="微软雅黑" panose="020B0503020204020204" pitchFamily="34" charset="-122"/>
                <a:ea typeface="微软雅黑" panose="020B0503020204020204" pitchFamily="34" charset="-122"/>
                <a:sym typeface="Wingdings" panose="05000000000000000000" pitchFamily="2" charset="2"/>
              </a:rPr>
              <a:t>MR</a:t>
            </a:r>
            <a:r>
              <a:rPr lang="en-US" altLang="zh-CN" sz="2000" b="0" baseline="-25000" dirty="0">
                <a:latin typeface="微软雅黑" panose="020B0503020204020204" pitchFamily="34" charset="-122"/>
                <a:ea typeface="微软雅黑" panose="020B0503020204020204" pitchFamily="34" charset="-122"/>
                <a:sym typeface="Wingdings" panose="05000000000000000000" pitchFamily="2" charset="2"/>
              </a:rPr>
              <a:t>1</a:t>
            </a:r>
            <a:r>
              <a:rPr lang="en-US" altLang="zh-CN" sz="2000" b="0" dirty="0">
                <a:latin typeface="微软雅黑" panose="020B0503020204020204" pitchFamily="34" charset="-122"/>
                <a:ea typeface="微软雅黑" panose="020B0503020204020204" pitchFamily="34" charset="-122"/>
                <a:sym typeface="Wingdings" panose="05000000000000000000" pitchFamily="2" charset="2"/>
              </a:rPr>
              <a:t>=0, </a:t>
            </a:r>
            <a:r>
              <a:rPr lang="zh-CN" altLang="en-US" sz="2000" b="0" dirty="0">
                <a:latin typeface="微软雅黑" panose="020B0503020204020204" pitchFamily="34" charset="-122"/>
                <a:ea typeface="微软雅黑" panose="020B0503020204020204" pitchFamily="34" charset="-122"/>
                <a:sym typeface="Wingdings" panose="05000000000000000000" pitchFamily="2" charset="2"/>
              </a:rPr>
              <a:t>因为假设成本为零</a:t>
            </a:r>
            <a:endParaRPr lang="en-US" altLang="zh-CN" sz="2000" b="0" dirty="0">
              <a:latin typeface="微软雅黑" panose="020B0503020204020204" pitchFamily="34" charset="-122"/>
              <a:ea typeface="微软雅黑" panose="020B0503020204020204" pitchFamily="34" charset="-122"/>
            </a:endParaRPr>
          </a:p>
        </p:txBody>
      </p:sp>
      <p:sp>
        <p:nvSpPr>
          <p:cNvPr id="12" name="矩形 11"/>
          <p:cNvSpPr/>
          <p:nvPr/>
        </p:nvSpPr>
        <p:spPr>
          <a:xfrm>
            <a:off x="7543092" y="44765"/>
            <a:ext cx="1600908" cy="369332"/>
          </a:xfrm>
          <a:prstGeom prst="rect">
            <a:avLst/>
          </a:prstGeom>
        </p:spPr>
        <p:txBody>
          <a:bodyPr wrap="square">
            <a:spAutoFit/>
          </a:bodyPr>
          <a:lstStyle/>
          <a:p>
            <a:r>
              <a:rPr lang="zh-CN" altLang="en-US" sz="1800" b="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第三节  寡头</a:t>
            </a:r>
            <a:endParaRPr lang="zh-CN" altLang="en-US" sz="18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3" name="矩形 12">
            <a:extLst>
              <a:ext uri="{FF2B5EF4-FFF2-40B4-BE49-F238E27FC236}">
                <a16:creationId xmlns:a16="http://schemas.microsoft.com/office/drawing/2014/main" id="{F68E5273-CD77-47B9-B841-9D29349C133D}"/>
              </a:ext>
            </a:extLst>
          </p:cNvPr>
          <p:cNvSpPr/>
          <p:nvPr/>
        </p:nvSpPr>
        <p:spPr>
          <a:xfrm>
            <a:off x="457201" y="548681"/>
            <a:ext cx="2386680"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marL="0" lvl="1">
              <a:defRPr/>
            </a:pPr>
            <a:r>
              <a:rPr lang="zh-CN" altLang="en-US" sz="2400" spc="150" dirty="0">
                <a:solidFill>
                  <a:srgbClr val="FFFFFF"/>
                </a:solidFill>
                <a:latin typeface="微软雅黑" panose="020B0503020204020204" pitchFamily="34" charset="-122"/>
                <a:ea typeface="微软雅黑" panose="020B0503020204020204" pitchFamily="34" charset="-122"/>
              </a:rPr>
              <a:t>二</a:t>
            </a:r>
            <a:r>
              <a:rPr lang="zh-CN" altLang="en-US" sz="2400" b="1" spc="150" dirty="0">
                <a:solidFill>
                  <a:srgbClr val="FFFFFF"/>
                </a:solidFill>
                <a:latin typeface="微软雅黑" panose="020B0503020204020204" pitchFamily="34" charset="-122"/>
                <a:ea typeface="微软雅黑" panose="020B0503020204020204" pitchFamily="34" charset="-122"/>
              </a:rPr>
              <a:t>、</a:t>
            </a:r>
            <a:r>
              <a:rPr lang="zh-CN" altLang="en-US" sz="2400" spc="15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古诺模型</a:t>
            </a:r>
            <a:endParaRPr lang="zh-CN" altLang="en-US" sz="2400" spc="150" dirty="0">
              <a:solidFill>
                <a:srgbClr val="FFFFFF"/>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7" name="文本框 6"/>
              <p:cNvSpPr txBox="1"/>
              <p:nvPr/>
            </p:nvSpPr>
            <p:spPr>
              <a:xfrm>
                <a:off x="3269988" y="2501338"/>
                <a:ext cx="3899850" cy="32765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i="1" smtClean="0">
                              <a:latin typeface="Cambria Math" panose="02040503050406030204" pitchFamily="18" charset="0"/>
                              <a:ea typeface="Cambria Math" panose="02040503050406030204" pitchFamily="18" charset="0"/>
                            </a:rPr>
                          </m:ctrlPr>
                        </m:sSubPr>
                        <m:e>
                          <m:r>
                            <a:rPr lang="en-US" altLang="zh-CN" sz="2000" b="1" i="1" smtClean="0">
                              <a:latin typeface="Cambria Math" panose="02040503050406030204" pitchFamily="18" charset="0"/>
                              <a:ea typeface="Cambria Math" panose="02040503050406030204" pitchFamily="18" charset="0"/>
                            </a:rPr>
                            <m:t>𝑹</m:t>
                          </m:r>
                        </m:e>
                        <m:sub>
                          <m:r>
                            <a:rPr lang="en-US" altLang="zh-CN" sz="2000" b="1" i="1" smtClean="0">
                              <a:latin typeface="Cambria Math" panose="02040503050406030204" pitchFamily="18" charset="0"/>
                              <a:ea typeface="Cambria Math" panose="02040503050406030204" pitchFamily="18" charset="0"/>
                            </a:rPr>
                            <m:t>𝟏</m:t>
                          </m:r>
                        </m:sub>
                      </m:sSub>
                      <m:r>
                        <a:rPr lang="en-US" altLang="zh-CN" sz="2000" i="1" smtClean="0">
                          <a:latin typeface="Cambria Math" panose="02040503050406030204" pitchFamily="18" charset="0"/>
                          <a:ea typeface="Cambria Math" panose="02040503050406030204" pitchFamily="18" charset="0"/>
                        </a:rPr>
                        <m:t>=</m:t>
                      </m:r>
                      <m:r>
                        <a:rPr lang="en-US" altLang="zh-CN" sz="2000" b="1" i="1" smtClean="0">
                          <a:latin typeface="Cambria Math" panose="02040503050406030204" pitchFamily="18" charset="0"/>
                          <a:ea typeface="Cambria Math" panose="02040503050406030204" pitchFamily="18" charset="0"/>
                        </a:rPr>
                        <m:t>𝑷</m:t>
                      </m:r>
                      <m:sSub>
                        <m:sSubPr>
                          <m:ctrlPr>
                            <a:rPr lang="en-US" altLang="zh-CN" sz="2000" b="1" i="1" smtClean="0">
                              <a:latin typeface="Cambria Math" panose="02040503050406030204" pitchFamily="18" charset="0"/>
                              <a:ea typeface="Cambria Math" panose="02040503050406030204" pitchFamily="18" charset="0"/>
                            </a:rPr>
                          </m:ctrlPr>
                        </m:sSubPr>
                        <m:e>
                          <m:r>
                            <a:rPr lang="en-US" altLang="zh-CN" sz="2000" b="1" i="1" smtClean="0">
                              <a:latin typeface="Cambria Math" panose="02040503050406030204" pitchFamily="18" charset="0"/>
                              <a:ea typeface="Cambria Math" panose="02040503050406030204" pitchFamily="18" charset="0"/>
                            </a:rPr>
                            <m:t>𝑸</m:t>
                          </m:r>
                        </m:e>
                        <m:sub>
                          <m:r>
                            <a:rPr lang="en-US" altLang="zh-CN" sz="2000" b="1" i="1" smtClean="0">
                              <a:latin typeface="Cambria Math" panose="02040503050406030204" pitchFamily="18" charset="0"/>
                              <a:ea typeface="Cambria Math" panose="02040503050406030204" pitchFamily="18" charset="0"/>
                            </a:rPr>
                            <m:t>𝟏</m:t>
                          </m:r>
                        </m:sub>
                      </m:sSub>
                      <m:r>
                        <a:rPr lang="en-US" altLang="zh-CN" sz="2000" b="1" i="1" smtClean="0">
                          <a:latin typeface="Cambria Math" panose="02040503050406030204" pitchFamily="18" charset="0"/>
                          <a:ea typeface="Cambria Math" panose="02040503050406030204" pitchFamily="18" charset="0"/>
                        </a:rPr>
                        <m:t>=</m:t>
                      </m:r>
                      <m:r>
                        <a:rPr lang="zh-CN" altLang="en-US" sz="2000" b="1" i="1" smtClean="0">
                          <a:latin typeface="Cambria Math" panose="02040503050406030204" pitchFamily="18" charset="0"/>
                          <a:ea typeface="Cambria Math" panose="02040503050406030204" pitchFamily="18" charset="0"/>
                        </a:rPr>
                        <m:t>𝜶</m:t>
                      </m:r>
                      <m:sSub>
                        <m:sSubPr>
                          <m:ctrlPr>
                            <a:rPr lang="en-US" altLang="zh-CN" sz="2000" b="1" i="1" smtClean="0">
                              <a:latin typeface="Cambria Math" panose="02040503050406030204" pitchFamily="18" charset="0"/>
                              <a:ea typeface="Cambria Math" panose="02040503050406030204" pitchFamily="18" charset="0"/>
                            </a:rPr>
                          </m:ctrlPr>
                        </m:sSubPr>
                        <m:e>
                          <m:r>
                            <a:rPr lang="en-US" altLang="zh-CN" sz="2000" b="1" i="1" smtClean="0">
                              <a:latin typeface="Cambria Math" panose="02040503050406030204" pitchFamily="18" charset="0"/>
                              <a:ea typeface="Cambria Math" panose="02040503050406030204" pitchFamily="18" charset="0"/>
                            </a:rPr>
                            <m:t>𝑸</m:t>
                          </m:r>
                        </m:e>
                        <m:sub>
                          <m:r>
                            <a:rPr lang="en-US" altLang="zh-CN" sz="2000" b="1" i="1" smtClean="0">
                              <a:latin typeface="Cambria Math" panose="02040503050406030204" pitchFamily="18" charset="0"/>
                              <a:ea typeface="Cambria Math" panose="02040503050406030204" pitchFamily="18" charset="0"/>
                            </a:rPr>
                            <m:t>𝟏</m:t>
                          </m:r>
                        </m:sub>
                      </m:sSub>
                      <m:r>
                        <a:rPr lang="en-US" altLang="zh-CN" sz="2000" i="1">
                          <a:latin typeface="Cambria Math" panose="02040503050406030204" pitchFamily="18" charset="0"/>
                          <a:ea typeface="Cambria Math" panose="02040503050406030204" pitchFamily="18" charset="0"/>
                        </a:rPr>
                        <m:t>−</m:t>
                      </m:r>
                      <m:r>
                        <a:rPr lang="zh-CN" altLang="en-US" sz="2000" i="1" smtClean="0">
                          <a:latin typeface="Cambria Math" panose="02040503050406030204" pitchFamily="18" charset="0"/>
                          <a:ea typeface="Cambria Math" panose="02040503050406030204" pitchFamily="18" charset="0"/>
                        </a:rPr>
                        <m:t>𝜷</m:t>
                      </m:r>
                      <m:sSub>
                        <m:sSubPr>
                          <m:ctrlPr>
                            <a:rPr lang="en-US" altLang="zh-CN" sz="2000" i="1" smtClean="0">
                              <a:latin typeface="Cambria Math" panose="02040503050406030204" pitchFamily="18" charset="0"/>
                              <a:ea typeface="Cambria Math" panose="02040503050406030204" pitchFamily="18" charset="0"/>
                            </a:rPr>
                          </m:ctrlPr>
                        </m:sSubPr>
                        <m:e>
                          <m:r>
                            <a:rPr lang="en-US" altLang="zh-CN" sz="2000" b="1" i="1" smtClean="0">
                              <a:latin typeface="Cambria Math" panose="02040503050406030204" pitchFamily="18" charset="0"/>
                              <a:ea typeface="Cambria Math" panose="02040503050406030204" pitchFamily="18" charset="0"/>
                            </a:rPr>
                            <m:t>𝑸</m:t>
                          </m:r>
                        </m:e>
                        <m:sub>
                          <m:r>
                            <a:rPr lang="en-US" altLang="zh-CN" sz="2000" b="1" i="1" smtClean="0">
                              <a:latin typeface="Cambria Math" panose="02040503050406030204" pitchFamily="18" charset="0"/>
                              <a:ea typeface="Cambria Math" panose="02040503050406030204" pitchFamily="18" charset="0"/>
                            </a:rPr>
                            <m:t>𝟏</m:t>
                          </m:r>
                        </m:sub>
                      </m:sSub>
                      <m:sSub>
                        <m:sSubPr>
                          <m:ctrlPr>
                            <a:rPr lang="en-US" altLang="zh-CN" sz="2000" i="1" smtClean="0">
                              <a:latin typeface="Cambria Math" panose="02040503050406030204" pitchFamily="18" charset="0"/>
                              <a:ea typeface="Cambria Math" panose="02040503050406030204" pitchFamily="18" charset="0"/>
                            </a:rPr>
                          </m:ctrlPr>
                        </m:sSubPr>
                        <m:e>
                          <m:r>
                            <a:rPr lang="en-US" altLang="zh-CN" sz="2000" b="1" i="1" smtClean="0">
                              <a:latin typeface="Cambria Math" panose="02040503050406030204" pitchFamily="18" charset="0"/>
                              <a:ea typeface="Cambria Math" panose="02040503050406030204" pitchFamily="18" charset="0"/>
                            </a:rPr>
                            <m:t>𝑸</m:t>
                          </m:r>
                        </m:e>
                        <m:sub>
                          <m:r>
                            <a:rPr lang="en-US" altLang="zh-CN" sz="2000" b="1" i="1" smtClean="0">
                              <a:latin typeface="Cambria Math" panose="02040503050406030204" pitchFamily="18" charset="0"/>
                              <a:ea typeface="Cambria Math" panose="02040503050406030204" pitchFamily="18" charset="0"/>
                            </a:rPr>
                            <m:t>𝟐</m:t>
                          </m:r>
                        </m:sub>
                      </m:sSub>
                      <m:r>
                        <a:rPr lang="en-US" altLang="zh-CN" sz="2000" i="1" smtClean="0">
                          <a:latin typeface="Cambria Math" panose="02040503050406030204" pitchFamily="18" charset="0"/>
                          <a:ea typeface="Cambria Math" panose="02040503050406030204" pitchFamily="18" charset="0"/>
                        </a:rPr>
                        <m:t>−</m:t>
                      </m:r>
                      <m:r>
                        <a:rPr lang="zh-CN" altLang="en-US" sz="2000" i="1" smtClean="0">
                          <a:latin typeface="Cambria Math" panose="02040503050406030204" pitchFamily="18" charset="0"/>
                          <a:ea typeface="Cambria Math" panose="02040503050406030204" pitchFamily="18" charset="0"/>
                        </a:rPr>
                        <m:t>𝜷</m:t>
                      </m:r>
                      <m:sSubSup>
                        <m:sSubSupPr>
                          <m:ctrlPr>
                            <a:rPr lang="en-US" altLang="zh-CN" sz="2000" i="1" smtClean="0">
                              <a:latin typeface="Cambria Math" panose="02040503050406030204" pitchFamily="18" charset="0"/>
                              <a:ea typeface="Cambria Math" panose="02040503050406030204" pitchFamily="18" charset="0"/>
                            </a:rPr>
                          </m:ctrlPr>
                        </m:sSubSupPr>
                        <m:e>
                          <m:r>
                            <a:rPr lang="en-US" altLang="zh-CN" sz="2000" b="1" i="1" smtClean="0">
                              <a:latin typeface="Cambria Math" panose="02040503050406030204" pitchFamily="18" charset="0"/>
                              <a:ea typeface="Cambria Math" panose="02040503050406030204" pitchFamily="18" charset="0"/>
                            </a:rPr>
                            <m:t>𝑸</m:t>
                          </m:r>
                        </m:e>
                        <m:sub>
                          <m:r>
                            <a:rPr lang="en-US" altLang="zh-CN" sz="2000" b="1" i="1" smtClean="0">
                              <a:latin typeface="Cambria Math" panose="02040503050406030204" pitchFamily="18" charset="0"/>
                              <a:ea typeface="Cambria Math" panose="02040503050406030204" pitchFamily="18" charset="0"/>
                            </a:rPr>
                            <m:t>𝟏</m:t>
                          </m:r>
                        </m:sub>
                        <m:sup>
                          <m:r>
                            <a:rPr lang="en-US" altLang="zh-CN" sz="2000" b="1" i="1" smtClean="0">
                              <a:latin typeface="Cambria Math" panose="02040503050406030204" pitchFamily="18" charset="0"/>
                              <a:ea typeface="Cambria Math" panose="02040503050406030204" pitchFamily="18" charset="0"/>
                            </a:rPr>
                            <m:t>𝟐</m:t>
                          </m:r>
                        </m:sup>
                      </m:sSubSup>
                    </m:oMath>
                  </m:oMathPara>
                </a14:m>
                <a:endParaRPr lang="zh-CN" altLang="en-US" sz="2000" dirty="0"/>
              </a:p>
            </p:txBody>
          </p:sp>
        </mc:Choice>
        <mc:Fallback xmlns="">
          <p:sp>
            <p:nvSpPr>
              <p:cNvPr id="7" name="文本框 6"/>
              <p:cNvSpPr txBox="1">
                <a:spLocks noRot="1" noChangeAspect="1" noMove="1" noResize="1" noEditPoints="1" noAdjustHandles="1" noChangeArrowheads="1" noChangeShapeType="1" noTextEdit="1"/>
              </p:cNvSpPr>
              <p:nvPr/>
            </p:nvSpPr>
            <p:spPr>
              <a:xfrm>
                <a:off x="3269988" y="2501338"/>
                <a:ext cx="3899850" cy="327654"/>
              </a:xfrm>
              <a:prstGeom prst="rect">
                <a:avLst/>
              </a:prstGeom>
              <a:blipFill>
                <a:blip r:embed="rId2"/>
                <a:stretch>
                  <a:fillRect l="-781" r="-156" b="-33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p:cNvSpPr txBox="1"/>
              <p:nvPr/>
            </p:nvSpPr>
            <p:spPr>
              <a:xfrm>
                <a:off x="3734535" y="3429000"/>
                <a:ext cx="2845394"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ea typeface="Cambria Math" panose="02040503050406030204" pitchFamily="18" charset="0"/>
                        </a:rPr>
                        <m:t>𝑴</m:t>
                      </m:r>
                      <m:sSub>
                        <m:sSubPr>
                          <m:ctrlPr>
                            <a:rPr lang="en-US" altLang="zh-CN" sz="2000" b="1" i="1" smtClean="0">
                              <a:latin typeface="Cambria Math" panose="02040503050406030204" pitchFamily="18" charset="0"/>
                              <a:ea typeface="Cambria Math" panose="02040503050406030204" pitchFamily="18" charset="0"/>
                            </a:rPr>
                          </m:ctrlPr>
                        </m:sSubPr>
                        <m:e>
                          <m:r>
                            <a:rPr lang="en-US" altLang="zh-CN" sz="2000" b="1" i="1" smtClean="0">
                              <a:latin typeface="Cambria Math" panose="02040503050406030204" pitchFamily="18" charset="0"/>
                              <a:ea typeface="Cambria Math" panose="02040503050406030204" pitchFamily="18" charset="0"/>
                            </a:rPr>
                            <m:t>𝑹</m:t>
                          </m:r>
                        </m:e>
                        <m:sub>
                          <m:r>
                            <a:rPr lang="en-US" altLang="zh-CN" sz="2000" b="1" i="1" smtClean="0">
                              <a:latin typeface="Cambria Math" panose="02040503050406030204" pitchFamily="18" charset="0"/>
                              <a:ea typeface="Cambria Math" panose="02040503050406030204" pitchFamily="18" charset="0"/>
                            </a:rPr>
                            <m:t>𝟏</m:t>
                          </m:r>
                        </m:sub>
                      </m:sSub>
                      <m:r>
                        <a:rPr lang="en-US" altLang="zh-CN" sz="2000" i="1" smtClean="0">
                          <a:latin typeface="Cambria Math" panose="02040503050406030204" pitchFamily="18" charset="0"/>
                          <a:ea typeface="Cambria Math" panose="02040503050406030204" pitchFamily="18" charset="0"/>
                        </a:rPr>
                        <m:t>=</m:t>
                      </m:r>
                      <m:r>
                        <a:rPr lang="zh-CN" altLang="en-US" sz="2000" i="1" smtClean="0">
                          <a:latin typeface="Cambria Math" panose="02040503050406030204" pitchFamily="18" charset="0"/>
                          <a:ea typeface="Cambria Math" panose="02040503050406030204" pitchFamily="18" charset="0"/>
                        </a:rPr>
                        <m:t>𝜶</m:t>
                      </m:r>
                      <m:r>
                        <a:rPr lang="zh-CN" altLang="en-US" sz="2000" i="1" smtClean="0">
                          <a:latin typeface="Cambria Math" panose="02040503050406030204" pitchFamily="18" charset="0"/>
                          <a:ea typeface="Cambria Math" panose="02040503050406030204" pitchFamily="18" charset="0"/>
                        </a:rPr>
                        <m:t>−</m:t>
                      </m:r>
                      <m:r>
                        <a:rPr lang="zh-CN" altLang="en-US" sz="2000" i="1" smtClean="0">
                          <a:latin typeface="Cambria Math" panose="02040503050406030204" pitchFamily="18" charset="0"/>
                          <a:ea typeface="Cambria Math" panose="02040503050406030204" pitchFamily="18" charset="0"/>
                        </a:rPr>
                        <m:t>𝜷</m:t>
                      </m:r>
                      <m:sSub>
                        <m:sSubPr>
                          <m:ctrlPr>
                            <a:rPr lang="en-US" altLang="zh-CN" sz="2000" i="1" smtClean="0">
                              <a:latin typeface="Cambria Math" panose="02040503050406030204" pitchFamily="18" charset="0"/>
                              <a:ea typeface="Cambria Math" panose="02040503050406030204" pitchFamily="18" charset="0"/>
                            </a:rPr>
                          </m:ctrlPr>
                        </m:sSubPr>
                        <m:e>
                          <m:r>
                            <a:rPr lang="en-US" altLang="zh-CN" sz="2000" b="1" i="1" smtClean="0">
                              <a:latin typeface="Cambria Math" panose="02040503050406030204" pitchFamily="18" charset="0"/>
                              <a:ea typeface="Cambria Math" panose="02040503050406030204" pitchFamily="18" charset="0"/>
                            </a:rPr>
                            <m:t>𝑸</m:t>
                          </m:r>
                        </m:e>
                        <m:sub>
                          <m:r>
                            <a:rPr lang="en-US" altLang="zh-CN" sz="2000" b="1" i="1" smtClean="0">
                              <a:latin typeface="Cambria Math" panose="02040503050406030204" pitchFamily="18" charset="0"/>
                              <a:ea typeface="Cambria Math" panose="02040503050406030204" pitchFamily="18" charset="0"/>
                            </a:rPr>
                            <m:t>𝟐</m:t>
                          </m:r>
                        </m:sub>
                      </m:sSub>
                      <m:r>
                        <a:rPr lang="en-US" altLang="zh-CN" sz="2000" i="1" smtClean="0">
                          <a:latin typeface="Cambria Math" panose="02040503050406030204" pitchFamily="18" charset="0"/>
                          <a:ea typeface="Cambria Math" panose="02040503050406030204" pitchFamily="18" charset="0"/>
                        </a:rPr>
                        <m:t>−</m:t>
                      </m:r>
                      <m:r>
                        <a:rPr lang="en-US" altLang="zh-CN" sz="2000" b="1" i="1" smtClean="0">
                          <a:latin typeface="Cambria Math" panose="02040503050406030204" pitchFamily="18" charset="0"/>
                          <a:ea typeface="Cambria Math" panose="02040503050406030204" pitchFamily="18" charset="0"/>
                        </a:rPr>
                        <m:t>𝟐</m:t>
                      </m:r>
                      <m:r>
                        <a:rPr lang="zh-CN" altLang="en-US" sz="2000" b="1" i="1" smtClean="0">
                          <a:latin typeface="Cambria Math" panose="02040503050406030204" pitchFamily="18" charset="0"/>
                          <a:ea typeface="Cambria Math" panose="02040503050406030204" pitchFamily="18" charset="0"/>
                        </a:rPr>
                        <m:t>𝜷</m:t>
                      </m:r>
                      <m:sSub>
                        <m:sSubPr>
                          <m:ctrlPr>
                            <a:rPr lang="en-US" altLang="zh-CN" sz="2000" b="1" i="1" smtClean="0">
                              <a:latin typeface="Cambria Math" panose="02040503050406030204" pitchFamily="18" charset="0"/>
                              <a:ea typeface="Cambria Math" panose="02040503050406030204" pitchFamily="18" charset="0"/>
                            </a:rPr>
                          </m:ctrlPr>
                        </m:sSubPr>
                        <m:e>
                          <m:r>
                            <a:rPr lang="en-US" altLang="zh-CN" sz="2000" b="1" i="1" smtClean="0">
                              <a:latin typeface="Cambria Math" panose="02040503050406030204" pitchFamily="18" charset="0"/>
                              <a:ea typeface="Cambria Math" panose="02040503050406030204" pitchFamily="18" charset="0"/>
                            </a:rPr>
                            <m:t>𝑸</m:t>
                          </m:r>
                        </m:e>
                        <m:sub>
                          <m:r>
                            <a:rPr lang="en-US" altLang="zh-CN" sz="2000" b="1" i="1" smtClean="0">
                              <a:latin typeface="Cambria Math" panose="02040503050406030204" pitchFamily="18" charset="0"/>
                              <a:ea typeface="Cambria Math" panose="02040503050406030204" pitchFamily="18" charset="0"/>
                            </a:rPr>
                            <m:t>𝟏</m:t>
                          </m:r>
                        </m:sub>
                      </m:sSub>
                    </m:oMath>
                  </m:oMathPara>
                </a14:m>
                <a:endParaRPr lang="zh-CN" altLang="en-US" sz="2000" dirty="0"/>
              </a:p>
            </p:txBody>
          </p:sp>
        </mc:Choice>
        <mc:Fallback xmlns="">
          <p:sp>
            <p:nvSpPr>
              <p:cNvPr id="8" name="文本框 7"/>
              <p:cNvSpPr txBox="1">
                <a:spLocks noRot="1" noChangeAspect="1" noMove="1" noResize="1" noEditPoints="1" noAdjustHandles="1" noChangeArrowheads="1" noChangeShapeType="1" noTextEdit="1"/>
              </p:cNvSpPr>
              <p:nvPr/>
            </p:nvSpPr>
            <p:spPr>
              <a:xfrm>
                <a:off x="3734535" y="3429000"/>
                <a:ext cx="2845394" cy="307777"/>
              </a:xfrm>
              <a:prstGeom prst="rect">
                <a:avLst/>
              </a:prstGeom>
              <a:blipFill>
                <a:blip r:embed="rId3"/>
                <a:stretch>
                  <a:fillRect l="-1502" r="-644" b="-38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p:cNvSpPr txBox="1"/>
              <p:nvPr/>
            </p:nvSpPr>
            <p:spPr>
              <a:xfrm>
                <a:off x="2992309" y="5517145"/>
                <a:ext cx="1579691" cy="55322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ea typeface="Cambria Math" panose="02040503050406030204" pitchFamily="18" charset="0"/>
                            </a:rPr>
                          </m:ctrlPr>
                        </m:sSubPr>
                        <m:e>
                          <m:r>
                            <a:rPr lang="en-US" altLang="zh-CN" b="1" i="1" smtClean="0">
                              <a:latin typeface="Cambria Math" panose="02040503050406030204" pitchFamily="18" charset="0"/>
                              <a:ea typeface="Cambria Math" panose="02040503050406030204" pitchFamily="18" charset="0"/>
                            </a:rPr>
                            <m:t>𝑸</m:t>
                          </m:r>
                        </m:e>
                        <m:sub>
                          <m:r>
                            <a:rPr lang="en-US" altLang="zh-CN" b="1" i="1" smtClean="0">
                              <a:latin typeface="Cambria Math" panose="02040503050406030204" pitchFamily="18" charset="0"/>
                              <a:ea typeface="Cambria Math" panose="02040503050406030204" pitchFamily="18" charset="0"/>
                            </a:rPr>
                            <m:t>𝟏</m:t>
                          </m:r>
                        </m:sub>
                      </m:sSub>
                      <m:r>
                        <a:rPr lang="en-US" altLang="zh-CN" i="1" smtClean="0">
                          <a:latin typeface="Cambria Math" panose="02040503050406030204" pitchFamily="18" charset="0"/>
                          <a:ea typeface="Cambria Math" panose="02040503050406030204" pitchFamily="18" charset="0"/>
                        </a:rPr>
                        <m:t>=</m:t>
                      </m:r>
                      <m:f>
                        <m:fPr>
                          <m:ctrlPr>
                            <a:rPr lang="en-US" altLang="zh-CN" i="1" smtClean="0">
                              <a:latin typeface="Cambria Math" panose="02040503050406030204" pitchFamily="18" charset="0"/>
                              <a:ea typeface="Cambria Math" panose="02040503050406030204" pitchFamily="18" charset="0"/>
                            </a:rPr>
                          </m:ctrlPr>
                        </m:fPr>
                        <m:num>
                          <m:r>
                            <a:rPr lang="en-US" altLang="zh-CN" b="1" i="1" smtClean="0">
                              <a:latin typeface="Cambria Math" panose="02040503050406030204" pitchFamily="18" charset="0"/>
                              <a:ea typeface="Cambria Math" panose="02040503050406030204" pitchFamily="18" charset="0"/>
                            </a:rPr>
                            <m:t>𝟏</m:t>
                          </m:r>
                        </m:num>
                        <m:den>
                          <m:r>
                            <a:rPr lang="en-US" altLang="zh-CN" b="1" i="1" smtClean="0">
                              <a:latin typeface="Cambria Math" panose="02040503050406030204" pitchFamily="18" charset="0"/>
                              <a:ea typeface="Cambria Math" panose="02040503050406030204" pitchFamily="18" charset="0"/>
                            </a:rPr>
                            <m:t>𝟐</m:t>
                          </m:r>
                        </m:den>
                      </m:f>
                      <m:d>
                        <m:dPr>
                          <m:ctrlPr>
                            <a:rPr lang="en-US" altLang="zh-CN" i="1" smtClean="0">
                              <a:latin typeface="Cambria Math" panose="02040503050406030204" pitchFamily="18" charset="0"/>
                              <a:ea typeface="Cambria Math" panose="02040503050406030204" pitchFamily="18" charset="0"/>
                            </a:rPr>
                          </m:ctrlPr>
                        </m:dPr>
                        <m:e>
                          <m:f>
                            <m:fPr>
                              <m:ctrlPr>
                                <a:rPr lang="en-US" altLang="zh-CN" i="1" smtClean="0">
                                  <a:latin typeface="Cambria Math" panose="02040503050406030204" pitchFamily="18" charset="0"/>
                                  <a:ea typeface="Cambria Math" panose="02040503050406030204" pitchFamily="18" charset="0"/>
                                </a:rPr>
                              </m:ctrlPr>
                            </m:fPr>
                            <m:num>
                              <m:r>
                                <a:rPr lang="zh-CN" altLang="en-US" i="1" smtClean="0">
                                  <a:latin typeface="Cambria Math" panose="02040503050406030204" pitchFamily="18" charset="0"/>
                                  <a:ea typeface="Cambria Math" panose="02040503050406030204" pitchFamily="18" charset="0"/>
                                </a:rPr>
                                <m:t>𝜶</m:t>
                              </m:r>
                            </m:num>
                            <m:den>
                              <m:r>
                                <a:rPr lang="zh-CN" altLang="en-US" i="1" smtClean="0">
                                  <a:latin typeface="Cambria Math" panose="02040503050406030204" pitchFamily="18" charset="0"/>
                                  <a:ea typeface="Cambria Math" panose="02040503050406030204" pitchFamily="18" charset="0"/>
                                </a:rPr>
                                <m:t>𝜷</m:t>
                              </m:r>
                            </m:den>
                          </m:f>
                          <m:r>
                            <a:rPr lang="en-US" altLang="zh-CN" i="1" smtClean="0">
                              <a:latin typeface="Cambria Math" panose="02040503050406030204" pitchFamily="18" charset="0"/>
                              <a:ea typeface="Cambria Math" panose="02040503050406030204" pitchFamily="18" charset="0"/>
                            </a:rPr>
                            <m:t>−</m:t>
                          </m:r>
                          <m:sSub>
                            <m:sSubPr>
                              <m:ctrlPr>
                                <a:rPr lang="en-US" altLang="zh-CN" i="1" smtClean="0">
                                  <a:latin typeface="Cambria Math" panose="02040503050406030204" pitchFamily="18" charset="0"/>
                                  <a:ea typeface="Cambria Math" panose="02040503050406030204" pitchFamily="18" charset="0"/>
                                </a:rPr>
                              </m:ctrlPr>
                            </m:sSubPr>
                            <m:e>
                              <m:r>
                                <a:rPr lang="en-US" altLang="zh-CN" b="1" i="1" smtClean="0">
                                  <a:latin typeface="Cambria Math" panose="02040503050406030204" pitchFamily="18" charset="0"/>
                                  <a:ea typeface="Cambria Math" panose="02040503050406030204" pitchFamily="18" charset="0"/>
                                </a:rPr>
                                <m:t>𝑸</m:t>
                              </m:r>
                            </m:e>
                            <m:sub>
                              <m:r>
                                <a:rPr lang="en-US" altLang="zh-CN" b="1" i="1" smtClean="0">
                                  <a:latin typeface="Cambria Math" panose="02040503050406030204" pitchFamily="18" charset="0"/>
                                  <a:ea typeface="Cambria Math" panose="02040503050406030204" pitchFamily="18" charset="0"/>
                                </a:rPr>
                                <m:t>𝟐</m:t>
                              </m:r>
                            </m:sub>
                          </m:sSub>
                        </m:e>
                      </m:d>
                    </m:oMath>
                  </m:oMathPara>
                </a14:m>
                <a:endParaRPr lang="zh-CN" altLang="en-US" dirty="0"/>
              </a:p>
            </p:txBody>
          </p:sp>
        </mc:Choice>
        <mc:Fallback xmlns="">
          <p:sp>
            <p:nvSpPr>
              <p:cNvPr id="14" name="文本框 13"/>
              <p:cNvSpPr txBox="1">
                <a:spLocks noRot="1" noChangeAspect="1" noMove="1" noResize="1" noEditPoints="1" noAdjustHandles="1" noChangeArrowheads="1" noChangeShapeType="1" noTextEdit="1"/>
              </p:cNvSpPr>
              <p:nvPr/>
            </p:nvSpPr>
            <p:spPr>
              <a:xfrm>
                <a:off x="2992309" y="5517145"/>
                <a:ext cx="1579691" cy="553228"/>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p:cNvSpPr txBox="1"/>
              <p:nvPr/>
            </p:nvSpPr>
            <p:spPr>
              <a:xfrm>
                <a:off x="5728499" y="5517145"/>
                <a:ext cx="1579691" cy="55322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ea typeface="Cambria Math" panose="02040503050406030204" pitchFamily="18" charset="0"/>
                            </a:rPr>
                          </m:ctrlPr>
                        </m:sSubPr>
                        <m:e>
                          <m:r>
                            <a:rPr lang="en-US" altLang="zh-CN" b="1" i="1" smtClean="0">
                              <a:latin typeface="Cambria Math" panose="02040503050406030204" pitchFamily="18" charset="0"/>
                              <a:ea typeface="Cambria Math" panose="02040503050406030204" pitchFamily="18" charset="0"/>
                            </a:rPr>
                            <m:t>𝑸</m:t>
                          </m:r>
                        </m:e>
                        <m:sub>
                          <m:r>
                            <a:rPr lang="en-US" altLang="zh-CN" b="1" i="1" smtClean="0">
                              <a:latin typeface="Cambria Math" panose="02040503050406030204" pitchFamily="18" charset="0"/>
                              <a:ea typeface="Cambria Math" panose="02040503050406030204" pitchFamily="18" charset="0"/>
                            </a:rPr>
                            <m:t>𝟐</m:t>
                          </m:r>
                        </m:sub>
                      </m:sSub>
                      <m:r>
                        <a:rPr lang="en-US" altLang="zh-CN" i="1" smtClean="0">
                          <a:latin typeface="Cambria Math" panose="02040503050406030204" pitchFamily="18" charset="0"/>
                          <a:ea typeface="Cambria Math" panose="02040503050406030204" pitchFamily="18" charset="0"/>
                        </a:rPr>
                        <m:t>=</m:t>
                      </m:r>
                      <m:f>
                        <m:fPr>
                          <m:ctrlPr>
                            <a:rPr lang="en-US" altLang="zh-CN" i="1" smtClean="0">
                              <a:latin typeface="Cambria Math" panose="02040503050406030204" pitchFamily="18" charset="0"/>
                              <a:ea typeface="Cambria Math" panose="02040503050406030204" pitchFamily="18" charset="0"/>
                            </a:rPr>
                          </m:ctrlPr>
                        </m:fPr>
                        <m:num>
                          <m:r>
                            <a:rPr lang="en-US" altLang="zh-CN" b="1" i="1" smtClean="0">
                              <a:latin typeface="Cambria Math" panose="02040503050406030204" pitchFamily="18" charset="0"/>
                              <a:ea typeface="Cambria Math" panose="02040503050406030204" pitchFamily="18" charset="0"/>
                            </a:rPr>
                            <m:t>𝟏</m:t>
                          </m:r>
                        </m:num>
                        <m:den>
                          <m:r>
                            <a:rPr lang="en-US" altLang="zh-CN" b="1" i="1" smtClean="0">
                              <a:latin typeface="Cambria Math" panose="02040503050406030204" pitchFamily="18" charset="0"/>
                              <a:ea typeface="Cambria Math" panose="02040503050406030204" pitchFamily="18" charset="0"/>
                            </a:rPr>
                            <m:t>𝟐</m:t>
                          </m:r>
                        </m:den>
                      </m:f>
                      <m:d>
                        <m:dPr>
                          <m:ctrlPr>
                            <a:rPr lang="en-US" altLang="zh-CN" i="1" smtClean="0">
                              <a:latin typeface="Cambria Math" panose="02040503050406030204" pitchFamily="18" charset="0"/>
                              <a:ea typeface="Cambria Math" panose="02040503050406030204" pitchFamily="18" charset="0"/>
                            </a:rPr>
                          </m:ctrlPr>
                        </m:dPr>
                        <m:e>
                          <m:f>
                            <m:fPr>
                              <m:ctrlPr>
                                <a:rPr lang="en-US" altLang="zh-CN" i="1" smtClean="0">
                                  <a:latin typeface="Cambria Math" panose="02040503050406030204" pitchFamily="18" charset="0"/>
                                  <a:ea typeface="Cambria Math" panose="02040503050406030204" pitchFamily="18" charset="0"/>
                                </a:rPr>
                              </m:ctrlPr>
                            </m:fPr>
                            <m:num>
                              <m:r>
                                <a:rPr lang="zh-CN" altLang="en-US" i="1" smtClean="0">
                                  <a:latin typeface="Cambria Math" panose="02040503050406030204" pitchFamily="18" charset="0"/>
                                  <a:ea typeface="Cambria Math" panose="02040503050406030204" pitchFamily="18" charset="0"/>
                                </a:rPr>
                                <m:t>𝜶</m:t>
                              </m:r>
                            </m:num>
                            <m:den>
                              <m:r>
                                <a:rPr lang="zh-CN" altLang="en-US" i="1" smtClean="0">
                                  <a:latin typeface="Cambria Math" panose="02040503050406030204" pitchFamily="18" charset="0"/>
                                  <a:ea typeface="Cambria Math" panose="02040503050406030204" pitchFamily="18" charset="0"/>
                                </a:rPr>
                                <m:t>𝜷</m:t>
                              </m:r>
                            </m:den>
                          </m:f>
                          <m:r>
                            <a:rPr lang="en-US" altLang="zh-CN" i="1" smtClean="0">
                              <a:latin typeface="Cambria Math" panose="02040503050406030204" pitchFamily="18" charset="0"/>
                              <a:ea typeface="Cambria Math" panose="02040503050406030204" pitchFamily="18" charset="0"/>
                            </a:rPr>
                            <m:t>−</m:t>
                          </m:r>
                          <m:sSub>
                            <m:sSubPr>
                              <m:ctrlPr>
                                <a:rPr lang="en-US" altLang="zh-CN" i="1" smtClean="0">
                                  <a:latin typeface="Cambria Math" panose="02040503050406030204" pitchFamily="18" charset="0"/>
                                  <a:ea typeface="Cambria Math" panose="02040503050406030204" pitchFamily="18" charset="0"/>
                                </a:rPr>
                              </m:ctrlPr>
                            </m:sSubPr>
                            <m:e>
                              <m:r>
                                <a:rPr lang="en-US" altLang="zh-CN" b="1" i="1" smtClean="0">
                                  <a:latin typeface="Cambria Math" panose="02040503050406030204" pitchFamily="18" charset="0"/>
                                  <a:ea typeface="Cambria Math" panose="02040503050406030204" pitchFamily="18" charset="0"/>
                                </a:rPr>
                                <m:t>𝑸</m:t>
                              </m:r>
                            </m:e>
                            <m:sub>
                              <m:r>
                                <a:rPr lang="en-US" altLang="zh-CN" b="1" i="1" smtClean="0">
                                  <a:latin typeface="Cambria Math" panose="02040503050406030204" pitchFamily="18" charset="0"/>
                                  <a:ea typeface="Cambria Math" panose="02040503050406030204" pitchFamily="18" charset="0"/>
                                </a:rPr>
                                <m:t>𝟏</m:t>
                              </m:r>
                            </m:sub>
                          </m:sSub>
                        </m:e>
                      </m:d>
                    </m:oMath>
                  </m:oMathPara>
                </a14:m>
                <a:endParaRPr lang="zh-CN" altLang="en-US" dirty="0"/>
              </a:p>
            </p:txBody>
          </p:sp>
        </mc:Choice>
        <mc:Fallback xmlns="">
          <p:sp>
            <p:nvSpPr>
              <p:cNvPr id="17" name="文本框 16"/>
              <p:cNvSpPr txBox="1">
                <a:spLocks noRot="1" noChangeAspect="1" noMove="1" noResize="1" noEditPoints="1" noAdjustHandles="1" noChangeArrowheads="1" noChangeShapeType="1" noTextEdit="1"/>
              </p:cNvSpPr>
              <p:nvPr/>
            </p:nvSpPr>
            <p:spPr>
              <a:xfrm>
                <a:off x="5728499" y="5517145"/>
                <a:ext cx="1579691" cy="553228"/>
              </a:xfrm>
              <a:prstGeom prst="rect">
                <a:avLst/>
              </a:prstGeom>
              <a:blipFill>
                <a:blip r:embed="rId5"/>
                <a:stretch>
                  <a:fillRect/>
                </a:stretch>
              </a:blipFill>
            </p:spPr>
            <p:txBody>
              <a:bodyPr/>
              <a:lstStyle/>
              <a:p>
                <a:r>
                  <a:rPr lang="zh-CN" altLang="en-US">
                    <a:noFill/>
                  </a:rPr>
                  <a:t> </a:t>
                </a:r>
              </a:p>
            </p:txBody>
          </p:sp>
        </mc:Fallback>
      </mc:AlternateContent>
      <p:sp>
        <p:nvSpPr>
          <p:cNvPr id="15" name="下箭头 14"/>
          <p:cNvSpPr/>
          <p:nvPr/>
        </p:nvSpPr>
        <p:spPr bwMode="auto">
          <a:xfrm>
            <a:off x="5013222" y="5043460"/>
            <a:ext cx="288020" cy="372046"/>
          </a:xfrm>
          <a:prstGeom prst="downArrow">
            <a:avLst/>
          </a:prstGeom>
          <a:solidFill>
            <a:srgbClr val="F3C97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Tree>
    <p:extLst>
      <p:ext uri="{BB962C8B-B14F-4D97-AF65-F5344CB8AC3E}">
        <p14:creationId xmlns:p14="http://schemas.microsoft.com/office/powerpoint/2010/main" val="1921027997"/>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9938">
                                            <p:txEl>
                                              <p:pRg st="1" end="1"/>
                                            </p:txEl>
                                          </p:spTgt>
                                        </p:tgtEl>
                                        <p:attrNameLst>
                                          <p:attrName>style.visibility</p:attrName>
                                        </p:attrNameLst>
                                      </p:cBhvr>
                                      <p:to>
                                        <p:strVal val="visible"/>
                                      </p:to>
                                    </p:set>
                                    <p:animEffect>
                                      <p:cBhvr>
                                        <p:cTn id="7" dur="500"/>
                                        <p:tgtEl>
                                          <p:spTgt spid="39938">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9938">
                                            <p:txEl>
                                              <p:pRg st="2" end="2"/>
                                            </p:txEl>
                                          </p:spTgt>
                                        </p:tgtEl>
                                        <p:attrNameLst>
                                          <p:attrName>style.visibility</p:attrName>
                                        </p:attrNameLst>
                                      </p:cBhvr>
                                      <p:to>
                                        <p:strVal val="visible"/>
                                      </p:to>
                                    </p:set>
                                    <p:animEffect>
                                      <p:cBhvr>
                                        <p:cTn id="12" dur="500"/>
                                        <p:tgtEl>
                                          <p:spTgt spid="3993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down)">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additive="base">
                                        <p:cTn id="22" dur="500" fill="hold"/>
                                        <p:tgtEl>
                                          <p:spTgt spid="6"/>
                                        </p:tgtEl>
                                        <p:attrNameLst>
                                          <p:attrName>ppt_x</p:attrName>
                                        </p:attrNameLst>
                                      </p:cBhvr>
                                      <p:tavLst>
                                        <p:tav tm="0">
                                          <p:val>
                                            <p:strVal val="#ppt_x"/>
                                          </p:val>
                                        </p:tav>
                                        <p:tav tm="100000">
                                          <p:val>
                                            <p:strVal val="#ppt_x"/>
                                          </p:val>
                                        </p:tav>
                                      </p:tavLst>
                                    </p:anim>
                                    <p:anim calcmode="lin" valueType="num">
                                      <p:cBhvr additive="base">
                                        <p:cTn id="2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wipe(down)">
                                      <p:cBhvr>
                                        <p:cTn id="28" dur="500"/>
                                        <p:tgtEl>
                                          <p:spTgt spid="8"/>
                                        </p:tgtEl>
                                      </p:cBhvr>
                                    </p:animEffect>
                                  </p:childTnLst>
                                </p:cTn>
                              </p:par>
                            </p:childTnLst>
                          </p:cTn>
                        </p:par>
                      </p:childTnLst>
                    </p:cTn>
                  </p:par>
                  <p:par>
                    <p:cTn id="29" fill="hold">
                      <p:stCondLst>
                        <p:cond delay="indefinite"/>
                      </p:stCondLst>
                      <p:childTnLst>
                        <p:par>
                          <p:cTn id="30" fill="hold">
                            <p:stCondLst>
                              <p:cond delay="0"/>
                            </p:stCondLst>
                            <p:childTnLst>
                              <p:par>
                                <p:cTn id="31" presetID="14" presetClass="entr" presetSubtype="10"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randombar(horizontal)">
                                      <p:cBhvr>
                                        <p:cTn id="33" dur="500"/>
                                        <p:tgtEl>
                                          <p:spTgt spid="9"/>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15"/>
                                        </p:tgtEl>
                                        <p:attrNameLst>
                                          <p:attrName>style.visibility</p:attrName>
                                        </p:attrNameLst>
                                      </p:cBhvr>
                                      <p:to>
                                        <p:strVal val="visible"/>
                                      </p:to>
                                    </p:set>
                                    <p:anim calcmode="lin" valueType="num">
                                      <p:cBhvr additive="base">
                                        <p:cTn id="38" dur="500" fill="hold"/>
                                        <p:tgtEl>
                                          <p:spTgt spid="15"/>
                                        </p:tgtEl>
                                        <p:attrNameLst>
                                          <p:attrName>ppt_x</p:attrName>
                                        </p:attrNameLst>
                                      </p:cBhvr>
                                      <p:tavLst>
                                        <p:tav tm="0">
                                          <p:val>
                                            <p:strVal val="#ppt_x"/>
                                          </p:val>
                                        </p:tav>
                                        <p:tav tm="100000">
                                          <p:val>
                                            <p:strVal val="#ppt_x"/>
                                          </p:val>
                                        </p:tav>
                                      </p:tavLst>
                                    </p:anim>
                                    <p:anim calcmode="lin" valueType="num">
                                      <p:cBhvr additive="base">
                                        <p:cTn id="39"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grpId="0" nodeType="clickEffect">
                                  <p:stCondLst>
                                    <p:cond delay="0"/>
                                  </p:stCondLst>
                                  <p:childTnLst>
                                    <p:set>
                                      <p:cBhvr>
                                        <p:cTn id="43" dur="1" fill="hold">
                                          <p:stCondLst>
                                            <p:cond delay="0"/>
                                          </p:stCondLst>
                                        </p:cTn>
                                        <p:tgtEl>
                                          <p:spTgt spid="14"/>
                                        </p:tgtEl>
                                        <p:attrNameLst>
                                          <p:attrName>style.visibility</p:attrName>
                                        </p:attrNameLst>
                                      </p:cBhvr>
                                      <p:to>
                                        <p:strVal val="visible"/>
                                      </p:to>
                                    </p:set>
                                    <p:anim calcmode="lin" valueType="num">
                                      <p:cBhvr additive="base">
                                        <p:cTn id="44" dur="500" fill="hold"/>
                                        <p:tgtEl>
                                          <p:spTgt spid="14"/>
                                        </p:tgtEl>
                                        <p:attrNameLst>
                                          <p:attrName>ppt_x</p:attrName>
                                        </p:attrNameLst>
                                      </p:cBhvr>
                                      <p:tavLst>
                                        <p:tav tm="0">
                                          <p:val>
                                            <p:strVal val="#ppt_x"/>
                                          </p:val>
                                        </p:tav>
                                        <p:tav tm="100000">
                                          <p:val>
                                            <p:strVal val="#ppt_x"/>
                                          </p:val>
                                        </p:tav>
                                      </p:tavLst>
                                    </p:anim>
                                    <p:anim calcmode="lin" valueType="num">
                                      <p:cBhvr additive="base">
                                        <p:cTn id="45"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grpId="0" nodeType="clickEffect">
                                  <p:stCondLst>
                                    <p:cond delay="0"/>
                                  </p:stCondLst>
                                  <p:childTnLst>
                                    <p:set>
                                      <p:cBhvr>
                                        <p:cTn id="49" dur="1" fill="hold">
                                          <p:stCondLst>
                                            <p:cond delay="0"/>
                                          </p:stCondLst>
                                        </p:cTn>
                                        <p:tgtEl>
                                          <p:spTgt spid="17"/>
                                        </p:tgtEl>
                                        <p:attrNameLst>
                                          <p:attrName>style.visibility</p:attrName>
                                        </p:attrNameLst>
                                      </p:cBhvr>
                                      <p:to>
                                        <p:strVal val="visible"/>
                                      </p:to>
                                    </p:set>
                                    <p:anim calcmode="lin" valueType="num">
                                      <p:cBhvr additive="base">
                                        <p:cTn id="50" dur="500" fill="hold"/>
                                        <p:tgtEl>
                                          <p:spTgt spid="17"/>
                                        </p:tgtEl>
                                        <p:attrNameLst>
                                          <p:attrName>ppt_x</p:attrName>
                                        </p:attrNameLst>
                                      </p:cBhvr>
                                      <p:tavLst>
                                        <p:tav tm="0">
                                          <p:val>
                                            <p:strVal val="#ppt_x"/>
                                          </p:val>
                                        </p:tav>
                                        <p:tav tm="100000">
                                          <p:val>
                                            <p:strVal val="#ppt_x"/>
                                          </p:val>
                                        </p:tav>
                                      </p:tavLst>
                                    </p:anim>
                                    <p:anim calcmode="lin" valueType="num">
                                      <p:cBhvr additive="base">
                                        <p:cTn id="51"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p:bldP spid="7" grpId="0"/>
      <p:bldP spid="8" grpId="0"/>
      <p:bldP spid="14" grpId="0"/>
      <p:bldP spid="17" grpId="0"/>
      <p:bldP spid="15"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3"/>
          <p:cNvSpPr>
            <a:spLocks noGrp="1" noChangeArrowheads="1"/>
          </p:cNvSpPr>
          <p:nvPr>
            <p:ph type="body" idx="4294967295"/>
          </p:nvPr>
        </p:nvSpPr>
        <p:spPr>
          <a:xfrm>
            <a:off x="457200" y="773112"/>
            <a:ext cx="8229600" cy="2639486"/>
          </a:xfrm>
          <a:ln/>
        </p:spPr>
        <p:txBody>
          <a:bodyPr/>
          <a:lstStyle/>
          <a:p>
            <a:pPr marL="342900" lvl="1" indent="-342900" eaLnBrk="1" hangingPunct="1"/>
            <a:endParaRPr lang="en-US" altLang="zh-CN" sz="2400" b="0" dirty="0"/>
          </a:p>
          <a:p>
            <a:pPr marL="457200" lvl="2" indent="-457200" eaLnBrk="1" hangingPunct="1">
              <a:lnSpc>
                <a:spcPct val="200000"/>
              </a:lnSpc>
              <a:buSzPct val="100000"/>
              <a:buFont typeface="Wingdings" panose="05000000000000000000" pitchFamily="2" charset="2"/>
              <a:buChar char="u"/>
            </a:pPr>
            <a:r>
              <a:rPr lang="zh-CN" altLang="en-US" sz="2200" b="0" dirty="0">
                <a:latin typeface="微软雅黑" panose="020B0503020204020204" pitchFamily="34" charset="-122"/>
                <a:ea typeface="微软雅黑" panose="020B0503020204020204" pitchFamily="34" charset="-122"/>
              </a:rPr>
              <a:t>（双寡头下）厂商产量决策</a:t>
            </a:r>
            <a:endParaRPr lang="en-US" altLang="zh-CN" sz="2200" b="0" dirty="0">
              <a:latin typeface="微软雅黑" panose="020B0503020204020204" pitchFamily="34" charset="-122"/>
              <a:ea typeface="微软雅黑" panose="020B0503020204020204" pitchFamily="34" charset="-122"/>
            </a:endParaRPr>
          </a:p>
          <a:p>
            <a:pPr marL="742950" lvl="2" indent="-342900" eaLnBrk="1" hangingPunct="1">
              <a:lnSpc>
                <a:spcPct val="150000"/>
              </a:lnSpc>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rPr>
              <a:t>厂商</a:t>
            </a:r>
            <a:r>
              <a:rPr lang="en-US" altLang="zh-CN" sz="2000" b="0" dirty="0">
                <a:latin typeface="微软雅黑" panose="020B0503020204020204" pitchFamily="34" charset="-122"/>
                <a:ea typeface="微软雅黑" panose="020B0503020204020204" pitchFamily="34" charset="-122"/>
              </a:rPr>
              <a:t>2</a:t>
            </a:r>
            <a:r>
              <a:rPr lang="zh-CN" altLang="en-US" sz="2000" b="0" dirty="0">
                <a:latin typeface="微软雅黑" panose="020B0503020204020204" pitchFamily="34" charset="-122"/>
                <a:ea typeface="微软雅黑" panose="020B0503020204020204" pitchFamily="34" charset="-122"/>
              </a:rPr>
              <a:t>的决策</a:t>
            </a:r>
            <a:endParaRPr lang="en-US" altLang="zh-CN" sz="2000" b="0" dirty="0">
              <a:latin typeface="微软雅黑" panose="020B0503020204020204" pitchFamily="34" charset="-122"/>
              <a:ea typeface="微软雅黑" panose="020B0503020204020204" pitchFamily="34" charset="-122"/>
            </a:endParaRPr>
          </a:p>
          <a:p>
            <a:pPr marL="914400" lvl="4" indent="0" eaLnBrk="1" hangingPunct="1">
              <a:buNone/>
            </a:pPr>
            <a:r>
              <a:rPr lang="zh-CN" altLang="en-US" b="0" dirty="0">
                <a:latin typeface="微软雅黑" panose="020B0503020204020204" pitchFamily="34" charset="-122"/>
                <a:ea typeface="微软雅黑" panose="020B0503020204020204" pitchFamily="34" charset="-122"/>
              </a:rPr>
              <a:t>类似地，厂商</a:t>
            </a:r>
            <a:r>
              <a:rPr lang="en-US" altLang="zh-CN" b="0" dirty="0">
                <a:latin typeface="微软雅黑" panose="020B0503020204020204" pitchFamily="34" charset="-122"/>
                <a:ea typeface="微软雅黑" panose="020B0503020204020204" pitchFamily="34" charset="-122"/>
              </a:rPr>
              <a:t>2</a:t>
            </a:r>
            <a:r>
              <a:rPr lang="zh-CN" altLang="en-US" b="0" dirty="0">
                <a:latin typeface="微软雅黑" panose="020B0503020204020204" pitchFamily="34" charset="-122"/>
                <a:ea typeface="微软雅黑" panose="020B0503020204020204" pitchFamily="34" charset="-122"/>
              </a:rPr>
              <a:t>确定产量为</a:t>
            </a:r>
            <a:endParaRPr lang="en-US" altLang="zh-CN" b="0" dirty="0">
              <a:latin typeface="微软雅黑" panose="020B0503020204020204" pitchFamily="34" charset="-122"/>
              <a:ea typeface="微软雅黑" panose="020B0503020204020204" pitchFamily="34" charset="-122"/>
            </a:endParaRPr>
          </a:p>
        </p:txBody>
      </p:sp>
      <p:sp>
        <p:nvSpPr>
          <p:cNvPr id="10" name="下箭头 9"/>
          <p:cNvSpPr/>
          <p:nvPr/>
        </p:nvSpPr>
        <p:spPr bwMode="auto">
          <a:xfrm rot="16200000">
            <a:off x="3599787" y="4625014"/>
            <a:ext cx="368357" cy="1051589"/>
          </a:xfrm>
          <a:prstGeom prst="downArrow">
            <a:avLst/>
          </a:prstGeom>
          <a:solidFill>
            <a:srgbClr val="F3C97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11" name="Rectangle 3"/>
          <p:cNvSpPr txBox="1">
            <a:spLocks noChangeArrowheads="1"/>
          </p:cNvSpPr>
          <p:nvPr/>
        </p:nvSpPr>
        <p:spPr bwMode="auto">
          <a:xfrm>
            <a:off x="467715" y="3744249"/>
            <a:ext cx="8229600" cy="5938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0" rtl="0" eaLnBrk="0" fontAlgn="base" hangingPunct="0">
              <a:spcBef>
                <a:spcPct val="20000"/>
              </a:spcBef>
              <a:spcAft>
                <a:spcPct val="0"/>
              </a:spcAft>
              <a:buChar char="•"/>
              <a:defRPr sz="3200" b="1" kern="1200">
                <a:solidFill>
                  <a:srgbClr val="CC0000"/>
                </a:solidFill>
                <a:latin typeface="+mn-lt"/>
                <a:ea typeface="+mn-ea"/>
                <a:cs typeface="+mn-cs"/>
                <a:sym typeface="Arial" panose="020B0604020202020204" pitchFamily="34" charset="0"/>
              </a:defRPr>
            </a:lvl1pPr>
            <a:lvl2pPr marL="742950" indent="-285750" algn="l" defTabSz="0" rtl="0" eaLnBrk="0" fontAlgn="base" hangingPunct="0">
              <a:spcBef>
                <a:spcPct val="20000"/>
              </a:spcBef>
              <a:spcAft>
                <a:spcPct val="0"/>
              </a:spcAft>
              <a:buChar char="–"/>
              <a:defRPr sz="2800" b="1" kern="1200">
                <a:solidFill>
                  <a:schemeClr val="tx1"/>
                </a:solidFill>
                <a:latin typeface="+mn-lt"/>
                <a:ea typeface="+mn-ea"/>
                <a:cs typeface="+mn-cs"/>
                <a:sym typeface="Arial" panose="020B0604020202020204" pitchFamily="34" charset="0"/>
              </a:defRPr>
            </a:lvl2pPr>
            <a:lvl3pPr marL="1143000" indent="-228600" algn="l" defTabSz="0" rtl="0" eaLnBrk="0" fontAlgn="base" hangingPunct="0">
              <a:spcBef>
                <a:spcPct val="20000"/>
              </a:spcBef>
              <a:spcAft>
                <a:spcPct val="0"/>
              </a:spcAft>
              <a:buChar char="•"/>
              <a:defRPr sz="2400" b="1" kern="1200">
                <a:solidFill>
                  <a:schemeClr val="tx1"/>
                </a:solidFill>
                <a:latin typeface="+mn-lt"/>
                <a:ea typeface="+mn-ea"/>
                <a:cs typeface="+mn-cs"/>
                <a:sym typeface="Arial" panose="020B0604020202020204" pitchFamily="34" charset="0"/>
              </a:defRPr>
            </a:lvl3pPr>
            <a:lvl4pPr marL="1600200" indent="-228600" algn="l" defTabSz="0" rtl="0" eaLnBrk="0" fontAlgn="base" hangingPunct="0">
              <a:spcBef>
                <a:spcPct val="20000"/>
              </a:spcBef>
              <a:spcAft>
                <a:spcPct val="0"/>
              </a:spcAft>
              <a:buChar char="–"/>
              <a:defRPr sz="2000" b="1" kern="1200">
                <a:solidFill>
                  <a:schemeClr val="tx1"/>
                </a:solidFill>
                <a:latin typeface="+mn-lt"/>
                <a:ea typeface="+mn-ea"/>
                <a:cs typeface="+mn-cs"/>
                <a:sym typeface="Arial" panose="020B0604020202020204" pitchFamily="34" charset="0"/>
              </a:defRPr>
            </a:lvl4pPr>
            <a:lvl5pPr marL="2057400" indent="-228600" algn="l" defTabSz="0" rtl="0" eaLnBrk="0" fontAlgn="base" hangingPunct="0">
              <a:spcBef>
                <a:spcPct val="20000"/>
              </a:spcBef>
              <a:spcAft>
                <a:spcPct val="0"/>
              </a:spcAft>
              <a:buChar char="»"/>
              <a:defRPr sz="2000" b="1" kern="1200">
                <a:solidFill>
                  <a:schemeClr val="tx1"/>
                </a:solidFill>
                <a:latin typeface="+mn-lt"/>
                <a:ea typeface="+mn-ea"/>
                <a:cs typeface="+mn-cs"/>
                <a:sym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42950" lvl="2" indent="-342900" eaLnBrk="1" hangingPunct="1">
              <a:lnSpc>
                <a:spcPct val="150000"/>
              </a:lnSpc>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rPr>
              <a:t>厂商</a:t>
            </a:r>
            <a:r>
              <a:rPr lang="en-US" altLang="zh-CN" sz="2000" b="0" dirty="0">
                <a:latin typeface="微软雅黑" panose="020B0503020204020204" pitchFamily="34" charset="-122"/>
                <a:ea typeface="微软雅黑" panose="020B0503020204020204" pitchFamily="34" charset="-122"/>
              </a:rPr>
              <a:t>1</a:t>
            </a:r>
            <a:r>
              <a:rPr lang="zh-CN" altLang="en-US" sz="2000" b="0" dirty="0">
                <a:latin typeface="微软雅黑" panose="020B0503020204020204" pitchFamily="34" charset="-122"/>
                <a:ea typeface="微软雅黑" panose="020B0503020204020204" pitchFamily="34" charset="-122"/>
              </a:rPr>
              <a:t>和</a:t>
            </a:r>
            <a:r>
              <a:rPr lang="en-US" altLang="zh-CN" sz="2000" b="0" dirty="0">
                <a:latin typeface="微软雅黑" panose="020B0503020204020204" pitchFamily="34" charset="-122"/>
                <a:ea typeface="微软雅黑" panose="020B0503020204020204" pitchFamily="34" charset="-122"/>
              </a:rPr>
              <a:t>2</a:t>
            </a:r>
            <a:r>
              <a:rPr lang="zh-CN" altLang="en-US" sz="2000" b="0" dirty="0">
                <a:latin typeface="微软雅黑" panose="020B0503020204020204" pitchFamily="34" charset="-122"/>
                <a:ea typeface="微软雅黑" panose="020B0503020204020204" pitchFamily="34" charset="-122"/>
              </a:rPr>
              <a:t>的决策结合起来</a:t>
            </a:r>
            <a:endParaRPr lang="en-US" altLang="zh-CN" sz="2000" b="0" dirty="0">
              <a:latin typeface="微软雅黑" panose="020B0503020204020204" pitchFamily="34" charset="-122"/>
              <a:ea typeface="微软雅黑" panose="020B0503020204020204" pitchFamily="34" charset="-122"/>
            </a:endParaRPr>
          </a:p>
        </p:txBody>
      </p:sp>
      <p:sp>
        <p:nvSpPr>
          <p:cNvPr id="16" name="下箭头 15"/>
          <p:cNvSpPr/>
          <p:nvPr/>
        </p:nvSpPr>
        <p:spPr bwMode="auto">
          <a:xfrm rot="16200000">
            <a:off x="6281837" y="4721816"/>
            <a:ext cx="400068" cy="826274"/>
          </a:xfrm>
          <a:prstGeom prst="downArrow">
            <a:avLst/>
          </a:prstGeom>
          <a:solidFill>
            <a:srgbClr val="F3C97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14" name="矩形 13"/>
          <p:cNvSpPr/>
          <p:nvPr/>
        </p:nvSpPr>
        <p:spPr>
          <a:xfrm>
            <a:off x="7543092" y="44765"/>
            <a:ext cx="1600908" cy="369332"/>
          </a:xfrm>
          <a:prstGeom prst="rect">
            <a:avLst/>
          </a:prstGeom>
        </p:spPr>
        <p:txBody>
          <a:bodyPr wrap="square">
            <a:spAutoFit/>
          </a:bodyPr>
          <a:lstStyle/>
          <a:p>
            <a:r>
              <a:rPr lang="zh-CN" altLang="en-US" sz="1800" b="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第三节  寡头</a:t>
            </a:r>
            <a:endParaRPr lang="zh-CN" altLang="en-US" sz="18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5" name="矩形 14">
            <a:extLst>
              <a:ext uri="{FF2B5EF4-FFF2-40B4-BE49-F238E27FC236}">
                <a16:creationId xmlns:a16="http://schemas.microsoft.com/office/drawing/2014/main" id="{F68E5273-CD77-47B9-B841-9D29349C133D}"/>
              </a:ext>
            </a:extLst>
          </p:cNvPr>
          <p:cNvSpPr/>
          <p:nvPr/>
        </p:nvSpPr>
        <p:spPr>
          <a:xfrm>
            <a:off x="457201" y="548681"/>
            <a:ext cx="2386680"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marL="0" lvl="1">
              <a:defRPr/>
            </a:pPr>
            <a:r>
              <a:rPr lang="zh-CN" altLang="en-US" sz="2400" spc="150" dirty="0">
                <a:solidFill>
                  <a:srgbClr val="FFFFFF"/>
                </a:solidFill>
                <a:latin typeface="微软雅黑" panose="020B0503020204020204" pitchFamily="34" charset="-122"/>
                <a:ea typeface="微软雅黑" panose="020B0503020204020204" pitchFamily="34" charset="-122"/>
              </a:rPr>
              <a:t>二</a:t>
            </a:r>
            <a:r>
              <a:rPr lang="zh-CN" altLang="en-US" sz="2400" b="1" spc="150" dirty="0">
                <a:solidFill>
                  <a:srgbClr val="FFFFFF"/>
                </a:solidFill>
                <a:latin typeface="微软雅黑" panose="020B0503020204020204" pitchFamily="34" charset="-122"/>
                <a:ea typeface="微软雅黑" panose="020B0503020204020204" pitchFamily="34" charset="-122"/>
              </a:rPr>
              <a:t>、</a:t>
            </a:r>
            <a:r>
              <a:rPr lang="zh-CN" altLang="en-US" sz="2400" spc="15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古诺模型</a:t>
            </a:r>
            <a:endParaRPr lang="zh-CN" altLang="en-US" sz="2400" spc="150" dirty="0">
              <a:solidFill>
                <a:srgbClr val="FFFFFF"/>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8" name="文本框 17"/>
              <p:cNvSpPr txBox="1"/>
              <p:nvPr/>
            </p:nvSpPr>
            <p:spPr>
              <a:xfrm>
                <a:off x="4139970" y="3113751"/>
                <a:ext cx="1579691" cy="55322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ea typeface="Cambria Math" panose="02040503050406030204" pitchFamily="18" charset="0"/>
                            </a:rPr>
                          </m:ctrlPr>
                        </m:sSubPr>
                        <m:e>
                          <m:r>
                            <a:rPr lang="en-US" altLang="zh-CN" b="1" i="1" smtClean="0">
                              <a:latin typeface="Cambria Math" panose="02040503050406030204" pitchFamily="18" charset="0"/>
                              <a:ea typeface="Cambria Math" panose="02040503050406030204" pitchFamily="18" charset="0"/>
                            </a:rPr>
                            <m:t>𝑸</m:t>
                          </m:r>
                        </m:e>
                        <m:sub>
                          <m:r>
                            <a:rPr lang="en-US" altLang="zh-CN" b="1" i="1" smtClean="0">
                              <a:latin typeface="Cambria Math" panose="02040503050406030204" pitchFamily="18" charset="0"/>
                              <a:ea typeface="Cambria Math" panose="02040503050406030204" pitchFamily="18" charset="0"/>
                            </a:rPr>
                            <m:t>𝟐</m:t>
                          </m:r>
                        </m:sub>
                      </m:sSub>
                      <m:r>
                        <a:rPr lang="en-US" altLang="zh-CN" i="1" smtClean="0">
                          <a:latin typeface="Cambria Math" panose="02040503050406030204" pitchFamily="18" charset="0"/>
                          <a:ea typeface="Cambria Math" panose="02040503050406030204" pitchFamily="18" charset="0"/>
                        </a:rPr>
                        <m:t>=</m:t>
                      </m:r>
                      <m:f>
                        <m:fPr>
                          <m:ctrlPr>
                            <a:rPr lang="en-US" altLang="zh-CN" i="1" smtClean="0">
                              <a:latin typeface="Cambria Math" panose="02040503050406030204" pitchFamily="18" charset="0"/>
                              <a:ea typeface="Cambria Math" panose="02040503050406030204" pitchFamily="18" charset="0"/>
                            </a:rPr>
                          </m:ctrlPr>
                        </m:fPr>
                        <m:num>
                          <m:r>
                            <a:rPr lang="en-US" altLang="zh-CN" b="1" i="1" smtClean="0">
                              <a:latin typeface="Cambria Math" panose="02040503050406030204" pitchFamily="18" charset="0"/>
                              <a:ea typeface="Cambria Math" panose="02040503050406030204" pitchFamily="18" charset="0"/>
                            </a:rPr>
                            <m:t>𝟏</m:t>
                          </m:r>
                        </m:num>
                        <m:den>
                          <m:r>
                            <a:rPr lang="en-US" altLang="zh-CN" b="1" i="1" smtClean="0">
                              <a:latin typeface="Cambria Math" panose="02040503050406030204" pitchFamily="18" charset="0"/>
                              <a:ea typeface="Cambria Math" panose="02040503050406030204" pitchFamily="18" charset="0"/>
                            </a:rPr>
                            <m:t>𝟐</m:t>
                          </m:r>
                        </m:den>
                      </m:f>
                      <m:d>
                        <m:dPr>
                          <m:ctrlPr>
                            <a:rPr lang="en-US" altLang="zh-CN" i="1" smtClean="0">
                              <a:latin typeface="Cambria Math" panose="02040503050406030204" pitchFamily="18" charset="0"/>
                              <a:ea typeface="Cambria Math" panose="02040503050406030204" pitchFamily="18" charset="0"/>
                            </a:rPr>
                          </m:ctrlPr>
                        </m:dPr>
                        <m:e>
                          <m:f>
                            <m:fPr>
                              <m:ctrlPr>
                                <a:rPr lang="en-US" altLang="zh-CN" i="1" smtClean="0">
                                  <a:latin typeface="Cambria Math" panose="02040503050406030204" pitchFamily="18" charset="0"/>
                                  <a:ea typeface="Cambria Math" panose="02040503050406030204" pitchFamily="18" charset="0"/>
                                </a:rPr>
                              </m:ctrlPr>
                            </m:fPr>
                            <m:num>
                              <m:r>
                                <a:rPr lang="zh-CN" altLang="en-US" i="1" smtClean="0">
                                  <a:latin typeface="Cambria Math" panose="02040503050406030204" pitchFamily="18" charset="0"/>
                                  <a:ea typeface="Cambria Math" panose="02040503050406030204" pitchFamily="18" charset="0"/>
                                </a:rPr>
                                <m:t>𝜶</m:t>
                              </m:r>
                            </m:num>
                            <m:den>
                              <m:r>
                                <a:rPr lang="zh-CN" altLang="en-US" i="1" smtClean="0">
                                  <a:latin typeface="Cambria Math" panose="02040503050406030204" pitchFamily="18" charset="0"/>
                                  <a:ea typeface="Cambria Math" panose="02040503050406030204" pitchFamily="18" charset="0"/>
                                </a:rPr>
                                <m:t>𝜷</m:t>
                              </m:r>
                            </m:den>
                          </m:f>
                          <m:r>
                            <a:rPr lang="en-US" altLang="zh-CN" i="1" smtClean="0">
                              <a:latin typeface="Cambria Math" panose="02040503050406030204" pitchFamily="18" charset="0"/>
                              <a:ea typeface="Cambria Math" panose="02040503050406030204" pitchFamily="18" charset="0"/>
                            </a:rPr>
                            <m:t>−</m:t>
                          </m:r>
                          <m:sSub>
                            <m:sSubPr>
                              <m:ctrlPr>
                                <a:rPr lang="en-US" altLang="zh-CN" i="1" smtClean="0">
                                  <a:latin typeface="Cambria Math" panose="02040503050406030204" pitchFamily="18" charset="0"/>
                                  <a:ea typeface="Cambria Math" panose="02040503050406030204" pitchFamily="18" charset="0"/>
                                </a:rPr>
                              </m:ctrlPr>
                            </m:sSubPr>
                            <m:e>
                              <m:r>
                                <a:rPr lang="en-US" altLang="zh-CN" b="1" i="1" smtClean="0">
                                  <a:latin typeface="Cambria Math" panose="02040503050406030204" pitchFamily="18" charset="0"/>
                                  <a:ea typeface="Cambria Math" panose="02040503050406030204" pitchFamily="18" charset="0"/>
                                </a:rPr>
                                <m:t>𝑸</m:t>
                              </m:r>
                            </m:e>
                            <m:sub>
                              <m:r>
                                <a:rPr lang="en-US" altLang="zh-CN" b="1" i="1" smtClean="0">
                                  <a:latin typeface="Cambria Math" panose="02040503050406030204" pitchFamily="18" charset="0"/>
                                  <a:ea typeface="Cambria Math" panose="02040503050406030204" pitchFamily="18" charset="0"/>
                                </a:rPr>
                                <m:t>𝟏</m:t>
                              </m:r>
                            </m:sub>
                          </m:sSub>
                        </m:e>
                      </m:d>
                    </m:oMath>
                  </m:oMathPara>
                </a14:m>
                <a:endParaRPr lang="zh-CN" altLang="en-US" dirty="0"/>
              </a:p>
            </p:txBody>
          </p:sp>
        </mc:Choice>
        <mc:Fallback xmlns="">
          <p:sp>
            <p:nvSpPr>
              <p:cNvPr id="18" name="文本框 17"/>
              <p:cNvSpPr txBox="1">
                <a:spLocks noRot="1" noChangeAspect="1" noMove="1" noResize="1" noEditPoints="1" noAdjustHandles="1" noChangeArrowheads="1" noChangeShapeType="1" noTextEdit="1"/>
              </p:cNvSpPr>
              <p:nvPr/>
            </p:nvSpPr>
            <p:spPr>
              <a:xfrm>
                <a:off x="4139970" y="3113751"/>
                <a:ext cx="1579691" cy="553228"/>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p:cNvSpPr txBox="1"/>
              <p:nvPr/>
            </p:nvSpPr>
            <p:spPr>
              <a:xfrm>
                <a:off x="1103869" y="5467952"/>
                <a:ext cx="1579691" cy="55322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ea typeface="Cambria Math" panose="02040503050406030204" pitchFamily="18" charset="0"/>
                            </a:rPr>
                          </m:ctrlPr>
                        </m:sSubPr>
                        <m:e>
                          <m:r>
                            <a:rPr lang="en-US" altLang="zh-CN" b="1" i="1" smtClean="0">
                              <a:latin typeface="Cambria Math" panose="02040503050406030204" pitchFamily="18" charset="0"/>
                              <a:ea typeface="Cambria Math" panose="02040503050406030204" pitchFamily="18" charset="0"/>
                            </a:rPr>
                            <m:t>𝑸</m:t>
                          </m:r>
                        </m:e>
                        <m:sub>
                          <m:r>
                            <a:rPr lang="en-US" altLang="zh-CN" b="1" i="1" smtClean="0">
                              <a:latin typeface="Cambria Math" panose="02040503050406030204" pitchFamily="18" charset="0"/>
                              <a:ea typeface="Cambria Math" panose="02040503050406030204" pitchFamily="18" charset="0"/>
                            </a:rPr>
                            <m:t>𝟐</m:t>
                          </m:r>
                        </m:sub>
                      </m:sSub>
                      <m:r>
                        <a:rPr lang="en-US" altLang="zh-CN" i="1" smtClean="0">
                          <a:latin typeface="Cambria Math" panose="02040503050406030204" pitchFamily="18" charset="0"/>
                          <a:ea typeface="Cambria Math" panose="02040503050406030204" pitchFamily="18" charset="0"/>
                        </a:rPr>
                        <m:t>=</m:t>
                      </m:r>
                      <m:f>
                        <m:fPr>
                          <m:ctrlPr>
                            <a:rPr lang="en-US" altLang="zh-CN" i="1" smtClean="0">
                              <a:latin typeface="Cambria Math" panose="02040503050406030204" pitchFamily="18" charset="0"/>
                              <a:ea typeface="Cambria Math" panose="02040503050406030204" pitchFamily="18" charset="0"/>
                            </a:rPr>
                          </m:ctrlPr>
                        </m:fPr>
                        <m:num>
                          <m:r>
                            <a:rPr lang="en-US" altLang="zh-CN" b="1" i="1" smtClean="0">
                              <a:latin typeface="Cambria Math" panose="02040503050406030204" pitchFamily="18" charset="0"/>
                              <a:ea typeface="Cambria Math" panose="02040503050406030204" pitchFamily="18" charset="0"/>
                            </a:rPr>
                            <m:t>𝟏</m:t>
                          </m:r>
                        </m:num>
                        <m:den>
                          <m:r>
                            <a:rPr lang="en-US" altLang="zh-CN" b="1" i="1" smtClean="0">
                              <a:latin typeface="Cambria Math" panose="02040503050406030204" pitchFamily="18" charset="0"/>
                              <a:ea typeface="Cambria Math" panose="02040503050406030204" pitchFamily="18" charset="0"/>
                            </a:rPr>
                            <m:t>𝟐</m:t>
                          </m:r>
                        </m:den>
                      </m:f>
                      <m:d>
                        <m:dPr>
                          <m:ctrlPr>
                            <a:rPr lang="en-US" altLang="zh-CN" i="1" smtClean="0">
                              <a:latin typeface="Cambria Math" panose="02040503050406030204" pitchFamily="18" charset="0"/>
                              <a:ea typeface="Cambria Math" panose="02040503050406030204" pitchFamily="18" charset="0"/>
                            </a:rPr>
                          </m:ctrlPr>
                        </m:dPr>
                        <m:e>
                          <m:f>
                            <m:fPr>
                              <m:ctrlPr>
                                <a:rPr lang="en-US" altLang="zh-CN" i="1" smtClean="0">
                                  <a:latin typeface="Cambria Math" panose="02040503050406030204" pitchFamily="18" charset="0"/>
                                  <a:ea typeface="Cambria Math" panose="02040503050406030204" pitchFamily="18" charset="0"/>
                                </a:rPr>
                              </m:ctrlPr>
                            </m:fPr>
                            <m:num>
                              <m:r>
                                <a:rPr lang="zh-CN" altLang="en-US" i="1" smtClean="0">
                                  <a:latin typeface="Cambria Math" panose="02040503050406030204" pitchFamily="18" charset="0"/>
                                  <a:ea typeface="Cambria Math" panose="02040503050406030204" pitchFamily="18" charset="0"/>
                                </a:rPr>
                                <m:t>𝜶</m:t>
                              </m:r>
                            </m:num>
                            <m:den>
                              <m:r>
                                <a:rPr lang="zh-CN" altLang="en-US" i="1" smtClean="0">
                                  <a:latin typeface="Cambria Math" panose="02040503050406030204" pitchFamily="18" charset="0"/>
                                  <a:ea typeface="Cambria Math" panose="02040503050406030204" pitchFamily="18" charset="0"/>
                                </a:rPr>
                                <m:t>𝜷</m:t>
                              </m:r>
                            </m:den>
                          </m:f>
                          <m:r>
                            <a:rPr lang="en-US" altLang="zh-CN" i="1" smtClean="0">
                              <a:latin typeface="Cambria Math" panose="02040503050406030204" pitchFamily="18" charset="0"/>
                              <a:ea typeface="Cambria Math" panose="02040503050406030204" pitchFamily="18" charset="0"/>
                            </a:rPr>
                            <m:t>−</m:t>
                          </m:r>
                          <m:sSub>
                            <m:sSubPr>
                              <m:ctrlPr>
                                <a:rPr lang="en-US" altLang="zh-CN" i="1" smtClean="0">
                                  <a:latin typeface="Cambria Math" panose="02040503050406030204" pitchFamily="18" charset="0"/>
                                  <a:ea typeface="Cambria Math" panose="02040503050406030204" pitchFamily="18" charset="0"/>
                                </a:rPr>
                              </m:ctrlPr>
                            </m:sSubPr>
                            <m:e>
                              <m:r>
                                <a:rPr lang="en-US" altLang="zh-CN" b="1" i="1" smtClean="0">
                                  <a:latin typeface="Cambria Math" panose="02040503050406030204" pitchFamily="18" charset="0"/>
                                  <a:ea typeface="Cambria Math" panose="02040503050406030204" pitchFamily="18" charset="0"/>
                                </a:rPr>
                                <m:t>𝑸</m:t>
                              </m:r>
                            </m:e>
                            <m:sub>
                              <m:r>
                                <a:rPr lang="en-US" altLang="zh-CN" b="1" i="1" smtClean="0">
                                  <a:latin typeface="Cambria Math" panose="02040503050406030204" pitchFamily="18" charset="0"/>
                                  <a:ea typeface="Cambria Math" panose="02040503050406030204" pitchFamily="18" charset="0"/>
                                </a:rPr>
                                <m:t>𝟏</m:t>
                              </m:r>
                            </m:sub>
                          </m:sSub>
                        </m:e>
                      </m:d>
                    </m:oMath>
                  </m:oMathPara>
                </a14:m>
                <a:endParaRPr lang="zh-CN" altLang="en-US" dirty="0"/>
              </a:p>
            </p:txBody>
          </p:sp>
        </mc:Choice>
        <mc:Fallback xmlns="">
          <p:sp>
            <p:nvSpPr>
              <p:cNvPr id="19" name="文本框 18"/>
              <p:cNvSpPr txBox="1">
                <a:spLocks noRot="1" noChangeAspect="1" noMove="1" noResize="1" noEditPoints="1" noAdjustHandles="1" noChangeArrowheads="1" noChangeShapeType="1" noTextEdit="1"/>
              </p:cNvSpPr>
              <p:nvPr/>
            </p:nvSpPr>
            <p:spPr>
              <a:xfrm>
                <a:off x="1103869" y="5467952"/>
                <a:ext cx="1579691" cy="553228"/>
              </a:xfrm>
              <a:prstGeom prst="rect">
                <a:avLst/>
              </a:prstGeom>
              <a:blipFill rotWithShape="0">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p:cNvSpPr txBox="1"/>
              <p:nvPr/>
            </p:nvSpPr>
            <p:spPr>
              <a:xfrm>
                <a:off x="1093907" y="4631847"/>
                <a:ext cx="1579691" cy="55322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ea typeface="Cambria Math" panose="02040503050406030204" pitchFamily="18" charset="0"/>
                            </a:rPr>
                          </m:ctrlPr>
                        </m:sSubPr>
                        <m:e>
                          <m:r>
                            <a:rPr lang="en-US" altLang="zh-CN" b="1" i="1" smtClean="0">
                              <a:latin typeface="Cambria Math" panose="02040503050406030204" pitchFamily="18" charset="0"/>
                              <a:ea typeface="Cambria Math" panose="02040503050406030204" pitchFamily="18" charset="0"/>
                            </a:rPr>
                            <m:t>𝑸</m:t>
                          </m:r>
                        </m:e>
                        <m:sub>
                          <m:r>
                            <a:rPr lang="en-US" altLang="zh-CN" b="1" i="1" smtClean="0">
                              <a:latin typeface="Cambria Math" panose="02040503050406030204" pitchFamily="18" charset="0"/>
                              <a:ea typeface="Cambria Math" panose="02040503050406030204" pitchFamily="18" charset="0"/>
                            </a:rPr>
                            <m:t>𝟏</m:t>
                          </m:r>
                        </m:sub>
                      </m:sSub>
                      <m:r>
                        <a:rPr lang="en-US" altLang="zh-CN" i="1" smtClean="0">
                          <a:latin typeface="Cambria Math" panose="02040503050406030204" pitchFamily="18" charset="0"/>
                          <a:ea typeface="Cambria Math" panose="02040503050406030204" pitchFamily="18" charset="0"/>
                        </a:rPr>
                        <m:t>=</m:t>
                      </m:r>
                      <m:f>
                        <m:fPr>
                          <m:ctrlPr>
                            <a:rPr lang="en-US" altLang="zh-CN" i="1" smtClean="0">
                              <a:latin typeface="Cambria Math" panose="02040503050406030204" pitchFamily="18" charset="0"/>
                              <a:ea typeface="Cambria Math" panose="02040503050406030204" pitchFamily="18" charset="0"/>
                            </a:rPr>
                          </m:ctrlPr>
                        </m:fPr>
                        <m:num>
                          <m:r>
                            <a:rPr lang="en-US" altLang="zh-CN" b="1" i="1" smtClean="0">
                              <a:latin typeface="Cambria Math" panose="02040503050406030204" pitchFamily="18" charset="0"/>
                              <a:ea typeface="Cambria Math" panose="02040503050406030204" pitchFamily="18" charset="0"/>
                            </a:rPr>
                            <m:t>𝟏</m:t>
                          </m:r>
                        </m:num>
                        <m:den>
                          <m:r>
                            <a:rPr lang="en-US" altLang="zh-CN" b="1" i="1" smtClean="0">
                              <a:latin typeface="Cambria Math" panose="02040503050406030204" pitchFamily="18" charset="0"/>
                              <a:ea typeface="Cambria Math" panose="02040503050406030204" pitchFamily="18" charset="0"/>
                            </a:rPr>
                            <m:t>𝟐</m:t>
                          </m:r>
                        </m:den>
                      </m:f>
                      <m:d>
                        <m:dPr>
                          <m:ctrlPr>
                            <a:rPr lang="en-US" altLang="zh-CN" i="1" smtClean="0">
                              <a:latin typeface="Cambria Math" panose="02040503050406030204" pitchFamily="18" charset="0"/>
                              <a:ea typeface="Cambria Math" panose="02040503050406030204" pitchFamily="18" charset="0"/>
                            </a:rPr>
                          </m:ctrlPr>
                        </m:dPr>
                        <m:e>
                          <m:f>
                            <m:fPr>
                              <m:ctrlPr>
                                <a:rPr lang="en-US" altLang="zh-CN" i="1" smtClean="0">
                                  <a:latin typeface="Cambria Math" panose="02040503050406030204" pitchFamily="18" charset="0"/>
                                  <a:ea typeface="Cambria Math" panose="02040503050406030204" pitchFamily="18" charset="0"/>
                                </a:rPr>
                              </m:ctrlPr>
                            </m:fPr>
                            <m:num>
                              <m:r>
                                <a:rPr lang="zh-CN" altLang="en-US" i="1" smtClean="0">
                                  <a:latin typeface="Cambria Math" panose="02040503050406030204" pitchFamily="18" charset="0"/>
                                  <a:ea typeface="Cambria Math" panose="02040503050406030204" pitchFamily="18" charset="0"/>
                                </a:rPr>
                                <m:t>𝜶</m:t>
                              </m:r>
                            </m:num>
                            <m:den>
                              <m:r>
                                <a:rPr lang="zh-CN" altLang="en-US" i="1" smtClean="0">
                                  <a:latin typeface="Cambria Math" panose="02040503050406030204" pitchFamily="18" charset="0"/>
                                  <a:ea typeface="Cambria Math" panose="02040503050406030204" pitchFamily="18" charset="0"/>
                                </a:rPr>
                                <m:t>𝜷</m:t>
                              </m:r>
                            </m:den>
                          </m:f>
                          <m:r>
                            <a:rPr lang="en-US" altLang="zh-CN" i="1" smtClean="0">
                              <a:latin typeface="Cambria Math" panose="02040503050406030204" pitchFamily="18" charset="0"/>
                              <a:ea typeface="Cambria Math" panose="02040503050406030204" pitchFamily="18" charset="0"/>
                            </a:rPr>
                            <m:t>−</m:t>
                          </m:r>
                          <m:sSub>
                            <m:sSubPr>
                              <m:ctrlPr>
                                <a:rPr lang="en-US" altLang="zh-CN" i="1" smtClean="0">
                                  <a:latin typeface="Cambria Math" panose="02040503050406030204" pitchFamily="18" charset="0"/>
                                  <a:ea typeface="Cambria Math" panose="02040503050406030204" pitchFamily="18" charset="0"/>
                                </a:rPr>
                              </m:ctrlPr>
                            </m:sSubPr>
                            <m:e>
                              <m:r>
                                <a:rPr lang="en-US" altLang="zh-CN" b="1" i="1" smtClean="0">
                                  <a:latin typeface="Cambria Math" panose="02040503050406030204" pitchFamily="18" charset="0"/>
                                  <a:ea typeface="Cambria Math" panose="02040503050406030204" pitchFamily="18" charset="0"/>
                                </a:rPr>
                                <m:t>𝑸</m:t>
                              </m:r>
                            </m:e>
                            <m:sub>
                              <m:r>
                                <a:rPr lang="en-US" altLang="zh-CN" b="1" i="1" smtClean="0">
                                  <a:latin typeface="Cambria Math" panose="02040503050406030204" pitchFamily="18" charset="0"/>
                                  <a:ea typeface="Cambria Math" panose="02040503050406030204" pitchFamily="18" charset="0"/>
                                </a:rPr>
                                <m:t>𝟐</m:t>
                              </m:r>
                            </m:sub>
                          </m:sSub>
                        </m:e>
                      </m:d>
                    </m:oMath>
                  </m:oMathPara>
                </a14:m>
                <a:endParaRPr lang="zh-CN" altLang="en-US" dirty="0"/>
              </a:p>
            </p:txBody>
          </p:sp>
        </mc:Choice>
        <mc:Fallback xmlns="">
          <p:sp>
            <p:nvSpPr>
              <p:cNvPr id="20" name="文本框 19"/>
              <p:cNvSpPr txBox="1">
                <a:spLocks noRot="1" noChangeAspect="1" noMove="1" noResize="1" noEditPoints="1" noAdjustHandles="1" noChangeArrowheads="1" noChangeShapeType="1" noTextEdit="1"/>
              </p:cNvSpPr>
              <p:nvPr/>
            </p:nvSpPr>
            <p:spPr>
              <a:xfrm>
                <a:off x="1093907" y="4631847"/>
                <a:ext cx="1579691" cy="553228"/>
              </a:xfrm>
              <a:prstGeom prst="rect">
                <a:avLst/>
              </a:prstGeom>
              <a:blipFill rotWithShape="0">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p:cNvSpPr txBox="1"/>
              <p:nvPr/>
            </p:nvSpPr>
            <p:spPr>
              <a:xfrm>
                <a:off x="4593058" y="4906925"/>
                <a:ext cx="1354345" cy="46692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ea typeface="Cambria Math" panose="02040503050406030204" pitchFamily="18" charset="0"/>
                            </a:rPr>
                          </m:ctrlPr>
                        </m:sSubPr>
                        <m:e>
                          <m:r>
                            <a:rPr lang="en-US" altLang="zh-CN" b="1" i="1" smtClean="0">
                              <a:latin typeface="Cambria Math" panose="02040503050406030204" pitchFamily="18" charset="0"/>
                              <a:ea typeface="Cambria Math" panose="02040503050406030204" pitchFamily="18" charset="0"/>
                            </a:rPr>
                            <m:t>𝑸</m:t>
                          </m:r>
                        </m:e>
                        <m:sub>
                          <m:r>
                            <a:rPr lang="en-US" altLang="zh-CN" b="1" i="1" smtClean="0">
                              <a:latin typeface="Cambria Math" panose="02040503050406030204" pitchFamily="18" charset="0"/>
                              <a:ea typeface="Cambria Math" panose="02040503050406030204" pitchFamily="18" charset="0"/>
                            </a:rPr>
                            <m:t>𝟏</m:t>
                          </m:r>
                        </m:sub>
                      </m:sSub>
                      <m:r>
                        <a:rPr lang="en-US" altLang="zh-CN" i="1" smtClean="0">
                          <a:latin typeface="Cambria Math" panose="02040503050406030204" pitchFamily="18" charset="0"/>
                          <a:ea typeface="Cambria Math" panose="02040503050406030204" pitchFamily="18" charset="0"/>
                        </a:rPr>
                        <m:t>=</m:t>
                      </m:r>
                      <m:sSub>
                        <m:sSubPr>
                          <m:ctrlPr>
                            <a:rPr lang="en-US" altLang="zh-CN" i="1" smtClean="0">
                              <a:latin typeface="Cambria Math" panose="02040503050406030204" pitchFamily="18" charset="0"/>
                              <a:ea typeface="Cambria Math" panose="02040503050406030204" pitchFamily="18" charset="0"/>
                            </a:rPr>
                          </m:ctrlPr>
                        </m:sSubPr>
                        <m:e>
                          <m:r>
                            <a:rPr lang="en-US" altLang="zh-CN" b="1" i="1" smtClean="0">
                              <a:latin typeface="Cambria Math" panose="02040503050406030204" pitchFamily="18" charset="0"/>
                              <a:ea typeface="Cambria Math" panose="02040503050406030204" pitchFamily="18" charset="0"/>
                            </a:rPr>
                            <m:t>𝑸</m:t>
                          </m:r>
                        </m:e>
                        <m:sub>
                          <m:r>
                            <a:rPr lang="en-US" altLang="zh-CN" b="1" i="1" smtClean="0">
                              <a:latin typeface="Cambria Math" panose="02040503050406030204" pitchFamily="18" charset="0"/>
                              <a:ea typeface="Cambria Math" panose="02040503050406030204" pitchFamily="18" charset="0"/>
                            </a:rPr>
                            <m:t>𝟐</m:t>
                          </m:r>
                        </m:sub>
                      </m:sSub>
                      <m:r>
                        <a:rPr lang="en-US" altLang="zh-CN" i="1" smtClean="0">
                          <a:latin typeface="Cambria Math" panose="02040503050406030204" pitchFamily="18" charset="0"/>
                          <a:ea typeface="Cambria Math" panose="02040503050406030204" pitchFamily="18" charset="0"/>
                        </a:rPr>
                        <m:t>=</m:t>
                      </m:r>
                      <m:f>
                        <m:fPr>
                          <m:ctrlPr>
                            <a:rPr lang="en-US" altLang="zh-CN" i="1" smtClean="0">
                              <a:latin typeface="Cambria Math" panose="02040503050406030204" pitchFamily="18" charset="0"/>
                              <a:ea typeface="Cambria Math" panose="02040503050406030204" pitchFamily="18" charset="0"/>
                            </a:rPr>
                          </m:ctrlPr>
                        </m:fPr>
                        <m:num>
                          <m:r>
                            <a:rPr lang="zh-CN" altLang="en-US" i="1" smtClean="0">
                              <a:latin typeface="Cambria Math" panose="02040503050406030204" pitchFamily="18" charset="0"/>
                              <a:ea typeface="Cambria Math" panose="02040503050406030204" pitchFamily="18" charset="0"/>
                            </a:rPr>
                            <m:t>𝜶</m:t>
                          </m:r>
                        </m:num>
                        <m:den>
                          <m:r>
                            <a:rPr lang="en-US" altLang="zh-CN" b="1" i="1" smtClean="0">
                              <a:latin typeface="Cambria Math" panose="02040503050406030204" pitchFamily="18" charset="0"/>
                              <a:ea typeface="Cambria Math" panose="02040503050406030204" pitchFamily="18" charset="0"/>
                            </a:rPr>
                            <m:t>𝟑</m:t>
                          </m:r>
                          <m:r>
                            <a:rPr lang="zh-CN" altLang="en-US" b="1" i="1" smtClean="0">
                              <a:latin typeface="Cambria Math" panose="02040503050406030204" pitchFamily="18" charset="0"/>
                              <a:ea typeface="Cambria Math" panose="02040503050406030204" pitchFamily="18" charset="0"/>
                            </a:rPr>
                            <m:t>𝜷</m:t>
                          </m:r>
                        </m:den>
                      </m:f>
                    </m:oMath>
                  </m:oMathPara>
                </a14:m>
                <a:endParaRPr lang="zh-CN" altLang="en-US" dirty="0"/>
              </a:p>
            </p:txBody>
          </p:sp>
        </mc:Choice>
        <mc:Fallback xmlns="">
          <p:sp>
            <p:nvSpPr>
              <p:cNvPr id="3" name="文本框 2"/>
              <p:cNvSpPr txBox="1">
                <a:spLocks noRot="1" noChangeAspect="1" noMove="1" noResize="1" noEditPoints="1" noAdjustHandles="1" noChangeArrowheads="1" noChangeShapeType="1" noTextEdit="1"/>
              </p:cNvSpPr>
              <p:nvPr/>
            </p:nvSpPr>
            <p:spPr>
              <a:xfrm>
                <a:off x="4593058" y="4906925"/>
                <a:ext cx="1354345" cy="466923"/>
              </a:xfrm>
              <a:prstGeom prst="rect">
                <a:avLst/>
              </a:prstGeom>
              <a:blipFill rotWithShape="0">
                <a:blip r:embed="rId5"/>
                <a:stretch>
                  <a:fillRect l="-3587" r="-4036" b="-1818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p:cNvSpPr txBox="1"/>
              <p:nvPr/>
            </p:nvSpPr>
            <p:spPr>
              <a:xfrm>
                <a:off x="7016339" y="4887814"/>
                <a:ext cx="1750094" cy="50430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ea typeface="Cambria Math" panose="02040503050406030204" pitchFamily="18" charset="0"/>
                            </a:rPr>
                          </m:ctrlPr>
                        </m:sSubPr>
                        <m:e>
                          <m:r>
                            <a:rPr lang="en-US" altLang="zh-CN" b="1" i="1" smtClean="0">
                              <a:latin typeface="Cambria Math" panose="02040503050406030204" pitchFamily="18" charset="0"/>
                              <a:ea typeface="Cambria Math" panose="02040503050406030204" pitchFamily="18" charset="0"/>
                            </a:rPr>
                            <m:t>𝑸</m:t>
                          </m:r>
                          <m:r>
                            <a:rPr lang="en-US" altLang="zh-CN" i="1" smtClean="0">
                              <a:latin typeface="Cambria Math" panose="02040503050406030204" pitchFamily="18" charset="0"/>
                              <a:ea typeface="Cambria Math" panose="02040503050406030204" pitchFamily="18" charset="0"/>
                            </a:rPr>
                            <m:t>=</m:t>
                          </m:r>
                          <m:r>
                            <a:rPr lang="en-US" altLang="zh-CN" b="1" i="1" smtClean="0">
                              <a:latin typeface="Cambria Math" panose="02040503050406030204" pitchFamily="18" charset="0"/>
                              <a:ea typeface="Cambria Math" panose="02040503050406030204" pitchFamily="18" charset="0"/>
                            </a:rPr>
                            <m:t>𝑸</m:t>
                          </m:r>
                        </m:e>
                        <m:sub>
                          <m:r>
                            <a:rPr lang="en-US" altLang="zh-CN" b="1" i="1" smtClean="0">
                              <a:latin typeface="Cambria Math" panose="02040503050406030204" pitchFamily="18" charset="0"/>
                              <a:ea typeface="Cambria Math" panose="02040503050406030204" pitchFamily="18" charset="0"/>
                            </a:rPr>
                            <m:t>𝟏</m:t>
                          </m:r>
                        </m:sub>
                      </m:sSub>
                      <m:r>
                        <a:rPr lang="en-US" altLang="zh-CN" i="1" dirty="0" smtClean="0">
                          <a:latin typeface="Cambria Math" panose="02040503050406030204" pitchFamily="18" charset="0"/>
                          <a:ea typeface="Cambria Math" panose="02040503050406030204" pitchFamily="18" charset="0"/>
                        </a:rPr>
                        <m:t>+</m:t>
                      </m:r>
                      <m:sSub>
                        <m:sSubPr>
                          <m:ctrlPr>
                            <a:rPr lang="en-US" altLang="zh-CN" i="1" smtClean="0">
                              <a:latin typeface="Cambria Math" panose="02040503050406030204" pitchFamily="18" charset="0"/>
                              <a:ea typeface="Cambria Math" panose="02040503050406030204" pitchFamily="18" charset="0"/>
                            </a:rPr>
                          </m:ctrlPr>
                        </m:sSubPr>
                        <m:e>
                          <m:r>
                            <a:rPr lang="en-US" altLang="zh-CN" b="1" i="1" smtClean="0">
                              <a:latin typeface="Cambria Math" panose="02040503050406030204" pitchFamily="18" charset="0"/>
                              <a:ea typeface="Cambria Math" panose="02040503050406030204" pitchFamily="18" charset="0"/>
                            </a:rPr>
                            <m:t>𝑸</m:t>
                          </m:r>
                        </m:e>
                        <m:sub>
                          <m:r>
                            <a:rPr lang="en-US" altLang="zh-CN" b="1" i="1" smtClean="0">
                              <a:latin typeface="Cambria Math" panose="02040503050406030204" pitchFamily="18" charset="0"/>
                              <a:ea typeface="Cambria Math" panose="02040503050406030204" pitchFamily="18" charset="0"/>
                            </a:rPr>
                            <m:t>𝟐</m:t>
                          </m:r>
                        </m:sub>
                      </m:sSub>
                      <m:r>
                        <a:rPr lang="en-US" altLang="zh-CN" i="1" smtClean="0">
                          <a:latin typeface="Cambria Math" panose="02040503050406030204" pitchFamily="18" charset="0"/>
                          <a:ea typeface="Cambria Math" panose="02040503050406030204" pitchFamily="18" charset="0"/>
                        </a:rPr>
                        <m:t>=</m:t>
                      </m:r>
                      <m:f>
                        <m:fPr>
                          <m:ctrlPr>
                            <a:rPr lang="en-US" altLang="zh-CN" i="1" smtClean="0">
                              <a:latin typeface="Cambria Math" panose="02040503050406030204" pitchFamily="18" charset="0"/>
                              <a:ea typeface="Cambria Math" panose="02040503050406030204" pitchFamily="18" charset="0"/>
                            </a:rPr>
                          </m:ctrlPr>
                        </m:fPr>
                        <m:num>
                          <m:r>
                            <a:rPr lang="en-US" altLang="zh-CN" b="1" i="1" smtClean="0">
                              <a:latin typeface="Cambria Math" panose="02040503050406030204" pitchFamily="18" charset="0"/>
                              <a:ea typeface="Cambria Math" panose="02040503050406030204" pitchFamily="18" charset="0"/>
                            </a:rPr>
                            <m:t>𝟐</m:t>
                          </m:r>
                          <m:r>
                            <a:rPr lang="zh-CN" altLang="en-US" i="1" smtClean="0">
                              <a:latin typeface="Cambria Math" panose="02040503050406030204" pitchFamily="18" charset="0"/>
                              <a:ea typeface="Cambria Math" panose="02040503050406030204" pitchFamily="18" charset="0"/>
                            </a:rPr>
                            <m:t>𝜶</m:t>
                          </m:r>
                        </m:num>
                        <m:den>
                          <m:r>
                            <a:rPr lang="en-US" altLang="zh-CN" b="1" i="1" smtClean="0">
                              <a:latin typeface="Cambria Math" panose="02040503050406030204" pitchFamily="18" charset="0"/>
                              <a:ea typeface="Cambria Math" panose="02040503050406030204" pitchFamily="18" charset="0"/>
                            </a:rPr>
                            <m:t>𝟑</m:t>
                          </m:r>
                          <m:r>
                            <a:rPr lang="zh-CN" altLang="en-US" b="1" i="1" smtClean="0">
                              <a:latin typeface="Cambria Math" panose="02040503050406030204" pitchFamily="18" charset="0"/>
                              <a:ea typeface="Cambria Math" panose="02040503050406030204" pitchFamily="18" charset="0"/>
                            </a:rPr>
                            <m:t>𝜷</m:t>
                          </m:r>
                        </m:den>
                      </m:f>
                    </m:oMath>
                  </m:oMathPara>
                </a14:m>
                <a:endParaRPr lang="zh-CN" altLang="en-US" dirty="0"/>
              </a:p>
            </p:txBody>
          </p:sp>
        </mc:Choice>
        <mc:Fallback xmlns="">
          <p:sp>
            <p:nvSpPr>
              <p:cNvPr id="21" name="文本框 20"/>
              <p:cNvSpPr txBox="1">
                <a:spLocks noRot="1" noChangeAspect="1" noMove="1" noResize="1" noEditPoints="1" noAdjustHandles="1" noChangeArrowheads="1" noChangeShapeType="1" noTextEdit="1"/>
              </p:cNvSpPr>
              <p:nvPr/>
            </p:nvSpPr>
            <p:spPr>
              <a:xfrm>
                <a:off x="7016339" y="4887814"/>
                <a:ext cx="1750094" cy="504305"/>
              </a:xfrm>
              <a:prstGeom prst="rect">
                <a:avLst/>
              </a:prstGeom>
              <a:blipFill rotWithShape="0">
                <a:blip r:embed="rId6"/>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374301637"/>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9938">
                                            <p:txEl>
                                              <p:pRg st="1" end="1"/>
                                            </p:txEl>
                                          </p:spTgt>
                                        </p:tgtEl>
                                        <p:attrNameLst>
                                          <p:attrName>style.visibility</p:attrName>
                                        </p:attrNameLst>
                                      </p:cBhvr>
                                      <p:to>
                                        <p:strVal val="visible"/>
                                      </p:to>
                                    </p:set>
                                    <p:animEffect transition="in" filter="fade">
                                      <p:cBhvr>
                                        <p:cTn id="7" dur="500"/>
                                        <p:tgtEl>
                                          <p:spTgt spid="39938">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9938">
                                            <p:txEl>
                                              <p:pRg st="2" end="2"/>
                                            </p:txEl>
                                          </p:spTgt>
                                        </p:tgtEl>
                                        <p:attrNameLst>
                                          <p:attrName>style.visibility</p:attrName>
                                        </p:attrNameLst>
                                      </p:cBhvr>
                                      <p:to>
                                        <p:strVal val="visible"/>
                                      </p:to>
                                    </p:set>
                                    <p:animEffect transition="in" filter="fade">
                                      <p:cBhvr>
                                        <p:cTn id="10" dur="500"/>
                                        <p:tgtEl>
                                          <p:spTgt spid="39938">
                                            <p:txEl>
                                              <p:pRg st="2" end="2"/>
                                            </p:txEl>
                                          </p:spTgt>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39938">
                                            <p:txEl>
                                              <p:pRg st="3" end="3"/>
                                            </p:txEl>
                                          </p:spTgt>
                                        </p:tgtEl>
                                        <p:attrNameLst>
                                          <p:attrName>style.visibility</p:attrName>
                                        </p:attrNameLst>
                                      </p:cBhvr>
                                      <p:to>
                                        <p:strVal val="visible"/>
                                      </p:to>
                                    </p:set>
                                    <p:animEffect transition="in" filter="fade">
                                      <p:cBhvr>
                                        <p:cTn id="14" dur="500"/>
                                        <p:tgtEl>
                                          <p:spTgt spid="39938">
                                            <p:txEl>
                                              <p:pRg st="3" end="3"/>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1000"/>
                                        <p:tgtEl>
                                          <p:spTgt spid="18"/>
                                        </p:tgtEl>
                                      </p:cBhvr>
                                    </p:animEffect>
                                    <p:anim calcmode="lin" valueType="num">
                                      <p:cBhvr>
                                        <p:cTn id="20" dur="1000" fill="hold"/>
                                        <p:tgtEl>
                                          <p:spTgt spid="18"/>
                                        </p:tgtEl>
                                        <p:attrNameLst>
                                          <p:attrName>ppt_x</p:attrName>
                                        </p:attrNameLst>
                                      </p:cBhvr>
                                      <p:tavLst>
                                        <p:tav tm="0">
                                          <p:val>
                                            <p:strVal val="#ppt_x"/>
                                          </p:val>
                                        </p:tav>
                                        <p:tav tm="100000">
                                          <p:val>
                                            <p:strVal val="#ppt_x"/>
                                          </p:val>
                                        </p:tav>
                                      </p:tavLst>
                                    </p:anim>
                                    <p:anim calcmode="lin" valueType="num">
                                      <p:cBhvr>
                                        <p:cTn id="21"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grpId="0"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barn(inVertical)">
                                      <p:cBhvr>
                                        <p:cTn id="26" dur="500"/>
                                        <p:tgtEl>
                                          <p:spTgt spid="11"/>
                                        </p:tgtEl>
                                      </p:cBhvr>
                                    </p:animEffect>
                                  </p:childTnLst>
                                </p:cTn>
                              </p:par>
                              <p:par>
                                <p:cTn id="27" presetID="42" presetClass="entr" presetSubtype="0" fill="hold" grpId="0" nodeType="withEffect">
                                  <p:stCondLst>
                                    <p:cond delay="0"/>
                                  </p:stCondLst>
                                  <p:childTnLst>
                                    <p:set>
                                      <p:cBhvr>
                                        <p:cTn id="28" dur="1" fill="hold">
                                          <p:stCondLst>
                                            <p:cond delay="0"/>
                                          </p:stCondLst>
                                        </p:cTn>
                                        <p:tgtEl>
                                          <p:spTgt spid="20"/>
                                        </p:tgtEl>
                                        <p:attrNameLst>
                                          <p:attrName>style.visibility</p:attrName>
                                        </p:attrNameLst>
                                      </p:cBhvr>
                                      <p:to>
                                        <p:strVal val="visible"/>
                                      </p:to>
                                    </p:set>
                                    <p:animEffect transition="in" filter="fade">
                                      <p:cBhvr>
                                        <p:cTn id="29" dur="1000"/>
                                        <p:tgtEl>
                                          <p:spTgt spid="20"/>
                                        </p:tgtEl>
                                      </p:cBhvr>
                                    </p:animEffect>
                                    <p:anim calcmode="lin" valueType="num">
                                      <p:cBhvr>
                                        <p:cTn id="30" dur="1000" fill="hold"/>
                                        <p:tgtEl>
                                          <p:spTgt spid="20"/>
                                        </p:tgtEl>
                                        <p:attrNameLst>
                                          <p:attrName>ppt_x</p:attrName>
                                        </p:attrNameLst>
                                      </p:cBhvr>
                                      <p:tavLst>
                                        <p:tav tm="0">
                                          <p:val>
                                            <p:strVal val="#ppt_x"/>
                                          </p:val>
                                        </p:tav>
                                        <p:tav tm="100000">
                                          <p:val>
                                            <p:strVal val="#ppt_x"/>
                                          </p:val>
                                        </p:tav>
                                      </p:tavLst>
                                    </p:anim>
                                    <p:anim calcmode="lin" valueType="num">
                                      <p:cBhvr>
                                        <p:cTn id="31" dur="1000" fill="hold"/>
                                        <p:tgtEl>
                                          <p:spTgt spid="20"/>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1000"/>
                                        <p:tgtEl>
                                          <p:spTgt spid="19"/>
                                        </p:tgtEl>
                                      </p:cBhvr>
                                    </p:animEffect>
                                    <p:anim calcmode="lin" valueType="num">
                                      <p:cBhvr>
                                        <p:cTn id="35" dur="1000" fill="hold"/>
                                        <p:tgtEl>
                                          <p:spTgt spid="19"/>
                                        </p:tgtEl>
                                        <p:attrNameLst>
                                          <p:attrName>ppt_x</p:attrName>
                                        </p:attrNameLst>
                                      </p:cBhvr>
                                      <p:tavLst>
                                        <p:tav tm="0">
                                          <p:val>
                                            <p:strVal val="#ppt_x"/>
                                          </p:val>
                                        </p:tav>
                                        <p:tav tm="100000">
                                          <p:val>
                                            <p:strVal val="#ppt_x"/>
                                          </p:val>
                                        </p:tav>
                                      </p:tavLst>
                                    </p:anim>
                                    <p:anim calcmode="lin" valueType="num">
                                      <p:cBhvr>
                                        <p:cTn id="36"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grpId="0" nodeType="click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down)">
                                      <p:cBhvr>
                                        <p:cTn id="41" dur="500"/>
                                        <p:tgtEl>
                                          <p:spTgt spid="10"/>
                                        </p:tgtEl>
                                      </p:cBhvr>
                                    </p:animEffect>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grpId="0" nodeType="clickEffect">
                                  <p:stCondLst>
                                    <p:cond delay="0"/>
                                  </p:stCondLst>
                                  <p:childTnLst>
                                    <p:set>
                                      <p:cBhvr>
                                        <p:cTn id="45" dur="1" fill="hold">
                                          <p:stCondLst>
                                            <p:cond delay="0"/>
                                          </p:stCondLst>
                                        </p:cTn>
                                        <p:tgtEl>
                                          <p:spTgt spid="3"/>
                                        </p:tgtEl>
                                        <p:attrNameLst>
                                          <p:attrName>style.visibility</p:attrName>
                                        </p:attrNameLst>
                                      </p:cBhvr>
                                      <p:to>
                                        <p:strVal val="visible"/>
                                      </p:to>
                                    </p:set>
                                    <p:animEffect transition="in" filter="fade">
                                      <p:cBhvr>
                                        <p:cTn id="46" dur="1000"/>
                                        <p:tgtEl>
                                          <p:spTgt spid="3"/>
                                        </p:tgtEl>
                                      </p:cBhvr>
                                    </p:animEffect>
                                    <p:anim calcmode="lin" valueType="num">
                                      <p:cBhvr>
                                        <p:cTn id="47" dur="1000" fill="hold"/>
                                        <p:tgtEl>
                                          <p:spTgt spid="3"/>
                                        </p:tgtEl>
                                        <p:attrNameLst>
                                          <p:attrName>ppt_x</p:attrName>
                                        </p:attrNameLst>
                                      </p:cBhvr>
                                      <p:tavLst>
                                        <p:tav tm="0">
                                          <p:val>
                                            <p:strVal val="#ppt_x"/>
                                          </p:val>
                                        </p:tav>
                                        <p:tav tm="100000">
                                          <p:val>
                                            <p:strVal val="#ppt_x"/>
                                          </p:val>
                                        </p:tav>
                                      </p:tavLst>
                                    </p:anim>
                                    <p:anim calcmode="lin" valueType="num">
                                      <p:cBhvr>
                                        <p:cTn id="48"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2" presetClass="entr" presetSubtype="4" fill="hold" grpId="0" nodeType="clickEffect">
                                  <p:stCondLst>
                                    <p:cond delay="0"/>
                                  </p:stCondLst>
                                  <p:childTnLst>
                                    <p:set>
                                      <p:cBhvr>
                                        <p:cTn id="52" dur="1" fill="hold">
                                          <p:stCondLst>
                                            <p:cond delay="0"/>
                                          </p:stCondLst>
                                        </p:cTn>
                                        <p:tgtEl>
                                          <p:spTgt spid="16"/>
                                        </p:tgtEl>
                                        <p:attrNameLst>
                                          <p:attrName>style.visibility</p:attrName>
                                        </p:attrNameLst>
                                      </p:cBhvr>
                                      <p:to>
                                        <p:strVal val="visible"/>
                                      </p:to>
                                    </p:set>
                                    <p:animEffect transition="in" filter="wipe(down)">
                                      <p:cBhvr>
                                        <p:cTn id="53" dur="500"/>
                                        <p:tgtEl>
                                          <p:spTgt spid="16"/>
                                        </p:tgtEl>
                                      </p:cBhvr>
                                    </p:animEffect>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grpId="0" nodeType="click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1000"/>
                                        <p:tgtEl>
                                          <p:spTgt spid="21"/>
                                        </p:tgtEl>
                                      </p:cBhvr>
                                    </p:animEffect>
                                    <p:anim calcmode="lin" valueType="num">
                                      <p:cBhvr>
                                        <p:cTn id="59" dur="1000" fill="hold"/>
                                        <p:tgtEl>
                                          <p:spTgt spid="21"/>
                                        </p:tgtEl>
                                        <p:attrNameLst>
                                          <p:attrName>ppt_x</p:attrName>
                                        </p:attrNameLst>
                                      </p:cBhvr>
                                      <p:tavLst>
                                        <p:tav tm="0">
                                          <p:val>
                                            <p:strVal val="#ppt_x"/>
                                          </p:val>
                                        </p:tav>
                                        <p:tav tm="100000">
                                          <p:val>
                                            <p:strVal val="#ppt_x"/>
                                          </p:val>
                                        </p:tav>
                                      </p:tavLst>
                                    </p:anim>
                                    <p:anim calcmode="lin" valueType="num">
                                      <p:cBhvr>
                                        <p:cTn id="60"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8" grpId="0" uiExpand="1" build="p"/>
      <p:bldP spid="10" grpId="0" animBg="1"/>
      <p:bldP spid="11" grpId="0"/>
      <p:bldP spid="16" grpId="0" animBg="1"/>
      <p:bldP spid="18" grpId="0"/>
      <p:bldP spid="19" grpId="0"/>
      <p:bldP spid="20" grpId="0"/>
      <p:bldP spid="3" grpId="0"/>
      <p:bldP spid="21"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3"/>
          <p:cNvSpPr>
            <a:spLocks noGrp="1" noChangeArrowheads="1"/>
          </p:cNvSpPr>
          <p:nvPr>
            <p:ph type="body" idx="4294967295"/>
          </p:nvPr>
        </p:nvSpPr>
        <p:spPr>
          <a:xfrm>
            <a:off x="457200" y="1052835"/>
            <a:ext cx="8229600" cy="5040350"/>
          </a:xfrm>
          <a:ln/>
        </p:spPr>
        <p:txBody>
          <a:bodyPr/>
          <a:lstStyle/>
          <a:p>
            <a:pPr marL="457200" lvl="2" indent="-457200" eaLnBrk="1" hangingPunct="1">
              <a:lnSpc>
                <a:spcPct val="200000"/>
              </a:lnSpc>
              <a:buSzPct val="100000"/>
              <a:buFont typeface="Wingdings" panose="05000000000000000000" pitchFamily="2" charset="2"/>
              <a:buChar char="u"/>
            </a:pPr>
            <a:r>
              <a:rPr lang="zh-CN" altLang="en-US" sz="2200" b="0" dirty="0">
                <a:latin typeface="微软雅黑" panose="020B0503020204020204" pitchFamily="34" charset="-122"/>
                <a:ea typeface="微软雅黑" panose="020B0503020204020204" pitchFamily="34" charset="-122"/>
              </a:rPr>
              <a:t>价格领袖制</a:t>
            </a:r>
            <a:endParaRPr lang="en-US" altLang="zh-CN" sz="2200" b="0" dirty="0">
              <a:latin typeface="微软雅黑" panose="020B0503020204020204" pitchFamily="34" charset="-122"/>
              <a:ea typeface="微软雅黑" panose="020B0503020204020204" pitchFamily="34" charset="-122"/>
            </a:endParaRPr>
          </a:p>
          <a:p>
            <a:pPr marL="742950" lvl="2" indent="-342900" eaLnBrk="1" hangingPunct="1">
              <a:lnSpc>
                <a:spcPct val="150000"/>
              </a:lnSpc>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rPr>
              <a:t>某一个企业率先定价或调整价格，其他企业自愿跟随的一种定价做法</a:t>
            </a:r>
            <a:endParaRPr lang="en-US" altLang="zh-CN" sz="2000" b="0" dirty="0">
              <a:latin typeface="微软雅黑" panose="020B0503020204020204" pitchFamily="34" charset="-122"/>
              <a:ea typeface="微软雅黑" panose="020B0503020204020204" pitchFamily="34" charset="-122"/>
            </a:endParaRPr>
          </a:p>
          <a:p>
            <a:pPr marL="742950" lvl="2" indent="-342900" eaLnBrk="1" hangingPunct="1">
              <a:lnSpc>
                <a:spcPct val="150000"/>
              </a:lnSpc>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rPr>
              <a:t>是合谋（勾结）的一种形式</a:t>
            </a:r>
            <a:endParaRPr lang="en-US" altLang="zh-CN" sz="2000" b="0" dirty="0">
              <a:latin typeface="微软雅黑" panose="020B0503020204020204" pitchFamily="34" charset="-122"/>
              <a:ea typeface="微软雅黑" panose="020B0503020204020204" pitchFamily="34" charset="-122"/>
            </a:endParaRPr>
          </a:p>
          <a:p>
            <a:pPr marL="742950" lvl="2" indent="-342900" eaLnBrk="1" hangingPunct="1">
              <a:lnSpc>
                <a:spcPct val="150000"/>
              </a:lnSpc>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rPr>
              <a:t>一般也会被政府打击，如果证据确凿</a:t>
            </a:r>
            <a:endParaRPr lang="en-US" altLang="zh-CN" sz="2000" b="0" dirty="0">
              <a:latin typeface="微软雅黑" panose="020B0503020204020204" pitchFamily="34" charset="-122"/>
              <a:ea typeface="微软雅黑" panose="020B0503020204020204" pitchFamily="34" charset="-122"/>
            </a:endParaRPr>
          </a:p>
          <a:p>
            <a:pPr marL="742950" lvl="2" indent="-342900" eaLnBrk="1" hangingPunct="1">
              <a:lnSpc>
                <a:spcPct val="150000"/>
              </a:lnSpc>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rPr>
              <a:t>现实中存在着不同类型的价格领袖制</a:t>
            </a:r>
            <a:endParaRPr lang="en-US" altLang="zh-CN" sz="2000" b="0" dirty="0">
              <a:latin typeface="微软雅黑" panose="020B0503020204020204" pitchFamily="34" charset="-122"/>
              <a:ea typeface="微软雅黑" panose="020B0503020204020204" pitchFamily="34" charset="-122"/>
            </a:endParaRPr>
          </a:p>
          <a:p>
            <a:pPr marL="1200150" lvl="3" indent="-342900" eaLnBrk="1" hangingPunct="1">
              <a:lnSpc>
                <a:spcPct val="150000"/>
              </a:lnSpc>
              <a:buFont typeface="Arial" panose="020B0604020202020204" pitchFamily="34" charset="0"/>
              <a:buChar char="•"/>
            </a:pPr>
            <a:r>
              <a:rPr lang="zh-CN" altLang="en-US" sz="1800" b="0" dirty="0">
                <a:latin typeface="微软雅黑" panose="020B0503020204020204" pitchFamily="34" charset="-122"/>
                <a:ea typeface="微软雅黑" panose="020B0503020204020204" pitchFamily="34" charset="-122"/>
              </a:rPr>
              <a:t>大厂商价格领袖制（支配型厂商价格领袖制）</a:t>
            </a:r>
            <a:endParaRPr lang="en-US" altLang="zh-CN" sz="1800" b="0" dirty="0">
              <a:latin typeface="微软雅黑" panose="020B0503020204020204" pitchFamily="34" charset="-122"/>
              <a:ea typeface="微软雅黑" panose="020B0503020204020204" pitchFamily="34" charset="-122"/>
            </a:endParaRPr>
          </a:p>
          <a:p>
            <a:pPr marL="1200150" lvl="3" indent="-342900" eaLnBrk="1" hangingPunct="1">
              <a:lnSpc>
                <a:spcPct val="150000"/>
              </a:lnSpc>
              <a:buFont typeface="Arial" panose="020B0604020202020204" pitchFamily="34" charset="0"/>
              <a:buChar char="•"/>
            </a:pPr>
            <a:r>
              <a:rPr lang="zh-CN" altLang="en-US" sz="1800" b="0" dirty="0">
                <a:latin typeface="微软雅黑" panose="020B0503020204020204" pitchFamily="34" charset="-122"/>
                <a:ea typeface="微软雅黑" panose="020B0503020204020204" pitchFamily="34" charset="-122"/>
              </a:rPr>
              <a:t>小厂商价格领袖制</a:t>
            </a:r>
            <a:endParaRPr lang="en-US" altLang="zh-CN" sz="1800" b="0" dirty="0">
              <a:latin typeface="微软雅黑" panose="020B0503020204020204" pitchFamily="34" charset="-122"/>
              <a:ea typeface="微软雅黑" panose="020B0503020204020204" pitchFamily="34" charset="-122"/>
            </a:endParaRPr>
          </a:p>
          <a:p>
            <a:pPr marL="1200150" lvl="3" indent="-342900" eaLnBrk="1" hangingPunct="1">
              <a:lnSpc>
                <a:spcPct val="150000"/>
              </a:lnSpc>
              <a:buFont typeface="Arial" panose="020B0604020202020204" pitchFamily="34" charset="0"/>
              <a:buChar char="•"/>
            </a:pPr>
            <a:r>
              <a:rPr lang="zh-CN" altLang="en-US" sz="1800" b="0" dirty="0">
                <a:latin typeface="微软雅黑" panose="020B0503020204020204" pitchFamily="34" charset="-122"/>
                <a:ea typeface="微软雅黑" panose="020B0503020204020204" pitchFamily="34" charset="-122"/>
              </a:rPr>
              <a:t>低成本厂商价格领袖制</a:t>
            </a:r>
            <a:endParaRPr lang="en-US" altLang="zh-CN" sz="1800" b="0" dirty="0">
              <a:latin typeface="微软雅黑" panose="020B0503020204020204" pitchFamily="34" charset="-122"/>
              <a:ea typeface="微软雅黑" panose="020B0503020204020204" pitchFamily="34" charset="-122"/>
            </a:endParaRPr>
          </a:p>
          <a:p>
            <a:pPr marL="1200150" lvl="3" indent="-342900" eaLnBrk="1" hangingPunct="1">
              <a:lnSpc>
                <a:spcPct val="150000"/>
              </a:lnSpc>
              <a:buFont typeface="Arial" panose="020B0604020202020204" pitchFamily="34" charset="0"/>
              <a:buChar char="•"/>
            </a:pPr>
            <a:r>
              <a:rPr lang="en-US" altLang="zh-CN" sz="1800" b="0" dirty="0"/>
              <a:t>……</a:t>
            </a:r>
          </a:p>
          <a:p>
            <a:pPr marL="857250" lvl="3" indent="0" eaLnBrk="1" hangingPunct="1">
              <a:lnSpc>
                <a:spcPct val="150000"/>
              </a:lnSpc>
              <a:buNone/>
            </a:pPr>
            <a:endParaRPr lang="en-US" altLang="zh-CN" sz="1800" b="0" dirty="0">
              <a:latin typeface="微软雅黑" panose="020B0503020204020204" pitchFamily="34" charset="-122"/>
              <a:ea typeface="微软雅黑" panose="020B0503020204020204" pitchFamily="34" charset="-122"/>
            </a:endParaRPr>
          </a:p>
          <a:p>
            <a:pPr marL="342900" lvl="2" indent="-342900" eaLnBrk="1" hangingPunct="1">
              <a:spcBef>
                <a:spcPct val="40000"/>
              </a:spcBef>
              <a:buFont typeface="Arial" panose="020B0604020202020204" pitchFamily="34" charset="0"/>
              <a:buChar char="•"/>
            </a:pPr>
            <a:endParaRPr lang="en-US" altLang="zh-CN" b="0" dirty="0"/>
          </a:p>
          <a:p>
            <a:pPr marL="342900" lvl="2" indent="-342900" eaLnBrk="1" hangingPunct="1">
              <a:spcBef>
                <a:spcPct val="40000"/>
              </a:spcBef>
              <a:buFont typeface="Arial" panose="020B0604020202020204" pitchFamily="34" charset="0"/>
              <a:buChar char="•"/>
            </a:pPr>
            <a:endParaRPr lang="en-US" altLang="zh-CN" b="0" dirty="0"/>
          </a:p>
        </p:txBody>
      </p:sp>
      <p:sp>
        <p:nvSpPr>
          <p:cNvPr id="4" name="矩形 3"/>
          <p:cNvSpPr/>
          <p:nvPr/>
        </p:nvSpPr>
        <p:spPr>
          <a:xfrm>
            <a:off x="7543092" y="44765"/>
            <a:ext cx="1600908" cy="369332"/>
          </a:xfrm>
          <a:prstGeom prst="rect">
            <a:avLst/>
          </a:prstGeom>
        </p:spPr>
        <p:txBody>
          <a:bodyPr wrap="square">
            <a:spAutoFit/>
          </a:bodyPr>
          <a:lstStyle/>
          <a:p>
            <a:r>
              <a:rPr lang="zh-CN" altLang="en-US" sz="1800" b="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第三节  寡头</a:t>
            </a:r>
            <a:endParaRPr lang="zh-CN" altLang="en-US" sz="18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 name="矩形 4">
            <a:extLst>
              <a:ext uri="{FF2B5EF4-FFF2-40B4-BE49-F238E27FC236}">
                <a16:creationId xmlns:a16="http://schemas.microsoft.com/office/drawing/2014/main" id="{F68E5273-CD77-47B9-B841-9D29349C133D}"/>
              </a:ext>
            </a:extLst>
          </p:cNvPr>
          <p:cNvSpPr/>
          <p:nvPr/>
        </p:nvSpPr>
        <p:spPr>
          <a:xfrm>
            <a:off x="457201" y="548681"/>
            <a:ext cx="3034724"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marL="0" lvl="1">
              <a:defRPr/>
            </a:pPr>
            <a:r>
              <a:rPr lang="zh-CN" altLang="en-US" sz="2400" spc="150" dirty="0">
                <a:solidFill>
                  <a:srgbClr val="FFFFFF"/>
                </a:solidFill>
                <a:latin typeface="微软雅黑" panose="020B0503020204020204" pitchFamily="34" charset="-122"/>
                <a:ea typeface="微软雅黑" panose="020B0503020204020204" pitchFamily="34" charset="-122"/>
              </a:rPr>
              <a:t>三</a:t>
            </a:r>
            <a:r>
              <a:rPr lang="zh-CN" altLang="en-US" sz="2400" b="1" spc="150" dirty="0">
                <a:solidFill>
                  <a:srgbClr val="FFFFFF"/>
                </a:solidFill>
                <a:latin typeface="微软雅黑" panose="020B0503020204020204" pitchFamily="34" charset="-122"/>
                <a:ea typeface="微软雅黑" panose="020B0503020204020204" pitchFamily="34" charset="-122"/>
              </a:rPr>
              <a:t>、</a:t>
            </a:r>
            <a:r>
              <a:rPr lang="zh-CN" altLang="en-US" sz="2400" spc="150" dirty="0">
                <a:solidFill>
                  <a:srgbClr val="FFFFFF"/>
                </a:solidFill>
                <a:latin typeface="微软雅黑" panose="020B0503020204020204" pitchFamily="34" charset="-122"/>
                <a:ea typeface="微软雅黑" panose="020B0503020204020204" pitchFamily="34" charset="-122"/>
              </a:rPr>
              <a:t>价格领袖模型</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9" fill="hold" nodeType="clickEffect">
                                  <p:stCondLst>
                                    <p:cond delay="0"/>
                                  </p:stCondLst>
                                  <p:childTnLst>
                                    <p:set>
                                      <p:cBhvr>
                                        <p:cTn id="6" dur="1" fill="hold">
                                          <p:stCondLst>
                                            <p:cond delay="0"/>
                                          </p:stCondLst>
                                        </p:cTn>
                                        <p:tgtEl>
                                          <p:spTgt spid="41986">
                                            <p:txEl>
                                              <p:pRg st="0" end="0"/>
                                            </p:txEl>
                                          </p:spTgt>
                                        </p:tgtEl>
                                        <p:attrNameLst>
                                          <p:attrName>style.visibility</p:attrName>
                                        </p:attrNameLst>
                                      </p:cBhvr>
                                      <p:to>
                                        <p:strVal val="visible"/>
                                      </p:to>
                                    </p:set>
                                    <p:anim calcmode="lin" valueType="num">
                                      <p:cBhvr>
                                        <p:cTn id="7" dur="500" fill="hold"/>
                                        <p:tgtEl>
                                          <p:spTgt spid="41986">
                                            <p:txEl>
                                              <p:pRg st="0" end="0"/>
                                            </p:txEl>
                                          </p:spTgt>
                                        </p:tgtEl>
                                        <p:attrNameLst>
                                          <p:attrName>ppt_x</p:attrName>
                                        </p:attrNameLst>
                                      </p:cBhvr>
                                      <p:tavLst>
                                        <p:tav tm="0">
                                          <p:val>
                                            <p:strVal val="0-#ppt_w/2"/>
                                          </p:val>
                                        </p:tav>
                                        <p:tav tm="100000">
                                          <p:val>
                                            <p:strVal val="#ppt_x"/>
                                          </p:val>
                                        </p:tav>
                                      </p:tavLst>
                                    </p:anim>
                                    <p:anim calcmode="lin" valueType="num">
                                      <p:cBhvr>
                                        <p:cTn id="8" dur="500" fill="hold"/>
                                        <p:tgtEl>
                                          <p:spTgt spid="41986">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9" fill="hold" nodeType="clickEffect">
                                  <p:stCondLst>
                                    <p:cond delay="0"/>
                                  </p:stCondLst>
                                  <p:childTnLst>
                                    <p:set>
                                      <p:cBhvr>
                                        <p:cTn id="12" dur="1" fill="hold">
                                          <p:stCondLst>
                                            <p:cond delay="0"/>
                                          </p:stCondLst>
                                        </p:cTn>
                                        <p:tgtEl>
                                          <p:spTgt spid="41986">
                                            <p:txEl>
                                              <p:pRg st="1" end="1"/>
                                            </p:txEl>
                                          </p:spTgt>
                                        </p:tgtEl>
                                        <p:attrNameLst>
                                          <p:attrName>style.visibility</p:attrName>
                                        </p:attrNameLst>
                                      </p:cBhvr>
                                      <p:to>
                                        <p:strVal val="visible"/>
                                      </p:to>
                                    </p:set>
                                    <p:anim calcmode="lin" valueType="num">
                                      <p:cBhvr>
                                        <p:cTn id="13" dur="500" fill="hold"/>
                                        <p:tgtEl>
                                          <p:spTgt spid="41986">
                                            <p:txEl>
                                              <p:pRg st="1" end="1"/>
                                            </p:txEl>
                                          </p:spTgt>
                                        </p:tgtEl>
                                        <p:attrNameLst>
                                          <p:attrName>ppt_x</p:attrName>
                                        </p:attrNameLst>
                                      </p:cBhvr>
                                      <p:tavLst>
                                        <p:tav tm="0">
                                          <p:val>
                                            <p:strVal val="0-#ppt_w/2"/>
                                          </p:val>
                                        </p:tav>
                                        <p:tav tm="100000">
                                          <p:val>
                                            <p:strVal val="#ppt_x"/>
                                          </p:val>
                                        </p:tav>
                                      </p:tavLst>
                                    </p:anim>
                                    <p:anim calcmode="lin" valueType="num">
                                      <p:cBhvr>
                                        <p:cTn id="14" dur="500" fill="hold"/>
                                        <p:tgtEl>
                                          <p:spTgt spid="41986">
                                            <p:txEl>
                                              <p:pRg st="1" end="1"/>
                                            </p:txEl>
                                          </p:spTgt>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9" fill="hold" nodeType="clickEffect">
                                  <p:stCondLst>
                                    <p:cond delay="0"/>
                                  </p:stCondLst>
                                  <p:childTnLst>
                                    <p:set>
                                      <p:cBhvr>
                                        <p:cTn id="18" dur="1" fill="hold">
                                          <p:stCondLst>
                                            <p:cond delay="0"/>
                                          </p:stCondLst>
                                        </p:cTn>
                                        <p:tgtEl>
                                          <p:spTgt spid="41986">
                                            <p:txEl>
                                              <p:pRg st="2" end="2"/>
                                            </p:txEl>
                                          </p:spTgt>
                                        </p:tgtEl>
                                        <p:attrNameLst>
                                          <p:attrName>style.visibility</p:attrName>
                                        </p:attrNameLst>
                                      </p:cBhvr>
                                      <p:to>
                                        <p:strVal val="visible"/>
                                      </p:to>
                                    </p:set>
                                    <p:anim calcmode="lin" valueType="num">
                                      <p:cBhvr>
                                        <p:cTn id="19" dur="500" fill="hold"/>
                                        <p:tgtEl>
                                          <p:spTgt spid="41986">
                                            <p:txEl>
                                              <p:pRg st="2" end="2"/>
                                            </p:txEl>
                                          </p:spTgt>
                                        </p:tgtEl>
                                        <p:attrNameLst>
                                          <p:attrName>ppt_x</p:attrName>
                                        </p:attrNameLst>
                                      </p:cBhvr>
                                      <p:tavLst>
                                        <p:tav tm="0">
                                          <p:val>
                                            <p:strVal val="0-#ppt_w/2"/>
                                          </p:val>
                                        </p:tav>
                                        <p:tav tm="100000">
                                          <p:val>
                                            <p:strVal val="#ppt_x"/>
                                          </p:val>
                                        </p:tav>
                                      </p:tavLst>
                                    </p:anim>
                                    <p:anim calcmode="lin" valueType="num">
                                      <p:cBhvr>
                                        <p:cTn id="20" dur="500" fill="hold"/>
                                        <p:tgtEl>
                                          <p:spTgt spid="41986">
                                            <p:txEl>
                                              <p:pRg st="2" end="2"/>
                                            </p:txEl>
                                          </p:spTgt>
                                        </p:tgtEl>
                                        <p:attrNameLst>
                                          <p:attrName>ppt_y</p:attrName>
                                        </p:attrNameLst>
                                      </p:cBhvr>
                                      <p:tavLst>
                                        <p:tav tm="0">
                                          <p:val>
                                            <p:strVal val="0-#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9" fill="hold" nodeType="clickEffect">
                                  <p:stCondLst>
                                    <p:cond delay="0"/>
                                  </p:stCondLst>
                                  <p:childTnLst>
                                    <p:set>
                                      <p:cBhvr>
                                        <p:cTn id="24" dur="1" fill="hold">
                                          <p:stCondLst>
                                            <p:cond delay="0"/>
                                          </p:stCondLst>
                                        </p:cTn>
                                        <p:tgtEl>
                                          <p:spTgt spid="41986">
                                            <p:txEl>
                                              <p:pRg st="3" end="3"/>
                                            </p:txEl>
                                          </p:spTgt>
                                        </p:tgtEl>
                                        <p:attrNameLst>
                                          <p:attrName>style.visibility</p:attrName>
                                        </p:attrNameLst>
                                      </p:cBhvr>
                                      <p:to>
                                        <p:strVal val="visible"/>
                                      </p:to>
                                    </p:set>
                                    <p:anim calcmode="lin" valueType="num">
                                      <p:cBhvr>
                                        <p:cTn id="25" dur="500" fill="hold"/>
                                        <p:tgtEl>
                                          <p:spTgt spid="41986">
                                            <p:txEl>
                                              <p:pRg st="3" end="3"/>
                                            </p:txEl>
                                          </p:spTgt>
                                        </p:tgtEl>
                                        <p:attrNameLst>
                                          <p:attrName>ppt_x</p:attrName>
                                        </p:attrNameLst>
                                      </p:cBhvr>
                                      <p:tavLst>
                                        <p:tav tm="0">
                                          <p:val>
                                            <p:strVal val="0-#ppt_w/2"/>
                                          </p:val>
                                        </p:tav>
                                        <p:tav tm="100000">
                                          <p:val>
                                            <p:strVal val="#ppt_x"/>
                                          </p:val>
                                        </p:tav>
                                      </p:tavLst>
                                    </p:anim>
                                    <p:anim calcmode="lin" valueType="num">
                                      <p:cBhvr>
                                        <p:cTn id="26" dur="500" fill="hold"/>
                                        <p:tgtEl>
                                          <p:spTgt spid="41986">
                                            <p:txEl>
                                              <p:pRg st="3" end="3"/>
                                            </p:txEl>
                                          </p:spTgt>
                                        </p:tgtEl>
                                        <p:attrNameLst>
                                          <p:attrName>ppt_y</p:attrName>
                                        </p:attrNameLst>
                                      </p:cBhvr>
                                      <p:tavLst>
                                        <p:tav tm="0">
                                          <p:val>
                                            <p:strVal val="0-#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9" fill="hold" nodeType="clickEffect">
                                  <p:stCondLst>
                                    <p:cond delay="0"/>
                                  </p:stCondLst>
                                  <p:childTnLst>
                                    <p:set>
                                      <p:cBhvr>
                                        <p:cTn id="30" dur="1" fill="hold">
                                          <p:stCondLst>
                                            <p:cond delay="0"/>
                                          </p:stCondLst>
                                        </p:cTn>
                                        <p:tgtEl>
                                          <p:spTgt spid="41986">
                                            <p:txEl>
                                              <p:pRg st="4" end="4"/>
                                            </p:txEl>
                                          </p:spTgt>
                                        </p:tgtEl>
                                        <p:attrNameLst>
                                          <p:attrName>style.visibility</p:attrName>
                                        </p:attrNameLst>
                                      </p:cBhvr>
                                      <p:to>
                                        <p:strVal val="visible"/>
                                      </p:to>
                                    </p:set>
                                    <p:anim calcmode="lin" valueType="num">
                                      <p:cBhvr>
                                        <p:cTn id="31" dur="500" fill="hold"/>
                                        <p:tgtEl>
                                          <p:spTgt spid="41986">
                                            <p:txEl>
                                              <p:pRg st="4" end="4"/>
                                            </p:txEl>
                                          </p:spTgt>
                                        </p:tgtEl>
                                        <p:attrNameLst>
                                          <p:attrName>ppt_x</p:attrName>
                                        </p:attrNameLst>
                                      </p:cBhvr>
                                      <p:tavLst>
                                        <p:tav tm="0">
                                          <p:val>
                                            <p:strVal val="0-#ppt_w/2"/>
                                          </p:val>
                                        </p:tav>
                                        <p:tav tm="100000">
                                          <p:val>
                                            <p:strVal val="#ppt_x"/>
                                          </p:val>
                                        </p:tav>
                                      </p:tavLst>
                                    </p:anim>
                                    <p:anim calcmode="lin" valueType="num">
                                      <p:cBhvr>
                                        <p:cTn id="32" dur="500" fill="hold"/>
                                        <p:tgtEl>
                                          <p:spTgt spid="41986">
                                            <p:txEl>
                                              <p:pRg st="4" end="4"/>
                                            </p:txEl>
                                          </p:spTgt>
                                        </p:tgtEl>
                                        <p:attrNameLst>
                                          <p:attrName>ppt_y</p:attrName>
                                        </p:attrNameLst>
                                      </p:cBhvr>
                                      <p:tavLst>
                                        <p:tav tm="0">
                                          <p:val>
                                            <p:strVal val="0-#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9" fill="hold" nodeType="clickEffect">
                                  <p:stCondLst>
                                    <p:cond delay="0"/>
                                  </p:stCondLst>
                                  <p:childTnLst>
                                    <p:set>
                                      <p:cBhvr>
                                        <p:cTn id="36" dur="1" fill="hold">
                                          <p:stCondLst>
                                            <p:cond delay="0"/>
                                          </p:stCondLst>
                                        </p:cTn>
                                        <p:tgtEl>
                                          <p:spTgt spid="41986">
                                            <p:txEl>
                                              <p:pRg st="5" end="5"/>
                                            </p:txEl>
                                          </p:spTgt>
                                        </p:tgtEl>
                                        <p:attrNameLst>
                                          <p:attrName>style.visibility</p:attrName>
                                        </p:attrNameLst>
                                      </p:cBhvr>
                                      <p:to>
                                        <p:strVal val="visible"/>
                                      </p:to>
                                    </p:set>
                                    <p:anim calcmode="lin" valueType="num">
                                      <p:cBhvr>
                                        <p:cTn id="37" dur="500" fill="hold"/>
                                        <p:tgtEl>
                                          <p:spTgt spid="41986">
                                            <p:txEl>
                                              <p:pRg st="5" end="5"/>
                                            </p:txEl>
                                          </p:spTgt>
                                        </p:tgtEl>
                                        <p:attrNameLst>
                                          <p:attrName>ppt_x</p:attrName>
                                        </p:attrNameLst>
                                      </p:cBhvr>
                                      <p:tavLst>
                                        <p:tav tm="0">
                                          <p:val>
                                            <p:strVal val="0-#ppt_w/2"/>
                                          </p:val>
                                        </p:tav>
                                        <p:tav tm="100000">
                                          <p:val>
                                            <p:strVal val="#ppt_x"/>
                                          </p:val>
                                        </p:tav>
                                      </p:tavLst>
                                    </p:anim>
                                    <p:anim calcmode="lin" valueType="num">
                                      <p:cBhvr>
                                        <p:cTn id="38" dur="500" fill="hold"/>
                                        <p:tgtEl>
                                          <p:spTgt spid="41986">
                                            <p:txEl>
                                              <p:pRg st="5" end="5"/>
                                            </p:txEl>
                                          </p:spTgt>
                                        </p:tgtEl>
                                        <p:attrNameLst>
                                          <p:attrName>ppt_y</p:attrName>
                                        </p:attrNameLst>
                                      </p:cBhvr>
                                      <p:tavLst>
                                        <p:tav tm="0">
                                          <p:val>
                                            <p:strVal val="0-#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9" fill="hold" nodeType="clickEffect">
                                  <p:stCondLst>
                                    <p:cond delay="0"/>
                                  </p:stCondLst>
                                  <p:childTnLst>
                                    <p:set>
                                      <p:cBhvr>
                                        <p:cTn id="42" dur="1" fill="hold">
                                          <p:stCondLst>
                                            <p:cond delay="0"/>
                                          </p:stCondLst>
                                        </p:cTn>
                                        <p:tgtEl>
                                          <p:spTgt spid="41986">
                                            <p:txEl>
                                              <p:pRg st="6" end="6"/>
                                            </p:txEl>
                                          </p:spTgt>
                                        </p:tgtEl>
                                        <p:attrNameLst>
                                          <p:attrName>style.visibility</p:attrName>
                                        </p:attrNameLst>
                                      </p:cBhvr>
                                      <p:to>
                                        <p:strVal val="visible"/>
                                      </p:to>
                                    </p:set>
                                    <p:anim calcmode="lin" valueType="num">
                                      <p:cBhvr>
                                        <p:cTn id="43" dur="500" fill="hold"/>
                                        <p:tgtEl>
                                          <p:spTgt spid="41986">
                                            <p:txEl>
                                              <p:pRg st="6" end="6"/>
                                            </p:txEl>
                                          </p:spTgt>
                                        </p:tgtEl>
                                        <p:attrNameLst>
                                          <p:attrName>ppt_x</p:attrName>
                                        </p:attrNameLst>
                                      </p:cBhvr>
                                      <p:tavLst>
                                        <p:tav tm="0">
                                          <p:val>
                                            <p:strVal val="0-#ppt_w/2"/>
                                          </p:val>
                                        </p:tav>
                                        <p:tav tm="100000">
                                          <p:val>
                                            <p:strVal val="#ppt_x"/>
                                          </p:val>
                                        </p:tav>
                                      </p:tavLst>
                                    </p:anim>
                                    <p:anim calcmode="lin" valueType="num">
                                      <p:cBhvr>
                                        <p:cTn id="44" dur="500" fill="hold"/>
                                        <p:tgtEl>
                                          <p:spTgt spid="41986">
                                            <p:txEl>
                                              <p:pRg st="6" end="6"/>
                                            </p:txEl>
                                          </p:spTgt>
                                        </p:tgtEl>
                                        <p:attrNameLst>
                                          <p:attrName>ppt_y</p:attrName>
                                        </p:attrNameLst>
                                      </p:cBhvr>
                                      <p:tavLst>
                                        <p:tav tm="0">
                                          <p:val>
                                            <p:strVal val="0-#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9" fill="hold" nodeType="clickEffect">
                                  <p:stCondLst>
                                    <p:cond delay="0"/>
                                  </p:stCondLst>
                                  <p:childTnLst>
                                    <p:set>
                                      <p:cBhvr>
                                        <p:cTn id="48" dur="1" fill="hold">
                                          <p:stCondLst>
                                            <p:cond delay="0"/>
                                          </p:stCondLst>
                                        </p:cTn>
                                        <p:tgtEl>
                                          <p:spTgt spid="41986">
                                            <p:txEl>
                                              <p:pRg st="7" end="7"/>
                                            </p:txEl>
                                          </p:spTgt>
                                        </p:tgtEl>
                                        <p:attrNameLst>
                                          <p:attrName>style.visibility</p:attrName>
                                        </p:attrNameLst>
                                      </p:cBhvr>
                                      <p:to>
                                        <p:strVal val="visible"/>
                                      </p:to>
                                    </p:set>
                                    <p:anim calcmode="lin" valueType="num">
                                      <p:cBhvr>
                                        <p:cTn id="49" dur="500" fill="hold"/>
                                        <p:tgtEl>
                                          <p:spTgt spid="41986">
                                            <p:txEl>
                                              <p:pRg st="7" end="7"/>
                                            </p:txEl>
                                          </p:spTgt>
                                        </p:tgtEl>
                                        <p:attrNameLst>
                                          <p:attrName>ppt_x</p:attrName>
                                        </p:attrNameLst>
                                      </p:cBhvr>
                                      <p:tavLst>
                                        <p:tav tm="0">
                                          <p:val>
                                            <p:strVal val="0-#ppt_w/2"/>
                                          </p:val>
                                        </p:tav>
                                        <p:tav tm="100000">
                                          <p:val>
                                            <p:strVal val="#ppt_x"/>
                                          </p:val>
                                        </p:tav>
                                      </p:tavLst>
                                    </p:anim>
                                    <p:anim calcmode="lin" valueType="num">
                                      <p:cBhvr>
                                        <p:cTn id="50" dur="500" fill="hold"/>
                                        <p:tgtEl>
                                          <p:spTgt spid="41986">
                                            <p:txEl>
                                              <p:pRg st="7" end="7"/>
                                            </p:txEl>
                                          </p:spTgt>
                                        </p:tgtEl>
                                        <p:attrNameLst>
                                          <p:attrName>ppt_y</p:attrName>
                                        </p:attrNameLst>
                                      </p:cBhvr>
                                      <p:tavLst>
                                        <p:tav tm="0">
                                          <p:val>
                                            <p:strVal val="0-#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9" fill="hold" nodeType="clickEffect">
                                  <p:stCondLst>
                                    <p:cond delay="0"/>
                                  </p:stCondLst>
                                  <p:childTnLst>
                                    <p:set>
                                      <p:cBhvr>
                                        <p:cTn id="54" dur="1" fill="hold">
                                          <p:stCondLst>
                                            <p:cond delay="0"/>
                                          </p:stCondLst>
                                        </p:cTn>
                                        <p:tgtEl>
                                          <p:spTgt spid="41986">
                                            <p:txEl>
                                              <p:pRg st="8" end="8"/>
                                            </p:txEl>
                                          </p:spTgt>
                                        </p:tgtEl>
                                        <p:attrNameLst>
                                          <p:attrName>style.visibility</p:attrName>
                                        </p:attrNameLst>
                                      </p:cBhvr>
                                      <p:to>
                                        <p:strVal val="visible"/>
                                      </p:to>
                                    </p:set>
                                    <p:anim calcmode="lin" valueType="num">
                                      <p:cBhvr>
                                        <p:cTn id="55" dur="500" fill="hold"/>
                                        <p:tgtEl>
                                          <p:spTgt spid="41986">
                                            <p:txEl>
                                              <p:pRg st="8" end="8"/>
                                            </p:txEl>
                                          </p:spTgt>
                                        </p:tgtEl>
                                        <p:attrNameLst>
                                          <p:attrName>ppt_x</p:attrName>
                                        </p:attrNameLst>
                                      </p:cBhvr>
                                      <p:tavLst>
                                        <p:tav tm="0">
                                          <p:val>
                                            <p:strVal val="0-#ppt_w/2"/>
                                          </p:val>
                                        </p:tav>
                                        <p:tav tm="100000">
                                          <p:val>
                                            <p:strVal val="#ppt_x"/>
                                          </p:val>
                                        </p:tav>
                                      </p:tavLst>
                                    </p:anim>
                                    <p:anim calcmode="lin" valueType="num">
                                      <p:cBhvr>
                                        <p:cTn id="56" dur="500" fill="hold"/>
                                        <p:tgtEl>
                                          <p:spTgt spid="41986">
                                            <p:txEl>
                                              <p:pRg st="8" end="8"/>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3"/>
          <p:cNvSpPr>
            <a:spLocks noGrp="1" noChangeArrowheads="1"/>
          </p:cNvSpPr>
          <p:nvPr>
            <p:ph type="body" idx="4294967295"/>
          </p:nvPr>
        </p:nvSpPr>
        <p:spPr>
          <a:xfrm>
            <a:off x="457200" y="1010347"/>
            <a:ext cx="8229600" cy="5226848"/>
          </a:xfrm>
          <a:ln/>
        </p:spPr>
        <p:txBody>
          <a:bodyPr/>
          <a:lstStyle/>
          <a:p>
            <a:pPr marL="457200" lvl="2" indent="-457200" eaLnBrk="1" hangingPunct="1">
              <a:lnSpc>
                <a:spcPct val="250000"/>
              </a:lnSpc>
              <a:buSzPct val="100000"/>
              <a:buFont typeface="Wingdings" panose="05000000000000000000" pitchFamily="2" charset="2"/>
              <a:buChar char="u"/>
            </a:pPr>
            <a:r>
              <a:rPr lang="zh-CN" altLang="en-US" sz="2200" b="0" dirty="0">
                <a:latin typeface="微软雅黑" panose="020B0503020204020204" pitchFamily="34" charset="-122"/>
                <a:ea typeface="微软雅黑" panose="020B0503020204020204" pitchFamily="34" charset="-122"/>
              </a:rPr>
              <a:t>支配型厂商价格领袖制</a:t>
            </a:r>
            <a:endParaRPr lang="en-US" altLang="zh-CN" sz="2200" b="0" dirty="0">
              <a:latin typeface="微软雅黑" panose="020B0503020204020204" pitchFamily="34" charset="-122"/>
              <a:ea typeface="微软雅黑" panose="020B0503020204020204" pitchFamily="34" charset="-122"/>
            </a:endParaRPr>
          </a:p>
          <a:p>
            <a:pPr marL="400050" lvl="2" indent="0" eaLnBrk="1" hangingPunct="1">
              <a:lnSpc>
                <a:spcPct val="150000"/>
              </a:lnSpc>
              <a:buNone/>
            </a:pPr>
            <a:r>
              <a:rPr lang="zh-CN" altLang="en-US" sz="2000" b="0" dirty="0">
                <a:latin typeface="微软雅黑" panose="020B0503020204020204" pitchFamily="34" charset="-122"/>
                <a:ea typeface="微软雅黑" panose="020B0503020204020204" pitchFamily="34" charset="-122"/>
              </a:rPr>
              <a:t>一般特点</a:t>
            </a:r>
            <a:endParaRPr lang="en-US" altLang="zh-CN" sz="2000" b="0" dirty="0">
              <a:latin typeface="微软雅黑" panose="020B0503020204020204" pitchFamily="34" charset="-122"/>
              <a:ea typeface="微软雅黑" panose="020B0503020204020204" pitchFamily="34" charset="-122"/>
            </a:endParaRPr>
          </a:p>
          <a:p>
            <a:pPr marL="742950" lvl="2" indent="-342900" eaLnBrk="1" hangingPunct="1">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rPr>
              <a:t>价格的决定由居支配地位的大企业作出</a:t>
            </a:r>
            <a:r>
              <a:rPr lang="en-US" altLang="zh-CN" sz="2000" b="0" dirty="0">
                <a:latin typeface="微软雅黑" panose="020B0503020204020204" pitchFamily="34" charset="-122"/>
                <a:ea typeface="微软雅黑" panose="020B0503020204020204" pitchFamily="34" charset="-122"/>
              </a:rPr>
              <a:t>, </a:t>
            </a:r>
            <a:r>
              <a:rPr lang="zh-CN" altLang="en-US" sz="2000" b="0" dirty="0">
                <a:latin typeface="微软雅黑" panose="020B0503020204020204" pitchFamily="34" charset="-122"/>
                <a:ea typeface="微软雅黑" panose="020B0503020204020204" pitchFamily="34" charset="-122"/>
              </a:rPr>
              <a:t>其他小企业则紧随其后</a:t>
            </a:r>
            <a:r>
              <a:rPr lang="en-US" altLang="zh-CN" sz="2000" b="0" dirty="0">
                <a:latin typeface="微软雅黑" panose="020B0503020204020204" pitchFamily="34" charset="-122"/>
                <a:ea typeface="微软雅黑" panose="020B0503020204020204" pitchFamily="34" charset="-122"/>
              </a:rPr>
              <a:t>, </a:t>
            </a:r>
            <a:r>
              <a:rPr lang="zh-CN" altLang="en-US" sz="2000" b="0" dirty="0">
                <a:latin typeface="微软雅黑" panose="020B0503020204020204" pitchFamily="34" charset="-122"/>
                <a:ea typeface="微软雅黑" panose="020B0503020204020204" pitchFamily="34" charset="-122"/>
              </a:rPr>
              <a:t>即跟随大企业同时和同等程度地改变价格。</a:t>
            </a:r>
            <a:endParaRPr lang="en-US" altLang="zh-CN" sz="2000" b="0" dirty="0">
              <a:latin typeface="微软雅黑" panose="020B0503020204020204" pitchFamily="34" charset="-122"/>
              <a:ea typeface="微软雅黑" panose="020B0503020204020204" pitchFamily="34" charset="-122"/>
            </a:endParaRPr>
          </a:p>
          <a:p>
            <a:pPr marL="742950" lvl="2" indent="-342900" eaLnBrk="1" hangingPunct="1">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rPr>
              <a:t>大企业制定的价格不会过高</a:t>
            </a:r>
            <a:r>
              <a:rPr lang="en-US" altLang="zh-CN" sz="2000" b="0" dirty="0">
                <a:latin typeface="微软雅黑" panose="020B0503020204020204" pitchFamily="34" charset="-122"/>
                <a:ea typeface="微软雅黑" panose="020B0503020204020204" pitchFamily="34" charset="-122"/>
              </a:rPr>
              <a:t>, </a:t>
            </a:r>
            <a:r>
              <a:rPr lang="zh-CN" altLang="en-US" sz="2000" b="0" dirty="0">
                <a:latin typeface="微软雅黑" panose="020B0503020204020204" pitchFamily="34" charset="-122"/>
                <a:ea typeface="微软雅黑" panose="020B0503020204020204" pitchFamily="34" charset="-122"/>
              </a:rPr>
              <a:t>而小企业的生产能力又相对有限</a:t>
            </a:r>
            <a:r>
              <a:rPr lang="en-US" altLang="zh-CN" sz="2000" b="0" dirty="0">
                <a:latin typeface="微软雅黑" panose="020B0503020204020204" pitchFamily="34" charset="-122"/>
                <a:ea typeface="微软雅黑" panose="020B0503020204020204" pitchFamily="34" charset="-122"/>
              </a:rPr>
              <a:t>, </a:t>
            </a:r>
            <a:r>
              <a:rPr lang="zh-CN" altLang="en-US" sz="2000" b="0" dirty="0">
                <a:latin typeface="微软雅黑" panose="020B0503020204020204" pitchFamily="34" charset="-122"/>
                <a:ea typeface="微软雅黑" panose="020B0503020204020204" pitchFamily="34" charset="-122"/>
              </a:rPr>
              <a:t>不能够完全满足市场的需要。</a:t>
            </a:r>
            <a:endParaRPr lang="en-US" altLang="zh-CN" sz="2000" b="0" dirty="0">
              <a:latin typeface="微软雅黑" panose="020B0503020204020204" pitchFamily="34" charset="-122"/>
              <a:ea typeface="微软雅黑" panose="020B0503020204020204" pitchFamily="34" charset="-122"/>
            </a:endParaRPr>
          </a:p>
          <a:p>
            <a:pPr marL="742950" lvl="2" indent="-342900" eaLnBrk="1" hangingPunct="1">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rPr>
              <a:t>价格一旦确定，其他小企业按此充分供给</a:t>
            </a:r>
            <a:r>
              <a:rPr lang="en-US" altLang="zh-CN" sz="2000" b="0" dirty="0">
                <a:latin typeface="微软雅黑" panose="020B0503020204020204" pitchFamily="34" charset="-122"/>
                <a:ea typeface="微软雅黑" panose="020B0503020204020204" pitchFamily="34" charset="-122"/>
                <a:sym typeface="Wingdings" panose="05000000000000000000" pitchFamily="2" charset="2"/>
              </a:rPr>
              <a:t></a:t>
            </a:r>
            <a:r>
              <a:rPr lang="zh-CN" altLang="en-US" sz="2000" b="0" dirty="0">
                <a:latin typeface="微软雅黑" panose="020B0503020204020204" pitchFamily="34" charset="-122"/>
                <a:ea typeface="微软雅黑" panose="020B0503020204020204" pitchFamily="34" charset="-122"/>
              </a:rPr>
              <a:t>大企业提供提供市场需要的剩余部分</a:t>
            </a:r>
            <a:r>
              <a:rPr lang="en-US" altLang="zh-CN" sz="2000" b="0" dirty="0">
                <a:latin typeface="微软雅黑" panose="020B0503020204020204" pitchFamily="34" charset="-122"/>
                <a:ea typeface="微软雅黑" panose="020B0503020204020204" pitchFamily="34" charset="-122"/>
                <a:sym typeface="Wingdings" panose="05000000000000000000" pitchFamily="2" charset="2"/>
              </a:rPr>
              <a:t></a:t>
            </a:r>
            <a:r>
              <a:rPr lang="zh-CN" altLang="en-US" sz="2000" b="0" dirty="0">
                <a:latin typeface="微软雅黑" panose="020B0503020204020204" pitchFamily="34" charset="-122"/>
                <a:ea typeface="微软雅黑" panose="020B0503020204020204" pitchFamily="34" charset="-122"/>
                <a:sym typeface="Wingdings" panose="05000000000000000000" pitchFamily="2" charset="2"/>
              </a:rPr>
              <a:t>大企业必须做出准确的计算</a:t>
            </a:r>
            <a:endParaRPr lang="en-US" altLang="zh-CN" sz="2000" b="0" dirty="0">
              <a:latin typeface="微软雅黑" panose="020B0503020204020204" pitchFamily="34" charset="-122"/>
              <a:ea typeface="微软雅黑" panose="020B0503020204020204" pitchFamily="34" charset="-122"/>
              <a:sym typeface="Wingdings" panose="05000000000000000000" pitchFamily="2" charset="2"/>
            </a:endParaRPr>
          </a:p>
          <a:p>
            <a:pPr marL="742950" lvl="2" indent="-342900" eaLnBrk="1" hangingPunct="1">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sym typeface="Wingdings" panose="05000000000000000000" pitchFamily="2" charset="2"/>
              </a:rPr>
              <a:t>定价方式是博弈论中的序贯博弈，用回溯推理求解</a:t>
            </a:r>
            <a:endParaRPr lang="en-US" altLang="zh-CN" sz="2000" b="0" dirty="0">
              <a:latin typeface="微软雅黑" panose="020B0503020204020204" pitchFamily="34" charset="-122"/>
              <a:ea typeface="微软雅黑" panose="020B0503020204020204" pitchFamily="34" charset="-122"/>
              <a:sym typeface="Wingdings" panose="05000000000000000000" pitchFamily="2" charset="2"/>
            </a:endParaRPr>
          </a:p>
          <a:p>
            <a:pPr marL="742950" lvl="2" indent="-342900" eaLnBrk="1" hangingPunct="1">
              <a:buFont typeface="Wingdings" panose="05000000000000000000" pitchFamily="2" charset="2"/>
              <a:buChar char="Ø"/>
            </a:pPr>
            <a:endParaRPr lang="en-US" altLang="zh-CN" sz="2000" b="0" dirty="0">
              <a:latin typeface="微软雅黑" panose="020B0503020204020204" pitchFamily="34" charset="-122"/>
              <a:ea typeface="微软雅黑" panose="020B0503020204020204" pitchFamily="34" charset="-122"/>
              <a:sym typeface="Wingdings" panose="05000000000000000000" pitchFamily="2" charset="2"/>
            </a:endParaRPr>
          </a:p>
          <a:p>
            <a:pPr marL="0" lvl="1" indent="0" algn="ctr" eaLnBrk="1" hangingPunct="1">
              <a:spcBef>
                <a:spcPct val="40000"/>
              </a:spcBef>
              <a:buNone/>
            </a:pPr>
            <a:r>
              <a:rPr lang="zh-CN" altLang="en-US" sz="2000" b="0" dirty="0">
                <a:latin typeface="微软雅黑" panose="020B0503020204020204" pitchFamily="34" charset="-122"/>
                <a:ea typeface="微软雅黑" panose="020B0503020204020204" pitchFamily="34" charset="-122"/>
                <a:sym typeface="Wingdings" panose="05000000000000000000" pitchFamily="2" charset="2"/>
              </a:rPr>
              <a:t>大厂商定价</a:t>
            </a:r>
            <a:r>
              <a:rPr lang="en-US" altLang="zh-CN" sz="2000" b="0" dirty="0">
                <a:latin typeface="微软雅黑" panose="020B0503020204020204" pitchFamily="34" charset="-122"/>
                <a:ea typeface="微软雅黑" panose="020B0503020204020204" pitchFamily="34" charset="-122"/>
                <a:sym typeface="Wingdings" panose="05000000000000000000" pitchFamily="2" charset="2"/>
              </a:rPr>
              <a:t></a:t>
            </a:r>
            <a:r>
              <a:rPr lang="zh-CN" altLang="en-US" sz="2000" b="0" dirty="0">
                <a:latin typeface="微软雅黑" panose="020B0503020204020204" pitchFamily="34" charset="-122"/>
                <a:ea typeface="微软雅黑" panose="020B0503020204020204" pitchFamily="34" charset="-122"/>
                <a:sym typeface="Wingdings" panose="05000000000000000000" pitchFamily="2" charset="2"/>
              </a:rPr>
              <a:t>小厂商跟随</a:t>
            </a:r>
            <a:endParaRPr lang="en-US" altLang="zh-CN" sz="2000" b="0" dirty="0">
              <a:latin typeface="微软雅黑" panose="020B0503020204020204" pitchFamily="34" charset="-122"/>
              <a:ea typeface="微软雅黑" panose="020B0503020204020204" pitchFamily="34" charset="-122"/>
              <a:sym typeface="Wingdings" panose="05000000000000000000" pitchFamily="2" charset="2"/>
            </a:endParaRPr>
          </a:p>
          <a:p>
            <a:pPr marL="0" lvl="1" indent="0" algn="ctr" eaLnBrk="1" hangingPunct="1">
              <a:spcBef>
                <a:spcPct val="40000"/>
              </a:spcBef>
              <a:buNone/>
            </a:pPr>
            <a:r>
              <a:rPr lang="zh-CN" altLang="en-US" sz="2000" b="0" dirty="0">
                <a:latin typeface="微软雅黑" panose="020B0503020204020204" pitchFamily="34" charset="-122"/>
                <a:ea typeface="微软雅黑" panose="020B0503020204020204" pitchFamily="34" charset="-122"/>
                <a:sym typeface="Wingdings" panose="05000000000000000000" pitchFamily="2" charset="2"/>
              </a:rPr>
              <a:t>大厂商定价时必须考虑这种跟随</a:t>
            </a:r>
            <a:endParaRPr lang="zh-CN" altLang="en-US" sz="2000" b="0" dirty="0">
              <a:latin typeface="微软雅黑" panose="020B0503020204020204" pitchFamily="34" charset="-122"/>
              <a:ea typeface="微软雅黑" panose="020B0503020204020204" pitchFamily="34" charset="-122"/>
            </a:endParaRPr>
          </a:p>
        </p:txBody>
      </p:sp>
      <p:sp>
        <p:nvSpPr>
          <p:cNvPr id="4" name="矩形 3"/>
          <p:cNvSpPr/>
          <p:nvPr/>
        </p:nvSpPr>
        <p:spPr>
          <a:xfrm>
            <a:off x="7543092" y="44765"/>
            <a:ext cx="1600908" cy="369332"/>
          </a:xfrm>
          <a:prstGeom prst="rect">
            <a:avLst/>
          </a:prstGeom>
        </p:spPr>
        <p:txBody>
          <a:bodyPr wrap="square">
            <a:spAutoFit/>
          </a:bodyPr>
          <a:lstStyle/>
          <a:p>
            <a:r>
              <a:rPr lang="zh-CN" altLang="en-US" sz="1800" b="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第三节  寡头</a:t>
            </a:r>
            <a:endParaRPr lang="zh-CN" altLang="en-US" sz="18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 name="矩形 4">
            <a:extLst>
              <a:ext uri="{FF2B5EF4-FFF2-40B4-BE49-F238E27FC236}">
                <a16:creationId xmlns:a16="http://schemas.microsoft.com/office/drawing/2014/main" id="{F68E5273-CD77-47B9-B841-9D29349C133D}"/>
              </a:ext>
            </a:extLst>
          </p:cNvPr>
          <p:cNvSpPr/>
          <p:nvPr/>
        </p:nvSpPr>
        <p:spPr>
          <a:xfrm>
            <a:off x="457201" y="548681"/>
            <a:ext cx="3034724"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marL="0" lvl="1">
              <a:defRPr/>
            </a:pPr>
            <a:r>
              <a:rPr lang="zh-CN" altLang="en-US" sz="2400" spc="150" dirty="0">
                <a:solidFill>
                  <a:srgbClr val="FFFFFF"/>
                </a:solidFill>
                <a:latin typeface="微软雅黑" panose="020B0503020204020204" pitchFamily="34" charset="-122"/>
                <a:ea typeface="微软雅黑" panose="020B0503020204020204" pitchFamily="34" charset="-122"/>
              </a:rPr>
              <a:t>三</a:t>
            </a:r>
            <a:r>
              <a:rPr lang="zh-CN" altLang="en-US" sz="2400" b="1" spc="150" dirty="0">
                <a:solidFill>
                  <a:srgbClr val="FFFFFF"/>
                </a:solidFill>
                <a:latin typeface="微软雅黑" panose="020B0503020204020204" pitchFamily="34" charset="-122"/>
                <a:ea typeface="微软雅黑" panose="020B0503020204020204" pitchFamily="34" charset="-122"/>
              </a:rPr>
              <a:t>、</a:t>
            </a:r>
            <a:r>
              <a:rPr lang="zh-CN" altLang="en-US" sz="2400" spc="150" dirty="0">
                <a:solidFill>
                  <a:srgbClr val="FFFFFF"/>
                </a:solidFill>
                <a:latin typeface="微软雅黑" panose="020B0503020204020204" pitchFamily="34" charset="-122"/>
                <a:ea typeface="微软雅黑" panose="020B0503020204020204" pitchFamily="34" charset="-122"/>
              </a:rPr>
              <a:t>价格领袖模型</a:t>
            </a:r>
          </a:p>
        </p:txBody>
      </p:sp>
    </p:spTree>
    <p:extLst>
      <p:ext uri="{BB962C8B-B14F-4D97-AF65-F5344CB8AC3E}">
        <p14:creationId xmlns:p14="http://schemas.microsoft.com/office/powerpoint/2010/main" val="2156193170"/>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9" fill="hold" nodeType="clickEffect">
                                  <p:stCondLst>
                                    <p:cond delay="0"/>
                                  </p:stCondLst>
                                  <p:childTnLst>
                                    <p:set>
                                      <p:cBhvr>
                                        <p:cTn id="6" dur="1" fill="hold">
                                          <p:stCondLst>
                                            <p:cond delay="0"/>
                                          </p:stCondLst>
                                        </p:cTn>
                                        <p:tgtEl>
                                          <p:spTgt spid="41986">
                                            <p:txEl>
                                              <p:pRg st="0" end="0"/>
                                            </p:txEl>
                                          </p:spTgt>
                                        </p:tgtEl>
                                        <p:attrNameLst>
                                          <p:attrName>style.visibility</p:attrName>
                                        </p:attrNameLst>
                                      </p:cBhvr>
                                      <p:to>
                                        <p:strVal val="visible"/>
                                      </p:to>
                                    </p:set>
                                    <p:anim calcmode="lin" valueType="num">
                                      <p:cBhvr>
                                        <p:cTn id="7" dur="500" fill="hold"/>
                                        <p:tgtEl>
                                          <p:spTgt spid="41986">
                                            <p:txEl>
                                              <p:pRg st="0" end="0"/>
                                            </p:txEl>
                                          </p:spTgt>
                                        </p:tgtEl>
                                        <p:attrNameLst>
                                          <p:attrName>ppt_x</p:attrName>
                                        </p:attrNameLst>
                                      </p:cBhvr>
                                      <p:tavLst>
                                        <p:tav tm="0">
                                          <p:val>
                                            <p:strVal val="0-#ppt_w/2"/>
                                          </p:val>
                                        </p:tav>
                                        <p:tav tm="100000">
                                          <p:val>
                                            <p:strVal val="#ppt_x"/>
                                          </p:val>
                                        </p:tav>
                                      </p:tavLst>
                                    </p:anim>
                                    <p:anim calcmode="lin" valueType="num">
                                      <p:cBhvr>
                                        <p:cTn id="8" dur="500" fill="hold"/>
                                        <p:tgtEl>
                                          <p:spTgt spid="41986">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41986">
                                            <p:txEl>
                                              <p:pRg st="1" end="1"/>
                                            </p:txEl>
                                          </p:spTgt>
                                        </p:tgtEl>
                                        <p:attrNameLst>
                                          <p:attrName>style.visibility</p:attrName>
                                        </p:attrNameLst>
                                      </p:cBhvr>
                                      <p:to>
                                        <p:strVal val="visible"/>
                                      </p:to>
                                    </p:set>
                                    <p:animEffect transition="in" filter="blinds(horizontal)">
                                      <p:cBhvr>
                                        <p:cTn id="13" dur="500"/>
                                        <p:tgtEl>
                                          <p:spTgt spid="41986">
                                            <p:txEl>
                                              <p:pRg st="1" end="1"/>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41986">
                                            <p:txEl>
                                              <p:pRg st="2" end="2"/>
                                            </p:txEl>
                                          </p:spTgt>
                                        </p:tgtEl>
                                        <p:attrNameLst>
                                          <p:attrName>style.visibility</p:attrName>
                                        </p:attrNameLst>
                                      </p:cBhvr>
                                      <p:to>
                                        <p:strVal val="visible"/>
                                      </p:to>
                                    </p:set>
                                    <p:animEffect>
                                      <p:cBhvr>
                                        <p:cTn id="18" dur="500"/>
                                        <p:tgtEl>
                                          <p:spTgt spid="41986">
                                            <p:txEl>
                                              <p:pRg st="2" end="2"/>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41986">
                                            <p:txEl>
                                              <p:pRg st="3" end="3"/>
                                            </p:txEl>
                                          </p:spTgt>
                                        </p:tgtEl>
                                        <p:attrNameLst>
                                          <p:attrName>style.visibility</p:attrName>
                                        </p:attrNameLst>
                                      </p:cBhvr>
                                      <p:to>
                                        <p:strVal val="visible"/>
                                      </p:to>
                                    </p:set>
                                    <p:animEffect>
                                      <p:cBhvr>
                                        <p:cTn id="23" dur="500"/>
                                        <p:tgtEl>
                                          <p:spTgt spid="41986">
                                            <p:txEl>
                                              <p:pRg st="3" end="3"/>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nodeType="clickEffect">
                                  <p:stCondLst>
                                    <p:cond delay="0"/>
                                  </p:stCondLst>
                                  <p:childTnLst>
                                    <p:set>
                                      <p:cBhvr>
                                        <p:cTn id="27" dur="1" fill="hold">
                                          <p:stCondLst>
                                            <p:cond delay="0"/>
                                          </p:stCondLst>
                                        </p:cTn>
                                        <p:tgtEl>
                                          <p:spTgt spid="41986">
                                            <p:txEl>
                                              <p:pRg st="4" end="4"/>
                                            </p:txEl>
                                          </p:spTgt>
                                        </p:tgtEl>
                                        <p:attrNameLst>
                                          <p:attrName>style.visibility</p:attrName>
                                        </p:attrNameLst>
                                      </p:cBhvr>
                                      <p:to>
                                        <p:strVal val="visible"/>
                                      </p:to>
                                    </p:set>
                                    <p:animEffect>
                                      <p:cBhvr>
                                        <p:cTn id="28" dur="500"/>
                                        <p:tgtEl>
                                          <p:spTgt spid="41986">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41986">
                                            <p:txEl>
                                              <p:pRg st="5" end="5"/>
                                            </p:txEl>
                                          </p:spTgt>
                                        </p:tgtEl>
                                        <p:attrNameLst>
                                          <p:attrName>style.visibility</p:attrName>
                                        </p:attrNameLst>
                                      </p:cBhvr>
                                      <p:to>
                                        <p:strVal val="visible"/>
                                      </p:to>
                                    </p:set>
                                    <p:animEffect>
                                      <p:cBhvr>
                                        <p:cTn id="33" dur="500"/>
                                        <p:tgtEl>
                                          <p:spTgt spid="41986">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41986">
                                            <p:txEl>
                                              <p:pRg st="7" end="7"/>
                                            </p:txEl>
                                          </p:spTgt>
                                        </p:tgtEl>
                                        <p:attrNameLst>
                                          <p:attrName>style.visibility</p:attrName>
                                        </p:attrNameLst>
                                      </p:cBhvr>
                                      <p:to>
                                        <p:strVal val="visible"/>
                                      </p:to>
                                    </p:set>
                                    <p:animEffect>
                                      <p:cBhvr>
                                        <p:cTn id="38" dur="500"/>
                                        <p:tgtEl>
                                          <p:spTgt spid="41986">
                                            <p:txEl>
                                              <p:pRg st="7" end="7"/>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41986">
                                            <p:txEl>
                                              <p:pRg st="8" end="8"/>
                                            </p:txEl>
                                          </p:spTgt>
                                        </p:tgtEl>
                                        <p:attrNameLst>
                                          <p:attrName>style.visibility</p:attrName>
                                        </p:attrNameLst>
                                      </p:cBhvr>
                                      <p:to>
                                        <p:strVal val="visible"/>
                                      </p:to>
                                    </p:set>
                                    <p:animEffect>
                                      <p:cBhvr>
                                        <p:cTn id="43" dur="500"/>
                                        <p:tgtEl>
                                          <p:spTgt spid="4198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41" name="圆角矩形标注 34"/>
          <p:cNvSpPr>
            <a:spLocks noChangeArrowheads="1"/>
          </p:cNvSpPr>
          <p:nvPr/>
        </p:nvSpPr>
        <p:spPr bwMode="auto">
          <a:xfrm>
            <a:off x="357188" y="3929063"/>
            <a:ext cx="2071687" cy="1465262"/>
          </a:xfrm>
          <a:prstGeom prst="wedgeRoundRectCallout">
            <a:avLst>
              <a:gd name="adj1" fmla="val 137178"/>
              <a:gd name="adj2" fmla="val 22909"/>
              <a:gd name="adj3" fmla="val 16667"/>
            </a:avLst>
          </a:prstGeom>
          <a:solidFill>
            <a:schemeClr val="bg1"/>
          </a:solidFill>
          <a:ln>
            <a:solidFill>
              <a:srgbClr val="C00000"/>
            </a:solidFill>
          </a:ln>
        </p:spPr>
        <p:style>
          <a:lnRef idx="3">
            <a:schemeClr val="lt1"/>
          </a:lnRef>
          <a:fillRef idx="1">
            <a:schemeClr val="accent1"/>
          </a:fillRef>
          <a:effectRef idx="1">
            <a:schemeClr val="accent1"/>
          </a:effectRef>
          <a:fontRef idx="minor">
            <a:schemeClr val="lt1"/>
          </a:fontRef>
        </p:style>
        <p:txBody>
          <a:bodyPr>
            <a:spAutoFit/>
          </a:bodyPr>
          <a:lstStyle/>
          <a:p>
            <a:pPr algn="just"/>
            <a:r>
              <a:rPr lang="en-US" altLang="zh-CN" b="0">
                <a:solidFill>
                  <a:schemeClr val="tx1"/>
                </a:solidFill>
                <a:latin typeface="微软雅黑" panose="020B0503020204020204" pitchFamily="34" charset="-122"/>
                <a:ea typeface="微软雅黑" panose="020B0503020204020204" pitchFamily="34" charset="-122"/>
                <a:sym typeface="Arial" panose="020B0604020202020204" pitchFamily="34" charset="0"/>
              </a:rPr>
              <a:t>MR</a:t>
            </a:r>
            <a:r>
              <a:rPr lang="zh-CN" altLang="en-US" b="0">
                <a:solidFill>
                  <a:schemeClr val="tx1"/>
                </a:solidFill>
                <a:latin typeface="微软雅黑" panose="020B0503020204020204" pitchFamily="34" charset="-122"/>
                <a:ea typeface="微软雅黑" panose="020B0503020204020204" pitchFamily="34" charset="-122"/>
                <a:sym typeface="Arial" panose="020B0604020202020204" pitchFamily="34" charset="0"/>
              </a:rPr>
              <a:t>与</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MC</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的交点决定了支配性企业的利润最大化</a:t>
            </a:r>
            <a:r>
              <a:rPr lang="zh-CN" altLang="en-US" b="0">
                <a:solidFill>
                  <a:schemeClr val="tx1"/>
                </a:solidFill>
                <a:latin typeface="微软雅黑" panose="020B0503020204020204" pitchFamily="34" charset="-122"/>
                <a:ea typeface="微软雅黑" panose="020B0503020204020204" pitchFamily="34" charset="-122"/>
                <a:sym typeface="Arial" panose="020B0604020202020204" pitchFamily="34" charset="0"/>
              </a:rPr>
              <a:t>产量为</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Q*, </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相应的利润最大化</a:t>
            </a:r>
            <a:r>
              <a:rPr lang="zh-CN" altLang="en-US" b="0">
                <a:solidFill>
                  <a:schemeClr val="tx1"/>
                </a:solidFill>
                <a:latin typeface="微软雅黑" panose="020B0503020204020204" pitchFamily="34" charset="-122"/>
                <a:ea typeface="微软雅黑" panose="020B0503020204020204" pitchFamily="34" charset="-122"/>
                <a:sym typeface="Arial" panose="020B0604020202020204" pitchFamily="34" charset="0"/>
              </a:rPr>
              <a:t>价格为</a:t>
            </a:r>
            <a:r>
              <a:rPr lang="en-US" altLang="zh-CN" b="0">
                <a:solidFill>
                  <a:schemeClr val="tx1"/>
                </a:solidFill>
                <a:latin typeface="微软雅黑" panose="020B0503020204020204" pitchFamily="34" charset="-122"/>
                <a:ea typeface="微软雅黑" panose="020B0503020204020204" pitchFamily="34" charset="-122"/>
                <a:sym typeface="Arial" panose="020B0604020202020204" pitchFamily="34" charset="0"/>
              </a:rPr>
              <a:t>P</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0</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a:t>
            </a:r>
          </a:p>
        </p:txBody>
      </p:sp>
      <p:sp>
        <p:nvSpPr>
          <p:cNvPr id="43040" name="圆角矩形标注 33"/>
          <p:cNvSpPr>
            <a:spLocks noChangeArrowheads="1"/>
          </p:cNvSpPr>
          <p:nvPr/>
        </p:nvSpPr>
        <p:spPr bwMode="auto">
          <a:xfrm>
            <a:off x="6760370" y="4029869"/>
            <a:ext cx="2047874" cy="919162"/>
          </a:xfrm>
          <a:prstGeom prst="wedgeRoundRectCallout">
            <a:avLst>
              <a:gd name="adj1" fmla="val -90233"/>
              <a:gd name="adj2" fmla="val -14155"/>
              <a:gd name="adj3" fmla="val 16667"/>
            </a:avLst>
          </a:prstGeom>
          <a:solidFill>
            <a:schemeClr val="bg1"/>
          </a:solidFill>
          <a:ln>
            <a:solidFill>
              <a:srgbClr val="C00000"/>
            </a:solidFill>
          </a:ln>
        </p:spPr>
        <p:style>
          <a:lnRef idx="3">
            <a:schemeClr val="lt1"/>
          </a:lnRef>
          <a:fillRef idx="1">
            <a:schemeClr val="accent1"/>
          </a:fillRef>
          <a:effectRef idx="1">
            <a:schemeClr val="accent1"/>
          </a:effectRef>
          <a:fontRef idx="minor">
            <a:schemeClr val="lt1"/>
          </a:fontRef>
        </p:style>
        <p:txBody>
          <a:bodyPr>
            <a:spAutoFit/>
          </a:bodyPr>
          <a:lstStyle/>
          <a:p>
            <a:pPr algn="just"/>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D</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与</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S</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水平相减后得到的</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d</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是寡头企业面临的需求曲线。</a:t>
            </a:r>
          </a:p>
        </p:txBody>
      </p:sp>
      <p:sp>
        <p:nvSpPr>
          <p:cNvPr id="43038" name="圆角矩形标注 31"/>
          <p:cNvSpPr>
            <a:spLocks noChangeArrowheads="1"/>
          </p:cNvSpPr>
          <p:nvPr/>
        </p:nvSpPr>
        <p:spPr bwMode="auto">
          <a:xfrm>
            <a:off x="6121832" y="2254251"/>
            <a:ext cx="2714625" cy="920750"/>
          </a:xfrm>
          <a:prstGeom prst="wedgeRoundRectCallout">
            <a:avLst>
              <a:gd name="adj1" fmla="val -97287"/>
              <a:gd name="adj2" fmla="val 83019"/>
              <a:gd name="adj3" fmla="val 16667"/>
            </a:avLst>
          </a:prstGeom>
          <a:solidFill>
            <a:schemeClr val="bg1"/>
          </a:solidFill>
          <a:ln>
            <a:solidFill>
              <a:srgbClr val="C00000"/>
            </a:solidFill>
          </a:ln>
        </p:spPr>
        <p:style>
          <a:lnRef idx="3">
            <a:schemeClr val="lt1"/>
          </a:lnRef>
          <a:fillRef idx="1">
            <a:schemeClr val="accent1"/>
          </a:fillRef>
          <a:effectRef idx="1">
            <a:schemeClr val="accent1"/>
          </a:effectRef>
          <a:fontRef idx="minor">
            <a:schemeClr val="lt1"/>
          </a:fontRef>
        </p:style>
        <p:txBody>
          <a:bodyPr>
            <a:spAutoFit/>
          </a:bodyPr>
          <a:lstStyle/>
          <a:p>
            <a:pPr algn="just"/>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在每一价格水平上</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 D</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与</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S</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的水平差距是寡头企业准备提供的产量。</a:t>
            </a:r>
          </a:p>
        </p:txBody>
      </p:sp>
      <p:sp>
        <p:nvSpPr>
          <p:cNvPr id="43010" name="Rectangle 3"/>
          <p:cNvSpPr>
            <a:spLocks noGrp="1" noChangeArrowheads="1"/>
          </p:cNvSpPr>
          <p:nvPr>
            <p:ph type="body" idx="4294967295"/>
          </p:nvPr>
        </p:nvSpPr>
        <p:spPr>
          <a:xfrm>
            <a:off x="457200" y="908825"/>
            <a:ext cx="8229600" cy="926325"/>
          </a:xfrm>
          <a:ln/>
        </p:spPr>
        <p:txBody>
          <a:bodyPr/>
          <a:lstStyle/>
          <a:p>
            <a:pPr marL="457200" lvl="2" indent="-457200" eaLnBrk="1" hangingPunct="1">
              <a:lnSpc>
                <a:spcPct val="250000"/>
              </a:lnSpc>
              <a:buSzPct val="100000"/>
              <a:buFont typeface="Wingdings" panose="05000000000000000000" pitchFamily="2" charset="2"/>
              <a:buChar char="u"/>
            </a:pPr>
            <a:r>
              <a:rPr lang="zh-CN" altLang="en-US" sz="2200" b="0" dirty="0">
                <a:latin typeface="微软雅黑" panose="020B0503020204020204" pitchFamily="34" charset="-122"/>
                <a:ea typeface="微软雅黑" panose="020B0503020204020204" pitchFamily="34" charset="-122"/>
              </a:rPr>
              <a:t>寡头企业的需求曲线</a:t>
            </a:r>
            <a:endParaRPr lang="en-US" altLang="zh-CN" sz="2200" b="0" dirty="0">
              <a:latin typeface="微软雅黑" panose="020B0503020204020204" pitchFamily="34" charset="-122"/>
              <a:ea typeface="微软雅黑" panose="020B0503020204020204" pitchFamily="34" charset="-122"/>
            </a:endParaRPr>
          </a:p>
        </p:txBody>
      </p:sp>
      <p:sp>
        <p:nvSpPr>
          <p:cNvPr id="43011" name="Line 4"/>
          <p:cNvSpPr>
            <a:spLocks noChangeShapeType="1"/>
          </p:cNvSpPr>
          <p:nvPr/>
        </p:nvSpPr>
        <p:spPr bwMode="auto">
          <a:xfrm flipV="1">
            <a:off x="2728913" y="2538413"/>
            <a:ext cx="1587" cy="2884487"/>
          </a:xfrm>
          <a:prstGeom prst="line">
            <a:avLst/>
          </a:prstGeom>
          <a:noFill/>
          <a:ln w="9525" cmpd="sng">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43012" name="Line 5"/>
          <p:cNvSpPr>
            <a:spLocks noChangeShapeType="1"/>
          </p:cNvSpPr>
          <p:nvPr/>
        </p:nvSpPr>
        <p:spPr bwMode="auto">
          <a:xfrm>
            <a:off x="2728913" y="5422900"/>
            <a:ext cx="3865562" cy="1588"/>
          </a:xfrm>
          <a:prstGeom prst="line">
            <a:avLst/>
          </a:prstGeom>
          <a:noFill/>
          <a:ln w="9525" cmpd="sng">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43013" name="Text Box 6"/>
          <p:cNvSpPr>
            <a:spLocks noChangeArrowheads="1"/>
          </p:cNvSpPr>
          <p:nvPr/>
        </p:nvSpPr>
        <p:spPr bwMode="auto">
          <a:xfrm>
            <a:off x="2432050" y="2384425"/>
            <a:ext cx="41275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P</a:t>
            </a:r>
            <a:endParaRPr lang="zh-CN" altLang="en-US"/>
          </a:p>
        </p:txBody>
      </p:sp>
      <p:sp>
        <p:nvSpPr>
          <p:cNvPr id="43014" name="Text Box 7"/>
          <p:cNvSpPr>
            <a:spLocks noChangeArrowheads="1"/>
          </p:cNvSpPr>
          <p:nvPr/>
        </p:nvSpPr>
        <p:spPr bwMode="auto">
          <a:xfrm>
            <a:off x="2357438" y="5267325"/>
            <a:ext cx="319087"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O</a:t>
            </a:r>
            <a:endParaRPr lang="zh-CN" altLang="en-US"/>
          </a:p>
        </p:txBody>
      </p:sp>
      <p:sp>
        <p:nvSpPr>
          <p:cNvPr id="43015" name="Text Box 8"/>
          <p:cNvSpPr>
            <a:spLocks noChangeArrowheads="1"/>
          </p:cNvSpPr>
          <p:nvPr/>
        </p:nvSpPr>
        <p:spPr bwMode="auto">
          <a:xfrm>
            <a:off x="6521450" y="5346700"/>
            <a:ext cx="320675"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Q</a:t>
            </a:r>
            <a:endParaRPr lang="zh-CN" altLang="en-US"/>
          </a:p>
        </p:txBody>
      </p:sp>
      <p:sp>
        <p:nvSpPr>
          <p:cNvPr id="43016" name="Line 9"/>
          <p:cNvSpPr>
            <a:spLocks noChangeShapeType="1"/>
          </p:cNvSpPr>
          <p:nvPr/>
        </p:nvSpPr>
        <p:spPr bwMode="auto">
          <a:xfrm>
            <a:off x="4513263" y="2384425"/>
            <a:ext cx="1858962" cy="2105025"/>
          </a:xfrm>
          <a:prstGeom prst="line">
            <a:avLst/>
          </a:prstGeom>
          <a:noFill/>
          <a:ln w="28575" cmpd="sng">
            <a:solidFill>
              <a:srgbClr val="0070C0"/>
            </a:solidFill>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43017" name="Text Box 10"/>
          <p:cNvSpPr>
            <a:spLocks noChangeArrowheads="1"/>
          </p:cNvSpPr>
          <p:nvPr/>
        </p:nvSpPr>
        <p:spPr bwMode="auto">
          <a:xfrm>
            <a:off x="6000750" y="4410075"/>
            <a:ext cx="52070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d</a:t>
            </a:r>
            <a:endParaRPr lang="zh-CN" altLang="en-US"/>
          </a:p>
        </p:txBody>
      </p:sp>
      <p:sp>
        <p:nvSpPr>
          <p:cNvPr id="43018" name="Line 11"/>
          <p:cNvSpPr>
            <a:spLocks noChangeShapeType="1"/>
          </p:cNvSpPr>
          <p:nvPr/>
        </p:nvSpPr>
        <p:spPr bwMode="auto">
          <a:xfrm>
            <a:off x="2732088" y="2851150"/>
            <a:ext cx="2079625" cy="1871663"/>
          </a:xfrm>
          <a:prstGeom prst="line">
            <a:avLst/>
          </a:prstGeom>
          <a:noFill/>
          <a:ln w="28575" cmpd="sng">
            <a:solidFill>
              <a:srgbClr val="0070C0"/>
            </a:solidFill>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43019" name="Text Box 12"/>
          <p:cNvSpPr>
            <a:spLocks noChangeArrowheads="1"/>
          </p:cNvSpPr>
          <p:nvPr/>
        </p:nvSpPr>
        <p:spPr bwMode="auto">
          <a:xfrm>
            <a:off x="4798800" y="4701004"/>
            <a:ext cx="89058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dirty="0">
                <a:solidFill>
                  <a:srgbClr val="000000"/>
                </a:solidFill>
                <a:sym typeface="Arial" panose="020B0604020202020204" pitchFamily="34" charset="0"/>
              </a:rPr>
              <a:t>MR</a:t>
            </a:r>
            <a:endParaRPr lang="zh-CN" altLang="en-US" dirty="0"/>
          </a:p>
        </p:txBody>
      </p:sp>
      <p:sp>
        <p:nvSpPr>
          <p:cNvPr id="43020" name="Line 13"/>
          <p:cNvSpPr>
            <a:spLocks noChangeShapeType="1"/>
          </p:cNvSpPr>
          <p:nvPr/>
        </p:nvSpPr>
        <p:spPr bwMode="auto">
          <a:xfrm>
            <a:off x="2728913" y="2851150"/>
            <a:ext cx="3346450" cy="1638300"/>
          </a:xfrm>
          <a:prstGeom prst="line">
            <a:avLst/>
          </a:prstGeom>
          <a:noFill/>
          <a:ln w="28575" cmpd="sng">
            <a:solidFill>
              <a:srgbClr val="0070C0"/>
            </a:solidFill>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43021" name="Text Box 14"/>
          <p:cNvSpPr>
            <a:spLocks noChangeArrowheads="1"/>
          </p:cNvSpPr>
          <p:nvPr/>
        </p:nvSpPr>
        <p:spPr bwMode="auto">
          <a:xfrm>
            <a:off x="2357438" y="3397250"/>
            <a:ext cx="593725"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P</a:t>
            </a:r>
            <a:r>
              <a:rPr lang="zh-CN" altLang="en-US" sz="1000">
                <a:solidFill>
                  <a:srgbClr val="000000"/>
                </a:solidFill>
                <a:sym typeface="Arial" panose="020B0604020202020204" pitchFamily="34" charset="0"/>
              </a:rPr>
              <a:t>0</a:t>
            </a:r>
            <a:endParaRPr lang="zh-CN" altLang="en-US"/>
          </a:p>
        </p:txBody>
      </p:sp>
      <p:sp>
        <p:nvSpPr>
          <p:cNvPr id="43022" name="Text Box 15"/>
          <p:cNvSpPr>
            <a:spLocks noChangeArrowheads="1"/>
          </p:cNvSpPr>
          <p:nvPr/>
        </p:nvSpPr>
        <p:spPr bwMode="auto">
          <a:xfrm>
            <a:off x="4214813" y="2071688"/>
            <a:ext cx="6985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D</a:t>
            </a:r>
            <a:endParaRPr lang="zh-CN" altLang="en-US"/>
          </a:p>
        </p:txBody>
      </p:sp>
      <p:sp>
        <p:nvSpPr>
          <p:cNvPr id="43023" name="Line 16"/>
          <p:cNvSpPr>
            <a:spLocks noChangeShapeType="1"/>
          </p:cNvSpPr>
          <p:nvPr/>
        </p:nvSpPr>
        <p:spPr bwMode="auto">
          <a:xfrm>
            <a:off x="4067175" y="3632200"/>
            <a:ext cx="0" cy="1790700"/>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43024" name="Line 17"/>
          <p:cNvSpPr>
            <a:spLocks noChangeShapeType="1"/>
          </p:cNvSpPr>
          <p:nvPr/>
        </p:nvSpPr>
        <p:spPr bwMode="auto">
          <a:xfrm flipH="1">
            <a:off x="2728913" y="3632200"/>
            <a:ext cx="2900362" cy="0"/>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43025" name="Text Box 18"/>
          <p:cNvSpPr>
            <a:spLocks noChangeArrowheads="1"/>
          </p:cNvSpPr>
          <p:nvPr/>
        </p:nvSpPr>
        <p:spPr bwMode="auto">
          <a:xfrm>
            <a:off x="6223000" y="3317875"/>
            <a:ext cx="700088"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MC</a:t>
            </a:r>
            <a:endParaRPr lang="zh-CN" altLang="en-US"/>
          </a:p>
        </p:txBody>
      </p:sp>
      <p:sp>
        <p:nvSpPr>
          <p:cNvPr id="43026" name="Text Box 19"/>
          <p:cNvSpPr>
            <a:spLocks noChangeArrowheads="1"/>
          </p:cNvSpPr>
          <p:nvPr/>
        </p:nvSpPr>
        <p:spPr bwMode="auto">
          <a:xfrm>
            <a:off x="4214813" y="5422900"/>
            <a:ext cx="630237"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Q*</a:t>
            </a:r>
            <a:endParaRPr lang="zh-CN" altLang="en-US"/>
          </a:p>
        </p:txBody>
      </p:sp>
      <p:sp>
        <p:nvSpPr>
          <p:cNvPr id="43027" name="Line 20"/>
          <p:cNvSpPr>
            <a:spLocks noChangeShapeType="1"/>
          </p:cNvSpPr>
          <p:nvPr/>
        </p:nvSpPr>
        <p:spPr bwMode="auto">
          <a:xfrm>
            <a:off x="4365625" y="3632200"/>
            <a:ext cx="0" cy="1790700"/>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43028" name="Line 21"/>
          <p:cNvSpPr>
            <a:spLocks noChangeShapeType="1"/>
          </p:cNvSpPr>
          <p:nvPr/>
        </p:nvSpPr>
        <p:spPr bwMode="auto">
          <a:xfrm>
            <a:off x="5629275" y="3645015"/>
            <a:ext cx="0" cy="1790700"/>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43029" name="Line 22"/>
          <p:cNvSpPr>
            <a:spLocks noChangeShapeType="1"/>
          </p:cNvSpPr>
          <p:nvPr/>
        </p:nvSpPr>
        <p:spPr bwMode="auto">
          <a:xfrm flipV="1">
            <a:off x="3473450" y="2382838"/>
            <a:ext cx="1933575" cy="1793875"/>
          </a:xfrm>
          <a:prstGeom prst="line">
            <a:avLst/>
          </a:prstGeom>
          <a:noFill/>
          <a:ln w="28575" cmpd="sng">
            <a:solidFill>
              <a:srgbClr val="0070C0"/>
            </a:solidFill>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43030" name="Line 23"/>
          <p:cNvSpPr>
            <a:spLocks noChangeShapeType="1"/>
          </p:cNvSpPr>
          <p:nvPr/>
        </p:nvSpPr>
        <p:spPr bwMode="auto">
          <a:xfrm flipV="1">
            <a:off x="3470275" y="3552825"/>
            <a:ext cx="2752725" cy="1169988"/>
          </a:xfrm>
          <a:prstGeom prst="line">
            <a:avLst/>
          </a:prstGeom>
          <a:noFill/>
          <a:ln w="28575" cmpd="sng">
            <a:solidFill>
              <a:srgbClr val="0070C0"/>
            </a:solidFill>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43031" name="Line 24"/>
          <p:cNvSpPr>
            <a:spLocks noChangeShapeType="1"/>
          </p:cNvSpPr>
          <p:nvPr/>
        </p:nvSpPr>
        <p:spPr bwMode="auto">
          <a:xfrm>
            <a:off x="2728913" y="2851150"/>
            <a:ext cx="2155825" cy="1588"/>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43032" name="Text Box 25"/>
          <p:cNvSpPr>
            <a:spLocks noChangeArrowheads="1"/>
          </p:cNvSpPr>
          <p:nvPr/>
        </p:nvSpPr>
        <p:spPr bwMode="auto">
          <a:xfrm>
            <a:off x="5330825" y="2071688"/>
            <a:ext cx="31908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S</a:t>
            </a:r>
            <a:endParaRPr lang="zh-CN" altLang="en-US"/>
          </a:p>
        </p:txBody>
      </p:sp>
      <p:sp>
        <p:nvSpPr>
          <p:cNvPr id="43033" name="Text Box 26"/>
          <p:cNvSpPr>
            <a:spLocks noChangeArrowheads="1"/>
          </p:cNvSpPr>
          <p:nvPr/>
        </p:nvSpPr>
        <p:spPr bwMode="auto">
          <a:xfrm>
            <a:off x="3919538" y="5422900"/>
            <a:ext cx="468312"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Q</a:t>
            </a:r>
            <a:r>
              <a:rPr lang="zh-CN" altLang="en-US" sz="1000">
                <a:solidFill>
                  <a:srgbClr val="000000"/>
                </a:solidFill>
                <a:sym typeface="Arial" panose="020B0604020202020204" pitchFamily="34" charset="0"/>
              </a:rPr>
              <a:t>1</a:t>
            </a:r>
            <a:endParaRPr lang="zh-CN" altLang="en-US"/>
          </a:p>
        </p:txBody>
      </p:sp>
      <p:sp>
        <p:nvSpPr>
          <p:cNvPr id="43034" name="Text Box 27"/>
          <p:cNvSpPr>
            <a:spLocks noChangeArrowheads="1"/>
          </p:cNvSpPr>
          <p:nvPr/>
        </p:nvSpPr>
        <p:spPr bwMode="auto">
          <a:xfrm>
            <a:off x="5478463" y="5422900"/>
            <a:ext cx="466725"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Q</a:t>
            </a:r>
            <a:r>
              <a:rPr lang="zh-CN" altLang="en-US" sz="1000">
                <a:solidFill>
                  <a:srgbClr val="000000"/>
                </a:solidFill>
                <a:sym typeface="Arial" panose="020B0604020202020204" pitchFamily="34" charset="0"/>
              </a:rPr>
              <a:t>0</a:t>
            </a:r>
            <a:endParaRPr lang="zh-CN" altLang="en-US"/>
          </a:p>
        </p:txBody>
      </p:sp>
      <p:sp>
        <p:nvSpPr>
          <p:cNvPr id="43035" name="Text Box 28"/>
          <p:cNvSpPr>
            <a:spLocks noChangeArrowheads="1"/>
          </p:cNvSpPr>
          <p:nvPr/>
        </p:nvSpPr>
        <p:spPr bwMode="auto">
          <a:xfrm>
            <a:off x="2357438" y="2697163"/>
            <a:ext cx="407987"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P</a:t>
            </a:r>
            <a:r>
              <a:rPr lang="zh-CN" altLang="en-US" sz="1000">
                <a:solidFill>
                  <a:srgbClr val="000000"/>
                </a:solidFill>
                <a:sym typeface="Arial" panose="020B0604020202020204" pitchFamily="34" charset="0"/>
              </a:rPr>
              <a:t>1</a:t>
            </a:r>
            <a:endParaRPr lang="zh-CN" altLang="en-US"/>
          </a:p>
        </p:txBody>
      </p:sp>
      <p:sp>
        <p:nvSpPr>
          <p:cNvPr id="43036" name="圆角矩形标注 29"/>
          <p:cNvSpPr>
            <a:spLocks noChangeArrowheads="1"/>
          </p:cNvSpPr>
          <p:nvPr/>
        </p:nvSpPr>
        <p:spPr bwMode="auto">
          <a:xfrm>
            <a:off x="3967740" y="1511446"/>
            <a:ext cx="2006600" cy="374650"/>
          </a:xfrm>
          <a:prstGeom prst="wedgeRoundRectCallout">
            <a:avLst>
              <a:gd name="adj1" fmla="val -88931"/>
              <a:gd name="adj2" fmla="val 295319"/>
              <a:gd name="adj3" fmla="val 16667"/>
            </a:avLst>
          </a:prstGeom>
          <a:solidFill>
            <a:schemeClr val="bg1"/>
          </a:solidFill>
          <a:ln>
            <a:solidFill>
              <a:srgbClr val="C00000"/>
            </a:solidFill>
          </a:ln>
        </p:spPr>
        <p:style>
          <a:lnRef idx="3">
            <a:schemeClr val="lt1"/>
          </a:lnRef>
          <a:fillRef idx="1">
            <a:schemeClr val="accent1"/>
          </a:fillRef>
          <a:effectRef idx="1">
            <a:schemeClr val="accent1"/>
          </a:effectRef>
          <a:fontRef idx="minor">
            <a:schemeClr val="lt1"/>
          </a:fontRef>
        </p:style>
        <p:txBody>
          <a:bodyPr>
            <a:spAutoFit/>
          </a:bodyPr>
          <a:lstStyle/>
          <a:p>
            <a:pPr algn="just"/>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D</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代表市场需求曲线</a:t>
            </a:r>
          </a:p>
        </p:txBody>
      </p:sp>
      <p:sp>
        <p:nvSpPr>
          <p:cNvPr id="43037" name="圆角矩形标注 30"/>
          <p:cNvSpPr>
            <a:spLocks noChangeArrowheads="1"/>
          </p:cNvSpPr>
          <p:nvPr/>
        </p:nvSpPr>
        <p:spPr bwMode="auto">
          <a:xfrm>
            <a:off x="6187282" y="1508125"/>
            <a:ext cx="2620962" cy="374650"/>
          </a:xfrm>
          <a:prstGeom prst="wedgeRoundRectCallout">
            <a:avLst>
              <a:gd name="adj1" fmla="val -73444"/>
              <a:gd name="adj2" fmla="val 124495"/>
              <a:gd name="adj3" fmla="val 16667"/>
            </a:avLst>
          </a:prstGeom>
          <a:solidFill>
            <a:schemeClr val="bg1"/>
          </a:solidFill>
          <a:ln>
            <a:solidFill>
              <a:srgbClr val="C00000"/>
            </a:solidFill>
          </a:ln>
        </p:spPr>
        <p:style>
          <a:lnRef idx="3">
            <a:schemeClr val="lt1"/>
          </a:lnRef>
          <a:fillRef idx="1">
            <a:schemeClr val="accent1"/>
          </a:fillRef>
          <a:effectRef idx="1">
            <a:schemeClr val="accent1"/>
          </a:effectRef>
          <a:fontRef idx="minor">
            <a:schemeClr val="lt1"/>
          </a:fontRef>
        </p:style>
        <p:txBody>
          <a:bodyPr>
            <a:spAutoFit/>
          </a:bodyPr>
          <a:lstStyle/>
          <a:p>
            <a:pPr algn="just"/>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S</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是所有小企业的供给曲线</a:t>
            </a:r>
          </a:p>
        </p:txBody>
      </p:sp>
      <p:sp>
        <p:nvSpPr>
          <p:cNvPr id="43039" name="圆角矩形标注 32"/>
          <p:cNvSpPr>
            <a:spLocks noChangeArrowheads="1"/>
          </p:cNvSpPr>
          <p:nvPr/>
        </p:nvSpPr>
        <p:spPr bwMode="auto">
          <a:xfrm>
            <a:off x="214313" y="1857375"/>
            <a:ext cx="2143125" cy="2009775"/>
          </a:xfrm>
          <a:prstGeom prst="wedgeRoundRectCallout">
            <a:avLst>
              <a:gd name="adj1" fmla="val 63452"/>
              <a:gd name="adj2" fmla="val 29986"/>
              <a:gd name="adj3" fmla="val 16667"/>
            </a:avLst>
          </a:prstGeom>
          <a:solidFill>
            <a:schemeClr val="bg1"/>
          </a:solidFill>
          <a:ln>
            <a:solidFill>
              <a:srgbClr val="C00000"/>
            </a:solidFill>
          </a:ln>
        </p:spPr>
        <p:style>
          <a:lnRef idx="3">
            <a:schemeClr val="lt1"/>
          </a:lnRef>
          <a:fillRef idx="1">
            <a:schemeClr val="accent1"/>
          </a:fillRef>
          <a:effectRef idx="1">
            <a:schemeClr val="accent1"/>
          </a:effectRef>
          <a:fontRef idx="minor">
            <a:schemeClr val="lt1"/>
          </a:fontRef>
        </p:style>
        <p:txBody>
          <a:bodyPr>
            <a:spAutoFit/>
          </a:bodyPr>
          <a:lstStyle/>
          <a:p>
            <a:pPr algn="just"/>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当价格为</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P0</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时</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市场的需求量为</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Q0, </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所有小企业提供的总供给量为</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Q1, </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支配性企业面临的“剩余”需求量为</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(Q0-Q1)=Q*</a:t>
            </a:r>
            <a:endPar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35" name="矩形 34"/>
          <p:cNvSpPr/>
          <p:nvPr/>
        </p:nvSpPr>
        <p:spPr>
          <a:xfrm>
            <a:off x="7543092" y="44765"/>
            <a:ext cx="1600908" cy="369332"/>
          </a:xfrm>
          <a:prstGeom prst="rect">
            <a:avLst/>
          </a:prstGeom>
        </p:spPr>
        <p:txBody>
          <a:bodyPr wrap="square">
            <a:spAutoFit/>
          </a:bodyPr>
          <a:lstStyle/>
          <a:p>
            <a:r>
              <a:rPr lang="zh-CN" altLang="en-US" sz="1800" b="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第三节  寡头</a:t>
            </a:r>
            <a:endParaRPr lang="zh-CN" altLang="en-US" sz="18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36" name="矩形 35">
            <a:extLst>
              <a:ext uri="{FF2B5EF4-FFF2-40B4-BE49-F238E27FC236}">
                <a16:creationId xmlns:a16="http://schemas.microsoft.com/office/drawing/2014/main" id="{F68E5273-CD77-47B9-B841-9D29349C133D}"/>
              </a:ext>
            </a:extLst>
          </p:cNvPr>
          <p:cNvSpPr/>
          <p:nvPr/>
        </p:nvSpPr>
        <p:spPr>
          <a:xfrm>
            <a:off x="457201" y="548681"/>
            <a:ext cx="3034724"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marL="0" lvl="1">
              <a:defRPr/>
            </a:pPr>
            <a:r>
              <a:rPr lang="zh-CN" altLang="en-US" sz="2400" spc="150" dirty="0">
                <a:solidFill>
                  <a:srgbClr val="FFFFFF"/>
                </a:solidFill>
                <a:latin typeface="微软雅黑" panose="020B0503020204020204" pitchFamily="34" charset="-122"/>
                <a:ea typeface="微软雅黑" panose="020B0503020204020204" pitchFamily="34" charset="-122"/>
              </a:rPr>
              <a:t>三</a:t>
            </a:r>
            <a:r>
              <a:rPr lang="zh-CN" altLang="en-US" sz="2400" b="1" spc="150" dirty="0">
                <a:solidFill>
                  <a:srgbClr val="FFFFFF"/>
                </a:solidFill>
                <a:latin typeface="微软雅黑" panose="020B0503020204020204" pitchFamily="34" charset="-122"/>
                <a:ea typeface="微软雅黑" panose="020B0503020204020204" pitchFamily="34" charset="-122"/>
              </a:rPr>
              <a:t>、</a:t>
            </a:r>
            <a:r>
              <a:rPr lang="zh-CN" altLang="en-US" sz="2400" spc="150" dirty="0">
                <a:solidFill>
                  <a:srgbClr val="FFFFFF"/>
                </a:solidFill>
                <a:latin typeface="微软雅黑" panose="020B0503020204020204" pitchFamily="34" charset="-122"/>
                <a:ea typeface="微软雅黑" panose="020B0503020204020204" pitchFamily="34" charset="-122"/>
              </a:rPr>
              <a:t>价格领袖模型</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3010">
                                            <p:txEl>
                                              <p:pRg st="0" end="0"/>
                                            </p:txEl>
                                          </p:spTgt>
                                        </p:tgtEl>
                                        <p:attrNameLst>
                                          <p:attrName>style.visibility</p:attrName>
                                        </p:attrNameLst>
                                      </p:cBhvr>
                                      <p:to>
                                        <p:strVal val="visible"/>
                                      </p:to>
                                    </p:set>
                                    <p:animEffect>
                                      <p:cBhvr>
                                        <p:cTn id="7" dur="500"/>
                                        <p:tgtEl>
                                          <p:spTgt spid="4301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43013"/>
                                        </p:tgtEl>
                                        <p:attrNameLst>
                                          <p:attrName>style.visibility</p:attrName>
                                        </p:attrNameLst>
                                      </p:cBhvr>
                                      <p:to>
                                        <p:strVal val="visible"/>
                                      </p:to>
                                    </p:set>
                                    <p:animEffect>
                                      <p:cBhvr>
                                        <p:cTn id="12" dur="500"/>
                                        <p:tgtEl>
                                          <p:spTgt spid="43013"/>
                                        </p:tgtEl>
                                      </p:cBhvr>
                                    </p:animEffect>
                                  </p:childTnLst>
                                </p:cTn>
                              </p:par>
                              <p:par>
                                <p:cTn id="13" presetID="5" presetClass="entr" presetSubtype="10" fill="hold" grpId="0" nodeType="withEffect">
                                  <p:stCondLst>
                                    <p:cond delay="0"/>
                                  </p:stCondLst>
                                  <p:childTnLst>
                                    <p:set>
                                      <p:cBhvr>
                                        <p:cTn id="14" dur="1" fill="hold">
                                          <p:stCondLst>
                                            <p:cond delay="0"/>
                                          </p:stCondLst>
                                        </p:cTn>
                                        <p:tgtEl>
                                          <p:spTgt spid="43011"/>
                                        </p:tgtEl>
                                        <p:attrNameLst>
                                          <p:attrName>style.visibility</p:attrName>
                                        </p:attrNameLst>
                                      </p:cBhvr>
                                      <p:to>
                                        <p:strVal val="visible"/>
                                      </p:to>
                                    </p:set>
                                    <p:animEffect>
                                      <p:cBhvr>
                                        <p:cTn id="15" dur="500"/>
                                        <p:tgtEl>
                                          <p:spTgt spid="43011"/>
                                        </p:tgtEl>
                                      </p:cBhvr>
                                    </p:animEffect>
                                  </p:childTnLst>
                                </p:cTn>
                              </p:par>
                              <p:par>
                                <p:cTn id="16" presetID="5" presetClass="entr" presetSubtype="10" fill="hold" grpId="0" nodeType="withEffect">
                                  <p:stCondLst>
                                    <p:cond delay="0"/>
                                  </p:stCondLst>
                                  <p:childTnLst>
                                    <p:set>
                                      <p:cBhvr>
                                        <p:cTn id="17" dur="1" fill="hold">
                                          <p:stCondLst>
                                            <p:cond delay="0"/>
                                          </p:stCondLst>
                                        </p:cTn>
                                        <p:tgtEl>
                                          <p:spTgt spid="43014"/>
                                        </p:tgtEl>
                                        <p:attrNameLst>
                                          <p:attrName>style.visibility</p:attrName>
                                        </p:attrNameLst>
                                      </p:cBhvr>
                                      <p:to>
                                        <p:strVal val="visible"/>
                                      </p:to>
                                    </p:set>
                                    <p:animEffect>
                                      <p:cBhvr>
                                        <p:cTn id="18" dur="500"/>
                                        <p:tgtEl>
                                          <p:spTgt spid="43014"/>
                                        </p:tgtEl>
                                      </p:cBhvr>
                                    </p:animEffect>
                                  </p:childTnLst>
                                </p:cTn>
                              </p:par>
                              <p:par>
                                <p:cTn id="19" presetID="5" presetClass="entr" presetSubtype="10" fill="hold" grpId="0" nodeType="withEffect">
                                  <p:stCondLst>
                                    <p:cond delay="0"/>
                                  </p:stCondLst>
                                  <p:childTnLst>
                                    <p:set>
                                      <p:cBhvr>
                                        <p:cTn id="20" dur="1" fill="hold">
                                          <p:stCondLst>
                                            <p:cond delay="0"/>
                                          </p:stCondLst>
                                        </p:cTn>
                                        <p:tgtEl>
                                          <p:spTgt spid="43012"/>
                                        </p:tgtEl>
                                        <p:attrNameLst>
                                          <p:attrName>style.visibility</p:attrName>
                                        </p:attrNameLst>
                                      </p:cBhvr>
                                      <p:to>
                                        <p:strVal val="visible"/>
                                      </p:to>
                                    </p:set>
                                    <p:animEffect>
                                      <p:cBhvr>
                                        <p:cTn id="21" dur="500"/>
                                        <p:tgtEl>
                                          <p:spTgt spid="43012"/>
                                        </p:tgtEl>
                                      </p:cBhvr>
                                    </p:animEffect>
                                  </p:childTnLst>
                                </p:cTn>
                              </p:par>
                              <p:par>
                                <p:cTn id="22" presetID="5" presetClass="entr" presetSubtype="10" fill="hold" grpId="0" nodeType="withEffect">
                                  <p:stCondLst>
                                    <p:cond delay="0"/>
                                  </p:stCondLst>
                                  <p:childTnLst>
                                    <p:set>
                                      <p:cBhvr>
                                        <p:cTn id="23" dur="1" fill="hold">
                                          <p:stCondLst>
                                            <p:cond delay="0"/>
                                          </p:stCondLst>
                                        </p:cTn>
                                        <p:tgtEl>
                                          <p:spTgt spid="43015"/>
                                        </p:tgtEl>
                                        <p:attrNameLst>
                                          <p:attrName>style.visibility</p:attrName>
                                        </p:attrNameLst>
                                      </p:cBhvr>
                                      <p:to>
                                        <p:strVal val="visible"/>
                                      </p:to>
                                    </p:set>
                                    <p:animEffect>
                                      <p:cBhvr>
                                        <p:cTn id="24" dur="500"/>
                                        <p:tgtEl>
                                          <p:spTgt spid="43015"/>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43022"/>
                                        </p:tgtEl>
                                        <p:attrNameLst>
                                          <p:attrName>style.visibility</p:attrName>
                                        </p:attrNameLst>
                                      </p:cBhvr>
                                      <p:to>
                                        <p:strVal val="visible"/>
                                      </p:to>
                                    </p:set>
                                    <p:animEffect>
                                      <p:cBhvr>
                                        <p:cTn id="29" dur="500"/>
                                        <p:tgtEl>
                                          <p:spTgt spid="43022"/>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43016"/>
                                        </p:tgtEl>
                                        <p:attrNameLst>
                                          <p:attrName>style.visibility</p:attrName>
                                        </p:attrNameLst>
                                      </p:cBhvr>
                                      <p:to>
                                        <p:strVal val="visible"/>
                                      </p:to>
                                    </p:set>
                                    <p:animEffect>
                                      <p:cBhvr>
                                        <p:cTn id="32" dur="500"/>
                                        <p:tgtEl>
                                          <p:spTgt spid="4301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43036"/>
                                        </p:tgtEl>
                                        <p:attrNameLst>
                                          <p:attrName>style.visibility</p:attrName>
                                        </p:attrNameLst>
                                      </p:cBhvr>
                                      <p:to>
                                        <p:strVal val="visible"/>
                                      </p:to>
                                    </p:set>
                                    <p:animEffect>
                                      <p:cBhvr>
                                        <p:cTn id="37" dur="500"/>
                                        <p:tgtEl>
                                          <p:spTgt spid="4303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43029"/>
                                        </p:tgtEl>
                                        <p:attrNameLst>
                                          <p:attrName>style.visibility</p:attrName>
                                        </p:attrNameLst>
                                      </p:cBhvr>
                                      <p:to>
                                        <p:strVal val="visible"/>
                                      </p:to>
                                    </p:set>
                                    <p:animEffect>
                                      <p:cBhvr>
                                        <p:cTn id="42" dur="500"/>
                                        <p:tgtEl>
                                          <p:spTgt spid="43029"/>
                                        </p:tgtEl>
                                      </p:cBhvr>
                                    </p:animEffect>
                                  </p:childTnLst>
                                </p:cTn>
                              </p:par>
                              <p:par>
                                <p:cTn id="43" presetID="3" presetClass="entr" presetSubtype="10" fill="hold" grpId="0" nodeType="withEffect">
                                  <p:stCondLst>
                                    <p:cond delay="0"/>
                                  </p:stCondLst>
                                  <p:childTnLst>
                                    <p:set>
                                      <p:cBhvr>
                                        <p:cTn id="44" dur="1" fill="hold">
                                          <p:stCondLst>
                                            <p:cond delay="0"/>
                                          </p:stCondLst>
                                        </p:cTn>
                                        <p:tgtEl>
                                          <p:spTgt spid="43032"/>
                                        </p:tgtEl>
                                        <p:attrNameLst>
                                          <p:attrName>style.visibility</p:attrName>
                                        </p:attrNameLst>
                                      </p:cBhvr>
                                      <p:to>
                                        <p:strVal val="visible"/>
                                      </p:to>
                                    </p:set>
                                    <p:animEffect>
                                      <p:cBhvr>
                                        <p:cTn id="45" dur="500"/>
                                        <p:tgtEl>
                                          <p:spTgt spid="43032"/>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43037"/>
                                        </p:tgtEl>
                                        <p:attrNameLst>
                                          <p:attrName>style.visibility</p:attrName>
                                        </p:attrNameLst>
                                      </p:cBhvr>
                                      <p:to>
                                        <p:strVal val="visible"/>
                                      </p:to>
                                    </p:set>
                                    <p:animEffect>
                                      <p:cBhvr>
                                        <p:cTn id="50" dur="500"/>
                                        <p:tgtEl>
                                          <p:spTgt spid="43037"/>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43035"/>
                                        </p:tgtEl>
                                        <p:attrNameLst>
                                          <p:attrName>style.visibility</p:attrName>
                                        </p:attrNameLst>
                                      </p:cBhvr>
                                      <p:to>
                                        <p:strVal val="visible"/>
                                      </p:to>
                                    </p:set>
                                    <p:animEffect>
                                      <p:cBhvr>
                                        <p:cTn id="55" dur="500"/>
                                        <p:tgtEl>
                                          <p:spTgt spid="43035"/>
                                        </p:tgtEl>
                                      </p:cBhvr>
                                    </p:animEffect>
                                  </p:childTnLst>
                                </p:cTn>
                              </p:par>
                              <p:par>
                                <p:cTn id="56" presetID="3" presetClass="entr" presetSubtype="10" fill="hold" grpId="0" nodeType="withEffect">
                                  <p:stCondLst>
                                    <p:cond delay="0"/>
                                  </p:stCondLst>
                                  <p:childTnLst>
                                    <p:set>
                                      <p:cBhvr>
                                        <p:cTn id="57" dur="1" fill="hold">
                                          <p:stCondLst>
                                            <p:cond delay="0"/>
                                          </p:stCondLst>
                                        </p:cTn>
                                        <p:tgtEl>
                                          <p:spTgt spid="43031"/>
                                        </p:tgtEl>
                                        <p:attrNameLst>
                                          <p:attrName>style.visibility</p:attrName>
                                        </p:attrNameLst>
                                      </p:cBhvr>
                                      <p:to>
                                        <p:strVal val="visible"/>
                                      </p:to>
                                    </p:set>
                                    <p:animEffect>
                                      <p:cBhvr>
                                        <p:cTn id="58" dur="500"/>
                                        <p:tgtEl>
                                          <p:spTgt spid="43031"/>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3" presetClass="entr" presetSubtype="10" fill="hold" grpId="0" nodeType="clickEffect">
                                  <p:stCondLst>
                                    <p:cond delay="0"/>
                                  </p:stCondLst>
                                  <p:childTnLst>
                                    <p:set>
                                      <p:cBhvr>
                                        <p:cTn id="62" dur="1" fill="hold">
                                          <p:stCondLst>
                                            <p:cond delay="0"/>
                                          </p:stCondLst>
                                        </p:cTn>
                                        <p:tgtEl>
                                          <p:spTgt spid="43038"/>
                                        </p:tgtEl>
                                        <p:attrNameLst>
                                          <p:attrName>style.visibility</p:attrName>
                                        </p:attrNameLst>
                                      </p:cBhvr>
                                      <p:to>
                                        <p:strVal val="visible"/>
                                      </p:to>
                                    </p:set>
                                    <p:animEffect>
                                      <p:cBhvr>
                                        <p:cTn id="63" dur="500"/>
                                        <p:tgtEl>
                                          <p:spTgt spid="43038"/>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16" presetClass="entr" presetSubtype="26" fill="hold" grpId="0" nodeType="clickEffect">
                                  <p:stCondLst>
                                    <p:cond delay="0"/>
                                  </p:stCondLst>
                                  <p:childTnLst>
                                    <p:set>
                                      <p:cBhvr>
                                        <p:cTn id="67" dur="1" fill="hold">
                                          <p:stCondLst>
                                            <p:cond delay="0"/>
                                          </p:stCondLst>
                                        </p:cTn>
                                        <p:tgtEl>
                                          <p:spTgt spid="43020"/>
                                        </p:tgtEl>
                                        <p:attrNameLst>
                                          <p:attrName>style.visibility</p:attrName>
                                        </p:attrNameLst>
                                      </p:cBhvr>
                                      <p:to>
                                        <p:strVal val="visible"/>
                                      </p:to>
                                    </p:set>
                                    <p:animEffect>
                                      <p:cBhvr>
                                        <p:cTn id="68" dur="500"/>
                                        <p:tgtEl>
                                          <p:spTgt spid="43020"/>
                                        </p:tgtEl>
                                      </p:cBhvr>
                                    </p:animEffect>
                                  </p:childTnLst>
                                </p:cTn>
                              </p:par>
                              <p:par>
                                <p:cTn id="69" presetID="16" presetClass="entr" presetSubtype="26" fill="hold" grpId="0" nodeType="withEffect">
                                  <p:stCondLst>
                                    <p:cond delay="0"/>
                                  </p:stCondLst>
                                  <p:childTnLst>
                                    <p:set>
                                      <p:cBhvr>
                                        <p:cTn id="70" dur="1" fill="hold">
                                          <p:stCondLst>
                                            <p:cond delay="0"/>
                                          </p:stCondLst>
                                        </p:cTn>
                                        <p:tgtEl>
                                          <p:spTgt spid="43017"/>
                                        </p:tgtEl>
                                        <p:attrNameLst>
                                          <p:attrName>style.visibility</p:attrName>
                                        </p:attrNameLst>
                                      </p:cBhvr>
                                      <p:to>
                                        <p:strVal val="visible"/>
                                      </p:to>
                                    </p:set>
                                    <p:animEffect>
                                      <p:cBhvr>
                                        <p:cTn id="71" dur="500"/>
                                        <p:tgtEl>
                                          <p:spTgt spid="43017"/>
                                        </p:tgtEl>
                                      </p:cBhvr>
                                    </p:animEffect>
                                  </p:childTnLst>
                                </p:cTn>
                              </p:par>
                              <p:par>
                                <p:cTn id="72" presetID="16" presetClass="entr" presetSubtype="26" fill="hold" grpId="0" nodeType="withEffect">
                                  <p:stCondLst>
                                    <p:cond delay="0"/>
                                  </p:stCondLst>
                                  <p:childTnLst>
                                    <p:set>
                                      <p:cBhvr>
                                        <p:cTn id="73" dur="1" fill="hold">
                                          <p:stCondLst>
                                            <p:cond delay="0"/>
                                          </p:stCondLst>
                                        </p:cTn>
                                        <p:tgtEl>
                                          <p:spTgt spid="43040"/>
                                        </p:tgtEl>
                                        <p:attrNameLst>
                                          <p:attrName>style.visibility</p:attrName>
                                        </p:attrNameLst>
                                      </p:cBhvr>
                                      <p:to>
                                        <p:strVal val="visible"/>
                                      </p:to>
                                    </p:set>
                                    <p:animEffect>
                                      <p:cBhvr>
                                        <p:cTn id="74" dur="500"/>
                                        <p:tgtEl>
                                          <p:spTgt spid="43040"/>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3" presetClass="entr" presetSubtype="10" fill="hold" grpId="0" nodeType="clickEffect">
                                  <p:stCondLst>
                                    <p:cond delay="0"/>
                                  </p:stCondLst>
                                  <p:childTnLst>
                                    <p:set>
                                      <p:cBhvr>
                                        <p:cTn id="78" dur="1" fill="hold">
                                          <p:stCondLst>
                                            <p:cond delay="0"/>
                                          </p:stCondLst>
                                        </p:cTn>
                                        <p:tgtEl>
                                          <p:spTgt spid="43039"/>
                                        </p:tgtEl>
                                        <p:attrNameLst>
                                          <p:attrName>style.visibility</p:attrName>
                                        </p:attrNameLst>
                                      </p:cBhvr>
                                      <p:to>
                                        <p:strVal val="visible"/>
                                      </p:to>
                                    </p:set>
                                    <p:animEffect>
                                      <p:cBhvr>
                                        <p:cTn id="79" dur="500"/>
                                        <p:tgtEl>
                                          <p:spTgt spid="43039"/>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3" presetClass="entr" presetSubtype="10" fill="hold" grpId="0" nodeType="clickEffect">
                                  <p:stCondLst>
                                    <p:cond delay="0"/>
                                  </p:stCondLst>
                                  <p:childTnLst>
                                    <p:set>
                                      <p:cBhvr>
                                        <p:cTn id="83" dur="1" fill="hold">
                                          <p:stCondLst>
                                            <p:cond delay="0"/>
                                          </p:stCondLst>
                                        </p:cTn>
                                        <p:tgtEl>
                                          <p:spTgt spid="43021"/>
                                        </p:tgtEl>
                                        <p:attrNameLst>
                                          <p:attrName>style.visibility</p:attrName>
                                        </p:attrNameLst>
                                      </p:cBhvr>
                                      <p:to>
                                        <p:strVal val="visible"/>
                                      </p:to>
                                    </p:set>
                                    <p:animEffect>
                                      <p:cBhvr>
                                        <p:cTn id="84" dur="500"/>
                                        <p:tgtEl>
                                          <p:spTgt spid="43021"/>
                                        </p:tgtEl>
                                      </p:cBhvr>
                                    </p:animEffect>
                                  </p:childTnLst>
                                </p:cTn>
                              </p:par>
                              <p:par>
                                <p:cTn id="85" presetID="3" presetClass="entr" presetSubtype="10" fill="hold" grpId="0" nodeType="withEffect">
                                  <p:stCondLst>
                                    <p:cond delay="0"/>
                                  </p:stCondLst>
                                  <p:childTnLst>
                                    <p:set>
                                      <p:cBhvr>
                                        <p:cTn id="86" dur="1" fill="hold">
                                          <p:stCondLst>
                                            <p:cond delay="0"/>
                                          </p:stCondLst>
                                        </p:cTn>
                                        <p:tgtEl>
                                          <p:spTgt spid="43024"/>
                                        </p:tgtEl>
                                        <p:attrNameLst>
                                          <p:attrName>style.visibility</p:attrName>
                                        </p:attrNameLst>
                                      </p:cBhvr>
                                      <p:to>
                                        <p:strVal val="visible"/>
                                      </p:to>
                                    </p:set>
                                    <p:animEffect>
                                      <p:cBhvr>
                                        <p:cTn id="87" dur="500"/>
                                        <p:tgtEl>
                                          <p:spTgt spid="43024"/>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3" presetClass="entr" presetSubtype="10" fill="hold" grpId="0" nodeType="clickEffect">
                                  <p:stCondLst>
                                    <p:cond delay="0"/>
                                  </p:stCondLst>
                                  <p:childTnLst>
                                    <p:set>
                                      <p:cBhvr>
                                        <p:cTn id="91" dur="1" fill="hold">
                                          <p:stCondLst>
                                            <p:cond delay="0"/>
                                          </p:stCondLst>
                                        </p:cTn>
                                        <p:tgtEl>
                                          <p:spTgt spid="43028"/>
                                        </p:tgtEl>
                                        <p:attrNameLst>
                                          <p:attrName>style.visibility</p:attrName>
                                        </p:attrNameLst>
                                      </p:cBhvr>
                                      <p:to>
                                        <p:strVal val="visible"/>
                                      </p:to>
                                    </p:set>
                                    <p:animEffect>
                                      <p:cBhvr>
                                        <p:cTn id="92" dur="500"/>
                                        <p:tgtEl>
                                          <p:spTgt spid="43028"/>
                                        </p:tgtEl>
                                      </p:cBhvr>
                                    </p:animEffect>
                                  </p:childTnLst>
                                </p:cTn>
                              </p:par>
                              <p:par>
                                <p:cTn id="93" presetID="3" presetClass="entr" presetSubtype="10" fill="hold" grpId="0" nodeType="withEffect">
                                  <p:stCondLst>
                                    <p:cond delay="0"/>
                                  </p:stCondLst>
                                  <p:childTnLst>
                                    <p:set>
                                      <p:cBhvr>
                                        <p:cTn id="94" dur="1" fill="hold">
                                          <p:stCondLst>
                                            <p:cond delay="0"/>
                                          </p:stCondLst>
                                        </p:cTn>
                                        <p:tgtEl>
                                          <p:spTgt spid="43034"/>
                                        </p:tgtEl>
                                        <p:attrNameLst>
                                          <p:attrName>style.visibility</p:attrName>
                                        </p:attrNameLst>
                                      </p:cBhvr>
                                      <p:to>
                                        <p:strVal val="visible"/>
                                      </p:to>
                                    </p:set>
                                    <p:animEffect>
                                      <p:cBhvr>
                                        <p:cTn id="95" dur="500"/>
                                        <p:tgtEl>
                                          <p:spTgt spid="43034"/>
                                        </p:tgtEl>
                                      </p:cBhvr>
                                    </p:animEffect>
                                  </p:childTnLst>
                                </p:cTn>
                              </p:par>
                            </p:childTnLst>
                          </p:cTn>
                        </p:par>
                      </p:childTnLst>
                    </p:cTn>
                  </p:par>
                  <p:par>
                    <p:cTn id="96" fill="hold" nodeType="clickPar">
                      <p:stCondLst>
                        <p:cond delay="indefinite"/>
                      </p:stCondLst>
                      <p:childTnLst>
                        <p:par>
                          <p:cTn id="97" fill="hold" nodeType="withGroup">
                            <p:stCondLst>
                              <p:cond delay="0"/>
                            </p:stCondLst>
                            <p:childTnLst>
                              <p:par>
                                <p:cTn id="98" presetID="3" presetClass="entr" presetSubtype="10" fill="hold" grpId="0" nodeType="clickEffect">
                                  <p:stCondLst>
                                    <p:cond delay="0"/>
                                  </p:stCondLst>
                                  <p:childTnLst>
                                    <p:set>
                                      <p:cBhvr>
                                        <p:cTn id="99" dur="1" fill="hold">
                                          <p:stCondLst>
                                            <p:cond delay="0"/>
                                          </p:stCondLst>
                                        </p:cTn>
                                        <p:tgtEl>
                                          <p:spTgt spid="43018"/>
                                        </p:tgtEl>
                                        <p:attrNameLst>
                                          <p:attrName>style.visibility</p:attrName>
                                        </p:attrNameLst>
                                      </p:cBhvr>
                                      <p:to>
                                        <p:strVal val="visible"/>
                                      </p:to>
                                    </p:set>
                                    <p:animEffect>
                                      <p:cBhvr>
                                        <p:cTn id="100" dur="500"/>
                                        <p:tgtEl>
                                          <p:spTgt spid="43018"/>
                                        </p:tgtEl>
                                      </p:cBhvr>
                                    </p:animEffect>
                                  </p:childTnLst>
                                </p:cTn>
                              </p:par>
                              <p:par>
                                <p:cTn id="101" presetID="3" presetClass="entr" presetSubtype="10" fill="hold" grpId="0" nodeType="withEffect">
                                  <p:stCondLst>
                                    <p:cond delay="0"/>
                                  </p:stCondLst>
                                  <p:childTnLst>
                                    <p:set>
                                      <p:cBhvr>
                                        <p:cTn id="102" dur="1" fill="hold">
                                          <p:stCondLst>
                                            <p:cond delay="0"/>
                                          </p:stCondLst>
                                        </p:cTn>
                                        <p:tgtEl>
                                          <p:spTgt spid="43019"/>
                                        </p:tgtEl>
                                        <p:attrNameLst>
                                          <p:attrName>style.visibility</p:attrName>
                                        </p:attrNameLst>
                                      </p:cBhvr>
                                      <p:to>
                                        <p:strVal val="visible"/>
                                      </p:to>
                                    </p:set>
                                    <p:animEffect>
                                      <p:cBhvr>
                                        <p:cTn id="103" dur="500"/>
                                        <p:tgtEl>
                                          <p:spTgt spid="43019"/>
                                        </p:tgtEl>
                                      </p:cBhvr>
                                    </p:animEffect>
                                  </p:childTnLst>
                                </p:cTn>
                              </p:par>
                              <p:par>
                                <p:cTn id="104" presetID="3" presetClass="entr" presetSubtype="10" fill="hold" grpId="0" nodeType="withEffect">
                                  <p:stCondLst>
                                    <p:cond delay="0"/>
                                  </p:stCondLst>
                                  <p:childTnLst>
                                    <p:set>
                                      <p:cBhvr>
                                        <p:cTn id="105" dur="1" fill="hold">
                                          <p:stCondLst>
                                            <p:cond delay="0"/>
                                          </p:stCondLst>
                                        </p:cTn>
                                        <p:tgtEl>
                                          <p:spTgt spid="43025"/>
                                        </p:tgtEl>
                                        <p:attrNameLst>
                                          <p:attrName>style.visibility</p:attrName>
                                        </p:attrNameLst>
                                      </p:cBhvr>
                                      <p:to>
                                        <p:strVal val="visible"/>
                                      </p:to>
                                    </p:set>
                                    <p:animEffect>
                                      <p:cBhvr>
                                        <p:cTn id="106" dur="500"/>
                                        <p:tgtEl>
                                          <p:spTgt spid="43025"/>
                                        </p:tgtEl>
                                      </p:cBhvr>
                                    </p:animEffect>
                                  </p:childTnLst>
                                </p:cTn>
                              </p:par>
                              <p:par>
                                <p:cTn id="107" presetID="3" presetClass="entr" presetSubtype="10" fill="hold" grpId="0" nodeType="withEffect">
                                  <p:stCondLst>
                                    <p:cond delay="0"/>
                                  </p:stCondLst>
                                  <p:childTnLst>
                                    <p:set>
                                      <p:cBhvr>
                                        <p:cTn id="108" dur="1" fill="hold">
                                          <p:stCondLst>
                                            <p:cond delay="0"/>
                                          </p:stCondLst>
                                        </p:cTn>
                                        <p:tgtEl>
                                          <p:spTgt spid="43030"/>
                                        </p:tgtEl>
                                        <p:attrNameLst>
                                          <p:attrName>style.visibility</p:attrName>
                                        </p:attrNameLst>
                                      </p:cBhvr>
                                      <p:to>
                                        <p:strVal val="visible"/>
                                      </p:to>
                                    </p:set>
                                    <p:animEffect>
                                      <p:cBhvr>
                                        <p:cTn id="109" dur="500"/>
                                        <p:tgtEl>
                                          <p:spTgt spid="43030"/>
                                        </p:tgtEl>
                                      </p:cBhvr>
                                    </p:animEffect>
                                  </p:childTnLst>
                                </p:cTn>
                              </p:par>
                            </p:childTnLst>
                          </p:cTn>
                        </p:par>
                      </p:childTnLst>
                    </p:cTn>
                  </p:par>
                  <p:par>
                    <p:cTn id="110" fill="hold" nodeType="clickPar">
                      <p:stCondLst>
                        <p:cond delay="indefinite"/>
                      </p:stCondLst>
                      <p:childTnLst>
                        <p:par>
                          <p:cTn id="111" fill="hold" nodeType="withGroup">
                            <p:stCondLst>
                              <p:cond delay="0"/>
                            </p:stCondLst>
                            <p:childTnLst>
                              <p:par>
                                <p:cTn id="112" presetID="3" presetClass="entr" presetSubtype="10" fill="hold" grpId="0" nodeType="clickEffect">
                                  <p:stCondLst>
                                    <p:cond delay="0"/>
                                  </p:stCondLst>
                                  <p:childTnLst>
                                    <p:set>
                                      <p:cBhvr>
                                        <p:cTn id="113" dur="1" fill="hold">
                                          <p:stCondLst>
                                            <p:cond delay="0"/>
                                          </p:stCondLst>
                                        </p:cTn>
                                        <p:tgtEl>
                                          <p:spTgt spid="43041"/>
                                        </p:tgtEl>
                                        <p:attrNameLst>
                                          <p:attrName>style.visibility</p:attrName>
                                        </p:attrNameLst>
                                      </p:cBhvr>
                                      <p:to>
                                        <p:strVal val="visible"/>
                                      </p:to>
                                    </p:set>
                                    <p:animEffect>
                                      <p:cBhvr>
                                        <p:cTn id="114" dur="500"/>
                                        <p:tgtEl>
                                          <p:spTgt spid="43041"/>
                                        </p:tgtEl>
                                      </p:cBhvr>
                                    </p:animEffect>
                                  </p:childTnLst>
                                </p:cTn>
                              </p:par>
                              <p:par>
                                <p:cTn id="115" presetID="3" presetClass="entr" presetSubtype="10" fill="hold" grpId="0" nodeType="withEffect">
                                  <p:stCondLst>
                                    <p:cond delay="0"/>
                                  </p:stCondLst>
                                  <p:childTnLst>
                                    <p:set>
                                      <p:cBhvr>
                                        <p:cTn id="116" dur="1" fill="hold">
                                          <p:stCondLst>
                                            <p:cond delay="0"/>
                                          </p:stCondLst>
                                        </p:cTn>
                                        <p:tgtEl>
                                          <p:spTgt spid="43027"/>
                                        </p:tgtEl>
                                        <p:attrNameLst>
                                          <p:attrName>style.visibility</p:attrName>
                                        </p:attrNameLst>
                                      </p:cBhvr>
                                      <p:to>
                                        <p:strVal val="visible"/>
                                      </p:to>
                                    </p:set>
                                    <p:animEffect>
                                      <p:cBhvr>
                                        <p:cTn id="117" dur="500"/>
                                        <p:tgtEl>
                                          <p:spTgt spid="43027"/>
                                        </p:tgtEl>
                                      </p:cBhvr>
                                    </p:animEffect>
                                  </p:childTnLst>
                                </p:cTn>
                              </p:par>
                              <p:par>
                                <p:cTn id="118" presetID="3" presetClass="entr" presetSubtype="10" fill="hold" grpId="0" nodeType="withEffect">
                                  <p:stCondLst>
                                    <p:cond delay="0"/>
                                  </p:stCondLst>
                                  <p:childTnLst>
                                    <p:set>
                                      <p:cBhvr>
                                        <p:cTn id="119" dur="1" fill="hold">
                                          <p:stCondLst>
                                            <p:cond delay="0"/>
                                          </p:stCondLst>
                                        </p:cTn>
                                        <p:tgtEl>
                                          <p:spTgt spid="43023"/>
                                        </p:tgtEl>
                                        <p:attrNameLst>
                                          <p:attrName>style.visibility</p:attrName>
                                        </p:attrNameLst>
                                      </p:cBhvr>
                                      <p:to>
                                        <p:strVal val="visible"/>
                                      </p:to>
                                    </p:set>
                                    <p:animEffect>
                                      <p:cBhvr>
                                        <p:cTn id="120" dur="500"/>
                                        <p:tgtEl>
                                          <p:spTgt spid="43023"/>
                                        </p:tgtEl>
                                      </p:cBhvr>
                                    </p:animEffect>
                                  </p:childTnLst>
                                </p:cTn>
                              </p:par>
                              <p:par>
                                <p:cTn id="121" presetID="3" presetClass="entr" presetSubtype="10" fill="hold" grpId="0" nodeType="withEffect">
                                  <p:stCondLst>
                                    <p:cond delay="0"/>
                                  </p:stCondLst>
                                  <p:childTnLst>
                                    <p:set>
                                      <p:cBhvr>
                                        <p:cTn id="122" dur="1" fill="hold">
                                          <p:stCondLst>
                                            <p:cond delay="0"/>
                                          </p:stCondLst>
                                        </p:cTn>
                                        <p:tgtEl>
                                          <p:spTgt spid="43033"/>
                                        </p:tgtEl>
                                        <p:attrNameLst>
                                          <p:attrName>style.visibility</p:attrName>
                                        </p:attrNameLst>
                                      </p:cBhvr>
                                      <p:to>
                                        <p:strVal val="visible"/>
                                      </p:to>
                                    </p:set>
                                    <p:animEffect>
                                      <p:cBhvr>
                                        <p:cTn id="123" dur="500"/>
                                        <p:tgtEl>
                                          <p:spTgt spid="43033"/>
                                        </p:tgtEl>
                                      </p:cBhvr>
                                    </p:animEffect>
                                  </p:childTnLst>
                                </p:cTn>
                              </p:par>
                              <p:par>
                                <p:cTn id="124" presetID="3" presetClass="entr" presetSubtype="10" fill="hold" grpId="0" nodeType="withEffect">
                                  <p:stCondLst>
                                    <p:cond delay="0"/>
                                  </p:stCondLst>
                                  <p:childTnLst>
                                    <p:set>
                                      <p:cBhvr>
                                        <p:cTn id="125" dur="1" fill="hold">
                                          <p:stCondLst>
                                            <p:cond delay="0"/>
                                          </p:stCondLst>
                                        </p:cTn>
                                        <p:tgtEl>
                                          <p:spTgt spid="43026"/>
                                        </p:tgtEl>
                                        <p:attrNameLst>
                                          <p:attrName>style.visibility</p:attrName>
                                        </p:attrNameLst>
                                      </p:cBhvr>
                                      <p:to>
                                        <p:strVal val="visible"/>
                                      </p:to>
                                    </p:set>
                                    <p:animEffect>
                                      <p:cBhvr>
                                        <p:cTn id="126" dur="500"/>
                                        <p:tgtEl>
                                          <p:spTgt spid="43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41" grpId="0" bldLvl="0" animBg="1" autoUpdateAnimBg="0"/>
      <p:bldP spid="43040" grpId="0" bldLvl="0" animBg="1" autoUpdateAnimBg="0"/>
      <p:bldP spid="43038" grpId="0" bldLvl="0" animBg="1" autoUpdateAnimBg="0"/>
      <p:bldP spid="43011" grpId="0" bldLvl="0" animBg="1" autoUpdateAnimBg="0"/>
      <p:bldP spid="43012" grpId="0" bldLvl="0" animBg="1" autoUpdateAnimBg="0"/>
      <p:bldP spid="43013" grpId="0" bldLvl="0" autoUpdateAnimBg="0"/>
      <p:bldP spid="43014" grpId="0" bldLvl="0" autoUpdateAnimBg="0"/>
      <p:bldP spid="43015" grpId="0" bldLvl="0" autoUpdateAnimBg="0"/>
      <p:bldP spid="43016" grpId="0" bldLvl="0" animBg="1" autoUpdateAnimBg="0"/>
      <p:bldP spid="43017" grpId="0" bldLvl="0" autoUpdateAnimBg="0"/>
      <p:bldP spid="43018" grpId="0" bldLvl="0" animBg="1" autoUpdateAnimBg="0"/>
      <p:bldP spid="43019" grpId="0" bldLvl="0" autoUpdateAnimBg="0"/>
      <p:bldP spid="43020" grpId="0" bldLvl="0" animBg="1" autoUpdateAnimBg="0"/>
      <p:bldP spid="43021" grpId="0" bldLvl="0" autoUpdateAnimBg="0"/>
      <p:bldP spid="43022" grpId="0" bldLvl="0" autoUpdateAnimBg="0"/>
      <p:bldP spid="43023" grpId="0" bldLvl="0" animBg="1" autoUpdateAnimBg="0"/>
      <p:bldP spid="43024" grpId="0" bldLvl="0" animBg="1" autoUpdateAnimBg="0"/>
      <p:bldP spid="43025" grpId="0" bldLvl="0" autoUpdateAnimBg="0"/>
      <p:bldP spid="43026" grpId="0" bldLvl="0" autoUpdateAnimBg="0"/>
      <p:bldP spid="43027" grpId="0" bldLvl="0" animBg="1" autoUpdateAnimBg="0"/>
      <p:bldP spid="43028" grpId="0" bldLvl="0" animBg="1" autoUpdateAnimBg="0"/>
      <p:bldP spid="43029" grpId="0" bldLvl="0" animBg="1" autoUpdateAnimBg="0"/>
      <p:bldP spid="43030" grpId="0" bldLvl="0" animBg="1" autoUpdateAnimBg="0"/>
      <p:bldP spid="43031" grpId="0" bldLvl="0" animBg="1" autoUpdateAnimBg="0"/>
      <p:bldP spid="43032" grpId="0" bldLvl="0" autoUpdateAnimBg="0"/>
      <p:bldP spid="43033" grpId="0" bldLvl="0" autoUpdateAnimBg="0"/>
      <p:bldP spid="43034" grpId="0" bldLvl="0" autoUpdateAnimBg="0"/>
      <p:bldP spid="43035" grpId="0" bldLvl="0" autoUpdateAnimBg="0"/>
      <p:bldP spid="43036" grpId="0" bldLvl="0" animBg="1" autoUpdateAnimBg="0"/>
      <p:bldP spid="43037" grpId="0" bldLvl="0" animBg="1" autoUpdateAnimBg="0"/>
      <p:bldP spid="43039" grpId="0" bldLvl="0" animBg="1"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3"/>
          <p:cNvSpPr>
            <a:spLocks noGrp="1" noChangeArrowheads="1"/>
          </p:cNvSpPr>
          <p:nvPr>
            <p:ph type="body" idx="4294967295"/>
          </p:nvPr>
        </p:nvSpPr>
        <p:spPr>
          <a:ln/>
        </p:spPr>
        <p:txBody>
          <a:bodyPr/>
          <a:lstStyle/>
          <a:p>
            <a:pPr marL="457200" lvl="2" indent="-457200" eaLnBrk="1" hangingPunct="1">
              <a:lnSpc>
                <a:spcPct val="250000"/>
              </a:lnSpc>
              <a:buSzPct val="100000"/>
              <a:buFont typeface="Wingdings" panose="05000000000000000000" pitchFamily="2" charset="2"/>
              <a:buChar char="u"/>
            </a:pPr>
            <a:r>
              <a:rPr lang="zh-CN" altLang="en-US" sz="2200" b="0" dirty="0">
                <a:latin typeface="微软雅黑" panose="020B0503020204020204" pitchFamily="34" charset="-122"/>
                <a:ea typeface="微软雅黑" panose="020B0503020204020204" pitchFamily="34" charset="-122"/>
              </a:rPr>
              <a:t>斯威奇模型</a:t>
            </a:r>
            <a:endParaRPr lang="en-US" altLang="zh-CN" sz="2200" b="0" dirty="0">
              <a:latin typeface="微软雅黑" panose="020B0503020204020204" pitchFamily="34" charset="-122"/>
              <a:ea typeface="微软雅黑" panose="020B0503020204020204" pitchFamily="34" charset="-122"/>
            </a:endParaRPr>
          </a:p>
          <a:p>
            <a:pPr marL="457200" lvl="1" indent="0" eaLnBrk="1" hangingPunct="1">
              <a:buNone/>
            </a:pPr>
            <a:r>
              <a:rPr lang="zh-CN" altLang="en-US" sz="2000" b="0" dirty="0">
                <a:solidFill>
                  <a:srgbClr val="BB1528"/>
                </a:solidFill>
                <a:latin typeface="微软雅黑" panose="020B0503020204020204" pitchFamily="34" charset="-122"/>
                <a:ea typeface="微软雅黑" panose="020B0503020204020204" pitchFamily="34" charset="-122"/>
              </a:rPr>
              <a:t>解释寡头市场价格稳定性的一种理论：</a:t>
            </a:r>
            <a:endParaRPr lang="en-US" altLang="zh-CN" sz="2000" b="0" dirty="0">
              <a:solidFill>
                <a:srgbClr val="BB1528"/>
              </a:solidFill>
              <a:latin typeface="微软雅黑" panose="020B0503020204020204" pitchFamily="34" charset="-122"/>
              <a:ea typeface="微软雅黑" panose="020B0503020204020204" pitchFamily="34" charset="-122"/>
            </a:endParaRPr>
          </a:p>
          <a:p>
            <a:pPr marL="742950" lvl="2" indent="-342900" eaLnBrk="1" hangingPunct="1">
              <a:lnSpc>
                <a:spcPct val="150000"/>
              </a:lnSpc>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rPr>
              <a:t>寡头企业改变价格时</a:t>
            </a:r>
            <a:r>
              <a:rPr lang="en-US" altLang="zh-CN" sz="2000" b="0" dirty="0">
                <a:latin typeface="微软雅黑" panose="020B0503020204020204" pitchFamily="34" charset="-122"/>
                <a:ea typeface="微软雅黑" panose="020B0503020204020204" pitchFamily="34" charset="-122"/>
              </a:rPr>
              <a:t>, </a:t>
            </a:r>
            <a:r>
              <a:rPr lang="zh-CN" altLang="en-US" sz="2000" b="0" dirty="0">
                <a:latin typeface="微软雅黑" panose="020B0503020204020204" pitchFamily="34" charset="-122"/>
                <a:ea typeface="微软雅黑" panose="020B0503020204020204" pitchFamily="34" charset="-122"/>
              </a:rPr>
              <a:t>其他企业的反应具有不对称的特点</a:t>
            </a:r>
            <a:endParaRPr lang="en-US" altLang="zh-CN" sz="2000" b="0" dirty="0">
              <a:latin typeface="微软雅黑" panose="020B0503020204020204" pitchFamily="34" charset="-122"/>
              <a:ea typeface="微软雅黑" panose="020B0503020204020204" pitchFamily="34" charset="-122"/>
            </a:endParaRPr>
          </a:p>
          <a:p>
            <a:pPr marL="400050" lvl="2" indent="0" eaLnBrk="1" hangingPunct="1">
              <a:spcBef>
                <a:spcPct val="40000"/>
              </a:spcBef>
              <a:buNone/>
            </a:pPr>
            <a:endParaRPr lang="en-US" altLang="zh-CN" sz="2000" b="0" dirty="0"/>
          </a:p>
          <a:p>
            <a:pPr marL="742950" lvl="2" indent="-342900" eaLnBrk="1" hangingPunct="1">
              <a:lnSpc>
                <a:spcPct val="800000"/>
              </a:lnSpc>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rPr>
              <a:t>结果，寡头企业轻易不调整价格</a:t>
            </a:r>
            <a:r>
              <a:rPr lang="en-US" altLang="zh-CN" sz="2000" b="0" dirty="0">
                <a:latin typeface="微软雅黑" panose="020B0503020204020204" pitchFamily="34" charset="-122"/>
                <a:ea typeface="微软雅黑" panose="020B0503020204020204" pitchFamily="34" charset="-122"/>
              </a:rPr>
              <a:t>——</a:t>
            </a:r>
            <a:r>
              <a:rPr lang="zh-CN" altLang="en-US" sz="2000" b="0" dirty="0">
                <a:latin typeface="微软雅黑" panose="020B0503020204020204" pitchFamily="34" charset="-122"/>
                <a:ea typeface="微软雅黑" panose="020B0503020204020204" pitchFamily="34" charset="-122"/>
              </a:rPr>
              <a:t>价格稳定</a:t>
            </a:r>
            <a:endParaRPr lang="en-US" altLang="zh-CN" sz="2000" b="0" dirty="0">
              <a:latin typeface="微软雅黑" panose="020B0503020204020204" pitchFamily="34" charset="-122"/>
              <a:ea typeface="微软雅黑" panose="020B0503020204020204" pitchFamily="34" charset="-122"/>
            </a:endParaRPr>
          </a:p>
        </p:txBody>
      </p:sp>
      <p:sp>
        <p:nvSpPr>
          <p:cNvPr id="4" name="圆角矩形 3"/>
          <p:cNvSpPr/>
          <p:nvPr/>
        </p:nvSpPr>
        <p:spPr bwMode="auto">
          <a:xfrm>
            <a:off x="1296627" y="3434522"/>
            <a:ext cx="6552455" cy="559173"/>
          </a:xfrm>
          <a:prstGeom prst="round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lvl="2"/>
            <a:r>
              <a:rPr lang="zh-CN" altLang="en-US" sz="2000" b="0" dirty="0">
                <a:latin typeface="微软雅黑" panose="020B0503020204020204" pitchFamily="34" charset="-122"/>
                <a:ea typeface="微软雅黑" panose="020B0503020204020204" pitchFamily="34" charset="-122"/>
              </a:rPr>
              <a:t>寡头企业提高价格</a:t>
            </a:r>
            <a:r>
              <a:rPr lang="en-US" altLang="zh-CN" sz="2000" b="0" dirty="0">
                <a:latin typeface="微软雅黑" panose="020B0503020204020204" pitchFamily="34" charset="-122"/>
                <a:ea typeface="微软雅黑" panose="020B0503020204020204" pitchFamily="34" charset="-122"/>
                <a:sym typeface="Wingdings" panose="05000000000000000000" pitchFamily="2" charset="2"/>
              </a:rPr>
              <a:t></a:t>
            </a:r>
            <a:r>
              <a:rPr lang="zh-CN" altLang="en-US" sz="2000" b="0" dirty="0">
                <a:latin typeface="微软雅黑" panose="020B0503020204020204" pitchFamily="34" charset="-122"/>
                <a:ea typeface="微软雅黑" panose="020B0503020204020204" pitchFamily="34" charset="-122"/>
              </a:rPr>
              <a:t>其他企业却维持原来的价格不变。</a:t>
            </a:r>
            <a:endParaRPr lang="en-US" altLang="zh-CN" sz="2000" b="0" dirty="0">
              <a:latin typeface="微软雅黑" panose="020B0503020204020204" pitchFamily="34" charset="-122"/>
              <a:ea typeface="微软雅黑" panose="020B0503020204020204" pitchFamily="34" charset="-122"/>
            </a:endParaRPr>
          </a:p>
        </p:txBody>
      </p:sp>
      <p:sp>
        <p:nvSpPr>
          <p:cNvPr id="5" name="圆角矩形 4"/>
          <p:cNvSpPr/>
          <p:nvPr/>
        </p:nvSpPr>
        <p:spPr bwMode="auto">
          <a:xfrm>
            <a:off x="1295772" y="4525757"/>
            <a:ext cx="6552455" cy="501698"/>
          </a:xfrm>
          <a:prstGeom prst="round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400050" lvl="2" indent="0" eaLnBrk="1" hangingPunct="1">
              <a:spcBef>
                <a:spcPct val="40000"/>
              </a:spcBef>
              <a:buNone/>
            </a:pPr>
            <a:r>
              <a:rPr lang="zh-CN" altLang="en-US" sz="2000" b="0" dirty="0">
                <a:latin typeface="微软雅黑" panose="020B0503020204020204" pitchFamily="34" charset="-122"/>
                <a:ea typeface="微软雅黑" panose="020B0503020204020204" pitchFamily="34" charset="-122"/>
              </a:rPr>
              <a:t>寡头企业降低价格</a:t>
            </a:r>
            <a:r>
              <a:rPr lang="en-US" altLang="zh-CN" sz="2000" b="0" dirty="0">
                <a:latin typeface="微软雅黑" panose="020B0503020204020204" pitchFamily="34" charset="-122"/>
                <a:ea typeface="微软雅黑" panose="020B0503020204020204" pitchFamily="34" charset="-122"/>
                <a:sym typeface="Wingdings" panose="05000000000000000000" pitchFamily="2" charset="2"/>
              </a:rPr>
              <a:t></a:t>
            </a:r>
            <a:r>
              <a:rPr lang="zh-CN" altLang="en-US" sz="2000" b="0" dirty="0">
                <a:latin typeface="微软雅黑" panose="020B0503020204020204" pitchFamily="34" charset="-122"/>
                <a:ea typeface="微软雅黑" panose="020B0503020204020204" pitchFamily="34" charset="-122"/>
              </a:rPr>
              <a:t>其他企业也会同样降低价格</a:t>
            </a:r>
            <a:endParaRPr lang="en-US" altLang="zh-CN" sz="2000" b="0" dirty="0">
              <a:latin typeface="微软雅黑" panose="020B0503020204020204" pitchFamily="34" charset="-122"/>
              <a:ea typeface="微软雅黑" panose="020B0503020204020204" pitchFamily="34" charset="-122"/>
            </a:endParaRPr>
          </a:p>
          <a:p>
            <a:pPr marL="400050" lvl="2" indent="0" eaLnBrk="1" hangingPunct="1">
              <a:spcBef>
                <a:spcPct val="40000"/>
              </a:spcBef>
              <a:buNone/>
            </a:pPr>
            <a:endParaRPr lang="en-US" altLang="zh-CN" sz="2000" b="0" dirty="0"/>
          </a:p>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endParaRPr lang="zh-CN" altLang="en-US" sz="2000" b="0" dirty="0">
              <a:latin typeface="微软雅黑" panose="020B0503020204020204" pitchFamily="34" charset="-122"/>
              <a:ea typeface="微软雅黑" panose="020B0503020204020204" pitchFamily="34" charset="-122"/>
              <a:sym typeface="Arial" panose="020B0604020202020204" pitchFamily="34" charset="0"/>
            </a:endParaRPr>
          </a:p>
        </p:txBody>
      </p:sp>
      <p:sp>
        <p:nvSpPr>
          <p:cNvPr id="2" name="下箭头 1"/>
          <p:cNvSpPr/>
          <p:nvPr/>
        </p:nvSpPr>
        <p:spPr bwMode="auto">
          <a:xfrm>
            <a:off x="4427990" y="4092394"/>
            <a:ext cx="288020" cy="338051"/>
          </a:xfrm>
          <a:prstGeom prst="downArrow">
            <a:avLst/>
          </a:prstGeom>
          <a:solidFill>
            <a:srgbClr val="F3C97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7" name="矩形 6"/>
          <p:cNvSpPr/>
          <p:nvPr/>
        </p:nvSpPr>
        <p:spPr>
          <a:xfrm>
            <a:off x="7543092" y="44765"/>
            <a:ext cx="1600908" cy="369332"/>
          </a:xfrm>
          <a:prstGeom prst="rect">
            <a:avLst/>
          </a:prstGeom>
        </p:spPr>
        <p:txBody>
          <a:bodyPr wrap="square">
            <a:spAutoFit/>
          </a:bodyPr>
          <a:lstStyle/>
          <a:p>
            <a:r>
              <a:rPr lang="zh-CN" altLang="en-US" sz="1800" b="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第三节  寡头</a:t>
            </a:r>
            <a:endParaRPr lang="zh-CN" altLang="en-US" sz="18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8" name="矩形 7">
            <a:extLst>
              <a:ext uri="{FF2B5EF4-FFF2-40B4-BE49-F238E27FC236}">
                <a16:creationId xmlns:a16="http://schemas.microsoft.com/office/drawing/2014/main" id="{F68E5273-CD77-47B9-B841-9D29349C133D}"/>
              </a:ext>
            </a:extLst>
          </p:cNvPr>
          <p:cNvSpPr/>
          <p:nvPr/>
        </p:nvSpPr>
        <p:spPr>
          <a:xfrm>
            <a:off x="457201" y="548681"/>
            <a:ext cx="2746704"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marL="0" lvl="1">
              <a:defRPr/>
            </a:pPr>
            <a:r>
              <a:rPr lang="zh-CN" altLang="en-US" sz="2400" spc="150" dirty="0">
                <a:solidFill>
                  <a:srgbClr val="FFFFFF"/>
                </a:solidFill>
                <a:latin typeface="微软雅黑" panose="020B0503020204020204" pitchFamily="34" charset="-122"/>
                <a:ea typeface="微软雅黑" panose="020B0503020204020204" pitchFamily="34" charset="-122"/>
              </a:rPr>
              <a:t>四</a:t>
            </a:r>
            <a:r>
              <a:rPr lang="zh-CN" altLang="en-US" sz="2400" b="1" spc="150" dirty="0">
                <a:solidFill>
                  <a:srgbClr val="FFFFFF"/>
                </a:solidFill>
                <a:latin typeface="微软雅黑" panose="020B0503020204020204" pitchFamily="34" charset="-122"/>
                <a:ea typeface="微软雅黑" panose="020B0503020204020204" pitchFamily="34" charset="-122"/>
              </a:rPr>
              <a:t>、</a:t>
            </a:r>
            <a:r>
              <a:rPr lang="zh-CN" altLang="en-US" sz="2400" spc="15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斯威齐模型</a:t>
            </a:r>
            <a:endParaRPr lang="zh-CN" altLang="en-US" sz="2400" spc="150" dirty="0">
              <a:solidFill>
                <a:srgbClr val="FFFFFF"/>
              </a:solidFill>
              <a:latin typeface="微软雅黑" panose="020B0503020204020204" pitchFamily="34" charset="-122"/>
              <a:ea typeface="微软雅黑" panose="020B0503020204020204" pitchFamily="34"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9" fill="hold" nodeType="clickEffect">
                                  <p:stCondLst>
                                    <p:cond delay="0"/>
                                  </p:stCondLst>
                                  <p:childTnLst>
                                    <p:set>
                                      <p:cBhvr>
                                        <p:cTn id="6" dur="1" fill="hold">
                                          <p:stCondLst>
                                            <p:cond delay="0"/>
                                          </p:stCondLst>
                                        </p:cTn>
                                        <p:tgtEl>
                                          <p:spTgt spid="44034">
                                            <p:txEl>
                                              <p:pRg st="0" end="0"/>
                                            </p:txEl>
                                          </p:spTgt>
                                        </p:tgtEl>
                                        <p:attrNameLst>
                                          <p:attrName>style.visibility</p:attrName>
                                        </p:attrNameLst>
                                      </p:cBhvr>
                                      <p:to>
                                        <p:strVal val="visible"/>
                                      </p:to>
                                    </p:set>
                                    <p:anim calcmode="lin" valueType="num">
                                      <p:cBhvr>
                                        <p:cTn id="7" dur="500" fill="hold"/>
                                        <p:tgtEl>
                                          <p:spTgt spid="44034">
                                            <p:txEl>
                                              <p:pRg st="0" end="0"/>
                                            </p:txEl>
                                          </p:spTgt>
                                        </p:tgtEl>
                                        <p:attrNameLst>
                                          <p:attrName>ppt_x</p:attrName>
                                        </p:attrNameLst>
                                      </p:cBhvr>
                                      <p:tavLst>
                                        <p:tav tm="0">
                                          <p:val>
                                            <p:strVal val="0-#ppt_w/2"/>
                                          </p:val>
                                        </p:tav>
                                        <p:tav tm="100000">
                                          <p:val>
                                            <p:strVal val="#ppt_x"/>
                                          </p:val>
                                        </p:tav>
                                      </p:tavLst>
                                    </p:anim>
                                    <p:anim calcmode="lin" valueType="num">
                                      <p:cBhvr>
                                        <p:cTn id="8" dur="500" fill="hold"/>
                                        <p:tgtEl>
                                          <p:spTgt spid="44034">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9" fill="hold" nodeType="clickEffect">
                                  <p:stCondLst>
                                    <p:cond delay="0"/>
                                  </p:stCondLst>
                                  <p:childTnLst>
                                    <p:set>
                                      <p:cBhvr>
                                        <p:cTn id="12" dur="1" fill="hold">
                                          <p:stCondLst>
                                            <p:cond delay="0"/>
                                          </p:stCondLst>
                                        </p:cTn>
                                        <p:tgtEl>
                                          <p:spTgt spid="44034">
                                            <p:txEl>
                                              <p:pRg st="1" end="1"/>
                                            </p:txEl>
                                          </p:spTgt>
                                        </p:tgtEl>
                                        <p:attrNameLst>
                                          <p:attrName>style.visibility</p:attrName>
                                        </p:attrNameLst>
                                      </p:cBhvr>
                                      <p:to>
                                        <p:strVal val="visible"/>
                                      </p:to>
                                    </p:set>
                                    <p:anim calcmode="lin" valueType="num">
                                      <p:cBhvr>
                                        <p:cTn id="13" dur="500" fill="hold"/>
                                        <p:tgtEl>
                                          <p:spTgt spid="44034">
                                            <p:txEl>
                                              <p:pRg st="1" end="1"/>
                                            </p:txEl>
                                          </p:spTgt>
                                        </p:tgtEl>
                                        <p:attrNameLst>
                                          <p:attrName>ppt_x</p:attrName>
                                        </p:attrNameLst>
                                      </p:cBhvr>
                                      <p:tavLst>
                                        <p:tav tm="0">
                                          <p:val>
                                            <p:strVal val="0-#ppt_w/2"/>
                                          </p:val>
                                        </p:tav>
                                        <p:tav tm="100000">
                                          <p:val>
                                            <p:strVal val="#ppt_x"/>
                                          </p:val>
                                        </p:tav>
                                      </p:tavLst>
                                    </p:anim>
                                    <p:anim calcmode="lin" valueType="num">
                                      <p:cBhvr>
                                        <p:cTn id="14" dur="500" fill="hold"/>
                                        <p:tgtEl>
                                          <p:spTgt spid="44034">
                                            <p:txEl>
                                              <p:pRg st="1" end="1"/>
                                            </p:txEl>
                                          </p:spTgt>
                                        </p:tgtEl>
                                        <p:attrNameLst>
                                          <p:attrName>ppt_y</p:attrName>
                                        </p:attrNameLst>
                                      </p:cBhvr>
                                      <p:tavLst>
                                        <p:tav tm="0">
                                          <p:val>
                                            <p:strVal val="0-#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3" presetClass="entr" presetSubtype="10" fill="hold" nodeType="clickEffect">
                                  <p:stCondLst>
                                    <p:cond delay="0"/>
                                  </p:stCondLst>
                                  <p:childTnLst>
                                    <p:set>
                                      <p:cBhvr>
                                        <p:cTn id="18" dur="1" fill="hold">
                                          <p:stCondLst>
                                            <p:cond delay="0"/>
                                          </p:stCondLst>
                                        </p:cTn>
                                        <p:tgtEl>
                                          <p:spTgt spid="44034">
                                            <p:txEl>
                                              <p:pRg st="2" end="2"/>
                                            </p:txEl>
                                          </p:spTgt>
                                        </p:tgtEl>
                                        <p:attrNameLst>
                                          <p:attrName>style.visibility</p:attrName>
                                        </p:attrNameLst>
                                      </p:cBhvr>
                                      <p:to>
                                        <p:strVal val="visible"/>
                                      </p:to>
                                    </p:set>
                                    <p:animEffect>
                                      <p:cBhvr>
                                        <p:cTn id="19" dur="500"/>
                                        <p:tgtEl>
                                          <p:spTgt spid="44034">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fade">
                                      <p:cBhvr>
                                        <p:cTn id="24" dur="1000"/>
                                        <p:tgtEl>
                                          <p:spTgt spid="4"/>
                                        </p:tgtEl>
                                      </p:cBhvr>
                                    </p:animEffect>
                                    <p:anim calcmode="lin" valueType="num">
                                      <p:cBhvr>
                                        <p:cTn id="25" dur="1000" fill="hold"/>
                                        <p:tgtEl>
                                          <p:spTgt spid="4"/>
                                        </p:tgtEl>
                                        <p:attrNameLst>
                                          <p:attrName>ppt_x</p:attrName>
                                        </p:attrNameLst>
                                      </p:cBhvr>
                                      <p:tavLst>
                                        <p:tav tm="0">
                                          <p:val>
                                            <p:strVal val="#ppt_x"/>
                                          </p:val>
                                        </p:tav>
                                        <p:tav tm="100000">
                                          <p:val>
                                            <p:strVal val="#ppt_x"/>
                                          </p:val>
                                        </p:tav>
                                      </p:tavLst>
                                    </p:anim>
                                    <p:anim calcmode="lin" valueType="num">
                                      <p:cBhvr>
                                        <p:cTn id="2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anim calcmode="lin" valueType="num">
                                      <p:cBhvr additive="base">
                                        <p:cTn id="31" dur="500" fill="hold"/>
                                        <p:tgtEl>
                                          <p:spTgt spid="2"/>
                                        </p:tgtEl>
                                        <p:attrNameLst>
                                          <p:attrName>ppt_x</p:attrName>
                                        </p:attrNameLst>
                                      </p:cBhvr>
                                      <p:tavLst>
                                        <p:tav tm="0">
                                          <p:val>
                                            <p:strVal val="#ppt_x"/>
                                          </p:val>
                                        </p:tav>
                                        <p:tav tm="100000">
                                          <p:val>
                                            <p:strVal val="#ppt_x"/>
                                          </p:val>
                                        </p:tav>
                                      </p:tavLst>
                                    </p:anim>
                                    <p:anim calcmode="lin" valueType="num">
                                      <p:cBhvr additive="base">
                                        <p:cTn id="3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fade">
                                      <p:cBhvr>
                                        <p:cTn id="37" dur="1000"/>
                                        <p:tgtEl>
                                          <p:spTgt spid="5"/>
                                        </p:tgtEl>
                                      </p:cBhvr>
                                    </p:animEffect>
                                    <p:anim calcmode="lin" valueType="num">
                                      <p:cBhvr>
                                        <p:cTn id="38" dur="1000" fill="hold"/>
                                        <p:tgtEl>
                                          <p:spTgt spid="5"/>
                                        </p:tgtEl>
                                        <p:attrNameLst>
                                          <p:attrName>ppt_x</p:attrName>
                                        </p:attrNameLst>
                                      </p:cBhvr>
                                      <p:tavLst>
                                        <p:tav tm="0">
                                          <p:val>
                                            <p:strVal val="#ppt_x"/>
                                          </p:val>
                                        </p:tav>
                                        <p:tav tm="100000">
                                          <p:val>
                                            <p:strVal val="#ppt_x"/>
                                          </p:val>
                                        </p:tav>
                                      </p:tavLst>
                                    </p:anim>
                                    <p:anim calcmode="lin" valueType="num">
                                      <p:cBhvr>
                                        <p:cTn id="3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nodeType="clickEffect">
                                  <p:stCondLst>
                                    <p:cond delay="0"/>
                                  </p:stCondLst>
                                  <p:childTnLst>
                                    <p:set>
                                      <p:cBhvr>
                                        <p:cTn id="43" dur="1" fill="hold">
                                          <p:stCondLst>
                                            <p:cond delay="0"/>
                                          </p:stCondLst>
                                        </p:cTn>
                                        <p:tgtEl>
                                          <p:spTgt spid="44034">
                                            <p:txEl>
                                              <p:pRg st="4" end="4"/>
                                            </p:txEl>
                                          </p:spTgt>
                                        </p:tgtEl>
                                        <p:attrNameLst>
                                          <p:attrName>style.visibility</p:attrName>
                                        </p:attrNameLst>
                                      </p:cBhvr>
                                      <p:to>
                                        <p:strVal val="visible"/>
                                      </p:to>
                                    </p:set>
                                    <p:animEffect>
                                      <p:cBhvr>
                                        <p:cTn id="44" dur="500"/>
                                        <p:tgtEl>
                                          <p:spTgt spid="4403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2"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3"/>
          <p:cNvSpPr>
            <a:spLocks noGrp="1" noChangeArrowheads="1"/>
          </p:cNvSpPr>
          <p:nvPr>
            <p:ph type="body" idx="4294967295"/>
          </p:nvPr>
        </p:nvSpPr>
        <p:spPr>
          <a:xfrm>
            <a:off x="714475" y="1700880"/>
            <a:ext cx="7715050" cy="4353055"/>
          </a:xfrm>
          <a:ln/>
        </p:spPr>
        <p:txBody>
          <a:bodyPr/>
          <a:lstStyle/>
          <a:p>
            <a:pPr marL="457200" lvl="2" indent="-457200" eaLnBrk="1" hangingPunct="1">
              <a:lnSpc>
                <a:spcPct val="250000"/>
              </a:lnSpc>
              <a:buSzPct val="100000"/>
              <a:buFont typeface="Wingdings" panose="05000000000000000000" pitchFamily="2" charset="2"/>
              <a:buChar char="u"/>
            </a:pPr>
            <a:r>
              <a:rPr lang="zh-CN" altLang="en-US" sz="2200" b="0" dirty="0">
                <a:latin typeface="微软雅黑" panose="020B0503020204020204" pitchFamily="34" charset="-122"/>
                <a:ea typeface="微软雅黑" panose="020B0503020204020204" pitchFamily="34" charset="-122"/>
              </a:rPr>
              <a:t>斯威奇模型的图示</a:t>
            </a:r>
            <a:endParaRPr lang="en-US" altLang="zh-CN" sz="2200" b="0" dirty="0">
              <a:latin typeface="微软雅黑" panose="020B0503020204020204" pitchFamily="34" charset="-122"/>
              <a:ea typeface="微软雅黑" panose="020B0503020204020204" pitchFamily="34" charset="-122"/>
            </a:endParaRPr>
          </a:p>
          <a:p>
            <a:pPr marL="742950" lvl="2" indent="-342900" eaLnBrk="1" hangingPunct="1">
              <a:lnSpc>
                <a:spcPct val="200000"/>
              </a:lnSpc>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rPr>
              <a:t>在这种情况下</a:t>
            </a:r>
            <a:r>
              <a:rPr lang="en-US" altLang="zh-CN" sz="2000" b="0" dirty="0">
                <a:latin typeface="微软雅黑" panose="020B0503020204020204" pitchFamily="34" charset="-122"/>
                <a:ea typeface="微软雅黑" panose="020B0503020204020204" pitchFamily="34" charset="-122"/>
              </a:rPr>
              <a:t>, </a:t>
            </a:r>
            <a:r>
              <a:rPr lang="zh-CN" altLang="en-US" sz="2000" b="0" dirty="0">
                <a:latin typeface="微软雅黑" panose="020B0503020204020204" pitchFamily="34" charset="-122"/>
                <a:ea typeface="微软雅黑" panose="020B0503020204020204" pitchFamily="34" charset="-122"/>
              </a:rPr>
              <a:t>寡头企业面临的需求曲线会在现行价格处发生“扭折”</a:t>
            </a:r>
            <a:endParaRPr lang="en-US" altLang="zh-CN" sz="2000" b="0" dirty="0">
              <a:latin typeface="微软雅黑" panose="020B0503020204020204" pitchFamily="34" charset="-122"/>
              <a:ea typeface="微软雅黑" panose="020B0503020204020204" pitchFamily="34" charset="-122"/>
            </a:endParaRPr>
          </a:p>
          <a:p>
            <a:pPr marL="742950" lvl="2" indent="-342900" eaLnBrk="1" hangingPunct="1">
              <a:lnSpc>
                <a:spcPct val="200000"/>
              </a:lnSpc>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rPr>
              <a:t>相应地，边际收益曲线在现行价格对应的产量处发生断裂</a:t>
            </a:r>
          </a:p>
          <a:p>
            <a:pPr marL="857250" lvl="3" indent="0" eaLnBrk="1" hangingPunct="1">
              <a:spcBef>
                <a:spcPct val="40000"/>
              </a:spcBef>
              <a:buNone/>
            </a:pPr>
            <a:r>
              <a:rPr lang="zh-CN" altLang="en-US" b="0" dirty="0">
                <a:latin typeface="微软雅黑" panose="020B0503020204020204" pitchFamily="34" charset="-122"/>
                <a:ea typeface="微软雅黑" panose="020B0503020204020204" pitchFamily="34" charset="-122"/>
              </a:rPr>
              <a:t>（见下页）</a:t>
            </a:r>
            <a:endParaRPr lang="en-US" altLang="zh-CN" b="0" dirty="0">
              <a:latin typeface="微软雅黑" panose="020B0503020204020204" pitchFamily="34" charset="-122"/>
              <a:ea typeface="微软雅黑" panose="020B0503020204020204" pitchFamily="34" charset="-122"/>
            </a:endParaRPr>
          </a:p>
          <a:p>
            <a:pPr marL="342900" lvl="2" indent="-342900" eaLnBrk="1" hangingPunct="1">
              <a:spcBef>
                <a:spcPct val="40000"/>
              </a:spcBef>
              <a:buFontTx/>
              <a:buNone/>
            </a:pPr>
            <a:endParaRPr lang="zh-CN" altLang="en-US" b="0" dirty="0"/>
          </a:p>
        </p:txBody>
      </p:sp>
      <p:sp>
        <p:nvSpPr>
          <p:cNvPr id="4" name="矩形 3"/>
          <p:cNvSpPr/>
          <p:nvPr/>
        </p:nvSpPr>
        <p:spPr>
          <a:xfrm>
            <a:off x="7543092" y="44765"/>
            <a:ext cx="1600908" cy="369332"/>
          </a:xfrm>
          <a:prstGeom prst="rect">
            <a:avLst/>
          </a:prstGeom>
        </p:spPr>
        <p:txBody>
          <a:bodyPr wrap="square">
            <a:spAutoFit/>
          </a:bodyPr>
          <a:lstStyle/>
          <a:p>
            <a:r>
              <a:rPr lang="zh-CN" altLang="en-US" sz="1800" b="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第三节  寡头</a:t>
            </a:r>
            <a:endParaRPr lang="zh-CN" altLang="en-US" sz="18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 name="矩形 4">
            <a:extLst>
              <a:ext uri="{FF2B5EF4-FFF2-40B4-BE49-F238E27FC236}">
                <a16:creationId xmlns:a16="http://schemas.microsoft.com/office/drawing/2014/main" id="{F68E5273-CD77-47B9-B841-9D29349C133D}"/>
              </a:ext>
            </a:extLst>
          </p:cNvPr>
          <p:cNvSpPr/>
          <p:nvPr/>
        </p:nvSpPr>
        <p:spPr>
          <a:xfrm>
            <a:off x="457201" y="548681"/>
            <a:ext cx="2746704"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marL="0" lvl="1">
              <a:defRPr/>
            </a:pPr>
            <a:r>
              <a:rPr lang="zh-CN" altLang="en-US" sz="2400" spc="150" dirty="0">
                <a:solidFill>
                  <a:srgbClr val="FFFFFF"/>
                </a:solidFill>
                <a:latin typeface="微软雅黑" panose="020B0503020204020204" pitchFamily="34" charset="-122"/>
                <a:ea typeface="微软雅黑" panose="020B0503020204020204" pitchFamily="34" charset="-122"/>
              </a:rPr>
              <a:t>四</a:t>
            </a:r>
            <a:r>
              <a:rPr lang="zh-CN" altLang="en-US" sz="2400" b="1" spc="150" dirty="0">
                <a:solidFill>
                  <a:srgbClr val="FFFFFF"/>
                </a:solidFill>
                <a:latin typeface="微软雅黑" panose="020B0503020204020204" pitchFamily="34" charset="-122"/>
                <a:ea typeface="微软雅黑" panose="020B0503020204020204" pitchFamily="34" charset="-122"/>
              </a:rPr>
              <a:t>、</a:t>
            </a:r>
            <a:r>
              <a:rPr lang="zh-CN" altLang="en-US" sz="2400" spc="15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斯威齐模型</a:t>
            </a:r>
            <a:endParaRPr lang="zh-CN" altLang="en-US" sz="2400" spc="150" dirty="0">
              <a:solidFill>
                <a:srgbClr val="FFFFFF"/>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278193959"/>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9" fill="hold" nodeType="clickEffect">
                                  <p:stCondLst>
                                    <p:cond delay="0"/>
                                  </p:stCondLst>
                                  <p:childTnLst>
                                    <p:set>
                                      <p:cBhvr>
                                        <p:cTn id="6" dur="1" fill="hold">
                                          <p:stCondLst>
                                            <p:cond delay="0"/>
                                          </p:stCondLst>
                                        </p:cTn>
                                        <p:tgtEl>
                                          <p:spTgt spid="44034">
                                            <p:txEl>
                                              <p:pRg st="0" end="0"/>
                                            </p:txEl>
                                          </p:spTgt>
                                        </p:tgtEl>
                                        <p:attrNameLst>
                                          <p:attrName>style.visibility</p:attrName>
                                        </p:attrNameLst>
                                      </p:cBhvr>
                                      <p:to>
                                        <p:strVal val="visible"/>
                                      </p:to>
                                    </p:set>
                                    <p:anim calcmode="lin" valueType="num">
                                      <p:cBhvr>
                                        <p:cTn id="7" dur="500" fill="hold"/>
                                        <p:tgtEl>
                                          <p:spTgt spid="44034">
                                            <p:txEl>
                                              <p:pRg st="0" end="0"/>
                                            </p:txEl>
                                          </p:spTgt>
                                        </p:tgtEl>
                                        <p:attrNameLst>
                                          <p:attrName>ppt_x</p:attrName>
                                        </p:attrNameLst>
                                      </p:cBhvr>
                                      <p:tavLst>
                                        <p:tav tm="0">
                                          <p:val>
                                            <p:strVal val="0-#ppt_w/2"/>
                                          </p:val>
                                        </p:tav>
                                        <p:tav tm="100000">
                                          <p:val>
                                            <p:strVal val="#ppt_x"/>
                                          </p:val>
                                        </p:tav>
                                      </p:tavLst>
                                    </p:anim>
                                    <p:anim calcmode="lin" valueType="num">
                                      <p:cBhvr>
                                        <p:cTn id="8" dur="500" fill="hold"/>
                                        <p:tgtEl>
                                          <p:spTgt spid="44034">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nodeType="clickEffect">
                                  <p:stCondLst>
                                    <p:cond delay="0"/>
                                  </p:stCondLst>
                                  <p:childTnLst>
                                    <p:set>
                                      <p:cBhvr>
                                        <p:cTn id="12" dur="1" fill="hold">
                                          <p:stCondLst>
                                            <p:cond delay="0"/>
                                          </p:stCondLst>
                                        </p:cTn>
                                        <p:tgtEl>
                                          <p:spTgt spid="44034">
                                            <p:txEl>
                                              <p:pRg st="1" end="1"/>
                                            </p:txEl>
                                          </p:spTgt>
                                        </p:tgtEl>
                                        <p:attrNameLst>
                                          <p:attrName>style.visibility</p:attrName>
                                        </p:attrNameLst>
                                      </p:cBhvr>
                                      <p:to>
                                        <p:strVal val="visible"/>
                                      </p:to>
                                    </p:set>
                                    <p:animEffect>
                                      <p:cBhvr>
                                        <p:cTn id="13" dur="500"/>
                                        <p:tgtEl>
                                          <p:spTgt spid="44034">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44034">
                                            <p:txEl>
                                              <p:pRg st="2" end="2"/>
                                            </p:txEl>
                                          </p:spTgt>
                                        </p:tgtEl>
                                        <p:attrNameLst>
                                          <p:attrName>style.visibility</p:attrName>
                                        </p:attrNameLst>
                                      </p:cBhvr>
                                      <p:to>
                                        <p:strVal val="visible"/>
                                      </p:to>
                                    </p:set>
                                    <p:animEffect>
                                      <p:cBhvr>
                                        <p:cTn id="18" dur="500"/>
                                        <p:tgtEl>
                                          <p:spTgt spid="44034">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44034">
                                            <p:txEl>
                                              <p:pRg st="3" end="3"/>
                                            </p:txEl>
                                          </p:spTgt>
                                        </p:tgtEl>
                                        <p:attrNameLst>
                                          <p:attrName>style.visibility</p:attrName>
                                        </p:attrNameLst>
                                      </p:cBhvr>
                                      <p:to>
                                        <p:strVal val="visible"/>
                                      </p:to>
                                    </p:set>
                                    <p:animEffect>
                                      <p:cBhvr>
                                        <p:cTn id="23" dur="500"/>
                                        <p:tgtEl>
                                          <p:spTgt spid="4403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5089" name="圆角矩形标注 35"/>
              <p:cNvSpPr>
                <a:spLocks noChangeArrowheads="1"/>
              </p:cNvSpPr>
              <p:nvPr/>
            </p:nvSpPr>
            <p:spPr bwMode="auto">
              <a:xfrm>
                <a:off x="160337" y="5261769"/>
                <a:ext cx="1785938" cy="919401"/>
              </a:xfrm>
              <a:prstGeom prst="wedgeRoundRectCallout">
                <a:avLst>
                  <a:gd name="adj1" fmla="val 149981"/>
                  <a:gd name="adj2" fmla="val -132541"/>
                  <a:gd name="adj3" fmla="val 16667"/>
                </a:avLst>
              </a:prstGeom>
              <a:solidFill>
                <a:schemeClr val="bg1"/>
              </a:solidFill>
              <a:ln>
                <a:solidFill>
                  <a:srgbClr val="C00000"/>
                </a:solidFill>
              </a:ln>
            </p:spPr>
            <p:style>
              <a:lnRef idx="3">
                <a:schemeClr val="lt1"/>
              </a:lnRef>
              <a:fillRef idx="1">
                <a:schemeClr val="accent1"/>
              </a:fillRef>
              <a:effectRef idx="1">
                <a:schemeClr val="accent1"/>
              </a:effectRef>
              <a:fontRef idx="minor">
                <a:schemeClr val="lt1"/>
              </a:fontRef>
            </p:style>
            <p:txBody>
              <a:bodyPr>
                <a:spAutoFit/>
              </a:bodyPr>
              <a:lstStyle/>
              <a:p>
                <a:pPr algn="just"/>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扭折需求曲线上半段</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AB</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的边际收益曲线</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A</a:t>
                </a:r>
                <a14:m>
                  <m:oMath xmlns:m="http://schemas.openxmlformats.org/officeDocument/2006/math">
                    <m:sSub>
                      <m:sSubPr>
                        <m:ctrlPr>
                          <a:rPr lang="en-US" altLang="zh-CN" b="0" i="1">
                            <a:solidFill>
                              <a:schemeClr val="tx1"/>
                            </a:solidFill>
                            <a:latin typeface="Cambria Math" panose="02040503050406030204" pitchFamily="18" charset="0"/>
                            <a:sym typeface="Arial" panose="020B0604020202020204" pitchFamily="34" charset="0"/>
                          </a:rPr>
                        </m:ctrlPr>
                      </m:sSubPr>
                      <m:e>
                        <m:r>
                          <a:rPr lang="en-US" altLang="zh-CN" b="0">
                            <a:solidFill>
                              <a:schemeClr val="tx1"/>
                            </a:solidFill>
                            <a:latin typeface="Cambria Math" panose="02040503050406030204" pitchFamily="18" charset="0"/>
                            <a:sym typeface="Arial" panose="020B0604020202020204" pitchFamily="34" charset="0"/>
                          </a:rPr>
                          <m:t>𝐵</m:t>
                        </m:r>
                      </m:e>
                      <m:sub>
                        <m:r>
                          <a:rPr lang="en-US" altLang="zh-CN" b="0">
                            <a:solidFill>
                              <a:schemeClr val="tx1"/>
                            </a:solidFill>
                            <a:latin typeface="Cambria Math" panose="02040503050406030204" pitchFamily="18" charset="0"/>
                            <a:sym typeface="Arial" panose="020B0604020202020204" pitchFamily="34" charset="0"/>
                          </a:rPr>
                          <m:t>1</m:t>
                        </m:r>
                      </m:sub>
                    </m:sSub>
                  </m:oMath>
                </a14:m>
                <a:endPar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endParaRPr>
              </a:p>
            </p:txBody>
          </p:sp>
        </mc:Choice>
        <mc:Fallback xmlns="">
          <p:sp>
            <p:nvSpPr>
              <p:cNvPr id="45089" name="圆角矩形标注 35"/>
              <p:cNvSpPr>
                <a:spLocks noRot="1" noChangeAspect="1" noMove="1" noResize="1" noEditPoints="1" noAdjustHandles="1" noChangeArrowheads="1" noChangeShapeType="1" noTextEdit="1"/>
              </p:cNvSpPr>
              <p:nvPr/>
            </p:nvSpPr>
            <p:spPr bwMode="auto">
              <a:xfrm>
                <a:off x="160337" y="5261769"/>
                <a:ext cx="1785938" cy="919401"/>
              </a:xfrm>
              <a:prstGeom prst="wedgeRoundRectCallout">
                <a:avLst>
                  <a:gd name="adj1" fmla="val 149981"/>
                  <a:gd name="adj2" fmla="val -132541"/>
                  <a:gd name="adj3" fmla="val 16667"/>
                </a:avLst>
              </a:prstGeom>
              <a:blipFill>
                <a:blip r:embed="rId2"/>
                <a:stretch>
                  <a:fillRect b="-1056"/>
                </a:stretch>
              </a:blipFill>
              <a:ln>
                <a:solidFill>
                  <a:srgbClr val="C00000"/>
                </a:solidFill>
              </a:ln>
            </p:spPr>
            <p:txBody>
              <a:bodyPr/>
              <a:lstStyle/>
              <a:p>
                <a:r>
                  <a:rPr lang="zh-CN" altLang="en-US">
                    <a:noFill/>
                  </a:rPr>
                  <a:t> </a:t>
                </a:r>
              </a:p>
            </p:txBody>
          </p:sp>
        </mc:Fallback>
      </mc:AlternateContent>
      <p:sp>
        <p:nvSpPr>
          <p:cNvPr id="45088" name="圆角矩形标注 34"/>
          <p:cNvSpPr>
            <a:spLocks noChangeArrowheads="1"/>
          </p:cNvSpPr>
          <p:nvPr/>
        </p:nvSpPr>
        <p:spPr bwMode="auto">
          <a:xfrm>
            <a:off x="160337" y="4500273"/>
            <a:ext cx="1857375" cy="646113"/>
          </a:xfrm>
          <a:prstGeom prst="wedgeRoundRectCallout">
            <a:avLst>
              <a:gd name="adj1" fmla="val 151542"/>
              <a:gd name="adj2" fmla="val -117624"/>
              <a:gd name="adj3" fmla="val 16667"/>
            </a:avLst>
          </a:prstGeom>
          <a:solidFill>
            <a:schemeClr val="bg1"/>
          </a:solidFill>
          <a:ln>
            <a:solidFill>
              <a:srgbClr val="C00000"/>
            </a:solidFill>
          </a:ln>
        </p:spPr>
        <p:style>
          <a:lnRef idx="3">
            <a:schemeClr val="lt1"/>
          </a:lnRef>
          <a:fillRef idx="1">
            <a:schemeClr val="accent1"/>
          </a:fillRef>
          <a:effectRef idx="1">
            <a:schemeClr val="accent1"/>
          </a:effectRef>
          <a:fontRef idx="minor">
            <a:schemeClr val="lt1"/>
          </a:fontRef>
        </p:style>
        <p:txBody>
          <a:bodyPr>
            <a:spAutoFit/>
          </a:bodyPr>
          <a:lstStyle/>
          <a:p>
            <a:pPr algn="just"/>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整个需求曲线就在</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B</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处扭折</a:t>
            </a:r>
          </a:p>
        </p:txBody>
      </p:sp>
      <mc:AlternateContent xmlns:mc="http://schemas.openxmlformats.org/markup-compatibility/2006" xmlns:a14="http://schemas.microsoft.com/office/drawing/2010/main">
        <mc:Choice Requires="a14">
          <p:sp>
            <p:nvSpPr>
              <p:cNvPr id="45090" name="圆角矩形标注 36"/>
              <p:cNvSpPr>
                <a:spLocks noChangeArrowheads="1"/>
              </p:cNvSpPr>
              <p:nvPr/>
            </p:nvSpPr>
            <p:spPr bwMode="auto">
              <a:xfrm>
                <a:off x="6572250" y="4546312"/>
                <a:ext cx="2464059" cy="919162"/>
              </a:xfrm>
              <a:prstGeom prst="wedgeRoundRectCallout">
                <a:avLst>
                  <a:gd name="adj1" fmla="val -147778"/>
                  <a:gd name="adj2" fmla="val 51235"/>
                  <a:gd name="adj3" fmla="val 16667"/>
                </a:avLst>
              </a:prstGeom>
              <a:solidFill>
                <a:schemeClr val="bg1"/>
              </a:solidFill>
              <a:ln>
                <a:solidFill>
                  <a:srgbClr val="C00000"/>
                </a:solidFill>
              </a:ln>
            </p:spPr>
            <p:style>
              <a:lnRef idx="3">
                <a:schemeClr val="lt1"/>
              </a:lnRef>
              <a:fillRef idx="1">
                <a:schemeClr val="accent1"/>
              </a:fillRef>
              <a:effectRef idx="1">
                <a:schemeClr val="accent1"/>
              </a:effectRef>
              <a:fontRef idx="minor">
                <a:schemeClr val="lt1"/>
              </a:fontRef>
            </p:style>
            <p:txBody>
              <a:bodyPr>
                <a:spAutoFit/>
              </a:bodyPr>
              <a:lstStyle/>
              <a:p>
                <a:pPr algn="just"/>
                <a14:m>
                  <m:oMath xmlns:m="http://schemas.openxmlformats.org/officeDocument/2006/math">
                    <m:sSub>
                      <m:sSubPr>
                        <m:ctrlPr>
                          <a:rPr lang="en-US" altLang="zh-CN" b="0" i="1" dirty="0">
                            <a:solidFill>
                              <a:schemeClr val="tx1"/>
                            </a:solidFill>
                            <a:latin typeface="Cambria Math" panose="02040503050406030204" pitchFamily="18" charset="0"/>
                            <a:sym typeface="Arial" panose="020B0604020202020204" pitchFamily="34" charset="0"/>
                          </a:rPr>
                        </m:ctrlPr>
                      </m:sSubPr>
                      <m:e>
                        <m:r>
                          <a:rPr lang="en-US" altLang="zh-CN" b="0" dirty="0">
                            <a:solidFill>
                              <a:schemeClr val="tx1"/>
                            </a:solidFill>
                            <a:latin typeface="Cambria Math" panose="02040503050406030204" pitchFamily="18" charset="0"/>
                            <a:sym typeface="Arial" panose="020B0604020202020204" pitchFamily="34" charset="0"/>
                          </a:rPr>
                          <m:t>𝐵</m:t>
                        </m:r>
                      </m:e>
                      <m:sub>
                        <m:r>
                          <a:rPr lang="en-US" altLang="zh-CN" b="0" dirty="0">
                            <a:solidFill>
                              <a:schemeClr val="tx1"/>
                            </a:solidFill>
                            <a:latin typeface="Cambria Math" panose="02040503050406030204" pitchFamily="18" charset="0"/>
                            <a:sym typeface="Arial" panose="020B0604020202020204" pitchFamily="34" charset="0"/>
                          </a:rPr>
                          <m:t>2</m:t>
                        </m:r>
                      </m:sub>
                    </m:sSub>
                  </m:oMath>
                </a14:m>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G</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就是相应于真实需求曲线</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ABC</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下半段</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BC</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的边际收益曲线。</a:t>
                </a:r>
              </a:p>
            </p:txBody>
          </p:sp>
        </mc:Choice>
        <mc:Fallback xmlns="">
          <p:sp>
            <p:nvSpPr>
              <p:cNvPr id="45090" name="圆角矩形标注 36"/>
              <p:cNvSpPr>
                <a:spLocks noRot="1" noChangeAspect="1" noMove="1" noResize="1" noEditPoints="1" noAdjustHandles="1" noChangeArrowheads="1" noChangeShapeType="1" noTextEdit="1"/>
              </p:cNvSpPr>
              <p:nvPr/>
            </p:nvSpPr>
            <p:spPr bwMode="auto">
              <a:xfrm>
                <a:off x="6572250" y="4546312"/>
                <a:ext cx="2464059" cy="919162"/>
              </a:xfrm>
              <a:prstGeom prst="wedgeRoundRectCallout">
                <a:avLst>
                  <a:gd name="adj1" fmla="val -147778"/>
                  <a:gd name="adj2" fmla="val 51235"/>
                  <a:gd name="adj3" fmla="val 16667"/>
                </a:avLst>
              </a:prstGeom>
              <a:blipFill>
                <a:blip r:embed="rId3"/>
                <a:stretch>
                  <a:fillRect/>
                </a:stretch>
              </a:blipFill>
              <a:ln>
                <a:solidFill>
                  <a:srgbClr val="C000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5085" name="圆角矩形标注 30"/>
              <p:cNvSpPr>
                <a:spLocks noChangeArrowheads="1"/>
              </p:cNvSpPr>
              <p:nvPr/>
            </p:nvSpPr>
            <p:spPr bwMode="auto">
              <a:xfrm>
                <a:off x="4221162" y="2114984"/>
                <a:ext cx="4815147" cy="646986"/>
              </a:xfrm>
              <a:prstGeom prst="wedgeRoundRectCallout">
                <a:avLst>
                  <a:gd name="adj1" fmla="val -79375"/>
                  <a:gd name="adj2" fmla="val 228774"/>
                  <a:gd name="adj3" fmla="val 16667"/>
                </a:avLst>
              </a:prstGeom>
              <a:solidFill>
                <a:schemeClr val="bg1"/>
              </a:solidFill>
              <a:ln>
                <a:solidFill>
                  <a:srgbClr val="C00000"/>
                </a:solidFill>
              </a:ln>
            </p:spPr>
            <p:style>
              <a:lnRef idx="3">
                <a:schemeClr val="lt1"/>
              </a:lnRef>
              <a:fillRef idx="1">
                <a:schemeClr val="accent1"/>
              </a:fillRef>
              <a:effectRef idx="1">
                <a:schemeClr val="accent1"/>
              </a:effectRef>
              <a:fontRef idx="minor">
                <a:schemeClr val="lt1"/>
              </a:fontRef>
            </p:style>
            <p:txBody>
              <a:bodyPr>
                <a:spAutoFit/>
              </a:bodyPr>
              <a:lstStyle/>
              <a:p>
                <a:pPr algn="just"/>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假定一开始时寡头企业和同一市场中的其他企业都把价格定在</a:t>
                </a:r>
                <a14:m>
                  <m:oMath xmlns:m="http://schemas.openxmlformats.org/officeDocument/2006/math">
                    <m:sSub>
                      <m:sSubPr>
                        <m:ctrlPr>
                          <a:rPr lang="en-US" altLang="zh-CN" b="0" i="1" dirty="0">
                            <a:solidFill>
                              <a:schemeClr val="tx1"/>
                            </a:solidFill>
                            <a:latin typeface="Cambria Math" panose="02040503050406030204" pitchFamily="18" charset="0"/>
                            <a:sym typeface="Arial" panose="020B0604020202020204" pitchFamily="34" charset="0"/>
                          </a:rPr>
                        </m:ctrlPr>
                      </m:sSubPr>
                      <m:e>
                        <m:r>
                          <a:rPr lang="en-US" altLang="zh-CN" b="0" dirty="0">
                            <a:solidFill>
                              <a:schemeClr val="tx1"/>
                            </a:solidFill>
                            <a:latin typeface="Cambria Math" panose="02040503050406030204" pitchFamily="18" charset="0"/>
                            <a:sym typeface="Arial" panose="020B0604020202020204" pitchFamily="34" charset="0"/>
                          </a:rPr>
                          <m:t>𝑃</m:t>
                        </m:r>
                      </m:e>
                      <m:sub>
                        <m:r>
                          <a:rPr lang="en-US" altLang="zh-CN" b="0" dirty="0">
                            <a:solidFill>
                              <a:schemeClr val="tx1"/>
                            </a:solidFill>
                            <a:latin typeface="Cambria Math" panose="02040503050406030204" pitchFamily="18" charset="0"/>
                            <a:sym typeface="Arial" panose="020B0604020202020204" pitchFamily="34" charset="0"/>
                          </a:rPr>
                          <m:t>0</m:t>
                        </m:r>
                      </m:sub>
                    </m:sSub>
                  </m:oMath>
                </a14:m>
                <a:endPar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endParaRPr>
              </a:p>
            </p:txBody>
          </p:sp>
        </mc:Choice>
        <mc:Fallback xmlns="">
          <p:sp>
            <p:nvSpPr>
              <p:cNvPr id="45085" name="圆角矩形标注 30"/>
              <p:cNvSpPr>
                <a:spLocks noRot="1" noChangeAspect="1" noMove="1" noResize="1" noEditPoints="1" noAdjustHandles="1" noChangeArrowheads="1" noChangeShapeType="1" noTextEdit="1"/>
              </p:cNvSpPr>
              <p:nvPr/>
            </p:nvSpPr>
            <p:spPr bwMode="auto">
              <a:xfrm>
                <a:off x="4221162" y="2114984"/>
                <a:ext cx="4815147" cy="646986"/>
              </a:xfrm>
              <a:prstGeom prst="wedgeRoundRectCallout">
                <a:avLst>
                  <a:gd name="adj1" fmla="val -79375"/>
                  <a:gd name="adj2" fmla="val 228774"/>
                  <a:gd name="adj3" fmla="val 16667"/>
                </a:avLst>
              </a:prstGeom>
              <a:blipFill>
                <a:blip r:embed="rId4"/>
                <a:stretch>
                  <a:fillRect/>
                </a:stretch>
              </a:blipFill>
              <a:ln>
                <a:solidFill>
                  <a:srgbClr val="C00000"/>
                </a:solidFill>
              </a:ln>
            </p:spPr>
            <p:txBody>
              <a:bodyPr/>
              <a:lstStyle/>
              <a:p>
                <a:r>
                  <a:rPr lang="zh-CN" altLang="en-US">
                    <a:noFill/>
                  </a:rPr>
                  <a:t> </a:t>
                </a:r>
              </a:p>
            </p:txBody>
          </p:sp>
        </mc:Fallback>
      </mc:AlternateContent>
      <p:sp>
        <p:nvSpPr>
          <p:cNvPr id="45058" name="Text Box 15"/>
          <p:cNvSpPr>
            <a:spLocks noChangeArrowheads="1"/>
          </p:cNvSpPr>
          <p:nvPr/>
        </p:nvSpPr>
        <p:spPr bwMode="auto">
          <a:xfrm>
            <a:off x="6753225" y="5665788"/>
            <a:ext cx="676275"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D</a:t>
            </a:r>
            <a:endParaRPr lang="zh-CN" altLang="en-US"/>
          </a:p>
        </p:txBody>
      </p:sp>
      <p:sp>
        <p:nvSpPr>
          <p:cNvPr id="45059" name="Line 4"/>
          <p:cNvSpPr>
            <a:spLocks noChangeShapeType="1"/>
          </p:cNvSpPr>
          <p:nvPr/>
        </p:nvSpPr>
        <p:spPr bwMode="auto">
          <a:xfrm flipV="1">
            <a:off x="2765425" y="2295525"/>
            <a:ext cx="1588" cy="3427413"/>
          </a:xfrm>
          <a:prstGeom prst="line">
            <a:avLst/>
          </a:prstGeom>
          <a:noFill/>
          <a:ln w="9525" cmpd="sng">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45060" name="Line 5"/>
          <p:cNvSpPr>
            <a:spLocks noChangeShapeType="1"/>
          </p:cNvSpPr>
          <p:nvPr/>
        </p:nvSpPr>
        <p:spPr bwMode="auto">
          <a:xfrm flipV="1">
            <a:off x="2765425" y="5724525"/>
            <a:ext cx="4476750" cy="0"/>
          </a:xfrm>
          <a:prstGeom prst="line">
            <a:avLst/>
          </a:prstGeom>
          <a:noFill/>
          <a:ln w="9525" cmpd="sng">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45061" name="Text Box 6"/>
          <p:cNvSpPr>
            <a:spLocks noChangeArrowheads="1"/>
          </p:cNvSpPr>
          <p:nvPr/>
        </p:nvSpPr>
        <p:spPr bwMode="auto">
          <a:xfrm>
            <a:off x="2439988" y="2143125"/>
            <a:ext cx="452437"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P</a:t>
            </a:r>
            <a:endParaRPr lang="zh-CN" altLang="en-US"/>
          </a:p>
        </p:txBody>
      </p:sp>
      <p:sp>
        <p:nvSpPr>
          <p:cNvPr id="45062" name="Text Box 7"/>
          <p:cNvSpPr>
            <a:spLocks noChangeArrowheads="1"/>
          </p:cNvSpPr>
          <p:nvPr/>
        </p:nvSpPr>
        <p:spPr bwMode="auto">
          <a:xfrm>
            <a:off x="2357438" y="5570538"/>
            <a:ext cx="349250"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O</a:t>
            </a:r>
            <a:endParaRPr lang="zh-CN" altLang="en-US"/>
          </a:p>
        </p:txBody>
      </p:sp>
      <p:sp>
        <p:nvSpPr>
          <p:cNvPr id="45063" name="Text Box 8"/>
          <p:cNvSpPr>
            <a:spLocks noChangeArrowheads="1"/>
          </p:cNvSpPr>
          <p:nvPr/>
        </p:nvSpPr>
        <p:spPr bwMode="auto">
          <a:xfrm>
            <a:off x="7077075" y="5646738"/>
            <a:ext cx="352425"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Q</a:t>
            </a:r>
            <a:endParaRPr lang="zh-CN" altLang="en-US"/>
          </a:p>
        </p:txBody>
      </p:sp>
      <p:sp>
        <p:nvSpPr>
          <p:cNvPr id="45064" name="Line 9"/>
          <p:cNvSpPr>
            <a:spLocks noChangeShapeType="1"/>
          </p:cNvSpPr>
          <p:nvPr/>
        </p:nvSpPr>
        <p:spPr bwMode="auto">
          <a:xfrm>
            <a:off x="3986213" y="3973513"/>
            <a:ext cx="1708150" cy="1749425"/>
          </a:xfrm>
          <a:prstGeom prst="line">
            <a:avLst/>
          </a:prstGeom>
          <a:noFill/>
          <a:ln w="57150" cmpd="sng">
            <a:solidFill>
              <a:srgbClr val="0070C0"/>
            </a:solidFill>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45065" name="Text Box 10"/>
          <p:cNvSpPr>
            <a:spLocks noChangeArrowheads="1"/>
          </p:cNvSpPr>
          <p:nvPr/>
        </p:nvSpPr>
        <p:spPr bwMode="auto">
          <a:xfrm>
            <a:off x="4148138" y="5646738"/>
            <a:ext cx="569912"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G</a:t>
            </a:r>
            <a:endParaRPr lang="zh-CN" altLang="en-US"/>
          </a:p>
        </p:txBody>
      </p:sp>
      <p:sp>
        <p:nvSpPr>
          <p:cNvPr id="45066" name="Line 11"/>
          <p:cNvSpPr>
            <a:spLocks noChangeShapeType="1"/>
          </p:cNvSpPr>
          <p:nvPr/>
        </p:nvSpPr>
        <p:spPr bwMode="auto">
          <a:xfrm>
            <a:off x="2765425" y="3286125"/>
            <a:ext cx="1220788" cy="685800"/>
          </a:xfrm>
          <a:prstGeom prst="line">
            <a:avLst/>
          </a:prstGeom>
          <a:noFill/>
          <a:ln w="57150" cmpd="sng">
            <a:solidFill>
              <a:srgbClr val="BB1528"/>
            </a:solidFill>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45067" name="Text Box 12"/>
          <p:cNvSpPr>
            <a:spLocks noChangeArrowheads="1"/>
          </p:cNvSpPr>
          <p:nvPr/>
        </p:nvSpPr>
        <p:spPr bwMode="auto">
          <a:xfrm>
            <a:off x="5451475" y="5646738"/>
            <a:ext cx="1219200"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C</a:t>
            </a:r>
            <a:endParaRPr lang="zh-CN" altLang="en-US"/>
          </a:p>
        </p:txBody>
      </p:sp>
      <p:sp>
        <p:nvSpPr>
          <p:cNvPr id="45068" name="Line 13"/>
          <p:cNvSpPr>
            <a:spLocks noChangeShapeType="1"/>
          </p:cNvSpPr>
          <p:nvPr/>
        </p:nvSpPr>
        <p:spPr bwMode="auto">
          <a:xfrm>
            <a:off x="3986213" y="5114925"/>
            <a:ext cx="325437" cy="606425"/>
          </a:xfrm>
          <a:prstGeom prst="line">
            <a:avLst/>
          </a:prstGeom>
          <a:noFill/>
          <a:ln w="28575" cmpd="sng">
            <a:solidFill>
              <a:srgbClr val="BB1528"/>
            </a:solidFill>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45069" name="Text Box 14"/>
          <p:cNvSpPr>
            <a:spLocks noChangeArrowheads="1"/>
          </p:cNvSpPr>
          <p:nvPr/>
        </p:nvSpPr>
        <p:spPr bwMode="auto">
          <a:xfrm>
            <a:off x="2439988" y="3743325"/>
            <a:ext cx="649287"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P</a:t>
            </a:r>
            <a:r>
              <a:rPr lang="zh-CN" altLang="en-US" sz="1000">
                <a:solidFill>
                  <a:srgbClr val="000000"/>
                </a:solidFill>
                <a:sym typeface="Arial" panose="020B0604020202020204" pitchFamily="34" charset="0"/>
              </a:rPr>
              <a:t>0</a:t>
            </a:r>
            <a:endParaRPr lang="zh-CN" altLang="en-US"/>
          </a:p>
        </p:txBody>
      </p:sp>
      <p:sp>
        <p:nvSpPr>
          <p:cNvPr id="45070" name="Line 16"/>
          <p:cNvSpPr>
            <a:spLocks noChangeShapeType="1"/>
          </p:cNvSpPr>
          <p:nvPr/>
        </p:nvSpPr>
        <p:spPr bwMode="auto">
          <a:xfrm>
            <a:off x="3986213" y="3971925"/>
            <a:ext cx="1587" cy="1752600"/>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45071" name="Line 17"/>
          <p:cNvSpPr>
            <a:spLocks noChangeShapeType="1"/>
          </p:cNvSpPr>
          <p:nvPr/>
        </p:nvSpPr>
        <p:spPr bwMode="auto">
          <a:xfrm flipH="1">
            <a:off x="2762250" y="3971925"/>
            <a:ext cx="1223963" cy="1588"/>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45072" name="Text Box 18"/>
          <p:cNvSpPr>
            <a:spLocks noChangeArrowheads="1"/>
          </p:cNvSpPr>
          <p:nvPr/>
        </p:nvSpPr>
        <p:spPr bwMode="auto">
          <a:xfrm>
            <a:off x="4718050" y="5646738"/>
            <a:ext cx="766763"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E</a:t>
            </a:r>
            <a:endParaRPr lang="zh-CN" altLang="en-US"/>
          </a:p>
        </p:txBody>
      </p:sp>
      <p:sp>
        <p:nvSpPr>
          <p:cNvPr id="45073" name="Text Box 19"/>
          <p:cNvSpPr>
            <a:spLocks noChangeArrowheads="1"/>
          </p:cNvSpPr>
          <p:nvPr/>
        </p:nvSpPr>
        <p:spPr bwMode="auto">
          <a:xfrm>
            <a:off x="3822700" y="5646738"/>
            <a:ext cx="688975"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Q</a:t>
            </a:r>
            <a:r>
              <a:rPr lang="zh-CN" altLang="en-US" sz="1000">
                <a:solidFill>
                  <a:srgbClr val="000000"/>
                </a:solidFill>
                <a:sym typeface="Arial" panose="020B0604020202020204" pitchFamily="34" charset="0"/>
              </a:rPr>
              <a:t>0</a:t>
            </a:r>
            <a:endParaRPr lang="zh-CN" altLang="en-US"/>
          </a:p>
        </p:txBody>
      </p:sp>
      <p:sp>
        <p:nvSpPr>
          <p:cNvPr id="45074" name="Line 20"/>
          <p:cNvSpPr>
            <a:spLocks noChangeShapeType="1"/>
          </p:cNvSpPr>
          <p:nvPr/>
        </p:nvSpPr>
        <p:spPr bwMode="auto">
          <a:xfrm>
            <a:off x="3986213" y="3973513"/>
            <a:ext cx="2930525" cy="1751012"/>
          </a:xfrm>
          <a:prstGeom prst="line">
            <a:avLst/>
          </a:prstGeom>
          <a:noFill/>
          <a:ln w="9525" cmpd="sng">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45075" name="Line 21"/>
          <p:cNvSpPr>
            <a:spLocks noChangeShapeType="1"/>
          </p:cNvSpPr>
          <p:nvPr/>
        </p:nvSpPr>
        <p:spPr bwMode="auto">
          <a:xfrm flipH="1" flipV="1">
            <a:off x="2765425" y="2752725"/>
            <a:ext cx="1219200" cy="1219200"/>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45076" name="Line 22"/>
          <p:cNvSpPr>
            <a:spLocks noChangeShapeType="1"/>
          </p:cNvSpPr>
          <p:nvPr/>
        </p:nvSpPr>
        <p:spPr bwMode="auto">
          <a:xfrm>
            <a:off x="2767013" y="2754313"/>
            <a:ext cx="1219200" cy="2360612"/>
          </a:xfrm>
          <a:prstGeom prst="line">
            <a:avLst/>
          </a:prstGeom>
          <a:noFill/>
          <a:ln w="9525" cmpd="sng">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45077" name="Line 23"/>
          <p:cNvSpPr>
            <a:spLocks noChangeShapeType="1"/>
          </p:cNvSpPr>
          <p:nvPr/>
        </p:nvSpPr>
        <p:spPr bwMode="auto">
          <a:xfrm>
            <a:off x="3986213" y="4581525"/>
            <a:ext cx="976312" cy="1143000"/>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45078" name="Line 24"/>
          <p:cNvSpPr>
            <a:spLocks noChangeShapeType="1"/>
          </p:cNvSpPr>
          <p:nvPr/>
        </p:nvSpPr>
        <p:spPr bwMode="auto">
          <a:xfrm>
            <a:off x="2765425" y="3286125"/>
            <a:ext cx="1220788" cy="1293813"/>
          </a:xfrm>
          <a:prstGeom prst="line">
            <a:avLst/>
          </a:prstGeom>
          <a:noFill/>
          <a:ln w="28575" cmpd="sng">
            <a:solidFill>
              <a:srgbClr val="0070C0"/>
            </a:solidFill>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45079" name="Text Box 25"/>
          <p:cNvSpPr>
            <a:spLocks noChangeArrowheads="1"/>
          </p:cNvSpPr>
          <p:nvPr/>
        </p:nvSpPr>
        <p:spPr bwMode="auto">
          <a:xfrm>
            <a:off x="3903663" y="3667125"/>
            <a:ext cx="365125"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B</a:t>
            </a:r>
            <a:endParaRPr lang="zh-CN" altLang="en-US"/>
          </a:p>
        </p:txBody>
      </p:sp>
      <p:sp>
        <p:nvSpPr>
          <p:cNvPr id="45080" name="Text Box 26"/>
          <p:cNvSpPr>
            <a:spLocks noChangeArrowheads="1"/>
          </p:cNvSpPr>
          <p:nvPr/>
        </p:nvSpPr>
        <p:spPr bwMode="auto">
          <a:xfrm>
            <a:off x="2439988" y="3133725"/>
            <a:ext cx="350837"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A</a:t>
            </a:r>
            <a:endParaRPr lang="zh-CN" altLang="en-US"/>
          </a:p>
        </p:txBody>
      </p:sp>
      <p:sp>
        <p:nvSpPr>
          <p:cNvPr id="45081" name="Text Box 27"/>
          <p:cNvSpPr>
            <a:spLocks noChangeArrowheads="1"/>
          </p:cNvSpPr>
          <p:nvPr/>
        </p:nvSpPr>
        <p:spPr bwMode="auto">
          <a:xfrm>
            <a:off x="2439988" y="2600325"/>
            <a:ext cx="471487"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F</a:t>
            </a:r>
            <a:endParaRPr lang="zh-CN" altLang="en-US"/>
          </a:p>
        </p:txBody>
      </p:sp>
      <p:sp>
        <p:nvSpPr>
          <p:cNvPr id="45082" name="Text Box 28"/>
          <p:cNvSpPr>
            <a:spLocks noChangeArrowheads="1"/>
          </p:cNvSpPr>
          <p:nvPr/>
        </p:nvSpPr>
        <p:spPr bwMode="auto">
          <a:xfrm>
            <a:off x="3986213" y="4352925"/>
            <a:ext cx="574675"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B</a:t>
            </a:r>
            <a:r>
              <a:rPr lang="zh-CN" altLang="en-US" sz="1000">
                <a:solidFill>
                  <a:srgbClr val="000000"/>
                </a:solidFill>
                <a:sym typeface="Arial" panose="020B0604020202020204" pitchFamily="34" charset="0"/>
              </a:rPr>
              <a:t>1</a:t>
            </a:r>
            <a:endParaRPr lang="zh-CN" altLang="en-US"/>
          </a:p>
        </p:txBody>
      </p:sp>
      <p:sp>
        <p:nvSpPr>
          <p:cNvPr id="45083" name="Text Box 29"/>
          <p:cNvSpPr>
            <a:spLocks noChangeArrowheads="1"/>
          </p:cNvSpPr>
          <p:nvPr/>
        </p:nvSpPr>
        <p:spPr bwMode="auto">
          <a:xfrm>
            <a:off x="3986213" y="4884738"/>
            <a:ext cx="525462"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B</a:t>
            </a:r>
            <a:r>
              <a:rPr lang="zh-CN" altLang="en-US" sz="1000">
                <a:solidFill>
                  <a:srgbClr val="000000"/>
                </a:solidFill>
                <a:sym typeface="Arial" panose="020B0604020202020204" pitchFamily="34" charset="0"/>
              </a:rPr>
              <a:t>2</a:t>
            </a:r>
            <a:endParaRPr lang="zh-CN" altLang="en-US"/>
          </a:p>
        </p:txBody>
      </p:sp>
      <p:sp>
        <p:nvSpPr>
          <p:cNvPr id="45084" name="矩形 27"/>
          <p:cNvSpPr>
            <a:spLocks noChangeArrowheads="1"/>
          </p:cNvSpPr>
          <p:nvPr/>
        </p:nvSpPr>
        <p:spPr bwMode="auto">
          <a:xfrm>
            <a:off x="603250" y="721965"/>
            <a:ext cx="8229600" cy="13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b="1">
                <a:solidFill>
                  <a:schemeClr val="tx1"/>
                </a:solidFill>
                <a:latin typeface="Arial" panose="020B0604020202020204" pitchFamily="34" charset="0"/>
                <a:ea typeface="宋体" panose="02010600030101010101" pitchFamily="2" charset="-122"/>
              </a:defRPr>
            </a:lvl1pPr>
            <a:lvl2pPr>
              <a:defRPr sz="1600" b="1">
                <a:solidFill>
                  <a:schemeClr val="tx1"/>
                </a:solidFill>
                <a:latin typeface="Arial" panose="020B0604020202020204" pitchFamily="34" charset="0"/>
                <a:ea typeface="宋体" panose="02010600030101010101" pitchFamily="2" charset="-122"/>
              </a:defRPr>
            </a:lvl2pPr>
            <a:lvl3pPr marL="342900" indent="-342900">
              <a:defRPr sz="1600" b="1">
                <a:solidFill>
                  <a:schemeClr val="tx1"/>
                </a:solidFill>
                <a:latin typeface="Arial" panose="020B0604020202020204" pitchFamily="34" charset="0"/>
                <a:ea typeface="宋体" panose="02010600030101010101" pitchFamily="2" charset="-122"/>
              </a:defRPr>
            </a:lvl3pPr>
            <a:lvl4pPr>
              <a:defRPr sz="1600" b="1">
                <a:solidFill>
                  <a:schemeClr val="tx1"/>
                </a:solidFill>
                <a:latin typeface="Arial" panose="020B0604020202020204" pitchFamily="34" charset="0"/>
                <a:ea typeface="宋体" panose="02010600030101010101" pitchFamily="2" charset="-122"/>
              </a:defRPr>
            </a:lvl4pPr>
            <a:lvl5pPr>
              <a:defRPr sz="1600" b="1">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9pPr>
          </a:lstStyle>
          <a:p>
            <a:pPr marL="457200" lvl="2" indent="-457200" defTabSz="0" eaLnBrk="1" hangingPunct="1">
              <a:lnSpc>
                <a:spcPct val="250000"/>
              </a:lnSpc>
              <a:spcBef>
                <a:spcPct val="20000"/>
              </a:spcBef>
              <a:buSzPct val="100000"/>
              <a:buFont typeface="Wingdings" panose="05000000000000000000" pitchFamily="2" charset="2"/>
              <a:buChar char="u"/>
            </a:pPr>
            <a:r>
              <a:rPr lang="zh-CN" altLang="en-US" sz="2200" b="0" dirty="0">
                <a:latin typeface="微软雅黑" panose="020B0503020204020204" pitchFamily="34" charset="-122"/>
                <a:ea typeface="微软雅黑" panose="020B0503020204020204" pitchFamily="34" charset="-122"/>
                <a:sym typeface="Arial" panose="020B0604020202020204" pitchFamily="34" charset="0"/>
              </a:rPr>
              <a:t>斯威奇模型的图示：</a:t>
            </a:r>
            <a:endParaRPr lang="en-US" altLang="zh-CN" sz="2200" b="0" dirty="0">
              <a:latin typeface="微软雅黑" panose="020B0503020204020204" pitchFamily="34" charset="-122"/>
              <a:ea typeface="微软雅黑" panose="020B0503020204020204" pitchFamily="34" charset="-122"/>
              <a:sym typeface="Arial" panose="020B0604020202020204" pitchFamily="34" charset="0"/>
            </a:endParaRPr>
          </a:p>
          <a:p>
            <a:pPr lvl="1" defTabSz="0" eaLnBrk="1" hangingPunct="1">
              <a:spcBef>
                <a:spcPct val="20000"/>
              </a:spcBef>
            </a:pPr>
            <a:r>
              <a:rPr lang="zh-CN" altLang="en-US" sz="2000" b="0" dirty="0">
                <a:latin typeface="微软雅黑" panose="020B0503020204020204" pitchFamily="34" charset="-122"/>
                <a:ea typeface="微软雅黑" panose="020B0503020204020204" pitchFamily="34" charset="-122"/>
                <a:sym typeface="Arial" panose="020B0604020202020204" pitchFamily="34" charset="0"/>
              </a:rPr>
              <a:t>扭折的需求曲线与间断的边际收益曲线</a:t>
            </a:r>
            <a:endParaRPr lang="en-US" altLang="zh-CN" sz="2000" b="0" dirty="0">
              <a:latin typeface="微软雅黑" panose="020B0503020204020204" pitchFamily="34" charset="-122"/>
              <a:ea typeface="微软雅黑" panose="020B0503020204020204" pitchFamily="34" charset="-122"/>
              <a:sym typeface="Arial" panose="020B0604020202020204" pitchFamily="34" charset="0"/>
            </a:endParaRPr>
          </a:p>
        </p:txBody>
      </p:sp>
      <p:sp>
        <p:nvSpPr>
          <p:cNvPr id="45086" name="圆角矩形标注 32"/>
          <p:cNvSpPr>
            <a:spLocks noChangeArrowheads="1"/>
          </p:cNvSpPr>
          <p:nvPr/>
        </p:nvSpPr>
        <p:spPr bwMode="auto">
          <a:xfrm>
            <a:off x="5203825" y="3143250"/>
            <a:ext cx="3832484" cy="1191816"/>
          </a:xfrm>
          <a:prstGeom prst="wedgeRoundRectCallout">
            <a:avLst>
              <a:gd name="adj1" fmla="val -52319"/>
              <a:gd name="adj2" fmla="val 60307"/>
              <a:gd name="adj3" fmla="val 16667"/>
            </a:avLst>
          </a:prstGeom>
          <a:solidFill>
            <a:schemeClr val="bg1"/>
          </a:solidFill>
          <a:ln>
            <a:solidFill>
              <a:srgbClr val="C00000"/>
            </a:solidFill>
          </a:ln>
        </p:spPr>
        <p:style>
          <a:lnRef idx="3">
            <a:schemeClr val="lt1"/>
          </a:lnRef>
          <a:fillRef idx="1">
            <a:schemeClr val="accent1"/>
          </a:fillRef>
          <a:effectRef idx="1">
            <a:schemeClr val="accent1"/>
          </a:effectRef>
          <a:fontRef idx="minor">
            <a:schemeClr val="lt1"/>
          </a:fontRef>
        </p:style>
        <p:txBody>
          <a:bodyPr>
            <a:spAutoFit/>
          </a:bodyPr>
          <a:lstStyle/>
          <a:p>
            <a:pPr algn="just"/>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如果寡头企业降低价格</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则根据假定</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所有其他企业也都会跟着同样降低价格</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故它的销售量不会</a:t>
            </a:r>
            <a:r>
              <a:rPr lang="zh-CN" altLang="en-US" b="0">
                <a:solidFill>
                  <a:schemeClr val="tx1"/>
                </a:solidFill>
                <a:latin typeface="微软雅黑" panose="020B0503020204020204" pitchFamily="34" charset="-122"/>
                <a:ea typeface="微软雅黑" panose="020B0503020204020204" pitchFamily="34" charset="-122"/>
                <a:sym typeface="Arial" panose="020B0604020202020204" pitchFamily="34" charset="0"/>
              </a:rPr>
              <a:t>增加很多，寡头</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企业面临的需求曲线应当比较陡峭。</a:t>
            </a:r>
          </a:p>
        </p:txBody>
      </p:sp>
      <p:sp>
        <p:nvSpPr>
          <p:cNvPr id="45087" name="圆角矩形标注 33"/>
          <p:cNvSpPr>
            <a:spLocks noChangeArrowheads="1"/>
          </p:cNvSpPr>
          <p:nvPr/>
        </p:nvSpPr>
        <p:spPr bwMode="auto">
          <a:xfrm>
            <a:off x="162575" y="2111375"/>
            <a:ext cx="2000250" cy="2241550"/>
          </a:xfrm>
          <a:prstGeom prst="wedgeRoundRectCallout">
            <a:avLst>
              <a:gd name="adj1" fmla="val 114553"/>
              <a:gd name="adj2" fmla="val 30841"/>
              <a:gd name="adj3" fmla="val 16667"/>
            </a:avLst>
          </a:prstGeom>
          <a:solidFill>
            <a:schemeClr val="bg1"/>
          </a:solidFill>
          <a:ln>
            <a:solidFill>
              <a:srgbClr val="C00000"/>
            </a:solidFill>
          </a:ln>
        </p:spPr>
        <p:style>
          <a:lnRef idx="3">
            <a:schemeClr val="lt1"/>
          </a:lnRef>
          <a:fillRef idx="1">
            <a:schemeClr val="accent1"/>
          </a:fillRef>
          <a:effectRef idx="1">
            <a:schemeClr val="accent1"/>
          </a:effectRef>
          <a:fontRef idx="minor">
            <a:schemeClr val="lt1"/>
          </a:fontRef>
        </p:style>
        <p:txBody>
          <a:bodyPr>
            <a:spAutoFit/>
          </a:bodyPr>
          <a:lstStyle/>
          <a:p>
            <a:pPr algn="just"/>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如果寡头企业提高价格</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则根据假定</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所有其他企业不会同样地提高价格</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故它的销售量将会减少很多，需求曲线应当比较平缓。</a:t>
            </a:r>
          </a:p>
        </p:txBody>
      </p:sp>
      <p:sp>
        <p:nvSpPr>
          <p:cNvPr id="36" name="矩形 35"/>
          <p:cNvSpPr/>
          <p:nvPr/>
        </p:nvSpPr>
        <p:spPr>
          <a:xfrm>
            <a:off x="7543092" y="44765"/>
            <a:ext cx="1600908" cy="369332"/>
          </a:xfrm>
          <a:prstGeom prst="rect">
            <a:avLst/>
          </a:prstGeom>
        </p:spPr>
        <p:txBody>
          <a:bodyPr wrap="square">
            <a:spAutoFit/>
          </a:bodyPr>
          <a:lstStyle/>
          <a:p>
            <a:r>
              <a:rPr lang="zh-CN" altLang="en-US" sz="1800" b="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第三节  寡头</a:t>
            </a:r>
            <a:endParaRPr lang="zh-CN" altLang="en-US" sz="18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37" name="矩形 36">
            <a:extLst>
              <a:ext uri="{FF2B5EF4-FFF2-40B4-BE49-F238E27FC236}">
                <a16:creationId xmlns:a16="http://schemas.microsoft.com/office/drawing/2014/main" id="{F68E5273-CD77-47B9-B841-9D29349C133D}"/>
              </a:ext>
            </a:extLst>
          </p:cNvPr>
          <p:cNvSpPr/>
          <p:nvPr/>
        </p:nvSpPr>
        <p:spPr>
          <a:xfrm>
            <a:off x="457201" y="548681"/>
            <a:ext cx="2746704"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marL="0" lvl="1">
              <a:defRPr/>
            </a:pPr>
            <a:r>
              <a:rPr lang="zh-CN" altLang="en-US" sz="2400" spc="150" dirty="0">
                <a:solidFill>
                  <a:srgbClr val="FFFFFF"/>
                </a:solidFill>
                <a:latin typeface="微软雅黑" panose="020B0503020204020204" pitchFamily="34" charset="-122"/>
                <a:ea typeface="微软雅黑" panose="020B0503020204020204" pitchFamily="34" charset="-122"/>
              </a:rPr>
              <a:t>四</a:t>
            </a:r>
            <a:r>
              <a:rPr lang="zh-CN" altLang="en-US" sz="2400" b="1" spc="150" dirty="0">
                <a:solidFill>
                  <a:srgbClr val="FFFFFF"/>
                </a:solidFill>
                <a:latin typeface="微软雅黑" panose="020B0503020204020204" pitchFamily="34" charset="-122"/>
                <a:ea typeface="微软雅黑" panose="020B0503020204020204" pitchFamily="34" charset="-122"/>
              </a:rPr>
              <a:t>、</a:t>
            </a:r>
            <a:r>
              <a:rPr lang="zh-CN" altLang="en-US" sz="2400" spc="15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斯威齐模型</a:t>
            </a:r>
            <a:endParaRPr lang="zh-CN" altLang="en-US" sz="2400" spc="150" dirty="0">
              <a:solidFill>
                <a:srgbClr val="FFFFFF"/>
              </a:solidFill>
              <a:latin typeface="微软雅黑" panose="020B0503020204020204" pitchFamily="34" charset="-122"/>
              <a:ea typeface="微软雅黑" panose="020B0503020204020204" pitchFamily="34"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5084">
                                            <p:txEl>
                                              <p:pRg st="0" end="0"/>
                                            </p:txEl>
                                          </p:spTgt>
                                        </p:tgtEl>
                                        <p:attrNameLst>
                                          <p:attrName>style.visibility</p:attrName>
                                        </p:attrNameLst>
                                      </p:cBhvr>
                                      <p:to>
                                        <p:strVal val="visible"/>
                                      </p:to>
                                    </p:set>
                                    <p:anim calcmode="lin" valueType="num">
                                      <p:cBhvr>
                                        <p:cTn id="7" dur="500" fill="hold"/>
                                        <p:tgtEl>
                                          <p:spTgt spid="45084">
                                            <p:txEl>
                                              <p:pRg st="0" end="0"/>
                                            </p:txEl>
                                          </p:spTgt>
                                        </p:tgtEl>
                                        <p:attrNameLst>
                                          <p:attrName>ppt_x</p:attrName>
                                        </p:attrNameLst>
                                      </p:cBhvr>
                                      <p:tavLst>
                                        <p:tav tm="0">
                                          <p:val>
                                            <p:strVal val="#ppt_x"/>
                                          </p:val>
                                        </p:tav>
                                        <p:tav tm="100000">
                                          <p:val>
                                            <p:strVal val="#ppt_x"/>
                                          </p:val>
                                        </p:tav>
                                      </p:tavLst>
                                    </p:anim>
                                    <p:anim calcmode="lin" valueType="num">
                                      <p:cBhvr>
                                        <p:cTn id="8" dur="500" fill="hold"/>
                                        <p:tgtEl>
                                          <p:spTgt spid="4508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5084">
                                            <p:txEl>
                                              <p:pRg st="1" end="1"/>
                                            </p:txEl>
                                          </p:spTgt>
                                        </p:tgtEl>
                                        <p:attrNameLst>
                                          <p:attrName>style.visibility</p:attrName>
                                        </p:attrNameLst>
                                      </p:cBhvr>
                                      <p:to>
                                        <p:strVal val="visible"/>
                                      </p:to>
                                    </p:set>
                                    <p:anim calcmode="lin" valueType="num">
                                      <p:cBhvr>
                                        <p:cTn id="13" dur="500" fill="hold"/>
                                        <p:tgtEl>
                                          <p:spTgt spid="45084">
                                            <p:txEl>
                                              <p:pRg st="1" end="1"/>
                                            </p:txEl>
                                          </p:spTgt>
                                        </p:tgtEl>
                                        <p:attrNameLst>
                                          <p:attrName>ppt_x</p:attrName>
                                        </p:attrNameLst>
                                      </p:cBhvr>
                                      <p:tavLst>
                                        <p:tav tm="0">
                                          <p:val>
                                            <p:strVal val="#ppt_x"/>
                                          </p:val>
                                        </p:tav>
                                        <p:tav tm="100000">
                                          <p:val>
                                            <p:strVal val="#ppt_x"/>
                                          </p:val>
                                        </p:tav>
                                      </p:tavLst>
                                    </p:anim>
                                    <p:anim calcmode="lin" valueType="num">
                                      <p:cBhvr>
                                        <p:cTn id="14" dur="500" fill="hold"/>
                                        <p:tgtEl>
                                          <p:spTgt spid="4508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45061"/>
                                        </p:tgtEl>
                                        <p:attrNameLst>
                                          <p:attrName>style.visibility</p:attrName>
                                        </p:attrNameLst>
                                      </p:cBhvr>
                                      <p:to>
                                        <p:strVal val="visible"/>
                                      </p:to>
                                    </p:set>
                                    <p:animEffect>
                                      <p:cBhvr>
                                        <p:cTn id="19" dur="500"/>
                                        <p:tgtEl>
                                          <p:spTgt spid="45061"/>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45059"/>
                                        </p:tgtEl>
                                        <p:attrNameLst>
                                          <p:attrName>style.visibility</p:attrName>
                                        </p:attrNameLst>
                                      </p:cBhvr>
                                      <p:to>
                                        <p:strVal val="visible"/>
                                      </p:to>
                                    </p:set>
                                    <p:animEffect>
                                      <p:cBhvr>
                                        <p:cTn id="22" dur="500"/>
                                        <p:tgtEl>
                                          <p:spTgt spid="45059"/>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45062"/>
                                        </p:tgtEl>
                                        <p:attrNameLst>
                                          <p:attrName>style.visibility</p:attrName>
                                        </p:attrNameLst>
                                      </p:cBhvr>
                                      <p:to>
                                        <p:strVal val="visible"/>
                                      </p:to>
                                    </p:set>
                                    <p:animEffect>
                                      <p:cBhvr>
                                        <p:cTn id="25" dur="500"/>
                                        <p:tgtEl>
                                          <p:spTgt spid="45062"/>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45060"/>
                                        </p:tgtEl>
                                        <p:attrNameLst>
                                          <p:attrName>style.visibility</p:attrName>
                                        </p:attrNameLst>
                                      </p:cBhvr>
                                      <p:to>
                                        <p:strVal val="visible"/>
                                      </p:to>
                                    </p:set>
                                    <p:animEffect>
                                      <p:cBhvr>
                                        <p:cTn id="28" dur="500"/>
                                        <p:tgtEl>
                                          <p:spTgt spid="45060"/>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45063"/>
                                        </p:tgtEl>
                                        <p:attrNameLst>
                                          <p:attrName>style.visibility</p:attrName>
                                        </p:attrNameLst>
                                      </p:cBhvr>
                                      <p:to>
                                        <p:strVal val="visible"/>
                                      </p:to>
                                    </p:set>
                                    <p:animEffect>
                                      <p:cBhvr>
                                        <p:cTn id="31" dur="500"/>
                                        <p:tgtEl>
                                          <p:spTgt spid="45063"/>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45085"/>
                                        </p:tgtEl>
                                        <p:attrNameLst>
                                          <p:attrName>style.visibility</p:attrName>
                                        </p:attrNameLst>
                                      </p:cBhvr>
                                      <p:to>
                                        <p:strVal val="visible"/>
                                      </p:to>
                                    </p:set>
                                    <p:animEffect>
                                      <p:cBhvr>
                                        <p:cTn id="36" dur="500"/>
                                        <p:tgtEl>
                                          <p:spTgt spid="45085"/>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45069"/>
                                        </p:tgtEl>
                                        <p:attrNameLst>
                                          <p:attrName>style.visibility</p:attrName>
                                        </p:attrNameLst>
                                      </p:cBhvr>
                                      <p:to>
                                        <p:strVal val="visible"/>
                                      </p:to>
                                    </p:set>
                                    <p:animEffect>
                                      <p:cBhvr>
                                        <p:cTn id="41" dur="500"/>
                                        <p:tgtEl>
                                          <p:spTgt spid="45069"/>
                                        </p:tgtEl>
                                      </p:cBhvr>
                                    </p:animEffect>
                                  </p:childTnLst>
                                </p:cTn>
                              </p:par>
                              <p:par>
                                <p:cTn id="42" presetID="3" presetClass="entr" presetSubtype="10" fill="hold" grpId="0" nodeType="withEffect">
                                  <p:stCondLst>
                                    <p:cond delay="0"/>
                                  </p:stCondLst>
                                  <p:childTnLst>
                                    <p:set>
                                      <p:cBhvr>
                                        <p:cTn id="43" dur="1" fill="hold">
                                          <p:stCondLst>
                                            <p:cond delay="0"/>
                                          </p:stCondLst>
                                        </p:cTn>
                                        <p:tgtEl>
                                          <p:spTgt spid="45071"/>
                                        </p:tgtEl>
                                        <p:attrNameLst>
                                          <p:attrName>style.visibility</p:attrName>
                                        </p:attrNameLst>
                                      </p:cBhvr>
                                      <p:to>
                                        <p:strVal val="visible"/>
                                      </p:to>
                                    </p:set>
                                    <p:animEffect>
                                      <p:cBhvr>
                                        <p:cTn id="44" dur="500"/>
                                        <p:tgtEl>
                                          <p:spTgt spid="45071"/>
                                        </p:tgtEl>
                                      </p:cBhvr>
                                    </p:animEffect>
                                  </p:childTnLst>
                                </p:cTn>
                              </p:par>
                              <p:par>
                                <p:cTn id="45" presetID="3" presetClass="entr" presetSubtype="10" fill="hold" grpId="0" nodeType="withEffect">
                                  <p:stCondLst>
                                    <p:cond delay="0"/>
                                  </p:stCondLst>
                                  <p:childTnLst>
                                    <p:set>
                                      <p:cBhvr>
                                        <p:cTn id="46" dur="1" fill="hold">
                                          <p:stCondLst>
                                            <p:cond delay="0"/>
                                          </p:stCondLst>
                                        </p:cTn>
                                        <p:tgtEl>
                                          <p:spTgt spid="45070"/>
                                        </p:tgtEl>
                                        <p:attrNameLst>
                                          <p:attrName>style.visibility</p:attrName>
                                        </p:attrNameLst>
                                      </p:cBhvr>
                                      <p:to>
                                        <p:strVal val="visible"/>
                                      </p:to>
                                    </p:set>
                                    <p:animEffect>
                                      <p:cBhvr>
                                        <p:cTn id="47" dur="500"/>
                                        <p:tgtEl>
                                          <p:spTgt spid="45070"/>
                                        </p:tgtEl>
                                      </p:cBhvr>
                                    </p:animEffect>
                                  </p:childTnLst>
                                </p:cTn>
                              </p:par>
                              <p:par>
                                <p:cTn id="48" presetID="3" presetClass="entr" presetSubtype="10" fill="hold" grpId="0" nodeType="withEffect">
                                  <p:stCondLst>
                                    <p:cond delay="0"/>
                                  </p:stCondLst>
                                  <p:childTnLst>
                                    <p:set>
                                      <p:cBhvr>
                                        <p:cTn id="49" dur="1" fill="hold">
                                          <p:stCondLst>
                                            <p:cond delay="0"/>
                                          </p:stCondLst>
                                        </p:cTn>
                                        <p:tgtEl>
                                          <p:spTgt spid="45073"/>
                                        </p:tgtEl>
                                        <p:attrNameLst>
                                          <p:attrName>style.visibility</p:attrName>
                                        </p:attrNameLst>
                                      </p:cBhvr>
                                      <p:to>
                                        <p:strVal val="visible"/>
                                      </p:to>
                                    </p:set>
                                    <p:animEffect>
                                      <p:cBhvr>
                                        <p:cTn id="50" dur="500"/>
                                        <p:tgtEl>
                                          <p:spTgt spid="45073"/>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45086"/>
                                        </p:tgtEl>
                                        <p:attrNameLst>
                                          <p:attrName>style.visibility</p:attrName>
                                        </p:attrNameLst>
                                      </p:cBhvr>
                                      <p:to>
                                        <p:strVal val="visible"/>
                                      </p:to>
                                    </p:set>
                                    <p:animEffect>
                                      <p:cBhvr>
                                        <p:cTn id="55" dur="500"/>
                                        <p:tgtEl>
                                          <p:spTgt spid="45086"/>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5" presetClass="entr" presetSubtype="10" fill="hold" grpId="0" nodeType="clickEffect">
                                  <p:stCondLst>
                                    <p:cond delay="0"/>
                                  </p:stCondLst>
                                  <p:childTnLst>
                                    <p:set>
                                      <p:cBhvr>
                                        <p:cTn id="59" dur="1" fill="hold">
                                          <p:stCondLst>
                                            <p:cond delay="0"/>
                                          </p:stCondLst>
                                        </p:cTn>
                                        <p:tgtEl>
                                          <p:spTgt spid="45064"/>
                                        </p:tgtEl>
                                        <p:attrNameLst>
                                          <p:attrName>style.visibility</p:attrName>
                                        </p:attrNameLst>
                                      </p:cBhvr>
                                      <p:to>
                                        <p:strVal val="visible"/>
                                      </p:to>
                                    </p:set>
                                    <p:animEffect>
                                      <p:cBhvr>
                                        <p:cTn id="60" dur="500"/>
                                        <p:tgtEl>
                                          <p:spTgt spid="45064"/>
                                        </p:tgtEl>
                                      </p:cBhvr>
                                    </p:animEffect>
                                  </p:childTnLst>
                                </p:cTn>
                              </p:par>
                              <p:par>
                                <p:cTn id="61" presetID="5" presetClass="entr" presetSubtype="10" fill="hold" grpId="0" nodeType="withEffect">
                                  <p:stCondLst>
                                    <p:cond delay="0"/>
                                  </p:stCondLst>
                                  <p:childTnLst>
                                    <p:set>
                                      <p:cBhvr>
                                        <p:cTn id="62" dur="1" fill="hold">
                                          <p:stCondLst>
                                            <p:cond delay="0"/>
                                          </p:stCondLst>
                                        </p:cTn>
                                        <p:tgtEl>
                                          <p:spTgt spid="45067"/>
                                        </p:tgtEl>
                                        <p:attrNameLst>
                                          <p:attrName>style.visibility</p:attrName>
                                        </p:attrNameLst>
                                      </p:cBhvr>
                                      <p:to>
                                        <p:strVal val="visible"/>
                                      </p:to>
                                    </p:set>
                                    <p:animEffect>
                                      <p:cBhvr>
                                        <p:cTn id="63" dur="500"/>
                                        <p:tgtEl>
                                          <p:spTgt spid="45067"/>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3" presetClass="entr" presetSubtype="10" fill="hold" grpId="0" nodeType="clickEffect">
                                  <p:stCondLst>
                                    <p:cond delay="0"/>
                                  </p:stCondLst>
                                  <p:childTnLst>
                                    <p:set>
                                      <p:cBhvr>
                                        <p:cTn id="67" dur="1" fill="hold">
                                          <p:stCondLst>
                                            <p:cond delay="0"/>
                                          </p:stCondLst>
                                        </p:cTn>
                                        <p:tgtEl>
                                          <p:spTgt spid="45075"/>
                                        </p:tgtEl>
                                        <p:attrNameLst>
                                          <p:attrName>style.visibility</p:attrName>
                                        </p:attrNameLst>
                                      </p:cBhvr>
                                      <p:to>
                                        <p:strVal val="visible"/>
                                      </p:to>
                                    </p:set>
                                    <p:animEffect>
                                      <p:cBhvr>
                                        <p:cTn id="68" dur="500"/>
                                        <p:tgtEl>
                                          <p:spTgt spid="45075"/>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5" presetClass="entr" presetSubtype="10" fill="hold" grpId="0" nodeType="clickEffect">
                                  <p:stCondLst>
                                    <p:cond delay="0"/>
                                  </p:stCondLst>
                                  <p:childTnLst>
                                    <p:set>
                                      <p:cBhvr>
                                        <p:cTn id="72" dur="1" fill="hold">
                                          <p:stCondLst>
                                            <p:cond delay="0"/>
                                          </p:stCondLst>
                                        </p:cTn>
                                        <p:tgtEl>
                                          <p:spTgt spid="45081"/>
                                        </p:tgtEl>
                                        <p:attrNameLst>
                                          <p:attrName>style.visibility</p:attrName>
                                        </p:attrNameLst>
                                      </p:cBhvr>
                                      <p:to>
                                        <p:strVal val="visible"/>
                                      </p:to>
                                    </p:set>
                                    <p:animEffect>
                                      <p:cBhvr>
                                        <p:cTn id="73" dur="500"/>
                                        <p:tgtEl>
                                          <p:spTgt spid="45081"/>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16" presetClass="entr" presetSubtype="26" fill="hold" grpId="0" nodeType="clickEffect">
                                  <p:stCondLst>
                                    <p:cond delay="0"/>
                                  </p:stCondLst>
                                  <p:childTnLst>
                                    <p:set>
                                      <p:cBhvr>
                                        <p:cTn id="77" dur="1" fill="hold">
                                          <p:stCondLst>
                                            <p:cond delay="0"/>
                                          </p:stCondLst>
                                        </p:cTn>
                                        <p:tgtEl>
                                          <p:spTgt spid="45087"/>
                                        </p:tgtEl>
                                        <p:attrNameLst>
                                          <p:attrName>style.visibility</p:attrName>
                                        </p:attrNameLst>
                                      </p:cBhvr>
                                      <p:to>
                                        <p:strVal val="visible"/>
                                      </p:to>
                                    </p:set>
                                    <p:animEffect>
                                      <p:cBhvr>
                                        <p:cTn id="78" dur="500"/>
                                        <p:tgtEl>
                                          <p:spTgt spid="45087"/>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3" presetClass="entr" presetSubtype="10" fill="hold" grpId="0" nodeType="clickEffect">
                                  <p:stCondLst>
                                    <p:cond delay="0"/>
                                  </p:stCondLst>
                                  <p:childTnLst>
                                    <p:set>
                                      <p:cBhvr>
                                        <p:cTn id="82" dur="1" fill="hold">
                                          <p:stCondLst>
                                            <p:cond delay="0"/>
                                          </p:stCondLst>
                                        </p:cTn>
                                        <p:tgtEl>
                                          <p:spTgt spid="45080"/>
                                        </p:tgtEl>
                                        <p:attrNameLst>
                                          <p:attrName>style.visibility</p:attrName>
                                        </p:attrNameLst>
                                      </p:cBhvr>
                                      <p:to>
                                        <p:strVal val="visible"/>
                                      </p:to>
                                    </p:set>
                                    <p:animEffect>
                                      <p:cBhvr>
                                        <p:cTn id="83" dur="500"/>
                                        <p:tgtEl>
                                          <p:spTgt spid="45080"/>
                                        </p:tgtEl>
                                      </p:cBhvr>
                                    </p:animEffect>
                                  </p:childTnLst>
                                </p:cTn>
                              </p:par>
                              <p:par>
                                <p:cTn id="84" presetID="3" presetClass="entr" presetSubtype="10" fill="hold" grpId="0" nodeType="withEffect">
                                  <p:stCondLst>
                                    <p:cond delay="0"/>
                                  </p:stCondLst>
                                  <p:childTnLst>
                                    <p:set>
                                      <p:cBhvr>
                                        <p:cTn id="85" dur="1" fill="hold">
                                          <p:stCondLst>
                                            <p:cond delay="0"/>
                                          </p:stCondLst>
                                        </p:cTn>
                                        <p:tgtEl>
                                          <p:spTgt spid="45066"/>
                                        </p:tgtEl>
                                        <p:attrNameLst>
                                          <p:attrName>style.visibility</p:attrName>
                                        </p:attrNameLst>
                                      </p:cBhvr>
                                      <p:to>
                                        <p:strVal val="visible"/>
                                      </p:to>
                                    </p:set>
                                    <p:animEffect>
                                      <p:cBhvr>
                                        <p:cTn id="86" dur="500"/>
                                        <p:tgtEl>
                                          <p:spTgt spid="45066"/>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3" presetClass="entr" presetSubtype="10" fill="hold" grpId="0" nodeType="clickEffect">
                                  <p:stCondLst>
                                    <p:cond delay="0"/>
                                  </p:stCondLst>
                                  <p:childTnLst>
                                    <p:set>
                                      <p:cBhvr>
                                        <p:cTn id="90" dur="1" fill="hold">
                                          <p:stCondLst>
                                            <p:cond delay="0"/>
                                          </p:stCondLst>
                                        </p:cTn>
                                        <p:tgtEl>
                                          <p:spTgt spid="45074"/>
                                        </p:tgtEl>
                                        <p:attrNameLst>
                                          <p:attrName>style.visibility</p:attrName>
                                        </p:attrNameLst>
                                      </p:cBhvr>
                                      <p:to>
                                        <p:strVal val="visible"/>
                                      </p:to>
                                    </p:set>
                                    <p:animEffect>
                                      <p:cBhvr>
                                        <p:cTn id="91" dur="500"/>
                                        <p:tgtEl>
                                          <p:spTgt spid="45074"/>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3" presetClass="entr" presetSubtype="10" fill="hold" grpId="0" nodeType="clickEffect">
                                  <p:stCondLst>
                                    <p:cond delay="0"/>
                                  </p:stCondLst>
                                  <p:childTnLst>
                                    <p:set>
                                      <p:cBhvr>
                                        <p:cTn id="95" dur="1" fill="hold">
                                          <p:stCondLst>
                                            <p:cond delay="0"/>
                                          </p:stCondLst>
                                        </p:cTn>
                                        <p:tgtEl>
                                          <p:spTgt spid="45058"/>
                                        </p:tgtEl>
                                        <p:attrNameLst>
                                          <p:attrName>style.visibility</p:attrName>
                                        </p:attrNameLst>
                                      </p:cBhvr>
                                      <p:to>
                                        <p:strVal val="visible"/>
                                      </p:to>
                                    </p:set>
                                    <p:animEffect>
                                      <p:cBhvr>
                                        <p:cTn id="96" dur="500"/>
                                        <p:tgtEl>
                                          <p:spTgt spid="45058"/>
                                        </p:tgtEl>
                                      </p:cBhvr>
                                    </p:animEffect>
                                  </p:childTnLst>
                                </p:cTn>
                              </p:par>
                            </p:childTnLst>
                          </p:cTn>
                        </p:par>
                      </p:childTnLst>
                    </p:cTn>
                  </p:par>
                  <p:par>
                    <p:cTn id="97" fill="hold" nodeType="clickPar">
                      <p:stCondLst>
                        <p:cond delay="indefinite"/>
                      </p:stCondLst>
                      <p:childTnLst>
                        <p:par>
                          <p:cTn id="98" fill="hold" nodeType="withGroup">
                            <p:stCondLst>
                              <p:cond delay="0"/>
                            </p:stCondLst>
                            <p:childTnLst>
                              <p:par>
                                <p:cTn id="99" presetID="16" presetClass="entr" presetSubtype="26" fill="hold" grpId="0" nodeType="clickEffect">
                                  <p:stCondLst>
                                    <p:cond delay="0"/>
                                  </p:stCondLst>
                                  <p:childTnLst>
                                    <p:set>
                                      <p:cBhvr>
                                        <p:cTn id="100" dur="1" fill="hold">
                                          <p:stCondLst>
                                            <p:cond delay="0"/>
                                          </p:stCondLst>
                                        </p:cTn>
                                        <p:tgtEl>
                                          <p:spTgt spid="45088"/>
                                        </p:tgtEl>
                                        <p:attrNameLst>
                                          <p:attrName>style.visibility</p:attrName>
                                        </p:attrNameLst>
                                      </p:cBhvr>
                                      <p:to>
                                        <p:strVal val="visible"/>
                                      </p:to>
                                    </p:set>
                                    <p:animEffect>
                                      <p:cBhvr>
                                        <p:cTn id="101" dur="500"/>
                                        <p:tgtEl>
                                          <p:spTgt spid="45088"/>
                                        </p:tgtEl>
                                      </p:cBhvr>
                                    </p:animEffec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3" presetClass="entr" presetSubtype="10" fill="hold" grpId="0" nodeType="clickEffect">
                                  <p:stCondLst>
                                    <p:cond delay="0"/>
                                  </p:stCondLst>
                                  <p:childTnLst>
                                    <p:set>
                                      <p:cBhvr>
                                        <p:cTn id="105" dur="1" fill="hold">
                                          <p:stCondLst>
                                            <p:cond delay="0"/>
                                          </p:stCondLst>
                                        </p:cTn>
                                        <p:tgtEl>
                                          <p:spTgt spid="45079"/>
                                        </p:tgtEl>
                                        <p:attrNameLst>
                                          <p:attrName>style.visibility</p:attrName>
                                        </p:attrNameLst>
                                      </p:cBhvr>
                                      <p:to>
                                        <p:strVal val="visible"/>
                                      </p:to>
                                    </p:set>
                                    <p:animEffect>
                                      <p:cBhvr>
                                        <p:cTn id="106" dur="500"/>
                                        <p:tgtEl>
                                          <p:spTgt spid="45079"/>
                                        </p:tgtEl>
                                      </p:cBhvr>
                                    </p:animEffect>
                                  </p:childTnLst>
                                </p:cTn>
                              </p:par>
                            </p:childTnLst>
                          </p:cTn>
                        </p:par>
                      </p:childTnLst>
                    </p:cTn>
                  </p:par>
                  <p:par>
                    <p:cTn id="107" fill="hold" nodeType="clickPar">
                      <p:stCondLst>
                        <p:cond delay="indefinite"/>
                      </p:stCondLst>
                      <p:childTnLst>
                        <p:par>
                          <p:cTn id="108" fill="hold" nodeType="withGroup">
                            <p:stCondLst>
                              <p:cond delay="0"/>
                            </p:stCondLst>
                            <p:childTnLst>
                              <p:par>
                                <p:cTn id="109" presetID="3" presetClass="entr" presetSubtype="10" fill="hold" grpId="0" nodeType="clickEffect">
                                  <p:stCondLst>
                                    <p:cond delay="0"/>
                                  </p:stCondLst>
                                  <p:childTnLst>
                                    <p:set>
                                      <p:cBhvr>
                                        <p:cTn id="110" dur="1" fill="hold">
                                          <p:stCondLst>
                                            <p:cond delay="0"/>
                                          </p:stCondLst>
                                        </p:cTn>
                                        <p:tgtEl>
                                          <p:spTgt spid="45089"/>
                                        </p:tgtEl>
                                        <p:attrNameLst>
                                          <p:attrName>style.visibility</p:attrName>
                                        </p:attrNameLst>
                                      </p:cBhvr>
                                      <p:to>
                                        <p:strVal val="visible"/>
                                      </p:to>
                                    </p:set>
                                    <p:animEffect>
                                      <p:cBhvr>
                                        <p:cTn id="111" dur="500"/>
                                        <p:tgtEl>
                                          <p:spTgt spid="45089"/>
                                        </p:tgtEl>
                                      </p:cBhvr>
                                    </p:animEffect>
                                  </p:childTnLst>
                                </p:cTn>
                              </p:par>
                            </p:childTnLst>
                          </p:cTn>
                        </p:par>
                      </p:childTnLst>
                    </p:cTn>
                  </p:par>
                  <p:par>
                    <p:cTn id="112" fill="hold" nodeType="clickPar">
                      <p:stCondLst>
                        <p:cond delay="indefinite"/>
                      </p:stCondLst>
                      <p:childTnLst>
                        <p:par>
                          <p:cTn id="113" fill="hold" nodeType="withGroup">
                            <p:stCondLst>
                              <p:cond delay="0"/>
                            </p:stCondLst>
                            <p:childTnLst>
                              <p:par>
                                <p:cTn id="114" presetID="3" presetClass="entr" presetSubtype="10" fill="hold" grpId="0" nodeType="clickEffect">
                                  <p:stCondLst>
                                    <p:cond delay="0"/>
                                  </p:stCondLst>
                                  <p:childTnLst>
                                    <p:set>
                                      <p:cBhvr>
                                        <p:cTn id="115" dur="1" fill="hold">
                                          <p:stCondLst>
                                            <p:cond delay="0"/>
                                          </p:stCondLst>
                                        </p:cTn>
                                        <p:tgtEl>
                                          <p:spTgt spid="45078"/>
                                        </p:tgtEl>
                                        <p:attrNameLst>
                                          <p:attrName>style.visibility</p:attrName>
                                        </p:attrNameLst>
                                      </p:cBhvr>
                                      <p:to>
                                        <p:strVal val="visible"/>
                                      </p:to>
                                    </p:set>
                                    <p:animEffect>
                                      <p:cBhvr>
                                        <p:cTn id="116" dur="500"/>
                                        <p:tgtEl>
                                          <p:spTgt spid="45078"/>
                                        </p:tgtEl>
                                      </p:cBhvr>
                                    </p:animEffect>
                                  </p:childTnLst>
                                </p:cTn>
                              </p:par>
                              <p:par>
                                <p:cTn id="117" presetID="3" presetClass="entr" presetSubtype="10" fill="hold" grpId="0" nodeType="withEffect">
                                  <p:stCondLst>
                                    <p:cond delay="0"/>
                                  </p:stCondLst>
                                  <p:childTnLst>
                                    <p:set>
                                      <p:cBhvr>
                                        <p:cTn id="118" dur="1" fill="hold">
                                          <p:stCondLst>
                                            <p:cond delay="0"/>
                                          </p:stCondLst>
                                        </p:cTn>
                                        <p:tgtEl>
                                          <p:spTgt spid="45077"/>
                                        </p:tgtEl>
                                        <p:attrNameLst>
                                          <p:attrName>style.visibility</p:attrName>
                                        </p:attrNameLst>
                                      </p:cBhvr>
                                      <p:to>
                                        <p:strVal val="visible"/>
                                      </p:to>
                                    </p:set>
                                    <p:animEffect>
                                      <p:cBhvr>
                                        <p:cTn id="119" dur="500"/>
                                        <p:tgtEl>
                                          <p:spTgt spid="45077"/>
                                        </p:tgtEl>
                                      </p:cBhvr>
                                    </p:animEffect>
                                  </p:childTnLst>
                                </p:cTn>
                              </p:par>
                              <p:par>
                                <p:cTn id="120" presetID="3" presetClass="entr" presetSubtype="10" fill="hold" grpId="0" nodeType="withEffect">
                                  <p:stCondLst>
                                    <p:cond delay="0"/>
                                  </p:stCondLst>
                                  <p:childTnLst>
                                    <p:set>
                                      <p:cBhvr>
                                        <p:cTn id="121" dur="1" fill="hold">
                                          <p:stCondLst>
                                            <p:cond delay="0"/>
                                          </p:stCondLst>
                                        </p:cTn>
                                        <p:tgtEl>
                                          <p:spTgt spid="45082"/>
                                        </p:tgtEl>
                                        <p:attrNameLst>
                                          <p:attrName>style.visibility</p:attrName>
                                        </p:attrNameLst>
                                      </p:cBhvr>
                                      <p:to>
                                        <p:strVal val="visible"/>
                                      </p:to>
                                    </p:set>
                                    <p:animEffect>
                                      <p:cBhvr>
                                        <p:cTn id="122" dur="500"/>
                                        <p:tgtEl>
                                          <p:spTgt spid="45082"/>
                                        </p:tgtEl>
                                      </p:cBhvr>
                                    </p:animEffect>
                                  </p:childTnLst>
                                </p:cTn>
                              </p:par>
                              <p:par>
                                <p:cTn id="123" presetID="3" presetClass="entr" presetSubtype="10" fill="hold" grpId="0" nodeType="withEffect">
                                  <p:stCondLst>
                                    <p:cond delay="0"/>
                                  </p:stCondLst>
                                  <p:childTnLst>
                                    <p:set>
                                      <p:cBhvr>
                                        <p:cTn id="124" dur="1" fill="hold">
                                          <p:stCondLst>
                                            <p:cond delay="0"/>
                                          </p:stCondLst>
                                        </p:cTn>
                                        <p:tgtEl>
                                          <p:spTgt spid="45072"/>
                                        </p:tgtEl>
                                        <p:attrNameLst>
                                          <p:attrName>style.visibility</p:attrName>
                                        </p:attrNameLst>
                                      </p:cBhvr>
                                      <p:to>
                                        <p:strVal val="visible"/>
                                      </p:to>
                                    </p:set>
                                    <p:animEffect>
                                      <p:cBhvr>
                                        <p:cTn id="125" dur="500"/>
                                        <p:tgtEl>
                                          <p:spTgt spid="45072"/>
                                        </p:tgtEl>
                                      </p:cBhvr>
                                    </p:animEffect>
                                  </p:childTnLst>
                                </p:cTn>
                              </p:par>
                            </p:childTnLst>
                          </p:cTn>
                        </p:par>
                      </p:childTnLst>
                    </p:cTn>
                  </p:par>
                  <p:par>
                    <p:cTn id="126" fill="hold" nodeType="clickPar">
                      <p:stCondLst>
                        <p:cond delay="indefinite"/>
                      </p:stCondLst>
                      <p:childTnLst>
                        <p:par>
                          <p:cTn id="127" fill="hold" nodeType="withGroup">
                            <p:stCondLst>
                              <p:cond delay="0"/>
                            </p:stCondLst>
                            <p:childTnLst>
                              <p:par>
                                <p:cTn id="128" presetID="5" presetClass="entr" presetSubtype="10" fill="hold" grpId="0" nodeType="clickEffect">
                                  <p:stCondLst>
                                    <p:cond delay="0"/>
                                  </p:stCondLst>
                                  <p:childTnLst>
                                    <p:set>
                                      <p:cBhvr>
                                        <p:cTn id="129" dur="1" fill="hold">
                                          <p:stCondLst>
                                            <p:cond delay="0"/>
                                          </p:stCondLst>
                                        </p:cTn>
                                        <p:tgtEl>
                                          <p:spTgt spid="45090"/>
                                        </p:tgtEl>
                                        <p:attrNameLst>
                                          <p:attrName>style.visibility</p:attrName>
                                        </p:attrNameLst>
                                      </p:cBhvr>
                                      <p:to>
                                        <p:strVal val="visible"/>
                                      </p:to>
                                    </p:set>
                                    <p:animEffect>
                                      <p:cBhvr>
                                        <p:cTn id="130" dur="500"/>
                                        <p:tgtEl>
                                          <p:spTgt spid="45090"/>
                                        </p:tgtEl>
                                      </p:cBhvr>
                                    </p:animEffect>
                                  </p:childTnLst>
                                </p:cTn>
                              </p:par>
                            </p:childTnLst>
                          </p:cTn>
                        </p:par>
                      </p:childTnLst>
                    </p:cTn>
                  </p:par>
                  <p:par>
                    <p:cTn id="131" fill="hold" nodeType="clickPar">
                      <p:stCondLst>
                        <p:cond delay="indefinite"/>
                      </p:stCondLst>
                      <p:childTnLst>
                        <p:par>
                          <p:cTn id="132" fill="hold" nodeType="withGroup">
                            <p:stCondLst>
                              <p:cond delay="0"/>
                            </p:stCondLst>
                            <p:childTnLst>
                              <p:par>
                                <p:cTn id="133" presetID="5" presetClass="entr" presetSubtype="10" fill="hold" grpId="0" nodeType="clickEffect">
                                  <p:stCondLst>
                                    <p:cond delay="0"/>
                                  </p:stCondLst>
                                  <p:childTnLst>
                                    <p:set>
                                      <p:cBhvr>
                                        <p:cTn id="134" dur="1" fill="hold">
                                          <p:stCondLst>
                                            <p:cond delay="0"/>
                                          </p:stCondLst>
                                        </p:cTn>
                                        <p:tgtEl>
                                          <p:spTgt spid="45076"/>
                                        </p:tgtEl>
                                        <p:attrNameLst>
                                          <p:attrName>style.visibility</p:attrName>
                                        </p:attrNameLst>
                                      </p:cBhvr>
                                      <p:to>
                                        <p:strVal val="visible"/>
                                      </p:to>
                                    </p:set>
                                    <p:animEffect>
                                      <p:cBhvr>
                                        <p:cTn id="135" dur="500"/>
                                        <p:tgtEl>
                                          <p:spTgt spid="45076"/>
                                        </p:tgtEl>
                                      </p:cBhvr>
                                    </p:animEffect>
                                  </p:childTnLst>
                                </p:cTn>
                              </p:par>
                              <p:par>
                                <p:cTn id="136" presetID="5" presetClass="entr" presetSubtype="10" fill="hold" grpId="0" nodeType="withEffect">
                                  <p:stCondLst>
                                    <p:cond delay="0"/>
                                  </p:stCondLst>
                                  <p:childTnLst>
                                    <p:set>
                                      <p:cBhvr>
                                        <p:cTn id="137" dur="1" fill="hold">
                                          <p:stCondLst>
                                            <p:cond delay="0"/>
                                          </p:stCondLst>
                                        </p:cTn>
                                        <p:tgtEl>
                                          <p:spTgt spid="45083"/>
                                        </p:tgtEl>
                                        <p:attrNameLst>
                                          <p:attrName>style.visibility</p:attrName>
                                        </p:attrNameLst>
                                      </p:cBhvr>
                                      <p:to>
                                        <p:strVal val="visible"/>
                                      </p:to>
                                    </p:set>
                                    <p:animEffect>
                                      <p:cBhvr>
                                        <p:cTn id="138" dur="500"/>
                                        <p:tgtEl>
                                          <p:spTgt spid="45083"/>
                                        </p:tgtEl>
                                      </p:cBhvr>
                                    </p:animEffect>
                                  </p:childTnLst>
                                </p:cTn>
                              </p:par>
                              <p:par>
                                <p:cTn id="139" presetID="5" presetClass="entr" presetSubtype="10" fill="hold" grpId="0" nodeType="withEffect">
                                  <p:stCondLst>
                                    <p:cond delay="0"/>
                                  </p:stCondLst>
                                  <p:childTnLst>
                                    <p:set>
                                      <p:cBhvr>
                                        <p:cTn id="140" dur="1" fill="hold">
                                          <p:stCondLst>
                                            <p:cond delay="0"/>
                                          </p:stCondLst>
                                        </p:cTn>
                                        <p:tgtEl>
                                          <p:spTgt spid="45068"/>
                                        </p:tgtEl>
                                        <p:attrNameLst>
                                          <p:attrName>style.visibility</p:attrName>
                                        </p:attrNameLst>
                                      </p:cBhvr>
                                      <p:to>
                                        <p:strVal val="visible"/>
                                      </p:to>
                                    </p:set>
                                    <p:animEffect>
                                      <p:cBhvr>
                                        <p:cTn id="141" dur="500"/>
                                        <p:tgtEl>
                                          <p:spTgt spid="45068"/>
                                        </p:tgtEl>
                                      </p:cBhvr>
                                    </p:animEffect>
                                  </p:childTnLst>
                                </p:cTn>
                              </p:par>
                              <p:par>
                                <p:cTn id="142" presetID="5" presetClass="entr" presetSubtype="10" fill="hold" grpId="0" nodeType="withEffect">
                                  <p:stCondLst>
                                    <p:cond delay="0"/>
                                  </p:stCondLst>
                                  <p:childTnLst>
                                    <p:set>
                                      <p:cBhvr>
                                        <p:cTn id="143" dur="1" fill="hold">
                                          <p:stCondLst>
                                            <p:cond delay="0"/>
                                          </p:stCondLst>
                                        </p:cTn>
                                        <p:tgtEl>
                                          <p:spTgt spid="45065"/>
                                        </p:tgtEl>
                                        <p:attrNameLst>
                                          <p:attrName>style.visibility</p:attrName>
                                        </p:attrNameLst>
                                      </p:cBhvr>
                                      <p:to>
                                        <p:strVal val="visible"/>
                                      </p:to>
                                    </p:set>
                                    <p:animEffect>
                                      <p:cBhvr>
                                        <p:cTn id="144" dur="500"/>
                                        <p:tgtEl>
                                          <p:spTgt spid="450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89" grpId="0" bldLvl="0" animBg="1" autoUpdateAnimBg="0"/>
      <p:bldP spid="45088" grpId="0" bldLvl="0" animBg="1" autoUpdateAnimBg="0"/>
      <p:bldP spid="45090" grpId="0" bldLvl="0" animBg="1" autoUpdateAnimBg="0"/>
      <p:bldP spid="45085" grpId="0" bldLvl="0" animBg="1" autoUpdateAnimBg="0"/>
      <p:bldP spid="45058" grpId="0" bldLvl="0" autoUpdateAnimBg="0"/>
      <p:bldP spid="45059" grpId="0" bldLvl="0" animBg="1" autoUpdateAnimBg="0"/>
      <p:bldP spid="45060" grpId="0" bldLvl="0" animBg="1" autoUpdateAnimBg="0"/>
      <p:bldP spid="45061" grpId="0" bldLvl="0" autoUpdateAnimBg="0"/>
      <p:bldP spid="45062" grpId="0" bldLvl="0" autoUpdateAnimBg="0"/>
      <p:bldP spid="45063" grpId="0" bldLvl="0" autoUpdateAnimBg="0"/>
      <p:bldP spid="45064" grpId="0" bldLvl="0" animBg="1" autoUpdateAnimBg="0"/>
      <p:bldP spid="45065" grpId="0" bldLvl="0" autoUpdateAnimBg="0"/>
      <p:bldP spid="45066" grpId="0" bldLvl="0" animBg="1" autoUpdateAnimBg="0"/>
      <p:bldP spid="45067" grpId="0" bldLvl="0" autoUpdateAnimBg="0"/>
      <p:bldP spid="45068" grpId="0" bldLvl="0" animBg="1" autoUpdateAnimBg="0"/>
      <p:bldP spid="45069" grpId="0" bldLvl="0" autoUpdateAnimBg="0"/>
      <p:bldP spid="45070" grpId="0" bldLvl="0" animBg="1" autoUpdateAnimBg="0"/>
      <p:bldP spid="45071" grpId="0" bldLvl="0" animBg="1" autoUpdateAnimBg="0"/>
      <p:bldP spid="45072" grpId="0" bldLvl="0" autoUpdateAnimBg="0"/>
      <p:bldP spid="45073" grpId="0" bldLvl="0" autoUpdateAnimBg="0"/>
      <p:bldP spid="45074" grpId="0" bldLvl="0" animBg="1" autoUpdateAnimBg="0"/>
      <p:bldP spid="45075" grpId="0" bldLvl="0" animBg="1" autoUpdateAnimBg="0"/>
      <p:bldP spid="45076" grpId="0" bldLvl="0" animBg="1" autoUpdateAnimBg="0"/>
      <p:bldP spid="45077" grpId="0" bldLvl="0" animBg="1" autoUpdateAnimBg="0"/>
      <p:bldP spid="45078" grpId="0" bldLvl="0" animBg="1" autoUpdateAnimBg="0"/>
      <p:bldP spid="45079" grpId="0" bldLvl="0" autoUpdateAnimBg="0"/>
      <p:bldP spid="45080" grpId="0" bldLvl="0" autoUpdateAnimBg="0"/>
      <p:bldP spid="45081" grpId="0" bldLvl="0" autoUpdateAnimBg="0"/>
      <p:bldP spid="45082" grpId="0" bldLvl="0" autoUpdateAnimBg="0"/>
      <p:bldP spid="45083" grpId="0" bldLvl="0" autoUpdateAnimBg="0"/>
      <p:bldP spid="45086" grpId="0" bldLvl="0" animBg="1" autoUpdateAnimBg="0"/>
      <p:bldP spid="45087" grpId="0" bldLvl="0" animBg="1"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10" name="圆角矩形标注 30"/>
          <p:cNvSpPr>
            <a:spLocks noChangeArrowheads="1"/>
          </p:cNvSpPr>
          <p:nvPr/>
        </p:nvSpPr>
        <p:spPr bwMode="auto">
          <a:xfrm>
            <a:off x="6234393" y="3948594"/>
            <a:ext cx="2714625" cy="1736725"/>
          </a:xfrm>
          <a:prstGeom prst="wedgeRoundRectCallout">
            <a:avLst>
              <a:gd name="adj1" fmla="val -79128"/>
              <a:gd name="adj2" fmla="val -45438"/>
              <a:gd name="adj3" fmla="val 16667"/>
            </a:avLst>
          </a:prstGeom>
          <a:solidFill>
            <a:schemeClr val="bg1"/>
          </a:solidFill>
          <a:ln>
            <a:solidFill>
              <a:srgbClr val="C00000"/>
            </a:solidFill>
          </a:ln>
        </p:spPr>
        <p:style>
          <a:lnRef idx="3">
            <a:schemeClr val="lt1"/>
          </a:lnRef>
          <a:fillRef idx="1">
            <a:schemeClr val="accent1"/>
          </a:fillRef>
          <a:effectRef idx="1">
            <a:schemeClr val="accent1"/>
          </a:effectRef>
          <a:fontRef idx="minor">
            <a:schemeClr val="lt1"/>
          </a:fontRef>
        </p:style>
        <p:txBody>
          <a:bodyPr>
            <a:spAutoFit/>
          </a:bodyPr>
          <a:lstStyle/>
          <a:p>
            <a:pPr algn="just"/>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当需求状况不变</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从而边际收益曲线不变时</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即使边际成本曲线发生变化</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例如</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从</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MM`</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下降到</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HH`, </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或者上升到</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GG`, </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利润最大化产量和价格仍然为</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Q0</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和</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P0</a:t>
            </a:r>
            <a:endPar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46109" name="圆角矩形标注 29"/>
          <p:cNvSpPr>
            <a:spLocks noChangeArrowheads="1"/>
          </p:cNvSpPr>
          <p:nvPr/>
        </p:nvSpPr>
        <p:spPr bwMode="auto">
          <a:xfrm>
            <a:off x="6643688" y="2344089"/>
            <a:ext cx="2381250" cy="1464231"/>
          </a:xfrm>
          <a:prstGeom prst="wedgeRoundRectCallout">
            <a:avLst>
              <a:gd name="adj1" fmla="val -180842"/>
              <a:gd name="adj2" fmla="val 15824"/>
              <a:gd name="adj3" fmla="val 16667"/>
            </a:avLst>
          </a:prstGeom>
          <a:solidFill>
            <a:schemeClr val="bg1"/>
          </a:solidFill>
          <a:ln>
            <a:solidFill>
              <a:srgbClr val="C00000"/>
            </a:solidFill>
          </a:ln>
        </p:spPr>
        <p:style>
          <a:lnRef idx="3">
            <a:schemeClr val="lt1"/>
          </a:lnRef>
          <a:fillRef idx="1">
            <a:schemeClr val="accent1"/>
          </a:fillRef>
          <a:effectRef idx="1">
            <a:schemeClr val="accent1"/>
          </a:effectRef>
          <a:fontRef idx="minor">
            <a:schemeClr val="lt1"/>
          </a:fontRef>
        </p:style>
        <p:txBody>
          <a:bodyPr>
            <a:spAutoFit/>
          </a:bodyPr>
          <a:lstStyle/>
          <a:p>
            <a:pPr algn="just"/>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需求曲线为</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DVD`</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在点</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V</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处扭折。 扭折的需求曲线</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DVD`</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决定了边际收益曲线为间断的</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RA</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和</a:t>
            </a:r>
            <a:r>
              <a:rPr lang="en-US" altLang="zh-CN"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BR`</a:t>
            </a:r>
            <a:endPar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46082" name="Rectangle 3"/>
          <p:cNvSpPr>
            <a:spLocks noGrp="1" noChangeArrowheads="1"/>
          </p:cNvSpPr>
          <p:nvPr>
            <p:ph type="body" idx="4294967295"/>
          </p:nvPr>
        </p:nvSpPr>
        <p:spPr>
          <a:xfrm>
            <a:off x="457201" y="796246"/>
            <a:ext cx="8229600" cy="1322179"/>
          </a:xfrm>
          <a:ln/>
        </p:spPr>
        <p:txBody>
          <a:bodyPr/>
          <a:lstStyle/>
          <a:p>
            <a:pPr marL="457200" lvl="2" indent="-457200" eaLnBrk="1" hangingPunct="1">
              <a:lnSpc>
                <a:spcPct val="250000"/>
              </a:lnSpc>
              <a:buSzPct val="100000"/>
              <a:buFont typeface="Wingdings" panose="05000000000000000000" pitchFamily="2" charset="2"/>
              <a:buChar char="u"/>
            </a:pPr>
            <a:r>
              <a:rPr lang="zh-CN" altLang="en-US" sz="2200" b="0" dirty="0">
                <a:latin typeface="微软雅黑" panose="020B0503020204020204" pitchFamily="34" charset="-122"/>
                <a:ea typeface="微软雅黑" panose="020B0503020204020204" pitchFamily="34" charset="-122"/>
              </a:rPr>
              <a:t>价格刚性</a:t>
            </a:r>
            <a:endParaRPr lang="en-US" altLang="zh-CN" sz="2200" b="0" dirty="0">
              <a:latin typeface="微软雅黑" panose="020B0503020204020204" pitchFamily="34" charset="-122"/>
              <a:ea typeface="微软雅黑" panose="020B0503020204020204" pitchFamily="34" charset="-122"/>
            </a:endParaRPr>
          </a:p>
          <a:p>
            <a:pPr marL="742950" lvl="2" indent="-342900" eaLnBrk="1" hangingPunct="1">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rPr>
              <a:t>成本和需求在一定范围之内的变化不会引起价格的变化</a:t>
            </a:r>
          </a:p>
        </p:txBody>
      </p:sp>
      <p:sp>
        <p:nvSpPr>
          <p:cNvPr id="46083" name="Line 4"/>
          <p:cNvSpPr>
            <a:spLocks noChangeShapeType="1"/>
          </p:cNvSpPr>
          <p:nvPr/>
        </p:nvSpPr>
        <p:spPr bwMode="auto">
          <a:xfrm flipV="1">
            <a:off x="2457450" y="2443070"/>
            <a:ext cx="1588" cy="3444875"/>
          </a:xfrm>
          <a:prstGeom prst="line">
            <a:avLst/>
          </a:prstGeom>
          <a:noFill/>
          <a:ln w="9525" cmpd="sng">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46084" name="Line 5"/>
          <p:cNvSpPr>
            <a:spLocks noChangeShapeType="1"/>
          </p:cNvSpPr>
          <p:nvPr/>
        </p:nvSpPr>
        <p:spPr bwMode="auto">
          <a:xfrm>
            <a:off x="2457450" y="5887945"/>
            <a:ext cx="4678363" cy="1588"/>
          </a:xfrm>
          <a:prstGeom prst="line">
            <a:avLst/>
          </a:prstGeom>
          <a:noFill/>
          <a:ln w="9525" cmpd="sng">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46085" name="Text Box 6"/>
          <p:cNvSpPr>
            <a:spLocks noChangeArrowheads="1"/>
          </p:cNvSpPr>
          <p:nvPr/>
        </p:nvSpPr>
        <p:spPr bwMode="auto">
          <a:xfrm>
            <a:off x="2006600" y="2433293"/>
            <a:ext cx="388938"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000000"/>
                </a:solidFill>
                <a:sym typeface="Arial" panose="020B0604020202020204" pitchFamily="34" charset="0"/>
              </a:rPr>
              <a:t>P</a:t>
            </a:r>
            <a:endParaRPr lang="zh-CN" altLang="en-US" dirty="0"/>
          </a:p>
        </p:txBody>
      </p:sp>
      <p:sp>
        <p:nvSpPr>
          <p:cNvPr id="46086" name="Text Box 7"/>
          <p:cNvSpPr>
            <a:spLocks noChangeArrowheads="1"/>
          </p:cNvSpPr>
          <p:nvPr/>
        </p:nvSpPr>
        <p:spPr bwMode="auto">
          <a:xfrm>
            <a:off x="2187575" y="5887945"/>
            <a:ext cx="387350"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O</a:t>
            </a:r>
            <a:endParaRPr lang="zh-CN" altLang="en-US"/>
          </a:p>
        </p:txBody>
      </p:sp>
      <p:sp>
        <p:nvSpPr>
          <p:cNvPr id="46087" name="Text Box 8"/>
          <p:cNvSpPr>
            <a:spLocks noChangeArrowheads="1"/>
          </p:cNvSpPr>
          <p:nvPr/>
        </p:nvSpPr>
        <p:spPr bwMode="auto">
          <a:xfrm>
            <a:off x="6775450" y="5887945"/>
            <a:ext cx="511175"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Q</a:t>
            </a:r>
            <a:endParaRPr lang="zh-CN" altLang="en-US"/>
          </a:p>
        </p:txBody>
      </p:sp>
      <p:sp>
        <p:nvSpPr>
          <p:cNvPr id="46088" name="Line 9"/>
          <p:cNvSpPr>
            <a:spLocks noChangeShapeType="1"/>
          </p:cNvSpPr>
          <p:nvPr/>
        </p:nvSpPr>
        <p:spPr bwMode="auto">
          <a:xfrm>
            <a:off x="4078288" y="3643220"/>
            <a:ext cx="1258887" cy="1346200"/>
          </a:xfrm>
          <a:prstGeom prst="line">
            <a:avLst/>
          </a:prstGeom>
          <a:noFill/>
          <a:ln w="28575" cmpd="sng">
            <a:solidFill>
              <a:srgbClr val="0070C0"/>
            </a:solidFill>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46089" name="Line 10"/>
          <p:cNvSpPr>
            <a:spLocks noChangeShapeType="1"/>
          </p:cNvSpPr>
          <p:nvPr/>
        </p:nvSpPr>
        <p:spPr bwMode="auto">
          <a:xfrm>
            <a:off x="2817813" y="3341595"/>
            <a:ext cx="1260475" cy="1123950"/>
          </a:xfrm>
          <a:prstGeom prst="line">
            <a:avLst/>
          </a:prstGeom>
          <a:noFill/>
          <a:ln w="28575" cmpd="sng">
            <a:solidFill>
              <a:srgbClr val="0070C0"/>
            </a:solidFill>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46090" name="未知"/>
          <p:cNvSpPr>
            <a:spLocks noChangeArrowheads="1"/>
          </p:cNvSpPr>
          <p:nvPr/>
        </p:nvSpPr>
        <p:spPr bwMode="auto">
          <a:xfrm rot="21180000">
            <a:off x="3394075" y="3778158"/>
            <a:ext cx="2792413" cy="1620837"/>
          </a:xfrm>
          <a:custGeom>
            <a:avLst/>
            <a:gdLst>
              <a:gd name="T0" fmla="*/ 2147483647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a:moveTo>
                  <a:pt x="21600" y="0"/>
                </a:moveTo>
                <a:cubicBezTo>
                  <a:pt x="20474" y="1965"/>
                  <a:pt x="18450" y="8212"/>
                  <a:pt x="14851" y="11815"/>
                </a:cubicBezTo>
                <a:cubicBezTo>
                  <a:pt x="11252" y="15418"/>
                  <a:pt x="2473" y="19970"/>
                  <a:pt x="0" y="21599"/>
                </a:cubicBezTo>
              </a:path>
            </a:pathLst>
          </a:custGeom>
          <a:noFill/>
          <a:ln w="28575" cmpd="sng">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zh-CN">
              <a:solidFill>
                <a:srgbClr val="000000"/>
              </a:solidFill>
              <a:sym typeface="Arial" panose="020B0604020202020204" pitchFamily="34" charset="0"/>
            </a:endParaRPr>
          </a:p>
        </p:txBody>
      </p:sp>
      <p:sp>
        <p:nvSpPr>
          <p:cNvPr id="46091" name="Line 12"/>
          <p:cNvSpPr>
            <a:spLocks noChangeShapeType="1"/>
          </p:cNvSpPr>
          <p:nvPr/>
        </p:nvSpPr>
        <p:spPr bwMode="auto">
          <a:xfrm>
            <a:off x="4078288" y="3716245"/>
            <a:ext cx="1587" cy="2173288"/>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46092" name="Line 13"/>
          <p:cNvSpPr>
            <a:spLocks noChangeShapeType="1"/>
          </p:cNvSpPr>
          <p:nvPr/>
        </p:nvSpPr>
        <p:spPr bwMode="auto">
          <a:xfrm flipH="1">
            <a:off x="2457450" y="3641633"/>
            <a:ext cx="1620838" cy="1587"/>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46093" name="Line 14"/>
          <p:cNvSpPr>
            <a:spLocks noChangeShapeType="1"/>
          </p:cNvSpPr>
          <p:nvPr/>
        </p:nvSpPr>
        <p:spPr bwMode="auto">
          <a:xfrm>
            <a:off x="4075113" y="5289458"/>
            <a:ext cx="452437" cy="600075"/>
          </a:xfrm>
          <a:prstGeom prst="line">
            <a:avLst/>
          </a:prstGeom>
          <a:noFill/>
          <a:ln w="28575" cmpd="sng">
            <a:solidFill>
              <a:srgbClr val="0070C0"/>
            </a:solidFill>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46094" name="Line 15"/>
          <p:cNvSpPr>
            <a:spLocks noChangeShapeType="1"/>
          </p:cNvSpPr>
          <p:nvPr/>
        </p:nvSpPr>
        <p:spPr bwMode="auto">
          <a:xfrm>
            <a:off x="2906713" y="3117758"/>
            <a:ext cx="1171575" cy="525462"/>
          </a:xfrm>
          <a:prstGeom prst="line">
            <a:avLst/>
          </a:prstGeom>
          <a:noFill/>
          <a:ln w="28575" cmpd="sng">
            <a:solidFill>
              <a:srgbClr val="0070C0"/>
            </a:solidFill>
            <a:round/>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anose="020B0604020202020204" pitchFamily="34" charset="0"/>
            </a:endParaRPr>
          </a:p>
        </p:txBody>
      </p:sp>
      <p:sp>
        <p:nvSpPr>
          <p:cNvPr id="46095" name="Text Box 16"/>
          <p:cNvSpPr>
            <a:spLocks noChangeArrowheads="1"/>
          </p:cNvSpPr>
          <p:nvPr/>
        </p:nvSpPr>
        <p:spPr bwMode="auto">
          <a:xfrm>
            <a:off x="2547938" y="3117758"/>
            <a:ext cx="358775"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R</a:t>
            </a:r>
            <a:endParaRPr lang="zh-CN" altLang="en-US" sz="1000">
              <a:solidFill>
                <a:srgbClr val="000000"/>
              </a:solidFill>
              <a:sym typeface="Arial" panose="020B0604020202020204" pitchFamily="34" charset="0"/>
            </a:endParaRPr>
          </a:p>
        </p:txBody>
      </p:sp>
      <p:sp>
        <p:nvSpPr>
          <p:cNvPr id="46096" name="Text Box 17"/>
          <p:cNvSpPr>
            <a:spLocks noChangeArrowheads="1"/>
          </p:cNvSpPr>
          <p:nvPr/>
        </p:nvSpPr>
        <p:spPr bwMode="auto">
          <a:xfrm>
            <a:off x="2727325" y="2817720"/>
            <a:ext cx="360363"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D</a:t>
            </a:r>
            <a:endParaRPr lang="zh-CN" altLang="en-US" sz="1000">
              <a:solidFill>
                <a:srgbClr val="000000"/>
              </a:solidFill>
              <a:sym typeface="Arial" panose="020B0604020202020204" pitchFamily="34" charset="0"/>
            </a:endParaRPr>
          </a:p>
        </p:txBody>
      </p:sp>
      <p:sp>
        <p:nvSpPr>
          <p:cNvPr id="46097" name="Text Box 18"/>
          <p:cNvSpPr>
            <a:spLocks noChangeArrowheads="1"/>
          </p:cNvSpPr>
          <p:nvPr/>
        </p:nvSpPr>
        <p:spPr bwMode="auto">
          <a:xfrm>
            <a:off x="5611813" y="2879633"/>
            <a:ext cx="889000"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MM'</a:t>
            </a:r>
            <a:endParaRPr lang="zh-CN" altLang="en-US"/>
          </a:p>
        </p:txBody>
      </p:sp>
      <p:sp>
        <p:nvSpPr>
          <p:cNvPr id="46098" name="Text Box 19"/>
          <p:cNvSpPr>
            <a:spLocks noChangeArrowheads="1"/>
          </p:cNvSpPr>
          <p:nvPr/>
        </p:nvSpPr>
        <p:spPr bwMode="auto">
          <a:xfrm>
            <a:off x="3897313" y="5887945"/>
            <a:ext cx="639762"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Q</a:t>
            </a:r>
            <a:r>
              <a:rPr lang="zh-CN" altLang="en-US" sz="1000">
                <a:solidFill>
                  <a:srgbClr val="000000"/>
                </a:solidFill>
                <a:sym typeface="Arial" panose="020B0604020202020204" pitchFamily="34" charset="0"/>
              </a:rPr>
              <a:t>0</a:t>
            </a:r>
            <a:endParaRPr lang="zh-CN" altLang="en-US"/>
          </a:p>
        </p:txBody>
      </p:sp>
      <p:sp>
        <p:nvSpPr>
          <p:cNvPr id="46099" name="Text Box 20"/>
          <p:cNvSpPr>
            <a:spLocks noChangeArrowheads="1"/>
          </p:cNvSpPr>
          <p:nvPr/>
        </p:nvSpPr>
        <p:spPr bwMode="auto">
          <a:xfrm>
            <a:off x="1917700" y="3492408"/>
            <a:ext cx="628650"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P</a:t>
            </a:r>
            <a:r>
              <a:rPr lang="zh-CN" altLang="en-US" sz="1000">
                <a:solidFill>
                  <a:srgbClr val="000000"/>
                </a:solidFill>
                <a:sym typeface="Arial" panose="020B0604020202020204" pitchFamily="34" charset="0"/>
              </a:rPr>
              <a:t>0</a:t>
            </a:r>
            <a:endParaRPr lang="zh-CN" altLang="en-US"/>
          </a:p>
        </p:txBody>
      </p:sp>
      <p:sp>
        <p:nvSpPr>
          <p:cNvPr id="46100" name="Text Box 21"/>
          <p:cNvSpPr>
            <a:spLocks noChangeArrowheads="1"/>
          </p:cNvSpPr>
          <p:nvPr/>
        </p:nvSpPr>
        <p:spPr bwMode="auto">
          <a:xfrm>
            <a:off x="3986213" y="3341595"/>
            <a:ext cx="45085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V</a:t>
            </a:r>
            <a:endParaRPr lang="zh-CN" altLang="en-US"/>
          </a:p>
        </p:txBody>
      </p:sp>
      <p:sp>
        <p:nvSpPr>
          <p:cNvPr id="46101" name="Text Box 22"/>
          <p:cNvSpPr>
            <a:spLocks noChangeArrowheads="1"/>
          </p:cNvSpPr>
          <p:nvPr/>
        </p:nvSpPr>
        <p:spPr bwMode="auto">
          <a:xfrm>
            <a:off x="5067300" y="2893920"/>
            <a:ext cx="941388"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GG'</a:t>
            </a:r>
            <a:endParaRPr lang="zh-CN" altLang="en-US"/>
          </a:p>
        </p:txBody>
      </p:sp>
      <p:sp>
        <p:nvSpPr>
          <p:cNvPr id="46102" name="Text Box 23"/>
          <p:cNvSpPr>
            <a:spLocks noChangeArrowheads="1"/>
          </p:cNvSpPr>
          <p:nvPr/>
        </p:nvSpPr>
        <p:spPr bwMode="auto">
          <a:xfrm>
            <a:off x="3627438" y="4240120"/>
            <a:ext cx="360362"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A</a:t>
            </a:r>
            <a:endParaRPr lang="zh-CN" altLang="en-US"/>
          </a:p>
        </p:txBody>
      </p:sp>
      <p:sp>
        <p:nvSpPr>
          <p:cNvPr id="46103" name="未知"/>
          <p:cNvSpPr>
            <a:spLocks noChangeArrowheads="1"/>
          </p:cNvSpPr>
          <p:nvPr/>
        </p:nvSpPr>
        <p:spPr bwMode="auto">
          <a:xfrm rot="21180000">
            <a:off x="3205163" y="3543208"/>
            <a:ext cx="2619375" cy="1606550"/>
          </a:xfrm>
          <a:custGeom>
            <a:avLst/>
            <a:gdLst>
              <a:gd name="T0" fmla="*/ 2147483647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a:moveTo>
                  <a:pt x="21600" y="0"/>
                </a:moveTo>
                <a:cubicBezTo>
                  <a:pt x="20596" y="1781"/>
                  <a:pt x="19192" y="7112"/>
                  <a:pt x="15590" y="10712"/>
                </a:cubicBezTo>
                <a:cubicBezTo>
                  <a:pt x="11988" y="14312"/>
                  <a:pt x="2598" y="19789"/>
                  <a:pt x="0" y="21600"/>
                </a:cubicBezTo>
              </a:path>
            </a:pathLst>
          </a:custGeom>
          <a:noFill/>
          <a:ln w="28575" cmpd="sng">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zh-CN">
              <a:solidFill>
                <a:srgbClr val="000000"/>
              </a:solidFill>
              <a:sym typeface="Arial" panose="020B0604020202020204" pitchFamily="34" charset="0"/>
            </a:endParaRPr>
          </a:p>
        </p:txBody>
      </p:sp>
      <p:sp>
        <p:nvSpPr>
          <p:cNvPr id="46104" name="未知"/>
          <p:cNvSpPr>
            <a:spLocks noChangeArrowheads="1"/>
          </p:cNvSpPr>
          <p:nvPr/>
        </p:nvSpPr>
        <p:spPr bwMode="auto">
          <a:xfrm rot="21180000">
            <a:off x="3022600" y="3384458"/>
            <a:ext cx="2428875" cy="1449387"/>
          </a:xfrm>
          <a:custGeom>
            <a:avLst/>
            <a:gdLst>
              <a:gd name="T0" fmla="*/ 2147483647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a:moveTo>
                  <a:pt x="21600" y="0"/>
                </a:moveTo>
                <a:cubicBezTo>
                  <a:pt x="20603" y="1811"/>
                  <a:pt x="19237" y="7295"/>
                  <a:pt x="15636" y="10895"/>
                </a:cubicBezTo>
                <a:cubicBezTo>
                  <a:pt x="12035" y="14495"/>
                  <a:pt x="2604" y="19819"/>
                  <a:pt x="0" y="21600"/>
                </a:cubicBezTo>
              </a:path>
            </a:pathLst>
          </a:custGeom>
          <a:noFill/>
          <a:ln w="28575" cmpd="sng">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zh-CN">
              <a:solidFill>
                <a:srgbClr val="000000"/>
              </a:solidFill>
              <a:sym typeface="Arial" panose="020B0604020202020204" pitchFamily="34" charset="0"/>
            </a:endParaRPr>
          </a:p>
        </p:txBody>
      </p:sp>
      <p:sp>
        <p:nvSpPr>
          <p:cNvPr id="46105" name="Text Box 26"/>
          <p:cNvSpPr>
            <a:spLocks noChangeArrowheads="1"/>
          </p:cNvSpPr>
          <p:nvPr/>
        </p:nvSpPr>
        <p:spPr bwMode="auto">
          <a:xfrm>
            <a:off x="4167188" y="5138645"/>
            <a:ext cx="385762"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B</a:t>
            </a:r>
            <a:endParaRPr lang="zh-CN" altLang="en-US"/>
          </a:p>
        </p:txBody>
      </p:sp>
      <p:sp>
        <p:nvSpPr>
          <p:cNvPr id="46106" name="Text Box 27"/>
          <p:cNvSpPr>
            <a:spLocks noChangeArrowheads="1"/>
          </p:cNvSpPr>
          <p:nvPr/>
        </p:nvSpPr>
        <p:spPr bwMode="auto">
          <a:xfrm>
            <a:off x="4437063" y="5587908"/>
            <a:ext cx="531812"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R'</a:t>
            </a:r>
            <a:endParaRPr lang="zh-CN" altLang="en-US"/>
          </a:p>
        </p:txBody>
      </p:sp>
      <p:sp>
        <p:nvSpPr>
          <p:cNvPr id="46107" name="Text Box 28"/>
          <p:cNvSpPr>
            <a:spLocks noChangeArrowheads="1"/>
          </p:cNvSpPr>
          <p:nvPr/>
        </p:nvSpPr>
        <p:spPr bwMode="auto">
          <a:xfrm>
            <a:off x="6054725" y="3459070"/>
            <a:ext cx="839788"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HH'</a:t>
            </a:r>
            <a:endParaRPr lang="zh-CN" altLang="en-US"/>
          </a:p>
        </p:txBody>
      </p:sp>
      <p:sp>
        <p:nvSpPr>
          <p:cNvPr id="46108" name="Text Box 29"/>
          <p:cNvSpPr>
            <a:spLocks noChangeArrowheads="1"/>
          </p:cNvSpPr>
          <p:nvPr/>
        </p:nvSpPr>
        <p:spPr bwMode="auto">
          <a:xfrm>
            <a:off x="5337175" y="4913220"/>
            <a:ext cx="568325"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000000"/>
                </a:solidFill>
                <a:sym typeface="Arial" panose="020B0604020202020204" pitchFamily="34" charset="0"/>
              </a:rPr>
              <a:t>D'</a:t>
            </a:r>
            <a:endParaRPr lang="zh-CN" altLang="en-US"/>
          </a:p>
        </p:txBody>
      </p:sp>
      <p:sp>
        <p:nvSpPr>
          <p:cNvPr id="46111" name="圆角矩形标注 31"/>
          <p:cNvSpPr>
            <a:spLocks noChangeArrowheads="1"/>
          </p:cNvSpPr>
          <p:nvPr/>
        </p:nvSpPr>
        <p:spPr bwMode="auto">
          <a:xfrm>
            <a:off x="214313" y="3071720"/>
            <a:ext cx="1785937" cy="2727325"/>
          </a:xfrm>
          <a:prstGeom prst="wedgeRoundRectCallout">
            <a:avLst>
              <a:gd name="adj1" fmla="val 67270"/>
              <a:gd name="adj2" fmla="val 18353"/>
              <a:gd name="adj3" fmla="val 16667"/>
            </a:avLst>
          </a:prstGeom>
          <a:solidFill>
            <a:schemeClr val="bg1"/>
          </a:solidFill>
          <a:ln>
            <a:solidFill>
              <a:srgbClr val="C00000"/>
            </a:solidFill>
          </a:ln>
        </p:spPr>
        <p:style>
          <a:lnRef idx="3">
            <a:schemeClr val="lt1"/>
          </a:lnRef>
          <a:fillRef idx="1">
            <a:schemeClr val="accent1"/>
          </a:fillRef>
          <a:effectRef idx="1">
            <a:schemeClr val="accent1"/>
          </a:effectRef>
          <a:fontRef idx="minor">
            <a:schemeClr val="lt1"/>
          </a:fontRef>
        </p:style>
        <p:txBody>
          <a:bodyPr>
            <a:spAutoFit/>
          </a:bodyPr>
          <a:lstStyle/>
          <a:p>
            <a:pPr algn="just"/>
            <a:r>
              <a:rPr lang="zh-CN" altLang="en-US" b="0">
                <a:solidFill>
                  <a:schemeClr val="tx1"/>
                </a:solidFill>
                <a:latin typeface="微软雅黑" panose="020B0503020204020204" pitchFamily="34" charset="-122"/>
                <a:ea typeface="微软雅黑" panose="020B0503020204020204" pitchFamily="34" charset="-122"/>
                <a:sym typeface="Arial" panose="020B0604020202020204" pitchFamily="34" charset="0"/>
              </a:rPr>
              <a:t>另一方面</a:t>
            </a:r>
            <a:r>
              <a:rPr lang="en-US" altLang="zh-CN" b="0">
                <a:solidFill>
                  <a:schemeClr val="tx1"/>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a:solidFill>
                  <a:schemeClr val="tx1"/>
                </a:solidFill>
                <a:latin typeface="微软雅黑" panose="020B0503020204020204" pitchFamily="34" charset="-122"/>
                <a:ea typeface="微软雅黑" panose="020B0503020204020204" pitchFamily="34" charset="-122"/>
                <a:sym typeface="Arial" panose="020B0604020202020204" pitchFamily="34" charset="0"/>
              </a:rPr>
              <a:t>当</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边际成本曲线</a:t>
            </a:r>
            <a:r>
              <a:rPr lang="zh-CN" altLang="en-US" b="0">
                <a:solidFill>
                  <a:schemeClr val="tx1"/>
                </a:solidFill>
                <a:latin typeface="微软雅黑" panose="020B0503020204020204" pitchFamily="34" charset="-122"/>
                <a:ea typeface="微软雅黑" panose="020B0503020204020204" pitchFamily="34" charset="-122"/>
                <a:sym typeface="Arial" panose="020B0604020202020204" pitchFamily="34" charset="0"/>
              </a:rPr>
              <a:t>保持为</a:t>
            </a:r>
            <a:r>
              <a:rPr lang="en-US" altLang="zh-CN" b="0">
                <a:solidFill>
                  <a:schemeClr val="tx1"/>
                </a:solidFill>
                <a:latin typeface="微软雅黑" panose="020B0503020204020204" pitchFamily="34" charset="-122"/>
                <a:ea typeface="微软雅黑" panose="020B0503020204020204" pitchFamily="34" charset="-122"/>
                <a:sym typeface="Arial" panose="020B0604020202020204" pitchFamily="34" charset="0"/>
              </a:rPr>
              <a:t>MM`</a:t>
            </a:r>
            <a:r>
              <a:rPr lang="zh-CN" altLang="en-US" b="0">
                <a:solidFill>
                  <a:schemeClr val="tx1"/>
                </a:solidFill>
                <a:latin typeface="微软雅黑" panose="020B0503020204020204" pitchFamily="34" charset="-122"/>
                <a:ea typeface="微软雅黑" panose="020B0503020204020204" pitchFamily="34" charset="-122"/>
                <a:sym typeface="Arial" panose="020B0604020202020204" pitchFamily="34" charset="0"/>
              </a:rPr>
              <a:t>时</a:t>
            </a:r>
            <a:r>
              <a:rPr lang="en-US" altLang="zh-CN" b="0">
                <a:solidFill>
                  <a:schemeClr val="tx1"/>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a:solidFill>
                  <a:schemeClr val="tx1"/>
                </a:solidFill>
                <a:latin typeface="微软雅黑" panose="020B0503020204020204" pitchFamily="34" charset="-122"/>
                <a:ea typeface="微软雅黑" panose="020B0503020204020204" pitchFamily="34" charset="-122"/>
                <a:sym typeface="Arial" panose="020B0604020202020204" pitchFamily="34" charset="0"/>
              </a:rPr>
              <a:t>即使</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需求曲线发生一定程度</a:t>
            </a:r>
            <a:r>
              <a:rPr lang="zh-CN" altLang="en-US" b="0">
                <a:solidFill>
                  <a:schemeClr val="tx1"/>
                </a:solidFill>
                <a:latin typeface="微软雅黑" panose="020B0503020204020204" pitchFamily="34" charset="-122"/>
                <a:ea typeface="微软雅黑" panose="020B0503020204020204" pitchFamily="34" charset="-122"/>
                <a:sym typeface="Arial" panose="020B0604020202020204" pitchFamily="34" charset="0"/>
              </a:rPr>
              <a:t>的变化</a:t>
            </a:r>
            <a:r>
              <a:rPr lang="en-US" altLang="zh-CN" b="0">
                <a:solidFill>
                  <a:schemeClr val="tx1"/>
                </a:solidFill>
                <a:latin typeface="微软雅黑" panose="020B0503020204020204" pitchFamily="34" charset="-122"/>
                <a:ea typeface="微软雅黑" panose="020B0503020204020204" pitchFamily="34" charset="-122"/>
                <a:sym typeface="Arial" panose="020B0604020202020204" pitchFamily="34" charset="0"/>
              </a:rPr>
              <a:t>(</a:t>
            </a:r>
            <a:r>
              <a:rPr lang="zh-CN" altLang="en-US" b="0">
                <a:solidFill>
                  <a:schemeClr val="tx1"/>
                </a:solidFill>
                <a:latin typeface="微软雅黑" panose="020B0503020204020204" pitchFamily="34" charset="-122"/>
                <a:ea typeface="微软雅黑" panose="020B0503020204020204" pitchFamily="34" charset="-122"/>
                <a:sym typeface="Arial" panose="020B0604020202020204" pitchFamily="34" charset="0"/>
              </a:rPr>
              <a:t>只要</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扭折点还</a:t>
            </a:r>
            <a:r>
              <a:rPr lang="zh-CN" altLang="en-US" b="0">
                <a:solidFill>
                  <a:schemeClr val="tx1"/>
                </a:solidFill>
                <a:latin typeface="微软雅黑" panose="020B0503020204020204" pitchFamily="34" charset="-122"/>
                <a:ea typeface="微软雅黑" panose="020B0503020204020204" pitchFamily="34" charset="-122"/>
                <a:sym typeface="Arial" panose="020B0604020202020204" pitchFamily="34" charset="0"/>
              </a:rPr>
              <a:t>在点</a:t>
            </a:r>
            <a:r>
              <a:rPr lang="en-US" altLang="zh-CN" b="0">
                <a:solidFill>
                  <a:schemeClr val="tx1"/>
                </a:solidFill>
                <a:latin typeface="微软雅黑" panose="020B0503020204020204" pitchFamily="34" charset="-122"/>
                <a:ea typeface="微软雅黑" panose="020B0503020204020204" pitchFamily="34" charset="-122"/>
                <a:sym typeface="Arial" panose="020B0604020202020204" pitchFamily="34" charset="0"/>
              </a:rPr>
              <a:t>V</a:t>
            </a:r>
            <a:r>
              <a:rPr lang="zh-CN" altLang="en-US" b="0">
                <a:solidFill>
                  <a:schemeClr val="tx1"/>
                </a:solidFill>
                <a:latin typeface="微软雅黑" panose="020B0503020204020204" pitchFamily="34" charset="-122"/>
                <a:ea typeface="微软雅黑" panose="020B0503020204020204" pitchFamily="34" charset="-122"/>
                <a:sym typeface="Arial" panose="020B0604020202020204" pitchFamily="34" charset="0"/>
              </a:rPr>
              <a:t>处</a:t>
            </a:r>
            <a:r>
              <a:rPr lang="en-US" altLang="zh-CN" b="0">
                <a:solidFill>
                  <a:schemeClr val="tx1"/>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b="0">
                <a:solidFill>
                  <a:schemeClr val="tx1"/>
                </a:solidFill>
                <a:latin typeface="微软雅黑" panose="020B0503020204020204" pitchFamily="34" charset="-122"/>
                <a:ea typeface="微软雅黑" panose="020B0503020204020204" pitchFamily="34" charset="-122"/>
                <a:sym typeface="Arial" panose="020B0604020202020204" pitchFamily="34" charset="0"/>
              </a:rPr>
              <a:t>利润</a:t>
            </a:r>
            <a:r>
              <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最大化产量和价格可能</a:t>
            </a:r>
            <a:r>
              <a:rPr lang="zh-CN" altLang="en-US" b="0">
                <a:solidFill>
                  <a:schemeClr val="tx1"/>
                </a:solidFill>
                <a:latin typeface="微软雅黑" panose="020B0503020204020204" pitchFamily="34" charset="-122"/>
                <a:ea typeface="微软雅黑" panose="020B0503020204020204" pitchFamily="34" charset="-122"/>
                <a:sym typeface="Arial" panose="020B0604020202020204" pitchFamily="34" charset="0"/>
              </a:rPr>
              <a:t>仍然是</a:t>
            </a:r>
            <a:r>
              <a:rPr lang="en-US" altLang="zh-CN" b="0">
                <a:solidFill>
                  <a:schemeClr val="tx1"/>
                </a:solidFill>
                <a:latin typeface="微软雅黑" panose="020B0503020204020204" pitchFamily="34" charset="-122"/>
                <a:ea typeface="微软雅黑" panose="020B0503020204020204" pitchFamily="34" charset="-122"/>
                <a:sym typeface="Arial" panose="020B0604020202020204" pitchFamily="34" charset="0"/>
              </a:rPr>
              <a:t>Q0</a:t>
            </a:r>
            <a:r>
              <a:rPr lang="zh-CN" altLang="en-US" b="0">
                <a:solidFill>
                  <a:schemeClr val="tx1"/>
                </a:solidFill>
                <a:latin typeface="微软雅黑" panose="020B0503020204020204" pitchFamily="34" charset="-122"/>
                <a:ea typeface="微软雅黑" panose="020B0503020204020204" pitchFamily="34" charset="-122"/>
                <a:sym typeface="Arial" panose="020B0604020202020204" pitchFamily="34" charset="0"/>
              </a:rPr>
              <a:t>和</a:t>
            </a:r>
            <a:r>
              <a:rPr lang="en-US" altLang="zh-CN" b="0">
                <a:solidFill>
                  <a:schemeClr val="tx1"/>
                </a:solidFill>
                <a:latin typeface="微软雅黑" panose="020B0503020204020204" pitchFamily="34" charset="-122"/>
                <a:ea typeface="微软雅黑" panose="020B0503020204020204" pitchFamily="34" charset="-122"/>
                <a:sym typeface="Arial" panose="020B0604020202020204" pitchFamily="34" charset="0"/>
              </a:rPr>
              <a:t>P0</a:t>
            </a:r>
            <a:endParaRPr lang="zh-CN" altLang="en-US" b="0" dirty="0">
              <a:solidFill>
                <a:schemeClr val="tx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33" name="矩形 32"/>
          <p:cNvSpPr/>
          <p:nvPr/>
        </p:nvSpPr>
        <p:spPr>
          <a:xfrm>
            <a:off x="7543092" y="44765"/>
            <a:ext cx="1600908" cy="369332"/>
          </a:xfrm>
          <a:prstGeom prst="rect">
            <a:avLst/>
          </a:prstGeom>
        </p:spPr>
        <p:txBody>
          <a:bodyPr wrap="square">
            <a:spAutoFit/>
          </a:bodyPr>
          <a:lstStyle/>
          <a:p>
            <a:r>
              <a:rPr lang="zh-CN" altLang="en-US" sz="1800" b="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第三节  寡头</a:t>
            </a:r>
            <a:endParaRPr lang="zh-CN" altLang="en-US" sz="18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34" name="矩形 33">
            <a:extLst>
              <a:ext uri="{FF2B5EF4-FFF2-40B4-BE49-F238E27FC236}">
                <a16:creationId xmlns:a16="http://schemas.microsoft.com/office/drawing/2014/main" id="{F68E5273-CD77-47B9-B841-9D29349C133D}"/>
              </a:ext>
            </a:extLst>
          </p:cNvPr>
          <p:cNvSpPr/>
          <p:nvPr/>
        </p:nvSpPr>
        <p:spPr>
          <a:xfrm>
            <a:off x="457201" y="548681"/>
            <a:ext cx="2746704"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marL="0" lvl="1">
              <a:defRPr/>
            </a:pPr>
            <a:r>
              <a:rPr lang="zh-CN" altLang="en-US" sz="2400" spc="150" dirty="0">
                <a:solidFill>
                  <a:srgbClr val="FFFFFF"/>
                </a:solidFill>
                <a:latin typeface="微软雅黑" panose="020B0503020204020204" pitchFamily="34" charset="-122"/>
                <a:ea typeface="微软雅黑" panose="020B0503020204020204" pitchFamily="34" charset="-122"/>
              </a:rPr>
              <a:t>四</a:t>
            </a:r>
            <a:r>
              <a:rPr lang="zh-CN" altLang="en-US" sz="2400" b="1" spc="150" dirty="0">
                <a:solidFill>
                  <a:srgbClr val="FFFFFF"/>
                </a:solidFill>
                <a:latin typeface="微软雅黑" panose="020B0503020204020204" pitchFamily="34" charset="-122"/>
                <a:ea typeface="微软雅黑" panose="020B0503020204020204" pitchFamily="34" charset="-122"/>
              </a:rPr>
              <a:t>、</a:t>
            </a:r>
            <a:r>
              <a:rPr lang="zh-CN" altLang="en-US" sz="2400" spc="15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斯威齐模型</a:t>
            </a:r>
            <a:endParaRPr lang="zh-CN" altLang="en-US" sz="2400" spc="150" dirty="0">
              <a:solidFill>
                <a:srgbClr val="FFFFFF"/>
              </a:solidFill>
              <a:latin typeface="微软雅黑" panose="020B0503020204020204" pitchFamily="34" charset="-122"/>
              <a:ea typeface="微软雅黑" panose="020B0503020204020204" pitchFamily="34"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6082">
                                            <p:txEl>
                                              <p:pRg st="0" end="0"/>
                                            </p:txEl>
                                          </p:spTgt>
                                        </p:tgtEl>
                                        <p:attrNameLst>
                                          <p:attrName>style.visibility</p:attrName>
                                        </p:attrNameLst>
                                      </p:cBhvr>
                                      <p:to>
                                        <p:strVal val="visible"/>
                                      </p:to>
                                    </p:set>
                                    <p:animEffect>
                                      <p:cBhvr>
                                        <p:cTn id="7" dur="500"/>
                                        <p:tgtEl>
                                          <p:spTgt spid="4608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6082">
                                            <p:txEl>
                                              <p:pRg st="1" end="1"/>
                                            </p:txEl>
                                          </p:spTgt>
                                        </p:tgtEl>
                                        <p:attrNameLst>
                                          <p:attrName>style.visibility</p:attrName>
                                        </p:attrNameLst>
                                      </p:cBhvr>
                                      <p:to>
                                        <p:strVal val="visible"/>
                                      </p:to>
                                    </p:set>
                                    <p:animEffect>
                                      <p:cBhvr>
                                        <p:cTn id="12" dur="500"/>
                                        <p:tgtEl>
                                          <p:spTgt spid="46082">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46085"/>
                                        </p:tgtEl>
                                        <p:attrNameLst>
                                          <p:attrName>style.visibility</p:attrName>
                                        </p:attrNameLst>
                                      </p:cBhvr>
                                      <p:to>
                                        <p:strVal val="visible"/>
                                      </p:to>
                                    </p:set>
                                    <p:animEffect>
                                      <p:cBhvr>
                                        <p:cTn id="17" dur="500"/>
                                        <p:tgtEl>
                                          <p:spTgt spid="46085"/>
                                        </p:tgtEl>
                                      </p:cBhvr>
                                    </p:animEffect>
                                  </p:childTnLst>
                                </p:cTn>
                              </p:par>
                              <p:par>
                                <p:cTn id="18" presetID="5" presetClass="entr" presetSubtype="10" fill="hold" grpId="0" nodeType="withEffect">
                                  <p:stCondLst>
                                    <p:cond delay="0"/>
                                  </p:stCondLst>
                                  <p:childTnLst>
                                    <p:set>
                                      <p:cBhvr>
                                        <p:cTn id="19" dur="1" fill="hold">
                                          <p:stCondLst>
                                            <p:cond delay="0"/>
                                          </p:stCondLst>
                                        </p:cTn>
                                        <p:tgtEl>
                                          <p:spTgt spid="46083"/>
                                        </p:tgtEl>
                                        <p:attrNameLst>
                                          <p:attrName>style.visibility</p:attrName>
                                        </p:attrNameLst>
                                      </p:cBhvr>
                                      <p:to>
                                        <p:strVal val="visible"/>
                                      </p:to>
                                    </p:set>
                                    <p:animEffect>
                                      <p:cBhvr>
                                        <p:cTn id="20" dur="500"/>
                                        <p:tgtEl>
                                          <p:spTgt spid="46083"/>
                                        </p:tgtEl>
                                      </p:cBhvr>
                                    </p:animEffect>
                                  </p:childTnLst>
                                </p:cTn>
                              </p:par>
                              <p:par>
                                <p:cTn id="21" presetID="5" presetClass="entr" presetSubtype="10" fill="hold" grpId="0" nodeType="withEffect">
                                  <p:stCondLst>
                                    <p:cond delay="0"/>
                                  </p:stCondLst>
                                  <p:childTnLst>
                                    <p:set>
                                      <p:cBhvr>
                                        <p:cTn id="22" dur="1" fill="hold">
                                          <p:stCondLst>
                                            <p:cond delay="0"/>
                                          </p:stCondLst>
                                        </p:cTn>
                                        <p:tgtEl>
                                          <p:spTgt spid="46086"/>
                                        </p:tgtEl>
                                        <p:attrNameLst>
                                          <p:attrName>style.visibility</p:attrName>
                                        </p:attrNameLst>
                                      </p:cBhvr>
                                      <p:to>
                                        <p:strVal val="visible"/>
                                      </p:to>
                                    </p:set>
                                    <p:animEffect>
                                      <p:cBhvr>
                                        <p:cTn id="23" dur="500"/>
                                        <p:tgtEl>
                                          <p:spTgt spid="46086"/>
                                        </p:tgtEl>
                                      </p:cBhvr>
                                    </p:animEffect>
                                  </p:childTnLst>
                                </p:cTn>
                              </p:par>
                              <p:par>
                                <p:cTn id="24" presetID="5" presetClass="entr" presetSubtype="10" fill="hold" grpId="0" nodeType="withEffect">
                                  <p:stCondLst>
                                    <p:cond delay="0"/>
                                  </p:stCondLst>
                                  <p:childTnLst>
                                    <p:set>
                                      <p:cBhvr>
                                        <p:cTn id="25" dur="1" fill="hold">
                                          <p:stCondLst>
                                            <p:cond delay="0"/>
                                          </p:stCondLst>
                                        </p:cTn>
                                        <p:tgtEl>
                                          <p:spTgt spid="46084"/>
                                        </p:tgtEl>
                                        <p:attrNameLst>
                                          <p:attrName>style.visibility</p:attrName>
                                        </p:attrNameLst>
                                      </p:cBhvr>
                                      <p:to>
                                        <p:strVal val="visible"/>
                                      </p:to>
                                    </p:set>
                                    <p:animEffect>
                                      <p:cBhvr>
                                        <p:cTn id="26" dur="500"/>
                                        <p:tgtEl>
                                          <p:spTgt spid="46084"/>
                                        </p:tgtEl>
                                      </p:cBhvr>
                                    </p:animEffect>
                                  </p:childTnLst>
                                </p:cTn>
                              </p:par>
                              <p:par>
                                <p:cTn id="27" presetID="5" presetClass="entr" presetSubtype="10" fill="hold" grpId="0" nodeType="withEffect">
                                  <p:stCondLst>
                                    <p:cond delay="0"/>
                                  </p:stCondLst>
                                  <p:childTnLst>
                                    <p:set>
                                      <p:cBhvr>
                                        <p:cTn id="28" dur="1" fill="hold">
                                          <p:stCondLst>
                                            <p:cond delay="0"/>
                                          </p:stCondLst>
                                        </p:cTn>
                                        <p:tgtEl>
                                          <p:spTgt spid="46087"/>
                                        </p:tgtEl>
                                        <p:attrNameLst>
                                          <p:attrName>style.visibility</p:attrName>
                                        </p:attrNameLst>
                                      </p:cBhvr>
                                      <p:to>
                                        <p:strVal val="visible"/>
                                      </p:to>
                                    </p:set>
                                    <p:animEffect>
                                      <p:cBhvr>
                                        <p:cTn id="29" dur="500"/>
                                        <p:tgtEl>
                                          <p:spTgt spid="46087"/>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16" presetClass="entr" presetSubtype="26" fill="hold" grpId="0" nodeType="clickEffect">
                                  <p:stCondLst>
                                    <p:cond delay="0"/>
                                  </p:stCondLst>
                                  <p:childTnLst>
                                    <p:set>
                                      <p:cBhvr>
                                        <p:cTn id="33" dur="1" fill="hold">
                                          <p:stCondLst>
                                            <p:cond delay="0"/>
                                          </p:stCondLst>
                                        </p:cTn>
                                        <p:tgtEl>
                                          <p:spTgt spid="46096"/>
                                        </p:tgtEl>
                                        <p:attrNameLst>
                                          <p:attrName>style.visibility</p:attrName>
                                        </p:attrNameLst>
                                      </p:cBhvr>
                                      <p:to>
                                        <p:strVal val="visible"/>
                                      </p:to>
                                    </p:set>
                                    <p:animEffect>
                                      <p:cBhvr>
                                        <p:cTn id="34" dur="500"/>
                                        <p:tgtEl>
                                          <p:spTgt spid="46096"/>
                                        </p:tgtEl>
                                      </p:cBhvr>
                                    </p:animEffect>
                                  </p:childTnLst>
                                </p:cTn>
                              </p:par>
                              <p:par>
                                <p:cTn id="35" presetID="16" presetClass="entr" presetSubtype="26" fill="hold" grpId="0" nodeType="withEffect">
                                  <p:stCondLst>
                                    <p:cond delay="0"/>
                                  </p:stCondLst>
                                  <p:childTnLst>
                                    <p:set>
                                      <p:cBhvr>
                                        <p:cTn id="36" dur="1" fill="hold">
                                          <p:stCondLst>
                                            <p:cond delay="0"/>
                                          </p:stCondLst>
                                        </p:cTn>
                                        <p:tgtEl>
                                          <p:spTgt spid="46100"/>
                                        </p:tgtEl>
                                        <p:attrNameLst>
                                          <p:attrName>style.visibility</p:attrName>
                                        </p:attrNameLst>
                                      </p:cBhvr>
                                      <p:to>
                                        <p:strVal val="visible"/>
                                      </p:to>
                                    </p:set>
                                    <p:animEffect>
                                      <p:cBhvr>
                                        <p:cTn id="37" dur="500"/>
                                        <p:tgtEl>
                                          <p:spTgt spid="46100"/>
                                        </p:tgtEl>
                                      </p:cBhvr>
                                    </p:animEffect>
                                  </p:childTnLst>
                                </p:cTn>
                              </p:par>
                              <p:par>
                                <p:cTn id="38" presetID="16" presetClass="entr" presetSubtype="26" fill="hold" grpId="0" nodeType="withEffect">
                                  <p:stCondLst>
                                    <p:cond delay="0"/>
                                  </p:stCondLst>
                                  <p:childTnLst>
                                    <p:set>
                                      <p:cBhvr>
                                        <p:cTn id="39" dur="1" fill="hold">
                                          <p:stCondLst>
                                            <p:cond delay="0"/>
                                          </p:stCondLst>
                                        </p:cTn>
                                        <p:tgtEl>
                                          <p:spTgt spid="46094"/>
                                        </p:tgtEl>
                                        <p:attrNameLst>
                                          <p:attrName>style.visibility</p:attrName>
                                        </p:attrNameLst>
                                      </p:cBhvr>
                                      <p:to>
                                        <p:strVal val="visible"/>
                                      </p:to>
                                    </p:set>
                                    <p:animEffect>
                                      <p:cBhvr>
                                        <p:cTn id="40" dur="500"/>
                                        <p:tgtEl>
                                          <p:spTgt spid="46094"/>
                                        </p:tgtEl>
                                      </p:cBhvr>
                                    </p:animEffect>
                                  </p:childTnLst>
                                </p:cTn>
                              </p:par>
                              <p:par>
                                <p:cTn id="41" presetID="16" presetClass="entr" presetSubtype="26" fill="hold" grpId="0" nodeType="withEffect">
                                  <p:stCondLst>
                                    <p:cond delay="0"/>
                                  </p:stCondLst>
                                  <p:childTnLst>
                                    <p:set>
                                      <p:cBhvr>
                                        <p:cTn id="42" dur="1" fill="hold">
                                          <p:stCondLst>
                                            <p:cond delay="0"/>
                                          </p:stCondLst>
                                        </p:cTn>
                                        <p:tgtEl>
                                          <p:spTgt spid="46088"/>
                                        </p:tgtEl>
                                        <p:attrNameLst>
                                          <p:attrName>style.visibility</p:attrName>
                                        </p:attrNameLst>
                                      </p:cBhvr>
                                      <p:to>
                                        <p:strVal val="visible"/>
                                      </p:to>
                                    </p:set>
                                    <p:animEffect>
                                      <p:cBhvr>
                                        <p:cTn id="43" dur="500"/>
                                        <p:tgtEl>
                                          <p:spTgt spid="46088"/>
                                        </p:tgtEl>
                                      </p:cBhvr>
                                    </p:animEffect>
                                  </p:childTnLst>
                                </p:cTn>
                              </p:par>
                              <p:par>
                                <p:cTn id="44" presetID="16" presetClass="entr" presetSubtype="26" fill="hold" grpId="0" nodeType="withEffect">
                                  <p:stCondLst>
                                    <p:cond delay="0"/>
                                  </p:stCondLst>
                                  <p:childTnLst>
                                    <p:set>
                                      <p:cBhvr>
                                        <p:cTn id="45" dur="1" fill="hold">
                                          <p:stCondLst>
                                            <p:cond delay="0"/>
                                          </p:stCondLst>
                                        </p:cTn>
                                        <p:tgtEl>
                                          <p:spTgt spid="46108"/>
                                        </p:tgtEl>
                                        <p:attrNameLst>
                                          <p:attrName>style.visibility</p:attrName>
                                        </p:attrNameLst>
                                      </p:cBhvr>
                                      <p:to>
                                        <p:strVal val="visible"/>
                                      </p:to>
                                    </p:set>
                                    <p:animEffect>
                                      <p:cBhvr>
                                        <p:cTn id="46" dur="500"/>
                                        <p:tgtEl>
                                          <p:spTgt spid="46108"/>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5" presetClass="entr" presetSubtype="10" fill="hold" grpId="0" nodeType="clickEffect">
                                  <p:stCondLst>
                                    <p:cond delay="0"/>
                                  </p:stCondLst>
                                  <p:childTnLst>
                                    <p:set>
                                      <p:cBhvr>
                                        <p:cTn id="50" dur="1" fill="hold">
                                          <p:stCondLst>
                                            <p:cond delay="0"/>
                                          </p:stCondLst>
                                        </p:cTn>
                                        <p:tgtEl>
                                          <p:spTgt spid="46095"/>
                                        </p:tgtEl>
                                        <p:attrNameLst>
                                          <p:attrName>style.visibility</p:attrName>
                                        </p:attrNameLst>
                                      </p:cBhvr>
                                      <p:to>
                                        <p:strVal val="visible"/>
                                      </p:to>
                                    </p:set>
                                    <p:animEffect>
                                      <p:cBhvr>
                                        <p:cTn id="51" dur="500"/>
                                        <p:tgtEl>
                                          <p:spTgt spid="46095"/>
                                        </p:tgtEl>
                                      </p:cBhvr>
                                    </p:animEffect>
                                  </p:childTnLst>
                                </p:cTn>
                              </p:par>
                              <p:par>
                                <p:cTn id="52" presetID="5" presetClass="entr" presetSubtype="10" fill="hold" grpId="0" nodeType="withEffect">
                                  <p:stCondLst>
                                    <p:cond delay="0"/>
                                  </p:stCondLst>
                                  <p:childTnLst>
                                    <p:set>
                                      <p:cBhvr>
                                        <p:cTn id="53" dur="1" fill="hold">
                                          <p:stCondLst>
                                            <p:cond delay="0"/>
                                          </p:stCondLst>
                                        </p:cTn>
                                        <p:tgtEl>
                                          <p:spTgt spid="46089"/>
                                        </p:tgtEl>
                                        <p:attrNameLst>
                                          <p:attrName>style.visibility</p:attrName>
                                        </p:attrNameLst>
                                      </p:cBhvr>
                                      <p:to>
                                        <p:strVal val="visible"/>
                                      </p:to>
                                    </p:set>
                                    <p:animEffect>
                                      <p:cBhvr>
                                        <p:cTn id="54" dur="500"/>
                                        <p:tgtEl>
                                          <p:spTgt spid="46089"/>
                                        </p:tgtEl>
                                      </p:cBhvr>
                                    </p:animEffect>
                                  </p:childTnLst>
                                </p:cTn>
                              </p:par>
                              <p:par>
                                <p:cTn id="55" presetID="5" presetClass="entr" presetSubtype="10" fill="hold" grpId="0" nodeType="withEffect">
                                  <p:stCondLst>
                                    <p:cond delay="0"/>
                                  </p:stCondLst>
                                  <p:childTnLst>
                                    <p:set>
                                      <p:cBhvr>
                                        <p:cTn id="56" dur="1" fill="hold">
                                          <p:stCondLst>
                                            <p:cond delay="0"/>
                                          </p:stCondLst>
                                        </p:cTn>
                                        <p:tgtEl>
                                          <p:spTgt spid="46102"/>
                                        </p:tgtEl>
                                        <p:attrNameLst>
                                          <p:attrName>style.visibility</p:attrName>
                                        </p:attrNameLst>
                                      </p:cBhvr>
                                      <p:to>
                                        <p:strVal val="visible"/>
                                      </p:to>
                                    </p:set>
                                    <p:animEffect>
                                      <p:cBhvr>
                                        <p:cTn id="57" dur="500"/>
                                        <p:tgtEl>
                                          <p:spTgt spid="46102"/>
                                        </p:tgtEl>
                                      </p:cBhvr>
                                    </p:animEffect>
                                  </p:childTnLst>
                                </p:cTn>
                              </p:par>
                              <p:par>
                                <p:cTn id="58" presetID="5" presetClass="entr" presetSubtype="10" fill="hold" grpId="0" nodeType="withEffect">
                                  <p:stCondLst>
                                    <p:cond delay="0"/>
                                  </p:stCondLst>
                                  <p:childTnLst>
                                    <p:set>
                                      <p:cBhvr>
                                        <p:cTn id="59" dur="1" fill="hold">
                                          <p:stCondLst>
                                            <p:cond delay="0"/>
                                          </p:stCondLst>
                                        </p:cTn>
                                        <p:tgtEl>
                                          <p:spTgt spid="46105"/>
                                        </p:tgtEl>
                                        <p:attrNameLst>
                                          <p:attrName>style.visibility</p:attrName>
                                        </p:attrNameLst>
                                      </p:cBhvr>
                                      <p:to>
                                        <p:strVal val="visible"/>
                                      </p:to>
                                    </p:set>
                                    <p:animEffect>
                                      <p:cBhvr>
                                        <p:cTn id="60" dur="500"/>
                                        <p:tgtEl>
                                          <p:spTgt spid="46105"/>
                                        </p:tgtEl>
                                      </p:cBhvr>
                                    </p:animEffect>
                                  </p:childTnLst>
                                </p:cTn>
                              </p:par>
                              <p:par>
                                <p:cTn id="61" presetID="5" presetClass="entr" presetSubtype="10" fill="hold" grpId="0" nodeType="withEffect">
                                  <p:stCondLst>
                                    <p:cond delay="0"/>
                                  </p:stCondLst>
                                  <p:childTnLst>
                                    <p:set>
                                      <p:cBhvr>
                                        <p:cTn id="62" dur="1" fill="hold">
                                          <p:stCondLst>
                                            <p:cond delay="0"/>
                                          </p:stCondLst>
                                        </p:cTn>
                                        <p:tgtEl>
                                          <p:spTgt spid="46106"/>
                                        </p:tgtEl>
                                        <p:attrNameLst>
                                          <p:attrName>style.visibility</p:attrName>
                                        </p:attrNameLst>
                                      </p:cBhvr>
                                      <p:to>
                                        <p:strVal val="visible"/>
                                      </p:to>
                                    </p:set>
                                    <p:animEffect>
                                      <p:cBhvr>
                                        <p:cTn id="63" dur="500"/>
                                        <p:tgtEl>
                                          <p:spTgt spid="46106"/>
                                        </p:tgtEl>
                                      </p:cBhvr>
                                    </p:animEffect>
                                  </p:childTnLst>
                                </p:cTn>
                              </p:par>
                              <p:par>
                                <p:cTn id="64" presetID="5" presetClass="entr" presetSubtype="10" fill="hold" grpId="0" nodeType="withEffect">
                                  <p:stCondLst>
                                    <p:cond delay="0"/>
                                  </p:stCondLst>
                                  <p:childTnLst>
                                    <p:set>
                                      <p:cBhvr>
                                        <p:cTn id="65" dur="1" fill="hold">
                                          <p:stCondLst>
                                            <p:cond delay="0"/>
                                          </p:stCondLst>
                                        </p:cTn>
                                        <p:tgtEl>
                                          <p:spTgt spid="46093"/>
                                        </p:tgtEl>
                                        <p:attrNameLst>
                                          <p:attrName>style.visibility</p:attrName>
                                        </p:attrNameLst>
                                      </p:cBhvr>
                                      <p:to>
                                        <p:strVal val="visible"/>
                                      </p:to>
                                    </p:set>
                                    <p:animEffect>
                                      <p:cBhvr>
                                        <p:cTn id="66" dur="500"/>
                                        <p:tgtEl>
                                          <p:spTgt spid="46093"/>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5" presetClass="entr" presetSubtype="10" fill="hold" grpId="0" nodeType="clickEffect">
                                  <p:stCondLst>
                                    <p:cond delay="0"/>
                                  </p:stCondLst>
                                  <p:childTnLst>
                                    <p:set>
                                      <p:cBhvr>
                                        <p:cTn id="70" dur="1" fill="hold">
                                          <p:stCondLst>
                                            <p:cond delay="0"/>
                                          </p:stCondLst>
                                        </p:cTn>
                                        <p:tgtEl>
                                          <p:spTgt spid="46109"/>
                                        </p:tgtEl>
                                        <p:attrNameLst>
                                          <p:attrName>style.visibility</p:attrName>
                                        </p:attrNameLst>
                                      </p:cBhvr>
                                      <p:to>
                                        <p:strVal val="visible"/>
                                      </p:to>
                                    </p:set>
                                    <p:animEffect>
                                      <p:cBhvr>
                                        <p:cTn id="71" dur="500"/>
                                        <p:tgtEl>
                                          <p:spTgt spid="46109"/>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3" presetClass="entr" presetSubtype="10" fill="hold" grpId="0" nodeType="clickEffect">
                                  <p:stCondLst>
                                    <p:cond delay="0"/>
                                  </p:stCondLst>
                                  <p:childTnLst>
                                    <p:set>
                                      <p:cBhvr>
                                        <p:cTn id="75" dur="1" fill="hold">
                                          <p:stCondLst>
                                            <p:cond delay="0"/>
                                          </p:stCondLst>
                                        </p:cTn>
                                        <p:tgtEl>
                                          <p:spTgt spid="46099"/>
                                        </p:tgtEl>
                                        <p:attrNameLst>
                                          <p:attrName>style.visibility</p:attrName>
                                        </p:attrNameLst>
                                      </p:cBhvr>
                                      <p:to>
                                        <p:strVal val="visible"/>
                                      </p:to>
                                    </p:set>
                                    <p:animEffect>
                                      <p:cBhvr>
                                        <p:cTn id="76" dur="500"/>
                                        <p:tgtEl>
                                          <p:spTgt spid="46099"/>
                                        </p:tgtEl>
                                      </p:cBhvr>
                                    </p:animEffect>
                                  </p:childTnLst>
                                </p:cTn>
                              </p:par>
                              <p:par>
                                <p:cTn id="77" presetID="3" presetClass="entr" presetSubtype="10" fill="hold" grpId="0" nodeType="withEffect">
                                  <p:stCondLst>
                                    <p:cond delay="0"/>
                                  </p:stCondLst>
                                  <p:childTnLst>
                                    <p:set>
                                      <p:cBhvr>
                                        <p:cTn id="78" dur="1" fill="hold">
                                          <p:stCondLst>
                                            <p:cond delay="0"/>
                                          </p:stCondLst>
                                        </p:cTn>
                                        <p:tgtEl>
                                          <p:spTgt spid="46092"/>
                                        </p:tgtEl>
                                        <p:attrNameLst>
                                          <p:attrName>style.visibility</p:attrName>
                                        </p:attrNameLst>
                                      </p:cBhvr>
                                      <p:to>
                                        <p:strVal val="visible"/>
                                      </p:to>
                                    </p:set>
                                    <p:animEffect>
                                      <p:cBhvr>
                                        <p:cTn id="79" dur="500"/>
                                        <p:tgtEl>
                                          <p:spTgt spid="46092"/>
                                        </p:tgtEl>
                                      </p:cBhvr>
                                    </p:animEffect>
                                  </p:childTnLst>
                                </p:cTn>
                              </p:par>
                              <p:par>
                                <p:cTn id="80" presetID="3" presetClass="entr" presetSubtype="10" fill="hold" grpId="0" nodeType="withEffect">
                                  <p:stCondLst>
                                    <p:cond delay="0"/>
                                  </p:stCondLst>
                                  <p:childTnLst>
                                    <p:set>
                                      <p:cBhvr>
                                        <p:cTn id="81" dur="1" fill="hold">
                                          <p:stCondLst>
                                            <p:cond delay="0"/>
                                          </p:stCondLst>
                                        </p:cTn>
                                        <p:tgtEl>
                                          <p:spTgt spid="46091"/>
                                        </p:tgtEl>
                                        <p:attrNameLst>
                                          <p:attrName>style.visibility</p:attrName>
                                        </p:attrNameLst>
                                      </p:cBhvr>
                                      <p:to>
                                        <p:strVal val="visible"/>
                                      </p:to>
                                    </p:set>
                                    <p:animEffect>
                                      <p:cBhvr>
                                        <p:cTn id="82" dur="500"/>
                                        <p:tgtEl>
                                          <p:spTgt spid="46091"/>
                                        </p:tgtEl>
                                      </p:cBhvr>
                                    </p:animEffect>
                                  </p:childTnLst>
                                </p:cTn>
                              </p:par>
                              <p:par>
                                <p:cTn id="83" presetID="3" presetClass="entr" presetSubtype="10" fill="hold" grpId="0" nodeType="withEffect">
                                  <p:stCondLst>
                                    <p:cond delay="0"/>
                                  </p:stCondLst>
                                  <p:childTnLst>
                                    <p:set>
                                      <p:cBhvr>
                                        <p:cTn id="84" dur="1" fill="hold">
                                          <p:stCondLst>
                                            <p:cond delay="0"/>
                                          </p:stCondLst>
                                        </p:cTn>
                                        <p:tgtEl>
                                          <p:spTgt spid="46098"/>
                                        </p:tgtEl>
                                        <p:attrNameLst>
                                          <p:attrName>style.visibility</p:attrName>
                                        </p:attrNameLst>
                                      </p:cBhvr>
                                      <p:to>
                                        <p:strVal val="visible"/>
                                      </p:to>
                                    </p:set>
                                    <p:animEffect>
                                      <p:cBhvr>
                                        <p:cTn id="85" dur="500"/>
                                        <p:tgtEl>
                                          <p:spTgt spid="46098"/>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5" presetClass="entr" presetSubtype="10" fill="hold" grpId="0" nodeType="clickEffect">
                                  <p:stCondLst>
                                    <p:cond delay="0"/>
                                  </p:stCondLst>
                                  <p:childTnLst>
                                    <p:set>
                                      <p:cBhvr>
                                        <p:cTn id="89" dur="1" fill="hold">
                                          <p:stCondLst>
                                            <p:cond delay="0"/>
                                          </p:stCondLst>
                                        </p:cTn>
                                        <p:tgtEl>
                                          <p:spTgt spid="46110"/>
                                        </p:tgtEl>
                                        <p:attrNameLst>
                                          <p:attrName>style.visibility</p:attrName>
                                        </p:attrNameLst>
                                      </p:cBhvr>
                                      <p:to>
                                        <p:strVal val="visible"/>
                                      </p:to>
                                    </p:set>
                                    <p:animEffect>
                                      <p:cBhvr>
                                        <p:cTn id="90" dur="500"/>
                                        <p:tgtEl>
                                          <p:spTgt spid="46110"/>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16" presetClass="entr" presetSubtype="26" fill="hold" grpId="0" nodeType="clickEffect">
                                  <p:stCondLst>
                                    <p:cond delay="0"/>
                                  </p:stCondLst>
                                  <p:childTnLst>
                                    <p:set>
                                      <p:cBhvr>
                                        <p:cTn id="94" dur="1" fill="hold">
                                          <p:stCondLst>
                                            <p:cond delay="0"/>
                                          </p:stCondLst>
                                        </p:cTn>
                                        <p:tgtEl>
                                          <p:spTgt spid="46103"/>
                                        </p:tgtEl>
                                        <p:attrNameLst>
                                          <p:attrName>style.visibility</p:attrName>
                                        </p:attrNameLst>
                                      </p:cBhvr>
                                      <p:to>
                                        <p:strVal val="visible"/>
                                      </p:to>
                                    </p:set>
                                    <p:animEffect>
                                      <p:cBhvr>
                                        <p:cTn id="95" dur="500"/>
                                        <p:tgtEl>
                                          <p:spTgt spid="46103"/>
                                        </p:tgtEl>
                                      </p:cBhvr>
                                    </p:animEffect>
                                  </p:childTnLst>
                                </p:cTn>
                              </p:par>
                              <p:par>
                                <p:cTn id="96" presetID="16" presetClass="entr" presetSubtype="26" fill="hold" grpId="0" nodeType="withEffect">
                                  <p:stCondLst>
                                    <p:cond delay="0"/>
                                  </p:stCondLst>
                                  <p:childTnLst>
                                    <p:set>
                                      <p:cBhvr>
                                        <p:cTn id="97" dur="1" fill="hold">
                                          <p:stCondLst>
                                            <p:cond delay="0"/>
                                          </p:stCondLst>
                                        </p:cTn>
                                        <p:tgtEl>
                                          <p:spTgt spid="46097"/>
                                        </p:tgtEl>
                                        <p:attrNameLst>
                                          <p:attrName>style.visibility</p:attrName>
                                        </p:attrNameLst>
                                      </p:cBhvr>
                                      <p:to>
                                        <p:strVal val="visible"/>
                                      </p:to>
                                    </p:set>
                                    <p:animEffect>
                                      <p:cBhvr>
                                        <p:cTn id="98" dur="500"/>
                                        <p:tgtEl>
                                          <p:spTgt spid="46097"/>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5" presetClass="entr" presetSubtype="10" fill="hold" grpId="0" nodeType="clickEffect">
                                  <p:stCondLst>
                                    <p:cond delay="0"/>
                                  </p:stCondLst>
                                  <p:childTnLst>
                                    <p:set>
                                      <p:cBhvr>
                                        <p:cTn id="102" dur="1" fill="hold">
                                          <p:stCondLst>
                                            <p:cond delay="0"/>
                                          </p:stCondLst>
                                        </p:cTn>
                                        <p:tgtEl>
                                          <p:spTgt spid="46104"/>
                                        </p:tgtEl>
                                        <p:attrNameLst>
                                          <p:attrName>style.visibility</p:attrName>
                                        </p:attrNameLst>
                                      </p:cBhvr>
                                      <p:to>
                                        <p:strVal val="visible"/>
                                      </p:to>
                                    </p:set>
                                    <p:animEffect>
                                      <p:cBhvr>
                                        <p:cTn id="103" dur="500"/>
                                        <p:tgtEl>
                                          <p:spTgt spid="46104"/>
                                        </p:tgtEl>
                                      </p:cBhvr>
                                    </p:animEffect>
                                  </p:childTnLst>
                                </p:cTn>
                              </p:par>
                              <p:par>
                                <p:cTn id="104" presetID="5" presetClass="entr" presetSubtype="10" fill="hold" grpId="0" nodeType="withEffect">
                                  <p:stCondLst>
                                    <p:cond delay="0"/>
                                  </p:stCondLst>
                                  <p:childTnLst>
                                    <p:set>
                                      <p:cBhvr>
                                        <p:cTn id="105" dur="1" fill="hold">
                                          <p:stCondLst>
                                            <p:cond delay="0"/>
                                          </p:stCondLst>
                                        </p:cTn>
                                        <p:tgtEl>
                                          <p:spTgt spid="46101"/>
                                        </p:tgtEl>
                                        <p:attrNameLst>
                                          <p:attrName>style.visibility</p:attrName>
                                        </p:attrNameLst>
                                      </p:cBhvr>
                                      <p:to>
                                        <p:strVal val="visible"/>
                                      </p:to>
                                    </p:set>
                                    <p:animEffect>
                                      <p:cBhvr>
                                        <p:cTn id="106" dur="500"/>
                                        <p:tgtEl>
                                          <p:spTgt spid="46101"/>
                                        </p:tgtEl>
                                      </p:cBhvr>
                                    </p:animEffect>
                                  </p:childTnLst>
                                </p:cTn>
                              </p:par>
                              <p:par>
                                <p:cTn id="107" presetID="5" presetClass="entr" presetSubtype="10" fill="hold" grpId="0" nodeType="withEffect">
                                  <p:stCondLst>
                                    <p:cond delay="0"/>
                                  </p:stCondLst>
                                  <p:childTnLst>
                                    <p:set>
                                      <p:cBhvr>
                                        <p:cTn id="108" dur="1" fill="hold">
                                          <p:stCondLst>
                                            <p:cond delay="0"/>
                                          </p:stCondLst>
                                        </p:cTn>
                                        <p:tgtEl>
                                          <p:spTgt spid="46107"/>
                                        </p:tgtEl>
                                        <p:attrNameLst>
                                          <p:attrName>style.visibility</p:attrName>
                                        </p:attrNameLst>
                                      </p:cBhvr>
                                      <p:to>
                                        <p:strVal val="visible"/>
                                      </p:to>
                                    </p:set>
                                    <p:animEffect>
                                      <p:cBhvr>
                                        <p:cTn id="109" dur="500"/>
                                        <p:tgtEl>
                                          <p:spTgt spid="46107"/>
                                        </p:tgtEl>
                                      </p:cBhvr>
                                    </p:animEffect>
                                  </p:childTnLst>
                                </p:cTn>
                              </p:par>
                              <p:par>
                                <p:cTn id="110" presetID="5" presetClass="entr" presetSubtype="10" fill="hold" grpId="0" nodeType="withEffect">
                                  <p:stCondLst>
                                    <p:cond delay="0"/>
                                  </p:stCondLst>
                                  <p:childTnLst>
                                    <p:set>
                                      <p:cBhvr>
                                        <p:cTn id="111" dur="1" fill="hold">
                                          <p:stCondLst>
                                            <p:cond delay="0"/>
                                          </p:stCondLst>
                                        </p:cTn>
                                        <p:tgtEl>
                                          <p:spTgt spid="46090"/>
                                        </p:tgtEl>
                                        <p:attrNameLst>
                                          <p:attrName>style.visibility</p:attrName>
                                        </p:attrNameLst>
                                      </p:cBhvr>
                                      <p:to>
                                        <p:strVal val="visible"/>
                                      </p:to>
                                    </p:set>
                                    <p:animEffect>
                                      <p:cBhvr>
                                        <p:cTn id="112" dur="500"/>
                                        <p:tgtEl>
                                          <p:spTgt spid="46090"/>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5" presetClass="entr" presetSubtype="10" fill="hold" grpId="0" nodeType="clickEffect">
                                  <p:stCondLst>
                                    <p:cond delay="0"/>
                                  </p:stCondLst>
                                  <p:childTnLst>
                                    <p:set>
                                      <p:cBhvr>
                                        <p:cTn id="116" dur="1" fill="hold">
                                          <p:stCondLst>
                                            <p:cond delay="0"/>
                                          </p:stCondLst>
                                        </p:cTn>
                                        <p:tgtEl>
                                          <p:spTgt spid="46111"/>
                                        </p:tgtEl>
                                        <p:attrNameLst>
                                          <p:attrName>style.visibility</p:attrName>
                                        </p:attrNameLst>
                                      </p:cBhvr>
                                      <p:to>
                                        <p:strVal val="visible"/>
                                      </p:to>
                                    </p:set>
                                    <p:animEffect>
                                      <p:cBhvr>
                                        <p:cTn id="117" dur="500"/>
                                        <p:tgtEl>
                                          <p:spTgt spid="461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110" grpId="0" bldLvl="0" animBg="1" autoUpdateAnimBg="0"/>
      <p:bldP spid="46109" grpId="0" bldLvl="0" animBg="1" autoUpdateAnimBg="0"/>
      <p:bldP spid="46083" grpId="0" bldLvl="0" animBg="1" autoUpdateAnimBg="0"/>
      <p:bldP spid="46084" grpId="0" bldLvl="0" animBg="1" autoUpdateAnimBg="0"/>
      <p:bldP spid="46085" grpId="0" bldLvl="0" autoUpdateAnimBg="0"/>
      <p:bldP spid="46086" grpId="0" bldLvl="0" autoUpdateAnimBg="0"/>
      <p:bldP spid="46087" grpId="0" bldLvl="0" autoUpdateAnimBg="0"/>
      <p:bldP spid="46088" grpId="0" bldLvl="0" animBg="1" autoUpdateAnimBg="0"/>
      <p:bldP spid="46089" grpId="0" bldLvl="0" animBg="1" autoUpdateAnimBg="0"/>
      <p:bldP spid="46090" grpId="0" bldLvl="0" animBg="1" autoUpdateAnimBg="0"/>
      <p:bldP spid="46091" grpId="0" bldLvl="0" animBg="1" autoUpdateAnimBg="0"/>
      <p:bldP spid="46092" grpId="0" bldLvl="0" animBg="1" autoUpdateAnimBg="0"/>
      <p:bldP spid="46093" grpId="0" bldLvl="0" animBg="1" autoUpdateAnimBg="0"/>
      <p:bldP spid="46094" grpId="0" bldLvl="0" animBg="1" autoUpdateAnimBg="0"/>
      <p:bldP spid="46095" grpId="0" bldLvl="0" autoUpdateAnimBg="0"/>
      <p:bldP spid="46096" grpId="0" bldLvl="0" autoUpdateAnimBg="0"/>
      <p:bldP spid="46097" grpId="0" bldLvl="0" autoUpdateAnimBg="0"/>
      <p:bldP spid="46098" grpId="0" bldLvl="0" autoUpdateAnimBg="0"/>
      <p:bldP spid="46099" grpId="0" bldLvl="0" autoUpdateAnimBg="0"/>
      <p:bldP spid="46100" grpId="0" bldLvl="0" autoUpdateAnimBg="0"/>
      <p:bldP spid="46101" grpId="0" bldLvl="0" autoUpdateAnimBg="0"/>
      <p:bldP spid="46102" grpId="0" bldLvl="0" autoUpdateAnimBg="0"/>
      <p:bldP spid="46103" grpId="0" bldLvl="0" animBg="1" autoUpdateAnimBg="0"/>
      <p:bldP spid="46104" grpId="0" bldLvl="0" animBg="1" autoUpdateAnimBg="0"/>
      <p:bldP spid="46105" grpId="0" bldLvl="0" autoUpdateAnimBg="0"/>
      <p:bldP spid="46106" grpId="0" bldLvl="0" autoUpdateAnimBg="0"/>
      <p:bldP spid="46107" grpId="0" bldLvl="0" autoUpdateAnimBg="0"/>
      <p:bldP spid="46108" grpId="0" bldLvl="0" autoUpdateAnimBg="0"/>
      <p:bldP spid="46111" grpId="0" bldLvl="0" animBg="1"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B6544B08-2DA6-4D7A-8147-B8F900D42E18}" type="slidenum">
              <a:rPr lang="zh-CN" altLang="en-US"/>
              <a:pPr/>
              <a:t>58</a:t>
            </a:fld>
            <a:endParaRPr lang="en-US" altLang="zh-CN" sz="1800" b="1"/>
          </a:p>
        </p:txBody>
      </p:sp>
      <p:sp>
        <p:nvSpPr>
          <p:cNvPr id="47106" name="Rectangle 3"/>
          <p:cNvSpPr>
            <a:spLocks noGrp="1" noChangeArrowheads="1"/>
          </p:cNvSpPr>
          <p:nvPr>
            <p:ph type="body" idx="4294967295"/>
          </p:nvPr>
        </p:nvSpPr>
        <p:spPr>
          <a:xfrm>
            <a:off x="423522" y="1268850"/>
            <a:ext cx="8229600" cy="4424700"/>
          </a:xfrm>
          <a:ln/>
        </p:spPr>
        <p:txBody>
          <a:bodyPr/>
          <a:lstStyle/>
          <a:p>
            <a:pPr marL="457200" lvl="2" indent="-457200" eaLnBrk="1" hangingPunct="1">
              <a:lnSpc>
                <a:spcPct val="250000"/>
              </a:lnSpc>
              <a:buSzPct val="100000"/>
              <a:buFont typeface="Wingdings" panose="05000000000000000000" pitchFamily="2" charset="2"/>
              <a:buChar char="u"/>
            </a:pPr>
            <a:r>
              <a:rPr lang="zh-CN" altLang="en-US" sz="2200" b="0" dirty="0">
                <a:latin typeface="微软雅黑" panose="020B0503020204020204" pitchFamily="34" charset="-122"/>
                <a:ea typeface="微软雅黑" panose="020B0503020204020204" pitchFamily="34" charset="-122"/>
              </a:rPr>
              <a:t>卡特尔</a:t>
            </a:r>
            <a:endParaRPr lang="en-US" altLang="zh-CN" sz="2200" b="0" dirty="0">
              <a:latin typeface="微软雅黑" panose="020B0503020204020204" pitchFamily="34" charset="-122"/>
              <a:ea typeface="微软雅黑" panose="020B0503020204020204" pitchFamily="34" charset="-122"/>
            </a:endParaRPr>
          </a:p>
          <a:p>
            <a:pPr marL="742950" lvl="2" indent="-342900" eaLnBrk="1" hangingPunct="1">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rPr>
              <a:t>若干个企业达成公开或正式的协议</a:t>
            </a:r>
            <a:r>
              <a:rPr lang="en-US" altLang="zh-CN" sz="2000" b="0" dirty="0">
                <a:latin typeface="微软雅黑" panose="020B0503020204020204" pitchFamily="34" charset="-122"/>
                <a:ea typeface="微软雅黑" panose="020B0503020204020204" pitchFamily="34" charset="-122"/>
              </a:rPr>
              <a:t>, </a:t>
            </a:r>
            <a:r>
              <a:rPr lang="zh-CN" altLang="en-US" sz="2000" b="0" dirty="0">
                <a:latin typeface="微软雅黑" panose="020B0503020204020204" pitchFamily="34" charset="-122"/>
                <a:ea typeface="微软雅黑" panose="020B0503020204020204" pitchFamily="34" charset="-122"/>
              </a:rPr>
              <a:t>试图控制整个市场的利润最大化产量和价格时</a:t>
            </a:r>
            <a:r>
              <a:rPr lang="en-US" altLang="zh-CN" sz="2000" b="0" dirty="0">
                <a:latin typeface="微软雅黑" panose="020B0503020204020204" pitchFamily="34" charset="-122"/>
                <a:ea typeface="微软雅黑" panose="020B0503020204020204" pitchFamily="34" charset="-122"/>
              </a:rPr>
              <a:t>, </a:t>
            </a:r>
            <a:r>
              <a:rPr lang="zh-CN" altLang="en-US" sz="2000" b="0" dirty="0">
                <a:latin typeface="微软雅黑" panose="020B0503020204020204" pitchFamily="34" charset="-122"/>
                <a:ea typeface="微软雅黑" panose="020B0503020204020204" pitchFamily="34" charset="-122"/>
              </a:rPr>
              <a:t>这些企业的总和就是所谓的“卡特尔”。 如</a:t>
            </a:r>
            <a:r>
              <a:rPr lang="en-US" altLang="zh-CN" sz="2000" b="0" dirty="0">
                <a:latin typeface="微软雅黑" panose="020B0503020204020204" pitchFamily="34" charset="-122"/>
                <a:ea typeface="微软雅黑" panose="020B0503020204020204" pitchFamily="34" charset="-122"/>
              </a:rPr>
              <a:t>OPEC</a:t>
            </a:r>
          </a:p>
          <a:p>
            <a:pPr marL="742950" lvl="2" indent="-342900" eaLnBrk="1" hangingPunct="1">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rPr>
              <a:t>卡特尔的最大利润大于其成员单独行动时的利润之和。</a:t>
            </a:r>
            <a:endParaRPr lang="en-US" altLang="zh-CN" sz="2000" b="0" dirty="0">
              <a:latin typeface="微软雅黑" panose="020B0503020204020204" pitchFamily="34" charset="-122"/>
              <a:ea typeface="微软雅黑" panose="020B0503020204020204" pitchFamily="34" charset="-122"/>
            </a:endParaRPr>
          </a:p>
          <a:p>
            <a:pPr marL="457200" lvl="2" indent="-457200" eaLnBrk="1" hangingPunct="1">
              <a:lnSpc>
                <a:spcPct val="250000"/>
              </a:lnSpc>
              <a:buSzPct val="100000"/>
              <a:buFont typeface="Wingdings" panose="05000000000000000000" pitchFamily="2" charset="2"/>
              <a:buChar char="u"/>
            </a:pPr>
            <a:r>
              <a:rPr lang="zh-CN" altLang="en-US" sz="2200" b="0" dirty="0">
                <a:latin typeface="微软雅黑" panose="020B0503020204020204" pitchFamily="34" charset="-122"/>
                <a:ea typeface="微软雅黑" panose="020B0503020204020204" pitchFamily="34" charset="-122"/>
              </a:rPr>
              <a:t>卡特尔行为</a:t>
            </a:r>
            <a:endParaRPr lang="en-US" altLang="zh-CN" sz="2200" b="0" dirty="0">
              <a:latin typeface="微软雅黑" panose="020B0503020204020204" pitchFamily="34" charset="-122"/>
              <a:ea typeface="微软雅黑" panose="020B0503020204020204" pitchFamily="34" charset="-122"/>
            </a:endParaRPr>
          </a:p>
          <a:p>
            <a:pPr marL="742950" lvl="2" indent="-342900" eaLnBrk="1" hangingPunct="1">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rPr>
              <a:t>卡特尔像一个垄断企业一样行动</a:t>
            </a:r>
            <a:r>
              <a:rPr lang="en-US" altLang="zh-CN" sz="2000" b="0" dirty="0">
                <a:latin typeface="微软雅黑" panose="020B0503020204020204" pitchFamily="34" charset="-122"/>
                <a:ea typeface="微软雅黑" panose="020B0503020204020204" pitchFamily="34" charset="-122"/>
              </a:rPr>
              <a:t>, </a:t>
            </a:r>
            <a:r>
              <a:rPr lang="zh-CN" altLang="en-US" sz="2000" b="0" dirty="0">
                <a:latin typeface="微软雅黑" panose="020B0503020204020204" pitchFamily="34" charset="-122"/>
                <a:ea typeface="微软雅黑" panose="020B0503020204020204" pitchFamily="34" charset="-122"/>
              </a:rPr>
              <a:t>追求各成员厂商总利润最大化。</a:t>
            </a:r>
            <a:endParaRPr lang="en-US" altLang="zh-CN" sz="2000" b="0" dirty="0">
              <a:latin typeface="微软雅黑" panose="020B0503020204020204" pitchFamily="34" charset="-122"/>
              <a:ea typeface="微软雅黑" panose="020B0503020204020204" pitchFamily="34" charset="-122"/>
            </a:endParaRPr>
          </a:p>
          <a:p>
            <a:pPr marL="742950" lvl="2" indent="-342900" eaLnBrk="1" hangingPunct="1">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rPr>
              <a:t>同时要在成员厂商之间分配利益（利润）。</a:t>
            </a:r>
            <a:endParaRPr lang="en-US" altLang="zh-CN" sz="2000" b="0" dirty="0">
              <a:latin typeface="微软雅黑" panose="020B0503020204020204" pitchFamily="34" charset="-122"/>
              <a:ea typeface="微软雅黑" panose="020B0503020204020204" pitchFamily="34" charset="-122"/>
            </a:endParaRPr>
          </a:p>
        </p:txBody>
      </p:sp>
      <p:sp>
        <p:nvSpPr>
          <p:cNvPr id="5" name="矩形 4"/>
          <p:cNvSpPr/>
          <p:nvPr/>
        </p:nvSpPr>
        <p:spPr>
          <a:xfrm>
            <a:off x="7543092" y="44765"/>
            <a:ext cx="1600908" cy="369332"/>
          </a:xfrm>
          <a:prstGeom prst="rect">
            <a:avLst/>
          </a:prstGeom>
        </p:spPr>
        <p:txBody>
          <a:bodyPr wrap="square">
            <a:spAutoFit/>
          </a:bodyPr>
          <a:lstStyle/>
          <a:p>
            <a:r>
              <a:rPr lang="zh-CN" altLang="en-US" sz="1800" b="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第三节  寡头</a:t>
            </a:r>
            <a:endParaRPr lang="zh-CN" altLang="en-US" sz="18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 name="矩形 5">
            <a:extLst>
              <a:ext uri="{FF2B5EF4-FFF2-40B4-BE49-F238E27FC236}">
                <a16:creationId xmlns:a16="http://schemas.microsoft.com/office/drawing/2014/main" id="{F68E5273-CD77-47B9-B841-9D29349C133D}"/>
              </a:ext>
            </a:extLst>
          </p:cNvPr>
          <p:cNvSpPr/>
          <p:nvPr/>
        </p:nvSpPr>
        <p:spPr>
          <a:xfrm>
            <a:off x="457201" y="548681"/>
            <a:ext cx="3034724"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marL="0" lvl="1">
              <a:defRPr/>
            </a:pPr>
            <a:r>
              <a:rPr lang="zh-CN" altLang="en-US" sz="2400" spc="150" dirty="0">
                <a:solidFill>
                  <a:srgbClr val="FFFFFF"/>
                </a:solidFill>
                <a:latin typeface="微软雅黑" panose="020B0503020204020204" pitchFamily="34" charset="-122"/>
                <a:ea typeface="微软雅黑" panose="020B0503020204020204" pitchFamily="34" charset="-122"/>
              </a:rPr>
              <a:t>五</a:t>
            </a:r>
            <a:r>
              <a:rPr lang="zh-CN" altLang="en-US" sz="2400" b="1" spc="150" dirty="0">
                <a:solidFill>
                  <a:srgbClr val="FFFFFF"/>
                </a:solidFill>
                <a:latin typeface="微软雅黑" panose="020B0503020204020204" pitchFamily="34" charset="-122"/>
                <a:ea typeface="微软雅黑" panose="020B0503020204020204" pitchFamily="34" charset="-122"/>
              </a:rPr>
              <a:t>、</a:t>
            </a:r>
            <a:r>
              <a:rPr lang="zh-CN" altLang="en-US" sz="2400" spc="15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勾结与卡特尔</a:t>
            </a:r>
            <a:endParaRPr lang="zh-CN" altLang="en-US" sz="2400" spc="150" dirty="0">
              <a:solidFill>
                <a:srgbClr val="FFFFFF"/>
              </a:solidFill>
              <a:latin typeface="微软雅黑" panose="020B0503020204020204" pitchFamily="34" charset="-122"/>
              <a:ea typeface="微软雅黑" panose="020B0503020204020204" pitchFamily="34"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7106">
                                            <p:txEl>
                                              <p:pRg st="0" end="0"/>
                                            </p:txEl>
                                          </p:spTgt>
                                        </p:tgtEl>
                                        <p:attrNameLst>
                                          <p:attrName>style.visibility</p:attrName>
                                        </p:attrNameLst>
                                      </p:cBhvr>
                                      <p:to>
                                        <p:strVal val="visible"/>
                                      </p:to>
                                    </p:set>
                                    <p:animEffect>
                                      <p:cBhvr>
                                        <p:cTn id="7" dur="500"/>
                                        <p:tgtEl>
                                          <p:spTgt spid="4710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7106">
                                            <p:txEl>
                                              <p:pRg st="1" end="1"/>
                                            </p:txEl>
                                          </p:spTgt>
                                        </p:tgtEl>
                                        <p:attrNameLst>
                                          <p:attrName>style.visibility</p:attrName>
                                        </p:attrNameLst>
                                      </p:cBhvr>
                                      <p:to>
                                        <p:strVal val="visible"/>
                                      </p:to>
                                    </p:set>
                                    <p:animEffect>
                                      <p:cBhvr>
                                        <p:cTn id="12" dur="500"/>
                                        <p:tgtEl>
                                          <p:spTgt spid="4710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7106">
                                            <p:txEl>
                                              <p:pRg st="2" end="2"/>
                                            </p:txEl>
                                          </p:spTgt>
                                        </p:tgtEl>
                                        <p:attrNameLst>
                                          <p:attrName>style.visibility</p:attrName>
                                        </p:attrNameLst>
                                      </p:cBhvr>
                                      <p:to>
                                        <p:strVal val="visible"/>
                                      </p:to>
                                    </p:set>
                                    <p:animEffect>
                                      <p:cBhvr>
                                        <p:cTn id="17" dur="500"/>
                                        <p:tgtEl>
                                          <p:spTgt spid="47106">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47106">
                                            <p:txEl>
                                              <p:pRg st="3" end="3"/>
                                            </p:txEl>
                                          </p:spTgt>
                                        </p:tgtEl>
                                        <p:attrNameLst>
                                          <p:attrName>style.visibility</p:attrName>
                                        </p:attrNameLst>
                                      </p:cBhvr>
                                      <p:to>
                                        <p:strVal val="visible"/>
                                      </p:to>
                                    </p:set>
                                    <p:animEffect>
                                      <p:cBhvr>
                                        <p:cTn id="22" dur="500"/>
                                        <p:tgtEl>
                                          <p:spTgt spid="47106">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6" presetClass="entr" presetSubtype="26" fill="hold" nodeType="clickEffect">
                                  <p:stCondLst>
                                    <p:cond delay="0"/>
                                  </p:stCondLst>
                                  <p:childTnLst>
                                    <p:set>
                                      <p:cBhvr>
                                        <p:cTn id="26" dur="1" fill="hold">
                                          <p:stCondLst>
                                            <p:cond delay="0"/>
                                          </p:stCondLst>
                                        </p:cTn>
                                        <p:tgtEl>
                                          <p:spTgt spid="47106">
                                            <p:txEl>
                                              <p:pRg st="4" end="4"/>
                                            </p:txEl>
                                          </p:spTgt>
                                        </p:tgtEl>
                                        <p:attrNameLst>
                                          <p:attrName>style.visibility</p:attrName>
                                        </p:attrNameLst>
                                      </p:cBhvr>
                                      <p:to>
                                        <p:strVal val="visible"/>
                                      </p:to>
                                    </p:set>
                                    <p:animEffect>
                                      <p:cBhvr>
                                        <p:cTn id="27" dur="500"/>
                                        <p:tgtEl>
                                          <p:spTgt spid="4710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6" fill="hold" nodeType="clickEffect">
                                  <p:stCondLst>
                                    <p:cond delay="0"/>
                                  </p:stCondLst>
                                  <p:childTnLst>
                                    <p:set>
                                      <p:cBhvr>
                                        <p:cTn id="31" dur="1" fill="hold">
                                          <p:stCondLst>
                                            <p:cond delay="0"/>
                                          </p:stCondLst>
                                        </p:cTn>
                                        <p:tgtEl>
                                          <p:spTgt spid="47106">
                                            <p:txEl>
                                              <p:pRg st="5" end="5"/>
                                            </p:txEl>
                                          </p:spTgt>
                                        </p:tgtEl>
                                        <p:attrNameLst>
                                          <p:attrName>style.visibility</p:attrName>
                                        </p:attrNameLst>
                                      </p:cBhvr>
                                      <p:to>
                                        <p:strVal val="visible"/>
                                      </p:to>
                                    </p:set>
                                    <p:animEffect>
                                      <p:cBhvr>
                                        <p:cTn id="32" dur="500"/>
                                        <p:tgtEl>
                                          <p:spTgt spid="4710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矩形 1"/>
          <p:cNvSpPr>
            <a:spLocks noChangeArrowheads="1"/>
          </p:cNvSpPr>
          <p:nvPr/>
        </p:nvSpPr>
        <p:spPr bwMode="auto">
          <a:xfrm>
            <a:off x="457200" y="1343025"/>
            <a:ext cx="8435100" cy="4290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342900" indent="-342900">
              <a:defRPr sz="1600" b="1">
                <a:solidFill>
                  <a:schemeClr val="tx1"/>
                </a:solidFill>
                <a:latin typeface="Arial" panose="020B0604020202020204" pitchFamily="34" charset="0"/>
                <a:ea typeface="宋体" panose="02010600030101010101" pitchFamily="2" charset="-122"/>
              </a:defRPr>
            </a:lvl3pPr>
            <a:lvl4pPr>
              <a:defRPr sz="1600" b="1">
                <a:solidFill>
                  <a:schemeClr val="tx1"/>
                </a:solidFill>
                <a:latin typeface="Arial" panose="020B0604020202020204" pitchFamily="34" charset="0"/>
                <a:ea typeface="宋体" panose="02010600030101010101" pitchFamily="2" charset="-122"/>
              </a:defRPr>
            </a:lvl4pPr>
            <a:lvl5pPr>
              <a:defRPr sz="1600" b="1">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9pPr>
          </a:lstStyle>
          <a:p>
            <a:pPr marL="457200" lvl="2" indent="-457200" defTabSz="0" eaLnBrk="1" hangingPunct="1">
              <a:lnSpc>
                <a:spcPct val="250000"/>
              </a:lnSpc>
              <a:spcBef>
                <a:spcPct val="20000"/>
              </a:spcBef>
              <a:buSzPct val="100000"/>
              <a:buFont typeface="Wingdings" panose="05000000000000000000" pitchFamily="2" charset="2"/>
              <a:buChar char="u"/>
            </a:pPr>
            <a:r>
              <a:rPr lang="zh-CN" altLang="en-US" sz="2200" b="0" dirty="0">
                <a:latin typeface="微软雅黑" panose="020B0503020204020204" pitchFamily="34" charset="-122"/>
                <a:ea typeface="微软雅黑" panose="020B0503020204020204" pitchFamily="34" charset="-122"/>
                <a:sym typeface="Arial" panose="020B0604020202020204" pitchFamily="34" charset="0"/>
              </a:rPr>
              <a:t>卡特尔利润最大化与寡头的比较</a:t>
            </a:r>
            <a:endParaRPr lang="en-US" altLang="zh-CN" sz="2200" b="0" dirty="0">
              <a:latin typeface="微软雅黑" panose="020B0503020204020204" pitchFamily="34" charset="-122"/>
              <a:ea typeface="微软雅黑" panose="020B0503020204020204" pitchFamily="34" charset="-122"/>
              <a:sym typeface="Arial" panose="020B0604020202020204" pitchFamily="34" charset="0"/>
            </a:endParaRPr>
          </a:p>
          <a:p>
            <a:pPr marL="800100" lvl="1" indent="-342900">
              <a:lnSpc>
                <a:spcPct val="150000"/>
              </a:lnSpc>
              <a:spcBef>
                <a:spcPct val="20000"/>
              </a:spcBef>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sym typeface="Arial" panose="020B0604020202020204" pitchFamily="34" charset="0"/>
              </a:rPr>
              <a:t>尽管卡特尔可以通过联合行动获得垄断利润</a:t>
            </a:r>
            <a:r>
              <a:rPr lang="en-US" altLang="zh-CN" sz="2000" b="0" dirty="0">
                <a:latin typeface="微软雅黑" panose="020B0503020204020204" pitchFamily="34" charset="-122"/>
                <a:ea typeface="微软雅黑" panose="020B0503020204020204" pitchFamily="34" charset="-122"/>
                <a:sym typeface="Arial" panose="020B0604020202020204" pitchFamily="34" charset="0"/>
              </a:rPr>
              <a:t>, </a:t>
            </a:r>
            <a:r>
              <a:rPr lang="zh-CN" altLang="en-US" sz="2000" b="0" dirty="0">
                <a:latin typeface="微软雅黑" panose="020B0503020204020204" pitchFamily="34" charset="-122"/>
                <a:ea typeface="微软雅黑" panose="020B0503020204020204" pitchFamily="34" charset="-122"/>
                <a:sym typeface="Arial" panose="020B0604020202020204" pitchFamily="34" charset="0"/>
              </a:rPr>
              <a:t>但是如何在成员之间分配垄断利润却是一个难题。</a:t>
            </a:r>
            <a:r>
              <a:rPr lang="zh-CN" altLang="en-US" sz="2000" b="0" dirty="0">
                <a:solidFill>
                  <a:srgbClr val="000000"/>
                </a:solidFill>
                <a:sym typeface="Arial" panose="020B0604020202020204" pitchFamily="34" charset="0"/>
              </a:rPr>
              <a:t> </a:t>
            </a:r>
            <a:endParaRPr lang="en-US" altLang="zh-CN" sz="2000" b="0" dirty="0">
              <a:solidFill>
                <a:srgbClr val="000000"/>
              </a:solidFill>
              <a:sym typeface="Arial" panose="020B0604020202020204" pitchFamily="34" charset="0"/>
            </a:endParaRPr>
          </a:p>
          <a:p>
            <a:pPr marL="457200" lvl="2" indent="-457200" defTabSz="0" eaLnBrk="1" hangingPunct="1">
              <a:lnSpc>
                <a:spcPct val="250000"/>
              </a:lnSpc>
              <a:spcBef>
                <a:spcPct val="20000"/>
              </a:spcBef>
              <a:buSzPct val="100000"/>
              <a:buFont typeface="Wingdings" panose="05000000000000000000" pitchFamily="2" charset="2"/>
              <a:buChar char="u"/>
            </a:pPr>
            <a:r>
              <a:rPr lang="zh-CN" altLang="en-US" sz="2200" b="0" dirty="0">
                <a:latin typeface="微软雅黑" panose="020B0503020204020204" pitchFamily="34" charset="-122"/>
                <a:ea typeface="微软雅黑" panose="020B0503020204020204" pitchFamily="34" charset="-122"/>
                <a:sym typeface="Arial" panose="020B0604020202020204" pitchFamily="34" charset="0"/>
              </a:rPr>
              <a:t>卡特尔的不稳定性</a:t>
            </a:r>
            <a:endParaRPr lang="en-US" altLang="zh-CN" sz="2200" b="0" dirty="0">
              <a:latin typeface="微软雅黑" panose="020B0503020204020204" pitchFamily="34" charset="-122"/>
              <a:ea typeface="微软雅黑" panose="020B0503020204020204" pitchFamily="34" charset="-122"/>
              <a:sym typeface="Arial" panose="020B0604020202020204" pitchFamily="34" charset="0"/>
            </a:endParaRPr>
          </a:p>
          <a:p>
            <a:pPr marL="800100" lvl="1" indent="-342900">
              <a:spcBef>
                <a:spcPct val="20000"/>
              </a:spcBef>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sym typeface="Arial" panose="020B0604020202020204" pitchFamily="34" charset="0"/>
              </a:rPr>
              <a:t>总是面临其成员的欺骗</a:t>
            </a:r>
            <a:r>
              <a:rPr lang="en-US" altLang="zh-CN" sz="2000" b="0" dirty="0">
                <a:latin typeface="微软雅黑" panose="020B0503020204020204" pitchFamily="34" charset="-122"/>
                <a:ea typeface="微软雅黑" panose="020B0503020204020204" pitchFamily="34" charset="-122"/>
                <a:sym typeface="Arial" panose="020B0604020202020204" pitchFamily="34" charset="0"/>
              </a:rPr>
              <a:t>, </a:t>
            </a:r>
            <a:r>
              <a:rPr lang="zh-CN" altLang="en-US" sz="2000" b="0" dirty="0">
                <a:latin typeface="微软雅黑" panose="020B0503020204020204" pitchFamily="34" charset="-122"/>
                <a:ea typeface="微软雅黑" panose="020B0503020204020204" pitchFamily="34" charset="-122"/>
                <a:sym typeface="Arial" panose="020B0604020202020204" pitchFamily="34" charset="0"/>
              </a:rPr>
              <a:t>不遵守已经达成的价格和产量协议。</a:t>
            </a:r>
            <a:endParaRPr lang="en-US" altLang="zh-CN" sz="2000" b="0" dirty="0">
              <a:latin typeface="微软雅黑" panose="020B0503020204020204" pitchFamily="34" charset="-122"/>
              <a:ea typeface="微软雅黑" panose="020B0503020204020204" pitchFamily="34" charset="-122"/>
              <a:sym typeface="Arial" panose="020B0604020202020204" pitchFamily="34" charset="0"/>
            </a:endParaRPr>
          </a:p>
          <a:p>
            <a:pPr marL="800100" lvl="1" indent="-342900">
              <a:lnSpc>
                <a:spcPct val="150000"/>
              </a:lnSpc>
              <a:spcBef>
                <a:spcPct val="20000"/>
              </a:spcBef>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sym typeface="Arial" panose="020B0604020202020204" pitchFamily="34" charset="0"/>
              </a:rPr>
              <a:t>当其他企业均坚持卡特尔价格</a:t>
            </a:r>
            <a:r>
              <a:rPr lang="en-US" altLang="zh-CN" sz="2000" b="0" dirty="0">
                <a:latin typeface="微软雅黑" panose="020B0503020204020204" pitchFamily="34" charset="-122"/>
                <a:ea typeface="微软雅黑" panose="020B0503020204020204" pitchFamily="34" charset="-122"/>
                <a:sym typeface="Arial" panose="020B0604020202020204" pitchFamily="34" charset="0"/>
              </a:rPr>
              <a:t>, </a:t>
            </a:r>
            <a:r>
              <a:rPr lang="zh-CN" altLang="en-US" sz="2000" b="0" dirty="0">
                <a:latin typeface="微软雅黑" panose="020B0503020204020204" pitchFamily="34" charset="-122"/>
                <a:ea typeface="微软雅黑" panose="020B0503020204020204" pitchFamily="34" charset="-122"/>
                <a:sym typeface="Arial" panose="020B0604020202020204" pitchFamily="34" charset="0"/>
              </a:rPr>
              <a:t>某个企业就有改变价格时以获得更多的利润的动机。</a:t>
            </a:r>
          </a:p>
        </p:txBody>
      </p:sp>
      <p:sp>
        <p:nvSpPr>
          <p:cNvPr id="4" name="矩形 3"/>
          <p:cNvSpPr/>
          <p:nvPr/>
        </p:nvSpPr>
        <p:spPr>
          <a:xfrm>
            <a:off x="7543092" y="44765"/>
            <a:ext cx="1600908" cy="369332"/>
          </a:xfrm>
          <a:prstGeom prst="rect">
            <a:avLst/>
          </a:prstGeom>
        </p:spPr>
        <p:txBody>
          <a:bodyPr wrap="square">
            <a:spAutoFit/>
          </a:bodyPr>
          <a:lstStyle/>
          <a:p>
            <a:r>
              <a:rPr lang="zh-CN" altLang="en-US" sz="1800" b="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第三节  寡头</a:t>
            </a:r>
            <a:endParaRPr lang="zh-CN" altLang="en-US" sz="18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 name="矩形 4">
            <a:extLst>
              <a:ext uri="{FF2B5EF4-FFF2-40B4-BE49-F238E27FC236}">
                <a16:creationId xmlns:a16="http://schemas.microsoft.com/office/drawing/2014/main" id="{F68E5273-CD77-47B9-B841-9D29349C133D}"/>
              </a:ext>
            </a:extLst>
          </p:cNvPr>
          <p:cNvSpPr/>
          <p:nvPr/>
        </p:nvSpPr>
        <p:spPr>
          <a:xfrm>
            <a:off x="457201" y="548681"/>
            <a:ext cx="3034724"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marL="0" lvl="1">
              <a:defRPr/>
            </a:pPr>
            <a:r>
              <a:rPr lang="zh-CN" altLang="en-US" sz="2400" spc="150" dirty="0">
                <a:solidFill>
                  <a:srgbClr val="FFFFFF"/>
                </a:solidFill>
                <a:latin typeface="微软雅黑" panose="020B0503020204020204" pitchFamily="34" charset="-122"/>
                <a:ea typeface="微软雅黑" panose="020B0503020204020204" pitchFamily="34" charset="-122"/>
              </a:rPr>
              <a:t>五</a:t>
            </a:r>
            <a:r>
              <a:rPr lang="zh-CN" altLang="en-US" sz="2400" b="1" spc="150" dirty="0">
                <a:solidFill>
                  <a:srgbClr val="FFFFFF"/>
                </a:solidFill>
                <a:latin typeface="微软雅黑" panose="020B0503020204020204" pitchFamily="34" charset="-122"/>
                <a:ea typeface="微软雅黑" panose="020B0503020204020204" pitchFamily="34" charset="-122"/>
              </a:rPr>
              <a:t>、</a:t>
            </a:r>
            <a:r>
              <a:rPr lang="zh-CN" altLang="en-US" sz="2400" spc="15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勾结与卡特尔</a:t>
            </a:r>
            <a:endParaRPr lang="zh-CN" altLang="en-US" sz="2400" spc="150" dirty="0">
              <a:solidFill>
                <a:srgbClr val="FFFFFF"/>
              </a:solidFill>
              <a:latin typeface="微软雅黑" panose="020B0503020204020204" pitchFamily="34" charset="-122"/>
              <a:ea typeface="微软雅黑" panose="020B0503020204020204" pitchFamily="34"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8130">
                                            <p:txEl>
                                              <p:pRg st="0" end="0"/>
                                            </p:txEl>
                                          </p:spTgt>
                                        </p:tgtEl>
                                        <p:attrNameLst>
                                          <p:attrName>style.visibility</p:attrName>
                                        </p:attrNameLst>
                                      </p:cBhvr>
                                      <p:to>
                                        <p:strVal val="visible"/>
                                      </p:to>
                                    </p:set>
                                    <p:animEffect>
                                      <p:cBhvr>
                                        <p:cTn id="7" dur="500"/>
                                        <p:tgtEl>
                                          <p:spTgt spid="4813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48130">
                                            <p:txEl>
                                              <p:pRg st="1" end="1"/>
                                            </p:txEl>
                                          </p:spTgt>
                                        </p:tgtEl>
                                        <p:attrNameLst>
                                          <p:attrName>style.visibility</p:attrName>
                                        </p:attrNameLst>
                                      </p:cBhvr>
                                      <p:to>
                                        <p:strVal val="visible"/>
                                      </p:to>
                                    </p:set>
                                    <p:animEffect>
                                      <p:cBhvr>
                                        <p:cTn id="12" dur="500"/>
                                        <p:tgtEl>
                                          <p:spTgt spid="48130">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48130">
                                            <p:txEl>
                                              <p:pRg st="2" end="2"/>
                                            </p:txEl>
                                          </p:spTgt>
                                        </p:tgtEl>
                                        <p:attrNameLst>
                                          <p:attrName>style.visibility</p:attrName>
                                        </p:attrNameLst>
                                      </p:cBhvr>
                                      <p:to>
                                        <p:strVal val="visible"/>
                                      </p:to>
                                    </p:set>
                                    <p:animEffect>
                                      <p:cBhvr>
                                        <p:cTn id="17" dur="500"/>
                                        <p:tgtEl>
                                          <p:spTgt spid="48130">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48130">
                                            <p:txEl>
                                              <p:pRg st="3" end="3"/>
                                            </p:txEl>
                                          </p:spTgt>
                                        </p:tgtEl>
                                        <p:attrNameLst>
                                          <p:attrName>style.visibility</p:attrName>
                                        </p:attrNameLst>
                                      </p:cBhvr>
                                      <p:to>
                                        <p:strVal val="visible"/>
                                      </p:to>
                                    </p:set>
                                    <p:animEffect>
                                      <p:cBhvr>
                                        <p:cTn id="22" dur="500"/>
                                        <p:tgtEl>
                                          <p:spTgt spid="48130">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nodeType="clickEffect">
                                  <p:stCondLst>
                                    <p:cond delay="0"/>
                                  </p:stCondLst>
                                  <p:childTnLst>
                                    <p:set>
                                      <p:cBhvr>
                                        <p:cTn id="26" dur="1" fill="hold">
                                          <p:stCondLst>
                                            <p:cond delay="0"/>
                                          </p:stCondLst>
                                        </p:cTn>
                                        <p:tgtEl>
                                          <p:spTgt spid="48130">
                                            <p:txEl>
                                              <p:pRg st="4" end="4"/>
                                            </p:txEl>
                                          </p:spTgt>
                                        </p:tgtEl>
                                        <p:attrNameLst>
                                          <p:attrName>style.visibility</p:attrName>
                                        </p:attrNameLst>
                                      </p:cBhvr>
                                      <p:to>
                                        <p:strVal val="visible"/>
                                      </p:to>
                                    </p:set>
                                    <p:animEffect>
                                      <p:cBhvr>
                                        <p:cTn id="27" dur="500"/>
                                        <p:tgtEl>
                                          <p:spTgt spid="4813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H_SubTitle_1">
            <a:extLst>
              <a:ext uri="{FF2B5EF4-FFF2-40B4-BE49-F238E27FC236}">
                <a16:creationId xmlns:a16="http://schemas.microsoft.com/office/drawing/2014/main" id="{B811FBAD-AB8E-4852-A8D0-5E64CAD5E915}"/>
              </a:ext>
            </a:extLst>
          </p:cNvPr>
          <p:cNvSpPr>
            <a:spLocks noChangeArrowheads="1"/>
          </p:cNvSpPr>
          <p:nvPr>
            <p:custDataLst>
              <p:tags r:id="rId1"/>
            </p:custDataLst>
          </p:nvPr>
        </p:nvSpPr>
        <p:spPr bwMode="gray">
          <a:xfrm>
            <a:off x="1763688" y="2547983"/>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一</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cxnSp>
        <p:nvCxnSpPr>
          <p:cNvPr id="4" name="MH_Other_5">
            <a:extLst>
              <a:ext uri="{FF2B5EF4-FFF2-40B4-BE49-F238E27FC236}">
                <a16:creationId xmlns:a16="http://schemas.microsoft.com/office/drawing/2014/main" id="{25D06B7F-7DCD-4D03-A450-0AAC55A41525}"/>
              </a:ext>
            </a:extLst>
          </p:cNvPr>
          <p:cNvCxnSpPr/>
          <p:nvPr>
            <p:custDataLst>
              <p:tags r:id="rId2"/>
            </p:custDataLst>
          </p:nvPr>
        </p:nvCxnSpPr>
        <p:spPr>
          <a:xfrm>
            <a:off x="2343126" y="2903583"/>
            <a:ext cx="0" cy="528637"/>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sp>
        <p:nvSpPr>
          <p:cNvPr id="5" name="MH_SubTitle_2">
            <a:extLst>
              <a:ext uri="{FF2B5EF4-FFF2-40B4-BE49-F238E27FC236}">
                <a16:creationId xmlns:a16="http://schemas.microsoft.com/office/drawing/2014/main" id="{324FEB12-6B52-4D2F-B5C9-D9A603800236}"/>
              </a:ext>
            </a:extLst>
          </p:cNvPr>
          <p:cNvSpPr>
            <a:spLocks noChangeArrowheads="1"/>
          </p:cNvSpPr>
          <p:nvPr>
            <p:custDataLst>
              <p:tags r:id="rId3"/>
            </p:custDataLst>
          </p:nvPr>
        </p:nvSpPr>
        <p:spPr bwMode="gray">
          <a:xfrm>
            <a:off x="1763688" y="3432220"/>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二</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cxnSp>
        <p:nvCxnSpPr>
          <p:cNvPr id="6" name="MH_Other_6">
            <a:extLst>
              <a:ext uri="{FF2B5EF4-FFF2-40B4-BE49-F238E27FC236}">
                <a16:creationId xmlns:a16="http://schemas.microsoft.com/office/drawing/2014/main" id="{B30D78AD-B3DA-44A6-A5F6-F28D02655A40}"/>
              </a:ext>
            </a:extLst>
          </p:cNvPr>
          <p:cNvCxnSpPr/>
          <p:nvPr>
            <p:custDataLst>
              <p:tags r:id="rId4"/>
            </p:custDataLst>
          </p:nvPr>
        </p:nvCxnSpPr>
        <p:spPr>
          <a:xfrm>
            <a:off x="2343126" y="3787820"/>
            <a:ext cx="0" cy="528638"/>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sp>
        <p:nvSpPr>
          <p:cNvPr id="7" name="MH_SubTitle_3">
            <a:extLst>
              <a:ext uri="{FF2B5EF4-FFF2-40B4-BE49-F238E27FC236}">
                <a16:creationId xmlns:a16="http://schemas.microsoft.com/office/drawing/2014/main" id="{3FEC77B5-DB98-453D-BDBC-6598DEA48C49}"/>
              </a:ext>
            </a:extLst>
          </p:cNvPr>
          <p:cNvSpPr>
            <a:spLocks noChangeArrowheads="1"/>
          </p:cNvSpPr>
          <p:nvPr>
            <p:custDataLst>
              <p:tags r:id="rId5"/>
            </p:custDataLst>
          </p:nvPr>
        </p:nvSpPr>
        <p:spPr bwMode="gray">
          <a:xfrm>
            <a:off x="1763688" y="4316458"/>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三</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sp>
        <p:nvSpPr>
          <p:cNvPr id="12" name="Rectangle 3"/>
          <p:cNvSpPr txBox="1">
            <a:spLocks noChangeArrowheads="1"/>
          </p:cNvSpPr>
          <p:nvPr/>
        </p:nvSpPr>
        <p:spPr bwMode="auto">
          <a:xfrm>
            <a:off x="1470900" y="601503"/>
            <a:ext cx="5986930" cy="792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0" indent="0" algn="ctr" defTabSz="0" rtl="0" eaLnBrk="0" fontAlgn="base" hangingPunct="0">
              <a:spcBef>
                <a:spcPct val="20000"/>
              </a:spcBef>
              <a:spcAft>
                <a:spcPct val="0"/>
              </a:spcAft>
              <a:buNone/>
              <a:defRPr sz="2400" b="1" kern="1200">
                <a:solidFill>
                  <a:srgbClr val="CC0000"/>
                </a:solidFill>
                <a:latin typeface="+mn-lt"/>
                <a:ea typeface="+mn-ea"/>
                <a:cs typeface="+mn-cs"/>
                <a:sym typeface="Arial" panose="020B0604020202020204" pitchFamily="34" charset="0"/>
              </a:defRPr>
            </a:lvl1pPr>
            <a:lvl2pPr marL="457200" indent="0" algn="ctr" defTabSz="0" rtl="0" eaLnBrk="0" fontAlgn="base" hangingPunct="0">
              <a:spcBef>
                <a:spcPct val="20000"/>
              </a:spcBef>
              <a:spcAft>
                <a:spcPct val="0"/>
              </a:spcAft>
              <a:buNone/>
              <a:defRPr sz="2000" b="1" kern="1200">
                <a:solidFill>
                  <a:schemeClr val="tx1"/>
                </a:solidFill>
                <a:latin typeface="+mn-lt"/>
                <a:ea typeface="+mn-ea"/>
                <a:cs typeface="+mn-cs"/>
                <a:sym typeface="Arial" panose="020B0604020202020204" pitchFamily="34" charset="0"/>
              </a:defRPr>
            </a:lvl2pPr>
            <a:lvl3pPr marL="914400" indent="0" algn="ctr" defTabSz="0" rtl="0" eaLnBrk="0" fontAlgn="base" hangingPunct="0">
              <a:spcBef>
                <a:spcPct val="20000"/>
              </a:spcBef>
              <a:spcAft>
                <a:spcPct val="0"/>
              </a:spcAft>
              <a:buNone/>
              <a:defRPr sz="1800" b="1" kern="1200">
                <a:solidFill>
                  <a:schemeClr val="tx1"/>
                </a:solidFill>
                <a:latin typeface="+mn-lt"/>
                <a:ea typeface="+mn-ea"/>
                <a:cs typeface="+mn-cs"/>
                <a:sym typeface="Arial" panose="020B0604020202020204" pitchFamily="34" charset="0"/>
              </a:defRPr>
            </a:lvl3pPr>
            <a:lvl4pPr marL="1371600" indent="0" algn="ctr" defTabSz="0" rtl="0" eaLnBrk="0" fontAlgn="base" hangingPunct="0">
              <a:spcBef>
                <a:spcPct val="20000"/>
              </a:spcBef>
              <a:spcAft>
                <a:spcPct val="0"/>
              </a:spcAft>
              <a:buNone/>
              <a:defRPr sz="1600" b="1" kern="1200">
                <a:solidFill>
                  <a:schemeClr val="tx1"/>
                </a:solidFill>
                <a:latin typeface="+mn-lt"/>
                <a:ea typeface="+mn-ea"/>
                <a:cs typeface="+mn-cs"/>
                <a:sym typeface="Arial" panose="020B0604020202020204" pitchFamily="34" charset="0"/>
              </a:defRPr>
            </a:lvl4pPr>
            <a:lvl5pPr marL="1828800" indent="0" algn="ctr" defTabSz="0" rtl="0" eaLnBrk="0" fontAlgn="base" hangingPunct="0">
              <a:spcBef>
                <a:spcPct val="20000"/>
              </a:spcBef>
              <a:spcAft>
                <a:spcPct val="0"/>
              </a:spcAft>
              <a:buNone/>
              <a:defRPr sz="1600" b="1" kern="1200">
                <a:solidFill>
                  <a:schemeClr val="tx1"/>
                </a:solidFill>
                <a:latin typeface="+mn-lt"/>
                <a:ea typeface="+mn-ea"/>
                <a:cs typeface="+mn-cs"/>
                <a:sym typeface="Arial" panose="020B060402020202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spcBef>
                <a:spcPct val="0"/>
              </a:spcBef>
              <a:buFontTx/>
            </a:pPr>
            <a:r>
              <a:rPr lang="zh-CN" altLang="en-US" sz="3600" dirty="0">
                <a:solidFill>
                  <a:schemeClr val="tx1"/>
                </a:solidFill>
                <a:latin typeface="微软雅黑" panose="020B0503020204020204" pitchFamily="34" charset="-122"/>
                <a:ea typeface="微软雅黑" panose="020B0503020204020204" pitchFamily="34" charset="-122"/>
                <a:cs typeface="+mj-cs"/>
              </a:rPr>
              <a:t>第四节</a:t>
            </a:r>
            <a:r>
              <a:rPr lang="en-US" altLang="zh-CN" sz="3600" dirty="0">
                <a:solidFill>
                  <a:schemeClr val="tx1"/>
                </a:solidFill>
                <a:latin typeface="微软雅黑" panose="020B0503020204020204" pitchFamily="34" charset="-122"/>
                <a:ea typeface="微软雅黑" panose="020B0503020204020204" pitchFamily="34" charset="-122"/>
                <a:cs typeface="+mj-cs"/>
              </a:rPr>
              <a:t>	 </a:t>
            </a:r>
            <a:r>
              <a:rPr lang="zh-CN" altLang="en-US" sz="3600" dirty="0">
                <a:solidFill>
                  <a:schemeClr val="tx1"/>
                </a:solidFill>
                <a:latin typeface="微软雅黑" panose="020B0503020204020204" pitchFamily="34" charset="-122"/>
                <a:ea typeface="微软雅黑" panose="020B0503020204020204" pitchFamily="34" charset="-122"/>
                <a:cs typeface="+mj-cs"/>
              </a:rPr>
              <a:t>博弈论和策略行为</a:t>
            </a:r>
            <a:endParaRPr lang="zh-CN" altLang="en-US" sz="2800" dirty="0"/>
          </a:p>
        </p:txBody>
      </p:sp>
      <p:sp>
        <p:nvSpPr>
          <p:cNvPr id="13" name="文本框 12"/>
          <p:cNvSpPr txBox="1"/>
          <p:nvPr/>
        </p:nvSpPr>
        <p:spPr>
          <a:xfrm>
            <a:off x="3753273" y="2441918"/>
            <a:ext cx="1422184" cy="461665"/>
          </a:xfrm>
          <a:prstGeom prst="rect">
            <a:avLst/>
          </a:prstGeom>
          <a:noFill/>
        </p:spPr>
        <p:txBody>
          <a:bodyPr wrap="none" rtlCol="0">
            <a:spAutoFit/>
          </a:bodyPr>
          <a:lstStyle/>
          <a:p>
            <a:pPr marL="0" lvl="1"/>
            <a:r>
              <a:rPr lang="zh-CN" altLang="en-US" sz="2400" b="0" dirty="0">
                <a:latin typeface="微软雅黑" panose="020B0503020204020204" pitchFamily="34" charset="-122"/>
                <a:ea typeface="微软雅黑" panose="020B0503020204020204" pitchFamily="34" charset="-122"/>
              </a:rPr>
              <a:t>博弈模型</a:t>
            </a:r>
            <a:endParaRPr lang="en-US" altLang="zh-CN" sz="2400" b="0" dirty="0">
              <a:latin typeface="微软雅黑" panose="020B0503020204020204" pitchFamily="34" charset="-122"/>
              <a:ea typeface="微软雅黑" panose="020B0503020204020204" pitchFamily="34" charset="-122"/>
            </a:endParaRPr>
          </a:p>
        </p:txBody>
      </p:sp>
      <p:sp>
        <p:nvSpPr>
          <p:cNvPr id="14" name="文本框 13"/>
          <p:cNvSpPr txBox="1"/>
          <p:nvPr/>
        </p:nvSpPr>
        <p:spPr>
          <a:xfrm>
            <a:off x="3753273" y="3379187"/>
            <a:ext cx="1415772" cy="461665"/>
          </a:xfrm>
          <a:prstGeom prst="rect">
            <a:avLst/>
          </a:prstGeom>
          <a:noFill/>
        </p:spPr>
        <p:txBody>
          <a:bodyPr wrap="none" rtlCol="0">
            <a:spAutoFit/>
          </a:bodyPr>
          <a:lstStyle/>
          <a:p>
            <a:pPr marL="0" lvl="1"/>
            <a:r>
              <a:rPr lang="zh-CN" altLang="en-US" sz="2400" b="0" dirty="0">
                <a:latin typeface="微软雅黑" panose="020B0503020204020204" pitchFamily="34" charset="-122"/>
                <a:ea typeface="微软雅黑" panose="020B0503020204020204" pitchFamily="34" charset="-122"/>
              </a:rPr>
              <a:t>纳什均衡</a:t>
            </a:r>
            <a:endParaRPr lang="en-US" altLang="zh-CN" sz="2400" b="0" dirty="0">
              <a:latin typeface="微软雅黑" panose="020B0503020204020204" pitchFamily="34" charset="-122"/>
              <a:ea typeface="微软雅黑" panose="020B0503020204020204" pitchFamily="34" charset="-122"/>
            </a:endParaRPr>
          </a:p>
        </p:txBody>
      </p:sp>
      <p:sp>
        <p:nvSpPr>
          <p:cNvPr id="16" name="文本框 15"/>
          <p:cNvSpPr txBox="1"/>
          <p:nvPr/>
        </p:nvSpPr>
        <p:spPr>
          <a:xfrm>
            <a:off x="3754846" y="4263425"/>
            <a:ext cx="2954655" cy="461665"/>
          </a:xfrm>
          <a:prstGeom prst="rect">
            <a:avLst/>
          </a:prstGeom>
          <a:noFill/>
        </p:spPr>
        <p:txBody>
          <a:bodyPr wrap="none" rtlCol="0">
            <a:spAutoFit/>
          </a:bodyPr>
          <a:lstStyle/>
          <a:p>
            <a:pPr marL="0" lvl="1"/>
            <a:r>
              <a:rPr lang="zh-CN" altLang="en-US" sz="2400" b="0" dirty="0">
                <a:latin typeface="微软雅黑" panose="020B0503020204020204" pitchFamily="34" charset="-122"/>
                <a:ea typeface="微软雅黑" panose="020B0503020204020204" pitchFamily="34" charset="-122"/>
              </a:rPr>
              <a:t>博弈分析的简单应用</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with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 calcmode="lin" valueType="num">
                                      <p:cBhvr>
                                        <p:cTn id="7" dur="500" fill="hold"/>
                                        <p:tgtEl>
                                          <p:spTgt spid="12">
                                            <p:txEl>
                                              <p:pRg st="0" end="0"/>
                                            </p:txEl>
                                          </p:spTgt>
                                        </p:tgtEl>
                                        <p:attrNameLst>
                                          <p:attrName>ppt_x</p:attrName>
                                        </p:attrNameLst>
                                      </p:cBhvr>
                                      <p:tavLst>
                                        <p:tav tm="0">
                                          <p:val>
                                            <p:strVal val="0-#ppt_w/2"/>
                                          </p:val>
                                        </p:tav>
                                        <p:tav tm="100000">
                                          <p:val>
                                            <p:strVal val="#ppt_x"/>
                                          </p:val>
                                        </p:tav>
                                      </p:tavLst>
                                    </p:anim>
                                    <p:anim calcmode="lin" valueType="num">
                                      <p:cBhvr>
                                        <p:cTn id="8" dur="500" fill="hold"/>
                                        <p:tgtEl>
                                          <p:spTgt spid="12">
                                            <p:txEl>
                                              <p:pRg st="0" end="0"/>
                                            </p:txEl>
                                          </p:spTgt>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500"/>
                                        <p:tgtEl>
                                          <p:spTgt spid="3"/>
                                        </p:tgtEl>
                                      </p:cBhvr>
                                    </p:animEffect>
                                  </p:childTnLst>
                                </p:cTn>
                              </p:par>
                              <p:par>
                                <p:cTn id="12" presetID="22" presetClass="entr" presetSubtype="4" fill="hold" grpId="0"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wipe(down)">
                                      <p:cBhvr>
                                        <p:cTn id="14" dur="500"/>
                                        <p:tgtEl>
                                          <p:spTgt spid="13"/>
                                        </p:tgtEl>
                                      </p:cBhvr>
                                    </p:animEffect>
                                  </p:childTnLst>
                                </p:cTn>
                              </p:par>
                            </p:childTnLst>
                          </p:cTn>
                        </p:par>
                        <p:par>
                          <p:cTn id="15" fill="hold">
                            <p:stCondLst>
                              <p:cond delay="500"/>
                            </p:stCondLst>
                            <p:childTnLst>
                              <p:par>
                                <p:cTn id="16" presetID="22" presetClass="entr" presetSubtype="1" fill="hold" nodeType="after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wipe(up)">
                                      <p:cBhvr>
                                        <p:cTn id="18" dur="500"/>
                                        <p:tgtEl>
                                          <p:spTgt spid="4"/>
                                        </p:tgtEl>
                                      </p:cBhvr>
                                    </p:animEffect>
                                  </p:childTnLst>
                                </p:cTn>
                              </p:par>
                              <p:par>
                                <p:cTn id="19" presetID="22" presetClass="entr" presetSubtype="1"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wipe(up)">
                                      <p:cBhvr>
                                        <p:cTn id="21" dur="500"/>
                                        <p:tgtEl>
                                          <p:spTgt spid="5"/>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wipe(down)">
                                      <p:cBhvr>
                                        <p:cTn id="24" dur="500"/>
                                        <p:tgtEl>
                                          <p:spTgt spid="14"/>
                                        </p:tgtEl>
                                      </p:cBhvr>
                                    </p:animEffect>
                                  </p:childTnLst>
                                </p:cTn>
                              </p:par>
                            </p:childTnLst>
                          </p:cTn>
                        </p:par>
                        <p:par>
                          <p:cTn id="25" fill="hold">
                            <p:stCondLst>
                              <p:cond delay="1000"/>
                            </p:stCondLst>
                            <p:childTnLst>
                              <p:par>
                                <p:cTn id="26" presetID="22" presetClass="entr" presetSubtype="1" fill="hold" nodeType="after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wipe(up)">
                                      <p:cBhvr>
                                        <p:cTn id="28" dur="500"/>
                                        <p:tgtEl>
                                          <p:spTgt spid="6"/>
                                        </p:tgtEl>
                                      </p:cBhvr>
                                    </p:animEffect>
                                  </p:childTnLst>
                                </p:cTn>
                              </p:par>
                              <p:par>
                                <p:cTn id="29" presetID="22" presetClass="entr" presetSubtype="1"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wipe(up)">
                                      <p:cBhvr>
                                        <p:cTn id="31" dur="500"/>
                                        <p:tgtEl>
                                          <p:spTgt spid="7"/>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wipe(down)">
                                      <p:cBhvr>
                                        <p:cTn id="34"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7" grpId="0" animBg="1"/>
      <p:bldP spid="13" grpId="0"/>
      <p:bldP spid="14" grpId="0"/>
      <p:bldP spid="16"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3"/>
          <p:cNvSpPr>
            <a:spLocks noGrp="1" noChangeArrowheads="1"/>
          </p:cNvSpPr>
          <p:nvPr>
            <p:ph type="body" idx="4294967295"/>
          </p:nvPr>
        </p:nvSpPr>
        <p:spPr>
          <a:xfrm>
            <a:off x="323705" y="1163305"/>
            <a:ext cx="8640599" cy="4680325"/>
          </a:xfrm>
          <a:ln/>
        </p:spPr>
        <p:txBody>
          <a:bodyPr/>
          <a:lstStyle/>
          <a:p>
            <a:pPr marL="457200" lvl="2" indent="-457200" eaLnBrk="1" hangingPunct="1">
              <a:lnSpc>
                <a:spcPct val="150000"/>
              </a:lnSpc>
              <a:buSzPct val="100000"/>
              <a:buFont typeface="Wingdings" panose="05000000000000000000" pitchFamily="2" charset="2"/>
              <a:buChar char="u"/>
            </a:pPr>
            <a:r>
              <a:rPr lang="zh-CN" altLang="en-US" sz="2200" b="0" dirty="0">
                <a:latin typeface="微软雅黑" panose="020B0503020204020204" pitchFamily="34" charset="-122"/>
                <a:ea typeface="微软雅黑" panose="020B0503020204020204" pitchFamily="34" charset="-122"/>
              </a:rPr>
              <a:t>博弈</a:t>
            </a:r>
            <a:endParaRPr lang="en-US" altLang="zh-CN" sz="2200" b="0" dirty="0">
              <a:latin typeface="微软雅黑" panose="020B0503020204020204" pitchFamily="34" charset="-122"/>
              <a:ea typeface="微软雅黑" panose="020B0503020204020204" pitchFamily="34" charset="-122"/>
            </a:endParaRPr>
          </a:p>
          <a:p>
            <a:pPr marL="800100" lvl="1" indent="-342900">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rPr>
              <a:t>任何涉及到两个或以上的决策者行为相互影响、需要考虑对方决策对自己的影响、需要考虑对方对自己决策反应的活动都可以叫做一个博弈，或者赛局。</a:t>
            </a:r>
            <a:endParaRPr lang="en-US" altLang="zh-CN" sz="2000" b="0" dirty="0">
              <a:latin typeface="微软雅黑" panose="020B0503020204020204" pitchFamily="34" charset="-122"/>
              <a:ea typeface="微软雅黑" panose="020B0503020204020204" pitchFamily="34" charset="-122"/>
            </a:endParaRPr>
          </a:p>
          <a:p>
            <a:pPr marL="457200" lvl="2" indent="-457200" eaLnBrk="1" hangingPunct="1">
              <a:lnSpc>
                <a:spcPct val="200000"/>
              </a:lnSpc>
              <a:buSzPct val="100000"/>
              <a:buFont typeface="Wingdings" panose="05000000000000000000" pitchFamily="2" charset="2"/>
              <a:buChar char="u"/>
            </a:pPr>
            <a:r>
              <a:rPr lang="zh-CN" altLang="en-US" sz="2200" b="0" dirty="0">
                <a:latin typeface="微软雅黑" panose="020B0503020204020204" pitchFamily="34" charset="-122"/>
                <a:ea typeface="微软雅黑" panose="020B0503020204020204" pitchFamily="34" charset="-122"/>
              </a:rPr>
              <a:t>博弈分析的三要素</a:t>
            </a:r>
            <a:endParaRPr lang="en-US" altLang="zh-CN" sz="2200" b="0" dirty="0">
              <a:latin typeface="微软雅黑" panose="020B0503020204020204" pitchFamily="34" charset="-122"/>
              <a:ea typeface="微软雅黑" panose="020B0503020204020204" pitchFamily="34" charset="-122"/>
            </a:endParaRPr>
          </a:p>
          <a:p>
            <a:pPr marL="800100" lvl="1" indent="-342900">
              <a:lnSpc>
                <a:spcPct val="150000"/>
              </a:lnSpc>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rPr>
              <a:t>参与人：两个或以上相互影响的独立决策者</a:t>
            </a:r>
            <a:endParaRPr lang="en-US" altLang="zh-CN" sz="2000" b="0" dirty="0">
              <a:latin typeface="微软雅黑" panose="020B0503020204020204" pitchFamily="34" charset="-122"/>
              <a:ea typeface="微软雅黑" panose="020B0503020204020204" pitchFamily="34" charset="-122"/>
            </a:endParaRPr>
          </a:p>
          <a:p>
            <a:pPr marL="800100" lvl="1" indent="-342900">
              <a:lnSpc>
                <a:spcPct val="150000"/>
              </a:lnSpc>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rPr>
              <a:t>策略：参与人采取的行动（同时博弈），或行动方案（序贯博弈）</a:t>
            </a:r>
            <a:endParaRPr lang="en-US" altLang="zh-CN" sz="2000" b="0" dirty="0">
              <a:latin typeface="微软雅黑" panose="020B0503020204020204" pitchFamily="34" charset="-122"/>
              <a:ea typeface="微软雅黑" panose="020B0503020204020204" pitchFamily="34" charset="-122"/>
            </a:endParaRPr>
          </a:p>
          <a:p>
            <a:pPr marL="800100" lvl="1" indent="-342900">
              <a:lnSpc>
                <a:spcPct val="150000"/>
              </a:lnSpc>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rPr>
              <a:t>收益（结局）：参与人都采取行动或者执行了行动方案后各自获得的结果，这个结果用“收益”值测度，如效用或利润。</a:t>
            </a:r>
          </a:p>
        </p:txBody>
      </p:sp>
      <p:sp>
        <p:nvSpPr>
          <p:cNvPr id="4" name="矩形 3"/>
          <p:cNvSpPr/>
          <p:nvPr/>
        </p:nvSpPr>
        <p:spPr>
          <a:xfrm>
            <a:off x="6228115" y="44765"/>
            <a:ext cx="2915885" cy="369332"/>
          </a:xfrm>
          <a:prstGeom prst="rect">
            <a:avLst/>
          </a:prstGeom>
        </p:spPr>
        <p:txBody>
          <a:bodyPr wrap="square">
            <a:spAutoFit/>
          </a:bodyPr>
          <a:lstStyle/>
          <a:p>
            <a:r>
              <a:rPr lang="zh-CN" altLang="en-US" sz="1800" b="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第四节  博弈论和策略行为</a:t>
            </a:r>
            <a:endParaRPr lang="zh-CN" altLang="en-US" sz="18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 name="矩形 4">
            <a:extLst>
              <a:ext uri="{FF2B5EF4-FFF2-40B4-BE49-F238E27FC236}">
                <a16:creationId xmlns:a16="http://schemas.microsoft.com/office/drawing/2014/main" id="{F68E5273-CD77-47B9-B841-9D29349C133D}"/>
              </a:ext>
            </a:extLst>
          </p:cNvPr>
          <p:cNvSpPr/>
          <p:nvPr/>
        </p:nvSpPr>
        <p:spPr>
          <a:xfrm>
            <a:off x="457201" y="548681"/>
            <a:ext cx="2386679"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marL="0" lvl="1">
              <a:defRPr/>
            </a:pPr>
            <a:r>
              <a:rPr lang="zh-CN" altLang="en-US" sz="2400" spc="150" dirty="0">
                <a:solidFill>
                  <a:srgbClr val="FFFFFF"/>
                </a:solidFill>
                <a:latin typeface="微软雅黑" panose="020B0503020204020204" pitchFamily="34" charset="-122"/>
                <a:ea typeface="微软雅黑" panose="020B0503020204020204" pitchFamily="34" charset="-122"/>
              </a:rPr>
              <a:t>一</a:t>
            </a:r>
            <a:r>
              <a:rPr lang="zh-CN" altLang="en-US" sz="2400" b="1" spc="150" dirty="0">
                <a:solidFill>
                  <a:srgbClr val="FFFFFF"/>
                </a:solidFill>
                <a:latin typeface="微软雅黑" panose="020B0503020204020204" pitchFamily="34" charset="-122"/>
                <a:ea typeface="微软雅黑" panose="020B0503020204020204" pitchFamily="34" charset="-122"/>
              </a:rPr>
              <a:t>、</a:t>
            </a:r>
            <a:r>
              <a:rPr lang="zh-CN" altLang="en-US" sz="2400" spc="150" dirty="0">
                <a:solidFill>
                  <a:srgbClr val="FFFFFF"/>
                </a:solidFill>
                <a:latin typeface="微软雅黑" panose="020B0503020204020204" pitchFamily="34" charset="-122"/>
                <a:ea typeface="微软雅黑" panose="020B0503020204020204" pitchFamily="34" charset="-122"/>
              </a:rPr>
              <a:t>博弈模型</a:t>
            </a:r>
            <a:endParaRPr lang="en-US" altLang="zh-CN" sz="2400" spc="150" dirty="0">
              <a:solidFill>
                <a:srgbClr val="FFFFFF"/>
              </a:solidFill>
              <a:latin typeface="微软雅黑" panose="020B0503020204020204" pitchFamily="34" charset="-122"/>
              <a:ea typeface="微软雅黑" panose="020B0503020204020204" pitchFamily="34"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0178">
                                            <p:txEl>
                                              <p:pRg st="0" end="0"/>
                                            </p:txEl>
                                          </p:spTgt>
                                        </p:tgtEl>
                                        <p:attrNameLst>
                                          <p:attrName>style.visibility</p:attrName>
                                        </p:attrNameLst>
                                      </p:cBhvr>
                                      <p:to>
                                        <p:strVal val="visible"/>
                                      </p:to>
                                    </p:set>
                                    <p:animEffect>
                                      <p:cBhvr>
                                        <p:cTn id="7" dur="500"/>
                                        <p:tgtEl>
                                          <p:spTgt spid="5017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0178">
                                            <p:txEl>
                                              <p:pRg st="1" end="1"/>
                                            </p:txEl>
                                          </p:spTgt>
                                        </p:tgtEl>
                                        <p:attrNameLst>
                                          <p:attrName>style.visibility</p:attrName>
                                        </p:attrNameLst>
                                      </p:cBhvr>
                                      <p:to>
                                        <p:strVal val="visible"/>
                                      </p:to>
                                    </p:set>
                                    <p:animEffect>
                                      <p:cBhvr>
                                        <p:cTn id="12" dur="500"/>
                                        <p:tgtEl>
                                          <p:spTgt spid="5017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0178">
                                            <p:txEl>
                                              <p:pRg st="2" end="2"/>
                                            </p:txEl>
                                          </p:spTgt>
                                        </p:tgtEl>
                                        <p:attrNameLst>
                                          <p:attrName>style.visibility</p:attrName>
                                        </p:attrNameLst>
                                      </p:cBhvr>
                                      <p:to>
                                        <p:strVal val="visible"/>
                                      </p:to>
                                    </p:set>
                                    <p:animEffect>
                                      <p:cBhvr>
                                        <p:cTn id="17" dur="500"/>
                                        <p:tgtEl>
                                          <p:spTgt spid="5017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0178">
                                            <p:txEl>
                                              <p:pRg st="3" end="3"/>
                                            </p:txEl>
                                          </p:spTgt>
                                        </p:tgtEl>
                                        <p:attrNameLst>
                                          <p:attrName>style.visibility</p:attrName>
                                        </p:attrNameLst>
                                      </p:cBhvr>
                                      <p:to>
                                        <p:strVal val="visible"/>
                                      </p:to>
                                    </p:set>
                                    <p:animEffect>
                                      <p:cBhvr>
                                        <p:cTn id="22" dur="500"/>
                                        <p:tgtEl>
                                          <p:spTgt spid="5017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50178">
                                            <p:txEl>
                                              <p:pRg st="4" end="4"/>
                                            </p:txEl>
                                          </p:spTgt>
                                        </p:tgtEl>
                                        <p:attrNameLst>
                                          <p:attrName>style.visibility</p:attrName>
                                        </p:attrNameLst>
                                      </p:cBhvr>
                                      <p:to>
                                        <p:strVal val="visible"/>
                                      </p:to>
                                    </p:set>
                                    <p:animEffect>
                                      <p:cBhvr>
                                        <p:cTn id="27" dur="500"/>
                                        <p:tgtEl>
                                          <p:spTgt spid="5017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50178">
                                            <p:txEl>
                                              <p:pRg st="5" end="5"/>
                                            </p:txEl>
                                          </p:spTgt>
                                        </p:tgtEl>
                                        <p:attrNameLst>
                                          <p:attrName>style.visibility</p:attrName>
                                        </p:attrNameLst>
                                      </p:cBhvr>
                                      <p:to>
                                        <p:strVal val="visible"/>
                                      </p:to>
                                    </p:set>
                                    <p:animEffect>
                                      <p:cBhvr>
                                        <p:cTn id="32" dur="500"/>
                                        <p:tgtEl>
                                          <p:spTgt spid="5017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3"/>
          <p:cNvSpPr>
            <a:spLocks noGrp="1" noChangeArrowheads="1"/>
          </p:cNvSpPr>
          <p:nvPr>
            <p:ph type="body" idx="4294967295"/>
          </p:nvPr>
        </p:nvSpPr>
        <p:spPr>
          <a:xfrm>
            <a:off x="611725" y="1556870"/>
            <a:ext cx="8229600" cy="648045"/>
          </a:xfrm>
          <a:ln/>
        </p:spPr>
        <p:txBody>
          <a:bodyPr/>
          <a:lstStyle/>
          <a:p>
            <a:pPr marL="457200" lvl="2" indent="-457200" eaLnBrk="1" hangingPunct="1">
              <a:lnSpc>
                <a:spcPct val="150000"/>
              </a:lnSpc>
              <a:buSzPct val="100000"/>
              <a:buFont typeface="Wingdings" panose="05000000000000000000" pitchFamily="2" charset="2"/>
              <a:buChar char="u"/>
            </a:pPr>
            <a:r>
              <a:rPr lang="zh-CN" altLang="en-US" sz="2200" b="0" dirty="0">
                <a:latin typeface="微软雅黑" panose="020B0503020204020204" pitchFamily="34" charset="-122"/>
                <a:ea typeface="微软雅黑" panose="020B0503020204020204" pitchFamily="34" charset="-122"/>
              </a:rPr>
              <a:t>收益矩阵：博弈分析的工具之一</a:t>
            </a:r>
          </a:p>
        </p:txBody>
      </p:sp>
      <p:graphicFrame>
        <p:nvGraphicFramePr>
          <p:cNvPr id="4" name="Group 3"/>
          <p:cNvGraphicFramePr>
            <a:graphicFrameLocks noGrp="1"/>
          </p:cNvGraphicFramePr>
          <p:nvPr>
            <p:extLst>
              <p:ext uri="{D42A27DB-BD31-4B8C-83A1-F6EECF244321}">
                <p14:modId xmlns:p14="http://schemas.microsoft.com/office/powerpoint/2010/main" val="1866609679"/>
              </p:ext>
            </p:extLst>
          </p:nvPr>
        </p:nvGraphicFramePr>
        <p:xfrm>
          <a:off x="2555860" y="2924965"/>
          <a:ext cx="4810125" cy="1177926"/>
        </p:xfrm>
        <a:graphic>
          <a:graphicData uri="http://schemas.openxmlformats.org/drawingml/2006/table">
            <a:tbl>
              <a:tblPr/>
              <a:tblGrid>
                <a:gridCol w="1603375">
                  <a:extLst>
                    <a:ext uri="{9D8B030D-6E8A-4147-A177-3AD203B41FA5}">
                      <a16:colId xmlns:a16="http://schemas.microsoft.com/office/drawing/2014/main" val="1564457277"/>
                    </a:ext>
                  </a:extLst>
                </a:gridCol>
                <a:gridCol w="1603375">
                  <a:extLst>
                    <a:ext uri="{9D8B030D-6E8A-4147-A177-3AD203B41FA5}">
                      <a16:colId xmlns:a16="http://schemas.microsoft.com/office/drawing/2014/main" val="4030753813"/>
                    </a:ext>
                  </a:extLst>
                </a:gridCol>
                <a:gridCol w="1603375">
                  <a:extLst>
                    <a:ext uri="{9D8B030D-6E8A-4147-A177-3AD203B41FA5}">
                      <a16:colId xmlns:a16="http://schemas.microsoft.com/office/drawing/2014/main" val="2441797346"/>
                    </a:ext>
                  </a:extLst>
                </a:gridCol>
              </a:tblGrid>
              <a:tr h="382588">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dirty="0">
                          <a:ln>
                            <a:noFill/>
                          </a:ln>
                          <a:solidFill>
                            <a:srgbClr val="FFFFFF"/>
                          </a:solidFill>
                          <a:effectLst/>
                          <a:latin typeface="微软雅黑" panose="020B0503020204020204" pitchFamily="34" charset="-122"/>
                          <a:ea typeface="微软雅黑" panose="020B0503020204020204" pitchFamily="34" charset="-122"/>
                          <a:sym typeface="Arial" panose="020B0604020202020204" pitchFamily="34" charset="0"/>
                        </a:rPr>
                        <a:t>收益</a:t>
                      </a:r>
                      <a:endParaRPr kumimoji="0" lang="zh-CN" altLang="en-US" sz="2800" b="1" i="0" u="none" strike="noStrike" cap="none" normalizeH="0" baseline="0" dirty="0">
                        <a:ln>
                          <a:noFill/>
                        </a:ln>
                        <a:solidFill>
                          <a:srgbClr val="CC0000"/>
                        </a:solidFill>
                        <a:effectLst/>
                        <a:latin typeface="微软雅黑" panose="020B0503020204020204" pitchFamily="34" charset="-122"/>
                        <a:ea typeface="微软雅黑" panose="020B0503020204020204" pitchFamily="34" charset="-122"/>
                        <a:sym typeface="Arial" panose="020B0604020202020204" pitchFamily="34" charset="0"/>
                      </a:endParaRPr>
                    </a:p>
                  </a:txBody>
                  <a:tcPr marT="45733" marB="4573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3C97F"/>
                    </a:solidFill>
                  </a:tcPr>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0"/>
                        </a:spcBef>
                        <a:spcAft>
                          <a:spcPct val="0"/>
                        </a:spcAft>
                        <a:buClrTx/>
                        <a:buSzTx/>
                        <a:buFontTx/>
                        <a:buNone/>
                        <a:tabLst/>
                      </a:pPr>
                      <a:r>
                        <a:rPr kumimoji="0" lang="zh-CN" altLang="zh-CN" sz="1800" b="1" i="0" u="none" strike="noStrike" kern="1200" cap="none" normalizeH="0" baseline="0" dirty="0">
                          <a:ln>
                            <a:noFill/>
                          </a:ln>
                          <a:solidFill>
                            <a:srgbClr val="FFFFFF"/>
                          </a:solidFill>
                          <a:effectLst/>
                          <a:latin typeface="微软雅黑" panose="020B0503020204020204" pitchFamily="34" charset="-122"/>
                          <a:ea typeface="微软雅黑" panose="020B0503020204020204" pitchFamily="34" charset="-122"/>
                          <a:cs typeface="+mn-cs"/>
                          <a:sym typeface="Arial" panose="020B0604020202020204" pitchFamily="34" charset="0"/>
                        </a:rPr>
                        <a:t>合作</a:t>
                      </a:r>
                    </a:p>
                  </a:txBody>
                  <a:tcPr marT="45733" marB="4573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3C97F"/>
                    </a:solidFill>
                  </a:tcPr>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0"/>
                        </a:spcBef>
                        <a:spcAft>
                          <a:spcPct val="0"/>
                        </a:spcAft>
                        <a:buClrTx/>
                        <a:buSzTx/>
                        <a:buFontTx/>
                        <a:buNone/>
                        <a:tabLst/>
                      </a:pPr>
                      <a:r>
                        <a:rPr kumimoji="0" lang="zh-CN" altLang="zh-CN" sz="1800" b="1" i="0" u="none" strike="noStrike" kern="1200" cap="none" normalizeH="0" baseline="0" dirty="0">
                          <a:ln>
                            <a:noFill/>
                          </a:ln>
                          <a:solidFill>
                            <a:srgbClr val="FFFFFF"/>
                          </a:solidFill>
                          <a:effectLst/>
                          <a:latin typeface="微软雅黑" panose="020B0503020204020204" pitchFamily="34" charset="-122"/>
                          <a:ea typeface="微软雅黑" panose="020B0503020204020204" pitchFamily="34" charset="-122"/>
                          <a:cs typeface="+mn-cs"/>
                          <a:sym typeface="Arial" panose="020B0604020202020204" pitchFamily="34" charset="0"/>
                        </a:rPr>
                        <a:t>不合作</a:t>
                      </a:r>
                    </a:p>
                  </a:txBody>
                  <a:tcPr marT="45733" marB="4573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3C97F"/>
                    </a:solidFill>
                  </a:tcPr>
                </a:tc>
                <a:extLst>
                  <a:ext uri="{0D108BD9-81ED-4DB2-BD59-A6C34878D82A}">
                    <a16:rowId xmlns:a16="http://schemas.microsoft.com/office/drawing/2014/main" val="1227976601"/>
                  </a:ext>
                </a:extLst>
              </a:tr>
              <a:tr h="396875">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sym typeface="Arial" panose="020B0604020202020204" pitchFamily="34" charset="0"/>
                        </a:rPr>
                        <a:t>合作</a:t>
                      </a:r>
                      <a:endParaRPr kumimoji="0" lang="zh-CN" altLang="zh-CN" sz="2800" b="1" i="0" u="none" strike="noStrike" cap="none" normalizeH="0" baseline="0" dirty="0">
                        <a:ln>
                          <a:noFill/>
                        </a:ln>
                        <a:solidFill>
                          <a:srgbClr val="CC0000"/>
                        </a:solidFill>
                        <a:effectLst/>
                        <a:latin typeface="微软雅黑" panose="020B0503020204020204" pitchFamily="34" charset="-122"/>
                        <a:ea typeface="微软雅黑" panose="020B0503020204020204" pitchFamily="34" charset="-122"/>
                        <a:sym typeface="Arial" panose="020B0604020202020204" pitchFamily="34" charset="0"/>
                      </a:endParaRPr>
                    </a:p>
                  </a:txBody>
                  <a:tcPr marT="45733" marB="4573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DCDDA"/>
                    </a:solidFill>
                  </a:tcPr>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0"/>
                        </a:spcBef>
                        <a:spcAft>
                          <a:spcPct val="0"/>
                        </a:spcAft>
                        <a:buClrTx/>
                        <a:buSzTx/>
                        <a:buFontTx/>
                        <a:buNone/>
                        <a:tabLst/>
                      </a:pPr>
                      <a:r>
                        <a:rPr kumimoji="0" lang="en-US" altLang="zh-CN" sz="1800" b="0" i="0" u="sng" strike="noStrike" cap="none" normalizeH="0" baseline="0" dirty="0">
                          <a:ln>
                            <a:noFill/>
                          </a:ln>
                          <a:solidFill>
                            <a:srgbClr val="000000"/>
                          </a:solidFill>
                          <a:effectLst/>
                          <a:latin typeface="Arial" panose="020B0604020202020204" pitchFamily="34" charset="0"/>
                          <a:ea typeface="宋体" panose="02010600030101010101" pitchFamily="2" charset="-122"/>
                          <a:sym typeface="Arial" panose="020B0604020202020204" pitchFamily="34" charset="0"/>
                        </a:rPr>
                        <a:t>7</a:t>
                      </a:r>
                      <a:r>
                        <a:rPr kumimoji="0" lang="zh-CN" altLang="en-US" sz="1800" b="0" i="0" u="none" strike="noStrike" cap="none" normalizeH="0" baseline="0" dirty="0">
                          <a:ln>
                            <a:noFill/>
                          </a:ln>
                          <a:solidFill>
                            <a:srgbClr val="000000"/>
                          </a:solidFill>
                          <a:effectLst/>
                          <a:latin typeface="Arial" panose="020B0604020202020204" pitchFamily="34" charset="0"/>
                          <a:ea typeface="宋体" panose="02010600030101010101" pitchFamily="2" charset="-122"/>
                          <a:sym typeface="Arial" panose="020B0604020202020204" pitchFamily="34" charset="0"/>
                        </a:rPr>
                        <a:t>，</a:t>
                      </a:r>
                      <a:r>
                        <a:rPr kumimoji="0" lang="en-US" altLang="zh-CN" sz="1800" b="0" i="0" u="sng" strike="noStrike" cap="none" normalizeH="0" baseline="0" dirty="0">
                          <a:ln>
                            <a:noFill/>
                          </a:ln>
                          <a:solidFill>
                            <a:srgbClr val="000000"/>
                          </a:solidFill>
                          <a:effectLst/>
                          <a:latin typeface="Arial" panose="020B0604020202020204" pitchFamily="34" charset="0"/>
                          <a:ea typeface="宋体" panose="02010600030101010101" pitchFamily="2" charset="-122"/>
                          <a:sym typeface="Arial" panose="020B0604020202020204" pitchFamily="34" charset="0"/>
                        </a:rPr>
                        <a:t>8</a:t>
                      </a:r>
                      <a:endParaRPr kumimoji="0" lang="zh-CN" altLang="en-US" sz="2800" b="1" i="0" u="none" strike="noStrike" cap="none" normalizeH="0" baseline="0" dirty="0">
                        <a:ln>
                          <a:noFill/>
                        </a:ln>
                        <a:solidFill>
                          <a:srgbClr val="CC0000"/>
                        </a:solidFill>
                        <a:effectLst/>
                        <a:latin typeface="Arial" panose="020B0604020202020204" pitchFamily="34" charset="0"/>
                        <a:ea typeface="宋体" panose="02010600030101010101" pitchFamily="2" charset="-122"/>
                        <a:sym typeface="Arial" panose="020B0604020202020204" pitchFamily="34" charset="0"/>
                      </a:endParaRPr>
                    </a:p>
                  </a:txBody>
                  <a:tcPr marT="45733" marB="4573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DCDDA"/>
                    </a:solidFill>
                  </a:tcPr>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rgbClr val="000000"/>
                          </a:solidFill>
                          <a:effectLst/>
                          <a:latin typeface="Arial" panose="020B0604020202020204" pitchFamily="34" charset="0"/>
                          <a:ea typeface="宋体" panose="02010600030101010101" pitchFamily="2" charset="-122"/>
                          <a:sym typeface="Arial" panose="020B0604020202020204" pitchFamily="34" charset="0"/>
                        </a:rPr>
                        <a:t>1</a:t>
                      </a:r>
                      <a:r>
                        <a:rPr kumimoji="0" lang="zh-CN" altLang="en-US" sz="1800" b="0" i="0" u="none" strike="noStrike" cap="none" normalizeH="0" baseline="0" dirty="0">
                          <a:ln>
                            <a:noFill/>
                          </a:ln>
                          <a:solidFill>
                            <a:srgbClr val="000000"/>
                          </a:solidFill>
                          <a:effectLst/>
                          <a:latin typeface="Arial" panose="020B0604020202020204" pitchFamily="34" charset="0"/>
                          <a:ea typeface="宋体" panose="02010600030101010101" pitchFamily="2" charset="-122"/>
                          <a:sym typeface="Arial" panose="020B0604020202020204" pitchFamily="34" charset="0"/>
                        </a:rPr>
                        <a:t>，</a:t>
                      </a:r>
                      <a:r>
                        <a:rPr kumimoji="0" lang="en-US" altLang="zh-CN" sz="1800" b="0" i="0" u="none" strike="noStrike" cap="none" normalizeH="0" baseline="0" dirty="0">
                          <a:ln>
                            <a:noFill/>
                          </a:ln>
                          <a:solidFill>
                            <a:srgbClr val="000000"/>
                          </a:solidFill>
                          <a:effectLst/>
                          <a:latin typeface="Arial" panose="020B0604020202020204" pitchFamily="34" charset="0"/>
                          <a:ea typeface="宋体" panose="02010600030101010101" pitchFamily="2" charset="-122"/>
                          <a:sym typeface="Arial" panose="020B0604020202020204" pitchFamily="34" charset="0"/>
                        </a:rPr>
                        <a:t>4</a:t>
                      </a:r>
                      <a:endParaRPr kumimoji="0" lang="zh-CN" altLang="en-US" sz="2800" b="1" i="0" u="none" strike="noStrike" cap="none" normalizeH="0" baseline="0" dirty="0">
                        <a:ln>
                          <a:noFill/>
                        </a:ln>
                        <a:solidFill>
                          <a:srgbClr val="CC0000"/>
                        </a:solidFill>
                        <a:effectLst/>
                        <a:latin typeface="Arial" panose="020B0604020202020204" pitchFamily="34" charset="0"/>
                        <a:ea typeface="宋体" panose="02010600030101010101" pitchFamily="2" charset="-122"/>
                        <a:sym typeface="Arial" panose="020B0604020202020204" pitchFamily="34" charset="0"/>
                      </a:endParaRPr>
                    </a:p>
                  </a:txBody>
                  <a:tcPr marT="45733" marB="4573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DCDDA"/>
                    </a:solidFill>
                  </a:tcPr>
                </a:tc>
                <a:extLst>
                  <a:ext uri="{0D108BD9-81ED-4DB2-BD59-A6C34878D82A}">
                    <a16:rowId xmlns:a16="http://schemas.microsoft.com/office/drawing/2014/main" val="1714811169"/>
                  </a:ext>
                </a:extLst>
              </a:tr>
              <a:tr h="398463">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sym typeface="Arial" panose="020B0604020202020204" pitchFamily="34" charset="0"/>
                        </a:rPr>
                        <a:t>不合作</a:t>
                      </a:r>
                      <a:endParaRPr kumimoji="0" lang="zh-CN" altLang="zh-CN" sz="2800" b="1" i="0" u="none" strike="noStrike" cap="none" normalizeH="0" baseline="0" dirty="0">
                        <a:ln>
                          <a:noFill/>
                        </a:ln>
                        <a:solidFill>
                          <a:srgbClr val="CC0000"/>
                        </a:solidFill>
                        <a:effectLst/>
                        <a:latin typeface="微软雅黑" panose="020B0503020204020204" pitchFamily="34" charset="-122"/>
                        <a:ea typeface="微软雅黑" panose="020B0503020204020204" pitchFamily="34" charset="-122"/>
                        <a:sym typeface="Arial" panose="020B0604020202020204" pitchFamily="34" charset="0"/>
                      </a:endParaRPr>
                    </a:p>
                  </a:txBody>
                  <a:tcPr marT="45733" marB="4573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8ED"/>
                    </a:solidFill>
                  </a:tcPr>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Arial" panose="020B0604020202020204" pitchFamily="34" charset="0"/>
                          <a:ea typeface="宋体" panose="02010600030101010101" pitchFamily="2" charset="-122"/>
                          <a:sym typeface="Arial" panose="020B0604020202020204" pitchFamily="34" charset="0"/>
                        </a:rPr>
                        <a:t>4</a:t>
                      </a:r>
                      <a:r>
                        <a:rPr kumimoji="0" lang="zh-CN" altLang="en-US" sz="1800" b="0" i="0" u="none" strike="noStrike" cap="none" normalizeH="0" baseline="0">
                          <a:ln>
                            <a:noFill/>
                          </a:ln>
                          <a:solidFill>
                            <a:srgbClr val="000000"/>
                          </a:solidFill>
                          <a:effectLst/>
                          <a:latin typeface="Arial" panose="020B0604020202020204" pitchFamily="34" charset="0"/>
                          <a:ea typeface="宋体" panose="02010600030101010101" pitchFamily="2" charset="-122"/>
                          <a:sym typeface="Arial" panose="020B0604020202020204" pitchFamily="34" charset="0"/>
                        </a:rPr>
                        <a:t>，</a:t>
                      </a:r>
                      <a:r>
                        <a:rPr kumimoji="0" lang="en-US" altLang="zh-CN" sz="1800" b="0" i="0" u="none" strike="noStrike" cap="none" normalizeH="0" baseline="0">
                          <a:ln>
                            <a:noFill/>
                          </a:ln>
                          <a:solidFill>
                            <a:srgbClr val="000000"/>
                          </a:solidFill>
                          <a:effectLst/>
                          <a:latin typeface="Arial" panose="020B0604020202020204" pitchFamily="34" charset="0"/>
                          <a:ea typeface="宋体" panose="02010600030101010101" pitchFamily="2" charset="-122"/>
                          <a:sym typeface="Arial" panose="020B0604020202020204" pitchFamily="34" charset="0"/>
                        </a:rPr>
                        <a:t>1</a:t>
                      </a:r>
                      <a:endParaRPr kumimoji="0" lang="zh-CN" altLang="en-US" sz="2800" b="1" i="0" u="none" strike="noStrike" cap="none" normalizeH="0" baseline="0">
                        <a:ln>
                          <a:noFill/>
                        </a:ln>
                        <a:solidFill>
                          <a:srgbClr val="CC0000"/>
                        </a:solidFill>
                        <a:effectLst/>
                        <a:latin typeface="Arial" panose="020B0604020202020204" pitchFamily="34" charset="0"/>
                        <a:ea typeface="宋体" panose="02010600030101010101" pitchFamily="2" charset="-122"/>
                        <a:sym typeface="Arial" panose="020B0604020202020204" pitchFamily="34" charset="0"/>
                      </a:endParaRPr>
                    </a:p>
                  </a:txBody>
                  <a:tcPr marT="45733" marB="4573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8ED"/>
                    </a:solidFill>
                  </a:tcPr>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rgbClr val="000000"/>
                          </a:solidFill>
                          <a:effectLst/>
                          <a:latin typeface="Arial" panose="020B0604020202020204" pitchFamily="34" charset="0"/>
                          <a:ea typeface="宋体" panose="02010600030101010101" pitchFamily="2" charset="-122"/>
                          <a:sym typeface="Arial" panose="020B0604020202020204" pitchFamily="34" charset="0"/>
                        </a:rPr>
                        <a:t>2</a:t>
                      </a:r>
                      <a:r>
                        <a:rPr kumimoji="0" lang="zh-CN" altLang="en-US" sz="1800" b="0" i="0" u="none" strike="noStrike" cap="none" normalizeH="0" baseline="0" dirty="0">
                          <a:ln>
                            <a:noFill/>
                          </a:ln>
                          <a:solidFill>
                            <a:srgbClr val="000000"/>
                          </a:solidFill>
                          <a:effectLst/>
                          <a:latin typeface="Arial" panose="020B0604020202020204" pitchFamily="34" charset="0"/>
                          <a:ea typeface="宋体" panose="02010600030101010101" pitchFamily="2" charset="-122"/>
                          <a:sym typeface="Arial" panose="020B0604020202020204" pitchFamily="34" charset="0"/>
                        </a:rPr>
                        <a:t>，</a:t>
                      </a:r>
                      <a:r>
                        <a:rPr kumimoji="0" lang="en-US" altLang="zh-CN" sz="1800" b="0" i="0" u="none" strike="noStrike" cap="none" normalizeH="0" baseline="0" dirty="0">
                          <a:ln>
                            <a:noFill/>
                          </a:ln>
                          <a:solidFill>
                            <a:srgbClr val="000000"/>
                          </a:solidFill>
                          <a:effectLst/>
                          <a:latin typeface="Arial" panose="020B0604020202020204" pitchFamily="34" charset="0"/>
                          <a:ea typeface="宋体" panose="02010600030101010101" pitchFamily="2" charset="-122"/>
                          <a:sym typeface="Arial" panose="020B0604020202020204" pitchFamily="34" charset="0"/>
                        </a:rPr>
                        <a:t>3</a:t>
                      </a:r>
                      <a:endParaRPr kumimoji="0" lang="zh-CN" altLang="en-US" sz="2800" b="1" i="0" u="none" strike="noStrike" cap="none" normalizeH="0" baseline="0" dirty="0">
                        <a:ln>
                          <a:noFill/>
                        </a:ln>
                        <a:solidFill>
                          <a:srgbClr val="CC0000"/>
                        </a:solidFill>
                        <a:effectLst/>
                        <a:latin typeface="Arial" panose="020B0604020202020204" pitchFamily="34" charset="0"/>
                        <a:ea typeface="宋体" panose="02010600030101010101" pitchFamily="2" charset="-122"/>
                        <a:sym typeface="Arial" panose="020B0604020202020204" pitchFamily="34" charset="0"/>
                      </a:endParaRPr>
                    </a:p>
                  </a:txBody>
                  <a:tcPr marT="45733" marB="4573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8ED"/>
                    </a:solidFill>
                  </a:tcPr>
                </a:tc>
                <a:extLst>
                  <a:ext uri="{0D108BD9-81ED-4DB2-BD59-A6C34878D82A}">
                    <a16:rowId xmlns:a16="http://schemas.microsoft.com/office/drawing/2014/main" val="1980743151"/>
                  </a:ext>
                </a:extLst>
              </a:tr>
            </a:tbl>
          </a:graphicData>
        </a:graphic>
      </p:graphicFrame>
      <p:sp>
        <p:nvSpPr>
          <p:cNvPr id="2" name="矩形 1"/>
          <p:cNvSpPr/>
          <p:nvPr/>
        </p:nvSpPr>
        <p:spPr>
          <a:xfrm>
            <a:off x="1043755" y="3513928"/>
            <a:ext cx="1346844" cy="338554"/>
          </a:xfrm>
          <a:prstGeom prst="rect">
            <a:avLst/>
          </a:prstGeom>
        </p:spPr>
        <p:txBody>
          <a:bodyPr wrap="none">
            <a:spAutoFit/>
          </a:bodyPr>
          <a:lstStyle/>
          <a:p>
            <a:r>
              <a:rPr lang="zh-CN" altLang="en-US" b="0" dirty="0">
                <a:latin typeface="微软雅黑" panose="020B0503020204020204" pitchFamily="34" charset="-122"/>
                <a:ea typeface="微软雅黑" panose="020B0503020204020204" pitchFamily="34" charset="-122"/>
              </a:rPr>
              <a:t>企业</a:t>
            </a:r>
            <a:r>
              <a:rPr lang="en-US" altLang="zh-CN" b="0" dirty="0">
                <a:latin typeface="微软雅黑" panose="020B0503020204020204" pitchFamily="34" charset="-122"/>
                <a:ea typeface="微软雅黑" panose="020B0503020204020204" pitchFamily="34" charset="-122"/>
              </a:rPr>
              <a:t>A</a:t>
            </a:r>
            <a:r>
              <a:rPr lang="zh-CN" altLang="en-US" b="0" dirty="0">
                <a:latin typeface="微软雅黑" panose="020B0503020204020204" pitchFamily="34" charset="-122"/>
                <a:ea typeface="微软雅黑" panose="020B0503020204020204" pitchFamily="34" charset="-122"/>
              </a:rPr>
              <a:t>的策略</a:t>
            </a:r>
            <a:endParaRPr lang="zh-CN" altLang="en-US" dirty="0">
              <a:latin typeface="微软雅黑" panose="020B0503020204020204" pitchFamily="34" charset="-122"/>
              <a:ea typeface="微软雅黑" panose="020B0503020204020204" pitchFamily="34" charset="-122"/>
            </a:endParaRPr>
          </a:p>
        </p:txBody>
      </p:sp>
      <p:sp>
        <p:nvSpPr>
          <p:cNvPr id="6" name="矩形 5"/>
          <p:cNvSpPr/>
          <p:nvPr/>
        </p:nvSpPr>
        <p:spPr>
          <a:xfrm>
            <a:off x="5292050" y="2395533"/>
            <a:ext cx="1346844" cy="338554"/>
          </a:xfrm>
          <a:prstGeom prst="rect">
            <a:avLst/>
          </a:prstGeom>
        </p:spPr>
        <p:txBody>
          <a:bodyPr wrap="none">
            <a:spAutoFit/>
          </a:bodyPr>
          <a:lstStyle/>
          <a:p>
            <a:r>
              <a:rPr lang="zh-CN" altLang="en-US" b="0" dirty="0">
                <a:latin typeface="微软雅黑" panose="020B0503020204020204" pitchFamily="34" charset="-122"/>
                <a:ea typeface="微软雅黑" panose="020B0503020204020204" pitchFamily="34" charset="-122"/>
              </a:rPr>
              <a:t>企业</a:t>
            </a:r>
            <a:r>
              <a:rPr lang="en-US" altLang="zh-CN" b="0" dirty="0">
                <a:latin typeface="微软雅黑" panose="020B0503020204020204" pitchFamily="34" charset="-122"/>
                <a:ea typeface="微软雅黑" panose="020B0503020204020204" pitchFamily="34" charset="-122"/>
              </a:rPr>
              <a:t>B</a:t>
            </a:r>
            <a:r>
              <a:rPr lang="zh-CN" altLang="en-US" b="0" dirty="0">
                <a:latin typeface="微软雅黑" panose="020B0503020204020204" pitchFamily="34" charset="-122"/>
                <a:ea typeface="微软雅黑" panose="020B0503020204020204" pitchFamily="34" charset="-122"/>
              </a:rPr>
              <a:t>的策略</a:t>
            </a:r>
          </a:p>
        </p:txBody>
      </p:sp>
      <p:cxnSp>
        <p:nvCxnSpPr>
          <p:cNvPr id="5" name="直接箭头连接符 4"/>
          <p:cNvCxnSpPr/>
          <p:nvPr/>
        </p:nvCxnSpPr>
        <p:spPr bwMode="auto">
          <a:xfrm>
            <a:off x="3707940" y="3212985"/>
            <a:ext cx="576040" cy="216015"/>
          </a:xfrm>
          <a:prstGeom prst="straightConnector1">
            <a:avLst/>
          </a:prstGeom>
          <a:solidFill>
            <a:schemeClr val="accent1"/>
          </a:solidFill>
          <a:ln w="47625" cap="flat" cmpd="sng" algn="ctr">
            <a:solidFill>
              <a:srgbClr val="BB1528"/>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 name="矩形 7"/>
          <p:cNvSpPr/>
          <p:nvPr/>
        </p:nvSpPr>
        <p:spPr>
          <a:xfrm>
            <a:off x="1164720" y="4996405"/>
            <a:ext cx="7123610" cy="707886"/>
          </a:xfrm>
          <a:prstGeom prst="rect">
            <a:avLst/>
          </a:prstGeom>
          <a:solidFill>
            <a:srgbClr val="E8E8ED"/>
          </a:solidFill>
        </p:spPr>
        <p:txBody>
          <a:bodyPr wrap="square">
            <a:spAutoFit/>
          </a:bodyPr>
          <a:lstStyle/>
          <a:p>
            <a:pPr marL="0" lvl="1" indent="0" eaLnBrk="1" hangingPunct="1">
              <a:buNone/>
            </a:pPr>
            <a:r>
              <a:rPr lang="zh-CN" altLang="en-US" sz="2000" b="0" dirty="0">
                <a:latin typeface="微软雅黑" panose="020B0503020204020204" pitchFamily="34" charset="-122"/>
                <a:ea typeface="微软雅黑" panose="020B0503020204020204" pitchFamily="34" charset="-122"/>
              </a:rPr>
              <a:t>注释：</a:t>
            </a:r>
            <a:r>
              <a:rPr lang="en-US" altLang="zh-CN" sz="2000" b="0" dirty="0">
                <a:latin typeface="微软雅黑" panose="020B0503020204020204" pitchFamily="34" charset="-122"/>
                <a:ea typeface="微软雅黑" panose="020B0503020204020204" pitchFamily="34" charset="-122"/>
              </a:rPr>
              <a:t>Payoff </a:t>
            </a:r>
            <a:r>
              <a:rPr lang="zh-CN" altLang="en-US" sz="2000" b="0" dirty="0">
                <a:latin typeface="微软雅黑" panose="020B0503020204020204" pitchFamily="34" charset="-122"/>
                <a:ea typeface="微软雅黑" panose="020B0503020204020204" pitchFamily="34" charset="-122"/>
              </a:rPr>
              <a:t>在很多书里翻译成支付，是不对的。</a:t>
            </a:r>
            <a:r>
              <a:rPr lang="en-US" altLang="zh-CN" sz="2000" b="0" dirty="0">
                <a:latin typeface="微软雅黑" panose="020B0503020204020204" pitchFamily="34" charset="-122"/>
                <a:ea typeface="微软雅黑" panose="020B0503020204020204" pitchFamily="34" charset="-122"/>
              </a:rPr>
              <a:t>Payoff</a:t>
            </a:r>
            <a:r>
              <a:rPr lang="zh-CN" altLang="en-US" sz="2000" b="0" dirty="0">
                <a:latin typeface="微软雅黑" panose="020B0503020204020204" pitchFamily="34" charset="-122"/>
                <a:ea typeface="微软雅黑" panose="020B0503020204020204" pitchFamily="34" charset="-122"/>
              </a:rPr>
              <a:t>没有支付的含义</a:t>
            </a:r>
          </a:p>
        </p:txBody>
      </p:sp>
      <p:sp>
        <p:nvSpPr>
          <p:cNvPr id="9" name="矩形 8"/>
          <p:cNvSpPr/>
          <p:nvPr/>
        </p:nvSpPr>
        <p:spPr>
          <a:xfrm>
            <a:off x="6228115" y="44765"/>
            <a:ext cx="2915885" cy="369332"/>
          </a:xfrm>
          <a:prstGeom prst="rect">
            <a:avLst/>
          </a:prstGeom>
        </p:spPr>
        <p:txBody>
          <a:bodyPr wrap="square">
            <a:spAutoFit/>
          </a:bodyPr>
          <a:lstStyle/>
          <a:p>
            <a:r>
              <a:rPr lang="zh-CN" altLang="en-US" sz="1800" b="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第四节  博弈论和策略行为</a:t>
            </a:r>
            <a:endParaRPr lang="zh-CN" altLang="en-US" sz="18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0" name="矩形 9">
            <a:extLst>
              <a:ext uri="{FF2B5EF4-FFF2-40B4-BE49-F238E27FC236}">
                <a16:creationId xmlns:a16="http://schemas.microsoft.com/office/drawing/2014/main" id="{F68E5273-CD77-47B9-B841-9D29349C133D}"/>
              </a:ext>
            </a:extLst>
          </p:cNvPr>
          <p:cNvSpPr/>
          <p:nvPr/>
        </p:nvSpPr>
        <p:spPr>
          <a:xfrm>
            <a:off x="457201" y="548681"/>
            <a:ext cx="2386679"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marL="0" lvl="1">
              <a:defRPr/>
            </a:pPr>
            <a:r>
              <a:rPr lang="zh-CN" altLang="en-US" sz="2400" spc="150" dirty="0">
                <a:solidFill>
                  <a:srgbClr val="FFFFFF"/>
                </a:solidFill>
                <a:latin typeface="微软雅黑" panose="020B0503020204020204" pitchFamily="34" charset="-122"/>
                <a:ea typeface="微软雅黑" panose="020B0503020204020204" pitchFamily="34" charset="-122"/>
              </a:rPr>
              <a:t>一</a:t>
            </a:r>
            <a:r>
              <a:rPr lang="zh-CN" altLang="en-US" sz="2400" b="1" spc="150" dirty="0">
                <a:solidFill>
                  <a:srgbClr val="FFFFFF"/>
                </a:solidFill>
                <a:latin typeface="微软雅黑" panose="020B0503020204020204" pitchFamily="34" charset="-122"/>
                <a:ea typeface="微软雅黑" panose="020B0503020204020204" pitchFamily="34" charset="-122"/>
              </a:rPr>
              <a:t>、</a:t>
            </a:r>
            <a:r>
              <a:rPr lang="zh-CN" altLang="en-US" sz="2400" spc="150" dirty="0">
                <a:solidFill>
                  <a:srgbClr val="FFFFFF"/>
                </a:solidFill>
                <a:latin typeface="微软雅黑" panose="020B0503020204020204" pitchFamily="34" charset="-122"/>
                <a:ea typeface="微软雅黑" panose="020B0503020204020204" pitchFamily="34" charset="-122"/>
              </a:rPr>
              <a:t>博弈模型</a:t>
            </a:r>
            <a:endParaRPr lang="en-US" altLang="zh-CN" sz="2400" spc="150" dirty="0">
              <a:solidFill>
                <a:srgbClr val="FFFFFF"/>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32295034"/>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50178">
                                            <p:txEl>
                                              <p:pRg st="0" end="0"/>
                                            </p:txEl>
                                          </p:spTgt>
                                        </p:tgtEl>
                                        <p:attrNameLst>
                                          <p:attrName>style.visibility</p:attrName>
                                        </p:attrNameLst>
                                      </p:cBhvr>
                                      <p:to>
                                        <p:strVal val="visible"/>
                                      </p:to>
                                    </p:set>
                                    <p:animEffect>
                                      <p:cBhvr>
                                        <p:cTn id="7" dur="500"/>
                                        <p:tgtEl>
                                          <p:spTgt spid="5017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p:cBhvr>
                                        <p:cTn id="12" dur="500"/>
                                        <p:tgtEl>
                                          <p:spTgt spid="4"/>
                                        </p:tgtEl>
                                      </p:cBhvr>
                                    </p:animEffect>
                                  </p:childTnLst>
                                </p:cTn>
                              </p:par>
                            </p:childTnLst>
                          </p:cTn>
                        </p:par>
                        <p:par>
                          <p:cTn id="13" fill="hold">
                            <p:stCondLst>
                              <p:cond delay="500"/>
                            </p:stCondLst>
                            <p:childTnLst>
                              <p:par>
                                <p:cTn id="14" presetID="22" presetClass="entr" presetSubtype="4" fill="hold" grpId="0"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down)">
                                      <p:cBhvr>
                                        <p:cTn id="16" dur="500"/>
                                        <p:tgtEl>
                                          <p:spTgt spid="2"/>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ipe(down)">
                                      <p:cBhvr>
                                        <p:cTn id="19" dur="500"/>
                                        <p:tgtEl>
                                          <p:spTgt spid="6"/>
                                        </p:tgtEl>
                                      </p:cBhvr>
                                    </p:animEffect>
                                  </p:childTnLst>
                                </p:cTn>
                              </p:par>
                              <p:par>
                                <p:cTn id="20" presetID="22" presetClass="entr" presetSubtype="4" fill="hold"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down)">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down)">
                                      <p:cBhvr>
                                        <p:cTn id="2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8"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3"/>
          <p:cNvSpPr>
            <a:spLocks noGrp="1" noChangeArrowheads="1"/>
          </p:cNvSpPr>
          <p:nvPr>
            <p:ph type="body" idx="4294967295"/>
          </p:nvPr>
        </p:nvSpPr>
        <p:spPr>
          <a:xfrm>
            <a:off x="457201" y="1196845"/>
            <a:ext cx="8229600" cy="5256365"/>
          </a:xfrm>
          <a:ln/>
        </p:spPr>
        <p:txBody>
          <a:bodyPr/>
          <a:lstStyle/>
          <a:p>
            <a:pPr marL="457200" lvl="2" indent="-457200" eaLnBrk="1" hangingPunct="1">
              <a:lnSpc>
                <a:spcPct val="150000"/>
              </a:lnSpc>
              <a:buSzPct val="100000"/>
              <a:buFont typeface="Wingdings" panose="05000000000000000000" pitchFamily="2" charset="2"/>
              <a:buChar char="u"/>
            </a:pPr>
            <a:r>
              <a:rPr lang="zh-CN" altLang="en-US" sz="2200" b="0" dirty="0">
                <a:latin typeface="微软雅黑" panose="020B0503020204020204" pitchFamily="34" charset="-122"/>
                <a:ea typeface="微软雅黑" panose="020B0503020204020204" pitchFamily="34" charset="-122"/>
              </a:rPr>
              <a:t>博弈的解</a:t>
            </a:r>
            <a:endParaRPr lang="en-US" altLang="zh-CN" sz="2200" b="0" dirty="0">
              <a:latin typeface="微软雅黑" panose="020B0503020204020204" pitchFamily="34" charset="-122"/>
              <a:ea typeface="微软雅黑" panose="020B0503020204020204" pitchFamily="34" charset="-122"/>
            </a:endParaRPr>
          </a:p>
          <a:p>
            <a:pPr marL="742950" lvl="2" indent="-342900" eaLnBrk="1" hangingPunct="1">
              <a:lnSpc>
                <a:spcPct val="150000"/>
              </a:lnSpc>
              <a:spcBef>
                <a:spcPct val="40000"/>
              </a:spcBef>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rPr>
              <a:t>博弈最终结果的策略组合</a:t>
            </a:r>
            <a:r>
              <a:rPr lang="en-US" altLang="zh-CN" sz="2000" b="0" dirty="0">
                <a:latin typeface="微软雅黑" panose="020B0503020204020204" pitchFamily="34" charset="-122"/>
                <a:ea typeface="微软雅黑" panose="020B0503020204020204" pitchFamily="34" charset="-122"/>
              </a:rPr>
              <a:t>, </a:t>
            </a:r>
            <a:r>
              <a:rPr lang="zh-CN" altLang="en-US" sz="2000" b="0" dirty="0">
                <a:latin typeface="微软雅黑" panose="020B0503020204020204" pitchFamily="34" charset="-122"/>
                <a:ea typeface="微软雅黑" panose="020B0503020204020204" pitchFamily="34" charset="-122"/>
              </a:rPr>
              <a:t>叫做博弈的解</a:t>
            </a:r>
            <a:r>
              <a:rPr lang="en-US" altLang="zh-CN" sz="2000" b="0" dirty="0">
                <a:latin typeface="微软雅黑" panose="020B0503020204020204" pitchFamily="34" charset="-122"/>
                <a:ea typeface="微软雅黑" panose="020B0503020204020204" pitchFamily="34" charset="-122"/>
              </a:rPr>
              <a:t>, </a:t>
            </a:r>
            <a:r>
              <a:rPr lang="zh-CN" altLang="en-US" sz="2000" b="0" dirty="0">
                <a:latin typeface="微软雅黑" panose="020B0503020204020204" pitchFamily="34" charset="-122"/>
                <a:ea typeface="微软雅黑" panose="020B0503020204020204" pitchFamily="34" charset="-122"/>
              </a:rPr>
              <a:t>或博弈均衡。换句话说</a:t>
            </a:r>
            <a:r>
              <a:rPr lang="en-US" altLang="zh-CN" sz="2000" b="0" dirty="0">
                <a:latin typeface="微软雅黑" panose="020B0503020204020204" pitchFamily="34" charset="-122"/>
                <a:ea typeface="微软雅黑" panose="020B0503020204020204" pitchFamily="34" charset="-122"/>
              </a:rPr>
              <a:t>, </a:t>
            </a:r>
            <a:r>
              <a:rPr lang="zh-CN" altLang="en-US" sz="2000" b="0" dirty="0">
                <a:latin typeface="微软雅黑" panose="020B0503020204020204" pitchFamily="34" charset="-122"/>
                <a:ea typeface="微软雅黑" panose="020B0503020204020204" pitchFamily="34" charset="-122"/>
              </a:rPr>
              <a:t>所谓博弈均衡</a:t>
            </a:r>
            <a:r>
              <a:rPr lang="en-US" altLang="zh-CN" sz="2000" b="0" dirty="0">
                <a:latin typeface="微软雅黑" panose="020B0503020204020204" pitchFamily="34" charset="-122"/>
                <a:ea typeface="微软雅黑" panose="020B0503020204020204" pitchFamily="34" charset="-122"/>
              </a:rPr>
              <a:t>, </a:t>
            </a:r>
            <a:r>
              <a:rPr lang="zh-CN" altLang="en-US" sz="2000" b="0" dirty="0">
                <a:latin typeface="微软雅黑" panose="020B0503020204020204" pitchFamily="34" charset="-122"/>
                <a:ea typeface="微软雅黑" panose="020B0503020204020204" pitchFamily="34" charset="-122"/>
              </a:rPr>
              <a:t>就是博弈各方最终选取的策略组合。</a:t>
            </a:r>
            <a:endParaRPr lang="en-US" altLang="zh-CN" sz="2000" b="0" dirty="0">
              <a:latin typeface="微软雅黑" panose="020B0503020204020204" pitchFamily="34" charset="-122"/>
              <a:ea typeface="微软雅黑" panose="020B0503020204020204" pitchFamily="34" charset="-122"/>
            </a:endParaRPr>
          </a:p>
          <a:p>
            <a:pPr marL="457200" lvl="2" indent="-457200" eaLnBrk="1" hangingPunct="1">
              <a:lnSpc>
                <a:spcPct val="200000"/>
              </a:lnSpc>
              <a:buSzPct val="100000"/>
              <a:buFont typeface="Wingdings" panose="05000000000000000000" pitchFamily="2" charset="2"/>
              <a:buChar char="u"/>
            </a:pPr>
            <a:r>
              <a:rPr lang="zh-CN" altLang="en-US" sz="2200" b="0" dirty="0">
                <a:latin typeface="微软雅黑" panose="020B0503020204020204" pitchFamily="34" charset="-122"/>
                <a:ea typeface="微软雅黑" panose="020B0503020204020204" pitchFamily="34" charset="-122"/>
              </a:rPr>
              <a:t>纳什均衡</a:t>
            </a:r>
            <a:endParaRPr lang="en-US" altLang="zh-CN" sz="2200" b="0" dirty="0">
              <a:latin typeface="微软雅黑" panose="020B0503020204020204" pitchFamily="34" charset="-122"/>
              <a:ea typeface="微软雅黑" panose="020B0503020204020204" pitchFamily="34" charset="-122"/>
            </a:endParaRPr>
          </a:p>
          <a:p>
            <a:pPr marL="800100" lvl="1" indent="-342900">
              <a:lnSpc>
                <a:spcPct val="150000"/>
              </a:lnSpc>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rPr>
              <a:t>纳什均衡</a:t>
            </a:r>
            <a:r>
              <a:rPr lang="en-US" altLang="zh-CN" sz="2000" b="0" dirty="0">
                <a:latin typeface="微软雅黑" panose="020B0503020204020204" pitchFamily="34" charset="-122"/>
                <a:ea typeface="微软雅黑" panose="020B0503020204020204" pitchFamily="34" charset="-122"/>
              </a:rPr>
              <a:t>, </a:t>
            </a:r>
            <a:r>
              <a:rPr lang="zh-CN" altLang="en-US" sz="2000" b="0" dirty="0">
                <a:latin typeface="微软雅黑" panose="020B0503020204020204" pitchFamily="34" charset="-122"/>
                <a:ea typeface="微软雅黑" panose="020B0503020204020204" pitchFamily="34" charset="-122"/>
              </a:rPr>
              <a:t>指的是参与人的这样一种策略组合</a:t>
            </a:r>
            <a:r>
              <a:rPr lang="en-US" altLang="zh-CN" sz="2000" b="0" dirty="0">
                <a:latin typeface="微软雅黑" panose="020B0503020204020204" pitchFamily="34" charset="-122"/>
                <a:ea typeface="微软雅黑" panose="020B0503020204020204" pitchFamily="34" charset="-122"/>
              </a:rPr>
              <a:t>, </a:t>
            </a:r>
            <a:r>
              <a:rPr lang="zh-CN" altLang="en-US" sz="2000" b="0" dirty="0">
                <a:latin typeface="微软雅黑" panose="020B0503020204020204" pitchFamily="34" charset="-122"/>
                <a:ea typeface="微软雅黑" panose="020B0503020204020204" pitchFamily="34" charset="-122"/>
              </a:rPr>
              <a:t>在该策略组合上</a:t>
            </a:r>
            <a:r>
              <a:rPr lang="en-US" altLang="zh-CN" sz="2000" b="0" dirty="0">
                <a:latin typeface="微软雅黑" panose="020B0503020204020204" pitchFamily="34" charset="-122"/>
                <a:ea typeface="微软雅黑" panose="020B0503020204020204" pitchFamily="34" charset="-122"/>
              </a:rPr>
              <a:t>, </a:t>
            </a:r>
            <a:r>
              <a:rPr lang="zh-CN" altLang="en-US" sz="2000" b="0" dirty="0">
                <a:latin typeface="微软雅黑" panose="020B0503020204020204" pitchFamily="34" charset="-122"/>
                <a:ea typeface="微软雅黑" panose="020B0503020204020204" pitchFamily="34" charset="-122"/>
              </a:rPr>
              <a:t>任何参与人单独改变策略都不会得到好处。 </a:t>
            </a:r>
            <a:endParaRPr lang="en-US" altLang="zh-CN" sz="2000" b="0" dirty="0">
              <a:latin typeface="微软雅黑" panose="020B0503020204020204" pitchFamily="34" charset="-122"/>
              <a:ea typeface="微软雅黑" panose="020B0503020204020204" pitchFamily="34" charset="-122"/>
            </a:endParaRPr>
          </a:p>
          <a:p>
            <a:pPr marL="800100" lvl="1" indent="-342900">
              <a:lnSpc>
                <a:spcPct val="150000"/>
              </a:lnSpc>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rPr>
              <a:t>也可以说，纳什均衡是一组策略组合，每一个策略都是对博弈对手策略的最优反应。纳什均衡里的策略互为最优反应。</a:t>
            </a:r>
            <a:endParaRPr lang="en-US" altLang="zh-CN" sz="2000" b="0" dirty="0">
              <a:latin typeface="微软雅黑" panose="020B0503020204020204" pitchFamily="34" charset="-122"/>
              <a:ea typeface="微软雅黑" panose="020B0503020204020204" pitchFamily="34" charset="-122"/>
            </a:endParaRPr>
          </a:p>
        </p:txBody>
      </p:sp>
      <p:sp>
        <p:nvSpPr>
          <p:cNvPr id="6" name="矩形 5"/>
          <p:cNvSpPr/>
          <p:nvPr/>
        </p:nvSpPr>
        <p:spPr>
          <a:xfrm>
            <a:off x="6228115" y="44765"/>
            <a:ext cx="2915885" cy="369332"/>
          </a:xfrm>
          <a:prstGeom prst="rect">
            <a:avLst/>
          </a:prstGeom>
        </p:spPr>
        <p:txBody>
          <a:bodyPr wrap="square">
            <a:spAutoFit/>
          </a:bodyPr>
          <a:lstStyle/>
          <a:p>
            <a:r>
              <a:rPr lang="zh-CN" altLang="en-US" sz="1800" b="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第四节  博弈论和策略行为</a:t>
            </a:r>
            <a:endParaRPr lang="zh-CN" altLang="en-US" sz="18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7" name="矩形 6">
            <a:extLst>
              <a:ext uri="{FF2B5EF4-FFF2-40B4-BE49-F238E27FC236}">
                <a16:creationId xmlns:a16="http://schemas.microsoft.com/office/drawing/2014/main" id="{F68E5273-CD77-47B9-B841-9D29349C133D}"/>
              </a:ext>
            </a:extLst>
          </p:cNvPr>
          <p:cNvSpPr/>
          <p:nvPr/>
        </p:nvSpPr>
        <p:spPr>
          <a:xfrm>
            <a:off x="457201" y="548681"/>
            <a:ext cx="2386679"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marL="0" lvl="1">
              <a:defRPr/>
            </a:pPr>
            <a:r>
              <a:rPr lang="zh-CN" altLang="en-US" sz="2400" spc="150" dirty="0">
                <a:solidFill>
                  <a:srgbClr val="FFFFFF"/>
                </a:solidFill>
                <a:latin typeface="微软雅黑" panose="020B0503020204020204" pitchFamily="34" charset="-122"/>
                <a:ea typeface="微软雅黑" panose="020B0503020204020204" pitchFamily="34" charset="-122"/>
              </a:rPr>
              <a:t>二</a:t>
            </a:r>
            <a:r>
              <a:rPr lang="zh-CN" altLang="en-US" sz="2400" b="1" spc="150" dirty="0">
                <a:solidFill>
                  <a:srgbClr val="FFFFFF"/>
                </a:solidFill>
                <a:latin typeface="微软雅黑" panose="020B0503020204020204" pitchFamily="34" charset="-122"/>
                <a:ea typeface="微软雅黑" panose="020B0503020204020204" pitchFamily="34" charset="-122"/>
              </a:rPr>
              <a:t>、</a:t>
            </a:r>
            <a:r>
              <a:rPr lang="zh-CN" altLang="en-US" sz="2400" spc="15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纳什模型</a:t>
            </a:r>
            <a:endParaRPr lang="en-US" altLang="zh-CN" sz="2400" spc="150" dirty="0">
              <a:solidFill>
                <a:srgbClr val="FFFFFF"/>
              </a:solidFill>
              <a:latin typeface="微软雅黑" panose="020B0503020204020204" pitchFamily="34" charset="-122"/>
              <a:ea typeface="微软雅黑" panose="020B0503020204020204" pitchFamily="34"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1202">
                                            <p:txEl>
                                              <p:pRg st="0" end="0"/>
                                            </p:txEl>
                                          </p:spTgt>
                                        </p:tgtEl>
                                        <p:attrNameLst>
                                          <p:attrName>style.visibility</p:attrName>
                                        </p:attrNameLst>
                                      </p:cBhvr>
                                      <p:to>
                                        <p:strVal val="visible"/>
                                      </p:to>
                                    </p:set>
                                    <p:animEffect>
                                      <p:cBhvr>
                                        <p:cTn id="7" dur="500"/>
                                        <p:tgtEl>
                                          <p:spTgt spid="5120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1202">
                                            <p:txEl>
                                              <p:pRg st="1" end="1"/>
                                            </p:txEl>
                                          </p:spTgt>
                                        </p:tgtEl>
                                        <p:attrNameLst>
                                          <p:attrName>style.visibility</p:attrName>
                                        </p:attrNameLst>
                                      </p:cBhvr>
                                      <p:to>
                                        <p:strVal val="visible"/>
                                      </p:to>
                                    </p:set>
                                    <p:animEffect>
                                      <p:cBhvr>
                                        <p:cTn id="12" dur="500"/>
                                        <p:tgtEl>
                                          <p:spTgt spid="51202">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51202">
                                            <p:txEl>
                                              <p:pRg st="2" end="2"/>
                                            </p:txEl>
                                          </p:spTgt>
                                        </p:tgtEl>
                                        <p:attrNameLst>
                                          <p:attrName>style.visibility</p:attrName>
                                        </p:attrNameLst>
                                      </p:cBhvr>
                                      <p:to>
                                        <p:strVal val="visible"/>
                                      </p:to>
                                    </p:set>
                                    <p:animEffect>
                                      <p:cBhvr>
                                        <p:cTn id="17" dur="500"/>
                                        <p:tgtEl>
                                          <p:spTgt spid="51202">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51202">
                                            <p:txEl>
                                              <p:pRg st="3" end="3"/>
                                            </p:txEl>
                                          </p:spTgt>
                                        </p:tgtEl>
                                        <p:attrNameLst>
                                          <p:attrName>style.visibility</p:attrName>
                                        </p:attrNameLst>
                                      </p:cBhvr>
                                      <p:to>
                                        <p:strVal val="visible"/>
                                      </p:to>
                                    </p:set>
                                    <p:animEffect>
                                      <p:cBhvr>
                                        <p:cTn id="22" dur="500"/>
                                        <p:tgtEl>
                                          <p:spTgt spid="5120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51202">
                                            <p:txEl>
                                              <p:pRg st="4" end="4"/>
                                            </p:txEl>
                                          </p:spTgt>
                                        </p:tgtEl>
                                        <p:attrNameLst>
                                          <p:attrName>style.visibility</p:attrName>
                                        </p:attrNameLst>
                                      </p:cBhvr>
                                      <p:to>
                                        <p:strVal val="visible"/>
                                      </p:to>
                                    </p:set>
                                    <p:animEffect>
                                      <p:cBhvr>
                                        <p:cTn id="27" dur="500"/>
                                        <p:tgtEl>
                                          <p:spTgt spid="5120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矩形 2"/>
          <p:cNvSpPr>
            <a:spLocks noChangeArrowheads="1"/>
          </p:cNvSpPr>
          <p:nvPr/>
        </p:nvSpPr>
        <p:spPr bwMode="auto">
          <a:xfrm>
            <a:off x="904748" y="1340855"/>
            <a:ext cx="8229600" cy="3170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342900" indent="-342900">
              <a:defRPr sz="1600" b="1">
                <a:solidFill>
                  <a:schemeClr val="tx1"/>
                </a:solidFill>
                <a:latin typeface="Arial" panose="020B0604020202020204" pitchFamily="34" charset="0"/>
                <a:ea typeface="宋体" panose="02010600030101010101" pitchFamily="2" charset="-122"/>
              </a:defRPr>
            </a:lvl3pPr>
            <a:lvl4pPr>
              <a:defRPr sz="1600" b="1">
                <a:solidFill>
                  <a:schemeClr val="tx1"/>
                </a:solidFill>
                <a:latin typeface="Arial" panose="020B0604020202020204" pitchFamily="34" charset="0"/>
                <a:ea typeface="宋体" panose="02010600030101010101" pitchFamily="2" charset="-122"/>
              </a:defRPr>
            </a:lvl4pPr>
            <a:lvl5pPr>
              <a:defRPr sz="1600" b="1">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9pPr>
          </a:lstStyle>
          <a:p>
            <a:pPr marL="457200" lvl="2" indent="-457200" defTabSz="0" eaLnBrk="1" hangingPunct="1">
              <a:lnSpc>
                <a:spcPct val="150000"/>
              </a:lnSpc>
              <a:spcBef>
                <a:spcPct val="20000"/>
              </a:spcBef>
              <a:buSzPct val="100000"/>
              <a:buFont typeface="Wingdings" panose="05000000000000000000" pitchFamily="2" charset="2"/>
              <a:buChar char="u"/>
            </a:pPr>
            <a:r>
              <a:rPr lang="zh-CN" altLang="en-US" sz="2200" b="0" dirty="0">
                <a:latin typeface="微软雅黑" panose="020B0503020204020204" pitchFamily="34" charset="-122"/>
                <a:ea typeface="微软雅黑" panose="020B0503020204020204" pitchFamily="34" charset="-122"/>
                <a:sym typeface="Arial" panose="020B0604020202020204" pitchFamily="34" charset="0"/>
              </a:rPr>
              <a:t>纳什均衡的存在性</a:t>
            </a:r>
            <a:endParaRPr lang="en-US" altLang="zh-CN" sz="2200" b="0" dirty="0">
              <a:latin typeface="微软雅黑" panose="020B0503020204020204" pitchFamily="34" charset="-122"/>
              <a:ea typeface="微软雅黑" panose="020B0503020204020204" pitchFamily="34" charset="-122"/>
              <a:sym typeface="Arial" panose="020B0604020202020204" pitchFamily="34" charset="0"/>
            </a:endParaRPr>
          </a:p>
          <a:p>
            <a:pPr marL="800100" lvl="1" indent="-342900" defTabSz="0">
              <a:spcBef>
                <a:spcPct val="20000"/>
              </a:spcBef>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sym typeface="Arial" panose="020B0604020202020204" pitchFamily="34" charset="0"/>
              </a:rPr>
              <a:t>纳什均衡可能不止一个，也可能不存在</a:t>
            </a:r>
            <a:endParaRPr lang="en-US" altLang="zh-CN" sz="2000" b="0" dirty="0">
              <a:latin typeface="微软雅黑" panose="020B0503020204020204" pitchFamily="34" charset="-122"/>
              <a:ea typeface="微软雅黑" panose="020B0503020204020204" pitchFamily="34" charset="-122"/>
              <a:sym typeface="Arial" panose="020B0604020202020204" pitchFamily="34" charset="0"/>
            </a:endParaRPr>
          </a:p>
          <a:p>
            <a:pPr marL="800100" lvl="1" indent="-342900" defTabSz="0">
              <a:spcBef>
                <a:spcPct val="20000"/>
              </a:spcBef>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sym typeface="Arial" panose="020B0604020202020204" pitchFamily="34" charset="0"/>
              </a:rPr>
              <a:t>如果考虑混合策略，则纳什均衡一定存在至少一个</a:t>
            </a:r>
            <a:endParaRPr lang="en-US" altLang="zh-CN" sz="2000" b="0" dirty="0">
              <a:latin typeface="微软雅黑" panose="020B0503020204020204" pitchFamily="34" charset="-122"/>
              <a:ea typeface="微软雅黑" panose="020B0503020204020204" pitchFamily="34" charset="-122"/>
              <a:sym typeface="Arial" panose="020B0604020202020204" pitchFamily="34" charset="0"/>
            </a:endParaRPr>
          </a:p>
          <a:p>
            <a:pPr marL="457200" lvl="2" indent="-457200" defTabSz="0" eaLnBrk="1" hangingPunct="1">
              <a:lnSpc>
                <a:spcPct val="150000"/>
              </a:lnSpc>
              <a:spcBef>
                <a:spcPct val="20000"/>
              </a:spcBef>
              <a:buSzPct val="100000"/>
              <a:buFont typeface="Wingdings" panose="05000000000000000000" pitchFamily="2" charset="2"/>
              <a:buChar char="u"/>
            </a:pPr>
            <a:r>
              <a:rPr lang="zh-CN" altLang="en-US" sz="2200" b="0" dirty="0">
                <a:latin typeface="微软雅黑" panose="020B0503020204020204" pitchFamily="34" charset="-122"/>
                <a:ea typeface="微软雅黑" panose="020B0503020204020204" pitchFamily="34" charset="-122"/>
                <a:sym typeface="Arial" panose="020B0604020202020204" pitchFamily="34" charset="0"/>
              </a:rPr>
              <a:t>寻找纳什均衡的方法</a:t>
            </a:r>
            <a:endParaRPr lang="en-US" altLang="zh-CN" sz="2200" b="0" dirty="0">
              <a:latin typeface="微软雅黑" panose="020B0503020204020204" pitchFamily="34" charset="-122"/>
              <a:ea typeface="微软雅黑" panose="020B0503020204020204" pitchFamily="34" charset="-122"/>
              <a:sym typeface="Arial" panose="020B0604020202020204" pitchFamily="34" charset="0"/>
            </a:endParaRPr>
          </a:p>
          <a:p>
            <a:pPr marL="1085850" lvl="3" defTabSz="0">
              <a:spcBef>
                <a:spcPct val="20000"/>
              </a:spcBef>
            </a:pPr>
            <a:r>
              <a:rPr lang="zh-CN" altLang="en-US" sz="2200" b="0" dirty="0">
                <a:latin typeface="微软雅黑" panose="020B0503020204020204" pitchFamily="34" charset="-122"/>
                <a:ea typeface="微软雅黑" panose="020B0503020204020204" pitchFamily="34" charset="-122"/>
                <a:sym typeface="Arial" panose="020B0604020202020204" pitchFamily="34" charset="0"/>
              </a:rPr>
              <a:t>一、</a:t>
            </a:r>
            <a:r>
              <a:rPr lang="zh-CN" altLang="en-US" sz="2000" b="0" dirty="0">
                <a:latin typeface="微软雅黑" panose="020B0503020204020204" pitchFamily="34" charset="-122"/>
                <a:ea typeface="微软雅黑" panose="020B0503020204020204" pitchFamily="34" charset="-122"/>
                <a:sym typeface="Arial" panose="020B0604020202020204" pitchFamily="34" charset="0"/>
              </a:rPr>
              <a:t>确定参与人</a:t>
            </a:r>
            <a:r>
              <a:rPr lang="en-US" altLang="zh-CN" sz="2000" b="0" dirty="0">
                <a:latin typeface="微软雅黑" panose="020B0503020204020204" pitchFamily="34" charset="-122"/>
                <a:ea typeface="微软雅黑" panose="020B0503020204020204" pitchFamily="34" charset="-122"/>
                <a:sym typeface="Arial" panose="020B0604020202020204" pitchFamily="34" charset="0"/>
              </a:rPr>
              <a:t>A</a:t>
            </a:r>
            <a:r>
              <a:rPr lang="zh-CN" altLang="en-US" sz="2000" b="0" dirty="0">
                <a:latin typeface="微软雅黑" panose="020B0503020204020204" pitchFamily="34" charset="-122"/>
                <a:ea typeface="微软雅黑" panose="020B0503020204020204" pitchFamily="34" charset="-122"/>
                <a:sym typeface="Arial" panose="020B0604020202020204" pitchFamily="34" charset="0"/>
              </a:rPr>
              <a:t>的所有相对优势策略</a:t>
            </a:r>
            <a:endParaRPr lang="en-US" altLang="zh-CN" sz="2000" b="0" dirty="0">
              <a:latin typeface="微软雅黑" panose="020B0503020204020204" pitchFamily="34" charset="-122"/>
              <a:ea typeface="微软雅黑" panose="020B0503020204020204" pitchFamily="34" charset="-122"/>
              <a:sym typeface="Arial" panose="020B0604020202020204" pitchFamily="34" charset="0"/>
            </a:endParaRPr>
          </a:p>
          <a:p>
            <a:pPr marL="1085850" lvl="3" defTabSz="0">
              <a:spcBef>
                <a:spcPct val="20000"/>
              </a:spcBef>
            </a:pPr>
            <a:r>
              <a:rPr lang="zh-CN" altLang="en-US" sz="2200" b="0" dirty="0">
                <a:latin typeface="微软雅黑" panose="020B0503020204020204" pitchFamily="34" charset="-122"/>
                <a:ea typeface="微软雅黑" panose="020B0503020204020204" pitchFamily="34" charset="-122"/>
                <a:sym typeface="Arial" panose="020B0604020202020204" pitchFamily="34" charset="0"/>
              </a:rPr>
              <a:t>二、</a:t>
            </a:r>
            <a:r>
              <a:rPr lang="zh-CN" altLang="en-US" sz="2000" b="0" dirty="0">
                <a:latin typeface="微软雅黑" panose="020B0503020204020204" pitchFamily="34" charset="-122"/>
                <a:ea typeface="微软雅黑" panose="020B0503020204020204" pitchFamily="34" charset="-122"/>
                <a:sym typeface="Arial" panose="020B0604020202020204" pitchFamily="34" charset="0"/>
              </a:rPr>
              <a:t>确定参与人</a:t>
            </a:r>
            <a:r>
              <a:rPr lang="en-US" altLang="zh-CN" sz="2000" b="0" dirty="0">
                <a:latin typeface="微软雅黑" panose="020B0503020204020204" pitchFamily="34" charset="-122"/>
                <a:ea typeface="微软雅黑" panose="020B0503020204020204" pitchFamily="34" charset="-122"/>
                <a:sym typeface="Arial" panose="020B0604020202020204" pitchFamily="34" charset="0"/>
              </a:rPr>
              <a:t>B</a:t>
            </a:r>
            <a:r>
              <a:rPr lang="zh-CN" altLang="en-US" sz="2000" b="0" dirty="0">
                <a:latin typeface="微软雅黑" panose="020B0503020204020204" pitchFamily="34" charset="-122"/>
                <a:ea typeface="微软雅黑" panose="020B0503020204020204" pitchFamily="34" charset="-122"/>
                <a:sym typeface="Arial" panose="020B0604020202020204" pitchFamily="34" charset="0"/>
              </a:rPr>
              <a:t>的所有相对优势策略</a:t>
            </a:r>
            <a:endParaRPr lang="en-US" altLang="zh-CN" sz="2000" b="0" dirty="0">
              <a:latin typeface="微软雅黑" panose="020B0503020204020204" pitchFamily="34" charset="-122"/>
              <a:ea typeface="微软雅黑" panose="020B0503020204020204" pitchFamily="34" charset="-122"/>
              <a:sym typeface="Arial" panose="020B0604020202020204" pitchFamily="34" charset="0"/>
            </a:endParaRPr>
          </a:p>
          <a:p>
            <a:pPr marL="1085850" lvl="3" defTabSz="0">
              <a:spcBef>
                <a:spcPct val="20000"/>
              </a:spcBef>
            </a:pPr>
            <a:r>
              <a:rPr lang="zh-CN" altLang="en-US" sz="2200" b="0" dirty="0">
                <a:latin typeface="微软雅黑" panose="020B0503020204020204" pitchFamily="34" charset="-122"/>
                <a:ea typeface="微软雅黑" panose="020B0503020204020204" pitchFamily="34" charset="-122"/>
                <a:sym typeface="Arial" panose="020B0604020202020204" pitchFamily="34" charset="0"/>
              </a:rPr>
              <a:t>三、</a:t>
            </a:r>
            <a:r>
              <a:rPr lang="zh-CN" altLang="en-US" sz="2000" b="0" dirty="0">
                <a:latin typeface="微软雅黑" panose="020B0503020204020204" pitchFamily="34" charset="-122"/>
                <a:ea typeface="微软雅黑" panose="020B0503020204020204" pitchFamily="34" charset="-122"/>
                <a:sym typeface="Arial" panose="020B0604020202020204" pitchFamily="34" charset="0"/>
              </a:rPr>
              <a:t>确定纳什均衡</a:t>
            </a:r>
            <a:endParaRPr lang="zh-CN" altLang="en-US" sz="2000" b="0" dirty="0">
              <a:latin typeface="微软雅黑" panose="020B0503020204020204" pitchFamily="34" charset="-122"/>
              <a:ea typeface="微软雅黑" panose="020B0503020204020204" pitchFamily="34" charset="-122"/>
            </a:endParaRPr>
          </a:p>
        </p:txBody>
      </p:sp>
      <p:graphicFrame>
        <p:nvGraphicFramePr>
          <p:cNvPr id="52227" name="Group 3"/>
          <p:cNvGraphicFramePr>
            <a:graphicFrameLocks noGrp="1"/>
          </p:cNvGraphicFramePr>
          <p:nvPr>
            <p:extLst>
              <p:ext uri="{D42A27DB-BD31-4B8C-83A1-F6EECF244321}">
                <p14:modId xmlns:p14="http://schemas.microsoft.com/office/powerpoint/2010/main" val="2989641083"/>
              </p:ext>
            </p:extLst>
          </p:nvPr>
        </p:nvGraphicFramePr>
        <p:xfrm>
          <a:off x="1547800" y="4654964"/>
          <a:ext cx="6048399" cy="1296090"/>
        </p:xfrm>
        <a:graphic>
          <a:graphicData uri="http://schemas.openxmlformats.org/drawingml/2006/table">
            <a:tbl>
              <a:tblPr/>
              <a:tblGrid>
                <a:gridCol w="2016133">
                  <a:extLst>
                    <a:ext uri="{9D8B030D-6E8A-4147-A177-3AD203B41FA5}">
                      <a16:colId xmlns:a16="http://schemas.microsoft.com/office/drawing/2014/main" val="2567368038"/>
                    </a:ext>
                  </a:extLst>
                </a:gridCol>
                <a:gridCol w="2016133">
                  <a:extLst>
                    <a:ext uri="{9D8B030D-6E8A-4147-A177-3AD203B41FA5}">
                      <a16:colId xmlns:a16="http://schemas.microsoft.com/office/drawing/2014/main" val="370524816"/>
                    </a:ext>
                  </a:extLst>
                </a:gridCol>
                <a:gridCol w="2016133">
                  <a:extLst>
                    <a:ext uri="{9D8B030D-6E8A-4147-A177-3AD203B41FA5}">
                      <a16:colId xmlns:a16="http://schemas.microsoft.com/office/drawing/2014/main" val="3758828608"/>
                    </a:ext>
                  </a:extLst>
                </a:gridCol>
              </a:tblGrid>
              <a:tr h="459477">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0"/>
                        </a:spcBef>
                        <a:spcAft>
                          <a:spcPct val="0"/>
                        </a:spcAft>
                        <a:buClrTx/>
                        <a:buSzTx/>
                        <a:buFontTx/>
                        <a:buNone/>
                        <a:tabLst/>
                      </a:pPr>
                      <a:r>
                        <a:rPr kumimoji="0" lang="zh-CN" altLang="en-US" sz="1800" b="1" i="0" u="none" strike="noStrike" kern="1200" cap="none" normalizeH="0" baseline="0" dirty="0">
                          <a:ln>
                            <a:noFill/>
                          </a:ln>
                          <a:solidFill>
                            <a:srgbClr val="FFFFFF"/>
                          </a:solidFill>
                          <a:effectLst/>
                          <a:latin typeface="微软雅黑" panose="020B0503020204020204" pitchFamily="34" charset="-122"/>
                          <a:ea typeface="微软雅黑" panose="020B0503020204020204" pitchFamily="34" charset="-122"/>
                          <a:cs typeface="+mn-cs"/>
                          <a:sym typeface="Arial" panose="020B0604020202020204" pitchFamily="34" charset="0"/>
                        </a:rPr>
                        <a:t>企业</a:t>
                      </a:r>
                      <a:r>
                        <a:rPr kumimoji="0" lang="en-US" altLang="zh-CN" sz="1800" b="1" i="0" u="none" strike="noStrike" kern="1200" cap="none" normalizeH="0" baseline="0" dirty="0">
                          <a:ln>
                            <a:noFill/>
                          </a:ln>
                          <a:solidFill>
                            <a:srgbClr val="FFFFFF"/>
                          </a:solidFill>
                          <a:effectLst/>
                          <a:latin typeface="微软雅黑" panose="020B0503020204020204" pitchFamily="34" charset="-122"/>
                          <a:ea typeface="微软雅黑" panose="020B0503020204020204" pitchFamily="34" charset="-122"/>
                          <a:cs typeface="+mn-cs"/>
                          <a:sym typeface="Arial" panose="020B0604020202020204" pitchFamily="34" charset="0"/>
                        </a:rPr>
                        <a:t>A\</a:t>
                      </a:r>
                      <a:r>
                        <a:rPr kumimoji="0" lang="zh-CN" altLang="en-US" sz="1800" b="1" i="0" u="none" strike="noStrike" kern="1200" cap="none" normalizeH="0" baseline="0" dirty="0">
                          <a:ln>
                            <a:noFill/>
                          </a:ln>
                          <a:solidFill>
                            <a:srgbClr val="FFFFFF"/>
                          </a:solidFill>
                          <a:effectLst/>
                          <a:latin typeface="微软雅黑" panose="020B0503020204020204" pitchFamily="34" charset="-122"/>
                          <a:ea typeface="微软雅黑" panose="020B0503020204020204" pitchFamily="34" charset="-122"/>
                          <a:cs typeface="+mn-cs"/>
                          <a:sym typeface="Arial" panose="020B0604020202020204" pitchFamily="34" charset="0"/>
                        </a:rPr>
                        <a:t>企业</a:t>
                      </a:r>
                      <a:r>
                        <a:rPr kumimoji="0" lang="en-US" altLang="zh-CN" sz="1800" b="1" i="0" u="none" strike="noStrike" kern="1200" cap="none" normalizeH="0" baseline="0" dirty="0">
                          <a:ln>
                            <a:noFill/>
                          </a:ln>
                          <a:solidFill>
                            <a:srgbClr val="FFFFFF"/>
                          </a:solidFill>
                          <a:effectLst/>
                          <a:latin typeface="微软雅黑" panose="020B0503020204020204" pitchFamily="34" charset="-122"/>
                          <a:ea typeface="微软雅黑" panose="020B0503020204020204" pitchFamily="34" charset="-122"/>
                          <a:cs typeface="+mn-cs"/>
                          <a:sym typeface="Arial" panose="020B0604020202020204" pitchFamily="34" charset="0"/>
                        </a:rPr>
                        <a:t>B</a:t>
                      </a:r>
                      <a:endParaRPr kumimoji="0" lang="zh-CN" altLang="en-US" sz="1800" b="1" i="0" u="none" strike="noStrike" kern="1200" cap="none" normalizeH="0" baseline="0" dirty="0">
                        <a:ln>
                          <a:noFill/>
                        </a:ln>
                        <a:solidFill>
                          <a:srgbClr val="FFFFFF"/>
                        </a:solidFill>
                        <a:effectLst/>
                        <a:latin typeface="微软雅黑" panose="020B0503020204020204" pitchFamily="34" charset="-122"/>
                        <a:ea typeface="微软雅黑" panose="020B0503020204020204" pitchFamily="34" charset="-122"/>
                        <a:cs typeface="+mn-cs"/>
                        <a:sym typeface="Arial" panose="020B0604020202020204" pitchFamily="34" charset="0"/>
                      </a:endParaRPr>
                    </a:p>
                  </a:txBody>
                  <a:tcPr marT="45733" marB="4573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3C97F"/>
                    </a:solidFill>
                  </a:tcPr>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0"/>
                        </a:spcBef>
                        <a:spcAft>
                          <a:spcPct val="0"/>
                        </a:spcAft>
                        <a:buClrTx/>
                        <a:buSzTx/>
                        <a:buFontTx/>
                        <a:buNone/>
                        <a:tabLst/>
                      </a:pPr>
                      <a:r>
                        <a:rPr kumimoji="0" lang="zh-CN" altLang="zh-CN" sz="1800" b="1" i="0" u="none" strike="noStrike" kern="1200" cap="none" normalizeH="0" baseline="0" dirty="0">
                          <a:ln>
                            <a:noFill/>
                          </a:ln>
                          <a:solidFill>
                            <a:srgbClr val="FFFFFF"/>
                          </a:solidFill>
                          <a:effectLst/>
                          <a:latin typeface="微软雅黑" panose="020B0503020204020204" pitchFamily="34" charset="-122"/>
                          <a:ea typeface="微软雅黑" panose="020B0503020204020204" pitchFamily="34" charset="-122"/>
                          <a:cs typeface="+mn-cs"/>
                          <a:sym typeface="Arial" panose="020B0604020202020204" pitchFamily="34" charset="0"/>
                        </a:rPr>
                        <a:t>左</a:t>
                      </a:r>
                    </a:p>
                  </a:txBody>
                  <a:tcPr marT="45733" marB="4573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3C97F"/>
                    </a:solidFill>
                  </a:tcPr>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0"/>
                        </a:spcBef>
                        <a:spcAft>
                          <a:spcPct val="0"/>
                        </a:spcAft>
                        <a:buClrTx/>
                        <a:buSzTx/>
                        <a:buFontTx/>
                        <a:buNone/>
                        <a:tabLst/>
                      </a:pPr>
                      <a:r>
                        <a:rPr kumimoji="0" lang="zh-CN" altLang="zh-CN" sz="1800" b="1" i="0" u="none" strike="noStrike" kern="1200" cap="none" normalizeH="0" baseline="0" dirty="0">
                          <a:ln>
                            <a:noFill/>
                          </a:ln>
                          <a:solidFill>
                            <a:srgbClr val="FFFFFF"/>
                          </a:solidFill>
                          <a:effectLst/>
                          <a:latin typeface="微软雅黑" panose="020B0503020204020204" pitchFamily="34" charset="-122"/>
                          <a:ea typeface="微软雅黑" panose="020B0503020204020204" pitchFamily="34" charset="-122"/>
                          <a:cs typeface="+mn-cs"/>
                          <a:sym typeface="Arial" panose="020B0604020202020204" pitchFamily="34" charset="0"/>
                        </a:rPr>
                        <a:t>右</a:t>
                      </a:r>
                    </a:p>
                  </a:txBody>
                  <a:tcPr marT="45733" marB="4573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3C97F"/>
                    </a:solidFill>
                  </a:tcPr>
                </a:tc>
                <a:extLst>
                  <a:ext uri="{0D108BD9-81ED-4DB2-BD59-A6C34878D82A}">
                    <a16:rowId xmlns:a16="http://schemas.microsoft.com/office/drawing/2014/main" val="2509670712"/>
                  </a:ext>
                </a:extLst>
              </a:tr>
              <a:tr h="417513">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sym typeface="Arial" panose="020B0604020202020204" pitchFamily="34" charset="0"/>
                        </a:rPr>
                        <a:t>上</a:t>
                      </a:r>
                      <a:endParaRPr kumimoji="0" lang="zh-CN" altLang="zh-CN" sz="2800" b="1" i="0" u="none" strike="noStrike" cap="none" normalizeH="0" baseline="0" dirty="0">
                        <a:ln>
                          <a:noFill/>
                        </a:ln>
                        <a:solidFill>
                          <a:srgbClr val="CC0000"/>
                        </a:solidFill>
                        <a:effectLst/>
                        <a:latin typeface="微软雅黑" panose="020B0503020204020204" pitchFamily="34" charset="-122"/>
                        <a:ea typeface="微软雅黑" panose="020B0503020204020204" pitchFamily="34" charset="-122"/>
                        <a:sym typeface="Arial" panose="020B0604020202020204" pitchFamily="34" charset="0"/>
                      </a:endParaRPr>
                    </a:p>
                  </a:txBody>
                  <a:tcPr marT="45733" marB="4573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DCDDA"/>
                    </a:solidFill>
                  </a:tcPr>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rgbClr val="000000"/>
                          </a:solidFill>
                          <a:effectLst/>
                          <a:latin typeface="Arial" panose="020B0604020202020204" pitchFamily="34" charset="0"/>
                          <a:ea typeface="宋体" panose="02010600030101010101" pitchFamily="2" charset="-122"/>
                          <a:sym typeface="Arial" panose="020B0604020202020204" pitchFamily="34" charset="0"/>
                        </a:rPr>
                        <a:t>5</a:t>
                      </a:r>
                      <a:r>
                        <a:rPr kumimoji="0" lang="zh-CN" altLang="en-US" sz="1800" b="0" i="0" u="none" strike="noStrike" cap="none" normalizeH="0" baseline="0" dirty="0">
                          <a:ln>
                            <a:noFill/>
                          </a:ln>
                          <a:solidFill>
                            <a:srgbClr val="000000"/>
                          </a:solidFill>
                          <a:effectLst/>
                          <a:latin typeface="Arial" panose="020B0604020202020204" pitchFamily="34" charset="0"/>
                          <a:ea typeface="宋体" panose="02010600030101010101" pitchFamily="2" charset="-122"/>
                          <a:sym typeface="Arial" panose="020B0604020202020204" pitchFamily="34" charset="0"/>
                        </a:rPr>
                        <a:t>，</a:t>
                      </a:r>
                      <a:r>
                        <a:rPr kumimoji="0" lang="en-US" altLang="zh-CN" sz="1800" b="0" i="0" u="sng" strike="noStrike" cap="none" normalizeH="0" baseline="0" dirty="0">
                          <a:ln>
                            <a:noFill/>
                          </a:ln>
                          <a:solidFill>
                            <a:srgbClr val="000000"/>
                          </a:solidFill>
                          <a:effectLst/>
                          <a:latin typeface="Arial" panose="020B0604020202020204" pitchFamily="34" charset="0"/>
                          <a:ea typeface="宋体" panose="02010600030101010101" pitchFamily="2" charset="-122"/>
                          <a:sym typeface="Arial" panose="020B0604020202020204" pitchFamily="34" charset="0"/>
                        </a:rPr>
                        <a:t>6</a:t>
                      </a:r>
                      <a:endParaRPr kumimoji="0" lang="zh-CN" altLang="en-US" sz="2800" b="1" i="0" u="none" strike="noStrike" cap="none" normalizeH="0" baseline="0" dirty="0">
                        <a:ln>
                          <a:noFill/>
                        </a:ln>
                        <a:solidFill>
                          <a:srgbClr val="CC0000"/>
                        </a:solidFill>
                        <a:effectLst/>
                        <a:latin typeface="Arial" panose="020B0604020202020204" pitchFamily="34" charset="0"/>
                        <a:ea typeface="宋体" panose="02010600030101010101" pitchFamily="2" charset="-122"/>
                        <a:sym typeface="Arial" panose="020B0604020202020204" pitchFamily="34" charset="0"/>
                      </a:endParaRPr>
                    </a:p>
                  </a:txBody>
                  <a:tcPr marT="45733" marB="4573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DCDDA"/>
                    </a:solidFill>
                  </a:tcPr>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0"/>
                        </a:spcBef>
                        <a:spcAft>
                          <a:spcPct val="0"/>
                        </a:spcAft>
                        <a:buClrTx/>
                        <a:buSzTx/>
                        <a:buFontTx/>
                        <a:buNone/>
                        <a:tabLst/>
                      </a:pPr>
                      <a:r>
                        <a:rPr kumimoji="0" lang="en-US" altLang="zh-CN" sz="1800" b="0" i="0" u="sng" strike="noStrike" cap="none" normalizeH="0" baseline="0">
                          <a:ln>
                            <a:noFill/>
                          </a:ln>
                          <a:solidFill>
                            <a:srgbClr val="000000"/>
                          </a:solidFill>
                          <a:effectLst/>
                          <a:latin typeface="Arial" panose="020B0604020202020204" pitchFamily="34" charset="0"/>
                          <a:ea typeface="宋体" panose="02010600030101010101" pitchFamily="2" charset="-122"/>
                          <a:sym typeface="Arial" panose="020B0604020202020204" pitchFamily="34" charset="0"/>
                        </a:rPr>
                        <a:t>9</a:t>
                      </a:r>
                      <a:r>
                        <a:rPr kumimoji="0" lang="zh-CN" altLang="en-US" sz="1800" b="0" i="0" u="none" strike="noStrike" cap="none" normalizeH="0" baseline="0">
                          <a:ln>
                            <a:noFill/>
                          </a:ln>
                          <a:solidFill>
                            <a:srgbClr val="000000"/>
                          </a:solidFill>
                          <a:effectLst/>
                          <a:latin typeface="Arial" panose="020B0604020202020204" pitchFamily="34" charset="0"/>
                          <a:ea typeface="宋体" panose="02010600030101010101" pitchFamily="2" charset="-122"/>
                          <a:sym typeface="Arial" panose="020B0604020202020204" pitchFamily="34" charset="0"/>
                        </a:rPr>
                        <a:t>，</a:t>
                      </a:r>
                      <a:r>
                        <a:rPr kumimoji="0" lang="en-US" altLang="zh-CN" sz="1800" b="0" i="0" u="none" strike="noStrike" cap="none" normalizeH="0" baseline="0">
                          <a:ln>
                            <a:noFill/>
                          </a:ln>
                          <a:solidFill>
                            <a:srgbClr val="000000"/>
                          </a:solidFill>
                          <a:effectLst/>
                          <a:latin typeface="Arial" panose="020B0604020202020204" pitchFamily="34" charset="0"/>
                          <a:ea typeface="宋体" panose="02010600030101010101" pitchFamily="2" charset="-122"/>
                          <a:sym typeface="Arial" panose="020B0604020202020204" pitchFamily="34" charset="0"/>
                        </a:rPr>
                        <a:t>1</a:t>
                      </a:r>
                      <a:endParaRPr kumimoji="0" lang="zh-CN" altLang="en-US" sz="2800" b="1" i="0" u="none" strike="noStrike" cap="none" normalizeH="0" baseline="0">
                        <a:ln>
                          <a:noFill/>
                        </a:ln>
                        <a:solidFill>
                          <a:srgbClr val="CC0000"/>
                        </a:solidFill>
                        <a:effectLst/>
                        <a:latin typeface="Arial" panose="020B0604020202020204" pitchFamily="34" charset="0"/>
                        <a:ea typeface="宋体" panose="02010600030101010101" pitchFamily="2" charset="-122"/>
                        <a:sym typeface="Arial" panose="020B0604020202020204" pitchFamily="34" charset="0"/>
                      </a:endParaRPr>
                    </a:p>
                  </a:txBody>
                  <a:tcPr marT="45733" marB="4573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DCDDA"/>
                    </a:solidFill>
                  </a:tcPr>
                </a:tc>
                <a:extLst>
                  <a:ext uri="{0D108BD9-81ED-4DB2-BD59-A6C34878D82A}">
                    <a16:rowId xmlns:a16="http://schemas.microsoft.com/office/drawing/2014/main" val="4288258937"/>
                  </a:ext>
                </a:extLst>
              </a:tr>
              <a:tr h="419100">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sym typeface="Arial" panose="020B0604020202020204" pitchFamily="34" charset="0"/>
                        </a:rPr>
                        <a:t>下</a:t>
                      </a:r>
                      <a:endParaRPr kumimoji="0" lang="zh-CN" altLang="zh-CN" sz="2800" b="1" i="0" u="none" strike="noStrike" cap="none" normalizeH="0" baseline="0" dirty="0">
                        <a:ln>
                          <a:noFill/>
                        </a:ln>
                        <a:solidFill>
                          <a:srgbClr val="CC0000"/>
                        </a:solidFill>
                        <a:effectLst/>
                        <a:latin typeface="微软雅黑" panose="020B0503020204020204" pitchFamily="34" charset="-122"/>
                        <a:ea typeface="微软雅黑" panose="020B0503020204020204" pitchFamily="34" charset="-122"/>
                        <a:sym typeface="Arial" panose="020B0604020202020204" pitchFamily="34" charset="0"/>
                      </a:endParaRPr>
                    </a:p>
                  </a:txBody>
                  <a:tcPr marT="45733" marB="4573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8ED"/>
                    </a:solidFill>
                  </a:tcPr>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0"/>
                        </a:spcBef>
                        <a:spcAft>
                          <a:spcPct val="0"/>
                        </a:spcAft>
                        <a:buClrTx/>
                        <a:buSzTx/>
                        <a:buFontTx/>
                        <a:buNone/>
                        <a:tabLst/>
                      </a:pPr>
                      <a:r>
                        <a:rPr kumimoji="0" lang="en-US" altLang="zh-CN" sz="1800" b="0" i="0" u="sng" strike="noStrike" cap="none" normalizeH="0" baseline="0">
                          <a:ln>
                            <a:noFill/>
                          </a:ln>
                          <a:solidFill>
                            <a:srgbClr val="000000"/>
                          </a:solidFill>
                          <a:effectLst/>
                          <a:latin typeface="Arial" panose="020B0604020202020204" pitchFamily="34" charset="0"/>
                          <a:ea typeface="宋体" panose="02010600030101010101" pitchFamily="2" charset="-122"/>
                          <a:sym typeface="Arial" panose="020B0604020202020204" pitchFamily="34" charset="0"/>
                        </a:rPr>
                        <a:t>7</a:t>
                      </a:r>
                      <a:r>
                        <a:rPr kumimoji="0" lang="zh-CN" altLang="en-US" sz="1800" b="0" i="0" u="none" strike="noStrike" cap="none" normalizeH="0" baseline="0">
                          <a:ln>
                            <a:noFill/>
                          </a:ln>
                          <a:solidFill>
                            <a:srgbClr val="000000"/>
                          </a:solidFill>
                          <a:effectLst/>
                          <a:latin typeface="Arial" panose="020B0604020202020204" pitchFamily="34" charset="0"/>
                          <a:ea typeface="宋体" panose="02010600030101010101" pitchFamily="2" charset="-122"/>
                          <a:sym typeface="Arial" panose="020B0604020202020204" pitchFamily="34" charset="0"/>
                        </a:rPr>
                        <a:t>，</a:t>
                      </a:r>
                      <a:r>
                        <a:rPr kumimoji="0" lang="en-US" altLang="zh-CN" sz="1800" b="0" i="0" u="none" strike="noStrike" cap="none" normalizeH="0" baseline="0">
                          <a:ln>
                            <a:noFill/>
                          </a:ln>
                          <a:solidFill>
                            <a:srgbClr val="000000"/>
                          </a:solidFill>
                          <a:effectLst/>
                          <a:latin typeface="Arial" panose="020B0604020202020204" pitchFamily="34" charset="0"/>
                          <a:ea typeface="宋体" panose="02010600030101010101" pitchFamily="2" charset="-122"/>
                          <a:sym typeface="Arial" panose="020B0604020202020204" pitchFamily="34" charset="0"/>
                        </a:rPr>
                        <a:t>4</a:t>
                      </a:r>
                      <a:endParaRPr kumimoji="0" lang="zh-CN" altLang="en-US" sz="2800" b="1" i="0" u="none" strike="noStrike" cap="none" normalizeH="0" baseline="0">
                        <a:ln>
                          <a:noFill/>
                        </a:ln>
                        <a:solidFill>
                          <a:srgbClr val="CC0000"/>
                        </a:solidFill>
                        <a:effectLst/>
                        <a:latin typeface="Arial" panose="020B0604020202020204" pitchFamily="34" charset="0"/>
                        <a:ea typeface="宋体" panose="02010600030101010101" pitchFamily="2" charset="-122"/>
                        <a:sym typeface="Arial" panose="020B0604020202020204" pitchFamily="34" charset="0"/>
                      </a:endParaRPr>
                    </a:p>
                  </a:txBody>
                  <a:tcPr marT="45733" marB="4573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8ED"/>
                    </a:solidFill>
                  </a:tcPr>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rgbClr val="000000"/>
                          </a:solidFill>
                          <a:effectLst/>
                          <a:latin typeface="Arial" panose="020B0604020202020204" pitchFamily="34" charset="0"/>
                          <a:ea typeface="宋体" panose="02010600030101010101" pitchFamily="2" charset="-122"/>
                          <a:sym typeface="Arial" panose="020B0604020202020204" pitchFamily="34" charset="0"/>
                        </a:rPr>
                        <a:t>2</a:t>
                      </a:r>
                      <a:r>
                        <a:rPr kumimoji="0" lang="zh-CN" altLang="en-US" sz="1800" b="0" i="0" u="none" strike="noStrike" cap="none" normalizeH="0" baseline="0" dirty="0">
                          <a:ln>
                            <a:noFill/>
                          </a:ln>
                          <a:solidFill>
                            <a:srgbClr val="000000"/>
                          </a:solidFill>
                          <a:effectLst/>
                          <a:latin typeface="Arial" panose="020B0604020202020204" pitchFamily="34" charset="0"/>
                          <a:ea typeface="宋体" panose="02010600030101010101" pitchFamily="2" charset="-122"/>
                          <a:sym typeface="Arial" panose="020B0604020202020204" pitchFamily="34" charset="0"/>
                        </a:rPr>
                        <a:t>，</a:t>
                      </a:r>
                      <a:r>
                        <a:rPr kumimoji="0" lang="en-US" altLang="zh-CN" sz="1800" b="0" i="0" u="sng" strike="noStrike" cap="none" normalizeH="0" baseline="0" dirty="0">
                          <a:ln>
                            <a:noFill/>
                          </a:ln>
                          <a:solidFill>
                            <a:srgbClr val="000000"/>
                          </a:solidFill>
                          <a:effectLst/>
                          <a:latin typeface="Arial" panose="020B0604020202020204" pitchFamily="34" charset="0"/>
                          <a:ea typeface="宋体" panose="02010600030101010101" pitchFamily="2" charset="-122"/>
                          <a:sym typeface="Arial" panose="020B0604020202020204" pitchFamily="34" charset="0"/>
                        </a:rPr>
                        <a:t>8</a:t>
                      </a:r>
                      <a:endParaRPr kumimoji="0" lang="zh-CN" altLang="en-US" sz="2800" b="1" i="0" u="none" strike="noStrike" cap="none" normalizeH="0" baseline="0" dirty="0">
                        <a:ln>
                          <a:noFill/>
                        </a:ln>
                        <a:solidFill>
                          <a:srgbClr val="CC0000"/>
                        </a:solidFill>
                        <a:effectLst/>
                        <a:latin typeface="Arial" panose="020B0604020202020204" pitchFamily="34" charset="0"/>
                        <a:ea typeface="宋体" panose="02010600030101010101" pitchFamily="2" charset="-122"/>
                        <a:sym typeface="Arial" panose="020B0604020202020204" pitchFamily="34" charset="0"/>
                      </a:endParaRPr>
                    </a:p>
                  </a:txBody>
                  <a:tcPr marT="45733" marB="4573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8ED"/>
                    </a:solidFill>
                  </a:tcPr>
                </a:tc>
                <a:extLst>
                  <a:ext uri="{0D108BD9-81ED-4DB2-BD59-A6C34878D82A}">
                    <a16:rowId xmlns:a16="http://schemas.microsoft.com/office/drawing/2014/main" val="3798065809"/>
                  </a:ext>
                </a:extLst>
              </a:tr>
            </a:tbl>
          </a:graphicData>
        </a:graphic>
      </p:graphicFrame>
      <p:sp>
        <p:nvSpPr>
          <p:cNvPr id="5" name="矩形 4"/>
          <p:cNvSpPr/>
          <p:nvPr/>
        </p:nvSpPr>
        <p:spPr>
          <a:xfrm>
            <a:off x="6228115" y="44765"/>
            <a:ext cx="2915885" cy="369332"/>
          </a:xfrm>
          <a:prstGeom prst="rect">
            <a:avLst/>
          </a:prstGeom>
        </p:spPr>
        <p:txBody>
          <a:bodyPr wrap="square">
            <a:spAutoFit/>
          </a:bodyPr>
          <a:lstStyle/>
          <a:p>
            <a:r>
              <a:rPr lang="zh-CN" altLang="en-US" sz="1800" b="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第四节  博弈论和策略行为</a:t>
            </a:r>
            <a:endParaRPr lang="zh-CN" altLang="en-US" sz="18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 name="矩形 5">
            <a:extLst>
              <a:ext uri="{FF2B5EF4-FFF2-40B4-BE49-F238E27FC236}">
                <a16:creationId xmlns:a16="http://schemas.microsoft.com/office/drawing/2014/main" id="{F68E5273-CD77-47B9-B841-9D29349C133D}"/>
              </a:ext>
            </a:extLst>
          </p:cNvPr>
          <p:cNvSpPr/>
          <p:nvPr/>
        </p:nvSpPr>
        <p:spPr>
          <a:xfrm>
            <a:off x="457201" y="548681"/>
            <a:ext cx="2386679"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marL="0" lvl="1">
              <a:defRPr/>
            </a:pPr>
            <a:r>
              <a:rPr lang="zh-CN" altLang="en-US" sz="2400" spc="150" dirty="0">
                <a:solidFill>
                  <a:srgbClr val="FFFFFF"/>
                </a:solidFill>
                <a:latin typeface="微软雅黑" panose="020B0503020204020204" pitchFamily="34" charset="-122"/>
                <a:ea typeface="微软雅黑" panose="020B0503020204020204" pitchFamily="34" charset="-122"/>
              </a:rPr>
              <a:t>二</a:t>
            </a:r>
            <a:r>
              <a:rPr lang="zh-CN" altLang="en-US" sz="2400" b="1" spc="150" dirty="0">
                <a:solidFill>
                  <a:srgbClr val="FFFFFF"/>
                </a:solidFill>
                <a:latin typeface="微软雅黑" panose="020B0503020204020204" pitchFamily="34" charset="-122"/>
                <a:ea typeface="微软雅黑" panose="020B0503020204020204" pitchFamily="34" charset="-122"/>
              </a:rPr>
              <a:t>、</a:t>
            </a:r>
            <a:r>
              <a:rPr lang="zh-CN" altLang="en-US" sz="2400" spc="15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纳什模型</a:t>
            </a:r>
            <a:endParaRPr lang="en-US" altLang="zh-CN" sz="2400" spc="150" dirty="0">
              <a:solidFill>
                <a:srgbClr val="FFFFFF"/>
              </a:solidFill>
              <a:latin typeface="微软雅黑" panose="020B0503020204020204" pitchFamily="34" charset="-122"/>
              <a:ea typeface="微软雅黑" panose="020B0503020204020204" pitchFamily="34"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2226">
                                            <p:txEl>
                                              <p:pRg st="0" end="0"/>
                                            </p:txEl>
                                          </p:spTgt>
                                        </p:tgtEl>
                                        <p:attrNameLst>
                                          <p:attrName>style.visibility</p:attrName>
                                        </p:attrNameLst>
                                      </p:cBhvr>
                                      <p:to>
                                        <p:strVal val="visible"/>
                                      </p:to>
                                    </p:set>
                                    <p:animEffect>
                                      <p:cBhvr>
                                        <p:cTn id="7" dur="500"/>
                                        <p:tgtEl>
                                          <p:spTgt spid="5222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6" fill="hold" nodeType="clickEffect">
                                  <p:stCondLst>
                                    <p:cond delay="0"/>
                                  </p:stCondLst>
                                  <p:childTnLst>
                                    <p:set>
                                      <p:cBhvr>
                                        <p:cTn id="11" dur="1" fill="hold">
                                          <p:stCondLst>
                                            <p:cond delay="0"/>
                                          </p:stCondLst>
                                        </p:cTn>
                                        <p:tgtEl>
                                          <p:spTgt spid="52226">
                                            <p:txEl>
                                              <p:pRg st="1" end="1"/>
                                            </p:txEl>
                                          </p:spTgt>
                                        </p:tgtEl>
                                        <p:attrNameLst>
                                          <p:attrName>style.visibility</p:attrName>
                                        </p:attrNameLst>
                                      </p:cBhvr>
                                      <p:to>
                                        <p:strVal val="visible"/>
                                      </p:to>
                                    </p:set>
                                    <p:animEffect>
                                      <p:cBhvr>
                                        <p:cTn id="12" dur="500"/>
                                        <p:tgtEl>
                                          <p:spTgt spid="5222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nodeType="clickEffect">
                                  <p:stCondLst>
                                    <p:cond delay="0"/>
                                  </p:stCondLst>
                                  <p:childTnLst>
                                    <p:set>
                                      <p:cBhvr>
                                        <p:cTn id="16" dur="1" fill="hold">
                                          <p:stCondLst>
                                            <p:cond delay="0"/>
                                          </p:stCondLst>
                                        </p:cTn>
                                        <p:tgtEl>
                                          <p:spTgt spid="52226">
                                            <p:txEl>
                                              <p:pRg st="2" end="2"/>
                                            </p:txEl>
                                          </p:spTgt>
                                        </p:tgtEl>
                                        <p:attrNameLst>
                                          <p:attrName>style.visibility</p:attrName>
                                        </p:attrNameLst>
                                      </p:cBhvr>
                                      <p:to>
                                        <p:strVal val="visible"/>
                                      </p:to>
                                    </p:set>
                                    <p:animEffect>
                                      <p:cBhvr>
                                        <p:cTn id="17" dur="500"/>
                                        <p:tgtEl>
                                          <p:spTgt spid="52226">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52226">
                                            <p:txEl>
                                              <p:pRg st="3" end="3"/>
                                            </p:txEl>
                                          </p:spTgt>
                                        </p:tgtEl>
                                        <p:attrNameLst>
                                          <p:attrName>style.visibility</p:attrName>
                                        </p:attrNameLst>
                                      </p:cBhvr>
                                      <p:to>
                                        <p:strVal val="visible"/>
                                      </p:to>
                                    </p:set>
                                    <p:animEffect>
                                      <p:cBhvr>
                                        <p:cTn id="22" dur="500"/>
                                        <p:tgtEl>
                                          <p:spTgt spid="52226">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52226">
                                            <p:txEl>
                                              <p:pRg st="4" end="4"/>
                                            </p:txEl>
                                          </p:spTgt>
                                        </p:tgtEl>
                                        <p:attrNameLst>
                                          <p:attrName>style.visibility</p:attrName>
                                        </p:attrNameLst>
                                      </p:cBhvr>
                                      <p:to>
                                        <p:strVal val="visible"/>
                                      </p:to>
                                    </p:set>
                                    <p:animEffect>
                                      <p:cBhvr>
                                        <p:cTn id="27" dur="500"/>
                                        <p:tgtEl>
                                          <p:spTgt spid="52226">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52226">
                                            <p:txEl>
                                              <p:pRg st="5" end="5"/>
                                            </p:txEl>
                                          </p:spTgt>
                                        </p:tgtEl>
                                        <p:attrNameLst>
                                          <p:attrName>style.visibility</p:attrName>
                                        </p:attrNameLst>
                                      </p:cBhvr>
                                      <p:to>
                                        <p:strVal val="visible"/>
                                      </p:to>
                                    </p:set>
                                    <p:animEffect>
                                      <p:cBhvr>
                                        <p:cTn id="32" dur="500"/>
                                        <p:tgtEl>
                                          <p:spTgt spid="52226">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52226">
                                            <p:txEl>
                                              <p:pRg st="6" end="6"/>
                                            </p:txEl>
                                          </p:spTgt>
                                        </p:tgtEl>
                                        <p:attrNameLst>
                                          <p:attrName>style.visibility</p:attrName>
                                        </p:attrNameLst>
                                      </p:cBhvr>
                                      <p:to>
                                        <p:strVal val="visible"/>
                                      </p:to>
                                    </p:set>
                                    <p:animEffect>
                                      <p:cBhvr>
                                        <p:cTn id="37" dur="500"/>
                                        <p:tgtEl>
                                          <p:spTgt spid="52226">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 presetClass="entr" presetSubtype="10" fill="hold" nodeType="clickEffect">
                                  <p:stCondLst>
                                    <p:cond delay="0"/>
                                  </p:stCondLst>
                                  <p:childTnLst>
                                    <p:set>
                                      <p:cBhvr>
                                        <p:cTn id="41" dur="1" fill="hold">
                                          <p:stCondLst>
                                            <p:cond delay="0"/>
                                          </p:stCondLst>
                                        </p:cTn>
                                        <p:tgtEl>
                                          <p:spTgt spid="52227"/>
                                        </p:tgtEl>
                                        <p:attrNameLst>
                                          <p:attrName>style.visibility</p:attrName>
                                        </p:attrNameLst>
                                      </p:cBhvr>
                                      <p:to>
                                        <p:strVal val="visible"/>
                                      </p:to>
                                    </p:set>
                                    <p:animEffect>
                                      <p:cBhvr>
                                        <p:cTn id="42" dur="500"/>
                                        <p:tgtEl>
                                          <p:spTgt spid="522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3"/>
          <p:cNvSpPr>
            <a:spLocks noGrp="1" noChangeArrowheads="1"/>
          </p:cNvSpPr>
          <p:nvPr>
            <p:ph type="body" idx="4294967295"/>
          </p:nvPr>
        </p:nvSpPr>
        <p:spPr>
          <a:xfrm>
            <a:off x="457200" y="1341438"/>
            <a:ext cx="7787055" cy="4784725"/>
          </a:xfrm>
          <a:ln/>
        </p:spPr>
        <p:txBody>
          <a:bodyPr/>
          <a:lstStyle/>
          <a:p>
            <a:pPr marL="457200" lvl="2" indent="-457200" eaLnBrk="1" hangingPunct="1">
              <a:lnSpc>
                <a:spcPct val="150000"/>
              </a:lnSpc>
              <a:buSzPct val="100000"/>
              <a:buFont typeface="Wingdings" panose="05000000000000000000" pitchFamily="2" charset="2"/>
              <a:buChar char="u"/>
            </a:pPr>
            <a:r>
              <a:rPr lang="zh-CN" altLang="en-US" sz="2200" b="0" dirty="0">
                <a:latin typeface="微软雅黑" panose="020B0503020204020204" pitchFamily="34" charset="-122"/>
                <a:ea typeface="微软雅黑" panose="020B0503020204020204" pitchFamily="34" charset="-122"/>
              </a:rPr>
              <a:t>卡特尔的不稳定性</a:t>
            </a:r>
            <a:endParaRPr lang="en-US" altLang="zh-CN" sz="2200" b="0" dirty="0">
              <a:latin typeface="微软雅黑" panose="020B0503020204020204" pitchFamily="34" charset="-122"/>
              <a:ea typeface="微软雅黑" panose="020B0503020204020204" pitchFamily="34" charset="-122"/>
            </a:endParaRPr>
          </a:p>
          <a:p>
            <a:pPr marL="342900" lvl="2" indent="-342900" eaLnBrk="1" hangingPunct="1"/>
            <a:endParaRPr lang="zh-CN" altLang="en-US" dirty="0"/>
          </a:p>
          <a:p>
            <a:pPr marL="342900" lvl="2" indent="-342900" eaLnBrk="1" hangingPunct="1"/>
            <a:endParaRPr lang="zh-CN" altLang="en-US" dirty="0"/>
          </a:p>
          <a:p>
            <a:pPr marL="342900" lvl="2" indent="-342900" eaLnBrk="1" hangingPunct="1">
              <a:buFontTx/>
              <a:buNone/>
            </a:pPr>
            <a:endParaRPr lang="en-US" altLang="zh-CN" dirty="0"/>
          </a:p>
          <a:p>
            <a:pPr marL="342900" lvl="2" indent="-342900" eaLnBrk="1" hangingPunct="1">
              <a:buFontTx/>
              <a:buNone/>
            </a:pPr>
            <a:endParaRPr lang="zh-CN" altLang="en-US" dirty="0"/>
          </a:p>
          <a:p>
            <a:pPr marL="800100" lvl="1" indent="-342900">
              <a:lnSpc>
                <a:spcPct val="150000"/>
              </a:lnSpc>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rPr>
              <a:t>企业</a:t>
            </a:r>
            <a:r>
              <a:rPr lang="en-US" altLang="zh-CN" sz="2000" b="0" dirty="0">
                <a:latin typeface="微软雅黑" panose="020B0503020204020204" pitchFamily="34" charset="-122"/>
                <a:ea typeface="微软雅黑" panose="020B0503020204020204" pitchFamily="34" charset="-122"/>
              </a:rPr>
              <a:t>A</a:t>
            </a:r>
            <a:r>
              <a:rPr lang="zh-CN" altLang="en-US" sz="2000" b="0" dirty="0">
                <a:latin typeface="微软雅黑" panose="020B0503020204020204" pitchFamily="34" charset="-122"/>
                <a:ea typeface="微软雅黑" panose="020B0503020204020204" pitchFamily="34" charset="-122"/>
              </a:rPr>
              <a:t>和企业</a:t>
            </a:r>
            <a:r>
              <a:rPr lang="en-US" altLang="zh-CN" sz="2000" b="0" dirty="0">
                <a:latin typeface="微软雅黑" panose="020B0503020204020204" pitchFamily="34" charset="-122"/>
                <a:ea typeface="微软雅黑" panose="020B0503020204020204" pitchFamily="34" charset="-122"/>
              </a:rPr>
              <a:t>B</a:t>
            </a:r>
            <a:r>
              <a:rPr lang="zh-CN" altLang="en-US" sz="2000" b="0" dirty="0">
                <a:latin typeface="微软雅黑" panose="020B0503020204020204" pitchFamily="34" charset="-122"/>
                <a:ea typeface="微软雅黑" panose="020B0503020204020204" pitchFamily="34" charset="-122"/>
              </a:rPr>
              <a:t>都有勾结的动机</a:t>
            </a:r>
            <a:r>
              <a:rPr lang="en-US" altLang="zh-CN" sz="2000" b="0" dirty="0">
                <a:latin typeface="微软雅黑" panose="020B0503020204020204" pitchFamily="34" charset="-122"/>
                <a:ea typeface="微软雅黑" panose="020B0503020204020204" pitchFamily="34" charset="-122"/>
              </a:rPr>
              <a:t>, </a:t>
            </a:r>
            <a:r>
              <a:rPr lang="zh-CN" altLang="en-US" sz="2000" b="0" dirty="0">
                <a:latin typeface="微软雅黑" panose="020B0503020204020204" pitchFamily="34" charset="-122"/>
                <a:ea typeface="微软雅黑" panose="020B0503020204020204" pitchFamily="34" charset="-122"/>
              </a:rPr>
              <a:t>即达成协议</a:t>
            </a:r>
            <a:r>
              <a:rPr lang="en-US" altLang="zh-CN" sz="2000" b="0" dirty="0">
                <a:latin typeface="微软雅黑" panose="020B0503020204020204" pitchFamily="34" charset="-122"/>
                <a:ea typeface="微软雅黑" panose="020B0503020204020204" pitchFamily="34" charset="-122"/>
              </a:rPr>
              <a:t>, </a:t>
            </a:r>
            <a:r>
              <a:rPr lang="zh-CN" altLang="en-US" sz="2000" b="0" dirty="0">
                <a:latin typeface="微软雅黑" panose="020B0503020204020204" pitchFamily="34" charset="-122"/>
                <a:ea typeface="微软雅黑" panose="020B0503020204020204" pitchFamily="34" charset="-122"/>
              </a:rPr>
              <a:t>承诺选择合作的策略。</a:t>
            </a:r>
            <a:endParaRPr lang="en-US" altLang="zh-CN" sz="2000" b="0" dirty="0">
              <a:latin typeface="微软雅黑" panose="020B0503020204020204" pitchFamily="34" charset="-122"/>
              <a:ea typeface="微软雅黑" panose="020B0503020204020204" pitchFamily="34" charset="-122"/>
            </a:endParaRPr>
          </a:p>
          <a:p>
            <a:pPr marL="800100" lvl="1" indent="-342900">
              <a:lnSpc>
                <a:spcPct val="150000"/>
              </a:lnSpc>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rPr>
              <a:t>但是即使一开始时它们真的达成了合作的协议</a:t>
            </a:r>
            <a:r>
              <a:rPr lang="en-US" altLang="zh-CN" sz="2000" b="0" dirty="0">
                <a:latin typeface="微软雅黑" panose="020B0503020204020204" pitchFamily="34" charset="-122"/>
                <a:ea typeface="微软雅黑" panose="020B0503020204020204" pitchFamily="34" charset="-122"/>
              </a:rPr>
              <a:t>, </a:t>
            </a:r>
            <a:r>
              <a:rPr lang="zh-CN" altLang="en-US" sz="2000" b="0" dirty="0">
                <a:latin typeface="微软雅黑" panose="020B0503020204020204" pitchFamily="34" charset="-122"/>
                <a:ea typeface="微软雅黑" panose="020B0503020204020204" pitchFamily="34" charset="-122"/>
              </a:rPr>
              <a:t>这种合作也是不长久的</a:t>
            </a:r>
            <a:r>
              <a:rPr lang="en-US" altLang="zh-CN" sz="2000" b="0" dirty="0">
                <a:latin typeface="微软雅黑" panose="020B0503020204020204" pitchFamily="34" charset="-122"/>
                <a:ea typeface="微软雅黑" panose="020B0503020204020204" pitchFamily="34" charset="-122"/>
              </a:rPr>
              <a:t>,</a:t>
            </a:r>
            <a:r>
              <a:rPr lang="zh-CN" altLang="en-US" sz="2000" b="0" dirty="0">
                <a:latin typeface="微软雅黑" panose="020B0503020204020204" pitchFamily="34" charset="-122"/>
                <a:ea typeface="微软雅黑" panose="020B0503020204020204" pitchFamily="34" charset="-122"/>
              </a:rPr>
              <a:t>很快就会被破坏</a:t>
            </a:r>
            <a:r>
              <a:rPr lang="en-US" altLang="zh-CN" sz="2000" b="0" dirty="0">
                <a:latin typeface="微软雅黑" panose="020B0503020204020204" pitchFamily="34" charset="-122"/>
                <a:ea typeface="微软雅黑" panose="020B0503020204020204" pitchFamily="34" charset="-122"/>
              </a:rPr>
              <a:t>, </a:t>
            </a:r>
            <a:r>
              <a:rPr lang="zh-CN" altLang="en-US" sz="2000" b="0" dirty="0">
                <a:latin typeface="微软雅黑" panose="020B0503020204020204" pitchFamily="34" charset="-122"/>
                <a:ea typeface="微软雅黑" panose="020B0503020204020204" pitchFamily="34" charset="-122"/>
              </a:rPr>
              <a:t>并最终回到不合作的老路上去。 </a:t>
            </a:r>
          </a:p>
        </p:txBody>
      </p:sp>
      <p:graphicFrame>
        <p:nvGraphicFramePr>
          <p:cNvPr id="53251" name="Group 3"/>
          <p:cNvGraphicFramePr>
            <a:graphicFrameLocks noGrp="1"/>
          </p:cNvGraphicFramePr>
          <p:nvPr>
            <p:extLst>
              <p:ext uri="{D42A27DB-BD31-4B8C-83A1-F6EECF244321}">
                <p14:modId xmlns:p14="http://schemas.microsoft.com/office/powerpoint/2010/main" val="2215915644"/>
              </p:ext>
            </p:extLst>
          </p:nvPr>
        </p:nvGraphicFramePr>
        <p:xfrm>
          <a:off x="1379990" y="2204915"/>
          <a:ext cx="6096000" cy="1112838"/>
        </p:xfrm>
        <a:graphic>
          <a:graphicData uri="http://schemas.openxmlformats.org/drawingml/2006/table">
            <a:tbl>
              <a:tblPr/>
              <a:tblGrid>
                <a:gridCol w="2032000">
                  <a:extLst>
                    <a:ext uri="{9D8B030D-6E8A-4147-A177-3AD203B41FA5}">
                      <a16:colId xmlns:a16="http://schemas.microsoft.com/office/drawing/2014/main" val="1389688949"/>
                    </a:ext>
                  </a:extLst>
                </a:gridCol>
                <a:gridCol w="2032000">
                  <a:extLst>
                    <a:ext uri="{9D8B030D-6E8A-4147-A177-3AD203B41FA5}">
                      <a16:colId xmlns:a16="http://schemas.microsoft.com/office/drawing/2014/main" val="3183905083"/>
                    </a:ext>
                  </a:extLst>
                </a:gridCol>
                <a:gridCol w="2032000">
                  <a:extLst>
                    <a:ext uri="{9D8B030D-6E8A-4147-A177-3AD203B41FA5}">
                      <a16:colId xmlns:a16="http://schemas.microsoft.com/office/drawing/2014/main" val="1902953631"/>
                    </a:ext>
                  </a:extLst>
                </a:gridCol>
              </a:tblGrid>
              <a:tr h="371475">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0"/>
                        </a:spcBef>
                        <a:spcAft>
                          <a:spcPct val="0"/>
                        </a:spcAft>
                        <a:buClrTx/>
                        <a:buSzTx/>
                        <a:buFontTx/>
                        <a:buNone/>
                        <a:tabLst/>
                      </a:pPr>
                      <a:r>
                        <a:rPr kumimoji="0" lang="zh-CN" altLang="en-US" sz="1800" b="1" i="0" u="none" strike="noStrike" kern="1200" cap="none" normalizeH="0" baseline="0" dirty="0">
                          <a:ln>
                            <a:noFill/>
                          </a:ln>
                          <a:solidFill>
                            <a:srgbClr val="FFFFFF"/>
                          </a:solidFill>
                          <a:effectLst/>
                          <a:latin typeface="微软雅黑" panose="020B0503020204020204" pitchFamily="34" charset="-122"/>
                          <a:ea typeface="微软雅黑" panose="020B0503020204020204" pitchFamily="34" charset="-122"/>
                          <a:cs typeface="+mn-cs"/>
                          <a:sym typeface="Arial" panose="020B0604020202020204" pitchFamily="34" charset="0"/>
                        </a:rPr>
                        <a:t>企业</a:t>
                      </a:r>
                      <a:r>
                        <a:rPr kumimoji="0" lang="en-US" altLang="zh-CN" sz="1800" b="1" i="0" u="none" strike="noStrike" kern="1200" cap="none" normalizeH="0" baseline="0" dirty="0">
                          <a:ln>
                            <a:noFill/>
                          </a:ln>
                          <a:solidFill>
                            <a:srgbClr val="FFFFFF"/>
                          </a:solidFill>
                          <a:effectLst/>
                          <a:latin typeface="微软雅黑" panose="020B0503020204020204" pitchFamily="34" charset="-122"/>
                          <a:ea typeface="微软雅黑" panose="020B0503020204020204" pitchFamily="34" charset="-122"/>
                          <a:cs typeface="+mn-cs"/>
                          <a:sym typeface="Arial" panose="020B0604020202020204" pitchFamily="34" charset="0"/>
                        </a:rPr>
                        <a:t>A\</a:t>
                      </a:r>
                      <a:r>
                        <a:rPr kumimoji="0" lang="zh-CN" altLang="en-US" sz="1800" b="1" i="0" u="none" strike="noStrike" kern="1200" cap="none" normalizeH="0" baseline="0" dirty="0">
                          <a:ln>
                            <a:noFill/>
                          </a:ln>
                          <a:solidFill>
                            <a:srgbClr val="FFFFFF"/>
                          </a:solidFill>
                          <a:effectLst/>
                          <a:latin typeface="微软雅黑" panose="020B0503020204020204" pitchFamily="34" charset="-122"/>
                          <a:ea typeface="微软雅黑" panose="020B0503020204020204" pitchFamily="34" charset="-122"/>
                          <a:cs typeface="+mn-cs"/>
                          <a:sym typeface="Arial" panose="020B0604020202020204" pitchFamily="34" charset="0"/>
                        </a:rPr>
                        <a:t>企业</a:t>
                      </a:r>
                      <a:r>
                        <a:rPr kumimoji="0" lang="en-US" altLang="zh-CN" sz="1800" b="1" i="0" u="none" strike="noStrike" kern="1200" cap="none" normalizeH="0" baseline="0" dirty="0">
                          <a:ln>
                            <a:noFill/>
                          </a:ln>
                          <a:solidFill>
                            <a:srgbClr val="FFFFFF"/>
                          </a:solidFill>
                          <a:effectLst/>
                          <a:latin typeface="微软雅黑" panose="020B0503020204020204" pitchFamily="34" charset="-122"/>
                          <a:ea typeface="微软雅黑" panose="020B0503020204020204" pitchFamily="34" charset="-122"/>
                          <a:cs typeface="+mn-cs"/>
                          <a:sym typeface="Arial" panose="020B0604020202020204" pitchFamily="34" charset="0"/>
                        </a:rPr>
                        <a:t>B</a:t>
                      </a:r>
                      <a:endParaRPr kumimoji="0" lang="zh-CN" altLang="en-US" sz="1800" b="1" i="0" u="none" strike="noStrike" kern="1200" cap="none" normalizeH="0" baseline="0" dirty="0">
                        <a:ln>
                          <a:noFill/>
                        </a:ln>
                        <a:solidFill>
                          <a:srgbClr val="FFFFFF"/>
                        </a:solidFill>
                        <a:effectLst/>
                        <a:latin typeface="微软雅黑" panose="020B0503020204020204" pitchFamily="34" charset="-122"/>
                        <a:ea typeface="微软雅黑" panose="020B0503020204020204" pitchFamily="34" charset="-122"/>
                        <a:cs typeface="+mn-cs"/>
                        <a:sym typeface="Arial" panose="020B0604020202020204" pitchFamily="34" charset="0"/>
                      </a:endParaRPr>
                    </a:p>
                  </a:txBody>
                  <a:tcPr marT="45733" marB="4573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3C97F"/>
                    </a:solidFill>
                  </a:tcPr>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0"/>
                        </a:spcBef>
                        <a:spcAft>
                          <a:spcPct val="0"/>
                        </a:spcAft>
                        <a:buClrTx/>
                        <a:buSzTx/>
                        <a:buFontTx/>
                        <a:buNone/>
                        <a:tabLst/>
                      </a:pPr>
                      <a:r>
                        <a:rPr kumimoji="0" lang="zh-CN" altLang="zh-CN" sz="1800" b="1" i="0" u="none" strike="noStrike" kern="1200" cap="none" normalizeH="0" baseline="0" dirty="0">
                          <a:ln>
                            <a:noFill/>
                          </a:ln>
                          <a:solidFill>
                            <a:srgbClr val="FFFFFF"/>
                          </a:solidFill>
                          <a:effectLst/>
                          <a:latin typeface="微软雅黑" panose="020B0503020204020204" pitchFamily="34" charset="-122"/>
                          <a:ea typeface="微软雅黑" panose="020B0503020204020204" pitchFamily="34" charset="-122"/>
                          <a:cs typeface="+mn-cs"/>
                          <a:sym typeface="Arial" panose="020B0604020202020204" pitchFamily="34" charset="0"/>
                        </a:rPr>
                        <a:t>合作</a:t>
                      </a:r>
                    </a:p>
                  </a:txBody>
                  <a:tcPr marT="45733" marB="4573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3C97F"/>
                    </a:solidFill>
                  </a:tcPr>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0"/>
                        </a:spcBef>
                        <a:spcAft>
                          <a:spcPct val="0"/>
                        </a:spcAft>
                        <a:buClrTx/>
                        <a:buSzTx/>
                        <a:buFontTx/>
                        <a:buNone/>
                        <a:tabLst/>
                      </a:pPr>
                      <a:r>
                        <a:rPr kumimoji="0" lang="zh-CN" altLang="zh-CN" sz="1800" b="1" i="0" u="none" strike="noStrike" kern="1200" cap="none" normalizeH="0" baseline="0" dirty="0">
                          <a:ln>
                            <a:noFill/>
                          </a:ln>
                          <a:solidFill>
                            <a:srgbClr val="FFFFFF"/>
                          </a:solidFill>
                          <a:effectLst/>
                          <a:latin typeface="微软雅黑" panose="020B0503020204020204" pitchFamily="34" charset="-122"/>
                          <a:ea typeface="微软雅黑" panose="020B0503020204020204" pitchFamily="34" charset="-122"/>
                          <a:cs typeface="+mn-cs"/>
                          <a:sym typeface="Arial" panose="020B0604020202020204" pitchFamily="34" charset="0"/>
                        </a:rPr>
                        <a:t>不合作</a:t>
                      </a:r>
                    </a:p>
                  </a:txBody>
                  <a:tcPr marT="45733" marB="4573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3C97F"/>
                    </a:solidFill>
                  </a:tcPr>
                </a:tc>
                <a:extLst>
                  <a:ext uri="{0D108BD9-81ED-4DB2-BD59-A6C34878D82A}">
                    <a16:rowId xmlns:a16="http://schemas.microsoft.com/office/drawing/2014/main" val="2261845296"/>
                  </a:ext>
                </a:extLst>
              </a:tr>
              <a:tr h="369888">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sym typeface="Arial" panose="020B0604020202020204" pitchFamily="34" charset="0"/>
                        </a:rPr>
                        <a:t>合作</a:t>
                      </a:r>
                      <a:endParaRPr kumimoji="0" lang="zh-CN" altLang="zh-CN" sz="2800" b="1" i="0" u="none" strike="noStrike" cap="none" normalizeH="0" baseline="0" dirty="0">
                        <a:ln>
                          <a:noFill/>
                        </a:ln>
                        <a:solidFill>
                          <a:srgbClr val="CC0000"/>
                        </a:solidFill>
                        <a:effectLst/>
                        <a:latin typeface="微软雅黑" panose="020B0503020204020204" pitchFamily="34" charset="-122"/>
                        <a:ea typeface="微软雅黑" panose="020B0503020204020204" pitchFamily="34" charset="-122"/>
                        <a:sym typeface="Arial" panose="020B0604020202020204" pitchFamily="34" charset="0"/>
                      </a:endParaRPr>
                    </a:p>
                  </a:txBody>
                  <a:tcPr marT="45733" marB="4573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DCDDA"/>
                    </a:solidFill>
                  </a:tcPr>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Arial" panose="020B0604020202020204" pitchFamily="34" charset="0"/>
                          <a:ea typeface="宋体" panose="02010600030101010101" pitchFamily="2" charset="-122"/>
                          <a:sym typeface="Arial" panose="020B0604020202020204" pitchFamily="34" charset="0"/>
                        </a:rPr>
                        <a:t>5</a:t>
                      </a:r>
                      <a:r>
                        <a:rPr kumimoji="0" lang="zh-CN" altLang="en-US" sz="1800" b="0" i="0" u="none" strike="noStrike" cap="none" normalizeH="0" baseline="0">
                          <a:ln>
                            <a:noFill/>
                          </a:ln>
                          <a:solidFill>
                            <a:srgbClr val="000000"/>
                          </a:solidFill>
                          <a:effectLst/>
                          <a:latin typeface="Arial" panose="020B0604020202020204" pitchFamily="34" charset="0"/>
                          <a:ea typeface="宋体" panose="02010600030101010101" pitchFamily="2" charset="-122"/>
                          <a:sym typeface="Arial" panose="020B0604020202020204" pitchFamily="34" charset="0"/>
                        </a:rPr>
                        <a:t>，</a:t>
                      </a:r>
                      <a:r>
                        <a:rPr kumimoji="0" lang="en-US" altLang="zh-CN" sz="1800" b="0" i="0" u="none" strike="noStrike" cap="none" normalizeH="0" baseline="0">
                          <a:ln>
                            <a:noFill/>
                          </a:ln>
                          <a:solidFill>
                            <a:srgbClr val="000000"/>
                          </a:solidFill>
                          <a:effectLst/>
                          <a:latin typeface="Arial" panose="020B0604020202020204" pitchFamily="34" charset="0"/>
                          <a:ea typeface="宋体" panose="02010600030101010101" pitchFamily="2" charset="-122"/>
                          <a:sym typeface="Arial" panose="020B0604020202020204" pitchFamily="34" charset="0"/>
                        </a:rPr>
                        <a:t>6</a:t>
                      </a:r>
                      <a:endParaRPr kumimoji="0" lang="zh-CN" altLang="en-US" sz="2800" b="1" i="0" u="none" strike="noStrike" cap="none" normalizeH="0" baseline="0">
                        <a:ln>
                          <a:noFill/>
                        </a:ln>
                        <a:solidFill>
                          <a:srgbClr val="CC0000"/>
                        </a:solidFill>
                        <a:effectLst/>
                        <a:latin typeface="Arial" panose="020B0604020202020204" pitchFamily="34" charset="0"/>
                        <a:ea typeface="宋体" panose="02010600030101010101" pitchFamily="2" charset="-122"/>
                        <a:sym typeface="Arial" panose="020B0604020202020204" pitchFamily="34" charset="0"/>
                      </a:endParaRPr>
                    </a:p>
                  </a:txBody>
                  <a:tcPr marT="45733" marB="4573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DCDDA"/>
                    </a:solidFill>
                  </a:tcPr>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Arial" panose="020B0604020202020204" pitchFamily="34" charset="0"/>
                          <a:ea typeface="宋体" panose="02010600030101010101" pitchFamily="2" charset="-122"/>
                          <a:sym typeface="Arial" panose="020B0604020202020204" pitchFamily="34" charset="0"/>
                        </a:rPr>
                        <a:t>1</a:t>
                      </a:r>
                      <a:r>
                        <a:rPr kumimoji="0" lang="zh-CN" altLang="en-US" sz="1800" b="0" i="0" u="none" strike="noStrike" cap="none" normalizeH="0" baseline="0">
                          <a:ln>
                            <a:noFill/>
                          </a:ln>
                          <a:solidFill>
                            <a:srgbClr val="000000"/>
                          </a:solidFill>
                          <a:effectLst/>
                          <a:latin typeface="Arial" panose="020B0604020202020204" pitchFamily="34" charset="0"/>
                          <a:ea typeface="宋体" panose="02010600030101010101" pitchFamily="2" charset="-122"/>
                          <a:sym typeface="Arial" panose="020B0604020202020204" pitchFamily="34" charset="0"/>
                        </a:rPr>
                        <a:t>，</a:t>
                      </a:r>
                      <a:r>
                        <a:rPr kumimoji="0" lang="en-US" altLang="zh-CN" sz="1800" b="0" i="0" u="none" strike="noStrike" cap="none" normalizeH="0" baseline="0">
                          <a:ln>
                            <a:noFill/>
                          </a:ln>
                          <a:solidFill>
                            <a:srgbClr val="000000"/>
                          </a:solidFill>
                          <a:effectLst/>
                          <a:latin typeface="Arial" panose="020B0604020202020204" pitchFamily="34" charset="0"/>
                          <a:ea typeface="宋体" panose="02010600030101010101" pitchFamily="2" charset="-122"/>
                          <a:sym typeface="Arial" panose="020B0604020202020204" pitchFamily="34" charset="0"/>
                        </a:rPr>
                        <a:t>7</a:t>
                      </a:r>
                      <a:endParaRPr kumimoji="0" lang="zh-CN" altLang="en-US" sz="2800" b="1" i="0" u="none" strike="noStrike" cap="none" normalizeH="0" baseline="0">
                        <a:ln>
                          <a:noFill/>
                        </a:ln>
                        <a:solidFill>
                          <a:srgbClr val="CC0000"/>
                        </a:solidFill>
                        <a:effectLst/>
                        <a:latin typeface="Arial" panose="020B0604020202020204" pitchFamily="34" charset="0"/>
                        <a:ea typeface="宋体" panose="02010600030101010101" pitchFamily="2" charset="-122"/>
                        <a:sym typeface="Arial" panose="020B0604020202020204" pitchFamily="34" charset="0"/>
                      </a:endParaRPr>
                    </a:p>
                  </a:txBody>
                  <a:tcPr marT="45733" marB="4573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DCDDA"/>
                    </a:solidFill>
                  </a:tcPr>
                </a:tc>
                <a:extLst>
                  <a:ext uri="{0D108BD9-81ED-4DB2-BD59-A6C34878D82A}">
                    <a16:rowId xmlns:a16="http://schemas.microsoft.com/office/drawing/2014/main" val="1842418838"/>
                  </a:ext>
                </a:extLst>
              </a:tr>
              <a:tr h="371475">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sym typeface="Arial" panose="020B0604020202020204" pitchFamily="34" charset="0"/>
                        </a:rPr>
                        <a:t>不合作</a:t>
                      </a:r>
                      <a:endParaRPr kumimoji="0" lang="zh-CN" altLang="zh-CN" sz="2800" b="1" i="0" u="none" strike="noStrike" cap="none" normalizeH="0" baseline="0" dirty="0">
                        <a:ln>
                          <a:noFill/>
                        </a:ln>
                        <a:solidFill>
                          <a:srgbClr val="CC0000"/>
                        </a:solidFill>
                        <a:effectLst/>
                        <a:latin typeface="微软雅黑" panose="020B0503020204020204" pitchFamily="34" charset="-122"/>
                        <a:ea typeface="微软雅黑" panose="020B0503020204020204" pitchFamily="34" charset="-122"/>
                        <a:sym typeface="Arial" panose="020B0604020202020204" pitchFamily="34" charset="0"/>
                      </a:endParaRPr>
                    </a:p>
                  </a:txBody>
                  <a:tcPr marT="45733" marB="4573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8ED"/>
                    </a:solidFill>
                  </a:tcPr>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rgbClr val="000000"/>
                          </a:solidFill>
                          <a:effectLst/>
                          <a:latin typeface="Arial" panose="020B0604020202020204" pitchFamily="34" charset="0"/>
                          <a:ea typeface="宋体" panose="02010600030101010101" pitchFamily="2" charset="-122"/>
                          <a:sym typeface="Arial" panose="020B0604020202020204" pitchFamily="34" charset="0"/>
                        </a:rPr>
                        <a:t>7</a:t>
                      </a:r>
                      <a:r>
                        <a:rPr kumimoji="0" lang="zh-CN" altLang="en-US" sz="1800" b="0" i="0" u="none" strike="noStrike" cap="none" normalizeH="0" baseline="0" dirty="0">
                          <a:ln>
                            <a:noFill/>
                          </a:ln>
                          <a:solidFill>
                            <a:srgbClr val="000000"/>
                          </a:solidFill>
                          <a:effectLst/>
                          <a:latin typeface="Arial" panose="020B0604020202020204" pitchFamily="34" charset="0"/>
                          <a:ea typeface="宋体" panose="02010600030101010101" pitchFamily="2" charset="-122"/>
                          <a:sym typeface="Arial" panose="020B0604020202020204" pitchFamily="34" charset="0"/>
                        </a:rPr>
                        <a:t>，</a:t>
                      </a:r>
                      <a:r>
                        <a:rPr kumimoji="0" lang="en-US" altLang="zh-CN" sz="1800" b="0" i="0" u="none" strike="noStrike" cap="none" normalizeH="0" baseline="0" dirty="0">
                          <a:ln>
                            <a:noFill/>
                          </a:ln>
                          <a:solidFill>
                            <a:srgbClr val="000000"/>
                          </a:solidFill>
                          <a:effectLst/>
                          <a:latin typeface="Arial" panose="020B0604020202020204" pitchFamily="34" charset="0"/>
                          <a:ea typeface="宋体" panose="02010600030101010101" pitchFamily="2" charset="-122"/>
                          <a:sym typeface="Arial" panose="020B0604020202020204" pitchFamily="34" charset="0"/>
                        </a:rPr>
                        <a:t>1</a:t>
                      </a:r>
                      <a:endParaRPr kumimoji="0" lang="zh-CN" altLang="en-US" sz="2800" b="1" i="0" u="none" strike="noStrike" cap="none" normalizeH="0" baseline="0" dirty="0">
                        <a:ln>
                          <a:noFill/>
                        </a:ln>
                        <a:solidFill>
                          <a:srgbClr val="CC0000"/>
                        </a:solidFill>
                        <a:effectLst/>
                        <a:latin typeface="Arial" panose="020B0604020202020204" pitchFamily="34" charset="0"/>
                        <a:ea typeface="宋体" panose="02010600030101010101" pitchFamily="2" charset="-122"/>
                        <a:sym typeface="Arial" panose="020B0604020202020204" pitchFamily="34" charset="0"/>
                      </a:endParaRPr>
                    </a:p>
                  </a:txBody>
                  <a:tcPr marT="45733" marB="4573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8ED"/>
                    </a:solidFill>
                  </a:tcPr>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0"/>
                        </a:spcBef>
                        <a:spcAft>
                          <a:spcPct val="0"/>
                        </a:spcAft>
                        <a:buClrTx/>
                        <a:buSzTx/>
                        <a:buFontTx/>
                        <a:buNone/>
                        <a:tabLst/>
                      </a:pPr>
                      <a:r>
                        <a:rPr kumimoji="0" lang="en-US" altLang="zh-CN" sz="1800" b="0" i="0" u="sng" strike="noStrike" cap="none" normalizeH="0" baseline="0" dirty="0">
                          <a:ln>
                            <a:noFill/>
                          </a:ln>
                          <a:solidFill>
                            <a:srgbClr val="000000"/>
                          </a:solidFill>
                          <a:effectLst/>
                          <a:latin typeface="Arial" panose="020B0604020202020204" pitchFamily="34" charset="0"/>
                          <a:ea typeface="宋体" panose="02010600030101010101" pitchFamily="2" charset="-122"/>
                          <a:sym typeface="Arial" panose="020B0604020202020204" pitchFamily="34" charset="0"/>
                        </a:rPr>
                        <a:t>2</a:t>
                      </a:r>
                      <a:r>
                        <a:rPr kumimoji="0" lang="zh-CN" altLang="en-US" sz="1800" b="0" i="0" u="none" strike="noStrike" cap="none" normalizeH="0" baseline="0" dirty="0">
                          <a:ln>
                            <a:noFill/>
                          </a:ln>
                          <a:solidFill>
                            <a:srgbClr val="000000"/>
                          </a:solidFill>
                          <a:effectLst/>
                          <a:latin typeface="Arial" panose="020B0604020202020204" pitchFamily="34" charset="0"/>
                          <a:ea typeface="宋体" panose="02010600030101010101" pitchFamily="2" charset="-122"/>
                          <a:sym typeface="Arial" panose="020B0604020202020204" pitchFamily="34" charset="0"/>
                        </a:rPr>
                        <a:t>，</a:t>
                      </a:r>
                      <a:r>
                        <a:rPr kumimoji="0" lang="en-US" altLang="zh-CN" sz="1800" b="0" i="0" u="sng" strike="noStrike" cap="none" normalizeH="0" baseline="0" dirty="0">
                          <a:ln>
                            <a:noFill/>
                          </a:ln>
                          <a:solidFill>
                            <a:srgbClr val="000000"/>
                          </a:solidFill>
                          <a:effectLst/>
                          <a:latin typeface="Arial" panose="020B0604020202020204" pitchFamily="34" charset="0"/>
                          <a:ea typeface="宋体" panose="02010600030101010101" pitchFamily="2" charset="-122"/>
                          <a:sym typeface="Arial" panose="020B0604020202020204" pitchFamily="34" charset="0"/>
                        </a:rPr>
                        <a:t>3</a:t>
                      </a:r>
                      <a:endParaRPr kumimoji="0" lang="zh-CN" altLang="en-US" sz="2800" b="1" i="0" u="none" strike="noStrike" cap="none" normalizeH="0" baseline="0" dirty="0">
                        <a:ln>
                          <a:noFill/>
                        </a:ln>
                        <a:solidFill>
                          <a:srgbClr val="CC0000"/>
                        </a:solidFill>
                        <a:effectLst/>
                        <a:latin typeface="Arial" panose="020B0604020202020204" pitchFamily="34" charset="0"/>
                        <a:ea typeface="宋体" panose="02010600030101010101" pitchFamily="2" charset="-122"/>
                        <a:sym typeface="Arial" panose="020B0604020202020204" pitchFamily="34" charset="0"/>
                      </a:endParaRPr>
                    </a:p>
                  </a:txBody>
                  <a:tcPr marT="45733" marB="4573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8ED"/>
                    </a:solidFill>
                  </a:tcPr>
                </a:tc>
                <a:extLst>
                  <a:ext uri="{0D108BD9-81ED-4DB2-BD59-A6C34878D82A}">
                    <a16:rowId xmlns:a16="http://schemas.microsoft.com/office/drawing/2014/main" val="1202963590"/>
                  </a:ext>
                </a:extLst>
              </a:tr>
            </a:tbl>
          </a:graphicData>
        </a:graphic>
      </p:graphicFrame>
      <p:sp>
        <p:nvSpPr>
          <p:cNvPr id="5" name="矩形 4"/>
          <p:cNvSpPr/>
          <p:nvPr/>
        </p:nvSpPr>
        <p:spPr>
          <a:xfrm>
            <a:off x="6228115" y="44765"/>
            <a:ext cx="2915885" cy="369332"/>
          </a:xfrm>
          <a:prstGeom prst="rect">
            <a:avLst/>
          </a:prstGeom>
        </p:spPr>
        <p:txBody>
          <a:bodyPr wrap="square">
            <a:spAutoFit/>
          </a:bodyPr>
          <a:lstStyle/>
          <a:p>
            <a:r>
              <a:rPr lang="zh-CN" altLang="en-US" sz="1800" b="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第四节  博弈论和策略行为</a:t>
            </a:r>
            <a:endParaRPr lang="zh-CN" altLang="en-US" sz="18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 name="矩形 5">
            <a:extLst>
              <a:ext uri="{FF2B5EF4-FFF2-40B4-BE49-F238E27FC236}">
                <a16:creationId xmlns:a16="http://schemas.microsoft.com/office/drawing/2014/main" id="{F68E5273-CD77-47B9-B841-9D29349C133D}"/>
              </a:ext>
            </a:extLst>
          </p:cNvPr>
          <p:cNvSpPr/>
          <p:nvPr/>
        </p:nvSpPr>
        <p:spPr>
          <a:xfrm>
            <a:off x="457201" y="548681"/>
            <a:ext cx="3970789"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marL="0" lvl="1">
              <a:defRPr/>
            </a:pPr>
            <a:r>
              <a:rPr lang="zh-CN" altLang="en-US" sz="2400" spc="150" dirty="0">
                <a:solidFill>
                  <a:srgbClr val="FFFFFF"/>
                </a:solidFill>
                <a:latin typeface="微软雅黑" panose="020B0503020204020204" pitchFamily="34" charset="-122"/>
                <a:ea typeface="微软雅黑" panose="020B0503020204020204" pitchFamily="34" charset="-122"/>
              </a:rPr>
              <a:t>三</a:t>
            </a:r>
            <a:r>
              <a:rPr lang="zh-CN" altLang="en-US" sz="2400" b="1" spc="150" dirty="0">
                <a:solidFill>
                  <a:srgbClr val="FFFFFF"/>
                </a:solidFill>
                <a:latin typeface="微软雅黑" panose="020B0503020204020204" pitchFamily="34" charset="-122"/>
                <a:ea typeface="微软雅黑" panose="020B0503020204020204" pitchFamily="34" charset="-122"/>
              </a:rPr>
              <a:t>、</a:t>
            </a:r>
            <a:r>
              <a:rPr lang="zh-CN" altLang="en-US" sz="2400" spc="15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博弈分析的简单应用</a:t>
            </a:r>
            <a:endParaRPr lang="en-US" altLang="zh-CN" sz="2400" spc="150" dirty="0">
              <a:solidFill>
                <a:srgbClr val="FFFFFF"/>
              </a:solidFill>
              <a:latin typeface="微软雅黑" panose="020B0503020204020204" pitchFamily="34" charset="-122"/>
              <a:ea typeface="微软雅黑" panose="020B0503020204020204" pitchFamily="34"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3250">
                                            <p:txEl>
                                              <p:pRg st="0" end="0"/>
                                            </p:txEl>
                                          </p:spTgt>
                                        </p:tgtEl>
                                        <p:attrNameLst>
                                          <p:attrName>style.visibility</p:attrName>
                                        </p:attrNameLst>
                                      </p:cBhvr>
                                      <p:to>
                                        <p:strVal val="visible"/>
                                      </p:to>
                                    </p:set>
                                    <p:animEffect>
                                      <p:cBhvr>
                                        <p:cTn id="7" dur="500"/>
                                        <p:tgtEl>
                                          <p:spTgt spid="5325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3251"/>
                                        </p:tgtEl>
                                        <p:attrNameLst>
                                          <p:attrName>style.visibility</p:attrName>
                                        </p:attrNameLst>
                                      </p:cBhvr>
                                      <p:to>
                                        <p:strVal val="visible"/>
                                      </p:to>
                                    </p:set>
                                    <p:animEffect>
                                      <p:cBhvr>
                                        <p:cTn id="12" dur="500"/>
                                        <p:tgtEl>
                                          <p:spTgt spid="5325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53250">
                                            <p:txEl>
                                              <p:pRg st="5" end="5"/>
                                            </p:txEl>
                                          </p:spTgt>
                                        </p:tgtEl>
                                        <p:attrNameLst>
                                          <p:attrName>style.visibility</p:attrName>
                                        </p:attrNameLst>
                                      </p:cBhvr>
                                      <p:to>
                                        <p:strVal val="visible"/>
                                      </p:to>
                                    </p:set>
                                    <p:animEffect>
                                      <p:cBhvr>
                                        <p:cTn id="17" dur="500"/>
                                        <p:tgtEl>
                                          <p:spTgt spid="53250">
                                            <p:txEl>
                                              <p:pRg st="5" end="5"/>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53250">
                                            <p:txEl>
                                              <p:pRg st="6" end="6"/>
                                            </p:txEl>
                                          </p:spTgt>
                                        </p:tgtEl>
                                        <p:attrNameLst>
                                          <p:attrName>style.visibility</p:attrName>
                                        </p:attrNameLst>
                                      </p:cBhvr>
                                      <p:to>
                                        <p:strVal val="visible"/>
                                      </p:to>
                                    </p:set>
                                    <p:animEffect>
                                      <p:cBhvr>
                                        <p:cTn id="22" dur="500"/>
                                        <p:tgtEl>
                                          <p:spTgt spid="5325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3"/>
          <p:cNvSpPr>
            <a:spLocks noGrp="1" noChangeArrowheads="1"/>
          </p:cNvSpPr>
          <p:nvPr>
            <p:ph type="body" idx="4294967295"/>
          </p:nvPr>
        </p:nvSpPr>
        <p:spPr>
          <a:xfrm>
            <a:off x="1230919" y="1010346"/>
            <a:ext cx="8229600" cy="5616390"/>
          </a:xfrm>
          <a:ln/>
        </p:spPr>
        <p:txBody>
          <a:bodyPr/>
          <a:lstStyle/>
          <a:p>
            <a:pPr marL="457200" lvl="2" indent="-457200" eaLnBrk="1" hangingPunct="1">
              <a:lnSpc>
                <a:spcPct val="150000"/>
              </a:lnSpc>
              <a:buSzPct val="100000"/>
              <a:buFont typeface="Wingdings" panose="05000000000000000000" pitchFamily="2" charset="2"/>
              <a:buChar char="u"/>
            </a:pPr>
            <a:r>
              <a:rPr lang="zh-CN" altLang="en-US" sz="2200" b="0" dirty="0">
                <a:latin typeface="微软雅黑" panose="020B0503020204020204" pitchFamily="34" charset="-122"/>
                <a:ea typeface="微软雅黑" panose="020B0503020204020204" pitchFamily="34" charset="-122"/>
              </a:rPr>
              <a:t>策略性贸易政策</a:t>
            </a:r>
            <a:endParaRPr lang="en-US" altLang="zh-CN" sz="2200" b="0" dirty="0">
              <a:latin typeface="微软雅黑" panose="020B0503020204020204" pitchFamily="34" charset="-122"/>
              <a:ea typeface="微软雅黑" panose="020B0503020204020204" pitchFamily="34" charset="-122"/>
            </a:endParaRPr>
          </a:p>
          <a:p>
            <a:pPr marL="800100" lvl="1" indent="-342900">
              <a:lnSpc>
                <a:spcPct val="150000"/>
              </a:lnSpc>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rPr>
              <a:t>均无补贴</a:t>
            </a:r>
            <a:endParaRPr lang="en-US" altLang="zh-CN" sz="2000" b="0" dirty="0">
              <a:latin typeface="微软雅黑" panose="020B0503020204020204" pitchFamily="34" charset="-122"/>
              <a:ea typeface="微软雅黑" panose="020B0503020204020204" pitchFamily="34" charset="-122"/>
            </a:endParaRPr>
          </a:p>
          <a:p>
            <a:pPr marL="342900" lvl="2" indent="-342900" eaLnBrk="1" hangingPunct="1"/>
            <a:endParaRPr lang="zh-CN" altLang="en-US" sz="2800" b="0" dirty="0"/>
          </a:p>
          <a:p>
            <a:pPr marL="342900" lvl="2" indent="-342900" eaLnBrk="1" hangingPunct="1"/>
            <a:endParaRPr lang="zh-CN" altLang="en-US" sz="2800" b="0" dirty="0"/>
          </a:p>
          <a:p>
            <a:pPr marL="0" lvl="2" indent="0" eaLnBrk="1" hangingPunct="1">
              <a:buNone/>
            </a:pPr>
            <a:endParaRPr lang="en-US" altLang="zh-CN" sz="2800" b="0" dirty="0"/>
          </a:p>
          <a:p>
            <a:pPr marL="457200" lvl="1" indent="0">
              <a:lnSpc>
                <a:spcPct val="150000"/>
              </a:lnSpc>
              <a:buNone/>
            </a:pPr>
            <a:r>
              <a:rPr lang="zh-CN" altLang="en-US" sz="2200" b="0" dirty="0">
                <a:solidFill>
                  <a:srgbClr val="BB1528"/>
                </a:solidFill>
                <a:latin typeface="微软雅黑" panose="020B0503020204020204" pitchFamily="34" charset="-122"/>
                <a:ea typeface="微软雅黑" panose="020B0503020204020204" pitchFamily="34" charset="-122"/>
              </a:rPr>
              <a:t>这里有两个纳什均衡</a:t>
            </a:r>
            <a:endParaRPr lang="en-US" altLang="zh-CN" sz="2200" b="0" dirty="0">
              <a:solidFill>
                <a:srgbClr val="BB1528"/>
              </a:solidFill>
              <a:latin typeface="微软雅黑" panose="020B0503020204020204" pitchFamily="34" charset="-122"/>
              <a:ea typeface="微软雅黑" panose="020B0503020204020204" pitchFamily="34" charset="-122"/>
            </a:endParaRPr>
          </a:p>
          <a:p>
            <a:pPr marL="1200150" lvl="3" indent="-342900" eaLnBrk="1" hangingPunct="1">
              <a:buFont typeface="Arial" panose="020B0604020202020204" pitchFamily="34" charset="0"/>
              <a:buChar char="•"/>
            </a:pPr>
            <a:r>
              <a:rPr lang="zh-CN" altLang="en-US" b="0" dirty="0">
                <a:latin typeface="微软雅黑" panose="020B0503020204020204" pitchFamily="34" charset="-122"/>
                <a:ea typeface="微软雅黑" panose="020B0503020204020204" pitchFamily="34" charset="-122"/>
              </a:rPr>
              <a:t>（不生产，生产），结果为（</a:t>
            </a:r>
            <a:r>
              <a:rPr lang="en-US" altLang="zh-CN" b="0" dirty="0">
                <a:latin typeface="微软雅黑" panose="020B0503020204020204" pitchFamily="34" charset="-122"/>
                <a:ea typeface="微软雅黑" panose="020B0503020204020204" pitchFamily="34" charset="-122"/>
              </a:rPr>
              <a:t>0,8</a:t>
            </a:r>
            <a:r>
              <a:rPr lang="zh-CN" altLang="en-US" b="0" dirty="0">
                <a:latin typeface="微软雅黑" panose="020B0503020204020204" pitchFamily="34" charset="-122"/>
                <a:ea typeface="微软雅黑" panose="020B0503020204020204" pitchFamily="34" charset="-122"/>
              </a:rPr>
              <a:t>）</a:t>
            </a:r>
            <a:endParaRPr lang="en-US" altLang="zh-CN" b="0" dirty="0">
              <a:latin typeface="微软雅黑" panose="020B0503020204020204" pitchFamily="34" charset="-122"/>
              <a:ea typeface="微软雅黑" panose="020B0503020204020204" pitchFamily="34" charset="-122"/>
            </a:endParaRPr>
          </a:p>
          <a:p>
            <a:pPr marL="1200150" lvl="3" indent="-342900" eaLnBrk="1" hangingPunct="1">
              <a:buFont typeface="Arial" panose="020B0604020202020204" pitchFamily="34" charset="0"/>
              <a:buChar char="•"/>
            </a:pPr>
            <a:r>
              <a:rPr lang="zh-CN" altLang="en-US" b="0" dirty="0">
                <a:latin typeface="微软雅黑" panose="020B0503020204020204" pitchFamily="34" charset="-122"/>
                <a:ea typeface="微软雅黑" panose="020B0503020204020204" pitchFamily="34" charset="-122"/>
              </a:rPr>
              <a:t>（生产，不生产），结果为（</a:t>
            </a:r>
            <a:r>
              <a:rPr lang="en-US" altLang="zh-CN" b="0" dirty="0">
                <a:latin typeface="微软雅黑" panose="020B0503020204020204" pitchFamily="34" charset="-122"/>
                <a:ea typeface="微软雅黑" panose="020B0503020204020204" pitchFamily="34" charset="-122"/>
              </a:rPr>
              <a:t>8,0</a:t>
            </a:r>
            <a:r>
              <a:rPr lang="zh-CN" altLang="en-US" b="0" dirty="0">
                <a:latin typeface="微软雅黑" panose="020B0503020204020204" pitchFamily="34" charset="-122"/>
                <a:ea typeface="微软雅黑" panose="020B0503020204020204" pitchFamily="34" charset="-122"/>
              </a:rPr>
              <a:t>）</a:t>
            </a:r>
            <a:endParaRPr lang="en-US" altLang="zh-CN" b="0" dirty="0">
              <a:latin typeface="微软雅黑" panose="020B0503020204020204" pitchFamily="34" charset="-122"/>
              <a:ea typeface="微软雅黑" panose="020B0503020204020204" pitchFamily="34" charset="-122"/>
            </a:endParaRPr>
          </a:p>
          <a:p>
            <a:pPr marL="0" lvl="2" indent="0" eaLnBrk="1" hangingPunct="1">
              <a:lnSpc>
                <a:spcPct val="150000"/>
              </a:lnSpc>
              <a:buNone/>
            </a:pPr>
            <a:r>
              <a:rPr lang="zh-CN" altLang="en-US" sz="2000" b="0" dirty="0">
                <a:solidFill>
                  <a:srgbClr val="BB1528"/>
                </a:solidFill>
                <a:latin typeface="微软雅黑" panose="020B0503020204020204" pitchFamily="34" charset="-122"/>
                <a:ea typeface="微软雅黑" panose="020B0503020204020204" pitchFamily="34" charset="-122"/>
              </a:rPr>
              <a:t>如果是同时博弈，无法预测哪个结果会出现</a:t>
            </a:r>
            <a:endParaRPr lang="en-US" altLang="zh-CN" sz="2000" b="0" dirty="0">
              <a:solidFill>
                <a:srgbClr val="BB1528"/>
              </a:solidFill>
              <a:latin typeface="微软雅黑" panose="020B0503020204020204" pitchFamily="34" charset="-122"/>
              <a:ea typeface="微软雅黑" panose="020B0503020204020204" pitchFamily="34" charset="-122"/>
            </a:endParaRPr>
          </a:p>
          <a:p>
            <a:pPr marL="0" lvl="2" indent="0" eaLnBrk="1" hangingPunct="1">
              <a:buNone/>
            </a:pPr>
            <a:r>
              <a:rPr lang="zh-CN" altLang="en-US" sz="2000" b="0" dirty="0">
                <a:solidFill>
                  <a:srgbClr val="BB1528"/>
                </a:solidFill>
                <a:latin typeface="微软雅黑" panose="020B0503020204020204" pitchFamily="34" charset="-122"/>
                <a:ea typeface="微软雅黑" panose="020B0503020204020204" pitchFamily="34" charset="-122"/>
              </a:rPr>
              <a:t>如果是序贯博弈，那么有先发优势，先走一步的企业胜出</a:t>
            </a:r>
          </a:p>
        </p:txBody>
      </p:sp>
      <p:graphicFrame>
        <p:nvGraphicFramePr>
          <p:cNvPr id="54275" name="Group 3"/>
          <p:cNvGraphicFramePr>
            <a:graphicFrameLocks noGrp="1"/>
          </p:cNvGraphicFramePr>
          <p:nvPr>
            <p:extLst>
              <p:ext uri="{D42A27DB-BD31-4B8C-83A1-F6EECF244321}">
                <p14:modId xmlns:p14="http://schemas.microsoft.com/office/powerpoint/2010/main" val="2500438184"/>
              </p:ext>
            </p:extLst>
          </p:nvPr>
        </p:nvGraphicFramePr>
        <p:xfrm>
          <a:off x="2051825" y="2420930"/>
          <a:ext cx="6096000" cy="1112838"/>
        </p:xfrm>
        <a:graphic>
          <a:graphicData uri="http://schemas.openxmlformats.org/drawingml/2006/table">
            <a:tbl>
              <a:tblPr/>
              <a:tblGrid>
                <a:gridCol w="2032000">
                  <a:extLst>
                    <a:ext uri="{9D8B030D-6E8A-4147-A177-3AD203B41FA5}">
                      <a16:colId xmlns:a16="http://schemas.microsoft.com/office/drawing/2014/main" val="2886214787"/>
                    </a:ext>
                  </a:extLst>
                </a:gridCol>
                <a:gridCol w="2032000">
                  <a:extLst>
                    <a:ext uri="{9D8B030D-6E8A-4147-A177-3AD203B41FA5}">
                      <a16:colId xmlns:a16="http://schemas.microsoft.com/office/drawing/2014/main" val="29646954"/>
                    </a:ext>
                  </a:extLst>
                </a:gridCol>
                <a:gridCol w="2032000">
                  <a:extLst>
                    <a:ext uri="{9D8B030D-6E8A-4147-A177-3AD203B41FA5}">
                      <a16:colId xmlns:a16="http://schemas.microsoft.com/office/drawing/2014/main" val="3236405404"/>
                    </a:ext>
                  </a:extLst>
                </a:gridCol>
              </a:tblGrid>
              <a:tr h="371475">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0"/>
                        </a:spcBef>
                        <a:spcAft>
                          <a:spcPct val="0"/>
                        </a:spcAft>
                        <a:buClrTx/>
                        <a:buSzTx/>
                        <a:buFontTx/>
                        <a:buNone/>
                        <a:tabLst/>
                      </a:pPr>
                      <a:r>
                        <a:rPr kumimoji="0" lang="zh-CN" altLang="en-US" sz="1800" b="1" i="0" u="none" strike="noStrike" kern="1200" cap="none" normalizeH="0" baseline="0" dirty="0">
                          <a:ln>
                            <a:noFill/>
                          </a:ln>
                          <a:solidFill>
                            <a:srgbClr val="FFFFFF"/>
                          </a:solidFill>
                          <a:effectLst/>
                          <a:latin typeface="微软雅黑" panose="020B0503020204020204" pitchFamily="34" charset="-122"/>
                          <a:ea typeface="微软雅黑" panose="020B0503020204020204" pitchFamily="34" charset="-122"/>
                          <a:cs typeface="+mn-cs"/>
                          <a:sym typeface="Arial" panose="020B0604020202020204" pitchFamily="34" charset="0"/>
                        </a:rPr>
                        <a:t>企业</a:t>
                      </a:r>
                      <a:r>
                        <a:rPr kumimoji="0" lang="en-US" altLang="zh-CN" sz="1800" b="1" i="0" u="none" strike="noStrike" kern="1200" cap="none" normalizeH="0" baseline="0" dirty="0">
                          <a:ln>
                            <a:noFill/>
                          </a:ln>
                          <a:solidFill>
                            <a:srgbClr val="FFFFFF"/>
                          </a:solidFill>
                          <a:effectLst/>
                          <a:latin typeface="微软雅黑" panose="020B0503020204020204" pitchFamily="34" charset="-122"/>
                          <a:ea typeface="微软雅黑" panose="020B0503020204020204" pitchFamily="34" charset="-122"/>
                          <a:cs typeface="+mn-cs"/>
                          <a:sym typeface="Arial" panose="020B0604020202020204" pitchFamily="34" charset="0"/>
                        </a:rPr>
                        <a:t>A\</a:t>
                      </a:r>
                      <a:r>
                        <a:rPr kumimoji="0" lang="zh-CN" altLang="en-US" sz="1800" b="1" i="0" u="none" strike="noStrike" kern="1200" cap="none" normalizeH="0" baseline="0" dirty="0">
                          <a:ln>
                            <a:noFill/>
                          </a:ln>
                          <a:solidFill>
                            <a:srgbClr val="FFFFFF"/>
                          </a:solidFill>
                          <a:effectLst/>
                          <a:latin typeface="微软雅黑" panose="020B0503020204020204" pitchFamily="34" charset="-122"/>
                          <a:ea typeface="微软雅黑" panose="020B0503020204020204" pitchFamily="34" charset="-122"/>
                          <a:cs typeface="+mn-cs"/>
                          <a:sym typeface="Arial" panose="020B0604020202020204" pitchFamily="34" charset="0"/>
                        </a:rPr>
                        <a:t>企业</a:t>
                      </a:r>
                      <a:r>
                        <a:rPr kumimoji="0" lang="en-US" altLang="zh-CN" sz="1800" b="1" i="0" u="none" strike="noStrike" kern="1200" cap="none" normalizeH="0" baseline="0" dirty="0">
                          <a:ln>
                            <a:noFill/>
                          </a:ln>
                          <a:solidFill>
                            <a:srgbClr val="FFFFFF"/>
                          </a:solidFill>
                          <a:effectLst/>
                          <a:latin typeface="微软雅黑" panose="020B0503020204020204" pitchFamily="34" charset="-122"/>
                          <a:ea typeface="微软雅黑" panose="020B0503020204020204" pitchFamily="34" charset="-122"/>
                          <a:cs typeface="+mn-cs"/>
                          <a:sym typeface="Arial" panose="020B0604020202020204" pitchFamily="34" charset="0"/>
                        </a:rPr>
                        <a:t>B</a:t>
                      </a:r>
                      <a:endParaRPr kumimoji="0" lang="zh-CN" altLang="en-US" sz="1800" b="1" i="0" u="none" strike="noStrike" kern="1200" cap="none" normalizeH="0" baseline="0" dirty="0">
                        <a:ln>
                          <a:noFill/>
                        </a:ln>
                        <a:solidFill>
                          <a:srgbClr val="FFFFFF"/>
                        </a:solidFill>
                        <a:effectLst/>
                        <a:latin typeface="微软雅黑" panose="020B0503020204020204" pitchFamily="34" charset="-122"/>
                        <a:ea typeface="微软雅黑" panose="020B0503020204020204" pitchFamily="34" charset="-122"/>
                        <a:cs typeface="+mn-cs"/>
                        <a:sym typeface="Arial" panose="020B0604020202020204" pitchFamily="34" charset="0"/>
                      </a:endParaRPr>
                    </a:p>
                  </a:txBody>
                  <a:tcPr marT="45733" marB="4573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3C97F"/>
                    </a:solidFill>
                  </a:tcPr>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0"/>
                        </a:spcBef>
                        <a:spcAft>
                          <a:spcPct val="0"/>
                        </a:spcAft>
                        <a:buClrTx/>
                        <a:buSzTx/>
                        <a:buFontTx/>
                        <a:buNone/>
                        <a:tabLst/>
                      </a:pPr>
                      <a:r>
                        <a:rPr kumimoji="0" lang="zh-CN" altLang="zh-CN" sz="1800" b="1" i="0" u="none" strike="noStrike" kern="1200" cap="none" normalizeH="0" baseline="0" dirty="0">
                          <a:ln>
                            <a:noFill/>
                          </a:ln>
                          <a:solidFill>
                            <a:srgbClr val="FFFFFF"/>
                          </a:solidFill>
                          <a:effectLst/>
                          <a:latin typeface="微软雅黑" panose="020B0503020204020204" pitchFamily="34" charset="-122"/>
                          <a:ea typeface="微软雅黑" panose="020B0503020204020204" pitchFamily="34" charset="-122"/>
                          <a:cs typeface="+mn-cs"/>
                          <a:sym typeface="Arial" panose="020B0604020202020204" pitchFamily="34" charset="0"/>
                        </a:rPr>
                        <a:t>生产</a:t>
                      </a:r>
                    </a:p>
                  </a:txBody>
                  <a:tcPr marT="45733" marB="4573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3C97F"/>
                    </a:solidFill>
                  </a:tcPr>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0"/>
                        </a:spcBef>
                        <a:spcAft>
                          <a:spcPct val="0"/>
                        </a:spcAft>
                        <a:buClrTx/>
                        <a:buSzTx/>
                        <a:buFontTx/>
                        <a:buNone/>
                        <a:tabLst/>
                      </a:pPr>
                      <a:r>
                        <a:rPr kumimoji="0" lang="zh-CN" altLang="zh-CN" sz="1800" b="1" i="0" u="none" strike="noStrike" kern="1200" cap="none" normalizeH="0" baseline="0" dirty="0">
                          <a:ln>
                            <a:noFill/>
                          </a:ln>
                          <a:solidFill>
                            <a:srgbClr val="FFFFFF"/>
                          </a:solidFill>
                          <a:effectLst/>
                          <a:latin typeface="微软雅黑" panose="020B0503020204020204" pitchFamily="34" charset="-122"/>
                          <a:ea typeface="微软雅黑" panose="020B0503020204020204" pitchFamily="34" charset="-122"/>
                          <a:cs typeface="+mn-cs"/>
                          <a:sym typeface="Arial" panose="020B0604020202020204" pitchFamily="34" charset="0"/>
                        </a:rPr>
                        <a:t>不生产</a:t>
                      </a:r>
                    </a:p>
                  </a:txBody>
                  <a:tcPr marT="45733" marB="4573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3C97F"/>
                    </a:solidFill>
                  </a:tcPr>
                </a:tc>
                <a:extLst>
                  <a:ext uri="{0D108BD9-81ED-4DB2-BD59-A6C34878D82A}">
                    <a16:rowId xmlns:a16="http://schemas.microsoft.com/office/drawing/2014/main" val="1222236658"/>
                  </a:ext>
                </a:extLst>
              </a:tr>
              <a:tr h="369888">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0"/>
                        </a:spcBef>
                        <a:spcAft>
                          <a:spcPct val="0"/>
                        </a:spcAft>
                        <a:buClrTx/>
                        <a:buSzTx/>
                        <a:buFontTx/>
                        <a:buNone/>
                        <a:tabLst/>
                      </a:pPr>
                      <a:r>
                        <a:rPr kumimoji="0" lang="zh-CN" altLang="zh-CN" sz="1800" b="0" i="0" u="none" strike="noStrike" kern="1200" cap="none" normalizeH="0" baseline="0" dirty="0">
                          <a:ln>
                            <a:noFill/>
                          </a:ln>
                          <a:solidFill>
                            <a:srgbClr val="000000"/>
                          </a:solidFill>
                          <a:effectLst/>
                          <a:latin typeface="微软雅黑" panose="020B0503020204020204" pitchFamily="34" charset="-122"/>
                          <a:ea typeface="微软雅黑" panose="020B0503020204020204" pitchFamily="34" charset="-122"/>
                          <a:cs typeface="+mn-cs"/>
                          <a:sym typeface="Arial" panose="020B0604020202020204" pitchFamily="34" charset="0"/>
                        </a:rPr>
                        <a:t>生产</a:t>
                      </a:r>
                    </a:p>
                  </a:txBody>
                  <a:tcPr marT="45733" marB="4573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DCDDA"/>
                    </a:solidFill>
                  </a:tcPr>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Arial" panose="020B0604020202020204" pitchFamily="34" charset="0"/>
                          <a:ea typeface="宋体" panose="02010600030101010101" pitchFamily="2" charset="-122"/>
                          <a:sym typeface="Arial" panose="020B0604020202020204" pitchFamily="34" charset="0"/>
                        </a:rPr>
                        <a:t>-2</a:t>
                      </a:r>
                      <a:r>
                        <a:rPr kumimoji="0" lang="zh-CN" altLang="en-US" sz="1800" b="0" i="0" u="none" strike="noStrike" cap="none" normalizeH="0" baseline="0">
                          <a:ln>
                            <a:noFill/>
                          </a:ln>
                          <a:solidFill>
                            <a:srgbClr val="000000"/>
                          </a:solidFill>
                          <a:effectLst/>
                          <a:latin typeface="Arial" panose="020B0604020202020204" pitchFamily="34" charset="0"/>
                          <a:ea typeface="宋体" panose="02010600030101010101" pitchFamily="2" charset="-122"/>
                          <a:sym typeface="Arial" panose="020B0604020202020204" pitchFamily="34" charset="0"/>
                        </a:rPr>
                        <a:t>，</a:t>
                      </a:r>
                      <a:r>
                        <a:rPr kumimoji="0" lang="en-US" altLang="zh-CN" sz="1800" b="0" i="0" u="none" strike="noStrike" cap="none" normalizeH="0" baseline="0">
                          <a:ln>
                            <a:noFill/>
                          </a:ln>
                          <a:solidFill>
                            <a:srgbClr val="000000"/>
                          </a:solidFill>
                          <a:effectLst/>
                          <a:latin typeface="Arial" panose="020B0604020202020204" pitchFamily="34" charset="0"/>
                          <a:ea typeface="宋体" panose="02010600030101010101" pitchFamily="2" charset="-122"/>
                          <a:sym typeface="Arial" panose="020B0604020202020204" pitchFamily="34" charset="0"/>
                        </a:rPr>
                        <a:t>-2</a:t>
                      </a:r>
                      <a:endParaRPr kumimoji="0" lang="zh-CN" altLang="en-US" sz="2800" b="1" i="0" u="none" strike="noStrike" cap="none" normalizeH="0" baseline="0">
                        <a:ln>
                          <a:noFill/>
                        </a:ln>
                        <a:solidFill>
                          <a:srgbClr val="CC0000"/>
                        </a:solidFill>
                        <a:effectLst/>
                        <a:latin typeface="Arial" panose="020B0604020202020204" pitchFamily="34" charset="0"/>
                        <a:ea typeface="宋体" panose="02010600030101010101" pitchFamily="2" charset="-122"/>
                        <a:sym typeface="Arial" panose="020B0604020202020204" pitchFamily="34" charset="0"/>
                      </a:endParaRPr>
                    </a:p>
                  </a:txBody>
                  <a:tcPr marT="45733" marB="4573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DCDDA"/>
                    </a:solidFill>
                  </a:tcPr>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Arial" panose="020B0604020202020204" pitchFamily="34" charset="0"/>
                          <a:ea typeface="宋体" panose="02010600030101010101" pitchFamily="2" charset="-122"/>
                          <a:sym typeface="Arial" panose="020B0604020202020204" pitchFamily="34" charset="0"/>
                        </a:rPr>
                        <a:t>8</a:t>
                      </a:r>
                      <a:r>
                        <a:rPr kumimoji="0" lang="zh-CN" altLang="en-US" sz="1800" b="0" i="0" u="none" strike="noStrike" cap="none" normalizeH="0" baseline="0">
                          <a:ln>
                            <a:noFill/>
                          </a:ln>
                          <a:solidFill>
                            <a:srgbClr val="000000"/>
                          </a:solidFill>
                          <a:effectLst/>
                          <a:latin typeface="Arial" panose="020B0604020202020204" pitchFamily="34" charset="0"/>
                          <a:ea typeface="宋体" panose="02010600030101010101" pitchFamily="2" charset="-122"/>
                          <a:sym typeface="Arial" panose="020B0604020202020204" pitchFamily="34" charset="0"/>
                        </a:rPr>
                        <a:t>，</a:t>
                      </a:r>
                      <a:r>
                        <a:rPr kumimoji="0" lang="en-US" altLang="zh-CN" sz="1800" b="0" i="0" u="none" strike="noStrike" cap="none" normalizeH="0" baseline="0">
                          <a:ln>
                            <a:noFill/>
                          </a:ln>
                          <a:solidFill>
                            <a:srgbClr val="000000"/>
                          </a:solidFill>
                          <a:effectLst/>
                          <a:latin typeface="Arial" panose="020B0604020202020204" pitchFamily="34" charset="0"/>
                          <a:ea typeface="宋体" panose="02010600030101010101" pitchFamily="2" charset="-122"/>
                          <a:sym typeface="Arial" panose="020B0604020202020204" pitchFamily="34" charset="0"/>
                        </a:rPr>
                        <a:t>0</a:t>
                      </a:r>
                      <a:endParaRPr kumimoji="0" lang="zh-CN" altLang="en-US" sz="2800" b="1" i="0" u="none" strike="noStrike" cap="none" normalizeH="0" baseline="0">
                        <a:ln>
                          <a:noFill/>
                        </a:ln>
                        <a:solidFill>
                          <a:srgbClr val="CC0000"/>
                        </a:solidFill>
                        <a:effectLst/>
                        <a:latin typeface="Arial" panose="020B0604020202020204" pitchFamily="34" charset="0"/>
                        <a:ea typeface="宋体" panose="02010600030101010101" pitchFamily="2" charset="-122"/>
                        <a:sym typeface="Arial" panose="020B0604020202020204" pitchFamily="34" charset="0"/>
                      </a:endParaRPr>
                    </a:p>
                  </a:txBody>
                  <a:tcPr marT="45733" marB="4573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DCDDA"/>
                    </a:solidFill>
                  </a:tcPr>
                </a:tc>
                <a:extLst>
                  <a:ext uri="{0D108BD9-81ED-4DB2-BD59-A6C34878D82A}">
                    <a16:rowId xmlns:a16="http://schemas.microsoft.com/office/drawing/2014/main" val="705334666"/>
                  </a:ext>
                </a:extLst>
              </a:tr>
              <a:tr h="371475">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0"/>
                        </a:spcBef>
                        <a:spcAft>
                          <a:spcPct val="0"/>
                        </a:spcAft>
                        <a:buClrTx/>
                        <a:buSzTx/>
                        <a:buFontTx/>
                        <a:buNone/>
                        <a:tabLst/>
                      </a:pPr>
                      <a:r>
                        <a:rPr kumimoji="0" lang="zh-CN" altLang="zh-CN" sz="1800" b="0" i="0" u="none" strike="noStrike" kern="1200" cap="none" normalizeH="0" baseline="0" dirty="0">
                          <a:ln>
                            <a:noFill/>
                          </a:ln>
                          <a:solidFill>
                            <a:srgbClr val="000000"/>
                          </a:solidFill>
                          <a:effectLst/>
                          <a:latin typeface="微软雅黑" panose="020B0503020204020204" pitchFamily="34" charset="-122"/>
                          <a:ea typeface="微软雅黑" panose="020B0503020204020204" pitchFamily="34" charset="-122"/>
                          <a:cs typeface="+mn-cs"/>
                          <a:sym typeface="Arial" panose="020B0604020202020204" pitchFamily="34" charset="0"/>
                        </a:rPr>
                        <a:t>不生产</a:t>
                      </a:r>
                    </a:p>
                  </a:txBody>
                  <a:tcPr marT="45733" marB="4573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8ED"/>
                    </a:solidFill>
                  </a:tcPr>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rgbClr val="000000"/>
                          </a:solidFill>
                          <a:effectLst/>
                          <a:latin typeface="Arial" panose="020B0604020202020204" pitchFamily="34" charset="0"/>
                          <a:ea typeface="宋体" panose="02010600030101010101" pitchFamily="2" charset="-122"/>
                          <a:sym typeface="Arial" panose="020B0604020202020204" pitchFamily="34" charset="0"/>
                        </a:rPr>
                        <a:t>0</a:t>
                      </a:r>
                      <a:r>
                        <a:rPr kumimoji="0" lang="zh-CN" altLang="en-US" sz="1800" b="0" i="0" u="none" strike="noStrike" cap="none" normalizeH="0" baseline="0" dirty="0">
                          <a:ln>
                            <a:noFill/>
                          </a:ln>
                          <a:solidFill>
                            <a:srgbClr val="000000"/>
                          </a:solidFill>
                          <a:effectLst/>
                          <a:latin typeface="Arial" panose="020B0604020202020204" pitchFamily="34" charset="0"/>
                          <a:ea typeface="宋体" panose="02010600030101010101" pitchFamily="2" charset="-122"/>
                          <a:sym typeface="Arial" panose="020B0604020202020204" pitchFamily="34" charset="0"/>
                        </a:rPr>
                        <a:t>，</a:t>
                      </a:r>
                      <a:r>
                        <a:rPr kumimoji="0" lang="en-US" altLang="zh-CN" sz="1800" b="0" i="0" u="none" strike="noStrike" cap="none" normalizeH="0" baseline="0" dirty="0">
                          <a:ln>
                            <a:noFill/>
                          </a:ln>
                          <a:solidFill>
                            <a:srgbClr val="000000"/>
                          </a:solidFill>
                          <a:effectLst/>
                          <a:latin typeface="Arial" panose="020B0604020202020204" pitchFamily="34" charset="0"/>
                          <a:ea typeface="宋体" panose="02010600030101010101" pitchFamily="2" charset="-122"/>
                          <a:sym typeface="Arial" panose="020B0604020202020204" pitchFamily="34" charset="0"/>
                        </a:rPr>
                        <a:t>8</a:t>
                      </a:r>
                      <a:endParaRPr kumimoji="0" lang="zh-CN" altLang="en-US" sz="2800" b="1" i="0" u="none" strike="noStrike" cap="none" normalizeH="0" baseline="0" dirty="0">
                        <a:ln>
                          <a:noFill/>
                        </a:ln>
                        <a:solidFill>
                          <a:srgbClr val="CC0000"/>
                        </a:solidFill>
                        <a:effectLst/>
                        <a:latin typeface="Arial" panose="020B0604020202020204" pitchFamily="34" charset="0"/>
                        <a:ea typeface="宋体" panose="02010600030101010101" pitchFamily="2" charset="-122"/>
                        <a:sym typeface="Arial" panose="020B0604020202020204" pitchFamily="34" charset="0"/>
                      </a:endParaRPr>
                    </a:p>
                  </a:txBody>
                  <a:tcPr marT="45733" marB="4573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8ED"/>
                    </a:solidFill>
                  </a:tcPr>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rgbClr val="000000"/>
                          </a:solidFill>
                          <a:effectLst/>
                          <a:latin typeface="Arial" panose="020B0604020202020204" pitchFamily="34" charset="0"/>
                          <a:ea typeface="宋体" panose="02010600030101010101" pitchFamily="2" charset="-122"/>
                          <a:sym typeface="Arial" panose="020B0604020202020204" pitchFamily="34" charset="0"/>
                        </a:rPr>
                        <a:t>0</a:t>
                      </a:r>
                      <a:r>
                        <a:rPr kumimoji="0" lang="zh-CN" altLang="en-US" sz="1800" b="0" i="0" u="none" strike="noStrike" cap="none" normalizeH="0" baseline="0" dirty="0">
                          <a:ln>
                            <a:noFill/>
                          </a:ln>
                          <a:solidFill>
                            <a:srgbClr val="000000"/>
                          </a:solidFill>
                          <a:effectLst/>
                          <a:latin typeface="Arial" panose="020B0604020202020204" pitchFamily="34" charset="0"/>
                          <a:ea typeface="宋体" panose="02010600030101010101" pitchFamily="2" charset="-122"/>
                          <a:sym typeface="Arial" panose="020B0604020202020204" pitchFamily="34" charset="0"/>
                        </a:rPr>
                        <a:t>，</a:t>
                      </a:r>
                      <a:r>
                        <a:rPr kumimoji="0" lang="en-US" altLang="zh-CN" sz="1800" b="0" i="0" u="none" strike="noStrike" cap="none" normalizeH="0" baseline="0" dirty="0">
                          <a:ln>
                            <a:noFill/>
                          </a:ln>
                          <a:solidFill>
                            <a:srgbClr val="000000"/>
                          </a:solidFill>
                          <a:effectLst/>
                          <a:latin typeface="Arial" panose="020B0604020202020204" pitchFamily="34" charset="0"/>
                          <a:ea typeface="宋体" panose="02010600030101010101" pitchFamily="2" charset="-122"/>
                          <a:sym typeface="Arial" panose="020B0604020202020204" pitchFamily="34" charset="0"/>
                        </a:rPr>
                        <a:t>0</a:t>
                      </a:r>
                      <a:endParaRPr kumimoji="0" lang="zh-CN" altLang="en-US" sz="2800" b="1" i="0" u="none" strike="noStrike" cap="none" normalizeH="0" baseline="0" dirty="0">
                        <a:ln>
                          <a:noFill/>
                        </a:ln>
                        <a:solidFill>
                          <a:srgbClr val="CC0000"/>
                        </a:solidFill>
                        <a:effectLst/>
                        <a:latin typeface="Arial" panose="020B0604020202020204" pitchFamily="34" charset="0"/>
                        <a:ea typeface="宋体" panose="02010600030101010101" pitchFamily="2" charset="-122"/>
                        <a:sym typeface="Arial" panose="020B0604020202020204" pitchFamily="34" charset="0"/>
                      </a:endParaRPr>
                    </a:p>
                  </a:txBody>
                  <a:tcPr marT="45733" marB="4573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8ED"/>
                    </a:solidFill>
                  </a:tcPr>
                </a:tc>
                <a:extLst>
                  <a:ext uri="{0D108BD9-81ED-4DB2-BD59-A6C34878D82A}">
                    <a16:rowId xmlns:a16="http://schemas.microsoft.com/office/drawing/2014/main" val="265875752"/>
                  </a:ext>
                </a:extLst>
              </a:tr>
            </a:tbl>
          </a:graphicData>
        </a:graphic>
      </p:graphicFrame>
      <p:sp>
        <p:nvSpPr>
          <p:cNvPr id="5" name="矩形 4"/>
          <p:cNvSpPr/>
          <p:nvPr/>
        </p:nvSpPr>
        <p:spPr>
          <a:xfrm>
            <a:off x="6228115" y="44765"/>
            <a:ext cx="2915885" cy="369332"/>
          </a:xfrm>
          <a:prstGeom prst="rect">
            <a:avLst/>
          </a:prstGeom>
        </p:spPr>
        <p:txBody>
          <a:bodyPr wrap="square">
            <a:spAutoFit/>
          </a:bodyPr>
          <a:lstStyle/>
          <a:p>
            <a:r>
              <a:rPr lang="zh-CN" altLang="en-US" sz="1800" b="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第四节  博弈论和策略行为</a:t>
            </a:r>
            <a:endParaRPr lang="zh-CN" altLang="en-US" sz="18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 name="矩形 5">
            <a:extLst>
              <a:ext uri="{FF2B5EF4-FFF2-40B4-BE49-F238E27FC236}">
                <a16:creationId xmlns:a16="http://schemas.microsoft.com/office/drawing/2014/main" id="{F68E5273-CD77-47B9-B841-9D29349C133D}"/>
              </a:ext>
            </a:extLst>
          </p:cNvPr>
          <p:cNvSpPr/>
          <p:nvPr/>
        </p:nvSpPr>
        <p:spPr>
          <a:xfrm>
            <a:off x="457201" y="548681"/>
            <a:ext cx="3970789"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marL="0" lvl="1">
              <a:defRPr/>
            </a:pPr>
            <a:r>
              <a:rPr lang="zh-CN" altLang="en-US" sz="2400" spc="150" dirty="0">
                <a:solidFill>
                  <a:srgbClr val="FFFFFF"/>
                </a:solidFill>
                <a:latin typeface="微软雅黑" panose="020B0503020204020204" pitchFamily="34" charset="-122"/>
                <a:ea typeface="微软雅黑" panose="020B0503020204020204" pitchFamily="34" charset="-122"/>
              </a:rPr>
              <a:t>三</a:t>
            </a:r>
            <a:r>
              <a:rPr lang="zh-CN" altLang="en-US" sz="2400" b="1" spc="150" dirty="0">
                <a:solidFill>
                  <a:srgbClr val="FFFFFF"/>
                </a:solidFill>
                <a:latin typeface="微软雅黑" panose="020B0503020204020204" pitchFamily="34" charset="-122"/>
                <a:ea typeface="微软雅黑" panose="020B0503020204020204" pitchFamily="34" charset="-122"/>
              </a:rPr>
              <a:t>、</a:t>
            </a:r>
            <a:r>
              <a:rPr lang="zh-CN" altLang="en-US" sz="2400" spc="15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博弈分析的简单应用</a:t>
            </a:r>
            <a:endParaRPr lang="en-US" altLang="zh-CN" sz="2400" spc="150" dirty="0">
              <a:solidFill>
                <a:srgbClr val="FFFFFF"/>
              </a:solidFill>
              <a:latin typeface="微软雅黑" panose="020B0503020204020204" pitchFamily="34" charset="-122"/>
              <a:ea typeface="微软雅黑" panose="020B0503020204020204" pitchFamily="34"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4274">
                                            <p:txEl>
                                              <p:pRg st="0" end="0"/>
                                            </p:txEl>
                                          </p:spTgt>
                                        </p:tgtEl>
                                        <p:attrNameLst>
                                          <p:attrName>style.visibility</p:attrName>
                                        </p:attrNameLst>
                                      </p:cBhvr>
                                      <p:to>
                                        <p:strVal val="visible"/>
                                      </p:to>
                                    </p:set>
                                    <p:animEffect>
                                      <p:cBhvr>
                                        <p:cTn id="7" dur="500"/>
                                        <p:tgtEl>
                                          <p:spTgt spid="5427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4274">
                                            <p:txEl>
                                              <p:pRg st="1" end="1"/>
                                            </p:txEl>
                                          </p:spTgt>
                                        </p:tgtEl>
                                        <p:attrNameLst>
                                          <p:attrName>style.visibility</p:attrName>
                                        </p:attrNameLst>
                                      </p:cBhvr>
                                      <p:to>
                                        <p:strVal val="visible"/>
                                      </p:to>
                                    </p:set>
                                    <p:animEffect>
                                      <p:cBhvr>
                                        <p:cTn id="12" dur="500"/>
                                        <p:tgtEl>
                                          <p:spTgt spid="5427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4275"/>
                                        </p:tgtEl>
                                        <p:attrNameLst>
                                          <p:attrName>style.visibility</p:attrName>
                                        </p:attrNameLst>
                                      </p:cBhvr>
                                      <p:to>
                                        <p:strVal val="visible"/>
                                      </p:to>
                                    </p:set>
                                    <p:animEffect>
                                      <p:cBhvr>
                                        <p:cTn id="17" dur="500"/>
                                        <p:tgtEl>
                                          <p:spTgt spid="5427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4274">
                                            <p:txEl>
                                              <p:pRg st="5" end="5"/>
                                            </p:txEl>
                                          </p:spTgt>
                                        </p:tgtEl>
                                        <p:attrNameLst>
                                          <p:attrName>style.visibility</p:attrName>
                                        </p:attrNameLst>
                                      </p:cBhvr>
                                      <p:to>
                                        <p:strVal val="visible"/>
                                      </p:to>
                                    </p:set>
                                    <p:animEffect>
                                      <p:cBhvr>
                                        <p:cTn id="22" dur="500"/>
                                        <p:tgtEl>
                                          <p:spTgt spid="54274">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54274">
                                            <p:txEl>
                                              <p:pRg st="6" end="6"/>
                                            </p:txEl>
                                          </p:spTgt>
                                        </p:tgtEl>
                                        <p:attrNameLst>
                                          <p:attrName>style.visibility</p:attrName>
                                        </p:attrNameLst>
                                      </p:cBhvr>
                                      <p:to>
                                        <p:strVal val="visible"/>
                                      </p:to>
                                    </p:set>
                                    <p:animEffect>
                                      <p:cBhvr>
                                        <p:cTn id="27" dur="500"/>
                                        <p:tgtEl>
                                          <p:spTgt spid="54274">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54274">
                                            <p:txEl>
                                              <p:pRg st="7" end="7"/>
                                            </p:txEl>
                                          </p:spTgt>
                                        </p:tgtEl>
                                        <p:attrNameLst>
                                          <p:attrName>style.visibility</p:attrName>
                                        </p:attrNameLst>
                                      </p:cBhvr>
                                      <p:to>
                                        <p:strVal val="visible"/>
                                      </p:to>
                                    </p:set>
                                    <p:animEffect>
                                      <p:cBhvr>
                                        <p:cTn id="32" dur="500"/>
                                        <p:tgtEl>
                                          <p:spTgt spid="54274">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54274">
                                            <p:txEl>
                                              <p:pRg st="8" end="8"/>
                                            </p:txEl>
                                          </p:spTgt>
                                        </p:tgtEl>
                                        <p:attrNameLst>
                                          <p:attrName>style.visibility</p:attrName>
                                        </p:attrNameLst>
                                      </p:cBhvr>
                                      <p:to>
                                        <p:strVal val="visible"/>
                                      </p:to>
                                    </p:set>
                                    <p:animEffect>
                                      <p:cBhvr>
                                        <p:cTn id="37" dur="500"/>
                                        <p:tgtEl>
                                          <p:spTgt spid="54274">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54274">
                                            <p:txEl>
                                              <p:pRg st="9" end="9"/>
                                            </p:txEl>
                                          </p:spTgt>
                                        </p:tgtEl>
                                        <p:attrNameLst>
                                          <p:attrName>style.visibility</p:attrName>
                                        </p:attrNameLst>
                                      </p:cBhvr>
                                      <p:to>
                                        <p:strVal val="visible"/>
                                      </p:to>
                                    </p:set>
                                    <p:animEffect>
                                      <p:cBhvr>
                                        <p:cTn id="42" dur="500"/>
                                        <p:tgtEl>
                                          <p:spTgt spid="54274">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3"/>
          <p:cNvSpPr>
            <a:spLocks noGrp="1" noChangeArrowheads="1"/>
          </p:cNvSpPr>
          <p:nvPr>
            <p:ph type="body" idx="4294967295"/>
          </p:nvPr>
        </p:nvSpPr>
        <p:spPr>
          <a:xfrm>
            <a:off x="251701" y="980830"/>
            <a:ext cx="8712604" cy="5145333"/>
          </a:xfrm>
          <a:ln/>
        </p:spPr>
        <p:txBody>
          <a:bodyPr/>
          <a:lstStyle/>
          <a:p>
            <a:pPr marL="457200" lvl="2" indent="-457200" eaLnBrk="1" hangingPunct="1">
              <a:lnSpc>
                <a:spcPct val="150000"/>
              </a:lnSpc>
              <a:buSzPct val="100000"/>
              <a:buFont typeface="Wingdings" panose="05000000000000000000" pitchFamily="2" charset="2"/>
              <a:buChar char="u"/>
            </a:pPr>
            <a:r>
              <a:rPr lang="zh-CN" altLang="en-US" sz="2200" b="0" dirty="0">
                <a:latin typeface="微软雅黑" panose="020B0503020204020204" pitchFamily="34" charset="-122"/>
                <a:ea typeface="微软雅黑" panose="020B0503020204020204" pitchFamily="34" charset="-122"/>
              </a:rPr>
              <a:t>策略性贸易政策</a:t>
            </a:r>
            <a:endParaRPr lang="en-US" altLang="zh-CN" sz="2200" b="0" dirty="0">
              <a:latin typeface="微软雅黑" panose="020B0503020204020204" pitchFamily="34" charset="-122"/>
              <a:ea typeface="微软雅黑" panose="020B0503020204020204" pitchFamily="34" charset="-122"/>
            </a:endParaRPr>
          </a:p>
          <a:p>
            <a:pPr marL="800100" lvl="1" indent="-342900">
              <a:lnSpc>
                <a:spcPct val="150000"/>
              </a:lnSpc>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rPr>
              <a:t>单方补贴：</a:t>
            </a:r>
            <a:r>
              <a:rPr lang="en-US" altLang="zh-CN" sz="2000" b="0" dirty="0">
                <a:latin typeface="微软雅黑" panose="020B0503020204020204" pitchFamily="34" charset="-122"/>
                <a:ea typeface="微软雅黑" panose="020B0503020204020204" pitchFamily="34" charset="-122"/>
              </a:rPr>
              <a:t>B</a:t>
            </a:r>
            <a:r>
              <a:rPr lang="zh-CN" altLang="en-US" sz="2000" b="0" dirty="0">
                <a:latin typeface="微软雅黑" panose="020B0503020204020204" pitchFamily="34" charset="-122"/>
                <a:ea typeface="微软雅黑" panose="020B0503020204020204" pitchFamily="34" charset="-122"/>
              </a:rPr>
              <a:t>获得补贴</a:t>
            </a:r>
            <a:endParaRPr lang="en-US" altLang="zh-CN" sz="2000" b="0" dirty="0">
              <a:latin typeface="微软雅黑" panose="020B0503020204020204" pitchFamily="34" charset="-122"/>
              <a:ea typeface="微软雅黑" panose="020B0503020204020204" pitchFamily="34" charset="-122"/>
            </a:endParaRPr>
          </a:p>
          <a:p>
            <a:pPr eaLnBrk="1" hangingPunct="1">
              <a:buFont typeface="Arial" panose="020B0604020202020204" pitchFamily="34" charset="0"/>
              <a:buChar char="•"/>
            </a:pPr>
            <a:endParaRPr lang="en-US" altLang="zh-CN" sz="2800" b="0" dirty="0">
              <a:solidFill>
                <a:schemeClr val="tx1"/>
              </a:solidFill>
            </a:endParaRPr>
          </a:p>
          <a:p>
            <a:pPr eaLnBrk="1" hangingPunct="1">
              <a:buFont typeface="Arial" panose="020B0604020202020204" pitchFamily="34" charset="0"/>
              <a:buChar char="•"/>
            </a:pPr>
            <a:endParaRPr lang="en-US" altLang="zh-CN" sz="2800" b="0" dirty="0">
              <a:solidFill>
                <a:schemeClr val="tx1"/>
              </a:solidFill>
            </a:endParaRPr>
          </a:p>
          <a:p>
            <a:pPr eaLnBrk="1" hangingPunct="1">
              <a:buFont typeface="Arial" panose="020B0604020202020204" pitchFamily="34" charset="0"/>
              <a:buChar char="•"/>
            </a:pPr>
            <a:endParaRPr lang="en-US" altLang="zh-CN" sz="2800" b="0" dirty="0">
              <a:solidFill>
                <a:schemeClr val="tx1"/>
              </a:solidFill>
            </a:endParaRPr>
          </a:p>
          <a:p>
            <a:pPr lvl="1">
              <a:lnSpc>
                <a:spcPct val="150000"/>
              </a:lnSpc>
              <a:buFont typeface="Wingdings" panose="05000000000000000000" pitchFamily="2" charset="2"/>
              <a:buChar char="Ø"/>
            </a:pPr>
            <a:r>
              <a:rPr lang="zh-CN" altLang="en-US" sz="2200" b="0" dirty="0">
                <a:solidFill>
                  <a:srgbClr val="BB1528"/>
                </a:solidFill>
                <a:latin typeface="微软雅黑" panose="020B0503020204020204" pitchFamily="34" charset="-122"/>
                <a:ea typeface="微软雅黑" panose="020B0503020204020204" pitchFamily="34" charset="-122"/>
              </a:rPr>
              <a:t>此时纳什均衡只有一个：</a:t>
            </a:r>
            <a:endParaRPr lang="en-US" altLang="zh-CN" sz="2200" b="0" dirty="0">
              <a:solidFill>
                <a:srgbClr val="BB1528"/>
              </a:solidFill>
              <a:latin typeface="微软雅黑" panose="020B0503020204020204" pitchFamily="34" charset="-122"/>
              <a:ea typeface="微软雅黑" panose="020B0503020204020204" pitchFamily="34" charset="-122"/>
            </a:endParaRPr>
          </a:p>
          <a:p>
            <a:pPr marL="400050" lvl="1" indent="0" eaLnBrk="1" hangingPunct="1">
              <a:buNone/>
            </a:pPr>
            <a:r>
              <a:rPr lang="zh-CN" altLang="en-US" sz="20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（不生产，生产</a:t>
            </a:r>
            <a:r>
              <a:rPr lang="zh-CN" altLang="en-US" sz="2000" b="0" dirty="0">
                <a:solidFill>
                  <a:schemeClr val="tx1"/>
                </a:solidFill>
                <a:latin typeface="微软雅黑" panose="020B0503020204020204" pitchFamily="34" charset="-122"/>
                <a:ea typeface="微软雅黑" panose="020B0503020204020204" pitchFamily="34" charset="-122"/>
              </a:rPr>
              <a:t>）</a:t>
            </a:r>
            <a:r>
              <a:rPr lang="en-US" altLang="zh-CN" sz="20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 (0, 13) </a:t>
            </a:r>
          </a:p>
          <a:p>
            <a:pPr marL="800100" lvl="1" indent="-342900">
              <a:lnSpc>
                <a:spcPct val="150000"/>
              </a:lnSpc>
              <a:buFont typeface="Wingdings" panose="05000000000000000000" pitchFamily="2" charset="2"/>
              <a:buChar char="Ø"/>
            </a:pPr>
            <a:r>
              <a:rPr lang="en-US" altLang="zh-CN" sz="2200" b="0" dirty="0">
                <a:latin typeface="微软雅黑" panose="020B0503020204020204" pitchFamily="34" charset="-122"/>
                <a:ea typeface="微软雅黑" panose="020B0503020204020204" pitchFamily="34" charset="-122"/>
                <a:sym typeface="Wingdings" panose="05000000000000000000" pitchFamily="2" charset="2"/>
              </a:rPr>
              <a:t> </a:t>
            </a:r>
            <a:r>
              <a:rPr lang="zh-CN" altLang="en-US" sz="2000" b="0" dirty="0">
                <a:latin typeface="微软雅黑" panose="020B0503020204020204" pitchFamily="34" charset="-122"/>
                <a:ea typeface="微软雅黑" panose="020B0503020204020204" pitchFamily="34" charset="-122"/>
                <a:sym typeface="Wingdings" panose="05000000000000000000" pitchFamily="2" charset="2"/>
              </a:rPr>
              <a:t>这个结果表明</a:t>
            </a:r>
            <a:endParaRPr lang="en-US" altLang="zh-CN" sz="2000" b="0" dirty="0">
              <a:latin typeface="微软雅黑" panose="020B0503020204020204" pitchFamily="34" charset="-122"/>
              <a:ea typeface="微软雅黑" panose="020B0503020204020204" pitchFamily="34" charset="-122"/>
              <a:sym typeface="Wingdings" panose="05000000000000000000" pitchFamily="2" charset="2"/>
            </a:endParaRPr>
          </a:p>
          <a:p>
            <a:pPr marL="1200150" lvl="3" indent="-342900" eaLnBrk="1" hangingPunct="1">
              <a:buFont typeface="Arial" panose="020B0604020202020204" pitchFamily="34" charset="0"/>
              <a:buChar char="•"/>
            </a:pPr>
            <a:r>
              <a:rPr lang="zh-CN" altLang="en-US" b="0" dirty="0">
                <a:latin typeface="微软雅黑" panose="020B0503020204020204" pitchFamily="34" charset="-122"/>
                <a:ea typeface="微软雅黑" panose="020B0503020204020204" pitchFamily="34" charset="-122"/>
                <a:sym typeface="Wingdings" panose="05000000000000000000" pitchFamily="2" charset="2"/>
              </a:rPr>
              <a:t>补贴是有意义的。相对于无补贴而言，</a:t>
            </a:r>
            <a:r>
              <a:rPr lang="en-US" altLang="zh-CN" b="0" dirty="0">
                <a:latin typeface="微软雅黑" panose="020B0503020204020204" pitchFamily="34" charset="-122"/>
                <a:ea typeface="微软雅黑" panose="020B0503020204020204" pitchFamily="34" charset="-122"/>
                <a:sym typeface="Wingdings" panose="05000000000000000000" pitchFamily="2" charset="2"/>
              </a:rPr>
              <a:t>B</a:t>
            </a:r>
            <a:r>
              <a:rPr lang="zh-CN" altLang="en-US" b="0" dirty="0">
                <a:latin typeface="微软雅黑" panose="020B0503020204020204" pitchFamily="34" charset="-122"/>
                <a:ea typeface="微软雅黑" panose="020B0503020204020204" pitchFamily="34" charset="-122"/>
                <a:sym typeface="Wingdings" panose="05000000000000000000" pitchFamily="2" charset="2"/>
              </a:rPr>
              <a:t>胜出</a:t>
            </a:r>
            <a:endParaRPr lang="en-US" altLang="zh-CN" b="0" dirty="0">
              <a:latin typeface="微软雅黑" panose="020B0503020204020204" pitchFamily="34" charset="-122"/>
              <a:ea typeface="微软雅黑" panose="020B0503020204020204" pitchFamily="34" charset="-122"/>
              <a:sym typeface="Wingdings" panose="05000000000000000000" pitchFamily="2" charset="2"/>
            </a:endParaRPr>
          </a:p>
          <a:p>
            <a:pPr marL="1200150" lvl="3" indent="-342900" eaLnBrk="1" hangingPunct="1">
              <a:buFont typeface="Arial" panose="020B0604020202020204" pitchFamily="34" charset="0"/>
              <a:buChar char="•"/>
            </a:pPr>
            <a:r>
              <a:rPr lang="zh-CN" altLang="en-US" b="0" dirty="0">
                <a:latin typeface="微软雅黑" panose="020B0503020204020204" pitchFamily="34" charset="-122"/>
                <a:ea typeface="微软雅黑" panose="020B0503020204020204" pitchFamily="34" charset="-122"/>
                <a:sym typeface="Wingdings" panose="05000000000000000000" pitchFamily="2" charset="2"/>
              </a:rPr>
              <a:t>但是，如果两个国家争相补贴，就出现两个国家的博弈了。</a:t>
            </a:r>
            <a:endParaRPr lang="zh-CN" altLang="en-US" b="0" dirty="0">
              <a:latin typeface="微软雅黑" panose="020B0503020204020204" pitchFamily="34" charset="-122"/>
              <a:ea typeface="微软雅黑" panose="020B0503020204020204" pitchFamily="34" charset="-122"/>
            </a:endParaRPr>
          </a:p>
        </p:txBody>
      </p:sp>
      <p:graphicFrame>
        <p:nvGraphicFramePr>
          <p:cNvPr id="54293" name="Group 21"/>
          <p:cNvGraphicFramePr>
            <a:graphicFrameLocks noGrp="1"/>
          </p:cNvGraphicFramePr>
          <p:nvPr>
            <p:extLst>
              <p:ext uri="{D42A27DB-BD31-4B8C-83A1-F6EECF244321}">
                <p14:modId xmlns:p14="http://schemas.microsoft.com/office/powerpoint/2010/main" val="3151496419"/>
              </p:ext>
            </p:extLst>
          </p:nvPr>
        </p:nvGraphicFramePr>
        <p:xfrm>
          <a:off x="1560003" y="2204915"/>
          <a:ext cx="6096000" cy="1111251"/>
        </p:xfrm>
        <a:graphic>
          <a:graphicData uri="http://schemas.openxmlformats.org/drawingml/2006/table">
            <a:tbl>
              <a:tblPr/>
              <a:tblGrid>
                <a:gridCol w="2032000">
                  <a:extLst>
                    <a:ext uri="{9D8B030D-6E8A-4147-A177-3AD203B41FA5}">
                      <a16:colId xmlns:a16="http://schemas.microsoft.com/office/drawing/2014/main" val="847804650"/>
                    </a:ext>
                  </a:extLst>
                </a:gridCol>
                <a:gridCol w="2032000">
                  <a:extLst>
                    <a:ext uri="{9D8B030D-6E8A-4147-A177-3AD203B41FA5}">
                      <a16:colId xmlns:a16="http://schemas.microsoft.com/office/drawing/2014/main" val="2301957980"/>
                    </a:ext>
                  </a:extLst>
                </a:gridCol>
                <a:gridCol w="2032000">
                  <a:extLst>
                    <a:ext uri="{9D8B030D-6E8A-4147-A177-3AD203B41FA5}">
                      <a16:colId xmlns:a16="http://schemas.microsoft.com/office/drawing/2014/main" val="1937372387"/>
                    </a:ext>
                  </a:extLst>
                </a:gridCol>
              </a:tblGrid>
              <a:tr h="369888">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0"/>
                        </a:spcBef>
                        <a:spcAft>
                          <a:spcPct val="0"/>
                        </a:spcAft>
                        <a:buClrTx/>
                        <a:buSzTx/>
                        <a:buFontTx/>
                        <a:buNone/>
                        <a:tabLst/>
                      </a:pPr>
                      <a:r>
                        <a:rPr kumimoji="0" lang="zh-CN" altLang="en-US" sz="1800" b="1" i="0" u="none" strike="noStrike" kern="1200" cap="none" normalizeH="0" baseline="0" dirty="0">
                          <a:ln>
                            <a:noFill/>
                          </a:ln>
                          <a:solidFill>
                            <a:srgbClr val="FFFFFF"/>
                          </a:solidFill>
                          <a:effectLst/>
                          <a:latin typeface="微软雅黑" panose="020B0503020204020204" pitchFamily="34" charset="-122"/>
                          <a:ea typeface="微软雅黑" panose="020B0503020204020204" pitchFamily="34" charset="-122"/>
                          <a:cs typeface="+mn-cs"/>
                          <a:sym typeface="Arial" panose="020B0604020202020204" pitchFamily="34" charset="0"/>
                        </a:rPr>
                        <a:t>企业</a:t>
                      </a:r>
                      <a:r>
                        <a:rPr kumimoji="0" lang="en-US" altLang="zh-CN" sz="1800" b="1" i="0" u="none" strike="noStrike" kern="1200" cap="none" normalizeH="0" baseline="0" dirty="0">
                          <a:ln>
                            <a:noFill/>
                          </a:ln>
                          <a:solidFill>
                            <a:srgbClr val="FFFFFF"/>
                          </a:solidFill>
                          <a:effectLst/>
                          <a:latin typeface="微软雅黑" panose="020B0503020204020204" pitchFamily="34" charset="-122"/>
                          <a:ea typeface="微软雅黑" panose="020B0503020204020204" pitchFamily="34" charset="-122"/>
                          <a:cs typeface="+mn-cs"/>
                          <a:sym typeface="Arial" panose="020B0604020202020204" pitchFamily="34" charset="0"/>
                        </a:rPr>
                        <a:t>A\</a:t>
                      </a:r>
                      <a:r>
                        <a:rPr kumimoji="0" lang="zh-CN" altLang="en-US" sz="1800" b="1" i="0" u="none" strike="noStrike" kern="1200" cap="none" normalizeH="0" baseline="0" dirty="0">
                          <a:ln>
                            <a:noFill/>
                          </a:ln>
                          <a:solidFill>
                            <a:srgbClr val="FFFFFF"/>
                          </a:solidFill>
                          <a:effectLst/>
                          <a:latin typeface="微软雅黑" panose="020B0503020204020204" pitchFamily="34" charset="-122"/>
                          <a:ea typeface="微软雅黑" panose="020B0503020204020204" pitchFamily="34" charset="-122"/>
                          <a:cs typeface="+mn-cs"/>
                          <a:sym typeface="Arial" panose="020B0604020202020204" pitchFamily="34" charset="0"/>
                        </a:rPr>
                        <a:t>企业</a:t>
                      </a:r>
                      <a:r>
                        <a:rPr kumimoji="0" lang="en-US" altLang="zh-CN" sz="1800" b="1" i="0" u="none" strike="noStrike" kern="1200" cap="none" normalizeH="0" baseline="0" dirty="0">
                          <a:ln>
                            <a:noFill/>
                          </a:ln>
                          <a:solidFill>
                            <a:srgbClr val="FFFFFF"/>
                          </a:solidFill>
                          <a:effectLst/>
                          <a:latin typeface="微软雅黑" panose="020B0503020204020204" pitchFamily="34" charset="-122"/>
                          <a:ea typeface="微软雅黑" panose="020B0503020204020204" pitchFamily="34" charset="-122"/>
                          <a:cs typeface="+mn-cs"/>
                          <a:sym typeface="Arial" panose="020B0604020202020204" pitchFamily="34" charset="0"/>
                        </a:rPr>
                        <a:t>B</a:t>
                      </a:r>
                      <a:endParaRPr kumimoji="0" lang="zh-CN" altLang="en-US" sz="1800" b="1" i="0" u="none" strike="noStrike" kern="1200" cap="none" normalizeH="0" baseline="0" dirty="0">
                        <a:ln>
                          <a:noFill/>
                        </a:ln>
                        <a:solidFill>
                          <a:srgbClr val="FFFFFF"/>
                        </a:solidFill>
                        <a:effectLst/>
                        <a:latin typeface="微软雅黑" panose="020B0503020204020204" pitchFamily="34" charset="-122"/>
                        <a:ea typeface="微软雅黑" panose="020B0503020204020204" pitchFamily="34" charset="-122"/>
                        <a:cs typeface="+mn-cs"/>
                        <a:sym typeface="Arial" panose="020B0604020202020204" pitchFamily="34" charset="0"/>
                      </a:endParaRPr>
                    </a:p>
                  </a:txBody>
                  <a:tcPr marT="45668" marB="4566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3C97F"/>
                    </a:solidFill>
                  </a:tcPr>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0"/>
                        </a:spcBef>
                        <a:spcAft>
                          <a:spcPct val="0"/>
                        </a:spcAft>
                        <a:buClrTx/>
                        <a:buSzTx/>
                        <a:buFontTx/>
                        <a:buNone/>
                        <a:tabLst/>
                      </a:pPr>
                      <a:r>
                        <a:rPr kumimoji="0" lang="zh-CN" altLang="zh-CN" sz="1800" b="1" i="0" u="none" strike="noStrike" kern="1200" cap="none" normalizeH="0" baseline="0" dirty="0">
                          <a:ln>
                            <a:noFill/>
                          </a:ln>
                          <a:solidFill>
                            <a:srgbClr val="FFFFFF"/>
                          </a:solidFill>
                          <a:effectLst/>
                          <a:latin typeface="微软雅黑" panose="020B0503020204020204" pitchFamily="34" charset="-122"/>
                          <a:ea typeface="微软雅黑" panose="020B0503020204020204" pitchFamily="34" charset="-122"/>
                          <a:cs typeface="+mn-cs"/>
                          <a:sym typeface="Arial" panose="020B0604020202020204" pitchFamily="34" charset="0"/>
                        </a:rPr>
                        <a:t>生产</a:t>
                      </a:r>
                    </a:p>
                  </a:txBody>
                  <a:tcPr marT="45668" marB="4566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3C97F"/>
                    </a:solidFill>
                  </a:tcPr>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0"/>
                        </a:spcBef>
                        <a:spcAft>
                          <a:spcPct val="0"/>
                        </a:spcAft>
                        <a:buClrTx/>
                        <a:buSzTx/>
                        <a:buFontTx/>
                        <a:buNone/>
                        <a:tabLst/>
                      </a:pPr>
                      <a:r>
                        <a:rPr kumimoji="0" lang="zh-CN" altLang="zh-CN" sz="1800" b="1" i="0" u="none" strike="noStrike" kern="1200" cap="none" normalizeH="0" baseline="0" dirty="0">
                          <a:ln>
                            <a:noFill/>
                          </a:ln>
                          <a:solidFill>
                            <a:srgbClr val="FFFFFF"/>
                          </a:solidFill>
                          <a:effectLst/>
                          <a:latin typeface="微软雅黑" panose="020B0503020204020204" pitchFamily="34" charset="-122"/>
                          <a:ea typeface="微软雅黑" panose="020B0503020204020204" pitchFamily="34" charset="-122"/>
                          <a:cs typeface="+mn-cs"/>
                          <a:sym typeface="Arial" panose="020B0604020202020204" pitchFamily="34" charset="0"/>
                        </a:rPr>
                        <a:t>不生产</a:t>
                      </a:r>
                    </a:p>
                  </a:txBody>
                  <a:tcPr marT="45668" marB="4566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3C97F"/>
                    </a:solidFill>
                  </a:tcPr>
                </a:tc>
                <a:extLst>
                  <a:ext uri="{0D108BD9-81ED-4DB2-BD59-A6C34878D82A}">
                    <a16:rowId xmlns:a16="http://schemas.microsoft.com/office/drawing/2014/main" val="1657069965"/>
                  </a:ext>
                </a:extLst>
              </a:tr>
              <a:tr h="371475">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sym typeface="Arial" panose="020B0604020202020204" pitchFamily="34" charset="0"/>
                        </a:rPr>
                        <a:t>生产</a:t>
                      </a:r>
                      <a:endParaRPr kumimoji="0" lang="zh-CN" altLang="zh-CN" sz="2800" b="1" i="0" u="none" strike="noStrike" cap="none" normalizeH="0" baseline="0" dirty="0">
                        <a:ln>
                          <a:noFill/>
                        </a:ln>
                        <a:solidFill>
                          <a:srgbClr val="CC0000"/>
                        </a:solidFill>
                        <a:effectLst/>
                        <a:latin typeface="微软雅黑" panose="020B0503020204020204" pitchFamily="34" charset="-122"/>
                        <a:ea typeface="微软雅黑" panose="020B0503020204020204" pitchFamily="34" charset="-122"/>
                        <a:sym typeface="Arial" panose="020B0604020202020204" pitchFamily="34" charset="0"/>
                      </a:endParaRPr>
                    </a:p>
                  </a:txBody>
                  <a:tcPr marT="45668" marB="4566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DCDDA"/>
                    </a:solidFill>
                  </a:tcPr>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Arial" panose="020B0604020202020204" pitchFamily="34" charset="0"/>
                          <a:ea typeface="宋体" panose="02010600030101010101" pitchFamily="2" charset="-122"/>
                          <a:sym typeface="Arial" panose="020B0604020202020204" pitchFamily="34" charset="0"/>
                        </a:rPr>
                        <a:t>-2</a:t>
                      </a:r>
                      <a:r>
                        <a:rPr kumimoji="0" lang="zh-CN" altLang="en-US" sz="1800" b="0" i="0" u="none" strike="noStrike" cap="none" normalizeH="0" baseline="0">
                          <a:ln>
                            <a:noFill/>
                          </a:ln>
                          <a:solidFill>
                            <a:srgbClr val="000000"/>
                          </a:solidFill>
                          <a:effectLst/>
                          <a:latin typeface="Arial" panose="020B0604020202020204" pitchFamily="34" charset="0"/>
                          <a:ea typeface="宋体" panose="02010600030101010101" pitchFamily="2" charset="-122"/>
                          <a:sym typeface="Arial" panose="020B0604020202020204" pitchFamily="34" charset="0"/>
                        </a:rPr>
                        <a:t>，</a:t>
                      </a:r>
                      <a:r>
                        <a:rPr kumimoji="0" lang="en-US" altLang="zh-CN" sz="1800" b="0" i="0" u="sng" strike="noStrike" cap="none" normalizeH="0" baseline="0">
                          <a:ln>
                            <a:noFill/>
                          </a:ln>
                          <a:solidFill>
                            <a:srgbClr val="000000"/>
                          </a:solidFill>
                          <a:effectLst/>
                          <a:latin typeface="Arial" panose="020B0604020202020204" pitchFamily="34" charset="0"/>
                          <a:ea typeface="宋体" panose="02010600030101010101" pitchFamily="2" charset="-122"/>
                          <a:sym typeface="Arial" panose="020B0604020202020204" pitchFamily="34" charset="0"/>
                        </a:rPr>
                        <a:t>3</a:t>
                      </a:r>
                      <a:endParaRPr kumimoji="0" lang="zh-CN" altLang="en-US" sz="2800" b="1" i="0" u="none" strike="noStrike" cap="none" normalizeH="0" baseline="0">
                        <a:ln>
                          <a:noFill/>
                        </a:ln>
                        <a:solidFill>
                          <a:srgbClr val="CC0000"/>
                        </a:solidFill>
                        <a:effectLst/>
                        <a:latin typeface="Arial" panose="020B0604020202020204" pitchFamily="34" charset="0"/>
                        <a:ea typeface="宋体" panose="02010600030101010101" pitchFamily="2" charset="-122"/>
                        <a:sym typeface="Arial" panose="020B0604020202020204" pitchFamily="34" charset="0"/>
                      </a:endParaRPr>
                    </a:p>
                  </a:txBody>
                  <a:tcPr marT="45668" marB="4566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DCDDA"/>
                    </a:solidFill>
                  </a:tcPr>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0"/>
                        </a:spcBef>
                        <a:spcAft>
                          <a:spcPct val="0"/>
                        </a:spcAft>
                        <a:buClrTx/>
                        <a:buSzTx/>
                        <a:buFontTx/>
                        <a:buNone/>
                        <a:tabLst/>
                      </a:pPr>
                      <a:r>
                        <a:rPr kumimoji="0" lang="en-US" altLang="zh-CN" sz="1800" b="0" i="0" u="sng" strike="noStrike" cap="none" normalizeH="0" baseline="0">
                          <a:ln>
                            <a:noFill/>
                          </a:ln>
                          <a:solidFill>
                            <a:srgbClr val="000000"/>
                          </a:solidFill>
                          <a:effectLst/>
                          <a:latin typeface="Arial" panose="020B0604020202020204" pitchFamily="34" charset="0"/>
                          <a:ea typeface="宋体" panose="02010600030101010101" pitchFamily="2" charset="-122"/>
                          <a:sym typeface="Arial" panose="020B0604020202020204" pitchFamily="34" charset="0"/>
                        </a:rPr>
                        <a:t>8</a:t>
                      </a:r>
                      <a:r>
                        <a:rPr kumimoji="0" lang="zh-CN" altLang="en-US" sz="1800" b="0" i="0" u="none" strike="noStrike" cap="none" normalizeH="0" baseline="0">
                          <a:ln>
                            <a:noFill/>
                          </a:ln>
                          <a:solidFill>
                            <a:srgbClr val="000000"/>
                          </a:solidFill>
                          <a:effectLst/>
                          <a:latin typeface="Arial" panose="020B0604020202020204" pitchFamily="34" charset="0"/>
                          <a:ea typeface="宋体" panose="02010600030101010101" pitchFamily="2" charset="-122"/>
                          <a:sym typeface="Arial" panose="020B0604020202020204" pitchFamily="34" charset="0"/>
                        </a:rPr>
                        <a:t>，</a:t>
                      </a:r>
                      <a:r>
                        <a:rPr kumimoji="0" lang="en-US" altLang="zh-CN" sz="1800" b="0" i="0" u="none" strike="noStrike" cap="none" normalizeH="0" baseline="0">
                          <a:ln>
                            <a:noFill/>
                          </a:ln>
                          <a:solidFill>
                            <a:srgbClr val="000000"/>
                          </a:solidFill>
                          <a:effectLst/>
                          <a:latin typeface="Arial" panose="020B0604020202020204" pitchFamily="34" charset="0"/>
                          <a:ea typeface="宋体" panose="02010600030101010101" pitchFamily="2" charset="-122"/>
                          <a:sym typeface="Arial" panose="020B0604020202020204" pitchFamily="34" charset="0"/>
                        </a:rPr>
                        <a:t>0</a:t>
                      </a:r>
                      <a:endParaRPr kumimoji="0" lang="zh-CN" altLang="en-US" sz="2800" b="1" i="0" u="none" strike="noStrike" cap="none" normalizeH="0" baseline="0">
                        <a:ln>
                          <a:noFill/>
                        </a:ln>
                        <a:solidFill>
                          <a:srgbClr val="CC0000"/>
                        </a:solidFill>
                        <a:effectLst/>
                        <a:latin typeface="Arial" panose="020B0604020202020204" pitchFamily="34" charset="0"/>
                        <a:ea typeface="宋体" panose="02010600030101010101" pitchFamily="2" charset="-122"/>
                        <a:sym typeface="Arial" panose="020B0604020202020204" pitchFamily="34" charset="0"/>
                      </a:endParaRPr>
                    </a:p>
                  </a:txBody>
                  <a:tcPr marT="45668" marB="4566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DCDDA"/>
                    </a:solidFill>
                  </a:tcPr>
                </a:tc>
                <a:extLst>
                  <a:ext uri="{0D108BD9-81ED-4DB2-BD59-A6C34878D82A}">
                    <a16:rowId xmlns:a16="http://schemas.microsoft.com/office/drawing/2014/main" val="4035468828"/>
                  </a:ext>
                </a:extLst>
              </a:tr>
              <a:tr h="369888">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sym typeface="Arial" panose="020B0604020202020204" pitchFamily="34" charset="0"/>
                        </a:rPr>
                        <a:t>不生产</a:t>
                      </a:r>
                      <a:endParaRPr kumimoji="0" lang="zh-CN" altLang="zh-CN" sz="2800" b="1" i="0" u="none" strike="noStrike" cap="none" normalizeH="0" baseline="0" dirty="0">
                        <a:ln>
                          <a:noFill/>
                        </a:ln>
                        <a:solidFill>
                          <a:srgbClr val="CC0000"/>
                        </a:solidFill>
                        <a:effectLst/>
                        <a:latin typeface="微软雅黑" panose="020B0503020204020204" pitchFamily="34" charset="-122"/>
                        <a:ea typeface="微软雅黑" panose="020B0503020204020204" pitchFamily="34" charset="-122"/>
                        <a:sym typeface="Arial" panose="020B0604020202020204" pitchFamily="34" charset="0"/>
                      </a:endParaRPr>
                    </a:p>
                  </a:txBody>
                  <a:tcPr marT="45668" marB="4566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8ED"/>
                    </a:solidFill>
                  </a:tcPr>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0"/>
                        </a:spcBef>
                        <a:spcAft>
                          <a:spcPct val="0"/>
                        </a:spcAft>
                        <a:buClrTx/>
                        <a:buSzTx/>
                        <a:buFontTx/>
                        <a:buNone/>
                        <a:tabLst/>
                      </a:pPr>
                      <a:r>
                        <a:rPr kumimoji="0" lang="en-US" altLang="zh-CN" sz="1800" b="0" i="0" u="sng" strike="noStrike" cap="none" normalizeH="0" baseline="0">
                          <a:ln>
                            <a:noFill/>
                          </a:ln>
                          <a:solidFill>
                            <a:srgbClr val="000000"/>
                          </a:solidFill>
                          <a:effectLst/>
                          <a:latin typeface="Arial" panose="020B0604020202020204" pitchFamily="34" charset="0"/>
                          <a:ea typeface="宋体" panose="02010600030101010101" pitchFamily="2" charset="-122"/>
                          <a:sym typeface="Arial" panose="020B0604020202020204" pitchFamily="34" charset="0"/>
                        </a:rPr>
                        <a:t>0</a:t>
                      </a:r>
                      <a:r>
                        <a:rPr kumimoji="0" lang="zh-CN" altLang="en-US" sz="1800" b="0" i="0" u="none" strike="noStrike" cap="none" normalizeH="0" baseline="0">
                          <a:ln>
                            <a:noFill/>
                          </a:ln>
                          <a:solidFill>
                            <a:srgbClr val="000000"/>
                          </a:solidFill>
                          <a:effectLst/>
                          <a:latin typeface="Arial" panose="020B0604020202020204" pitchFamily="34" charset="0"/>
                          <a:ea typeface="宋体" panose="02010600030101010101" pitchFamily="2" charset="-122"/>
                          <a:sym typeface="Arial" panose="020B0604020202020204" pitchFamily="34" charset="0"/>
                        </a:rPr>
                        <a:t>，</a:t>
                      </a:r>
                      <a:r>
                        <a:rPr kumimoji="0" lang="en-US" altLang="zh-CN" sz="1800" b="0" i="0" u="sng" strike="noStrike" cap="none" normalizeH="0" baseline="0">
                          <a:ln>
                            <a:noFill/>
                          </a:ln>
                          <a:solidFill>
                            <a:srgbClr val="000000"/>
                          </a:solidFill>
                          <a:effectLst/>
                          <a:latin typeface="Arial" panose="020B0604020202020204" pitchFamily="34" charset="0"/>
                          <a:ea typeface="宋体" panose="02010600030101010101" pitchFamily="2" charset="-122"/>
                          <a:sym typeface="Arial" panose="020B0604020202020204" pitchFamily="34" charset="0"/>
                        </a:rPr>
                        <a:t>13</a:t>
                      </a:r>
                      <a:endParaRPr kumimoji="0" lang="zh-CN" altLang="en-US" sz="2800" b="1" i="0" u="none" strike="noStrike" cap="none" normalizeH="0" baseline="0">
                        <a:ln>
                          <a:noFill/>
                        </a:ln>
                        <a:solidFill>
                          <a:srgbClr val="CC0000"/>
                        </a:solidFill>
                        <a:effectLst/>
                        <a:latin typeface="Arial" panose="020B0604020202020204" pitchFamily="34" charset="0"/>
                        <a:ea typeface="宋体" panose="02010600030101010101" pitchFamily="2" charset="-122"/>
                        <a:sym typeface="Arial" panose="020B0604020202020204" pitchFamily="34" charset="0"/>
                      </a:endParaRPr>
                    </a:p>
                  </a:txBody>
                  <a:tcPr marT="45668" marB="4566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8ED"/>
                    </a:solidFill>
                  </a:tcPr>
                </a:tc>
                <a:tc>
                  <a:txBody>
                    <a:bodyPr/>
                    <a:lstStyle>
                      <a:lvl1pPr defTabSz="0">
                        <a:spcBef>
                          <a:spcPct val="20000"/>
                        </a:spcBef>
                        <a:defRPr sz="2800" b="1">
                          <a:solidFill>
                            <a:srgbClr val="CC0000"/>
                          </a:solidFill>
                          <a:latin typeface="Arial" panose="020B0604020202020204" pitchFamily="34" charset="0"/>
                          <a:ea typeface="宋体" panose="02010600030101010101" pitchFamily="2" charset="-122"/>
                          <a:sym typeface="Arial" panose="020B0604020202020204" pitchFamily="34" charset="0"/>
                        </a:defRPr>
                      </a:lvl1pPr>
                      <a:lvl2pPr defTabSz="0">
                        <a:spcBef>
                          <a:spcPct val="20000"/>
                        </a:spcBef>
                        <a:defRPr sz="2400" b="1">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a:spcBef>
                          <a:spcPct val="20000"/>
                        </a:spcBef>
                        <a:defRPr sz="2000" b="1">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a:spcBef>
                          <a:spcPct val="20000"/>
                        </a:spcBef>
                        <a:defRPr b="1">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marL="0" marR="0" lvl="0" indent="0" algn="ctr" defTabSz="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rgbClr val="000000"/>
                          </a:solidFill>
                          <a:effectLst/>
                          <a:latin typeface="Arial" panose="020B0604020202020204" pitchFamily="34" charset="0"/>
                          <a:ea typeface="宋体" panose="02010600030101010101" pitchFamily="2" charset="-122"/>
                          <a:sym typeface="Arial" panose="020B0604020202020204" pitchFamily="34" charset="0"/>
                        </a:rPr>
                        <a:t>0</a:t>
                      </a:r>
                      <a:r>
                        <a:rPr kumimoji="0" lang="zh-CN" altLang="en-US" sz="1800" b="0" i="0" u="none" strike="noStrike" cap="none" normalizeH="0" baseline="0" dirty="0">
                          <a:ln>
                            <a:noFill/>
                          </a:ln>
                          <a:solidFill>
                            <a:srgbClr val="000000"/>
                          </a:solidFill>
                          <a:effectLst/>
                          <a:latin typeface="Arial" panose="020B0604020202020204" pitchFamily="34" charset="0"/>
                          <a:ea typeface="宋体" panose="02010600030101010101" pitchFamily="2" charset="-122"/>
                          <a:sym typeface="Arial" panose="020B0604020202020204" pitchFamily="34" charset="0"/>
                        </a:rPr>
                        <a:t>，</a:t>
                      </a:r>
                      <a:r>
                        <a:rPr kumimoji="0" lang="en-US" altLang="zh-CN" sz="1800" b="0" i="0" u="none" strike="noStrike" cap="none" normalizeH="0" baseline="0" dirty="0">
                          <a:ln>
                            <a:noFill/>
                          </a:ln>
                          <a:solidFill>
                            <a:srgbClr val="000000"/>
                          </a:solidFill>
                          <a:effectLst/>
                          <a:latin typeface="Arial" panose="020B0604020202020204" pitchFamily="34" charset="0"/>
                          <a:ea typeface="宋体" panose="02010600030101010101" pitchFamily="2" charset="-122"/>
                          <a:sym typeface="Arial" panose="020B0604020202020204" pitchFamily="34" charset="0"/>
                        </a:rPr>
                        <a:t>0</a:t>
                      </a:r>
                      <a:endParaRPr kumimoji="0" lang="zh-CN" altLang="en-US" sz="2800" b="1" i="0" u="none" strike="noStrike" cap="none" normalizeH="0" baseline="0" dirty="0">
                        <a:ln>
                          <a:noFill/>
                        </a:ln>
                        <a:solidFill>
                          <a:srgbClr val="CC0000"/>
                        </a:solidFill>
                        <a:effectLst/>
                        <a:latin typeface="Arial" panose="020B0604020202020204" pitchFamily="34" charset="0"/>
                        <a:ea typeface="宋体" panose="02010600030101010101" pitchFamily="2" charset="-122"/>
                        <a:sym typeface="Arial" panose="020B0604020202020204" pitchFamily="34" charset="0"/>
                      </a:endParaRPr>
                    </a:p>
                  </a:txBody>
                  <a:tcPr marT="45668" marB="4566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8ED"/>
                    </a:solidFill>
                  </a:tcPr>
                </a:tc>
                <a:extLst>
                  <a:ext uri="{0D108BD9-81ED-4DB2-BD59-A6C34878D82A}">
                    <a16:rowId xmlns:a16="http://schemas.microsoft.com/office/drawing/2014/main" val="3464948879"/>
                  </a:ext>
                </a:extLst>
              </a:tr>
            </a:tbl>
          </a:graphicData>
        </a:graphic>
      </p:graphicFrame>
      <p:sp>
        <p:nvSpPr>
          <p:cNvPr id="5" name="矩形 4"/>
          <p:cNvSpPr/>
          <p:nvPr/>
        </p:nvSpPr>
        <p:spPr>
          <a:xfrm>
            <a:off x="6228115" y="44765"/>
            <a:ext cx="2915885" cy="369332"/>
          </a:xfrm>
          <a:prstGeom prst="rect">
            <a:avLst/>
          </a:prstGeom>
        </p:spPr>
        <p:txBody>
          <a:bodyPr wrap="square">
            <a:spAutoFit/>
          </a:bodyPr>
          <a:lstStyle/>
          <a:p>
            <a:r>
              <a:rPr lang="zh-CN" altLang="en-US" sz="1800" b="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第四节  博弈论和策略行为</a:t>
            </a:r>
            <a:endParaRPr lang="zh-CN" altLang="en-US" sz="18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 name="矩形 5">
            <a:extLst>
              <a:ext uri="{FF2B5EF4-FFF2-40B4-BE49-F238E27FC236}">
                <a16:creationId xmlns:a16="http://schemas.microsoft.com/office/drawing/2014/main" id="{F68E5273-CD77-47B9-B841-9D29349C133D}"/>
              </a:ext>
            </a:extLst>
          </p:cNvPr>
          <p:cNvSpPr/>
          <p:nvPr/>
        </p:nvSpPr>
        <p:spPr>
          <a:xfrm>
            <a:off x="457201" y="548681"/>
            <a:ext cx="3970789"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marL="0" lvl="1">
              <a:defRPr/>
            </a:pPr>
            <a:r>
              <a:rPr lang="zh-CN" altLang="en-US" sz="2400" spc="150" dirty="0">
                <a:solidFill>
                  <a:srgbClr val="FFFFFF"/>
                </a:solidFill>
                <a:latin typeface="微软雅黑" panose="020B0503020204020204" pitchFamily="34" charset="-122"/>
                <a:ea typeface="微软雅黑" panose="020B0503020204020204" pitchFamily="34" charset="-122"/>
              </a:rPr>
              <a:t>三</a:t>
            </a:r>
            <a:r>
              <a:rPr lang="zh-CN" altLang="en-US" sz="2400" b="1" spc="150" dirty="0">
                <a:solidFill>
                  <a:srgbClr val="FFFFFF"/>
                </a:solidFill>
                <a:latin typeface="微软雅黑" panose="020B0503020204020204" pitchFamily="34" charset="-122"/>
                <a:ea typeface="微软雅黑" panose="020B0503020204020204" pitchFamily="34" charset="-122"/>
              </a:rPr>
              <a:t>、</a:t>
            </a:r>
            <a:r>
              <a:rPr lang="zh-CN" altLang="en-US" sz="2400" spc="15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博弈分析的简单应用</a:t>
            </a:r>
            <a:endParaRPr lang="en-US" altLang="zh-CN" sz="2400" spc="150" dirty="0">
              <a:solidFill>
                <a:srgbClr val="FFFFFF"/>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674845684"/>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4274">
                                            <p:txEl>
                                              <p:pRg st="0" end="0"/>
                                            </p:txEl>
                                          </p:spTgt>
                                        </p:tgtEl>
                                        <p:attrNameLst>
                                          <p:attrName>style.visibility</p:attrName>
                                        </p:attrNameLst>
                                      </p:cBhvr>
                                      <p:to>
                                        <p:strVal val="visible"/>
                                      </p:to>
                                    </p:set>
                                    <p:animEffect>
                                      <p:cBhvr>
                                        <p:cTn id="7" dur="500"/>
                                        <p:tgtEl>
                                          <p:spTgt spid="5427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4274">
                                            <p:txEl>
                                              <p:pRg st="1" end="1"/>
                                            </p:txEl>
                                          </p:spTgt>
                                        </p:tgtEl>
                                        <p:attrNameLst>
                                          <p:attrName>style.visibility</p:attrName>
                                        </p:attrNameLst>
                                      </p:cBhvr>
                                      <p:to>
                                        <p:strVal val="visible"/>
                                      </p:to>
                                    </p:set>
                                    <p:animEffect>
                                      <p:cBhvr>
                                        <p:cTn id="12" dur="500"/>
                                        <p:tgtEl>
                                          <p:spTgt spid="5427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4293"/>
                                        </p:tgtEl>
                                        <p:attrNameLst>
                                          <p:attrName>style.visibility</p:attrName>
                                        </p:attrNameLst>
                                      </p:cBhvr>
                                      <p:to>
                                        <p:strVal val="visible"/>
                                      </p:to>
                                    </p:set>
                                    <p:animEffect>
                                      <p:cBhvr>
                                        <p:cTn id="17" dur="500"/>
                                        <p:tgtEl>
                                          <p:spTgt spid="5429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4274">
                                            <p:txEl>
                                              <p:pRg st="5" end="5"/>
                                            </p:txEl>
                                          </p:spTgt>
                                        </p:tgtEl>
                                        <p:attrNameLst>
                                          <p:attrName>style.visibility</p:attrName>
                                        </p:attrNameLst>
                                      </p:cBhvr>
                                      <p:to>
                                        <p:strVal val="visible"/>
                                      </p:to>
                                    </p:set>
                                    <p:animEffect>
                                      <p:cBhvr>
                                        <p:cTn id="22" dur="500"/>
                                        <p:tgtEl>
                                          <p:spTgt spid="54274">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54274">
                                            <p:txEl>
                                              <p:pRg st="6" end="6"/>
                                            </p:txEl>
                                          </p:spTgt>
                                        </p:tgtEl>
                                        <p:attrNameLst>
                                          <p:attrName>style.visibility</p:attrName>
                                        </p:attrNameLst>
                                      </p:cBhvr>
                                      <p:to>
                                        <p:strVal val="visible"/>
                                      </p:to>
                                    </p:set>
                                    <p:animEffect>
                                      <p:cBhvr>
                                        <p:cTn id="27" dur="500"/>
                                        <p:tgtEl>
                                          <p:spTgt spid="54274">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54274">
                                            <p:txEl>
                                              <p:pRg st="7" end="7"/>
                                            </p:txEl>
                                          </p:spTgt>
                                        </p:tgtEl>
                                        <p:attrNameLst>
                                          <p:attrName>style.visibility</p:attrName>
                                        </p:attrNameLst>
                                      </p:cBhvr>
                                      <p:to>
                                        <p:strVal val="visible"/>
                                      </p:to>
                                    </p:set>
                                    <p:animEffect>
                                      <p:cBhvr>
                                        <p:cTn id="32" dur="500"/>
                                        <p:tgtEl>
                                          <p:spTgt spid="54274">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54274">
                                            <p:txEl>
                                              <p:pRg st="8" end="8"/>
                                            </p:txEl>
                                          </p:spTgt>
                                        </p:tgtEl>
                                        <p:attrNameLst>
                                          <p:attrName>style.visibility</p:attrName>
                                        </p:attrNameLst>
                                      </p:cBhvr>
                                      <p:to>
                                        <p:strVal val="visible"/>
                                      </p:to>
                                    </p:set>
                                    <p:animEffect>
                                      <p:cBhvr>
                                        <p:cTn id="37" dur="500"/>
                                        <p:tgtEl>
                                          <p:spTgt spid="54274">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54274">
                                            <p:txEl>
                                              <p:pRg st="9" end="9"/>
                                            </p:txEl>
                                          </p:spTgt>
                                        </p:tgtEl>
                                        <p:attrNameLst>
                                          <p:attrName>style.visibility</p:attrName>
                                        </p:attrNameLst>
                                      </p:cBhvr>
                                      <p:to>
                                        <p:strVal val="visible"/>
                                      </p:to>
                                    </p:set>
                                    <p:animEffect>
                                      <p:cBhvr>
                                        <p:cTn id="42" dur="500"/>
                                        <p:tgtEl>
                                          <p:spTgt spid="54274">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1470900" y="601503"/>
            <a:ext cx="5986930" cy="792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0" indent="0" algn="ctr" defTabSz="0" rtl="0" eaLnBrk="0" fontAlgn="base" hangingPunct="0">
              <a:spcBef>
                <a:spcPct val="20000"/>
              </a:spcBef>
              <a:spcAft>
                <a:spcPct val="0"/>
              </a:spcAft>
              <a:buNone/>
              <a:defRPr sz="2400" b="1" kern="1200">
                <a:solidFill>
                  <a:srgbClr val="CC0000"/>
                </a:solidFill>
                <a:latin typeface="+mn-lt"/>
                <a:ea typeface="+mn-ea"/>
                <a:cs typeface="+mn-cs"/>
                <a:sym typeface="Arial" panose="020B0604020202020204" pitchFamily="34" charset="0"/>
              </a:defRPr>
            </a:lvl1pPr>
            <a:lvl2pPr marL="457200" indent="0" algn="ctr" defTabSz="0" rtl="0" eaLnBrk="0" fontAlgn="base" hangingPunct="0">
              <a:spcBef>
                <a:spcPct val="20000"/>
              </a:spcBef>
              <a:spcAft>
                <a:spcPct val="0"/>
              </a:spcAft>
              <a:buNone/>
              <a:defRPr sz="2000" b="1" kern="1200">
                <a:solidFill>
                  <a:schemeClr val="tx1"/>
                </a:solidFill>
                <a:latin typeface="+mn-lt"/>
                <a:ea typeface="+mn-ea"/>
                <a:cs typeface="+mn-cs"/>
                <a:sym typeface="Arial" panose="020B0604020202020204" pitchFamily="34" charset="0"/>
              </a:defRPr>
            </a:lvl2pPr>
            <a:lvl3pPr marL="914400" indent="0" algn="ctr" defTabSz="0" rtl="0" eaLnBrk="0" fontAlgn="base" hangingPunct="0">
              <a:spcBef>
                <a:spcPct val="20000"/>
              </a:spcBef>
              <a:spcAft>
                <a:spcPct val="0"/>
              </a:spcAft>
              <a:buNone/>
              <a:defRPr sz="1800" b="1" kern="1200">
                <a:solidFill>
                  <a:schemeClr val="tx1"/>
                </a:solidFill>
                <a:latin typeface="+mn-lt"/>
                <a:ea typeface="+mn-ea"/>
                <a:cs typeface="+mn-cs"/>
                <a:sym typeface="Arial" panose="020B0604020202020204" pitchFamily="34" charset="0"/>
              </a:defRPr>
            </a:lvl3pPr>
            <a:lvl4pPr marL="1371600" indent="0" algn="ctr" defTabSz="0" rtl="0" eaLnBrk="0" fontAlgn="base" hangingPunct="0">
              <a:spcBef>
                <a:spcPct val="20000"/>
              </a:spcBef>
              <a:spcAft>
                <a:spcPct val="0"/>
              </a:spcAft>
              <a:buNone/>
              <a:defRPr sz="1600" b="1" kern="1200">
                <a:solidFill>
                  <a:schemeClr val="tx1"/>
                </a:solidFill>
                <a:latin typeface="+mn-lt"/>
                <a:ea typeface="+mn-ea"/>
                <a:cs typeface="+mn-cs"/>
                <a:sym typeface="Arial" panose="020B0604020202020204" pitchFamily="34" charset="0"/>
              </a:defRPr>
            </a:lvl4pPr>
            <a:lvl5pPr marL="1828800" indent="0" algn="ctr" defTabSz="0" rtl="0" eaLnBrk="0" fontAlgn="base" hangingPunct="0">
              <a:spcBef>
                <a:spcPct val="20000"/>
              </a:spcBef>
              <a:spcAft>
                <a:spcPct val="0"/>
              </a:spcAft>
              <a:buNone/>
              <a:defRPr sz="1600" b="1" kern="1200">
                <a:solidFill>
                  <a:schemeClr val="tx1"/>
                </a:solidFill>
                <a:latin typeface="+mn-lt"/>
                <a:ea typeface="+mn-ea"/>
                <a:cs typeface="+mn-cs"/>
                <a:sym typeface="Arial" panose="020B060402020202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spcBef>
                <a:spcPct val="0"/>
              </a:spcBef>
            </a:pPr>
            <a:r>
              <a:rPr lang="zh-CN" altLang="en-US" sz="3600" dirty="0">
                <a:solidFill>
                  <a:schemeClr val="tx1"/>
                </a:solidFill>
                <a:latin typeface="微软雅黑" panose="020B0503020204020204" pitchFamily="34" charset="-122"/>
                <a:ea typeface="微软雅黑" panose="020B0503020204020204" pitchFamily="34" charset="-122"/>
                <a:cs typeface="+mj-cs"/>
              </a:rPr>
              <a:t>第五节</a:t>
            </a:r>
            <a:r>
              <a:rPr lang="en-US" altLang="zh-CN" sz="3600" dirty="0">
                <a:solidFill>
                  <a:schemeClr val="tx1"/>
                </a:solidFill>
                <a:latin typeface="微软雅黑" panose="020B0503020204020204" pitchFamily="34" charset="-122"/>
                <a:ea typeface="微软雅黑" panose="020B0503020204020204" pitchFamily="34" charset="-122"/>
                <a:cs typeface="+mj-cs"/>
              </a:rPr>
              <a:t>	 </a:t>
            </a:r>
            <a:r>
              <a:rPr lang="zh-CN" altLang="en-US" sz="3600" dirty="0">
                <a:solidFill>
                  <a:schemeClr val="tx1"/>
                </a:solidFill>
                <a:latin typeface="微软雅黑" panose="020B0503020204020204" pitchFamily="34" charset="-122"/>
                <a:ea typeface="微软雅黑" panose="020B0503020204020204" pitchFamily="34" charset="-122"/>
                <a:cs typeface="+mj-cs"/>
              </a:rPr>
              <a:t>不同市场的比较</a:t>
            </a:r>
          </a:p>
        </p:txBody>
      </p:sp>
      <p:sp>
        <p:nvSpPr>
          <p:cNvPr id="5" name="MH_SubTitle_1">
            <a:extLst>
              <a:ext uri="{FF2B5EF4-FFF2-40B4-BE49-F238E27FC236}">
                <a16:creationId xmlns:a16="http://schemas.microsoft.com/office/drawing/2014/main" id="{B811FBAD-AB8E-4852-A8D0-5E64CAD5E915}"/>
              </a:ext>
            </a:extLst>
          </p:cNvPr>
          <p:cNvSpPr>
            <a:spLocks noChangeArrowheads="1"/>
          </p:cNvSpPr>
          <p:nvPr>
            <p:custDataLst>
              <p:tags r:id="rId1"/>
            </p:custDataLst>
          </p:nvPr>
        </p:nvSpPr>
        <p:spPr bwMode="gray">
          <a:xfrm>
            <a:off x="1763688" y="2547983"/>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一</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cxnSp>
        <p:nvCxnSpPr>
          <p:cNvPr id="6" name="MH_Other_5">
            <a:extLst>
              <a:ext uri="{FF2B5EF4-FFF2-40B4-BE49-F238E27FC236}">
                <a16:creationId xmlns:a16="http://schemas.microsoft.com/office/drawing/2014/main" id="{25D06B7F-7DCD-4D03-A450-0AAC55A41525}"/>
              </a:ext>
            </a:extLst>
          </p:cNvPr>
          <p:cNvCxnSpPr/>
          <p:nvPr>
            <p:custDataLst>
              <p:tags r:id="rId2"/>
            </p:custDataLst>
          </p:nvPr>
        </p:nvCxnSpPr>
        <p:spPr>
          <a:xfrm>
            <a:off x="2343126" y="2903583"/>
            <a:ext cx="0" cy="528637"/>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sp>
        <p:nvSpPr>
          <p:cNvPr id="7" name="MH_SubTitle_2">
            <a:extLst>
              <a:ext uri="{FF2B5EF4-FFF2-40B4-BE49-F238E27FC236}">
                <a16:creationId xmlns:a16="http://schemas.microsoft.com/office/drawing/2014/main" id="{324FEB12-6B52-4D2F-B5C9-D9A603800236}"/>
              </a:ext>
            </a:extLst>
          </p:cNvPr>
          <p:cNvSpPr>
            <a:spLocks noChangeArrowheads="1"/>
          </p:cNvSpPr>
          <p:nvPr>
            <p:custDataLst>
              <p:tags r:id="rId3"/>
            </p:custDataLst>
          </p:nvPr>
        </p:nvSpPr>
        <p:spPr bwMode="gray">
          <a:xfrm>
            <a:off x="1763688" y="3432220"/>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二</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3630814" y="2494950"/>
            <a:ext cx="2339102" cy="461665"/>
          </a:xfrm>
          <a:prstGeom prst="rect">
            <a:avLst/>
          </a:prstGeom>
          <a:noFill/>
        </p:spPr>
        <p:txBody>
          <a:bodyPr wrap="none" rtlCol="0">
            <a:spAutoFit/>
          </a:bodyPr>
          <a:lstStyle/>
          <a:p>
            <a:pPr marL="0" lvl="1"/>
            <a:r>
              <a:rPr lang="zh-CN" altLang="en-US" sz="2400" b="0" dirty="0">
                <a:latin typeface="微软雅黑" panose="020B0503020204020204" pitchFamily="34" charset="-122"/>
                <a:ea typeface="微软雅黑" panose="020B0503020204020204" pitchFamily="34" charset="-122"/>
              </a:rPr>
              <a:t>静态效率的比较</a:t>
            </a:r>
          </a:p>
        </p:txBody>
      </p:sp>
      <p:sp>
        <p:nvSpPr>
          <p:cNvPr id="8" name="文本框 7"/>
          <p:cNvSpPr txBox="1"/>
          <p:nvPr/>
        </p:nvSpPr>
        <p:spPr>
          <a:xfrm>
            <a:off x="3600993" y="3379187"/>
            <a:ext cx="2339102" cy="461665"/>
          </a:xfrm>
          <a:prstGeom prst="rect">
            <a:avLst/>
          </a:prstGeom>
          <a:noFill/>
        </p:spPr>
        <p:txBody>
          <a:bodyPr wrap="none" rtlCol="0">
            <a:spAutoFit/>
          </a:bodyPr>
          <a:lstStyle/>
          <a:p>
            <a:pPr marL="0" lvl="1"/>
            <a:r>
              <a:rPr lang="zh-CN" altLang="en-US" sz="2400" b="0" dirty="0">
                <a:latin typeface="微软雅黑" panose="020B0503020204020204" pitchFamily="34" charset="-122"/>
                <a:ea typeface="微软雅黑" panose="020B0503020204020204" pitchFamily="34" charset="-122"/>
              </a:rPr>
              <a:t>动态因素的比较</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ppt_x</p:attrName>
                                        </p:attrNameLst>
                                      </p:cBhvr>
                                      <p:tavLst>
                                        <p:tav tm="0">
                                          <p:val>
                                            <p:strVal val="0-#ppt_w/2"/>
                                          </p:val>
                                        </p:tav>
                                        <p:tav tm="100000">
                                          <p:val>
                                            <p:strVal val="#ppt_x"/>
                                          </p:val>
                                        </p:tav>
                                      </p:tavLst>
                                    </p:anim>
                                    <p:anim calcmode="lin" valueType="num">
                                      <p:cBhvr>
                                        <p:cTn id="8" dur="500" fill="hold"/>
                                        <p:tgtEl>
                                          <p:spTgt spid="3">
                                            <p:txEl>
                                              <p:pRg st="0" end="0"/>
                                            </p:txEl>
                                          </p:spTgt>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
                                        <p:tgtEl>
                                          <p:spTgt spid="5"/>
                                        </p:tgtEl>
                                      </p:cBhvr>
                                    </p:animEffect>
                                  </p:childTnLst>
                                </p:cTn>
                              </p:par>
                              <p:par>
                                <p:cTn id="12" presetID="22" presetClass="entr" presetSubtype="4" fill="hold" grpId="0" nodeType="with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wipe(down)">
                                      <p:cBhvr>
                                        <p:cTn id="14" dur="500"/>
                                        <p:tgtEl>
                                          <p:spTgt spid="2"/>
                                        </p:tgtEl>
                                      </p:cBhvr>
                                    </p:animEffect>
                                  </p:childTnLst>
                                </p:cTn>
                              </p:par>
                            </p:childTnLst>
                          </p:cTn>
                        </p:par>
                        <p:par>
                          <p:cTn id="15" fill="hold">
                            <p:stCondLst>
                              <p:cond delay="500"/>
                            </p:stCondLst>
                            <p:childTnLst>
                              <p:par>
                                <p:cTn id="16" presetID="22" presetClass="entr" presetSubtype="1" fill="hold"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up)">
                                      <p:cBhvr>
                                        <p:cTn id="18" dur="500"/>
                                        <p:tgtEl>
                                          <p:spTgt spid="6"/>
                                        </p:tgtEl>
                                      </p:cBhvr>
                                    </p:animEffect>
                                  </p:childTnLst>
                                </p:cTn>
                              </p:par>
                              <p:par>
                                <p:cTn id="19" presetID="22" presetClass="entr" presetSubtype="1"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up)">
                                      <p:cBhvr>
                                        <p:cTn id="21" dur="500"/>
                                        <p:tgtEl>
                                          <p:spTgt spid="7"/>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wipe(down)">
                                      <p:cBhvr>
                                        <p:cTn id="2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2" grpId="0"/>
      <p:bldP spid="8"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extLst>
              <p:ext uri="{D42A27DB-BD31-4B8C-83A1-F6EECF244321}">
                <p14:modId xmlns:p14="http://schemas.microsoft.com/office/powerpoint/2010/main" val="3428310615"/>
              </p:ext>
            </p:extLst>
          </p:nvPr>
        </p:nvGraphicFramePr>
        <p:xfrm>
          <a:off x="457200" y="2132910"/>
          <a:ext cx="8219085" cy="2610486"/>
        </p:xfrm>
        <a:graphic>
          <a:graphicData uri="http://schemas.openxmlformats.org/drawingml/2006/table">
            <a:tbl>
              <a:tblPr firstRow="1" bandRow="1">
                <a:tableStyleId>{5C22544A-7EE6-4342-B048-85BDC9FD1C3A}</a:tableStyleId>
              </a:tblPr>
              <a:tblGrid>
                <a:gridCol w="1372253">
                  <a:extLst>
                    <a:ext uri="{9D8B030D-6E8A-4147-A177-3AD203B41FA5}">
                      <a16:colId xmlns:a16="http://schemas.microsoft.com/office/drawing/2014/main" val="4118454024"/>
                    </a:ext>
                  </a:extLst>
                </a:gridCol>
                <a:gridCol w="1018346">
                  <a:extLst>
                    <a:ext uri="{9D8B030D-6E8A-4147-A177-3AD203B41FA5}">
                      <a16:colId xmlns:a16="http://schemas.microsoft.com/office/drawing/2014/main" val="2472309825"/>
                    </a:ext>
                  </a:extLst>
                </a:gridCol>
                <a:gridCol w="1224085">
                  <a:extLst>
                    <a:ext uri="{9D8B030D-6E8A-4147-A177-3AD203B41FA5}">
                      <a16:colId xmlns:a16="http://schemas.microsoft.com/office/drawing/2014/main" val="1056386392"/>
                    </a:ext>
                  </a:extLst>
                </a:gridCol>
                <a:gridCol w="1296090">
                  <a:extLst>
                    <a:ext uri="{9D8B030D-6E8A-4147-A177-3AD203B41FA5}">
                      <a16:colId xmlns:a16="http://schemas.microsoft.com/office/drawing/2014/main" val="3016425558"/>
                    </a:ext>
                  </a:extLst>
                </a:gridCol>
                <a:gridCol w="1394143">
                  <a:extLst>
                    <a:ext uri="{9D8B030D-6E8A-4147-A177-3AD203B41FA5}">
                      <a16:colId xmlns:a16="http://schemas.microsoft.com/office/drawing/2014/main" val="556787745"/>
                    </a:ext>
                  </a:extLst>
                </a:gridCol>
                <a:gridCol w="1914168">
                  <a:extLst>
                    <a:ext uri="{9D8B030D-6E8A-4147-A177-3AD203B41FA5}">
                      <a16:colId xmlns:a16="http://schemas.microsoft.com/office/drawing/2014/main" val="3025992171"/>
                    </a:ext>
                  </a:extLst>
                </a:gridCol>
              </a:tblGrid>
              <a:tr h="445455">
                <a:tc>
                  <a:txBody>
                    <a:bodyPr/>
                    <a:lstStyle/>
                    <a:p>
                      <a:pPr algn="ctr"/>
                      <a:r>
                        <a:rPr kumimoji="0" lang="zh-CN" altLang="en-US" sz="1800" b="1" i="0" u="none" strike="noStrike" kern="1200" cap="none" normalizeH="0" baseline="0" dirty="0">
                          <a:ln>
                            <a:noFill/>
                          </a:ln>
                          <a:solidFill>
                            <a:srgbClr val="FFFFFF"/>
                          </a:solidFill>
                          <a:effectLst/>
                          <a:latin typeface="微软雅黑" panose="020B0503020204020204" pitchFamily="34" charset="-122"/>
                          <a:ea typeface="微软雅黑" panose="020B0503020204020204" pitchFamily="34" charset="-122"/>
                          <a:cs typeface="+mn-cs"/>
                          <a:sym typeface="Arial" panose="020B0604020202020204" pitchFamily="34" charset="0"/>
                        </a:rPr>
                        <a:t>长期</a:t>
                      </a:r>
                    </a:p>
                  </a:txBody>
                  <a:tcPr>
                    <a:solidFill>
                      <a:srgbClr val="F3C97F"/>
                    </a:solidFill>
                  </a:tcPr>
                </a:tc>
                <a:tc>
                  <a:txBody>
                    <a:bodyPr/>
                    <a:lstStyle/>
                    <a:p>
                      <a:pPr marL="0" algn="ctr" defTabSz="914400" rtl="0" eaLnBrk="1" latinLnBrk="0" hangingPunct="1"/>
                      <a:r>
                        <a:rPr kumimoji="0" lang="zh-CN" altLang="en-US" sz="1800" b="1" i="0" u="none" strike="noStrike" kern="1200" cap="none" normalizeH="0" baseline="0" dirty="0">
                          <a:ln>
                            <a:noFill/>
                          </a:ln>
                          <a:solidFill>
                            <a:srgbClr val="FFFFFF"/>
                          </a:solidFill>
                          <a:effectLst/>
                          <a:latin typeface="微软雅黑" panose="020B0503020204020204" pitchFamily="34" charset="-122"/>
                          <a:ea typeface="微软雅黑" panose="020B0503020204020204" pitchFamily="34" charset="-122"/>
                          <a:cs typeface="+mn-cs"/>
                        </a:rPr>
                        <a:t>成本</a:t>
                      </a:r>
                    </a:p>
                  </a:txBody>
                  <a:tcPr>
                    <a:solidFill>
                      <a:srgbClr val="F3C97F"/>
                    </a:solidFill>
                  </a:tcPr>
                </a:tc>
                <a:tc>
                  <a:txBody>
                    <a:bodyPr/>
                    <a:lstStyle/>
                    <a:p>
                      <a:pPr marL="0" algn="ctr" defTabSz="914400" rtl="0" eaLnBrk="1" latinLnBrk="0" hangingPunct="1"/>
                      <a:r>
                        <a:rPr kumimoji="0" lang="zh-CN" altLang="en-US" sz="1800" b="1" i="0" u="none" strike="noStrike" kern="1200" cap="none" normalizeH="0" baseline="0" dirty="0">
                          <a:ln>
                            <a:noFill/>
                          </a:ln>
                          <a:solidFill>
                            <a:srgbClr val="FFFFFF"/>
                          </a:solidFill>
                          <a:effectLst/>
                          <a:latin typeface="微软雅黑" panose="020B0503020204020204" pitchFamily="34" charset="-122"/>
                          <a:ea typeface="微软雅黑" panose="020B0503020204020204" pitchFamily="34" charset="-122"/>
                          <a:cs typeface="+mn-cs"/>
                        </a:rPr>
                        <a:t>价格</a:t>
                      </a:r>
                    </a:p>
                  </a:txBody>
                  <a:tcPr>
                    <a:solidFill>
                      <a:srgbClr val="F3C97F"/>
                    </a:solidFill>
                  </a:tcPr>
                </a:tc>
                <a:tc>
                  <a:txBody>
                    <a:bodyPr/>
                    <a:lstStyle/>
                    <a:p>
                      <a:pPr marL="0" algn="ctr" defTabSz="914400" rtl="0" eaLnBrk="1" latinLnBrk="0" hangingPunct="1"/>
                      <a:r>
                        <a:rPr kumimoji="0" lang="zh-CN" altLang="en-US" sz="1800" b="1" i="0" u="none" strike="noStrike" kern="1200" cap="none" normalizeH="0" baseline="0" dirty="0">
                          <a:ln>
                            <a:noFill/>
                          </a:ln>
                          <a:solidFill>
                            <a:srgbClr val="FFFFFF"/>
                          </a:solidFill>
                          <a:effectLst/>
                          <a:latin typeface="微软雅黑" panose="020B0503020204020204" pitchFamily="34" charset="-122"/>
                          <a:ea typeface="微软雅黑" panose="020B0503020204020204" pitchFamily="34" charset="-122"/>
                          <a:cs typeface="+mn-cs"/>
                        </a:rPr>
                        <a:t>产量</a:t>
                      </a:r>
                    </a:p>
                  </a:txBody>
                  <a:tcPr>
                    <a:solidFill>
                      <a:srgbClr val="F3C97F"/>
                    </a:solidFill>
                  </a:tcPr>
                </a:tc>
                <a:tc>
                  <a:txBody>
                    <a:bodyPr/>
                    <a:lstStyle/>
                    <a:p>
                      <a:pPr marL="0" algn="ctr" defTabSz="914400" rtl="0" eaLnBrk="1" latinLnBrk="0" hangingPunct="1"/>
                      <a:r>
                        <a:rPr kumimoji="0" lang="zh-CN" altLang="en-US" sz="1800" b="1" i="0" u="none" strike="noStrike" kern="1200" cap="none" normalizeH="0" baseline="0" dirty="0">
                          <a:ln>
                            <a:noFill/>
                          </a:ln>
                          <a:solidFill>
                            <a:srgbClr val="FFFFFF"/>
                          </a:solidFill>
                          <a:effectLst/>
                          <a:latin typeface="微软雅黑" panose="020B0503020204020204" pitchFamily="34" charset="-122"/>
                          <a:ea typeface="微软雅黑" panose="020B0503020204020204" pitchFamily="34" charset="-122"/>
                          <a:cs typeface="+mn-cs"/>
                        </a:rPr>
                        <a:t>利润</a:t>
                      </a:r>
                    </a:p>
                  </a:txBody>
                  <a:tcPr>
                    <a:solidFill>
                      <a:srgbClr val="F3C97F"/>
                    </a:solidFill>
                  </a:tcPr>
                </a:tc>
                <a:tc>
                  <a:txBody>
                    <a:bodyPr/>
                    <a:lstStyle/>
                    <a:p>
                      <a:pPr marL="0" algn="ctr" defTabSz="914400" rtl="0" eaLnBrk="1" latinLnBrk="0" hangingPunct="1"/>
                      <a:r>
                        <a:rPr kumimoji="0" lang="zh-CN" altLang="en-US" sz="1800" b="1" i="0" u="none" strike="noStrike" kern="1200" cap="none" normalizeH="0" baseline="0" dirty="0">
                          <a:ln>
                            <a:noFill/>
                          </a:ln>
                          <a:solidFill>
                            <a:srgbClr val="FFFFFF"/>
                          </a:solidFill>
                          <a:effectLst/>
                          <a:latin typeface="微软雅黑" panose="020B0503020204020204" pitchFamily="34" charset="-122"/>
                          <a:ea typeface="微软雅黑" panose="020B0503020204020204" pitchFamily="34" charset="-122"/>
                          <a:cs typeface="+mn-cs"/>
                        </a:rPr>
                        <a:t>效率</a:t>
                      </a:r>
                    </a:p>
                  </a:txBody>
                  <a:tcPr>
                    <a:solidFill>
                      <a:srgbClr val="F3C97F"/>
                    </a:solidFill>
                  </a:tcPr>
                </a:tc>
                <a:extLst>
                  <a:ext uri="{0D108BD9-81ED-4DB2-BD59-A6C34878D82A}">
                    <a16:rowId xmlns:a16="http://schemas.microsoft.com/office/drawing/2014/main" val="678228300"/>
                  </a:ext>
                </a:extLst>
              </a:tr>
              <a:tr h="1066650">
                <a:tc>
                  <a:txBody>
                    <a:bodyPr/>
                    <a:lstStyle/>
                    <a:p>
                      <a:pPr algn="ctr"/>
                      <a:r>
                        <a:rPr lang="zh-CN" altLang="en-US" dirty="0">
                          <a:solidFill>
                            <a:schemeClr val="bg1">
                              <a:lumMod val="95000"/>
                            </a:schemeClr>
                          </a:solidFill>
                          <a:latin typeface="微软雅黑" panose="020B0503020204020204" pitchFamily="34" charset="-122"/>
                          <a:ea typeface="微软雅黑" panose="020B0503020204020204" pitchFamily="34" charset="-122"/>
                        </a:rPr>
                        <a:t>竞争</a:t>
                      </a:r>
                    </a:p>
                  </a:txBody>
                  <a:tcPr>
                    <a:solidFill>
                      <a:srgbClr val="9DA2AD"/>
                    </a:solidFill>
                  </a:tcPr>
                </a:tc>
                <a:tc>
                  <a:txBody>
                    <a:bodyPr/>
                    <a:lstStyle/>
                    <a:p>
                      <a:pPr marL="0" algn="ctr" defTabSz="914400" rtl="0" eaLnBrk="1" latinLnBrk="0" hangingPunct="1"/>
                      <a:r>
                        <a:rPr lang="zh-CN" altLang="en-US" sz="1800" kern="1200" dirty="0">
                          <a:solidFill>
                            <a:schemeClr val="bg1">
                              <a:lumMod val="95000"/>
                            </a:schemeClr>
                          </a:solidFill>
                          <a:latin typeface="微软雅黑" panose="020B0503020204020204" pitchFamily="34" charset="-122"/>
                          <a:ea typeface="微软雅黑" panose="020B0503020204020204" pitchFamily="34" charset="-122"/>
                          <a:cs typeface="+mn-cs"/>
                        </a:rPr>
                        <a:t>低</a:t>
                      </a:r>
                      <a:endParaRPr lang="en-US" altLang="zh-CN" sz="1800" kern="1200" dirty="0">
                        <a:solidFill>
                          <a:schemeClr val="bg1">
                            <a:lumMod val="95000"/>
                          </a:schemeClr>
                        </a:solidFill>
                        <a:latin typeface="微软雅黑" panose="020B0503020204020204" pitchFamily="34" charset="-122"/>
                        <a:ea typeface="微软雅黑" panose="020B0503020204020204" pitchFamily="34" charset="-122"/>
                        <a:cs typeface="+mn-cs"/>
                      </a:endParaRPr>
                    </a:p>
                  </a:txBody>
                  <a:tcPr>
                    <a:solidFill>
                      <a:srgbClr val="9DA2AD"/>
                    </a:solidFill>
                  </a:tcPr>
                </a:tc>
                <a:tc>
                  <a:txBody>
                    <a:bodyPr/>
                    <a:lstStyle/>
                    <a:p>
                      <a:pPr algn="ctr"/>
                      <a:r>
                        <a:rPr lang="zh-CN" altLang="en-US" dirty="0">
                          <a:solidFill>
                            <a:schemeClr val="bg1">
                              <a:lumMod val="95000"/>
                            </a:schemeClr>
                          </a:solidFill>
                          <a:latin typeface="微软雅黑" panose="020B0503020204020204" pitchFamily="34" charset="-122"/>
                          <a:ea typeface="微软雅黑" panose="020B0503020204020204" pitchFamily="34" charset="-122"/>
                        </a:rPr>
                        <a:t>低</a:t>
                      </a:r>
                    </a:p>
                  </a:txBody>
                  <a:tcPr>
                    <a:solidFill>
                      <a:srgbClr val="9DA2AD"/>
                    </a:solidFill>
                  </a:tcPr>
                </a:tc>
                <a:tc>
                  <a:txBody>
                    <a:bodyPr/>
                    <a:lstStyle/>
                    <a:p>
                      <a:pPr marL="0" algn="ctr" defTabSz="914400" rtl="0" eaLnBrk="1" latinLnBrk="0" hangingPunct="1"/>
                      <a:r>
                        <a:rPr lang="zh-CN" altLang="en-US" sz="1800" kern="1200" dirty="0">
                          <a:solidFill>
                            <a:schemeClr val="bg1">
                              <a:lumMod val="95000"/>
                            </a:schemeClr>
                          </a:solidFill>
                          <a:latin typeface="微软雅黑" panose="020B0503020204020204" pitchFamily="34" charset="-122"/>
                          <a:ea typeface="微软雅黑" panose="020B0503020204020204" pitchFamily="34" charset="-122"/>
                          <a:cs typeface="+mn-cs"/>
                        </a:rPr>
                        <a:t>多</a:t>
                      </a:r>
                    </a:p>
                  </a:txBody>
                  <a:tcPr>
                    <a:solidFill>
                      <a:srgbClr val="9DA2AD"/>
                    </a:solidFill>
                  </a:tcPr>
                </a:tc>
                <a:tc>
                  <a:txBody>
                    <a:bodyPr/>
                    <a:lstStyle/>
                    <a:p>
                      <a:pPr marL="0" algn="ctr" defTabSz="914400" rtl="0" eaLnBrk="1" latinLnBrk="0" hangingPunct="1"/>
                      <a:r>
                        <a:rPr lang="zh-CN" altLang="en-US" sz="1800" kern="1200" dirty="0">
                          <a:solidFill>
                            <a:schemeClr val="bg1">
                              <a:lumMod val="95000"/>
                            </a:schemeClr>
                          </a:solidFill>
                          <a:latin typeface="微软雅黑" panose="020B0503020204020204" pitchFamily="34" charset="-122"/>
                          <a:ea typeface="微软雅黑" panose="020B0503020204020204" pitchFamily="34" charset="-122"/>
                          <a:cs typeface="+mn-cs"/>
                        </a:rPr>
                        <a:t>无</a:t>
                      </a:r>
                    </a:p>
                  </a:txBody>
                  <a:tcPr>
                    <a:solidFill>
                      <a:srgbClr val="9DA2AD"/>
                    </a:solidFill>
                  </a:tcPr>
                </a:tc>
                <a:tc>
                  <a:txBody>
                    <a:bodyPr/>
                    <a:lstStyle/>
                    <a:p>
                      <a:pPr marL="0" algn="ctr" defTabSz="914400" rtl="0" eaLnBrk="1" latinLnBrk="0" hangingPunct="1"/>
                      <a:r>
                        <a:rPr lang="en-US" altLang="zh-CN" sz="1800" kern="1200" dirty="0">
                          <a:solidFill>
                            <a:schemeClr val="bg1">
                              <a:lumMod val="95000"/>
                            </a:schemeClr>
                          </a:solidFill>
                          <a:latin typeface="微软雅黑" panose="020B0503020204020204" pitchFamily="34" charset="-122"/>
                          <a:ea typeface="微软雅黑" panose="020B0503020204020204" pitchFamily="34" charset="-122"/>
                          <a:cs typeface="+mn-cs"/>
                        </a:rPr>
                        <a:t>P=MC</a:t>
                      </a:r>
                      <a:endParaRPr lang="zh-CN" altLang="en-US" sz="1800" kern="1200" dirty="0">
                        <a:solidFill>
                          <a:schemeClr val="bg1">
                            <a:lumMod val="95000"/>
                          </a:schemeClr>
                        </a:solidFill>
                        <a:latin typeface="微软雅黑" panose="020B0503020204020204" pitchFamily="34" charset="-122"/>
                        <a:ea typeface="微软雅黑" panose="020B0503020204020204" pitchFamily="34" charset="-122"/>
                        <a:cs typeface="+mn-cs"/>
                      </a:endParaRPr>
                    </a:p>
                  </a:txBody>
                  <a:tcPr>
                    <a:solidFill>
                      <a:srgbClr val="9DA2AD"/>
                    </a:solidFill>
                  </a:tcPr>
                </a:tc>
                <a:extLst>
                  <a:ext uri="{0D108BD9-81ED-4DB2-BD59-A6C34878D82A}">
                    <a16:rowId xmlns:a16="http://schemas.microsoft.com/office/drawing/2014/main" val="2863406024"/>
                  </a:ext>
                </a:extLst>
              </a:tr>
              <a:tr h="1098381">
                <a:tc>
                  <a:txBody>
                    <a:bodyPr/>
                    <a:lstStyle/>
                    <a:p>
                      <a:pPr algn="ctr"/>
                      <a:r>
                        <a:rPr lang="zh-CN" altLang="en-US" sz="1800" kern="1200" dirty="0">
                          <a:solidFill>
                            <a:schemeClr val="dk1"/>
                          </a:solidFill>
                          <a:latin typeface="微软雅黑" panose="020B0503020204020204" pitchFamily="34" charset="-122"/>
                          <a:ea typeface="微软雅黑" panose="020B0503020204020204" pitchFamily="34" charset="-122"/>
                          <a:cs typeface="+mn-cs"/>
                        </a:rPr>
                        <a:t>不完全竞争</a:t>
                      </a:r>
                    </a:p>
                  </a:txBody>
                  <a:tcPr>
                    <a:solidFill>
                      <a:srgbClr val="C3C9D7"/>
                    </a:solidFill>
                  </a:tcPr>
                </a:tc>
                <a:tc>
                  <a:txBody>
                    <a:bodyPr/>
                    <a:lstStyle/>
                    <a:p>
                      <a:pPr algn="ctr"/>
                      <a:r>
                        <a:rPr lang="zh-CN" altLang="en-US" sz="1800" kern="1200" dirty="0">
                          <a:solidFill>
                            <a:schemeClr val="dk1"/>
                          </a:solidFill>
                          <a:latin typeface="微软雅黑" panose="020B0503020204020204" pitchFamily="34" charset="-122"/>
                          <a:ea typeface="微软雅黑" panose="020B0503020204020204" pitchFamily="34" charset="-122"/>
                          <a:cs typeface="+mn-cs"/>
                        </a:rPr>
                        <a:t>高</a:t>
                      </a:r>
                    </a:p>
                  </a:txBody>
                  <a:tcPr>
                    <a:solidFill>
                      <a:srgbClr val="C3C9D7"/>
                    </a:solidFill>
                  </a:tcPr>
                </a:tc>
                <a:tc>
                  <a:txBody>
                    <a:bodyPr/>
                    <a:lstStyle/>
                    <a:p>
                      <a:pPr algn="ctr"/>
                      <a:r>
                        <a:rPr lang="zh-CN" altLang="en-US" sz="1800" kern="1200" dirty="0">
                          <a:solidFill>
                            <a:schemeClr val="dk1"/>
                          </a:solidFill>
                          <a:latin typeface="微软雅黑" panose="020B0503020204020204" pitchFamily="34" charset="-122"/>
                          <a:ea typeface="微软雅黑" panose="020B0503020204020204" pitchFamily="34" charset="-122"/>
                          <a:cs typeface="+mn-cs"/>
                        </a:rPr>
                        <a:t>高</a:t>
                      </a:r>
                    </a:p>
                  </a:txBody>
                  <a:tcPr>
                    <a:solidFill>
                      <a:srgbClr val="C3C9D7"/>
                    </a:solidFill>
                  </a:tcPr>
                </a:tc>
                <a:tc>
                  <a:txBody>
                    <a:bodyPr/>
                    <a:lstStyle/>
                    <a:p>
                      <a:pPr algn="ctr"/>
                      <a:r>
                        <a:rPr lang="zh-CN" altLang="en-US" sz="1800" kern="1200" dirty="0">
                          <a:solidFill>
                            <a:schemeClr val="dk1"/>
                          </a:solidFill>
                          <a:latin typeface="微软雅黑" panose="020B0503020204020204" pitchFamily="34" charset="-122"/>
                          <a:ea typeface="微软雅黑" panose="020B0503020204020204" pitchFamily="34" charset="-122"/>
                          <a:cs typeface="+mn-cs"/>
                        </a:rPr>
                        <a:t>少</a:t>
                      </a:r>
                    </a:p>
                  </a:txBody>
                  <a:tcPr>
                    <a:solidFill>
                      <a:srgbClr val="C3C9D7"/>
                    </a:solidFill>
                  </a:tcPr>
                </a:tc>
                <a:tc>
                  <a:txBody>
                    <a:bodyPr/>
                    <a:lstStyle/>
                    <a:p>
                      <a:pPr algn="ctr"/>
                      <a:r>
                        <a:rPr lang="zh-CN" altLang="en-US" sz="1800" kern="1200" dirty="0">
                          <a:solidFill>
                            <a:schemeClr val="dk1"/>
                          </a:solidFill>
                          <a:latin typeface="微软雅黑" panose="020B0503020204020204" pitchFamily="34" charset="-122"/>
                          <a:ea typeface="微软雅黑" panose="020B0503020204020204" pitchFamily="34" charset="-122"/>
                          <a:cs typeface="+mn-cs"/>
                        </a:rPr>
                        <a:t>大部分有</a:t>
                      </a:r>
                      <a:br>
                        <a:rPr lang="en-US" altLang="zh-CN" sz="1800" kern="1200" dirty="0">
                          <a:solidFill>
                            <a:schemeClr val="dk1"/>
                          </a:solidFill>
                          <a:latin typeface="微软雅黑" panose="020B0503020204020204" pitchFamily="34" charset="-122"/>
                          <a:ea typeface="微软雅黑" panose="020B0503020204020204" pitchFamily="34" charset="-122"/>
                          <a:cs typeface="+mn-cs"/>
                        </a:rPr>
                      </a:br>
                      <a:r>
                        <a:rPr lang="zh-CN" altLang="en-US" sz="1800" kern="1200" dirty="0">
                          <a:solidFill>
                            <a:schemeClr val="dk1"/>
                          </a:solidFill>
                          <a:latin typeface="微软雅黑" panose="020B0503020204020204" pitchFamily="34" charset="-122"/>
                          <a:ea typeface="微软雅黑" panose="020B0503020204020204" pitchFamily="34" charset="-122"/>
                          <a:cs typeface="+mn-cs"/>
                        </a:rPr>
                        <a:t>垄断竞争无</a:t>
                      </a:r>
                    </a:p>
                  </a:txBody>
                  <a:tcPr>
                    <a:solidFill>
                      <a:srgbClr val="C3C9D7"/>
                    </a:solidFill>
                  </a:tcPr>
                </a:tc>
                <a:tc>
                  <a:txBody>
                    <a:bodyPr/>
                    <a:lstStyle/>
                    <a:p>
                      <a:pPr marL="0" algn="ctr" defTabSz="914400" rtl="0" eaLnBrk="1" latinLnBrk="0" hangingPunct="1"/>
                      <a:r>
                        <a:rPr lang="en-US" altLang="zh-CN" sz="1800" kern="1200" dirty="0">
                          <a:solidFill>
                            <a:schemeClr val="dk1"/>
                          </a:solidFill>
                          <a:latin typeface="微软雅黑" panose="020B0503020204020204" pitchFamily="34" charset="-122"/>
                          <a:ea typeface="微软雅黑" panose="020B0503020204020204" pitchFamily="34" charset="-122"/>
                          <a:cs typeface="+mn-cs"/>
                        </a:rPr>
                        <a:t>P&gt;MC</a:t>
                      </a:r>
                    </a:p>
                    <a:p>
                      <a:pPr marL="0" algn="ctr" defTabSz="914400" rtl="0" eaLnBrk="1" latinLnBrk="0" hangingPunct="1"/>
                      <a:r>
                        <a:rPr lang="en-US" altLang="zh-CN" sz="1800" kern="1200" dirty="0">
                          <a:solidFill>
                            <a:schemeClr val="dk1"/>
                          </a:solidFill>
                          <a:latin typeface="微软雅黑" panose="020B0503020204020204" pitchFamily="34" charset="-122"/>
                          <a:ea typeface="微软雅黑" panose="020B0503020204020204" pitchFamily="34" charset="-122"/>
                          <a:cs typeface="+mn-cs"/>
                        </a:rPr>
                        <a:t>(</a:t>
                      </a:r>
                      <a:r>
                        <a:rPr lang="zh-CN" altLang="en-US" sz="1800" kern="1200" dirty="0">
                          <a:solidFill>
                            <a:schemeClr val="dk1"/>
                          </a:solidFill>
                          <a:latin typeface="微软雅黑" panose="020B0503020204020204" pitchFamily="34" charset="-122"/>
                          <a:ea typeface="微软雅黑" panose="020B0503020204020204" pitchFamily="34" charset="-122"/>
                          <a:cs typeface="+mn-cs"/>
                        </a:rPr>
                        <a:t>完全价格歧视时</a:t>
                      </a:r>
                      <a:r>
                        <a:rPr lang="en-US" altLang="zh-CN" sz="1800" kern="1200" dirty="0">
                          <a:solidFill>
                            <a:schemeClr val="dk1"/>
                          </a:solidFill>
                          <a:latin typeface="微软雅黑" panose="020B0503020204020204" pitchFamily="34" charset="-122"/>
                          <a:ea typeface="微软雅黑" panose="020B0503020204020204" pitchFamily="34" charset="-122"/>
                          <a:cs typeface="+mn-cs"/>
                        </a:rPr>
                        <a:t>P=MC)</a:t>
                      </a:r>
                      <a:endParaRPr lang="zh-CN" altLang="en-US" sz="1800" kern="1200" dirty="0">
                        <a:solidFill>
                          <a:schemeClr val="dk1"/>
                        </a:solidFill>
                        <a:latin typeface="微软雅黑" panose="020B0503020204020204" pitchFamily="34" charset="-122"/>
                        <a:ea typeface="微软雅黑" panose="020B0503020204020204" pitchFamily="34" charset="-122"/>
                        <a:cs typeface="+mn-cs"/>
                      </a:endParaRPr>
                    </a:p>
                  </a:txBody>
                  <a:tcPr>
                    <a:solidFill>
                      <a:srgbClr val="C3C9D7"/>
                    </a:solidFill>
                  </a:tcPr>
                </a:tc>
                <a:extLst>
                  <a:ext uri="{0D108BD9-81ED-4DB2-BD59-A6C34878D82A}">
                    <a16:rowId xmlns:a16="http://schemas.microsoft.com/office/drawing/2014/main" val="22433721"/>
                  </a:ext>
                </a:extLst>
              </a:tr>
            </a:tbl>
          </a:graphicData>
        </a:graphic>
      </p:graphicFrame>
      <p:sp>
        <p:nvSpPr>
          <p:cNvPr id="5" name="矩形 4"/>
          <p:cNvSpPr/>
          <p:nvPr/>
        </p:nvSpPr>
        <p:spPr>
          <a:xfrm>
            <a:off x="6372125" y="44765"/>
            <a:ext cx="2736190" cy="369332"/>
          </a:xfrm>
          <a:prstGeom prst="rect">
            <a:avLst/>
          </a:prstGeom>
        </p:spPr>
        <p:txBody>
          <a:bodyPr wrap="square">
            <a:spAutoFit/>
          </a:bodyPr>
          <a:lstStyle/>
          <a:p>
            <a:r>
              <a:rPr lang="zh-CN" altLang="en-US" sz="1800" b="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第五节  不同市场的比较</a:t>
            </a:r>
            <a:endParaRPr lang="zh-CN" altLang="en-US" sz="18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 name="矩形 5">
            <a:extLst>
              <a:ext uri="{FF2B5EF4-FFF2-40B4-BE49-F238E27FC236}">
                <a16:creationId xmlns:a16="http://schemas.microsoft.com/office/drawing/2014/main" id="{F68E5273-CD77-47B9-B841-9D29349C133D}"/>
              </a:ext>
            </a:extLst>
          </p:cNvPr>
          <p:cNvSpPr/>
          <p:nvPr/>
        </p:nvSpPr>
        <p:spPr>
          <a:xfrm>
            <a:off x="457202" y="548681"/>
            <a:ext cx="3322744"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marL="0" lvl="1">
              <a:defRPr/>
            </a:pPr>
            <a:r>
              <a:rPr lang="zh-CN" altLang="en-US" sz="2400" spc="150" dirty="0">
                <a:solidFill>
                  <a:srgbClr val="FFFFFF"/>
                </a:solidFill>
                <a:latin typeface="微软雅黑" panose="020B0503020204020204" pitchFamily="34" charset="-122"/>
                <a:ea typeface="微软雅黑" panose="020B0503020204020204" pitchFamily="34" charset="-122"/>
              </a:rPr>
              <a:t>一</a:t>
            </a:r>
            <a:r>
              <a:rPr lang="zh-CN" altLang="en-US" sz="2400" b="1" spc="150" dirty="0">
                <a:solidFill>
                  <a:srgbClr val="FFFFFF"/>
                </a:solidFill>
                <a:latin typeface="微软雅黑" panose="020B0503020204020204" pitchFamily="34" charset="-122"/>
                <a:ea typeface="微软雅黑" panose="020B0503020204020204" pitchFamily="34" charset="-122"/>
              </a:rPr>
              <a:t>、</a:t>
            </a:r>
            <a:r>
              <a:rPr lang="zh-CN" altLang="en-US" sz="2400" spc="15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静态效率的比较</a:t>
            </a:r>
            <a:endParaRPr lang="en-US" altLang="zh-CN" sz="2400" spc="150" dirty="0">
              <a:solidFill>
                <a:srgbClr val="FFFFFF"/>
              </a:solidFill>
              <a:latin typeface="微软雅黑" panose="020B0503020204020204" pitchFamily="34" charset="-122"/>
              <a:ea typeface="微软雅黑" panose="020B0503020204020204" pitchFamily="34"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角三角形 1"/>
          <p:cNvSpPr/>
          <p:nvPr/>
        </p:nvSpPr>
        <p:spPr bwMode="auto">
          <a:xfrm>
            <a:off x="5223463" y="3309349"/>
            <a:ext cx="1219200" cy="691621"/>
          </a:xfrm>
          <a:prstGeom prst="rtTriangle">
            <a:avLst/>
          </a:prstGeom>
          <a:solidFill>
            <a:srgbClr val="9DA2A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58372" name="Line 3"/>
          <p:cNvSpPr>
            <a:spLocks noChangeShapeType="1"/>
          </p:cNvSpPr>
          <p:nvPr/>
        </p:nvSpPr>
        <p:spPr bwMode="auto">
          <a:xfrm>
            <a:off x="4142095" y="2457526"/>
            <a:ext cx="635" cy="3048468"/>
          </a:xfrm>
          <a:prstGeom prst="line">
            <a:avLst/>
          </a:prstGeom>
          <a:noFill/>
          <a:ln w="38100" cap="flat" cmpd="sng">
            <a:solidFill>
              <a:srgbClr val="F3C97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zh-CN">
              <a:solidFill>
                <a:srgbClr val="000000"/>
              </a:solidFill>
              <a:latin typeface="Times New Roman" panose="02020603050405020304" pitchFamily="18" charset="0"/>
              <a:sym typeface="Times New Roman" panose="02020603050405020304" pitchFamily="18" charset="0"/>
            </a:endParaRPr>
          </a:p>
        </p:txBody>
      </p:sp>
      <p:sp>
        <p:nvSpPr>
          <p:cNvPr id="58373" name="Line 4"/>
          <p:cNvSpPr>
            <a:spLocks noChangeShapeType="1"/>
          </p:cNvSpPr>
          <p:nvPr/>
        </p:nvSpPr>
        <p:spPr bwMode="auto">
          <a:xfrm>
            <a:off x="4142095" y="5505994"/>
            <a:ext cx="4267200" cy="635"/>
          </a:xfrm>
          <a:prstGeom prst="line">
            <a:avLst/>
          </a:prstGeom>
          <a:noFill/>
          <a:ln w="38100" cap="flat" cmpd="sng">
            <a:solidFill>
              <a:srgbClr val="F3C97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zh-CN">
              <a:solidFill>
                <a:srgbClr val="000000"/>
              </a:solidFill>
              <a:latin typeface="Times New Roman" panose="02020603050405020304" pitchFamily="18" charset="0"/>
              <a:sym typeface="Times New Roman" panose="02020603050405020304" pitchFamily="18" charset="0"/>
            </a:endParaRPr>
          </a:p>
        </p:txBody>
      </p:sp>
      <p:sp>
        <p:nvSpPr>
          <p:cNvPr id="58374" name="Line 5"/>
          <p:cNvSpPr>
            <a:spLocks noChangeShapeType="1"/>
          </p:cNvSpPr>
          <p:nvPr/>
        </p:nvSpPr>
        <p:spPr bwMode="auto">
          <a:xfrm>
            <a:off x="4142095" y="2652658"/>
            <a:ext cx="3581400" cy="2057716"/>
          </a:xfrm>
          <a:prstGeom prst="line">
            <a:avLst/>
          </a:prstGeom>
          <a:noFill/>
          <a:ln w="38100" cap="flat" cmpd="sng">
            <a:solidFill>
              <a:srgbClr val="F3C97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zh-CN">
              <a:solidFill>
                <a:srgbClr val="000000"/>
              </a:solidFill>
              <a:latin typeface="Times New Roman" panose="02020603050405020304" pitchFamily="18" charset="0"/>
              <a:sym typeface="Times New Roman" panose="02020603050405020304" pitchFamily="18" charset="0"/>
            </a:endParaRPr>
          </a:p>
        </p:txBody>
      </p:sp>
      <p:sp>
        <p:nvSpPr>
          <p:cNvPr id="58375" name="Line 6"/>
          <p:cNvSpPr>
            <a:spLocks noChangeShapeType="1"/>
          </p:cNvSpPr>
          <p:nvPr/>
        </p:nvSpPr>
        <p:spPr bwMode="auto">
          <a:xfrm>
            <a:off x="4142095" y="2728870"/>
            <a:ext cx="2209800" cy="2514986"/>
          </a:xfrm>
          <a:prstGeom prst="line">
            <a:avLst/>
          </a:prstGeom>
          <a:noFill/>
          <a:ln w="38100" cap="flat" cmpd="sng">
            <a:solidFill>
              <a:srgbClr val="F3C97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zh-CN">
              <a:solidFill>
                <a:srgbClr val="000000"/>
              </a:solidFill>
              <a:latin typeface="Times New Roman" panose="02020603050405020304" pitchFamily="18" charset="0"/>
              <a:sym typeface="Times New Roman" panose="02020603050405020304" pitchFamily="18" charset="0"/>
            </a:endParaRPr>
          </a:p>
        </p:txBody>
      </p:sp>
      <p:sp>
        <p:nvSpPr>
          <p:cNvPr id="58376" name="Line 7"/>
          <p:cNvSpPr>
            <a:spLocks noChangeShapeType="1"/>
          </p:cNvSpPr>
          <p:nvPr/>
        </p:nvSpPr>
        <p:spPr bwMode="auto">
          <a:xfrm>
            <a:off x="4142095" y="3948257"/>
            <a:ext cx="4114800" cy="635"/>
          </a:xfrm>
          <a:prstGeom prst="line">
            <a:avLst/>
          </a:prstGeom>
          <a:noFill/>
          <a:ln w="38100" cap="flat" cmpd="sng">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zh-CN">
              <a:solidFill>
                <a:srgbClr val="000000"/>
              </a:solidFill>
              <a:latin typeface="Times New Roman" panose="02020603050405020304" pitchFamily="18" charset="0"/>
              <a:sym typeface="Times New Roman" panose="02020603050405020304" pitchFamily="18" charset="0"/>
            </a:endParaRPr>
          </a:p>
        </p:txBody>
      </p:sp>
      <p:sp>
        <p:nvSpPr>
          <p:cNvPr id="58377" name="Line 8"/>
          <p:cNvSpPr>
            <a:spLocks noChangeShapeType="1"/>
          </p:cNvSpPr>
          <p:nvPr/>
        </p:nvSpPr>
        <p:spPr bwMode="auto">
          <a:xfrm>
            <a:off x="5208895" y="3295855"/>
            <a:ext cx="635" cy="2210139"/>
          </a:xfrm>
          <a:prstGeom prst="line">
            <a:avLst/>
          </a:prstGeom>
          <a:noFill/>
          <a:ln w="38100" cap="flat" cmpd="sng">
            <a:solidFill>
              <a:srgbClr val="BB1528"/>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zh-CN">
              <a:solidFill>
                <a:srgbClr val="000000"/>
              </a:solidFill>
              <a:latin typeface="Times New Roman" panose="02020603050405020304" pitchFamily="18" charset="0"/>
              <a:sym typeface="Times New Roman" panose="02020603050405020304" pitchFamily="18" charset="0"/>
            </a:endParaRPr>
          </a:p>
        </p:txBody>
      </p:sp>
      <p:sp>
        <p:nvSpPr>
          <p:cNvPr id="58378" name="Line 9"/>
          <p:cNvSpPr>
            <a:spLocks noChangeShapeType="1"/>
          </p:cNvSpPr>
          <p:nvPr/>
        </p:nvSpPr>
        <p:spPr bwMode="auto">
          <a:xfrm flipH="1">
            <a:off x="4142095" y="3295855"/>
            <a:ext cx="1066800" cy="635"/>
          </a:xfrm>
          <a:prstGeom prst="line">
            <a:avLst/>
          </a:prstGeom>
          <a:noFill/>
          <a:ln w="38100" cap="flat" cmpd="sng">
            <a:solidFill>
              <a:srgbClr val="BB1528"/>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zh-CN">
              <a:solidFill>
                <a:srgbClr val="000000"/>
              </a:solidFill>
              <a:latin typeface="Times New Roman" panose="02020603050405020304" pitchFamily="18" charset="0"/>
              <a:sym typeface="Times New Roman" panose="02020603050405020304" pitchFamily="18" charset="0"/>
            </a:endParaRPr>
          </a:p>
        </p:txBody>
      </p:sp>
      <p:sp>
        <p:nvSpPr>
          <p:cNvPr id="58379" name="Line 10"/>
          <p:cNvSpPr>
            <a:spLocks noChangeShapeType="1"/>
          </p:cNvSpPr>
          <p:nvPr/>
        </p:nvSpPr>
        <p:spPr bwMode="auto">
          <a:xfrm>
            <a:off x="6351895" y="3948257"/>
            <a:ext cx="635" cy="1524234"/>
          </a:xfrm>
          <a:prstGeom prst="line">
            <a:avLst/>
          </a:prstGeom>
          <a:noFill/>
          <a:ln w="38100" cap="flat" cmpd="sng">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zh-CN">
              <a:solidFill>
                <a:srgbClr val="000000"/>
              </a:solidFill>
              <a:latin typeface="Times New Roman" panose="02020603050405020304" pitchFamily="18" charset="0"/>
              <a:sym typeface="Times New Roman" panose="02020603050405020304" pitchFamily="18" charset="0"/>
            </a:endParaRPr>
          </a:p>
        </p:txBody>
      </p:sp>
      <p:sp>
        <p:nvSpPr>
          <p:cNvPr id="58380" name="Rectangle 11"/>
          <p:cNvSpPr>
            <a:spLocks noChangeArrowheads="1"/>
          </p:cNvSpPr>
          <p:nvPr/>
        </p:nvSpPr>
        <p:spPr bwMode="auto">
          <a:xfrm>
            <a:off x="3202930" y="2969571"/>
            <a:ext cx="793750" cy="5798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9pPr>
          </a:lstStyle>
          <a:p>
            <a:pPr eaLnBrk="1" hangingPunct="1"/>
            <a:r>
              <a:rPr lang="en-US" altLang="zh-CN" sz="3200" dirty="0">
                <a:latin typeface="Times New Roman" panose="02020603050405020304" pitchFamily="18" charset="0"/>
              </a:rPr>
              <a:t>150</a:t>
            </a:r>
            <a:endParaRPr lang="zh-CN" altLang="en-US" dirty="0"/>
          </a:p>
        </p:txBody>
      </p:sp>
      <p:sp>
        <p:nvSpPr>
          <p:cNvPr id="58381" name="Rectangle 12"/>
          <p:cNvSpPr>
            <a:spLocks noChangeArrowheads="1"/>
          </p:cNvSpPr>
          <p:nvPr/>
        </p:nvSpPr>
        <p:spPr bwMode="auto">
          <a:xfrm>
            <a:off x="3211185" y="3731688"/>
            <a:ext cx="793750" cy="5798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9pPr>
          </a:lstStyle>
          <a:p>
            <a:pPr eaLnBrk="1" hangingPunct="1"/>
            <a:r>
              <a:rPr lang="en-US" altLang="zh-CN" sz="3200" dirty="0">
                <a:latin typeface="Times New Roman" panose="02020603050405020304" pitchFamily="18" charset="0"/>
              </a:rPr>
              <a:t>100</a:t>
            </a:r>
            <a:endParaRPr lang="zh-CN" altLang="en-US" dirty="0"/>
          </a:p>
        </p:txBody>
      </p:sp>
      <p:sp>
        <p:nvSpPr>
          <p:cNvPr id="58382" name="Rectangle 13"/>
          <p:cNvSpPr>
            <a:spLocks noChangeArrowheads="1"/>
          </p:cNvSpPr>
          <p:nvPr/>
        </p:nvSpPr>
        <p:spPr bwMode="auto">
          <a:xfrm>
            <a:off x="5056495" y="5548703"/>
            <a:ext cx="387350" cy="5798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9pPr>
          </a:lstStyle>
          <a:p>
            <a:pPr eaLnBrk="1" hangingPunct="1"/>
            <a:r>
              <a:rPr lang="en-US" altLang="zh-CN" sz="3200" dirty="0">
                <a:latin typeface="Times New Roman" panose="02020603050405020304" pitchFamily="18" charset="0"/>
              </a:rPr>
              <a:t>3</a:t>
            </a:r>
            <a:endParaRPr lang="zh-CN" altLang="en-US" dirty="0"/>
          </a:p>
        </p:txBody>
      </p:sp>
      <p:sp>
        <p:nvSpPr>
          <p:cNvPr id="58383" name="Rectangle 14"/>
          <p:cNvSpPr>
            <a:spLocks noChangeArrowheads="1"/>
          </p:cNvSpPr>
          <p:nvPr/>
        </p:nvSpPr>
        <p:spPr bwMode="auto">
          <a:xfrm>
            <a:off x="6199495" y="5548703"/>
            <a:ext cx="387350" cy="5798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9pPr>
          </a:lstStyle>
          <a:p>
            <a:pPr eaLnBrk="1" hangingPunct="1"/>
            <a:r>
              <a:rPr lang="en-US" altLang="zh-CN" sz="3200">
                <a:latin typeface="Times New Roman" panose="02020603050405020304" pitchFamily="18" charset="0"/>
              </a:rPr>
              <a:t>6</a:t>
            </a:r>
            <a:endParaRPr lang="zh-CN" altLang="en-US"/>
          </a:p>
        </p:txBody>
      </p:sp>
      <p:sp>
        <p:nvSpPr>
          <p:cNvPr id="58384" name="Oval 15"/>
          <p:cNvSpPr>
            <a:spLocks noChangeArrowheads="1"/>
          </p:cNvSpPr>
          <p:nvPr/>
        </p:nvSpPr>
        <p:spPr bwMode="auto">
          <a:xfrm>
            <a:off x="5132695" y="3872046"/>
            <a:ext cx="152400" cy="152423"/>
          </a:xfrm>
          <a:prstGeom prst="ellipse">
            <a:avLst/>
          </a:prstGeom>
          <a:solidFill>
            <a:srgbClr val="BB1528"/>
          </a:solidFill>
          <a:ln w="9525" cap="flat" cmpd="sng">
            <a:solidFill>
              <a:srgbClr val="BB1528"/>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zh-CN" sz="2400">
              <a:latin typeface="Times New Roman" panose="02020603050405020304" pitchFamily="18" charset="0"/>
            </a:endParaRPr>
          </a:p>
        </p:txBody>
      </p:sp>
      <p:sp>
        <p:nvSpPr>
          <p:cNvPr id="58385" name="Oval 16"/>
          <p:cNvSpPr>
            <a:spLocks noChangeArrowheads="1"/>
          </p:cNvSpPr>
          <p:nvPr/>
        </p:nvSpPr>
        <p:spPr bwMode="auto">
          <a:xfrm>
            <a:off x="6275695" y="3872046"/>
            <a:ext cx="152400" cy="152423"/>
          </a:xfrm>
          <a:prstGeom prst="ellipse">
            <a:avLst/>
          </a:prstGeom>
          <a:solidFill>
            <a:schemeClr val="accent2"/>
          </a:solidFill>
          <a:ln w="9525" cap="flat" cmpd="sng">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zh-CN" sz="2400">
              <a:latin typeface="Times New Roman" panose="02020603050405020304" pitchFamily="18" charset="0"/>
            </a:endParaRPr>
          </a:p>
        </p:txBody>
      </p:sp>
      <p:sp>
        <p:nvSpPr>
          <p:cNvPr id="58386" name="Rectangle 17"/>
          <p:cNvSpPr>
            <a:spLocks noChangeArrowheads="1"/>
          </p:cNvSpPr>
          <p:nvPr/>
        </p:nvSpPr>
        <p:spPr bwMode="auto">
          <a:xfrm>
            <a:off x="707380" y="3074362"/>
            <a:ext cx="2057400" cy="400111"/>
          </a:xfrm>
          <a:prstGeom prst="rect">
            <a:avLst/>
          </a:prstGeom>
          <a:no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9pPr>
          </a:lstStyle>
          <a:p>
            <a:pPr eaLnBrk="1" hangingPunct="1"/>
            <a:r>
              <a:rPr lang="zh-CN" altLang="en-US" sz="2000" b="0" dirty="0">
                <a:latin typeface="微软雅黑" panose="020B0503020204020204" pitchFamily="34" charset="-122"/>
                <a:ea typeface="微软雅黑" panose="020B0503020204020204" pitchFamily="34" charset="-122"/>
              </a:rPr>
              <a:t>不完全竞争</a:t>
            </a:r>
            <a:endParaRPr lang="en-US" altLang="zh-CN" sz="2000" b="0" dirty="0">
              <a:latin typeface="微软雅黑" panose="020B0503020204020204" pitchFamily="34" charset="-122"/>
              <a:ea typeface="微软雅黑" panose="020B0503020204020204" pitchFamily="34" charset="-122"/>
            </a:endParaRPr>
          </a:p>
        </p:txBody>
      </p:sp>
      <p:sp>
        <p:nvSpPr>
          <p:cNvPr id="58387" name="Rectangle 18"/>
          <p:cNvSpPr>
            <a:spLocks noChangeArrowheads="1"/>
          </p:cNvSpPr>
          <p:nvPr/>
        </p:nvSpPr>
        <p:spPr bwMode="auto">
          <a:xfrm>
            <a:off x="770880" y="3748201"/>
            <a:ext cx="2057400" cy="400111"/>
          </a:xfrm>
          <a:prstGeom prst="rect">
            <a:avLst/>
          </a:prstGeom>
          <a:no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9pPr>
          </a:lstStyle>
          <a:p>
            <a:pPr eaLnBrk="1" hangingPunct="1"/>
            <a:r>
              <a:rPr lang="zh-CN" altLang="en-US" sz="2000" b="0" dirty="0">
                <a:latin typeface="微软雅黑" panose="020B0503020204020204" pitchFamily="34" charset="-122"/>
                <a:ea typeface="微软雅黑" panose="020B0503020204020204" pitchFamily="34" charset="-122"/>
              </a:rPr>
              <a:t>完全竞争</a:t>
            </a:r>
            <a:endParaRPr lang="en-US" altLang="zh-CN" sz="2000" b="0" dirty="0">
              <a:latin typeface="微软雅黑" panose="020B0503020204020204" pitchFamily="34" charset="-122"/>
              <a:ea typeface="微软雅黑" panose="020B0503020204020204" pitchFamily="34" charset="-122"/>
            </a:endParaRPr>
          </a:p>
        </p:txBody>
      </p:sp>
      <p:sp>
        <p:nvSpPr>
          <p:cNvPr id="58388" name="Rectangle 19"/>
          <p:cNvSpPr>
            <a:spLocks noChangeArrowheads="1"/>
          </p:cNvSpPr>
          <p:nvPr/>
        </p:nvSpPr>
        <p:spPr bwMode="auto">
          <a:xfrm>
            <a:off x="3098155" y="2390362"/>
            <a:ext cx="697865" cy="4001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9pPr>
          </a:lstStyle>
          <a:p>
            <a:pPr eaLnBrk="1" hangingPunct="1"/>
            <a:r>
              <a:rPr lang="zh-CN" altLang="en-US" sz="2000" b="0" dirty="0">
                <a:latin typeface="微软雅黑" panose="020B0503020204020204" pitchFamily="34" charset="-122"/>
                <a:ea typeface="微软雅黑" panose="020B0503020204020204" pitchFamily="34" charset="-122"/>
              </a:rPr>
              <a:t>价格</a:t>
            </a:r>
            <a:endParaRPr lang="en-US" altLang="zh-CN" sz="2000" b="0" dirty="0">
              <a:latin typeface="微软雅黑" panose="020B0503020204020204" pitchFamily="34" charset="-122"/>
              <a:ea typeface="微软雅黑" panose="020B0503020204020204" pitchFamily="34" charset="-122"/>
            </a:endParaRPr>
          </a:p>
        </p:txBody>
      </p:sp>
      <p:sp>
        <p:nvSpPr>
          <p:cNvPr id="58389" name="Rectangle 20"/>
          <p:cNvSpPr>
            <a:spLocks noChangeArrowheads="1"/>
          </p:cNvSpPr>
          <p:nvPr/>
        </p:nvSpPr>
        <p:spPr bwMode="auto">
          <a:xfrm>
            <a:off x="7341860" y="5468046"/>
            <a:ext cx="697865" cy="4001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9pPr>
          </a:lstStyle>
          <a:p>
            <a:pPr eaLnBrk="1" hangingPunct="1"/>
            <a:r>
              <a:rPr lang="zh-CN" altLang="en-US" sz="2000" b="0" dirty="0">
                <a:latin typeface="微软雅黑" panose="020B0503020204020204" pitchFamily="34" charset="-122"/>
                <a:ea typeface="微软雅黑" panose="020B0503020204020204" pitchFamily="34" charset="-122"/>
              </a:rPr>
              <a:t>销量</a:t>
            </a:r>
            <a:endParaRPr lang="en-US" altLang="zh-CN" sz="2000" b="0" dirty="0">
              <a:latin typeface="微软雅黑" panose="020B0503020204020204" pitchFamily="34" charset="-122"/>
              <a:ea typeface="微软雅黑" panose="020B0503020204020204" pitchFamily="34" charset="-122"/>
            </a:endParaRPr>
          </a:p>
        </p:txBody>
      </p:sp>
      <p:sp>
        <p:nvSpPr>
          <p:cNvPr id="58390" name="AutoShape 21"/>
          <p:cNvSpPr>
            <a:spLocks noChangeArrowheads="1"/>
          </p:cNvSpPr>
          <p:nvPr/>
        </p:nvSpPr>
        <p:spPr bwMode="auto">
          <a:xfrm>
            <a:off x="2288530" y="3198206"/>
            <a:ext cx="914400" cy="152423"/>
          </a:xfrm>
          <a:prstGeom prst="notchedRightArrow">
            <a:avLst>
              <a:gd name="adj1" fmla="val 50000"/>
              <a:gd name="adj2" fmla="val 150000"/>
            </a:avLst>
          </a:prstGeom>
          <a:solidFill>
            <a:srgbClr val="F3C97F"/>
          </a:solidFill>
          <a:ln w="9525" cap="flat"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zh-CN" sz="2400">
              <a:latin typeface="Times New Roman" panose="02020603050405020304" pitchFamily="18" charset="0"/>
            </a:endParaRPr>
          </a:p>
        </p:txBody>
      </p:sp>
      <p:sp>
        <p:nvSpPr>
          <p:cNvPr id="58391" name="AutoShape 22"/>
          <p:cNvSpPr>
            <a:spLocks noChangeArrowheads="1"/>
          </p:cNvSpPr>
          <p:nvPr/>
        </p:nvSpPr>
        <p:spPr bwMode="auto">
          <a:xfrm>
            <a:off x="2313295" y="3895543"/>
            <a:ext cx="913765" cy="163855"/>
          </a:xfrm>
          <a:prstGeom prst="notchedRightArrow">
            <a:avLst>
              <a:gd name="adj1" fmla="val 50000"/>
              <a:gd name="adj2" fmla="val 150000"/>
            </a:avLst>
          </a:prstGeom>
          <a:solidFill>
            <a:srgbClr val="C00000"/>
          </a:solidFill>
          <a:ln w="9525" cap="flat"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zh-CN" sz="2400">
              <a:latin typeface="Times New Roman" panose="02020603050405020304" pitchFamily="18" charset="0"/>
            </a:endParaRPr>
          </a:p>
        </p:txBody>
      </p:sp>
      <p:sp>
        <p:nvSpPr>
          <p:cNvPr id="58392" name="Rectangle 23"/>
          <p:cNvSpPr>
            <a:spLocks noChangeArrowheads="1"/>
          </p:cNvSpPr>
          <p:nvPr/>
        </p:nvSpPr>
        <p:spPr bwMode="auto">
          <a:xfrm>
            <a:off x="6961495" y="3338564"/>
            <a:ext cx="1130300" cy="4001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9pPr>
          </a:lstStyle>
          <a:p>
            <a:pPr eaLnBrk="1" hangingPunct="1"/>
            <a:r>
              <a:rPr lang="en-US" altLang="zh-CN" sz="2000" dirty="0">
                <a:latin typeface="Times New Roman" panose="02020603050405020304" pitchFamily="18" charset="0"/>
              </a:rPr>
              <a:t>MC=AC</a:t>
            </a:r>
            <a:endParaRPr lang="zh-CN" altLang="en-US" sz="2000" dirty="0"/>
          </a:p>
        </p:txBody>
      </p:sp>
      <p:sp>
        <p:nvSpPr>
          <p:cNvPr id="58393" name="Rectangle 24"/>
          <p:cNvSpPr>
            <a:spLocks noChangeArrowheads="1"/>
          </p:cNvSpPr>
          <p:nvPr/>
        </p:nvSpPr>
        <p:spPr bwMode="auto">
          <a:xfrm>
            <a:off x="5285095" y="4710374"/>
            <a:ext cx="736600" cy="5195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9pPr>
          </a:lstStyle>
          <a:p>
            <a:pPr eaLnBrk="1" hangingPunct="1"/>
            <a:r>
              <a:rPr lang="en-US" altLang="zh-CN" sz="2800" dirty="0">
                <a:latin typeface="Times New Roman" panose="02020603050405020304" pitchFamily="18" charset="0"/>
              </a:rPr>
              <a:t>MR</a:t>
            </a:r>
            <a:endParaRPr lang="zh-CN" altLang="en-US" dirty="0"/>
          </a:p>
        </p:txBody>
      </p:sp>
      <p:sp>
        <p:nvSpPr>
          <p:cNvPr id="58394" name="Rectangle 25"/>
          <p:cNvSpPr>
            <a:spLocks noChangeArrowheads="1"/>
          </p:cNvSpPr>
          <p:nvPr/>
        </p:nvSpPr>
        <p:spPr bwMode="auto">
          <a:xfrm>
            <a:off x="6961495" y="4710374"/>
            <a:ext cx="697865" cy="4001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9pPr>
          </a:lstStyle>
          <a:p>
            <a:pPr eaLnBrk="1" hangingPunct="1"/>
            <a:r>
              <a:rPr lang="zh-CN" altLang="en-US" sz="2000" b="0" dirty="0">
                <a:latin typeface="微软雅黑" panose="020B0503020204020204" pitchFamily="34" charset="-122"/>
                <a:ea typeface="微软雅黑" panose="020B0503020204020204" pitchFamily="34" charset="-122"/>
              </a:rPr>
              <a:t>需求</a:t>
            </a:r>
            <a:endParaRPr lang="en-US" altLang="zh-CN" sz="2000" b="0" dirty="0">
              <a:latin typeface="微软雅黑" panose="020B0503020204020204" pitchFamily="34" charset="-122"/>
              <a:ea typeface="微软雅黑" panose="020B0503020204020204" pitchFamily="34" charset="-122"/>
            </a:endParaRPr>
          </a:p>
        </p:txBody>
      </p:sp>
      <p:sp>
        <p:nvSpPr>
          <p:cNvPr id="58395" name="Oval 26"/>
          <p:cNvSpPr>
            <a:spLocks noChangeArrowheads="1"/>
          </p:cNvSpPr>
          <p:nvPr/>
        </p:nvSpPr>
        <p:spPr bwMode="auto">
          <a:xfrm>
            <a:off x="5132695" y="3186140"/>
            <a:ext cx="152400" cy="152423"/>
          </a:xfrm>
          <a:prstGeom prst="ellipse">
            <a:avLst/>
          </a:prstGeom>
          <a:solidFill>
            <a:srgbClr val="808000"/>
          </a:solidFill>
          <a:ln w="9525" cap="flat" cmpd="sng">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zh-CN" sz="2400">
              <a:latin typeface="Times New Roman" panose="02020603050405020304" pitchFamily="18" charset="0"/>
            </a:endParaRPr>
          </a:p>
        </p:txBody>
      </p:sp>
      <p:sp>
        <p:nvSpPr>
          <p:cNvPr id="58396" name="Rectangle 27"/>
          <p:cNvSpPr>
            <a:spLocks noChangeArrowheads="1"/>
          </p:cNvSpPr>
          <p:nvPr/>
        </p:nvSpPr>
        <p:spPr bwMode="auto">
          <a:xfrm>
            <a:off x="6351895" y="2147756"/>
            <a:ext cx="1905000" cy="400111"/>
          </a:xfrm>
          <a:prstGeom prst="rect">
            <a:avLst/>
          </a:prstGeom>
          <a:no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9pPr>
          </a:lstStyle>
          <a:p>
            <a:pPr eaLnBrk="1" hangingPunct="1"/>
            <a:r>
              <a:rPr lang="zh-CN" altLang="en-US" sz="2000" b="0" dirty="0">
                <a:latin typeface="微软雅黑" panose="020B0503020204020204" pitchFamily="34" charset="-122"/>
                <a:ea typeface="微软雅黑" panose="020B0503020204020204" pitchFamily="34" charset="-122"/>
              </a:rPr>
              <a:t>无谓损失</a:t>
            </a:r>
            <a:endParaRPr lang="en-US" altLang="zh-CN" sz="2000" b="0" dirty="0">
              <a:latin typeface="微软雅黑" panose="020B0503020204020204" pitchFamily="34" charset="-122"/>
              <a:ea typeface="微软雅黑" panose="020B0503020204020204" pitchFamily="34" charset="-122"/>
            </a:endParaRPr>
          </a:p>
        </p:txBody>
      </p:sp>
      <p:sp>
        <p:nvSpPr>
          <p:cNvPr id="58397" name="AutoShape 28"/>
          <p:cNvSpPr>
            <a:spLocks noChangeArrowheads="1"/>
          </p:cNvSpPr>
          <p:nvPr/>
        </p:nvSpPr>
        <p:spPr bwMode="auto">
          <a:xfrm rot="18147363">
            <a:off x="5457091" y="3013411"/>
            <a:ext cx="1163499" cy="217170"/>
          </a:xfrm>
          <a:prstGeom prst="leftArrow">
            <a:avLst>
              <a:gd name="adj1" fmla="val 50000"/>
              <a:gd name="adj2" fmla="val 155000"/>
            </a:avLst>
          </a:prstGeom>
          <a:solidFill>
            <a:srgbClr val="9DA2AD"/>
          </a:solidFill>
          <a:ln w="9525" cap="flat"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zh-CN" sz="2400">
              <a:latin typeface="Times New Roman" panose="02020603050405020304" pitchFamily="18" charset="0"/>
            </a:endParaRPr>
          </a:p>
        </p:txBody>
      </p:sp>
      <p:sp>
        <p:nvSpPr>
          <p:cNvPr id="58398" name="Rectangle 23"/>
          <p:cNvSpPr>
            <a:spLocks noChangeArrowheads="1"/>
          </p:cNvSpPr>
          <p:nvPr/>
        </p:nvSpPr>
        <p:spPr bwMode="auto">
          <a:xfrm>
            <a:off x="4688195" y="4007799"/>
            <a:ext cx="444500" cy="5233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9pPr>
          </a:lstStyle>
          <a:p>
            <a:pPr eaLnBrk="1" hangingPunct="1"/>
            <a:r>
              <a:rPr lang="en-US" altLang="zh-CN" sz="2800" dirty="0">
                <a:latin typeface="Times New Roman" panose="02020603050405020304" pitchFamily="18" charset="0"/>
              </a:rPr>
              <a:t>A</a:t>
            </a:r>
          </a:p>
        </p:txBody>
      </p:sp>
      <p:sp>
        <p:nvSpPr>
          <p:cNvPr id="58399" name="Rectangle 23"/>
          <p:cNvSpPr>
            <a:spLocks noChangeArrowheads="1"/>
          </p:cNvSpPr>
          <p:nvPr/>
        </p:nvSpPr>
        <p:spPr bwMode="auto">
          <a:xfrm>
            <a:off x="5907395" y="4019866"/>
            <a:ext cx="423545" cy="5233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9pPr>
          </a:lstStyle>
          <a:p>
            <a:pPr eaLnBrk="1" hangingPunct="1"/>
            <a:r>
              <a:rPr lang="en-US" altLang="zh-CN" sz="2800">
                <a:latin typeface="Times New Roman" panose="02020603050405020304" pitchFamily="18" charset="0"/>
              </a:rPr>
              <a:t>B</a:t>
            </a:r>
          </a:p>
        </p:txBody>
      </p:sp>
      <p:sp>
        <p:nvSpPr>
          <p:cNvPr id="58400" name="Rectangle 23"/>
          <p:cNvSpPr>
            <a:spLocks noChangeArrowheads="1"/>
          </p:cNvSpPr>
          <p:nvPr/>
        </p:nvSpPr>
        <p:spPr bwMode="auto">
          <a:xfrm>
            <a:off x="5027920" y="2719979"/>
            <a:ext cx="423545" cy="5233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Arial" panose="020B0604020202020204" pitchFamily="34" charset="0"/>
                <a:ea typeface="宋体" panose="02010600030101010101" pitchFamily="2" charset="-122"/>
              </a:defRPr>
            </a:lvl9pPr>
          </a:lstStyle>
          <a:p>
            <a:pPr eaLnBrk="1" hangingPunct="1"/>
            <a:r>
              <a:rPr lang="en-US" altLang="zh-CN" sz="2800" dirty="0">
                <a:latin typeface="Times New Roman" panose="02020603050405020304" pitchFamily="18" charset="0"/>
              </a:rPr>
              <a:t>C</a:t>
            </a:r>
          </a:p>
        </p:txBody>
      </p:sp>
      <p:sp>
        <p:nvSpPr>
          <p:cNvPr id="58401" name="Text Box 33"/>
          <p:cNvSpPr txBox="1">
            <a:spLocks noChangeArrowheads="1"/>
          </p:cNvSpPr>
          <p:nvPr/>
        </p:nvSpPr>
        <p:spPr bwMode="auto">
          <a:xfrm>
            <a:off x="784043" y="1365128"/>
            <a:ext cx="4031873" cy="540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457200" lvl="2" indent="-457200" defTabSz="0" eaLnBrk="1" hangingPunct="1">
              <a:lnSpc>
                <a:spcPct val="150000"/>
              </a:lnSpc>
              <a:spcBef>
                <a:spcPct val="20000"/>
              </a:spcBef>
              <a:buSzPct val="100000"/>
              <a:buFont typeface="Wingdings" panose="05000000000000000000" pitchFamily="2" charset="2"/>
              <a:buChar char="u"/>
            </a:pPr>
            <a:r>
              <a:rPr lang="zh-CN" altLang="en-US" sz="2200" b="0" dirty="0">
                <a:latin typeface="微软雅黑" panose="020B0503020204020204" pitchFamily="34" charset="-122"/>
                <a:ea typeface="微软雅黑" panose="020B0503020204020204" pitchFamily="34" charset="-122"/>
                <a:sym typeface="Arial" panose="020B0604020202020204" pitchFamily="34" charset="0"/>
              </a:rPr>
              <a:t>不完全竞争对效率的伤害：</a:t>
            </a:r>
          </a:p>
        </p:txBody>
      </p:sp>
      <p:sp>
        <p:nvSpPr>
          <p:cNvPr id="35" name="矩形 34"/>
          <p:cNvSpPr/>
          <p:nvPr/>
        </p:nvSpPr>
        <p:spPr>
          <a:xfrm>
            <a:off x="6372125" y="44765"/>
            <a:ext cx="2736190" cy="369332"/>
          </a:xfrm>
          <a:prstGeom prst="rect">
            <a:avLst/>
          </a:prstGeom>
        </p:spPr>
        <p:txBody>
          <a:bodyPr wrap="square">
            <a:spAutoFit/>
          </a:bodyPr>
          <a:lstStyle/>
          <a:p>
            <a:r>
              <a:rPr lang="zh-CN" altLang="en-US" sz="1800" b="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第五节  不同市场的比较</a:t>
            </a:r>
            <a:endParaRPr lang="zh-CN" altLang="en-US" sz="18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36" name="矩形 35">
            <a:extLst>
              <a:ext uri="{FF2B5EF4-FFF2-40B4-BE49-F238E27FC236}">
                <a16:creationId xmlns:a16="http://schemas.microsoft.com/office/drawing/2014/main" id="{F68E5273-CD77-47B9-B841-9D29349C133D}"/>
              </a:ext>
            </a:extLst>
          </p:cNvPr>
          <p:cNvSpPr/>
          <p:nvPr/>
        </p:nvSpPr>
        <p:spPr>
          <a:xfrm>
            <a:off x="457202" y="548681"/>
            <a:ext cx="3322744"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marL="0" lvl="1">
              <a:defRPr/>
            </a:pPr>
            <a:r>
              <a:rPr lang="zh-CN" altLang="en-US" sz="2400" spc="150" dirty="0">
                <a:solidFill>
                  <a:srgbClr val="FFFFFF"/>
                </a:solidFill>
                <a:latin typeface="微软雅黑" panose="020B0503020204020204" pitchFamily="34" charset="-122"/>
                <a:ea typeface="微软雅黑" panose="020B0503020204020204" pitchFamily="34" charset="-122"/>
              </a:rPr>
              <a:t>一</a:t>
            </a:r>
            <a:r>
              <a:rPr lang="zh-CN" altLang="en-US" sz="2400" b="1" spc="150" dirty="0">
                <a:solidFill>
                  <a:srgbClr val="FFFFFF"/>
                </a:solidFill>
                <a:latin typeface="微软雅黑" panose="020B0503020204020204" pitchFamily="34" charset="-122"/>
                <a:ea typeface="微软雅黑" panose="020B0503020204020204" pitchFamily="34" charset="-122"/>
              </a:rPr>
              <a:t>、</a:t>
            </a:r>
            <a:r>
              <a:rPr lang="zh-CN" altLang="en-US" sz="2400" spc="15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静态效率的比较</a:t>
            </a:r>
            <a:endParaRPr lang="en-US" altLang="zh-CN" sz="2400" spc="150" dirty="0">
              <a:solidFill>
                <a:srgbClr val="FFFFFF"/>
              </a:solidFill>
              <a:latin typeface="微软雅黑" panose="020B0503020204020204" pitchFamily="34" charset="-122"/>
              <a:ea typeface="微软雅黑" panose="020B0503020204020204" pitchFamily="34"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8401"/>
                                        </p:tgtEl>
                                        <p:attrNameLst>
                                          <p:attrName>style.visibility</p:attrName>
                                        </p:attrNameLst>
                                      </p:cBhvr>
                                      <p:to>
                                        <p:strVal val="visible"/>
                                      </p:to>
                                    </p:set>
                                    <p:animEffect transition="in" filter="randombar(horizontal)">
                                      <p:cBhvr>
                                        <p:cTn id="7" dur="500"/>
                                        <p:tgtEl>
                                          <p:spTgt spid="58401"/>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8388"/>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58373"/>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58386"/>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58390"/>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58380"/>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58381"/>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58391"/>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8387"/>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8372"/>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58375"/>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58374"/>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58376"/>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58378"/>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58395"/>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58400"/>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58384"/>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58377"/>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58385"/>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58379"/>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58394"/>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58399"/>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58393"/>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58398"/>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58382"/>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58383"/>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58389"/>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58392"/>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2"/>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58397"/>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583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8372" grpId="0" animBg="1"/>
      <p:bldP spid="58373" grpId="0" animBg="1"/>
      <p:bldP spid="58374" grpId="0" animBg="1"/>
      <p:bldP spid="58375" grpId="0" animBg="1"/>
      <p:bldP spid="58376" grpId="0" animBg="1"/>
      <p:bldP spid="58377" grpId="0" animBg="1"/>
      <p:bldP spid="58378" grpId="0" animBg="1"/>
      <p:bldP spid="58379" grpId="0" animBg="1"/>
      <p:bldP spid="58380" grpId="0"/>
      <p:bldP spid="58381" grpId="0"/>
      <p:bldP spid="58382" grpId="0"/>
      <p:bldP spid="58383" grpId="0"/>
      <p:bldP spid="58384" grpId="0" animBg="1"/>
      <p:bldP spid="58385" grpId="0" animBg="1"/>
      <p:bldP spid="58386" grpId="0"/>
      <p:bldP spid="58387" grpId="0"/>
      <p:bldP spid="58388" grpId="0"/>
      <p:bldP spid="58389" grpId="0"/>
      <p:bldP spid="58390" grpId="0" animBg="1"/>
      <p:bldP spid="58391" grpId="0" animBg="1"/>
      <p:bldP spid="58392" grpId="0"/>
      <p:bldP spid="58393" grpId="0"/>
      <p:bldP spid="58394" grpId="0"/>
      <p:bldP spid="58395" grpId="0" animBg="1"/>
      <p:bldP spid="58396" grpId="0"/>
      <p:bldP spid="58397" grpId="0" animBg="1"/>
      <p:bldP spid="58398" grpId="0"/>
      <p:bldP spid="58399" grpId="0"/>
      <p:bldP spid="58400" grpId="0"/>
      <p:bldP spid="58401"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任意多边形 25"/>
          <p:cNvSpPr/>
          <p:nvPr/>
        </p:nvSpPr>
        <p:spPr bwMode="auto">
          <a:xfrm>
            <a:off x="3269673" y="2973263"/>
            <a:ext cx="969818" cy="1357745"/>
          </a:xfrm>
          <a:custGeom>
            <a:avLst/>
            <a:gdLst>
              <a:gd name="connsiteX0" fmla="*/ 0 w 969818"/>
              <a:gd name="connsiteY0" fmla="*/ 0 h 1357745"/>
              <a:gd name="connsiteX1" fmla="*/ 0 w 969818"/>
              <a:gd name="connsiteY1" fmla="*/ 1357745 h 1357745"/>
              <a:gd name="connsiteX2" fmla="*/ 969818 w 969818"/>
              <a:gd name="connsiteY2" fmla="*/ 651163 h 1357745"/>
              <a:gd name="connsiteX3" fmla="*/ 0 w 969818"/>
              <a:gd name="connsiteY3" fmla="*/ 0 h 1357745"/>
            </a:gdLst>
            <a:ahLst/>
            <a:cxnLst>
              <a:cxn ang="0">
                <a:pos x="connsiteX0" y="connsiteY0"/>
              </a:cxn>
              <a:cxn ang="0">
                <a:pos x="connsiteX1" y="connsiteY1"/>
              </a:cxn>
              <a:cxn ang="0">
                <a:pos x="connsiteX2" y="connsiteY2"/>
              </a:cxn>
              <a:cxn ang="0">
                <a:pos x="connsiteX3" y="connsiteY3"/>
              </a:cxn>
            </a:cxnLst>
            <a:rect l="l" t="t" r="r" b="b"/>
            <a:pathLst>
              <a:path w="969818" h="1357745">
                <a:moveTo>
                  <a:pt x="0" y="0"/>
                </a:moveTo>
                <a:lnTo>
                  <a:pt x="0" y="1357745"/>
                </a:lnTo>
                <a:lnTo>
                  <a:pt x="969818" y="651163"/>
                </a:lnTo>
                <a:lnTo>
                  <a:pt x="0" y="0"/>
                </a:lnTo>
                <a:close/>
              </a:path>
            </a:pathLst>
          </a:custGeom>
          <a:solidFill>
            <a:srgbClr val="F3C97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cxnSp>
        <p:nvCxnSpPr>
          <p:cNvPr id="10" name="直接连接符 9"/>
          <p:cNvCxnSpPr/>
          <p:nvPr/>
        </p:nvCxnSpPr>
        <p:spPr bwMode="auto">
          <a:xfrm flipH="1">
            <a:off x="4207875" y="3652996"/>
            <a:ext cx="4102" cy="1872884"/>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9394" name="Rectangle 3"/>
          <p:cNvSpPr>
            <a:spLocks noGrp="1" noChangeArrowheads="1"/>
          </p:cNvSpPr>
          <p:nvPr>
            <p:ph type="body" idx="4294967295"/>
          </p:nvPr>
        </p:nvSpPr>
        <p:spPr>
          <a:xfrm>
            <a:off x="457200" y="1343025"/>
            <a:ext cx="8507105" cy="5218277"/>
          </a:xfrm>
          <a:ln/>
        </p:spPr>
        <p:txBody>
          <a:bodyPr/>
          <a:lstStyle/>
          <a:p>
            <a:pPr marL="0" lvl="2" indent="0" eaLnBrk="1" hangingPunct="1">
              <a:spcBef>
                <a:spcPct val="40000"/>
              </a:spcBef>
              <a:buFontTx/>
              <a:buNone/>
            </a:pPr>
            <a:endParaRPr lang="zh-CN" altLang="zh-CN" dirty="0"/>
          </a:p>
          <a:p>
            <a:pPr marL="800100" lvl="3" indent="-342900" eaLnBrk="1" hangingPunct="1">
              <a:spcBef>
                <a:spcPct val="40000"/>
              </a:spcBef>
            </a:pPr>
            <a:endParaRPr lang="zh-CN" altLang="zh-CN" sz="2400" dirty="0"/>
          </a:p>
          <a:p>
            <a:pPr marL="800100" lvl="3" indent="-342900" eaLnBrk="1" hangingPunct="1"/>
            <a:endParaRPr lang="zh-CN" altLang="zh-CN" sz="2400" dirty="0"/>
          </a:p>
          <a:p>
            <a:pPr marL="800100" lvl="3" indent="-342900" eaLnBrk="1" hangingPunct="1">
              <a:buFontTx/>
              <a:buNone/>
            </a:pPr>
            <a:endParaRPr lang="zh-CN" altLang="zh-CN" sz="1600" dirty="0"/>
          </a:p>
          <a:p>
            <a:pPr marL="800100" lvl="3" indent="-342900" eaLnBrk="1" hangingPunct="1"/>
            <a:endParaRPr lang="zh-CN" altLang="zh-CN" dirty="0"/>
          </a:p>
        </p:txBody>
      </p:sp>
      <p:sp>
        <p:nvSpPr>
          <p:cNvPr id="59397" name="Text Box 5"/>
          <p:cNvSpPr txBox="1">
            <a:spLocks noChangeArrowheads="1"/>
          </p:cNvSpPr>
          <p:nvPr/>
        </p:nvSpPr>
        <p:spPr bwMode="auto">
          <a:xfrm>
            <a:off x="684213" y="1125538"/>
            <a:ext cx="3185487" cy="540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457200" lvl="2" indent="-457200" defTabSz="0" eaLnBrk="1" hangingPunct="1">
              <a:lnSpc>
                <a:spcPct val="150000"/>
              </a:lnSpc>
              <a:spcBef>
                <a:spcPct val="20000"/>
              </a:spcBef>
              <a:buSzPct val="100000"/>
              <a:buFont typeface="Wingdings" panose="05000000000000000000" pitchFamily="2" charset="2"/>
              <a:buChar char="u"/>
            </a:pPr>
            <a:r>
              <a:rPr lang="zh-CN" altLang="en-US" sz="2200" b="0" dirty="0">
                <a:latin typeface="微软雅黑" panose="020B0503020204020204" pitchFamily="34" charset="-122"/>
                <a:ea typeface="微软雅黑" panose="020B0503020204020204" pitchFamily="34" charset="-122"/>
                <a:sym typeface="Arial" panose="020B0604020202020204" pitchFamily="34" charset="0"/>
              </a:rPr>
              <a:t>垄断下的效率损失：</a:t>
            </a:r>
          </a:p>
        </p:txBody>
      </p:sp>
      <p:sp>
        <p:nvSpPr>
          <p:cNvPr id="6" name="矩形 5"/>
          <p:cNvSpPr/>
          <p:nvPr/>
        </p:nvSpPr>
        <p:spPr>
          <a:xfrm>
            <a:off x="6372125" y="44765"/>
            <a:ext cx="2736190" cy="369332"/>
          </a:xfrm>
          <a:prstGeom prst="rect">
            <a:avLst/>
          </a:prstGeom>
        </p:spPr>
        <p:txBody>
          <a:bodyPr wrap="square">
            <a:spAutoFit/>
          </a:bodyPr>
          <a:lstStyle/>
          <a:p>
            <a:r>
              <a:rPr lang="zh-CN" altLang="en-US" sz="1800" b="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第五节  不同市场的比较</a:t>
            </a:r>
            <a:endParaRPr lang="zh-CN" altLang="en-US" sz="18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7" name="矩形 6">
            <a:extLst>
              <a:ext uri="{FF2B5EF4-FFF2-40B4-BE49-F238E27FC236}">
                <a16:creationId xmlns:a16="http://schemas.microsoft.com/office/drawing/2014/main" id="{F68E5273-CD77-47B9-B841-9D29349C133D}"/>
              </a:ext>
            </a:extLst>
          </p:cNvPr>
          <p:cNvSpPr/>
          <p:nvPr/>
        </p:nvSpPr>
        <p:spPr>
          <a:xfrm>
            <a:off x="457202" y="548681"/>
            <a:ext cx="3322744"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marL="0" lvl="1">
              <a:defRPr/>
            </a:pPr>
            <a:r>
              <a:rPr lang="zh-CN" altLang="en-US" sz="2400" spc="150" dirty="0">
                <a:solidFill>
                  <a:srgbClr val="FFFFFF"/>
                </a:solidFill>
                <a:latin typeface="微软雅黑" panose="020B0503020204020204" pitchFamily="34" charset="-122"/>
                <a:ea typeface="微软雅黑" panose="020B0503020204020204" pitchFamily="34" charset="-122"/>
              </a:rPr>
              <a:t>一</a:t>
            </a:r>
            <a:r>
              <a:rPr lang="zh-CN" altLang="en-US" sz="2400" b="1" spc="150" dirty="0">
                <a:solidFill>
                  <a:srgbClr val="FFFFFF"/>
                </a:solidFill>
                <a:latin typeface="微软雅黑" panose="020B0503020204020204" pitchFamily="34" charset="-122"/>
                <a:ea typeface="微软雅黑" panose="020B0503020204020204" pitchFamily="34" charset="-122"/>
              </a:rPr>
              <a:t>、</a:t>
            </a:r>
            <a:r>
              <a:rPr lang="zh-CN" altLang="en-US" sz="2400" spc="15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静态效率的比较</a:t>
            </a:r>
            <a:endParaRPr lang="en-US" altLang="zh-CN" sz="2400" spc="150" dirty="0">
              <a:solidFill>
                <a:srgbClr val="FFFFFF"/>
              </a:solidFill>
              <a:latin typeface="微软雅黑" panose="020B0503020204020204" pitchFamily="34" charset="-122"/>
              <a:ea typeface="微软雅黑" panose="020B0503020204020204" pitchFamily="34" charset="-122"/>
            </a:endParaRPr>
          </a:p>
        </p:txBody>
      </p:sp>
      <p:cxnSp>
        <p:nvCxnSpPr>
          <p:cNvPr id="3" name="直接连接符 2"/>
          <p:cNvCxnSpPr/>
          <p:nvPr/>
        </p:nvCxnSpPr>
        <p:spPr bwMode="auto">
          <a:xfrm flipV="1">
            <a:off x="1947011" y="5531414"/>
            <a:ext cx="6051463" cy="6193"/>
          </a:xfrm>
          <a:prstGeom prst="line">
            <a:avLst/>
          </a:prstGeom>
          <a:solidFill>
            <a:schemeClr val="accent1"/>
          </a:solidFill>
          <a:ln w="158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 name="直接连接符 4"/>
          <p:cNvCxnSpPr/>
          <p:nvPr/>
        </p:nvCxnSpPr>
        <p:spPr bwMode="auto">
          <a:xfrm flipH="1" flipV="1">
            <a:off x="1907815" y="1772885"/>
            <a:ext cx="39196" cy="3752995"/>
          </a:xfrm>
          <a:prstGeom prst="line">
            <a:avLst/>
          </a:prstGeom>
          <a:solidFill>
            <a:schemeClr val="accent1"/>
          </a:solidFill>
          <a:ln w="158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直接连接符 12"/>
          <p:cNvCxnSpPr/>
          <p:nvPr/>
        </p:nvCxnSpPr>
        <p:spPr bwMode="auto">
          <a:xfrm>
            <a:off x="1907813" y="2996970"/>
            <a:ext cx="1368097" cy="0"/>
          </a:xfrm>
          <a:prstGeom prst="line">
            <a:avLst/>
          </a:prstGeom>
          <a:ln w="19050" cap="rnd"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5" name="直接连接符 14"/>
          <p:cNvCxnSpPr>
            <a:stCxn id="35" idx="0"/>
          </p:cNvCxnSpPr>
          <p:nvPr/>
        </p:nvCxnSpPr>
        <p:spPr bwMode="auto">
          <a:xfrm>
            <a:off x="3257517" y="2924965"/>
            <a:ext cx="26706" cy="2631488"/>
          </a:xfrm>
          <a:prstGeom prst="line">
            <a:avLst/>
          </a:prstGeom>
          <a:ln w="19050" cap="rnd"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0" name="直接连接符 19"/>
          <p:cNvCxnSpPr/>
          <p:nvPr/>
        </p:nvCxnSpPr>
        <p:spPr bwMode="auto">
          <a:xfrm>
            <a:off x="1907814" y="2060905"/>
            <a:ext cx="4752331" cy="3240225"/>
          </a:xfrm>
          <a:prstGeom prst="line">
            <a:avLst/>
          </a:prstGeom>
          <a:ln w="38100">
            <a:solidFill>
              <a:srgbClr val="9DA2AD"/>
            </a:solidFill>
            <a:headEnd type="none" w="med" len="med"/>
            <a:tailEnd type="none" w="med" len="med"/>
          </a:ln>
          <a:effectLst/>
        </p:spPr>
        <p:style>
          <a:lnRef idx="2">
            <a:schemeClr val="accent2"/>
          </a:lnRef>
          <a:fillRef idx="0">
            <a:schemeClr val="accent2"/>
          </a:fillRef>
          <a:effectRef idx="1">
            <a:schemeClr val="accent2"/>
          </a:effectRef>
          <a:fontRef idx="minor">
            <a:schemeClr val="tx1"/>
          </a:fontRef>
        </p:style>
      </p:cxnSp>
      <p:cxnSp>
        <p:nvCxnSpPr>
          <p:cNvPr id="22" name="直接连接符 21"/>
          <p:cNvCxnSpPr/>
          <p:nvPr/>
        </p:nvCxnSpPr>
        <p:spPr bwMode="auto">
          <a:xfrm>
            <a:off x="1907813" y="2060904"/>
            <a:ext cx="1678943" cy="2748186"/>
          </a:xfrm>
          <a:prstGeom prst="line">
            <a:avLst/>
          </a:prstGeom>
          <a:solidFill>
            <a:schemeClr val="accent1"/>
          </a:solidFill>
          <a:ln w="38100" cap="flat" cmpd="sng" algn="ctr">
            <a:solidFill>
              <a:srgbClr val="C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直接连接符 23"/>
          <p:cNvCxnSpPr/>
          <p:nvPr/>
        </p:nvCxnSpPr>
        <p:spPr bwMode="auto">
          <a:xfrm flipV="1">
            <a:off x="2591862" y="2060903"/>
            <a:ext cx="3780263" cy="2727907"/>
          </a:xfrm>
          <a:prstGeom prst="line">
            <a:avLst/>
          </a:prstGeom>
          <a:solidFill>
            <a:schemeClr val="accent1"/>
          </a:solidFill>
          <a:ln w="38100" cap="flat" cmpd="sng" algn="ctr">
            <a:solidFill>
              <a:srgbClr val="C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9" name="椭圆 48"/>
          <p:cNvSpPr/>
          <p:nvPr/>
        </p:nvSpPr>
        <p:spPr bwMode="auto">
          <a:xfrm>
            <a:off x="3212981" y="4242971"/>
            <a:ext cx="107224" cy="122094"/>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宋体" pitchFamily="2" charset="-122"/>
            </a:endParaRPr>
          </a:p>
        </p:txBody>
      </p:sp>
      <p:sp>
        <p:nvSpPr>
          <p:cNvPr id="50" name="椭圆 49"/>
          <p:cNvSpPr/>
          <p:nvPr/>
        </p:nvSpPr>
        <p:spPr bwMode="auto">
          <a:xfrm>
            <a:off x="4144666" y="3554198"/>
            <a:ext cx="113127" cy="106386"/>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宋体" pitchFamily="2" charset="-122"/>
            </a:endParaRPr>
          </a:p>
        </p:txBody>
      </p:sp>
      <p:sp>
        <p:nvSpPr>
          <p:cNvPr id="2" name="文本框 1"/>
          <p:cNvSpPr txBox="1"/>
          <p:nvPr/>
        </p:nvSpPr>
        <p:spPr>
          <a:xfrm>
            <a:off x="1154317" y="1921933"/>
            <a:ext cx="686406" cy="338554"/>
          </a:xfrm>
          <a:prstGeom prst="rect">
            <a:avLst/>
          </a:prstGeom>
          <a:noFill/>
        </p:spPr>
        <p:txBody>
          <a:bodyPr wrap="none" rtlCol="0">
            <a:spAutoFit/>
          </a:bodyPr>
          <a:lstStyle/>
          <a:p>
            <a:r>
              <a:rPr lang="en-US" altLang="zh-CN" dirty="0"/>
              <a:t>Price</a:t>
            </a:r>
            <a:endParaRPr lang="zh-CN" altLang="en-US" dirty="0"/>
          </a:p>
        </p:txBody>
      </p:sp>
      <p:sp>
        <p:nvSpPr>
          <p:cNvPr id="4" name="文本框 3"/>
          <p:cNvSpPr txBox="1"/>
          <p:nvPr/>
        </p:nvSpPr>
        <p:spPr>
          <a:xfrm>
            <a:off x="763080" y="2636928"/>
            <a:ext cx="1072730" cy="584775"/>
          </a:xfrm>
          <a:prstGeom prst="rect">
            <a:avLst/>
          </a:prstGeom>
          <a:noFill/>
        </p:spPr>
        <p:txBody>
          <a:bodyPr wrap="none" rtlCol="0">
            <a:spAutoFit/>
          </a:bodyPr>
          <a:lstStyle/>
          <a:p>
            <a:pPr algn="r"/>
            <a:r>
              <a:rPr lang="en-US" altLang="zh-CN" b="0" dirty="0"/>
              <a:t>Monopoly</a:t>
            </a:r>
          </a:p>
          <a:p>
            <a:pPr algn="r"/>
            <a:r>
              <a:rPr lang="en-US" altLang="zh-CN" b="0" dirty="0"/>
              <a:t>price</a:t>
            </a:r>
            <a:endParaRPr lang="zh-CN" altLang="en-US" b="0" dirty="0"/>
          </a:p>
        </p:txBody>
      </p:sp>
      <p:sp>
        <p:nvSpPr>
          <p:cNvPr id="8" name="文本框 7"/>
          <p:cNvSpPr txBox="1"/>
          <p:nvPr/>
        </p:nvSpPr>
        <p:spPr>
          <a:xfrm>
            <a:off x="3243310" y="4888596"/>
            <a:ext cx="970137" cy="584775"/>
          </a:xfrm>
          <a:prstGeom prst="rect">
            <a:avLst/>
          </a:prstGeom>
          <a:noFill/>
        </p:spPr>
        <p:txBody>
          <a:bodyPr wrap="none" rtlCol="0">
            <a:spAutoFit/>
          </a:bodyPr>
          <a:lstStyle/>
          <a:p>
            <a:r>
              <a:rPr lang="en-US" altLang="zh-CN" b="0" dirty="0"/>
              <a:t>Marginal</a:t>
            </a:r>
          </a:p>
          <a:p>
            <a:r>
              <a:rPr lang="en-US" altLang="zh-CN" b="0" dirty="0"/>
              <a:t>revenue</a:t>
            </a:r>
            <a:endParaRPr lang="zh-CN" altLang="en-US" b="0" dirty="0"/>
          </a:p>
        </p:txBody>
      </p:sp>
      <p:sp>
        <p:nvSpPr>
          <p:cNvPr id="16" name="文本框 15"/>
          <p:cNvSpPr txBox="1"/>
          <p:nvPr/>
        </p:nvSpPr>
        <p:spPr>
          <a:xfrm>
            <a:off x="6660145" y="5187482"/>
            <a:ext cx="1008070" cy="338554"/>
          </a:xfrm>
          <a:prstGeom prst="rect">
            <a:avLst/>
          </a:prstGeom>
          <a:noFill/>
        </p:spPr>
        <p:txBody>
          <a:bodyPr wrap="square" rtlCol="0">
            <a:spAutoFit/>
          </a:bodyPr>
          <a:lstStyle/>
          <a:p>
            <a:r>
              <a:rPr lang="en-US" altLang="zh-CN" b="0" dirty="0"/>
              <a:t>Demand</a:t>
            </a:r>
            <a:endParaRPr lang="zh-CN" altLang="en-US" b="0" dirty="0"/>
          </a:p>
        </p:txBody>
      </p:sp>
      <p:sp>
        <p:nvSpPr>
          <p:cNvPr id="17" name="文本框 16"/>
          <p:cNvSpPr txBox="1"/>
          <p:nvPr/>
        </p:nvSpPr>
        <p:spPr>
          <a:xfrm>
            <a:off x="6418642" y="1772885"/>
            <a:ext cx="1512106" cy="338554"/>
          </a:xfrm>
          <a:prstGeom prst="rect">
            <a:avLst/>
          </a:prstGeom>
          <a:noFill/>
        </p:spPr>
        <p:txBody>
          <a:bodyPr wrap="square" rtlCol="0">
            <a:spAutoFit/>
          </a:bodyPr>
          <a:lstStyle/>
          <a:p>
            <a:r>
              <a:rPr lang="en-US" altLang="zh-CN" b="0" dirty="0"/>
              <a:t>Marginal cost</a:t>
            </a:r>
            <a:endParaRPr lang="zh-CN" altLang="en-US" b="0" dirty="0"/>
          </a:p>
        </p:txBody>
      </p:sp>
      <p:cxnSp>
        <p:nvCxnSpPr>
          <p:cNvPr id="19" name="直接连接符 18"/>
          <p:cNvCxnSpPr/>
          <p:nvPr/>
        </p:nvCxnSpPr>
        <p:spPr bwMode="auto">
          <a:xfrm flipH="1">
            <a:off x="3605058" y="2749500"/>
            <a:ext cx="263150" cy="90349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 name="文本框 22"/>
          <p:cNvSpPr txBox="1"/>
          <p:nvPr/>
        </p:nvSpPr>
        <p:spPr>
          <a:xfrm>
            <a:off x="3243310" y="2142611"/>
            <a:ext cx="1389919" cy="584775"/>
          </a:xfrm>
          <a:prstGeom prst="rect">
            <a:avLst/>
          </a:prstGeom>
          <a:noFill/>
        </p:spPr>
        <p:txBody>
          <a:bodyPr wrap="square" rtlCol="0">
            <a:spAutoFit/>
          </a:bodyPr>
          <a:lstStyle/>
          <a:p>
            <a:pPr algn="ctr"/>
            <a:r>
              <a:rPr lang="en-US" altLang="zh-CN" b="0" dirty="0"/>
              <a:t>Deadweight</a:t>
            </a:r>
          </a:p>
          <a:p>
            <a:pPr algn="ctr"/>
            <a:r>
              <a:rPr lang="en-US" altLang="zh-CN" b="0" dirty="0"/>
              <a:t>loss</a:t>
            </a:r>
            <a:endParaRPr lang="zh-CN" altLang="en-US" b="0" dirty="0"/>
          </a:p>
        </p:txBody>
      </p:sp>
      <p:sp>
        <p:nvSpPr>
          <p:cNvPr id="35" name="椭圆 34"/>
          <p:cNvSpPr/>
          <p:nvPr/>
        </p:nvSpPr>
        <p:spPr bwMode="auto">
          <a:xfrm>
            <a:off x="3203905" y="2924965"/>
            <a:ext cx="107224" cy="122094"/>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宋体" pitchFamily="2" charset="-122"/>
            </a:endParaRPr>
          </a:p>
        </p:txBody>
      </p:sp>
      <p:sp>
        <p:nvSpPr>
          <p:cNvPr id="59410" name="文本框 59409"/>
          <p:cNvSpPr txBox="1"/>
          <p:nvPr/>
        </p:nvSpPr>
        <p:spPr>
          <a:xfrm>
            <a:off x="1648531" y="5589150"/>
            <a:ext cx="298480" cy="338554"/>
          </a:xfrm>
          <a:prstGeom prst="rect">
            <a:avLst/>
          </a:prstGeom>
          <a:noFill/>
        </p:spPr>
        <p:txBody>
          <a:bodyPr wrap="none" rtlCol="0">
            <a:spAutoFit/>
          </a:bodyPr>
          <a:lstStyle/>
          <a:p>
            <a:r>
              <a:rPr lang="en-US" altLang="zh-CN" dirty="0"/>
              <a:t>0</a:t>
            </a:r>
            <a:endParaRPr lang="zh-CN" altLang="en-US" dirty="0"/>
          </a:p>
        </p:txBody>
      </p:sp>
      <p:sp>
        <p:nvSpPr>
          <p:cNvPr id="59411" name="文本框 59410"/>
          <p:cNvSpPr txBox="1"/>
          <p:nvPr/>
        </p:nvSpPr>
        <p:spPr>
          <a:xfrm>
            <a:off x="2718689" y="5604751"/>
            <a:ext cx="1072730" cy="584775"/>
          </a:xfrm>
          <a:prstGeom prst="rect">
            <a:avLst/>
          </a:prstGeom>
          <a:noFill/>
        </p:spPr>
        <p:txBody>
          <a:bodyPr wrap="none" rtlCol="0">
            <a:spAutoFit/>
          </a:bodyPr>
          <a:lstStyle/>
          <a:p>
            <a:pPr algn="ctr"/>
            <a:r>
              <a:rPr lang="en-US" altLang="zh-CN" b="0" dirty="0"/>
              <a:t>Monopoly</a:t>
            </a:r>
          </a:p>
          <a:p>
            <a:pPr algn="ctr"/>
            <a:r>
              <a:rPr lang="en-US" altLang="zh-CN" b="0" dirty="0"/>
              <a:t>quantity</a:t>
            </a:r>
            <a:endParaRPr lang="zh-CN" altLang="en-US" b="0" dirty="0"/>
          </a:p>
        </p:txBody>
      </p:sp>
      <p:sp>
        <p:nvSpPr>
          <p:cNvPr id="59412" name="文本框 59411"/>
          <p:cNvSpPr txBox="1"/>
          <p:nvPr/>
        </p:nvSpPr>
        <p:spPr>
          <a:xfrm>
            <a:off x="3868208" y="5582516"/>
            <a:ext cx="910313" cy="584775"/>
          </a:xfrm>
          <a:prstGeom prst="rect">
            <a:avLst/>
          </a:prstGeom>
          <a:noFill/>
        </p:spPr>
        <p:txBody>
          <a:bodyPr wrap="none" rtlCol="0">
            <a:spAutoFit/>
          </a:bodyPr>
          <a:lstStyle/>
          <a:p>
            <a:pPr algn="ctr"/>
            <a:r>
              <a:rPr lang="en-US" altLang="zh-CN" b="0" dirty="0"/>
              <a:t>Efficient</a:t>
            </a:r>
          </a:p>
          <a:p>
            <a:pPr algn="ctr"/>
            <a:r>
              <a:rPr lang="en-US" altLang="zh-CN" b="0" dirty="0"/>
              <a:t>quantity</a:t>
            </a:r>
            <a:endParaRPr lang="zh-CN" altLang="en-US" b="0" dirty="0"/>
          </a:p>
        </p:txBody>
      </p:sp>
      <p:sp>
        <p:nvSpPr>
          <p:cNvPr id="59413" name="文本框 59412"/>
          <p:cNvSpPr txBox="1"/>
          <p:nvPr/>
        </p:nvSpPr>
        <p:spPr>
          <a:xfrm>
            <a:off x="7421634" y="5693703"/>
            <a:ext cx="1018227" cy="338554"/>
          </a:xfrm>
          <a:prstGeom prst="rect">
            <a:avLst/>
          </a:prstGeom>
          <a:noFill/>
        </p:spPr>
        <p:txBody>
          <a:bodyPr wrap="none" rtlCol="0">
            <a:spAutoFit/>
          </a:bodyPr>
          <a:lstStyle/>
          <a:p>
            <a:r>
              <a:rPr lang="en-US" altLang="zh-CN" dirty="0"/>
              <a:t>Quantity</a:t>
            </a:r>
            <a:endParaRPr lang="zh-CN" altLang="en-US"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9397"/>
                                        </p:tgtEl>
                                        <p:attrNameLst>
                                          <p:attrName>style.visibility</p:attrName>
                                        </p:attrNameLst>
                                      </p:cBhvr>
                                      <p:to>
                                        <p:strVal val="visible"/>
                                      </p:to>
                                    </p:set>
                                    <p:animEffect transition="in" filter="randombar(horizontal)">
                                      <p:cBhvr>
                                        <p:cTn id="7" dur="500"/>
                                        <p:tgtEl>
                                          <p:spTgt spid="59397"/>
                                        </p:tgtEl>
                                      </p:cBhvr>
                                    </p:animEffect>
                                  </p:childTnLst>
                                </p:cTn>
                              </p:par>
                              <p:par>
                                <p:cTn id="8" presetID="42"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1000"/>
                                        <p:tgtEl>
                                          <p:spTgt spid="5"/>
                                        </p:tgtEl>
                                      </p:cBhvr>
                                    </p:animEffect>
                                    <p:anim calcmode="lin" valueType="num">
                                      <p:cBhvr>
                                        <p:cTn id="11" dur="1000" fill="hold"/>
                                        <p:tgtEl>
                                          <p:spTgt spid="5"/>
                                        </p:tgtEl>
                                        <p:attrNameLst>
                                          <p:attrName>ppt_x</p:attrName>
                                        </p:attrNameLst>
                                      </p:cBhvr>
                                      <p:tavLst>
                                        <p:tav tm="0">
                                          <p:val>
                                            <p:strVal val="#ppt_x"/>
                                          </p:val>
                                        </p:tav>
                                        <p:tav tm="100000">
                                          <p:val>
                                            <p:strVal val="#ppt_x"/>
                                          </p:val>
                                        </p:tav>
                                      </p:tavLst>
                                    </p:anim>
                                    <p:anim calcmode="lin" valueType="num">
                                      <p:cBhvr>
                                        <p:cTn id="12" dur="1000" fill="hold"/>
                                        <p:tgtEl>
                                          <p:spTgt spid="5"/>
                                        </p:tgtEl>
                                        <p:attrNameLst>
                                          <p:attrName>ppt_y</p:attrName>
                                        </p:attrNameLst>
                                      </p:cBhvr>
                                      <p:tavLst>
                                        <p:tav tm="0">
                                          <p:val>
                                            <p:strVal val="#ppt_y+.1"/>
                                          </p:val>
                                        </p:tav>
                                        <p:tav tm="100000">
                                          <p:val>
                                            <p:strVal val="#ppt_y"/>
                                          </p:val>
                                        </p:tav>
                                      </p:tavLst>
                                    </p:anim>
                                  </p:childTnLst>
                                </p:cTn>
                              </p:par>
                              <p:par>
                                <p:cTn id="13" presetID="42" presetClass="entr" presetSubtype="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1000"/>
                                        <p:tgtEl>
                                          <p:spTgt spid="3"/>
                                        </p:tgtEl>
                                      </p:cBhvr>
                                    </p:animEffect>
                                    <p:anim calcmode="lin" valueType="num">
                                      <p:cBhvr>
                                        <p:cTn id="16" dur="1000" fill="hold"/>
                                        <p:tgtEl>
                                          <p:spTgt spid="3"/>
                                        </p:tgtEl>
                                        <p:attrNameLst>
                                          <p:attrName>ppt_x</p:attrName>
                                        </p:attrNameLst>
                                      </p:cBhvr>
                                      <p:tavLst>
                                        <p:tav tm="0">
                                          <p:val>
                                            <p:strVal val="#ppt_x"/>
                                          </p:val>
                                        </p:tav>
                                        <p:tav tm="100000">
                                          <p:val>
                                            <p:strVal val="#ppt_x"/>
                                          </p:val>
                                        </p:tav>
                                      </p:tavLst>
                                    </p:anim>
                                    <p:anim calcmode="lin" valueType="num">
                                      <p:cBhvr>
                                        <p:cTn id="17"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59410"/>
                                        </p:tgtEl>
                                        <p:attrNameLst>
                                          <p:attrName>style.visibility</p:attrName>
                                        </p:attrNameLst>
                                      </p:cBhvr>
                                      <p:to>
                                        <p:strVal val="visible"/>
                                      </p:to>
                                    </p:set>
                                    <p:anim calcmode="lin" valueType="num">
                                      <p:cBhvr additive="base">
                                        <p:cTn id="22" dur="500" fill="hold"/>
                                        <p:tgtEl>
                                          <p:spTgt spid="59410"/>
                                        </p:tgtEl>
                                        <p:attrNameLst>
                                          <p:attrName>ppt_x</p:attrName>
                                        </p:attrNameLst>
                                      </p:cBhvr>
                                      <p:tavLst>
                                        <p:tav tm="0">
                                          <p:val>
                                            <p:strVal val="#ppt_x"/>
                                          </p:val>
                                        </p:tav>
                                        <p:tav tm="100000">
                                          <p:val>
                                            <p:strVal val="#ppt_x"/>
                                          </p:val>
                                        </p:tav>
                                      </p:tavLst>
                                    </p:anim>
                                    <p:anim calcmode="lin" valueType="num">
                                      <p:cBhvr additive="base">
                                        <p:cTn id="23" dur="500" fill="hold"/>
                                        <p:tgtEl>
                                          <p:spTgt spid="59410"/>
                                        </p:tgtEl>
                                        <p:attrNameLst>
                                          <p:attrName>ppt_y</p:attrName>
                                        </p:attrNameLst>
                                      </p:cBhvr>
                                      <p:tavLst>
                                        <p:tav tm="0">
                                          <p:val>
                                            <p:strVal val="1+#ppt_h/2"/>
                                          </p:val>
                                        </p:tav>
                                        <p:tav tm="100000">
                                          <p:val>
                                            <p:strVal val="#ppt_y"/>
                                          </p:val>
                                        </p:tav>
                                      </p:tavLst>
                                    </p:anim>
                                  </p:childTnLst>
                                </p:cTn>
                              </p:par>
                              <p:par>
                                <p:cTn id="24" presetID="2" presetClass="entr" presetSubtype="4" fill="hold" grpId="0" nodeType="withEffect">
                                  <p:stCondLst>
                                    <p:cond delay="0"/>
                                  </p:stCondLst>
                                  <p:childTnLst>
                                    <p:set>
                                      <p:cBhvr>
                                        <p:cTn id="25" dur="1" fill="hold">
                                          <p:stCondLst>
                                            <p:cond delay="0"/>
                                          </p:stCondLst>
                                        </p:cTn>
                                        <p:tgtEl>
                                          <p:spTgt spid="2"/>
                                        </p:tgtEl>
                                        <p:attrNameLst>
                                          <p:attrName>style.visibility</p:attrName>
                                        </p:attrNameLst>
                                      </p:cBhvr>
                                      <p:to>
                                        <p:strVal val="visible"/>
                                      </p:to>
                                    </p:set>
                                    <p:anim calcmode="lin" valueType="num">
                                      <p:cBhvr additive="base">
                                        <p:cTn id="26" dur="500" fill="hold"/>
                                        <p:tgtEl>
                                          <p:spTgt spid="2"/>
                                        </p:tgtEl>
                                        <p:attrNameLst>
                                          <p:attrName>ppt_x</p:attrName>
                                        </p:attrNameLst>
                                      </p:cBhvr>
                                      <p:tavLst>
                                        <p:tav tm="0">
                                          <p:val>
                                            <p:strVal val="#ppt_x"/>
                                          </p:val>
                                        </p:tav>
                                        <p:tav tm="100000">
                                          <p:val>
                                            <p:strVal val="#ppt_x"/>
                                          </p:val>
                                        </p:tav>
                                      </p:tavLst>
                                    </p:anim>
                                    <p:anim calcmode="lin" valueType="num">
                                      <p:cBhvr additive="base">
                                        <p:cTn id="27" dur="500" fill="hold"/>
                                        <p:tgtEl>
                                          <p:spTgt spid="2"/>
                                        </p:tgtEl>
                                        <p:attrNameLst>
                                          <p:attrName>ppt_y</p:attrName>
                                        </p:attrNameLst>
                                      </p:cBhvr>
                                      <p:tavLst>
                                        <p:tav tm="0">
                                          <p:val>
                                            <p:strVal val="1+#ppt_h/2"/>
                                          </p:val>
                                        </p:tav>
                                        <p:tav tm="100000">
                                          <p:val>
                                            <p:strVal val="#ppt_y"/>
                                          </p:val>
                                        </p:tav>
                                      </p:tavLst>
                                    </p:anim>
                                  </p:childTnLst>
                                </p:cTn>
                              </p:par>
                              <p:par>
                                <p:cTn id="28" presetID="2" presetClass="entr" presetSubtype="4" fill="hold" grpId="0" nodeType="withEffect">
                                  <p:stCondLst>
                                    <p:cond delay="0"/>
                                  </p:stCondLst>
                                  <p:childTnLst>
                                    <p:set>
                                      <p:cBhvr>
                                        <p:cTn id="29" dur="1" fill="hold">
                                          <p:stCondLst>
                                            <p:cond delay="0"/>
                                          </p:stCondLst>
                                        </p:cTn>
                                        <p:tgtEl>
                                          <p:spTgt spid="59413"/>
                                        </p:tgtEl>
                                        <p:attrNameLst>
                                          <p:attrName>style.visibility</p:attrName>
                                        </p:attrNameLst>
                                      </p:cBhvr>
                                      <p:to>
                                        <p:strVal val="visible"/>
                                      </p:to>
                                    </p:set>
                                    <p:anim calcmode="lin" valueType="num">
                                      <p:cBhvr additive="base">
                                        <p:cTn id="30" dur="500" fill="hold"/>
                                        <p:tgtEl>
                                          <p:spTgt spid="59413"/>
                                        </p:tgtEl>
                                        <p:attrNameLst>
                                          <p:attrName>ppt_x</p:attrName>
                                        </p:attrNameLst>
                                      </p:cBhvr>
                                      <p:tavLst>
                                        <p:tav tm="0">
                                          <p:val>
                                            <p:strVal val="#ppt_x"/>
                                          </p:val>
                                        </p:tav>
                                        <p:tav tm="100000">
                                          <p:val>
                                            <p:strVal val="#ppt_x"/>
                                          </p:val>
                                        </p:tav>
                                      </p:tavLst>
                                    </p:anim>
                                    <p:anim calcmode="lin" valueType="num">
                                      <p:cBhvr additive="base">
                                        <p:cTn id="31" dur="500" fill="hold"/>
                                        <p:tgtEl>
                                          <p:spTgt spid="59413"/>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22"/>
                                        </p:tgtEl>
                                        <p:attrNameLst>
                                          <p:attrName>style.visibility</p:attrName>
                                        </p:attrNameLst>
                                      </p:cBhvr>
                                      <p:to>
                                        <p:strVal val="visible"/>
                                      </p:to>
                                    </p:set>
                                    <p:anim calcmode="lin" valueType="num">
                                      <p:cBhvr additive="base">
                                        <p:cTn id="36" dur="500" fill="hold"/>
                                        <p:tgtEl>
                                          <p:spTgt spid="22"/>
                                        </p:tgtEl>
                                        <p:attrNameLst>
                                          <p:attrName>ppt_x</p:attrName>
                                        </p:attrNameLst>
                                      </p:cBhvr>
                                      <p:tavLst>
                                        <p:tav tm="0">
                                          <p:val>
                                            <p:strVal val="#ppt_x"/>
                                          </p:val>
                                        </p:tav>
                                        <p:tav tm="100000">
                                          <p:val>
                                            <p:strVal val="#ppt_x"/>
                                          </p:val>
                                        </p:tav>
                                      </p:tavLst>
                                    </p:anim>
                                    <p:anim calcmode="lin" valueType="num">
                                      <p:cBhvr additive="base">
                                        <p:cTn id="37" dur="500" fill="hold"/>
                                        <p:tgtEl>
                                          <p:spTgt spid="22"/>
                                        </p:tgtEl>
                                        <p:attrNameLst>
                                          <p:attrName>ppt_y</p:attrName>
                                        </p:attrNameLst>
                                      </p:cBhvr>
                                      <p:tavLst>
                                        <p:tav tm="0">
                                          <p:val>
                                            <p:strVal val="1+#ppt_h/2"/>
                                          </p:val>
                                        </p:tav>
                                        <p:tav tm="100000">
                                          <p:val>
                                            <p:strVal val="#ppt_y"/>
                                          </p:val>
                                        </p:tav>
                                      </p:tavLst>
                                    </p:anim>
                                  </p:childTnLst>
                                </p:cTn>
                              </p:par>
                              <p:par>
                                <p:cTn id="38" presetID="2" presetClass="entr" presetSubtype="4" fill="hold" grpId="0" nodeType="withEffect">
                                  <p:stCondLst>
                                    <p:cond delay="0"/>
                                  </p:stCondLst>
                                  <p:childTnLst>
                                    <p:set>
                                      <p:cBhvr>
                                        <p:cTn id="39" dur="1" fill="hold">
                                          <p:stCondLst>
                                            <p:cond delay="0"/>
                                          </p:stCondLst>
                                        </p:cTn>
                                        <p:tgtEl>
                                          <p:spTgt spid="8"/>
                                        </p:tgtEl>
                                        <p:attrNameLst>
                                          <p:attrName>style.visibility</p:attrName>
                                        </p:attrNameLst>
                                      </p:cBhvr>
                                      <p:to>
                                        <p:strVal val="visible"/>
                                      </p:to>
                                    </p:set>
                                    <p:anim calcmode="lin" valueType="num">
                                      <p:cBhvr additive="base">
                                        <p:cTn id="40" dur="500" fill="hold"/>
                                        <p:tgtEl>
                                          <p:spTgt spid="8"/>
                                        </p:tgtEl>
                                        <p:attrNameLst>
                                          <p:attrName>ppt_x</p:attrName>
                                        </p:attrNameLst>
                                      </p:cBhvr>
                                      <p:tavLst>
                                        <p:tav tm="0">
                                          <p:val>
                                            <p:strVal val="#ppt_x"/>
                                          </p:val>
                                        </p:tav>
                                        <p:tav tm="100000">
                                          <p:val>
                                            <p:strVal val="#ppt_x"/>
                                          </p:val>
                                        </p:tav>
                                      </p:tavLst>
                                    </p:anim>
                                    <p:anim calcmode="lin" valueType="num">
                                      <p:cBhvr additive="base">
                                        <p:cTn id="41"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nodeType="clickEffect">
                                  <p:stCondLst>
                                    <p:cond delay="0"/>
                                  </p:stCondLst>
                                  <p:childTnLst>
                                    <p:set>
                                      <p:cBhvr>
                                        <p:cTn id="45" dur="1" fill="hold">
                                          <p:stCondLst>
                                            <p:cond delay="0"/>
                                          </p:stCondLst>
                                        </p:cTn>
                                        <p:tgtEl>
                                          <p:spTgt spid="20"/>
                                        </p:tgtEl>
                                        <p:attrNameLst>
                                          <p:attrName>style.visibility</p:attrName>
                                        </p:attrNameLst>
                                      </p:cBhvr>
                                      <p:to>
                                        <p:strVal val="visible"/>
                                      </p:to>
                                    </p:set>
                                    <p:anim calcmode="lin" valueType="num">
                                      <p:cBhvr additive="base">
                                        <p:cTn id="46" dur="500" fill="hold"/>
                                        <p:tgtEl>
                                          <p:spTgt spid="20"/>
                                        </p:tgtEl>
                                        <p:attrNameLst>
                                          <p:attrName>ppt_x</p:attrName>
                                        </p:attrNameLst>
                                      </p:cBhvr>
                                      <p:tavLst>
                                        <p:tav tm="0">
                                          <p:val>
                                            <p:strVal val="#ppt_x"/>
                                          </p:val>
                                        </p:tav>
                                        <p:tav tm="100000">
                                          <p:val>
                                            <p:strVal val="#ppt_x"/>
                                          </p:val>
                                        </p:tav>
                                      </p:tavLst>
                                    </p:anim>
                                    <p:anim calcmode="lin" valueType="num">
                                      <p:cBhvr additive="base">
                                        <p:cTn id="47" dur="500" fill="hold"/>
                                        <p:tgtEl>
                                          <p:spTgt spid="20"/>
                                        </p:tgtEl>
                                        <p:attrNameLst>
                                          <p:attrName>ppt_y</p:attrName>
                                        </p:attrNameLst>
                                      </p:cBhvr>
                                      <p:tavLst>
                                        <p:tav tm="0">
                                          <p:val>
                                            <p:strVal val="1+#ppt_h/2"/>
                                          </p:val>
                                        </p:tav>
                                        <p:tav tm="100000">
                                          <p:val>
                                            <p:strVal val="#ppt_y"/>
                                          </p:val>
                                        </p:tav>
                                      </p:tavLst>
                                    </p:anim>
                                  </p:childTnLst>
                                </p:cTn>
                              </p:par>
                              <p:par>
                                <p:cTn id="48" presetID="2" presetClass="entr" presetSubtype="4" fill="hold" grpId="0" nodeType="withEffect">
                                  <p:stCondLst>
                                    <p:cond delay="0"/>
                                  </p:stCondLst>
                                  <p:childTnLst>
                                    <p:set>
                                      <p:cBhvr>
                                        <p:cTn id="49" dur="1" fill="hold">
                                          <p:stCondLst>
                                            <p:cond delay="0"/>
                                          </p:stCondLst>
                                        </p:cTn>
                                        <p:tgtEl>
                                          <p:spTgt spid="16"/>
                                        </p:tgtEl>
                                        <p:attrNameLst>
                                          <p:attrName>style.visibility</p:attrName>
                                        </p:attrNameLst>
                                      </p:cBhvr>
                                      <p:to>
                                        <p:strVal val="visible"/>
                                      </p:to>
                                    </p:set>
                                    <p:anim calcmode="lin" valueType="num">
                                      <p:cBhvr additive="base">
                                        <p:cTn id="50" dur="500" fill="hold"/>
                                        <p:tgtEl>
                                          <p:spTgt spid="16"/>
                                        </p:tgtEl>
                                        <p:attrNameLst>
                                          <p:attrName>ppt_x</p:attrName>
                                        </p:attrNameLst>
                                      </p:cBhvr>
                                      <p:tavLst>
                                        <p:tav tm="0">
                                          <p:val>
                                            <p:strVal val="#ppt_x"/>
                                          </p:val>
                                        </p:tav>
                                        <p:tav tm="100000">
                                          <p:val>
                                            <p:strVal val="#ppt_x"/>
                                          </p:val>
                                        </p:tav>
                                      </p:tavLst>
                                    </p:anim>
                                    <p:anim calcmode="lin" valueType="num">
                                      <p:cBhvr additive="base">
                                        <p:cTn id="51"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 presetClass="entr" presetSubtype="4" fill="hold" nodeType="clickEffect">
                                  <p:stCondLst>
                                    <p:cond delay="0"/>
                                  </p:stCondLst>
                                  <p:childTnLst>
                                    <p:set>
                                      <p:cBhvr>
                                        <p:cTn id="55" dur="1" fill="hold">
                                          <p:stCondLst>
                                            <p:cond delay="0"/>
                                          </p:stCondLst>
                                        </p:cTn>
                                        <p:tgtEl>
                                          <p:spTgt spid="24"/>
                                        </p:tgtEl>
                                        <p:attrNameLst>
                                          <p:attrName>style.visibility</p:attrName>
                                        </p:attrNameLst>
                                      </p:cBhvr>
                                      <p:to>
                                        <p:strVal val="visible"/>
                                      </p:to>
                                    </p:set>
                                    <p:anim calcmode="lin" valueType="num">
                                      <p:cBhvr additive="base">
                                        <p:cTn id="56" dur="500" fill="hold"/>
                                        <p:tgtEl>
                                          <p:spTgt spid="24"/>
                                        </p:tgtEl>
                                        <p:attrNameLst>
                                          <p:attrName>ppt_x</p:attrName>
                                        </p:attrNameLst>
                                      </p:cBhvr>
                                      <p:tavLst>
                                        <p:tav tm="0">
                                          <p:val>
                                            <p:strVal val="#ppt_x"/>
                                          </p:val>
                                        </p:tav>
                                        <p:tav tm="100000">
                                          <p:val>
                                            <p:strVal val="#ppt_x"/>
                                          </p:val>
                                        </p:tav>
                                      </p:tavLst>
                                    </p:anim>
                                    <p:anim calcmode="lin" valueType="num">
                                      <p:cBhvr additive="base">
                                        <p:cTn id="57" dur="500" fill="hold"/>
                                        <p:tgtEl>
                                          <p:spTgt spid="24"/>
                                        </p:tgtEl>
                                        <p:attrNameLst>
                                          <p:attrName>ppt_y</p:attrName>
                                        </p:attrNameLst>
                                      </p:cBhvr>
                                      <p:tavLst>
                                        <p:tav tm="0">
                                          <p:val>
                                            <p:strVal val="1+#ppt_h/2"/>
                                          </p:val>
                                        </p:tav>
                                        <p:tav tm="100000">
                                          <p:val>
                                            <p:strVal val="#ppt_y"/>
                                          </p:val>
                                        </p:tav>
                                      </p:tavLst>
                                    </p:anim>
                                  </p:childTnLst>
                                </p:cTn>
                              </p:par>
                            </p:childTnLst>
                          </p:cTn>
                        </p:par>
                        <p:par>
                          <p:cTn id="58" fill="hold">
                            <p:stCondLst>
                              <p:cond delay="500"/>
                            </p:stCondLst>
                            <p:childTnLst>
                              <p:par>
                                <p:cTn id="59" presetID="2" presetClass="entr" presetSubtype="4" fill="hold" grpId="0" nodeType="afterEffect">
                                  <p:stCondLst>
                                    <p:cond delay="0"/>
                                  </p:stCondLst>
                                  <p:childTnLst>
                                    <p:set>
                                      <p:cBhvr>
                                        <p:cTn id="60" dur="1" fill="hold">
                                          <p:stCondLst>
                                            <p:cond delay="0"/>
                                          </p:stCondLst>
                                        </p:cTn>
                                        <p:tgtEl>
                                          <p:spTgt spid="49"/>
                                        </p:tgtEl>
                                        <p:attrNameLst>
                                          <p:attrName>style.visibility</p:attrName>
                                        </p:attrNameLst>
                                      </p:cBhvr>
                                      <p:to>
                                        <p:strVal val="visible"/>
                                      </p:to>
                                    </p:set>
                                    <p:anim calcmode="lin" valueType="num">
                                      <p:cBhvr additive="base">
                                        <p:cTn id="61" dur="500" fill="hold"/>
                                        <p:tgtEl>
                                          <p:spTgt spid="49"/>
                                        </p:tgtEl>
                                        <p:attrNameLst>
                                          <p:attrName>ppt_x</p:attrName>
                                        </p:attrNameLst>
                                      </p:cBhvr>
                                      <p:tavLst>
                                        <p:tav tm="0">
                                          <p:val>
                                            <p:strVal val="#ppt_x"/>
                                          </p:val>
                                        </p:tav>
                                        <p:tav tm="100000">
                                          <p:val>
                                            <p:strVal val="#ppt_x"/>
                                          </p:val>
                                        </p:tav>
                                      </p:tavLst>
                                    </p:anim>
                                    <p:anim calcmode="lin" valueType="num">
                                      <p:cBhvr additive="base">
                                        <p:cTn id="62" dur="500" fill="hold"/>
                                        <p:tgtEl>
                                          <p:spTgt spid="49"/>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35"/>
                                        </p:tgtEl>
                                        <p:attrNameLst>
                                          <p:attrName>style.visibility</p:attrName>
                                        </p:attrNameLst>
                                      </p:cBhvr>
                                      <p:to>
                                        <p:strVal val="visible"/>
                                      </p:to>
                                    </p:set>
                                    <p:anim calcmode="lin" valueType="num">
                                      <p:cBhvr additive="base">
                                        <p:cTn id="65" dur="500" fill="hold"/>
                                        <p:tgtEl>
                                          <p:spTgt spid="35"/>
                                        </p:tgtEl>
                                        <p:attrNameLst>
                                          <p:attrName>ppt_x</p:attrName>
                                        </p:attrNameLst>
                                      </p:cBhvr>
                                      <p:tavLst>
                                        <p:tav tm="0">
                                          <p:val>
                                            <p:strVal val="#ppt_x"/>
                                          </p:val>
                                        </p:tav>
                                        <p:tav tm="100000">
                                          <p:val>
                                            <p:strVal val="#ppt_x"/>
                                          </p:val>
                                        </p:tav>
                                      </p:tavLst>
                                    </p:anim>
                                    <p:anim calcmode="lin" valueType="num">
                                      <p:cBhvr additive="base">
                                        <p:cTn id="66" dur="500" fill="hold"/>
                                        <p:tgtEl>
                                          <p:spTgt spid="35"/>
                                        </p:tgtEl>
                                        <p:attrNameLst>
                                          <p:attrName>ppt_y</p:attrName>
                                        </p:attrNameLst>
                                      </p:cBhvr>
                                      <p:tavLst>
                                        <p:tav tm="0">
                                          <p:val>
                                            <p:strVal val="1+#ppt_h/2"/>
                                          </p:val>
                                        </p:tav>
                                        <p:tav tm="100000">
                                          <p:val>
                                            <p:strVal val="#ppt_y"/>
                                          </p:val>
                                        </p:tav>
                                      </p:tavLst>
                                    </p:anim>
                                  </p:childTnLst>
                                </p:cTn>
                              </p:par>
                            </p:childTnLst>
                          </p:cTn>
                        </p:par>
                        <p:par>
                          <p:cTn id="67" fill="hold">
                            <p:stCondLst>
                              <p:cond delay="1000"/>
                            </p:stCondLst>
                            <p:childTnLst>
                              <p:par>
                                <p:cTn id="68" presetID="2" presetClass="entr" presetSubtype="4" fill="hold" grpId="0" nodeType="afterEffect">
                                  <p:stCondLst>
                                    <p:cond delay="0"/>
                                  </p:stCondLst>
                                  <p:childTnLst>
                                    <p:set>
                                      <p:cBhvr>
                                        <p:cTn id="69" dur="1" fill="hold">
                                          <p:stCondLst>
                                            <p:cond delay="0"/>
                                          </p:stCondLst>
                                        </p:cTn>
                                        <p:tgtEl>
                                          <p:spTgt spid="50"/>
                                        </p:tgtEl>
                                        <p:attrNameLst>
                                          <p:attrName>style.visibility</p:attrName>
                                        </p:attrNameLst>
                                      </p:cBhvr>
                                      <p:to>
                                        <p:strVal val="visible"/>
                                      </p:to>
                                    </p:set>
                                    <p:anim calcmode="lin" valueType="num">
                                      <p:cBhvr additive="base">
                                        <p:cTn id="70" dur="500" fill="hold"/>
                                        <p:tgtEl>
                                          <p:spTgt spid="50"/>
                                        </p:tgtEl>
                                        <p:attrNameLst>
                                          <p:attrName>ppt_x</p:attrName>
                                        </p:attrNameLst>
                                      </p:cBhvr>
                                      <p:tavLst>
                                        <p:tav tm="0">
                                          <p:val>
                                            <p:strVal val="#ppt_x"/>
                                          </p:val>
                                        </p:tav>
                                        <p:tav tm="100000">
                                          <p:val>
                                            <p:strVal val="#ppt_x"/>
                                          </p:val>
                                        </p:tav>
                                      </p:tavLst>
                                    </p:anim>
                                    <p:anim calcmode="lin" valueType="num">
                                      <p:cBhvr additive="base">
                                        <p:cTn id="71" dur="500" fill="hold"/>
                                        <p:tgtEl>
                                          <p:spTgt spid="50"/>
                                        </p:tgtEl>
                                        <p:attrNameLst>
                                          <p:attrName>ppt_y</p:attrName>
                                        </p:attrNameLst>
                                      </p:cBhvr>
                                      <p:tavLst>
                                        <p:tav tm="0">
                                          <p:val>
                                            <p:strVal val="1+#ppt_h/2"/>
                                          </p:val>
                                        </p:tav>
                                        <p:tav tm="100000">
                                          <p:val>
                                            <p:strVal val="#ppt_y"/>
                                          </p:val>
                                        </p:tav>
                                      </p:tavLst>
                                    </p:anim>
                                  </p:childTnLst>
                                </p:cTn>
                              </p:par>
                              <p:par>
                                <p:cTn id="72" presetID="2" presetClass="entr" presetSubtype="4" fill="hold" grpId="0" nodeType="withEffect">
                                  <p:stCondLst>
                                    <p:cond delay="0"/>
                                  </p:stCondLst>
                                  <p:childTnLst>
                                    <p:set>
                                      <p:cBhvr>
                                        <p:cTn id="73" dur="1" fill="hold">
                                          <p:stCondLst>
                                            <p:cond delay="0"/>
                                          </p:stCondLst>
                                        </p:cTn>
                                        <p:tgtEl>
                                          <p:spTgt spid="17"/>
                                        </p:tgtEl>
                                        <p:attrNameLst>
                                          <p:attrName>style.visibility</p:attrName>
                                        </p:attrNameLst>
                                      </p:cBhvr>
                                      <p:to>
                                        <p:strVal val="visible"/>
                                      </p:to>
                                    </p:set>
                                    <p:anim calcmode="lin" valueType="num">
                                      <p:cBhvr additive="base">
                                        <p:cTn id="74" dur="500" fill="hold"/>
                                        <p:tgtEl>
                                          <p:spTgt spid="17"/>
                                        </p:tgtEl>
                                        <p:attrNameLst>
                                          <p:attrName>ppt_x</p:attrName>
                                        </p:attrNameLst>
                                      </p:cBhvr>
                                      <p:tavLst>
                                        <p:tav tm="0">
                                          <p:val>
                                            <p:strVal val="#ppt_x"/>
                                          </p:val>
                                        </p:tav>
                                        <p:tav tm="100000">
                                          <p:val>
                                            <p:strVal val="#ppt_x"/>
                                          </p:val>
                                        </p:tav>
                                      </p:tavLst>
                                    </p:anim>
                                    <p:anim calcmode="lin" valueType="num">
                                      <p:cBhvr additive="base">
                                        <p:cTn id="75" dur="500" fill="hold"/>
                                        <p:tgtEl>
                                          <p:spTgt spid="17"/>
                                        </p:tgtEl>
                                        <p:attrNameLst>
                                          <p:attrName>ppt_y</p:attrName>
                                        </p:attrNameLst>
                                      </p:cBhvr>
                                      <p:tavLst>
                                        <p:tav tm="0">
                                          <p:val>
                                            <p:strVal val="1+#ppt_h/2"/>
                                          </p:val>
                                        </p:tav>
                                        <p:tav tm="100000">
                                          <p:val>
                                            <p:strVal val="#ppt_y"/>
                                          </p:val>
                                        </p:tav>
                                      </p:tavLst>
                                    </p:anim>
                                  </p:childTnLst>
                                </p:cTn>
                              </p:par>
                              <p:par>
                                <p:cTn id="76" presetID="2" presetClass="entr" presetSubtype="4" fill="hold" grpId="0" nodeType="withEffect">
                                  <p:stCondLst>
                                    <p:cond delay="0"/>
                                  </p:stCondLst>
                                  <p:childTnLst>
                                    <p:set>
                                      <p:cBhvr>
                                        <p:cTn id="77" dur="1" fill="hold">
                                          <p:stCondLst>
                                            <p:cond delay="0"/>
                                          </p:stCondLst>
                                        </p:cTn>
                                        <p:tgtEl>
                                          <p:spTgt spid="4"/>
                                        </p:tgtEl>
                                        <p:attrNameLst>
                                          <p:attrName>style.visibility</p:attrName>
                                        </p:attrNameLst>
                                      </p:cBhvr>
                                      <p:to>
                                        <p:strVal val="visible"/>
                                      </p:to>
                                    </p:set>
                                    <p:anim calcmode="lin" valueType="num">
                                      <p:cBhvr additive="base">
                                        <p:cTn id="78" dur="500" fill="hold"/>
                                        <p:tgtEl>
                                          <p:spTgt spid="4"/>
                                        </p:tgtEl>
                                        <p:attrNameLst>
                                          <p:attrName>ppt_x</p:attrName>
                                        </p:attrNameLst>
                                      </p:cBhvr>
                                      <p:tavLst>
                                        <p:tav tm="0">
                                          <p:val>
                                            <p:strVal val="#ppt_x"/>
                                          </p:val>
                                        </p:tav>
                                        <p:tav tm="100000">
                                          <p:val>
                                            <p:strVal val="#ppt_x"/>
                                          </p:val>
                                        </p:tav>
                                      </p:tavLst>
                                    </p:anim>
                                    <p:anim calcmode="lin" valueType="num">
                                      <p:cBhvr additive="base">
                                        <p:cTn id="79" dur="500" fill="hold"/>
                                        <p:tgtEl>
                                          <p:spTgt spid="4"/>
                                        </p:tgtEl>
                                        <p:attrNameLst>
                                          <p:attrName>ppt_y</p:attrName>
                                        </p:attrNameLst>
                                      </p:cBhvr>
                                      <p:tavLst>
                                        <p:tav tm="0">
                                          <p:val>
                                            <p:strVal val="1+#ppt_h/2"/>
                                          </p:val>
                                        </p:tav>
                                        <p:tav tm="100000">
                                          <p:val>
                                            <p:strVal val="#ppt_y"/>
                                          </p:val>
                                        </p:tav>
                                      </p:tavLst>
                                    </p:anim>
                                  </p:childTnLst>
                                </p:cTn>
                              </p:par>
                              <p:par>
                                <p:cTn id="80" presetID="2" presetClass="entr" presetSubtype="4" fill="hold" nodeType="withEffect">
                                  <p:stCondLst>
                                    <p:cond delay="0"/>
                                  </p:stCondLst>
                                  <p:childTnLst>
                                    <p:set>
                                      <p:cBhvr>
                                        <p:cTn id="81" dur="1" fill="hold">
                                          <p:stCondLst>
                                            <p:cond delay="0"/>
                                          </p:stCondLst>
                                        </p:cTn>
                                        <p:tgtEl>
                                          <p:spTgt spid="15"/>
                                        </p:tgtEl>
                                        <p:attrNameLst>
                                          <p:attrName>style.visibility</p:attrName>
                                        </p:attrNameLst>
                                      </p:cBhvr>
                                      <p:to>
                                        <p:strVal val="visible"/>
                                      </p:to>
                                    </p:set>
                                    <p:anim calcmode="lin" valueType="num">
                                      <p:cBhvr additive="base">
                                        <p:cTn id="82" dur="500" fill="hold"/>
                                        <p:tgtEl>
                                          <p:spTgt spid="15"/>
                                        </p:tgtEl>
                                        <p:attrNameLst>
                                          <p:attrName>ppt_x</p:attrName>
                                        </p:attrNameLst>
                                      </p:cBhvr>
                                      <p:tavLst>
                                        <p:tav tm="0">
                                          <p:val>
                                            <p:strVal val="#ppt_x"/>
                                          </p:val>
                                        </p:tav>
                                        <p:tav tm="100000">
                                          <p:val>
                                            <p:strVal val="#ppt_x"/>
                                          </p:val>
                                        </p:tav>
                                      </p:tavLst>
                                    </p:anim>
                                    <p:anim calcmode="lin" valueType="num">
                                      <p:cBhvr additive="base">
                                        <p:cTn id="83" dur="500" fill="hold"/>
                                        <p:tgtEl>
                                          <p:spTgt spid="15"/>
                                        </p:tgtEl>
                                        <p:attrNameLst>
                                          <p:attrName>ppt_y</p:attrName>
                                        </p:attrNameLst>
                                      </p:cBhvr>
                                      <p:tavLst>
                                        <p:tav tm="0">
                                          <p:val>
                                            <p:strVal val="1+#ppt_h/2"/>
                                          </p:val>
                                        </p:tav>
                                        <p:tav tm="100000">
                                          <p:val>
                                            <p:strVal val="#ppt_y"/>
                                          </p:val>
                                        </p:tav>
                                      </p:tavLst>
                                    </p:anim>
                                  </p:childTnLst>
                                </p:cTn>
                              </p:par>
                              <p:par>
                                <p:cTn id="84" presetID="2" presetClass="entr" presetSubtype="4" fill="hold" grpId="0" nodeType="withEffect">
                                  <p:stCondLst>
                                    <p:cond delay="0"/>
                                  </p:stCondLst>
                                  <p:childTnLst>
                                    <p:set>
                                      <p:cBhvr>
                                        <p:cTn id="85" dur="1" fill="hold">
                                          <p:stCondLst>
                                            <p:cond delay="0"/>
                                          </p:stCondLst>
                                        </p:cTn>
                                        <p:tgtEl>
                                          <p:spTgt spid="59411"/>
                                        </p:tgtEl>
                                        <p:attrNameLst>
                                          <p:attrName>style.visibility</p:attrName>
                                        </p:attrNameLst>
                                      </p:cBhvr>
                                      <p:to>
                                        <p:strVal val="visible"/>
                                      </p:to>
                                    </p:set>
                                    <p:anim calcmode="lin" valueType="num">
                                      <p:cBhvr additive="base">
                                        <p:cTn id="86" dur="500" fill="hold"/>
                                        <p:tgtEl>
                                          <p:spTgt spid="59411"/>
                                        </p:tgtEl>
                                        <p:attrNameLst>
                                          <p:attrName>ppt_x</p:attrName>
                                        </p:attrNameLst>
                                      </p:cBhvr>
                                      <p:tavLst>
                                        <p:tav tm="0">
                                          <p:val>
                                            <p:strVal val="#ppt_x"/>
                                          </p:val>
                                        </p:tav>
                                        <p:tav tm="100000">
                                          <p:val>
                                            <p:strVal val="#ppt_x"/>
                                          </p:val>
                                        </p:tav>
                                      </p:tavLst>
                                    </p:anim>
                                    <p:anim calcmode="lin" valueType="num">
                                      <p:cBhvr additive="base">
                                        <p:cTn id="87" dur="500" fill="hold"/>
                                        <p:tgtEl>
                                          <p:spTgt spid="59411"/>
                                        </p:tgtEl>
                                        <p:attrNameLst>
                                          <p:attrName>ppt_y</p:attrName>
                                        </p:attrNameLst>
                                      </p:cBhvr>
                                      <p:tavLst>
                                        <p:tav tm="0">
                                          <p:val>
                                            <p:strVal val="1+#ppt_h/2"/>
                                          </p:val>
                                        </p:tav>
                                        <p:tav tm="100000">
                                          <p:val>
                                            <p:strVal val="#ppt_y"/>
                                          </p:val>
                                        </p:tav>
                                      </p:tavLst>
                                    </p:anim>
                                  </p:childTnLst>
                                </p:cTn>
                              </p:par>
                            </p:childTnLst>
                          </p:cTn>
                        </p:par>
                        <p:par>
                          <p:cTn id="88" fill="hold">
                            <p:stCondLst>
                              <p:cond delay="1500"/>
                            </p:stCondLst>
                            <p:childTnLst>
                              <p:par>
                                <p:cTn id="89" presetID="2" presetClass="entr" presetSubtype="4" fill="hold" nodeType="afterEffect">
                                  <p:stCondLst>
                                    <p:cond delay="0"/>
                                  </p:stCondLst>
                                  <p:childTnLst>
                                    <p:set>
                                      <p:cBhvr>
                                        <p:cTn id="90" dur="1" fill="hold">
                                          <p:stCondLst>
                                            <p:cond delay="0"/>
                                          </p:stCondLst>
                                        </p:cTn>
                                        <p:tgtEl>
                                          <p:spTgt spid="10"/>
                                        </p:tgtEl>
                                        <p:attrNameLst>
                                          <p:attrName>style.visibility</p:attrName>
                                        </p:attrNameLst>
                                      </p:cBhvr>
                                      <p:to>
                                        <p:strVal val="visible"/>
                                      </p:to>
                                    </p:set>
                                    <p:anim calcmode="lin" valueType="num">
                                      <p:cBhvr additive="base">
                                        <p:cTn id="91" dur="500" fill="hold"/>
                                        <p:tgtEl>
                                          <p:spTgt spid="10"/>
                                        </p:tgtEl>
                                        <p:attrNameLst>
                                          <p:attrName>ppt_x</p:attrName>
                                        </p:attrNameLst>
                                      </p:cBhvr>
                                      <p:tavLst>
                                        <p:tav tm="0">
                                          <p:val>
                                            <p:strVal val="#ppt_x"/>
                                          </p:val>
                                        </p:tav>
                                        <p:tav tm="100000">
                                          <p:val>
                                            <p:strVal val="#ppt_x"/>
                                          </p:val>
                                        </p:tav>
                                      </p:tavLst>
                                    </p:anim>
                                    <p:anim calcmode="lin" valueType="num">
                                      <p:cBhvr additive="base">
                                        <p:cTn id="92" dur="500" fill="hold"/>
                                        <p:tgtEl>
                                          <p:spTgt spid="10"/>
                                        </p:tgtEl>
                                        <p:attrNameLst>
                                          <p:attrName>ppt_y</p:attrName>
                                        </p:attrNameLst>
                                      </p:cBhvr>
                                      <p:tavLst>
                                        <p:tav tm="0">
                                          <p:val>
                                            <p:strVal val="1+#ppt_h/2"/>
                                          </p:val>
                                        </p:tav>
                                        <p:tav tm="100000">
                                          <p:val>
                                            <p:strVal val="#ppt_y"/>
                                          </p:val>
                                        </p:tav>
                                      </p:tavLst>
                                    </p:anim>
                                  </p:childTnLst>
                                </p:cTn>
                              </p:par>
                              <p:par>
                                <p:cTn id="93" presetID="2" presetClass="entr" presetSubtype="4" fill="hold" grpId="0" nodeType="withEffect">
                                  <p:stCondLst>
                                    <p:cond delay="0"/>
                                  </p:stCondLst>
                                  <p:childTnLst>
                                    <p:set>
                                      <p:cBhvr>
                                        <p:cTn id="94" dur="1" fill="hold">
                                          <p:stCondLst>
                                            <p:cond delay="0"/>
                                          </p:stCondLst>
                                        </p:cTn>
                                        <p:tgtEl>
                                          <p:spTgt spid="59412"/>
                                        </p:tgtEl>
                                        <p:attrNameLst>
                                          <p:attrName>style.visibility</p:attrName>
                                        </p:attrNameLst>
                                      </p:cBhvr>
                                      <p:to>
                                        <p:strVal val="visible"/>
                                      </p:to>
                                    </p:set>
                                    <p:anim calcmode="lin" valueType="num">
                                      <p:cBhvr additive="base">
                                        <p:cTn id="95" dur="500" fill="hold"/>
                                        <p:tgtEl>
                                          <p:spTgt spid="59412"/>
                                        </p:tgtEl>
                                        <p:attrNameLst>
                                          <p:attrName>ppt_x</p:attrName>
                                        </p:attrNameLst>
                                      </p:cBhvr>
                                      <p:tavLst>
                                        <p:tav tm="0">
                                          <p:val>
                                            <p:strVal val="#ppt_x"/>
                                          </p:val>
                                        </p:tav>
                                        <p:tav tm="100000">
                                          <p:val>
                                            <p:strVal val="#ppt_x"/>
                                          </p:val>
                                        </p:tav>
                                      </p:tavLst>
                                    </p:anim>
                                    <p:anim calcmode="lin" valueType="num">
                                      <p:cBhvr additive="base">
                                        <p:cTn id="96" dur="500" fill="hold"/>
                                        <p:tgtEl>
                                          <p:spTgt spid="59412"/>
                                        </p:tgtEl>
                                        <p:attrNameLst>
                                          <p:attrName>ppt_y</p:attrName>
                                        </p:attrNameLst>
                                      </p:cBhvr>
                                      <p:tavLst>
                                        <p:tav tm="0">
                                          <p:val>
                                            <p:strVal val="1+#ppt_h/2"/>
                                          </p:val>
                                        </p:tav>
                                        <p:tav tm="100000">
                                          <p:val>
                                            <p:strVal val="#ppt_y"/>
                                          </p:val>
                                        </p:tav>
                                      </p:tavLst>
                                    </p:anim>
                                  </p:childTnLst>
                                </p:cTn>
                              </p:par>
                              <p:par>
                                <p:cTn id="97" presetID="2" presetClass="entr" presetSubtype="4" fill="hold" nodeType="withEffect">
                                  <p:stCondLst>
                                    <p:cond delay="0"/>
                                  </p:stCondLst>
                                  <p:childTnLst>
                                    <p:set>
                                      <p:cBhvr>
                                        <p:cTn id="98" dur="1" fill="hold">
                                          <p:stCondLst>
                                            <p:cond delay="0"/>
                                          </p:stCondLst>
                                        </p:cTn>
                                        <p:tgtEl>
                                          <p:spTgt spid="13"/>
                                        </p:tgtEl>
                                        <p:attrNameLst>
                                          <p:attrName>style.visibility</p:attrName>
                                        </p:attrNameLst>
                                      </p:cBhvr>
                                      <p:to>
                                        <p:strVal val="visible"/>
                                      </p:to>
                                    </p:set>
                                    <p:anim calcmode="lin" valueType="num">
                                      <p:cBhvr additive="base">
                                        <p:cTn id="99" dur="500" fill="hold"/>
                                        <p:tgtEl>
                                          <p:spTgt spid="13"/>
                                        </p:tgtEl>
                                        <p:attrNameLst>
                                          <p:attrName>ppt_x</p:attrName>
                                        </p:attrNameLst>
                                      </p:cBhvr>
                                      <p:tavLst>
                                        <p:tav tm="0">
                                          <p:val>
                                            <p:strVal val="#ppt_x"/>
                                          </p:val>
                                        </p:tav>
                                        <p:tav tm="100000">
                                          <p:val>
                                            <p:strVal val="#ppt_x"/>
                                          </p:val>
                                        </p:tav>
                                      </p:tavLst>
                                    </p:anim>
                                    <p:anim calcmode="lin" valueType="num">
                                      <p:cBhvr additive="base">
                                        <p:cTn id="10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2" presetClass="entr" presetSubtype="4" fill="hold" grpId="0" nodeType="clickEffect">
                                  <p:stCondLst>
                                    <p:cond delay="0"/>
                                  </p:stCondLst>
                                  <p:childTnLst>
                                    <p:set>
                                      <p:cBhvr>
                                        <p:cTn id="104" dur="1" fill="hold">
                                          <p:stCondLst>
                                            <p:cond delay="0"/>
                                          </p:stCondLst>
                                        </p:cTn>
                                        <p:tgtEl>
                                          <p:spTgt spid="26"/>
                                        </p:tgtEl>
                                        <p:attrNameLst>
                                          <p:attrName>style.visibility</p:attrName>
                                        </p:attrNameLst>
                                      </p:cBhvr>
                                      <p:to>
                                        <p:strVal val="visible"/>
                                      </p:to>
                                    </p:set>
                                    <p:anim calcmode="lin" valueType="num">
                                      <p:cBhvr additive="base">
                                        <p:cTn id="105" dur="500" fill="hold"/>
                                        <p:tgtEl>
                                          <p:spTgt spid="26"/>
                                        </p:tgtEl>
                                        <p:attrNameLst>
                                          <p:attrName>ppt_x</p:attrName>
                                        </p:attrNameLst>
                                      </p:cBhvr>
                                      <p:tavLst>
                                        <p:tav tm="0">
                                          <p:val>
                                            <p:strVal val="#ppt_x"/>
                                          </p:val>
                                        </p:tav>
                                        <p:tav tm="100000">
                                          <p:val>
                                            <p:strVal val="#ppt_x"/>
                                          </p:val>
                                        </p:tav>
                                      </p:tavLst>
                                    </p:anim>
                                    <p:anim calcmode="lin" valueType="num">
                                      <p:cBhvr additive="base">
                                        <p:cTn id="106" dur="500" fill="hold"/>
                                        <p:tgtEl>
                                          <p:spTgt spid="26"/>
                                        </p:tgtEl>
                                        <p:attrNameLst>
                                          <p:attrName>ppt_y</p:attrName>
                                        </p:attrNameLst>
                                      </p:cBhvr>
                                      <p:tavLst>
                                        <p:tav tm="0">
                                          <p:val>
                                            <p:strVal val="1+#ppt_h/2"/>
                                          </p:val>
                                        </p:tav>
                                        <p:tav tm="100000">
                                          <p:val>
                                            <p:strVal val="#ppt_y"/>
                                          </p:val>
                                        </p:tav>
                                      </p:tavLst>
                                    </p:anim>
                                  </p:childTnLst>
                                </p:cTn>
                              </p:par>
                              <p:par>
                                <p:cTn id="107" presetID="10" presetClass="entr" presetSubtype="0" fill="hold" nodeType="withEffect">
                                  <p:stCondLst>
                                    <p:cond delay="0"/>
                                  </p:stCondLst>
                                  <p:childTnLst>
                                    <p:set>
                                      <p:cBhvr>
                                        <p:cTn id="108" dur="1" fill="hold">
                                          <p:stCondLst>
                                            <p:cond delay="0"/>
                                          </p:stCondLst>
                                        </p:cTn>
                                        <p:tgtEl>
                                          <p:spTgt spid="19"/>
                                        </p:tgtEl>
                                        <p:attrNameLst>
                                          <p:attrName>style.visibility</p:attrName>
                                        </p:attrNameLst>
                                      </p:cBhvr>
                                      <p:to>
                                        <p:strVal val="visible"/>
                                      </p:to>
                                    </p:set>
                                    <p:animEffect transition="in" filter="fade">
                                      <p:cBhvr>
                                        <p:cTn id="109" dur="500"/>
                                        <p:tgtEl>
                                          <p:spTgt spid="19"/>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23"/>
                                        </p:tgtEl>
                                        <p:attrNameLst>
                                          <p:attrName>style.visibility</p:attrName>
                                        </p:attrNameLst>
                                      </p:cBhvr>
                                      <p:to>
                                        <p:strVal val="visible"/>
                                      </p:to>
                                    </p:set>
                                    <p:animEffect transition="in" filter="fade">
                                      <p:cBhvr>
                                        <p:cTn id="11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59397" grpId="0"/>
      <p:bldP spid="49" grpId="0" animBg="1"/>
      <p:bldP spid="50" grpId="0" animBg="1"/>
      <p:bldP spid="2" grpId="0"/>
      <p:bldP spid="4" grpId="0"/>
      <p:bldP spid="8" grpId="0"/>
      <p:bldP spid="16" grpId="0"/>
      <p:bldP spid="17" grpId="0"/>
      <p:bldP spid="23" grpId="0"/>
      <p:bldP spid="35" grpId="0" animBg="1"/>
      <p:bldP spid="59410" grpId="0"/>
      <p:bldP spid="59411" grpId="0"/>
      <p:bldP spid="59412" grpId="0"/>
      <p:bldP spid="59413"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3"/>
          <p:cNvSpPr>
            <a:spLocks noGrp="1" noChangeArrowheads="1"/>
          </p:cNvSpPr>
          <p:nvPr>
            <p:ph type="body" idx="4294967295"/>
          </p:nvPr>
        </p:nvSpPr>
        <p:spPr>
          <a:xfrm>
            <a:off x="457200" y="1343025"/>
            <a:ext cx="8229600" cy="4784725"/>
          </a:xfrm>
          <a:ln/>
        </p:spPr>
        <p:txBody>
          <a:bodyPr/>
          <a:lstStyle/>
          <a:p>
            <a:pPr marL="457200" lvl="2" indent="-457200" eaLnBrk="1" hangingPunct="1">
              <a:lnSpc>
                <a:spcPct val="200000"/>
              </a:lnSpc>
              <a:buSzPct val="100000"/>
              <a:buFont typeface="Wingdings" panose="05000000000000000000" pitchFamily="2" charset="2"/>
              <a:buChar char="u"/>
            </a:pPr>
            <a:r>
              <a:rPr lang="zh-CN" altLang="en-US" sz="2200" b="0" dirty="0">
                <a:latin typeface="微软雅黑" panose="020B0503020204020204" pitchFamily="34" charset="-122"/>
                <a:ea typeface="微软雅黑" panose="020B0503020204020204" pitchFamily="34" charset="-122"/>
              </a:rPr>
              <a:t>技术进步，创新的成本与收益</a:t>
            </a:r>
            <a:endParaRPr lang="en-US" altLang="zh-CN" sz="2200" b="0" dirty="0">
              <a:latin typeface="微软雅黑" panose="020B0503020204020204" pitchFamily="34" charset="-122"/>
              <a:ea typeface="微软雅黑" panose="020B0503020204020204" pitchFamily="34" charset="-122"/>
            </a:endParaRPr>
          </a:p>
          <a:p>
            <a:pPr marL="800100" lvl="1" indent="-342900">
              <a:lnSpc>
                <a:spcPct val="150000"/>
              </a:lnSpc>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rPr>
              <a:t>从静态的角度来看</a:t>
            </a:r>
            <a:r>
              <a:rPr lang="en-US" altLang="zh-CN" sz="2000" b="0" dirty="0">
                <a:latin typeface="微软雅黑" panose="020B0503020204020204" pitchFamily="34" charset="-122"/>
                <a:ea typeface="微软雅黑" panose="020B0503020204020204" pitchFamily="34" charset="-122"/>
              </a:rPr>
              <a:t>, </a:t>
            </a:r>
            <a:r>
              <a:rPr lang="zh-CN" altLang="en-US" sz="2000" b="0" dirty="0">
                <a:latin typeface="微软雅黑" panose="020B0503020204020204" pitchFamily="34" charset="-122"/>
                <a:ea typeface="微软雅黑" panose="020B0503020204020204" pitchFamily="34" charset="-122"/>
              </a:rPr>
              <a:t>完全竞争企业是有效率的</a:t>
            </a:r>
            <a:r>
              <a:rPr lang="en-US" altLang="zh-CN" sz="2000" b="0" dirty="0">
                <a:latin typeface="微软雅黑" panose="020B0503020204020204" pitchFamily="34" charset="-122"/>
                <a:ea typeface="微软雅黑" panose="020B0503020204020204" pitchFamily="34" charset="-122"/>
              </a:rPr>
              <a:t>, </a:t>
            </a:r>
            <a:r>
              <a:rPr lang="zh-CN" altLang="en-US" sz="2000" b="0" dirty="0">
                <a:latin typeface="微软雅黑" panose="020B0503020204020204" pitchFamily="34" charset="-122"/>
                <a:ea typeface="微软雅黑" panose="020B0503020204020204" pitchFamily="34" charset="-122"/>
              </a:rPr>
              <a:t>而不完全竞争企业则是无效率的。</a:t>
            </a:r>
            <a:endParaRPr lang="en-US" altLang="zh-CN" sz="2000" b="0" dirty="0">
              <a:latin typeface="微软雅黑" panose="020B0503020204020204" pitchFamily="34" charset="-122"/>
              <a:ea typeface="微软雅黑" panose="020B0503020204020204" pitchFamily="34" charset="-122"/>
            </a:endParaRPr>
          </a:p>
          <a:p>
            <a:pPr marL="800100" lvl="1" indent="-342900">
              <a:lnSpc>
                <a:spcPct val="150000"/>
              </a:lnSpc>
              <a:buFont typeface="Wingdings" panose="05000000000000000000" pitchFamily="2" charset="2"/>
              <a:buChar char="Ø"/>
            </a:pPr>
            <a:r>
              <a:rPr lang="zh-CN" altLang="en-US" sz="2200" b="0" dirty="0">
                <a:latin typeface="微软雅黑" panose="020B0503020204020204" pitchFamily="34" charset="-122"/>
                <a:ea typeface="微软雅黑" panose="020B0503020204020204" pitchFamily="34" charset="-122"/>
              </a:rPr>
              <a:t> </a:t>
            </a:r>
            <a:r>
              <a:rPr lang="en-US" altLang="zh-CN" sz="2000" b="0" dirty="0">
                <a:latin typeface="微软雅黑" panose="020B0503020204020204" pitchFamily="34" charset="-122"/>
                <a:ea typeface="微软雅黑" panose="020B0503020204020204" pitchFamily="34" charset="-122"/>
              </a:rPr>
              <a:t>“</a:t>
            </a:r>
            <a:r>
              <a:rPr lang="zh-CN" altLang="en-US" sz="2000" b="0" dirty="0">
                <a:latin typeface="微软雅黑" panose="020B0503020204020204" pitchFamily="34" charset="-122"/>
                <a:ea typeface="微软雅黑" panose="020B0503020204020204" pitchFamily="34" charset="-122"/>
              </a:rPr>
              <a:t>静态” 的意思是指技术不变。 一旦引入技术进步</a:t>
            </a:r>
            <a:r>
              <a:rPr lang="en-US" altLang="zh-CN" sz="2000" b="0" dirty="0">
                <a:latin typeface="微软雅黑" panose="020B0503020204020204" pitchFamily="34" charset="-122"/>
                <a:ea typeface="微软雅黑" panose="020B0503020204020204" pitchFamily="34" charset="-122"/>
              </a:rPr>
              <a:t>, </a:t>
            </a:r>
            <a:r>
              <a:rPr lang="zh-CN" altLang="en-US" sz="2000" b="0" dirty="0">
                <a:latin typeface="微软雅黑" panose="020B0503020204020204" pitchFamily="34" charset="-122"/>
                <a:ea typeface="微软雅黑" panose="020B0503020204020204" pitchFamily="34" charset="-122"/>
              </a:rPr>
              <a:t>结果可能大不相同。</a:t>
            </a:r>
            <a:endParaRPr lang="en-US" altLang="zh-CN" sz="2000" b="0" dirty="0">
              <a:latin typeface="微软雅黑" panose="020B0503020204020204" pitchFamily="34" charset="-122"/>
              <a:ea typeface="微软雅黑" panose="020B0503020204020204" pitchFamily="34" charset="-122"/>
            </a:endParaRPr>
          </a:p>
          <a:p>
            <a:pPr marL="800100" lvl="1" indent="-342900">
              <a:lnSpc>
                <a:spcPct val="150000"/>
              </a:lnSpc>
              <a:buFont typeface="Wingdings" panose="05000000000000000000" pitchFamily="2" charset="2"/>
              <a:buChar char="Ø"/>
            </a:pPr>
            <a:r>
              <a:rPr lang="zh-CN" altLang="en-US" sz="2000" b="0" dirty="0">
                <a:latin typeface="微软雅黑" panose="020B0503020204020204" pitchFamily="34" charset="-122"/>
                <a:ea typeface="微软雅黑" panose="020B0503020204020204" pitchFamily="34" charset="-122"/>
              </a:rPr>
              <a:t>相对于完全竞争企业</a:t>
            </a:r>
            <a:r>
              <a:rPr lang="en-US" altLang="zh-CN" sz="2000" b="0" dirty="0">
                <a:latin typeface="微软雅黑" panose="020B0503020204020204" pitchFamily="34" charset="-122"/>
                <a:ea typeface="微软雅黑" panose="020B0503020204020204" pitchFamily="34" charset="-122"/>
              </a:rPr>
              <a:t>, </a:t>
            </a:r>
            <a:r>
              <a:rPr lang="zh-CN" altLang="en-US" sz="2000" b="0" dirty="0">
                <a:latin typeface="微软雅黑" panose="020B0503020204020204" pitchFamily="34" charset="-122"/>
                <a:ea typeface="微软雅黑" panose="020B0503020204020204" pitchFamily="34" charset="-122"/>
              </a:rPr>
              <a:t>不完全竞争企业的技术进步可能更快一些</a:t>
            </a:r>
            <a:r>
              <a:rPr lang="en-US" altLang="zh-CN" sz="2000" b="0" dirty="0">
                <a:latin typeface="微软雅黑" panose="020B0503020204020204" pitchFamily="34" charset="-122"/>
                <a:ea typeface="微软雅黑" panose="020B0503020204020204" pitchFamily="34" charset="-122"/>
              </a:rPr>
              <a:t>;</a:t>
            </a:r>
            <a:r>
              <a:rPr lang="zh-CN" altLang="en-US" sz="2000" b="0" dirty="0">
                <a:latin typeface="微软雅黑" panose="020B0503020204020204" pitchFamily="34" charset="-122"/>
                <a:ea typeface="微软雅黑" panose="020B0503020204020204" pitchFamily="34" charset="-122"/>
              </a:rPr>
              <a:t> 这可能会抵消掉其静态的低效率还有余</a:t>
            </a:r>
            <a:r>
              <a:rPr lang="en-US" altLang="zh-CN" sz="2000" b="0" dirty="0">
                <a:latin typeface="微软雅黑" panose="020B0503020204020204" pitchFamily="34" charset="-122"/>
                <a:ea typeface="微软雅黑" panose="020B0503020204020204" pitchFamily="34" charset="-122"/>
              </a:rPr>
              <a:t>, </a:t>
            </a:r>
            <a:r>
              <a:rPr lang="zh-CN" altLang="en-US" sz="2000" b="0" dirty="0">
                <a:latin typeface="微软雅黑" panose="020B0503020204020204" pitchFamily="34" charset="-122"/>
                <a:ea typeface="微软雅黑" panose="020B0503020204020204" pitchFamily="34" charset="-122"/>
              </a:rPr>
              <a:t>从而使得它的综合的效率超过完全竞争企业。</a:t>
            </a:r>
            <a:endParaRPr lang="en-US" altLang="zh-CN" sz="2000" b="0" dirty="0">
              <a:latin typeface="微软雅黑" panose="020B0503020204020204" pitchFamily="34" charset="-122"/>
              <a:ea typeface="微软雅黑" panose="020B0503020204020204" pitchFamily="34" charset="-122"/>
            </a:endParaRPr>
          </a:p>
        </p:txBody>
      </p:sp>
      <p:sp>
        <p:nvSpPr>
          <p:cNvPr id="4" name="矩形 3"/>
          <p:cNvSpPr/>
          <p:nvPr/>
        </p:nvSpPr>
        <p:spPr>
          <a:xfrm>
            <a:off x="6372125" y="44765"/>
            <a:ext cx="2736190" cy="369332"/>
          </a:xfrm>
          <a:prstGeom prst="rect">
            <a:avLst/>
          </a:prstGeom>
        </p:spPr>
        <p:txBody>
          <a:bodyPr wrap="square">
            <a:spAutoFit/>
          </a:bodyPr>
          <a:lstStyle/>
          <a:p>
            <a:r>
              <a:rPr lang="zh-CN" altLang="en-US" sz="1800" b="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第五节  不同市场的比较</a:t>
            </a:r>
            <a:endParaRPr lang="zh-CN" altLang="en-US" sz="18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 name="矩形 4">
            <a:extLst>
              <a:ext uri="{FF2B5EF4-FFF2-40B4-BE49-F238E27FC236}">
                <a16:creationId xmlns:a16="http://schemas.microsoft.com/office/drawing/2014/main" id="{F68E5273-CD77-47B9-B841-9D29349C133D}"/>
              </a:ext>
            </a:extLst>
          </p:cNvPr>
          <p:cNvSpPr/>
          <p:nvPr/>
        </p:nvSpPr>
        <p:spPr>
          <a:xfrm>
            <a:off x="457202" y="548681"/>
            <a:ext cx="3322744"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marL="0" lvl="1">
              <a:defRPr/>
            </a:pPr>
            <a:r>
              <a:rPr lang="zh-CN" altLang="en-US" sz="2400" spc="150" dirty="0">
                <a:solidFill>
                  <a:srgbClr val="FFFFFF"/>
                </a:solidFill>
                <a:latin typeface="微软雅黑" panose="020B0503020204020204" pitchFamily="34" charset="-122"/>
                <a:ea typeface="微软雅黑" panose="020B0503020204020204" pitchFamily="34" charset="-122"/>
              </a:rPr>
              <a:t>二</a:t>
            </a:r>
            <a:r>
              <a:rPr lang="zh-CN" altLang="en-US" sz="2400" b="1" spc="150" dirty="0">
                <a:solidFill>
                  <a:srgbClr val="FFFFFF"/>
                </a:solidFill>
                <a:latin typeface="微软雅黑" panose="020B0503020204020204" pitchFamily="34" charset="-122"/>
                <a:ea typeface="微软雅黑" panose="020B0503020204020204" pitchFamily="34" charset="-122"/>
              </a:rPr>
              <a:t>、</a:t>
            </a:r>
            <a:r>
              <a:rPr lang="zh-CN" altLang="en-US" sz="2400" spc="15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动态因素的比较</a:t>
            </a:r>
            <a:endParaRPr lang="en-US" altLang="zh-CN" sz="2400" spc="150" dirty="0">
              <a:solidFill>
                <a:srgbClr val="FFFFFF"/>
              </a:solidFill>
              <a:latin typeface="微软雅黑" panose="020B0503020204020204" pitchFamily="34" charset="-122"/>
              <a:ea typeface="微软雅黑" panose="020B0503020204020204" pitchFamily="34"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2466">
                                            <p:txEl>
                                              <p:pRg st="0" end="0"/>
                                            </p:txEl>
                                          </p:spTgt>
                                        </p:tgtEl>
                                        <p:attrNameLst>
                                          <p:attrName>style.visibility</p:attrName>
                                        </p:attrNameLst>
                                      </p:cBhvr>
                                      <p:to>
                                        <p:strVal val="visible"/>
                                      </p:to>
                                    </p:set>
                                    <p:animEffect>
                                      <p:cBhvr>
                                        <p:cTn id="7" dur="500"/>
                                        <p:tgtEl>
                                          <p:spTgt spid="6246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2466">
                                            <p:txEl>
                                              <p:pRg st="1" end="1"/>
                                            </p:txEl>
                                          </p:spTgt>
                                        </p:tgtEl>
                                        <p:attrNameLst>
                                          <p:attrName>style.visibility</p:attrName>
                                        </p:attrNameLst>
                                      </p:cBhvr>
                                      <p:to>
                                        <p:strVal val="visible"/>
                                      </p:to>
                                    </p:set>
                                    <p:animEffect>
                                      <p:cBhvr>
                                        <p:cTn id="12" dur="500"/>
                                        <p:tgtEl>
                                          <p:spTgt spid="62466">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62466">
                                            <p:txEl>
                                              <p:pRg st="2" end="2"/>
                                            </p:txEl>
                                          </p:spTgt>
                                        </p:tgtEl>
                                        <p:attrNameLst>
                                          <p:attrName>style.visibility</p:attrName>
                                        </p:attrNameLst>
                                      </p:cBhvr>
                                      <p:to>
                                        <p:strVal val="visible"/>
                                      </p:to>
                                    </p:set>
                                    <p:animEffect>
                                      <p:cBhvr>
                                        <p:cTn id="17" dur="500"/>
                                        <p:tgtEl>
                                          <p:spTgt spid="62466">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62466">
                                            <p:txEl>
                                              <p:pRg st="3" end="3"/>
                                            </p:txEl>
                                          </p:spTgt>
                                        </p:tgtEl>
                                        <p:attrNameLst>
                                          <p:attrName>style.visibility</p:attrName>
                                        </p:attrNameLst>
                                      </p:cBhvr>
                                      <p:to>
                                        <p:strVal val="visible"/>
                                      </p:to>
                                    </p:set>
                                    <p:animEffect>
                                      <p:cBhvr>
                                        <p:cTn id="22" dur="500"/>
                                        <p:tgtEl>
                                          <p:spTgt spid="6246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TextBox 1"/>
          <p:cNvSpPr txBox="1">
            <a:spLocks noChangeArrowheads="1"/>
          </p:cNvSpPr>
          <p:nvPr/>
        </p:nvSpPr>
        <p:spPr bwMode="auto">
          <a:xfrm>
            <a:off x="2688431" y="2927349"/>
            <a:ext cx="3306763"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6000" b="0" dirty="0">
                <a:solidFill>
                  <a:srgbClr val="C00000"/>
                </a:solidFill>
                <a:latin typeface="微软雅黑" panose="020B0503020204020204" pitchFamily="34" charset="-122"/>
                <a:ea typeface="Kozuka Gothic Pr6N B" panose="020B0800000000000000" pitchFamily="34" charset="-128"/>
                <a:cs typeface="Arial" panose="020B0604020202020204" pitchFamily="34" charset="0"/>
              </a:rPr>
              <a:t>THANKS</a:t>
            </a:r>
          </a:p>
        </p:txBody>
      </p:sp>
      <p:sp>
        <p:nvSpPr>
          <p:cNvPr id="4" name="空心弧 3"/>
          <p:cNvSpPr/>
          <p:nvPr/>
        </p:nvSpPr>
        <p:spPr bwMode="auto">
          <a:xfrm rot="7086271">
            <a:off x="4972844" y="2687637"/>
            <a:ext cx="1482725" cy="1482725"/>
          </a:xfrm>
          <a:prstGeom prst="blockArc">
            <a:avLst>
              <a:gd name="adj1" fmla="val 5502533"/>
              <a:gd name="adj2" fmla="val 1980318"/>
              <a:gd name="adj3" fmla="val 1053"/>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chemeClr val="tx1"/>
              </a:solidFill>
            </a:endParaRPr>
          </a:p>
        </p:txBody>
      </p:sp>
    </p:spTree>
    <p:extLst>
      <p:ext uri="{BB962C8B-B14F-4D97-AF65-F5344CB8AC3E}">
        <p14:creationId xmlns:p14="http://schemas.microsoft.com/office/powerpoint/2010/main" val="215216423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1"/>
</p:tagLst>
</file>

<file path=ppt/tags/tag2.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5"/>
</p:tagLst>
</file>

<file path=ppt/tags/tag3.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2"/>
</p:tagLst>
</file>

<file path=ppt/tags/tag4.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6"/>
</p:tagLst>
</file>

<file path=ppt/tags/tag5.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3"/>
</p:tagLst>
</file>

<file path=ppt/tags/tag6.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7"/>
</p:tagLst>
</file>

<file path=ppt/tags/tag7.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4"/>
</p:tagLst>
</file>

<file path=ppt/tags/tag8.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9"/>
</p:tagLst>
</file>

<file path=ppt/tags/tag9.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5"/>
</p:tagLst>
</file>

<file path=ppt/tags/tag10.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1"/>
</p:tagLst>
</file>

<file path=ppt/tags/tag11.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5"/>
</p:tagLst>
</file>

<file path=ppt/tags/tag12.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2"/>
</p:tagLst>
</file>

<file path=ppt/tags/tag13.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6"/>
</p:tagLst>
</file>

<file path=ppt/tags/tag14.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3"/>
</p:tagLst>
</file>

<file path=ppt/tags/tag15.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7"/>
</p:tagLst>
</file>

<file path=ppt/tags/tag16.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4"/>
</p:tagLst>
</file>

<file path=ppt/tags/tag17.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1"/>
</p:tagLst>
</file>

<file path=ppt/tags/tag18.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5"/>
</p:tagLst>
</file>

<file path=ppt/tags/tag19.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2"/>
</p:tagLst>
</file>

<file path=ppt/tags/tag20.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6"/>
</p:tagLst>
</file>

<file path=ppt/tags/tag21.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3"/>
</p:tagLst>
</file>

<file path=ppt/tags/tag22.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7"/>
</p:tagLst>
</file>

<file path=ppt/tags/tag23.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4"/>
</p:tagLst>
</file>

<file path=ppt/tags/tag24.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7"/>
</p:tagLst>
</file>

<file path=ppt/tags/tag25.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4"/>
</p:tagLst>
</file>

<file path=ppt/tags/tag26.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1"/>
</p:tagLst>
</file>

<file path=ppt/tags/tag27.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5"/>
</p:tagLst>
</file>

<file path=ppt/tags/tag28.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2"/>
</p:tagLst>
</file>

<file path=ppt/tags/tag29.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6"/>
</p:tagLst>
</file>

<file path=ppt/tags/tag30.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3"/>
</p:tagLst>
</file>

<file path=ppt/tags/tag31.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1"/>
</p:tagLst>
</file>

<file path=ppt/tags/tag32.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5"/>
</p:tagLst>
</file>

<file path=ppt/tags/tag33.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2"/>
</p:tagLst>
</file>

<file path=ppt/theme/theme1.xml><?xml version="1.0" encoding="utf-8"?>
<a:theme xmlns:a="http://schemas.openxmlformats.org/drawingml/2006/main" name="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黑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zh-CN"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zh-CN"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默认设计模板">
      <a:majorFont>
        <a:latin typeface="Arial"/>
        <a:ea typeface="黑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zh-CN"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zh-CN"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docProps/app.xml><?xml version="1.0" encoding="utf-8"?>
<Properties xmlns="http://schemas.openxmlformats.org/officeDocument/2006/extended-properties" xmlns:vt="http://schemas.openxmlformats.org/officeDocument/2006/docPropsVTypes">
  <Template/>
  <TotalTime>2183</TotalTime>
  <Pages>0</Pages>
  <Words>5932</Words>
  <Characters>0</Characters>
  <Application>Microsoft Office PowerPoint</Application>
  <DocSecurity>0</DocSecurity>
  <PresentationFormat>全屏显示(4:3)</PresentationFormat>
  <Lines>0</Lines>
  <Paragraphs>978</Paragraphs>
  <Slides>73</Slides>
  <Notes>6</Notes>
  <HiddenSlides>0</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73</vt:i4>
      </vt:variant>
    </vt:vector>
  </HeadingPairs>
  <TitlesOfParts>
    <vt:vector size="81" baseType="lpstr">
      <vt:lpstr>微软雅黑</vt:lpstr>
      <vt:lpstr>新宋体</vt:lpstr>
      <vt:lpstr>Arial</vt:lpstr>
      <vt:lpstr>Cambria Math</vt:lpstr>
      <vt:lpstr>Times New Roman</vt:lpstr>
      <vt:lpstr>Wingdings</vt:lpstr>
      <vt:lpstr>默认设计模板</vt:lpstr>
      <vt:lpstr>1_默认设计模板</vt:lpstr>
      <vt:lpstr>第五章 不完全竞争市场</vt:lpstr>
      <vt:lpstr>PowerPoint 演示文稿</vt:lpstr>
      <vt:lpstr>第五章 不完全竞争市场</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第**章 章名称</dc:title>
  <dc:subject/>
  <dc:creator>fds</dc:creator>
  <cp:keywords/>
  <dc:description/>
  <cp:lastModifiedBy>qiang wu</cp:lastModifiedBy>
  <cp:revision>421</cp:revision>
  <cp:lastPrinted>2411-12-30T00:00:00Z</cp:lastPrinted>
  <dcterms:created xsi:type="dcterms:W3CDTF">2012-04-25T07:16:00Z</dcterms:created>
  <dcterms:modified xsi:type="dcterms:W3CDTF">2024-05-23T06:15:00Z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2052-9.1.0.5060</vt:lpwstr>
  </property>
</Properties>
</file>