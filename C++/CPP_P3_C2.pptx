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7"/>
  </p:notesMasterIdLst>
  <p:handoutMasterIdLst>
    <p:handoutMasterId r:id="rId68"/>
  </p:handoutMasterIdLst>
  <p:sldIdLst>
    <p:sldId id="269" r:id="rId2"/>
    <p:sldId id="270" r:id="rId3"/>
    <p:sldId id="434" r:id="rId4"/>
    <p:sldId id="433" r:id="rId5"/>
    <p:sldId id="435" r:id="rId6"/>
    <p:sldId id="273" r:id="rId7"/>
    <p:sldId id="436" r:id="rId8"/>
    <p:sldId id="437" r:id="rId9"/>
    <p:sldId id="440" r:id="rId10"/>
    <p:sldId id="441" r:id="rId11"/>
    <p:sldId id="442" r:id="rId12"/>
    <p:sldId id="444" r:id="rId13"/>
    <p:sldId id="443" r:id="rId14"/>
    <p:sldId id="317" r:id="rId15"/>
    <p:sldId id="445" r:id="rId16"/>
    <p:sldId id="446" r:id="rId17"/>
    <p:sldId id="438" r:id="rId18"/>
    <p:sldId id="447" r:id="rId19"/>
    <p:sldId id="439" r:id="rId20"/>
    <p:sldId id="322" r:id="rId21"/>
    <p:sldId id="280" r:id="rId22"/>
    <p:sldId id="281" r:id="rId23"/>
    <p:sldId id="448" r:id="rId24"/>
    <p:sldId id="282" r:id="rId25"/>
    <p:sldId id="258" r:id="rId26"/>
    <p:sldId id="257" r:id="rId27"/>
    <p:sldId id="367" r:id="rId28"/>
    <p:sldId id="381" r:id="rId29"/>
    <p:sldId id="389" r:id="rId30"/>
    <p:sldId id="368" r:id="rId31"/>
    <p:sldId id="382" r:id="rId32"/>
    <p:sldId id="369" r:id="rId33"/>
    <p:sldId id="385" r:id="rId34"/>
    <p:sldId id="390" r:id="rId35"/>
    <p:sldId id="370" r:id="rId36"/>
    <p:sldId id="371" r:id="rId37"/>
    <p:sldId id="372" r:id="rId38"/>
    <p:sldId id="373" r:id="rId39"/>
    <p:sldId id="374" r:id="rId40"/>
    <p:sldId id="375" r:id="rId41"/>
    <p:sldId id="383" r:id="rId42"/>
    <p:sldId id="376" r:id="rId43"/>
    <p:sldId id="377" r:id="rId44"/>
    <p:sldId id="378" r:id="rId45"/>
    <p:sldId id="386" r:id="rId46"/>
    <p:sldId id="431" r:id="rId47"/>
    <p:sldId id="357" r:id="rId48"/>
    <p:sldId id="384" r:id="rId49"/>
    <p:sldId id="392" r:id="rId50"/>
    <p:sldId id="356" r:id="rId51"/>
    <p:sldId id="393" r:id="rId52"/>
    <p:sldId id="394" r:id="rId53"/>
    <p:sldId id="395" r:id="rId54"/>
    <p:sldId id="396" r:id="rId55"/>
    <p:sldId id="397" r:id="rId56"/>
    <p:sldId id="398" r:id="rId57"/>
    <p:sldId id="399" r:id="rId58"/>
    <p:sldId id="400" r:id="rId59"/>
    <p:sldId id="380" r:id="rId60"/>
    <p:sldId id="388" r:id="rId61"/>
    <p:sldId id="401" r:id="rId62"/>
    <p:sldId id="405" r:id="rId63"/>
    <p:sldId id="413" r:id="rId64"/>
    <p:sldId id="414" r:id="rId65"/>
    <p:sldId id="415" r:id="rId6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Tahoma" panose="020B0804030504040204" charset="0"/>
        <a:ea typeface="SimSun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Tahoma" panose="020B0804030504040204" charset="0"/>
        <a:ea typeface="SimSun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Tahoma" panose="020B0804030504040204" charset="0"/>
        <a:ea typeface="SimSun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Tahoma" panose="020B0804030504040204" charset="0"/>
        <a:ea typeface="SimSun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Tahoma" panose="020B0804030504040204" charset="0"/>
        <a:ea typeface="SimSun" charset="-122"/>
        <a:cs typeface="+mn-cs"/>
      </a:defRPr>
    </a:lvl5pPr>
    <a:lvl6pPr marL="2286000" algn="l" defTabSz="914400" rtl="0" eaLnBrk="1" latinLnBrk="0" hangingPunct="1">
      <a:defRPr kumimoji="1" sz="2400" i="1" kern="1200">
        <a:solidFill>
          <a:schemeClr val="tx1"/>
        </a:solidFill>
        <a:latin typeface="Tahoma" panose="020B0804030504040204" charset="0"/>
        <a:ea typeface="SimSun" charset="-122"/>
        <a:cs typeface="+mn-cs"/>
      </a:defRPr>
    </a:lvl6pPr>
    <a:lvl7pPr marL="2743200" algn="l" defTabSz="914400" rtl="0" eaLnBrk="1" latinLnBrk="0" hangingPunct="1">
      <a:defRPr kumimoji="1" sz="2400" i="1" kern="1200">
        <a:solidFill>
          <a:schemeClr val="tx1"/>
        </a:solidFill>
        <a:latin typeface="Tahoma" panose="020B0804030504040204" charset="0"/>
        <a:ea typeface="SimSun" charset="-122"/>
        <a:cs typeface="+mn-cs"/>
      </a:defRPr>
    </a:lvl7pPr>
    <a:lvl8pPr marL="3200400" algn="l" defTabSz="914400" rtl="0" eaLnBrk="1" latinLnBrk="0" hangingPunct="1">
      <a:defRPr kumimoji="1" sz="2400" i="1" kern="1200">
        <a:solidFill>
          <a:schemeClr val="tx1"/>
        </a:solidFill>
        <a:latin typeface="Tahoma" panose="020B0804030504040204" charset="0"/>
        <a:ea typeface="SimSun" charset="-122"/>
        <a:cs typeface="+mn-cs"/>
      </a:defRPr>
    </a:lvl8pPr>
    <a:lvl9pPr marL="3657600" algn="l" defTabSz="914400" rtl="0" eaLnBrk="1" latinLnBrk="0" hangingPunct="1">
      <a:defRPr kumimoji="1" sz="2400" i="1" kern="1200">
        <a:solidFill>
          <a:schemeClr val="tx1"/>
        </a:solidFill>
        <a:latin typeface="Tahoma" panose="020B0804030504040204" charset="0"/>
        <a:ea typeface="SimSun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929F9F4-4A8F-4326-A1B4-22849713DDAB}" styleName="深色样式 1 - 强调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19" autoAdjust="0"/>
    <p:restoredTop sz="71527" autoAdjust="0"/>
  </p:normalViewPr>
  <p:slideViewPr>
    <p:cSldViewPr>
      <p:cViewPr varScale="1">
        <p:scale>
          <a:sx n="88" d="100"/>
          <a:sy n="88" d="100"/>
        </p:scale>
        <p:origin x="270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120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120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fld id="{B83C7A7A-3292-D544-804C-6E56607111E4}" type="datetimeFigureOut">
              <a:rPr lang="en-US"/>
              <a:t>11/9/25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120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120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fld id="{64439808-3126-8948-820E-4BCC393D38B0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120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120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fld id="{C1A8B457-C542-A34B-9599-D9286F6596AD}" type="datetimeFigureOut">
              <a:rPr lang="zh-CN" altLang="en-US"/>
              <a:t>2025/11/9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120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120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fld id="{AFCF9BB5-D8D7-5D49-93FC-CF4B757E63A8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3993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9A072253-6AF4-0A48-8C4F-5E60CE574B3B}" type="slidenum">
              <a:rPr lang="zh-CN" altLang="en-US">
                <a:latin typeface="Tahoma" panose="020B0804030504040204" charset="0"/>
              </a:rPr>
              <a:t>1</a:t>
            </a:fld>
            <a:endParaRPr lang="en-US" altLang="zh-CN">
              <a:latin typeface="Tahoma" panose="020B080403050404020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366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/>
          <a:p>
            <a:endParaRPr lang="zh-CN" altLang="en-US" dirty="0"/>
          </a:p>
        </p:txBody>
      </p:sp>
      <p:sp>
        <p:nvSpPr>
          <p:cNvPr id="4301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fld id="{E02E1D60-6251-8E4C-B1FD-7FB7BC843E47}" type="slidenum">
              <a:rPr lang="zh-CN" altLang="en-US" sz="1200"/>
              <a:t>3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42AE6-61CD-A8E6-2826-75D6897F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>
            <a:extLst>
              <a:ext uri="{FF2B5EF4-FFF2-40B4-BE49-F238E27FC236}">
                <a16:creationId xmlns:a16="http://schemas.microsoft.com/office/drawing/2014/main" id="{61A51513-2336-CAA9-0695-795400E420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0" name="备注占位符 2">
            <a:extLst>
              <a:ext uri="{FF2B5EF4-FFF2-40B4-BE49-F238E27FC236}">
                <a16:creationId xmlns:a16="http://schemas.microsoft.com/office/drawing/2014/main" id="{D3CDE9DA-7C28-2952-875E-7371A7C7C0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/>
          <a:p>
            <a:endParaRPr lang="zh-CN" altLang="en-US" dirty="0"/>
          </a:p>
        </p:txBody>
      </p:sp>
      <p:sp>
        <p:nvSpPr>
          <p:cNvPr id="43011" name="灯片编号占位符 3">
            <a:extLst>
              <a:ext uri="{FF2B5EF4-FFF2-40B4-BE49-F238E27FC236}">
                <a16:creationId xmlns:a16="http://schemas.microsoft.com/office/drawing/2014/main" id="{373DB550-2D41-50C4-43FD-CC0C7028C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fld id="{E02E1D60-6251-8E4C-B1FD-7FB7BC843E47}" type="slidenum">
              <a:rPr lang="zh-CN" altLang="en-US" sz="1200"/>
              <a:t>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33421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505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205C7B0A-CB51-F64E-9604-E3FA6D8AD8C7}" type="slidenum">
              <a:rPr lang="zh-CN" altLang="en-US">
                <a:latin typeface="Tahoma" panose="020B0804030504040204" charset="0"/>
              </a:rPr>
              <a:t>5</a:t>
            </a:fld>
            <a:endParaRPr lang="en-US" altLang="zh-CN">
              <a:latin typeface="Tahoma" panose="020B080403050404020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85000" lnSpcReduction="20000"/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710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984D97AB-AE10-0B43-B8DB-4B9D686FA7D5}" type="slidenum">
              <a:rPr lang="zh-CN" altLang="en-US">
                <a:latin typeface="Tahoma" panose="020B0804030504040204" charset="0"/>
              </a:rPr>
              <a:t>6</a:t>
            </a:fld>
            <a:endParaRPr lang="en-US" altLang="zh-CN">
              <a:latin typeface="Tahoma" panose="020B080403050404020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0C698-1AEF-7EA0-0831-848211689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6B063F-DFFB-C2C9-6CAE-B0FF7B22D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45B29E-4B16-2ADB-075E-84790C3CE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CF3639-4696-3288-F510-32F923D18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1049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9468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8C5E2-5D8B-4C81-B9D8-D611DEE47478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41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8C5E2-5D8B-4C81-B9D8-D611DEE47478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388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48C5E2-5D8B-4C81-B9D8-D611DEE47478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95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308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127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2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120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0E008500-2B7B-774D-BACF-E45ADF7880A9}" type="slidenum">
              <a:rPr lang="zh-CN" altLang="en-US">
                <a:latin typeface="Tahoma" panose="020B0804030504040204" charset="0"/>
              </a:rPr>
              <a:t>17</a:t>
            </a:fld>
            <a:endParaRPr lang="en-US" altLang="zh-CN">
              <a:latin typeface="Tahoma" panose="020B080403050404020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40D70-92AD-EC0F-D817-DDA35C51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图像占位符 1">
            <a:extLst>
              <a:ext uri="{FF2B5EF4-FFF2-40B4-BE49-F238E27FC236}">
                <a16:creationId xmlns:a16="http://schemas.microsoft.com/office/drawing/2014/main" id="{92BA72A2-C46A-59DE-C837-FF1C498DCA2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2" name="备注占位符 2">
            <a:extLst>
              <a:ext uri="{FF2B5EF4-FFF2-40B4-BE49-F238E27FC236}">
                <a16:creationId xmlns:a16="http://schemas.microsoft.com/office/drawing/2014/main" id="{5DC10BA5-1FE6-BA4C-12A3-2A231BF14E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1203" name="灯片编号占位符 3">
            <a:extLst>
              <a:ext uri="{FF2B5EF4-FFF2-40B4-BE49-F238E27FC236}">
                <a16:creationId xmlns:a16="http://schemas.microsoft.com/office/drawing/2014/main" id="{3DFF9F0D-39E2-8B32-3BEE-C7AB978F9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0E008500-2B7B-774D-BACF-E45ADF7880A9}" type="slidenum">
              <a:rPr lang="zh-CN" altLang="en-US">
                <a:latin typeface="Tahoma" panose="020B0804030504040204" charset="0"/>
              </a:rPr>
              <a:t>18</a:t>
            </a:fld>
            <a:endParaRPr lang="en-US" altLang="zh-CN">
              <a:latin typeface="Tahoma" panose="020B080403050404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2537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zh-CN" altLang="en-US" dirty="0"/>
          </a:p>
        </p:txBody>
      </p:sp>
      <p:sp>
        <p:nvSpPr>
          <p:cNvPr id="563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fld id="{2FD65807-261A-5F49-B89C-5EEC985F9999}" type="slidenum">
              <a:rPr lang="zh-CN" altLang="en-US" sz="1200"/>
              <a:t>22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4122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2D4AB3-86CA-477E-A94E-5F7731B2954A}" type="slidenum">
              <a:rPr lang="zh-CN" altLang="en-US" smtClean="0"/>
              <a:pPr/>
              <a:t>25</a:t>
            </a:fld>
            <a:endParaRPr lang="en-US" altLang="zh-CN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183BA4-5EF4-4F04-B427-AC1845DE45B2}" type="slidenum">
              <a:rPr lang="zh-CN" altLang="en-US" smtClean="0"/>
              <a:pPr/>
              <a:t>26</a:t>
            </a:fld>
            <a:endParaRPr lang="en-US" altLang="zh-CN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2D4AB3-86CA-477E-A94E-5F7731B2954A}" type="slidenum">
              <a:rPr lang="zh-CN" altLang="en-US" smtClean="0"/>
              <a:pPr/>
              <a:t>32</a:t>
            </a:fld>
            <a:endParaRPr lang="en-US" altLang="zh-CN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2D4AB3-86CA-477E-A94E-5F7731B2954A}" type="slidenum">
              <a:rPr lang="zh-CN" altLang="en-US" smtClean="0"/>
              <a:pPr/>
              <a:t>34</a:t>
            </a:fld>
            <a:endParaRPr lang="en-US" altLang="zh-CN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2D4AB3-86CA-477E-A94E-5F7731B2954A}" type="slidenum">
              <a:rPr lang="zh-CN" altLang="en-US" smtClean="0"/>
              <a:pPr/>
              <a:t>35</a:t>
            </a:fld>
            <a:endParaRPr lang="en-US" altLang="zh-CN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2D4AB3-86CA-477E-A94E-5F7731B2954A}" type="slidenum">
              <a:rPr lang="zh-CN" altLang="en-US" smtClean="0"/>
              <a:pPr/>
              <a:t>36</a:t>
            </a:fld>
            <a:endParaRPr lang="en-US" altLang="zh-CN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2D4AB3-86CA-477E-A94E-5F7731B2954A}" type="slidenum">
              <a:rPr lang="zh-CN" altLang="en-US" smtClean="0"/>
              <a:pPr/>
              <a:t>37</a:t>
            </a:fld>
            <a:endParaRPr lang="en-US" altLang="zh-CN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2D4AB3-86CA-477E-A94E-5F7731B2954A}" type="slidenum">
              <a:rPr lang="zh-CN" altLang="en-US" smtClean="0"/>
              <a:pPr/>
              <a:t>38</a:t>
            </a:fld>
            <a:endParaRPr lang="en-US" altLang="zh-CN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2D4AB3-86CA-477E-A94E-5F7731B2954A}" type="slidenum">
              <a:rPr lang="zh-CN" altLang="en-US" smtClean="0"/>
              <a:pPr/>
              <a:t>39</a:t>
            </a:fld>
            <a:endParaRPr lang="en-US" altLang="zh-CN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2D4AB3-86CA-477E-A94E-5F7731B2954A}" type="slidenum">
              <a:rPr lang="zh-CN" altLang="en-US" smtClean="0"/>
              <a:pPr/>
              <a:t>40</a:t>
            </a:fld>
            <a:endParaRPr lang="en-US" altLang="zh-CN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2D4AB3-86CA-477E-A94E-5F7731B2954A}" type="slidenum">
              <a:rPr lang="zh-CN" altLang="en-US" smtClean="0"/>
              <a:pPr/>
              <a:t>41</a:t>
            </a:fld>
            <a:endParaRPr lang="en-US" altLang="zh-CN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2D4AB3-86CA-477E-A94E-5F7731B2954A}" type="slidenum">
              <a:rPr lang="zh-CN" altLang="en-US" smtClean="0"/>
              <a:pPr/>
              <a:t>42</a:t>
            </a:fld>
            <a:endParaRPr lang="en-US" altLang="zh-CN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2D4AB3-86CA-477E-A94E-5F7731B2954A}" type="slidenum">
              <a:rPr lang="zh-CN" altLang="en-US" smtClean="0"/>
              <a:pPr/>
              <a:t>43</a:t>
            </a:fld>
            <a:endParaRPr lang="en-US" altLang="zh-CN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2D4AB3-86CA-477E-A94E-5F7731B2954A}" type="slidenum">
              <a:rPr lang="zh-CN" altLang="en-US" smtClean="0"/>
              <a:pPr/>
              <a:t>44</a:t>
            </a:fld>
            <a:endParaRPr lang="en-US" altLang="zh-CN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2D4AB3-86CA-477E-A94E-5F7731B2954A}" type="slidenum">
              <a:rPr lang="zh-CN" altLang="en-US" smtClean="0"/>
              <a:pPr/>
              <a:t>48</a:t>
            </a:fld>
            <a:endParaRPr lang="en-US" altLang="zh-CN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2D4AB3-86CA-477E-A94E-5F7731B2954A}" type="slidenum">
              <a:rPr lang="zh-CN" altLang="en-US" smtClean="0"/>
              <a:pPr/>
              <a:t>49</a:t>
            </a:fld>
            <a:endParaRPr lang="en-US" altLang="zh-CN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2D4AB3-86CA-477E-A94E-5F7731B2954A}" type="slidenum">
              <a:rPr lang="zh-CN" altLang="en-US" smtClean="0"/>
              <a:pPr/>
              <a:t>50</a:t>
            </a:fld>
            <a:endParaRPr lang="en-US" altLang="zh-CN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FFFBB2-A336-49B3-93BA-678C3634664D}" type="slidenum">
              <a:rPr lang="zh-CN" altLang="en-US" smtClean="0"/>
              <a:pPr>
                <a:defRPr/>
              </a:pPr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270651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FFFBB2-A336-49B3-93BA-678C3634664D}" type="slidenum">
              <a:rPr lang="zh-CN" altLang="en-US" smtClean="0"/>
              <a:pPr>
                <a:defRPr/>
              </a:pPr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66827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298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1pPr>
                <a:lvl2pPr marL="742950" indent="-28575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5pPr>
                <a:lvl6pPr marL="25146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6pPr>
                <a:lvl7pPr marL="29718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7pPr>
                <a:lvl8pPr marL="34290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8pPr>
                <a:lvl9pPr marL="38862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1pPr>
                <a:lvl2pPr marL="742950" indent="-28575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5pPr>
                <a:lvl6pPr marL="25146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6pPr>
                <a:lvl7pPr marL="29718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7pPr>
                <a:lvl8pPr marL="34290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8pPr>
                <a:lvl9pPr marL="38862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1pPr>
                <a:lvl2pPr marL="742950" indent="-28575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5pPr>
                <a:lvl6pPr marL="25146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6pPr>
                <a:lvl7pPr marL="29718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7pPr>
                <a:lvl8pPr marL="34290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8pPr>
                <a:lvl9pPr marL="38862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1pPr>
                <a:lvl2pPr marL="742950" indent="-28575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5pPr>
                <a:lvl6pPr marL="25146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6pPr>
                <a:lvl7pPr marL="29718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7pPr>
                <a:lvl8pPr marL="34290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8pPr>
                <a:lvl9pPr marL="3886200" indent="-228600" algn="just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 kumimoji="1" sz="2400" i="1">
                    <a:solidFill>
                      <a:schemeClr val="tx1"/>
                    </a:solidFill>
                    <a:latin typeface="Tahoma" panose="020B0804030504040204" charset="0"/>
                    <a:ea typeface="SimSun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1pPr>
              <a:lvl2pPr marL="742950" indent="-28575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2pPr>
              <a:lvl3pPr marL="1143000" indent="-22860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3pPr>
              <a:lvl4pPr marL="1600200" indent="-22860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4pPr>
              <a:lvl5pPr marL="2057400" indent="-22860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5pPr>
              <a:lvl6pPr marL="25146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6pPr>
              <a:lvl7pPr marL="29718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7pPr>
              <a:lvl8pPr marL="34290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8pPr>
              <a:lvl9pPr marL="38862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1pPr>
              <a:lvl2pPr marL="742950" indent="-28575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2pPr>
              <a:lvl3pPr marL="1143000" indent="-22860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3pPr>
              <a:lvl4pPr marL="1600200" indent="-22860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4pPr>
              <a:lvl5pPr marL="2057400" indent="-22860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5pPr>
              <a:lvl6pPr marL="25146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6pPr>
              <a:lvl7pPr marL="29718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7pPr>
              <a:lvl8pPr marL="34290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8pPr>
              <a:lvl9pPr marL="38862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1pPr>
              <a:lvl2pPr marL="742950" indent="-28575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2pPr>
              <a:lvl3pPr marL="1143000" indent="-22860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3pPr>
              <a:lvl4pPr marL="1600200" indent="-22860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4pPr>
              <a:lvl5pPr marL="2057400" indent="-228600" algn="just"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5pPr>
              <a:lvl6pPr marL="25146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6pPr>
              <a:lvl7pPr marL="29718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7pPr>
              <a:lvl8pPr marL="34290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8pPr>
              <a:lvl9pPr marL="3886200" indent="-228600" algn="just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 kumimoji="1" sz="2400" i="1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81C95258-68AE-FD4B-8236-D26A719CC2B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2077DC-756B-0A43-97C2-56D92CAACD7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87C545-38E5-B44B-8458-472EBF1759C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D1799-CFEA-814B-AEE5-EDD2A7ABDD3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B61200-847C-0945-9F3B-06BFD00CD2F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142A79-2DDC-464C-A5BF-32215B1B0DE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75EA9-DE5E-824F-9FDC-2277BE9AE05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BDC920-875B-224A-B639-4B7966933C6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187C00-67C4-DA4A-987E-9EDE806600F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ACC722-8DA1-444C-9958-A494FFE8DBB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C6D5B-8B3E-554D-8ABF-CBC24004F9D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i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i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i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i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i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i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 algn="just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i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 i="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 i="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400" i="0">
                <a:latin typeface="Tahoma" panose="020B0804030504040204" charset="0"/>
                <a:ea typeface="SimSun" charset="-122"/>
              </a:defRPr>
            </a:lvl1pPr>
          </a:lstStyle>
          <a:p>
            <a:pPr>
              <a:defRPr/>
            </a:pPr>
            <a:fld id="{D5654C3A-3D29-6D46-98ED-EC5CD6C91F91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804030504040204" charset="0"/>
          <a:ea typeface="SimSun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804030504040204" charset="0"/>
          <a:ea typeface="SimSun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804030504040204" charset="0"/>
          <a:ea typeface="SimSun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804030504040204" charset="0"/>
          <a:ea typeface="SimSun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804030504040204" charset="0"/>
          <a:ea typeface="SimSun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804030504040204" charset="0"/>
          <a:ea typeface="SimSun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804030504040204" charset="0"/>
          <a:ea typeface="SimSun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804030504040204" charset="0"/>
          <a:ea typeface="SimSun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特殊操作符重载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459287"/>
          </a:xfrm>
        </p:spPr>
        <p:txBody>
          <a:bodyPr/>
          <a:lstStyle/>
          <a:p>
            <a:pPr eaLnBrk="1" hangingPunct="1"/>
            <a:r>
              <a:rPr lang="en-GB" altLang="en-US" sz="2800" b="1" dirty="0">
                <a:solidFill>
                  <a:schemeClr val="tx2"/>
                </a:solidFill>
                <a:latin typeface="SimSun" charset="-122"/>
              </a:rPr>
              <a:t>=</a:t>
            </a:r>
          </a:p>
          <a:p>
            <a:pPr lvl="1" algn="just" eaLnBrk="1" hangingPunct="1"/>
            <a:r>
              <a:rPr lang="en-GB" altLang="en-US" sz="2400" dirty="0" err="1">
                <a:latin typeface="SimSun" charset="-122"/>
              </a:rPr>
              <a:t>默认赋值操作符</a:t>
            </a:r>
            <a:r>
              <a:rPr lang="en-GB" altLang="zh-CN" sz="2400" dirty="0" err="1">
                <a:latin typeface="SimSun" charset="-122"/>
              </a:rPr>
              <a:t>重载</a:t>
            </a:r>
            <a:r>
              <a:rPr lang="en-GB" altLang="en-US" sz="2400" dirty="0" err="1">
                <a:latin typeface="SimSun" charset="-122"/>
              </a:rPr>
              <a:t>函数</a:t>
            </a:r>
            <a:endParaRPr lang="en-GB" altLang="en-US" sz="2400" dirty="0">
              <a:latin typeface="SimSun" charset="-122"/>
            </a:endParaRPr>
          </a:p>
          <a:p>
            <a:pPr lvl="2" algn="just" eaLnBrk="1" hangingPunct="1"/>
            <a:r>
              <a:rPr lang="en-GB" altLang="en-US" dirty="0" err="1">
                <a:latin typeface="SimSun" charset="-122"/>
              </a:rPr>
              <a:t>逐个成员赋值</a:t>
            </a:r>
            <a:r>
              <a:rPr lang="en-GB" altLang="en-US" dirty="0">
                <a:latin typeface="SimSun" charset="-122"/>
              </a:rPr>
              <a:t>(</a:t>
            </a:r>
            <a:r>
              <a:rPr lang="en-GB" altLang="zh-CN" dirty="0"/>
              <a:t>member-wise assignment</a:t>
            </a:r>
            <a:r>
              <a:rPr lang="en-GB" altLang="zh-CN" dirty="0">
                <a:latin typeface="SimSun" charset="-122"/>
              </a:rPr>
              <a:t>)</a:t>
            </a:r>
          </a:p>
          <a:p>
            <a:pPr lvl="2" algn="just" eaLnBrk="1" hangingPunct="1"/>
            <a:r>
              <a:rPr lang="en-GB" altLang="en-US" dirty="0" err="1">
                <a:latin typeface="SimSun" charset="-122"/>
              </a:rPr>
              <a:t>对含有对象成员的类，该定义是递归的</a:t>
            </a:r>
            <a:endParaRPr lang="en-US" altLang="zh-CN" dirty="0">
              <a:latin typeface="SimSun" charset="-122"/>
            </a:endParaRPr>
          </a:p>
          <a:p>
            <a:pPr lvl="2" algn="just" eaLnBrk="1" hangingPunct="1"/>
            <a:endParaRPr lang="en-US" altLang="en-GB" dirty="0">
              <a:latin typeface="SimSun" charset="-122"/>
            </a:endParaRPr>
          </a:p>
          <a:p>
            <a:pPr lvl="1" algn="just" eaLnBrk="1" hangingPunct="1"/>
            <a:r>
              <a:rPr lang="en-US" altLang="en-GB" sz="2400" b="1" dirty="0" err="1">
                <a:solidFill>
                  <a:srgbClr val="002060"/>
                </a:solidFill>
                <a:latin typeface="SimSun" charset="-122"/>
              </a:rPr>
              <a:t>赋值操作符重载不能继承</a:t>
            </a:r>
            <a:endParaRPr lang="en-US" altLang="en-GB" sz="2400" b="1" dirty="0">
              <a:solidFill>
                <a:srgbClr val="002060"/>
              </a:solidFill>
              <a:latin typeface="SimSun" charset="-122"/>
            </a:endParaRPr>
          </a:p>
          <a:p>
            <a:pPr lvl="1" algn="just" eaLnBrk="1" hangingPunct="1"/>
            <a:endParaRPr lang="en-US" altLang="en-GB" sz="2400" b="1" dirty="0">
              <a:solidFill>
                <a:srgbClr val="002060"/>
              </a:solidFill>
              <a:latin typeface="SimSun" charset="-122"/>
            </a:endParaRPr>
          </a:p>
          <a:p>
            <a:pPr lvl="1" algn="just" eaLnBrk="1" hangingPunct="1"/>
            <a:r>
              <a:rPr lang="en-US" altLang="en-GB" sz="2400" b="1" dirty="0" err="1">
                <a:solidFill>
                  <a:srgbClr val="002060"/>
                </a:solidFill>
                <a:latin typeface="SimSun" charset="-122"/>
              </a:rPr>
              <a:t>返回值</a:t>
            </a:r>
            <a:endParaRPr lang="en-US" altLang="en-GB" sz="2400" b="1" dirty="0">
              <a:solidFill>
                <a:srgbClr val="002060"/>
              </a:solidFill>
              <a:latin typeface="SimSun" charset="-122"/>
            </a:endParaRPr>
          </a:p>
          <a:p>
            <a:pPr lvl="1" algn="just" eaLnBrk="1" hangingPunct="1"/>
            <a:endParaRPr lang="en-US" altLang="zh-CN" sz="2400" b="1" dirty="0">
              <a:solidFill>
                <a:srgbClr val="C00000"/>
              </a:solidFill>
              <a:latin typeface="SimSun" charset="-122"/>
            </a:endParaRPr>
          </a:p>
        </p:txBody>
      </p:sp>
      <p:sp>
        <p:nvSpPr>
          <p:cNvPr id="38915" name="TextBox 3"/>
          <p:cNvSpPr txBox="1">
            <a:spLocks noChangeArrowheads="1"/>
          </p:cNvSpPr>
          <p:nvPr/>
        </p:nvSpPr>
        <p:spPr bwMode="auto">
          <a:xfrm rot="-943061">
            <a:off x="5580063" y="4221163"/>
            <a:ext cx="10922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Why</a:t>
            </a:r>
            <a:r>
              <a:rPr lang="zh-CN" altLang="en-US" sz="2400" dirty="0">
                <a:solidFill>
                  <a:srgbClr val="C00000"/>
                </a:solidFill>
              </a:rPr>
              <a:t>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FA17AD-0791-E25E-91C7-5A23B4FB79C7}"/>
              </a:ext>
            </a:extLst>
          </p:cNvPr>
          <p:cNvSpPr txBox="1"/>
          <p:nvPr/>
        </p:nvSpPr>
        <p:spPr>
          <a:xfrm rot="20606768">
            <a:off x="3256854" y="4723697"/>
            <a:ext cx="45720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C00000"/>
                </a:solidFill>
              </a:rPr>
              <a:t>What</a:t>
            </a:r>
            <a:r>
              <a:rPr lang="zh-CN" altLang="en-US" sz="2400" dirty="0">
                <a:solidFill>
                  <a:srgbClr val="C00000"/>
                </a:solidFill>
              </a:rPr>
              <a:t>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特殊操作符重载</a:t>
            </a:r>
            <a:endParaRPr lang="en-US" altLang="zh-CN"/>
          </a:p>
        </p:txBody>
      </p:sp>
      <p:sp>
        <p:nvSpPr>
          <p:cNvPr id="4096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4800" y="1981200"/>
            <a:ext cx="4843463" cy="4724400"/>
          </a:xfrm>
          <a:noFill/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b="1" i="1">
                <a:solidFill>
                  <a:schemeClr val="accent2"/>
                </a:solidFill>
              </a:rPr>
              <a:t>   </a:t>
            </a:r>
            <a:r>
              <a:rPr lang="en-GB" altLang="zh-CN" sz="1600" i="1">
                <a:solidFill>
                  <a:schemeClr val="folHlink"/>
                </a:solidFill>
              </a:rPr>
              <a:t>class A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>
                <a:solidFill>
                  <a:schemeClr val="folHlink"/>
                </a:solidFill>
              </a:rPr>
              <a:t>	{      int x,y;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>
                <a:solidFill>
                  <a:schemeClr val="folHlink"/>
                </a:solidFill>
              </a:rPr>
              <a:t>	       char *p;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>
                <a:solidFill>
                  <a:schemeClr val="folHlink"/>
                </a:solidFill>
              </a:rPr>
              <a:t>	   public: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>
                <a:solidFill>
                  <a:schemeClr val="folHlink"/>
                </a:solidFill>
              </a:rPr>
              <a:t>	       A(int </a:t>
            </a:r>
            <a:r>
              <a:rPr lang="en-US" altLang="zh-CN" sz="1600" i="1">
                <a:solidFill>
                  <a:schemeClr val="folHlink"/>
                </a:solidFill>
              </a:rPr>
              <a:t>i</a:t>
            </a:r>
            <a:r>
              <a:rPr lang="en-GB" altLang="zh-CN" sz="1600" i="1">
                <a:solidFill>
                  <a:schemeClr val="folHlink"/>
                </a:solidFill>
              </a:rPr>
              <a:t>,</a:t>
            </a:r>
            <a:r>
              <a:rPr lang="en-US" altLang="zh-CN" sz="1600" i="1">
                <a:solidFill>
                  <a:schemeClr val="folHlink"/>
                </a:solidFill>
              </a:rPr>
              <a:t>i</a:t>
            </a:r>
            <a:r>
              <a:rPr lang="en-GB" altLang="zh-CN" sz="1600" i="1">
                <a:solidFill>
                  <a:schemeClr val="folHlink"/>
                </a:solidFill>
              </a:rPr>
              <a:t>nt j,char *s):x(i),y(j)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>
                <a:solidFill>
                  <a:schemeClr val="folHlink"/>
                </a:solidFill>
              </a:rPr>
              <a:t>            { p = new char[strlen(s)+1]; strcpy(p,s);}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>
                <a:solidFill>
                  <a:schemeClr val="folHlink"/>
                </a:solidFill>
              </a:rPr>
              <a:t>            virtual ~A() { delete[] p;}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>
                <a:solidFill>
                  <a:schemeClr val="folHlink"/>
                </a:solidFill>
              </a:rPr>
              <a:t>            </a:t>
            </a:r>
            <a:r>
              <a:rPr lang="en-GB" altLang="zh-CN" sz="1600" i="1">
                <a:solidFill>
                  <a:srgbClr val="FF0000"/>
                </a:solidFill>
              </a:rPr>
              <a:t>A&amp; operator = (A&amp; a)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>
                <a:solidFill>
                  <a:schemeClr val="folHlink"/>
                </a:solidFill>
              </a:rPr>
              <a:t>	      {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GB" altLang="zh-CN" sz="1600" i="1">
              <a:solidFill>
                <a:schemeClr val="folHlink"/>
              </a:solidFill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GB" altLang="zh-CN" sz="1600" i="1">
              <a:solidFill>
                <a:schemeClr val="folHlink"/>
              </a:solidFill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GB" altLang="zh-CN" sz="1600" i="1">
              <a:solidFill>
                <a:schemeClr val="folHlink"/>
              </a:solidFill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GB" altLang="zh-CN" sz="1600" i="1">
              <a:solidFill>
                <a:schemeClr val="folHlink"/>
              </a:solidFill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>
                <a:solidFill>
                  <a:schemeClr val="folHlink"/>
                </a:solidFill>
              </a:rPr>
              <a:t>	     }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>
                <a:solidFill>
                  <a:schemeClr val="folHlink"/>
                </a:solidFill>
              </a:rPr>
              <a:t>	};</a:t>
            </a:r>
            <a:endParaRPr lang="en-US" altLang="zh-CN" sz="1600" i="1">
              <a:solidFill>
                <a:schemeClr val="folHlink"/>
              </a:solidFill>
            </a:endParaRPr>
          </a:p>
        </p:txBody>
      </p:sp>
      <p:sp>
        <p:nvSpPr>
          <p:cNvPr id="109573" name="Text Box 5"/>
          <p:cNvSpPr txBox="1">
            <a:spLocks noChangeArrowheads="1"/>
          </p:cNvSpPr>
          <p:nvPr/>
        </p:nvSpPr>
        <p:spPr bwMode="auto">
          <a:xfrm>
            <a:off x="5219700" y="2060575"/>
            <a:ext cx="3733800" cy="2062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A  </a:t>
            </a:r>
            <a:r>
              <a:rPr lang="en-GB" altLang="zh-CN" sz="1600" dirty="0" err="1">
                <a:solidFill>
                  <a:schemeClr val="folHlink"/>
                </a:solidFill>
              </a:rPr>
              <a:t>a</a:t>
            </a:r>
            <a:r>
              <a:rPr lang="en-GB" altLang="zh-CN" sz="1600" dirty="0">
                <a:solidFill>
                  <a:schemeClr val="folHlink"/>
                </a:solidFill>
              </a:rPr>
              <a:t>, b;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a = b;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zh-CN" sz="2400" dirty="0">
              <a:solidFill>
                <a:schemeClr val="folHlink"/>
              </a:solidFill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charset="0"/>
              </a:rPr>
              <a:t>idle pointer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charset="0"/>
              </a:rPr>
              <a:t>Memory leak</a:t>
            </a:r>
            <a:endParaRPr lang="en-GB" altLang="zh-CN" sz="2400" dirty="0">
              <a:latin typeface="Times New Roman" panose="0202060305040502030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i="0" dirty="0">
              <a:latin typeface="Times New Roman" panose="02020603050405020304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258888" y="4652963"/>
            <a:ext cx="3097088" cy="139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x = </a:t>
            </a:r>
            <a:r>
              <a:rPr lang="en-GB" altLang="zh-CN" sz="1600" dirty="0" err="1">
                <a:solidFill>
                  <a:schemeClr val="folHlink"/>
                </a:solidFill>
              </a:rPr>
              <a:t>a.x</a:t>
            </a:r>
            <a:r>
              <a:rPr lang="en-GB" altLang="zh-CN" sz="1600" dirty="0">
                <a:solidFill>
                  <a:schemeClr val="folHlink"/>
                </a:solidFill>
              </a:rPr>
              <a:t>; y = </a:t>
            </a:r>
            <a:r>
              <a:rPr lang="en-GB" altLang="zh-CN" sz="1600" dirty="0" err="1">
                <a:solidFill>
                  <a:schemeClr val="folHlink"/>
                </a:solidFill>
              </a:rPr>
              <a:t>a.y</a:t>
            </a:r>
            <a:r>
              <a:rPr lang="en-GB" altLang="zh-CN" sz="1600" dirty="0">
                <a:solidFill>
                  <a:schemeClr val="folHlink"/>
                </a:solidFill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delete []p;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p = new char[</a:t>
            </a:r>
            <a:r>
              <a:rPr lang="en-GB" altLang="zh-CN" sz="1600" dirty="0" err="1">
                <a:solidFill>
                  <a:schemeClr val="folHlink"/>
                </a:solidFill>
              </a:rPr>
              <a:t>strlen</a:t>
            </a:r>
            <a:r>
              <a:rPr lang="en-GB" altLang="zh-CN" sz="1600" dirty="0">
                <a:solidFill>
                  <a:schemeClr val="folHlink"/>
                </a:solidFill>
              </a:rPr>
              <a:t>(</a:t>
            </a:r>
            <a:r>
              <a:rPr lang="en-GB" altLang="zh-CN" sz="1600" dirty="0" err="1">
                <a:solidFill>
                  <a:schemeClr val="folHlink"/>
                </a:solidFill>
              </a:rPr>
              <a:t>a.p</a:t>
            </a:r>
            <a:r>
              <a:rPr lang="en-GB" altLang="zh-CN" sz="1600" dirty="0">
                <a:solidFill>
                  <a:schemeClr val="folHlink"/>
                </a:solidFill>
              </a:rPr>
              <a:t>)+1];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dirty="0" err="1">
                <a:solidFill>
                  <a:schemeClr val="folHlink"/>
                </a:solidFill>
              </a:rPr>
              <a:t>strcpy</a:t>
            </a:r>
            <a:r>
              <a:rPr lang="en-GB" altLang="zh-CN" sz="1600" dirty="0">
                <a:solidFill>
                  <a:schemeClr val="folHlink"/>
                </a:solidFill>
              </a:rPr>
              <a:t>(</a:t>
            </a:r>
            <a:r>
              <a:rPr lang="en-GB" altLang="zh-CN" sz="1600" dirty="0" err="1">
                <a:solidFill>
                  <a:schemeClr val="folHlink"/>
                </a:solidFill>
              </a:rPr>
              <a:t>p,a.p</a:t>
            </a:r>
            <a:r>
              <a:rPr lang="en-GB" altLang="zh-CN" sz="1600" dirty="0">
                <a:solidFill>
                  <a:schemeClr val="folHlink"/>
                </a:solidFill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return *this;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BD760C9-0FDC-4A74-E264-A5DF9742DB2C}"/>
              </a:ext>
            </a:extLst>
          </p:cNvPr>
          <p:cNvGrpSpPr/>
          <p:nvPr/>
        </p:nvGrpSpPr>
        <p:grpSpPr>
          <a:xfrm>
            <a:off x="4572000" y="4843156"/>
            <a:ext cx="3744788" cy="1397306"/>
            <a:chOff x="4572000" y="4843156"/>
            <a:chExt cx="3744788" cy="1397306"/>
          </a:xfrm>
        </p:grpSpPr>
        <p:sp>
          <p:nvSpPr>
            <p:cNvPr id="2" name="TextBox 4">
              <a:extLst>
                <a:ext uri="{FF2B5EF4-FFF2-40B4-BE49-F238E27FC236}">
                  <a16:creationId xmlns:a16="http://schemas.microsoft.com/office/drawing/2014/main" id="{33E5EC1E-71D4-2F0C-F406-E38931C860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9700" y="4843156"/>
              <a:ext cx="3097088" cy="1397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804030504040204" charset="0"/>
                  <a:ea typeface="SimSun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buNone/>
              </a:pPr>
              <a:r>
                <a:rPr lang="en-US" altLang="zh-CN" sz="1600" dirty="0">
                  <a:solidFill>
                    <a:schemeClr val="folHlink"/>
                  </a:solidFill>
                </a:rPr>
                <a:t>char * </a:t>
              </a:r>
              <a:r>
                <a:rPr lang="en-US" altLang="zh-CN" sz="1600" dirty="0" err="1">
                  <a:solidFill>
                    <a:schemeClr val="folHlink"/>
                  </a:solidFill>
                </a:rPr>
                <a:t>pOrig</a:t>
              </a:r>
              <a:r>
                <a:rPr lang="en-US" altLang="zh-CN" sz="1600" dirty="0">
                  <a:solidFill>
                    <a:schemeClr val="folHlink"/>
                  </a:solidFill>
                </a:rPr>
                <a:t>=p;</a:t>
              </a:r>
            </a:p>
            <a:p>
              <a:pPr eaLnBrk="1" hangingPunct="1">
                <a:lnSpc>
                  <a:spcPct val="90000"/>
                </a:lnSpc>
                <a:buNone/>
              </a:pPr>
              <a:r>
                <a:rPr lang="en-US" altLang="zh-CN" sz="1600" dirty="0">
                  <a:solidFill>
                    <a:schemeClr val="folHlink"/>
                  </a:solidFill>
                </a:rPr>
                <a:t>P=new char[</a:t>
              </a:r>
              <a:r>
                <a:rPr lang="en-US" altLang="zh-CN" sz="1600" dirty="0" err="1">
                  <a:solidFill>
                    <a:schemeClr val="folHlink"/>
                  </a:solidFill>
                </a:rPr>
                <a:t>strlen</a:t>
              </a:r>
              <a:r>
                <a:rPr lang="en-US" altLang="zh-CN" sz="1600" dirty="0">
                  <a:solidFill>
                    <a:schemeClr val="folHlink"/>
                  </a:solidFill>
                </a:rPr>
                <a:t>(</a:t>
              </a:r>
              <a:r>
                <a:rPr lang="en-US" altLang="zh-CN" sz="1600" dirty="0" err="1">
                  <a:solidFill>
                    <a:schemeClr val="folHlink"/>
                  </a:solidFill>
                </a:rPr>
                <a:t>a.p</a:t>
              </a:r>
              <a:r>
                <a:rPr lang="en-US" altLang="zh-CN" sz="1600" dirty="0">
                  <a:solidFill>
                    <a:schemeClr val="folHlink"/>
                  </a:solidFill>
                </a:rPr>
                <a:t>)+1];</a:t>
              </a:r>
            </a:p>
            <a:p>
              <a:pPr eaLnBrk="1" hangingPunct="1">
                <a:lnSpc>
                  <a:spcPct val="90000"/>
                </a:lnSpc>
                <a:buNone/>
              </a:pPr>
              <a:r>
                <a:rPr lang="en-US" altLang="zh-CN" sz="1600" dirty="0" err="1">
                  <a:solidFill>
                    <a:schemeClr val="folHlink"/>
                  </a:solidFill>
                </a:rPr>
                <a:t>strcpy</a:t>
              </a:r>
              <a:r>
                <a:rPr lang="en-US" altLang="zh-CN" sz="1600" dirty="0">
                  <a:solidFill>
                    <a:schemeClr val="folHlink"/>
                  </a:solidFill>
                </a:rPr>
                <a:t>(</a:t>
              </a:r>
              <a:r>
                <a:rPr lang="en-US" altLang="zh-CN" sz="1600" dirty="0" err="1">
                  <a:solidFill>
                    <a:schemeClr val="folHlink"/>
                  </a:solidFill>
                </a:rPr>
                <a:t>p,a.p</a:t>
              </a:r>
              <a:r>
                <a:rPr lang="en-US" altLang="zh-CN" sz="1600" dirty="0">
                  <a:solidFill>
                    <a:schemeClr val="folHlink"/>
                  </a:solidFill>
                </a:rPr>
                <a:t>);</a:t>
              </a:r>
            </a:p>
            <a:p>
              <a:pPr eaLnBrk="1" hangingPunct="1">
                <a:lnSpc>
                  <a:spcPct val="90000"/>
                </a:lnSpc>
                <a:buNone/>
              </a:pPr>
              <a:r>
                <a:rPr lang="en-US" altLang="zh-CN" sz="1600" dirty="0" err="1">
                  <a:solidFill>
                    <a:schemeClr val="folHlink"/>
                  </a:solidFill>
                </a:rPr>
                <a:t>detele</a:t>
              </a:r>
              <a:r>
                <a:rPr lang="en-US" altLang="zh-CN" sz="1600" dirty="0">
                  <a:solidFill>
                    <a:schemeClr val="folHlink"/>
                  </a:solidFill>
                </a:rPr>
                <a:t> </a:t>
              </a:r>
              <a:r>
                <a:rPr lang="en-US" altLang="zh-CN" sz="1600" dirty="0" err="1">
                  <a:solidFill>
                    <a:schemeClr val="folHlink"/>
                  </a:solidFill>
                </a:rPr>
                <a:t>pOrig</a:t>
              </a:r>
              <a:r>
                <a:rPr lang="en-US" altLang="zh-CN" sz="1600" dirty="0">
                  <a:solidFill>
                    <a:schemeClr val="folHlink"/>
                  </a:solidFill>
                </a:rPr>
                <a:t>;</a:t>
              </a:r>
            </a:p>
            <a:p>
              <a:pPr eaLnBrk="1" hangingPunct="1">
                <a:lnSpc>
                  <a:spcPct val="90000"/>
                </a:lnSpc>
                <a:buNone/>
              </a:pPr>
              <a:r>
                <a:rPr lang="en-US" altLang="zh-CN" sz="1600" dirty="0">
                  <a:solidFill>
                    <a:schemeClr val="folHlink"/>
                  </a:solidFill>
                </a:rPr>
                <a:t>return *this;</a:t>
              </a:r>
              <a:endParaRPr lang="en-GB" altLang="zh-CN" sz="1600" dirty="0">
                <a:solidFill>
                  <a:schemeClr val="folHlink"/>
                </a:solidFill>
              </a:endParaRPr>
            </a:p>
          </p:txBody>
        </p:sp>
        <p:sp>
          <p:nvSpPr>
            <p:cNvPr id="3" name="右箭头 2">
              <a:extLst>
                <a:ext uri="{FF2B5EF4-FFF2-40B4-BE49-F238E27FC236}">
                  <a16:creationId xmlns:a16="http://schemas.microsoft.com/office/drawing/2014/main" id="{69321ABC-F3B8-23CD-D73F-99D07C1EBD56}"/>
                </a:ext>
              </a:extLst>
            </p:cNvPr>
            <p:cNvSpPr/>
            <p:nvPr/>
          </p:nvSpPr>
          <p:spPr bwMode="auto">
            <a:xfrm>
              <a:off x="4572000" y="5351463"/>
              <a:ext cx="576263" cy="190346"/>
            </a:xfrm>
            <a:prstGeom prst="rightArrow">
              <a:avLst/>
            </a:prstGeom>
            <a:solidFill>
              <a:srgbClr val="0070C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342900" marR="0" indent="-342900" algn="just" defTabSz="914400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kumimoji="1" lang="zh-CN" alt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anose="020B0804030504040204" charset="0"/>
                <a:ea typeface="SimSun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特殊操作符重载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32712" cy="4535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避免自我赋值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Sample: class string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s = s?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1800" dirty="0">
                <a:latin typeface="Arial" panose="020B0604020202090204" pitchFamily="34" charset="0"/>
              </a:rPr>
              <a:t>class { …  A void f(A&amp; a); … }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1800" dirty="0">
                <a:latin typeface="Arial" panose="020B0604020202090204" pitchFamily="34" charset="0"/>
              </a:rPr>
              <a:t>void f(A&amp;a1, A&amp; a2);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1800" dirty="0">
                <a:latin typeface="Arial" panose="020B0604020202090204" pitchFamily="34" charset="0"/>
              </a:rPr>
              <a:t>int f2(Derived &amp;</a:t>
            </a:r>
            <a:r>
              <a:rPr lang="en-US" altLang="zh-CN" sz="1800" dirty="0" err="1">
                <a:latin typeface="Arial" panose="020B0604020202090204" pitchFamily="34" charset="0"/>
              </a:rPr>
              <a:t>rd</a:t>
            </a:r>
            <a:r>
              <a:rPr lang="en-US" altLang="zh-CN" sz="1800" dirty="0">
                <a:latin typeface="Arial" panose="020B0604020202090204" pitchFamily="34" charset="0"/>
              </a:rPr>
              <a:t>, Base&amp; </a:t>
            </a:r>
            <a:r>
              <a:rPr lang="en-US" altLang="zh-CN" sz="1800" dirty="0" err="1">
                <a:latin typeface="Arial" panose="020B0604020202090204" pitchFamily="34" charset="0"/>
              </a:rPr>
              <a:t>rb</a:t>
            </a:r>
            <a:r>
              <a:rPr lang="en-US" altLang="zh-CN" sz="1800" dirty="0">
                <a:latin typeface="Arial" panose="020B0604020202090204" pitchFamily="34" charset="0"/>
              </a:rPr>
              <a:t>);</a:t>
            </a:r>
          </a:p>
          <a:p>
            <a:pPr lvl="2" eaLnBrk="1" hangingPunct="1">
              <a:lnSpc>
                <a:spcPct val="90000"/>
              </a:lnSpc>
            </a:pPr>
            <a:endParaRPr lang="en-US" altLang="zh-CN" sz="2000" dirty="0"/>
          </a:p>
          <a:p>
            <a:pPr lvl="1" eaLnBrk="1" hangingPunct="1">
              <a:lnSpc>
                <a:spcPct val="90000"/>
              </a:lnSpc>
            </a:pPr>
            <a:endParaRPr lang="en-US" altLang="zh-CN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Object identity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/>
              <a:t>Content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/>
              <a:t>Same memory location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/>
              <a:t>Object identifier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zh-CN" altLang="en-US" sz="2800" dirty="0"/>
          </a:p>
        </p:txBody>
      </p:sp>
      <p:sp>
        <p:nvSpPr>
          <p:cNvPr id="116740" name="Text Box 4"/>
          <p:cNvSpPr txBox="1">
            <a:spLocks noChangeArrowheads="1"/>
          </p:cNvSpPr>
          <p:nvPr/>
        </p:nvSpPr>
        <p:spPr bwMode="auto">
          <a:xfrm>
            <a:off x="5399088" y="3817938"/>
            <a:ext cx="3673475" cy="254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>
                <a:solidFill>
                  <a:srgbClr val="FF3300"/>
                </a:solidFill>
                <a:latin typeface="Arial" panose="020B0604020202090204" pitchFamily="34" charset="0"/>
              </a:rPr>
              <a:t>class 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>
                <a:solidFill>
                  <a:srgbClr val="FF3300"/>
                </a:solidFill>
                <a:latin typeface="Arial" panose="020B0604020202090204" pitchFamily="34" charset="0"/>
              </a:rPr>
              <a:t>{   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>
                <a:solidFill>
                  <a:srgbClr val="FF3300"/>
                </a:solidFill>
                <a:latin typeface="Arial" panose="020B0604020202090204" pitchFamily="34" charset="0"/>
              </a:rPr>
              <a:t>        ObjectID  identity() const;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>
                <a:solidFill>
                  <a:srgbClr val="FF3300"/>
                </a:solidFill>
                <a:latin typeface="Arial" panose="020B0604020202090204" pitchFamily="34" charset="0"/>
              </a:rPr>
              <a:t>         …..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>
                <a:solidFill>
                  <a:srgbClr val="FF3300"/>
                </a:solidFill>
                <a:latin typeface="Arial" panose="020B0604020202090204" pitchFamily="34" charset="0"/>
              </a:rPr>
              <a:t>};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>
                <a:solidFill>
                  <a:srgbClr val="FF3300"/>
                </a:solidFill>
                <a:latin typeface="Arial" panose="020B0604020202090204" pitchFamily="34" charset="0"/>
              </a:rPr>
              <a:t>A *p1,*p2;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>
                <a:solidFill>
                  <a:srgbClr val="FF3300"/>
                </a:solidFill>
                <a:latin typeface="Arial" panose="020B0604020202090204" pitchFamily="34" charset="0"/>
              </a:rPr>
              <a:t>….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>
                <a:solidFill>
                  <a:srgbClr val="FF3300"/>
                </a:solidFill>
                <a:latin typeface="Arial" panose="020B0604020202090204" pitchFamily="34" charset="0"/>
              </a:rPr>
              <a:t>p1-&gt; identity()== p2-&gt; identity()</a:t>
            </a:r>
          </a:p>
        </p:txBody>
      </p:sp>
      <p:sp>
        <p:nvSpPr>
          <p:cNvPr id="116741" name="Line 5"/>
          <p:cNvSpPr>
            <a:spLocks noChangeShapeType="1"/>
          </p:cNvSpPr>
          <p:nvPr/>
        </p:nvSpPr>
        <p:spPr bwMode="auto">
          <a:xfrm flipH="1">
            <a:off x="4332288" y="6103938"/>
            <a:ext cx="1066800" cy="0"/>
          </a:xfrm>
          <a:prstGeom prst="line">
            <a:avLst/>
          </a:prstGeom>
          <a:noFill/>
          <a:ln w="9525">
            <a:solidFill>
              <a:srgbClr val="99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0" grpId="0" animBg="1" autoUpdateAnimBg="0"/>
      <p:bldP spid="11674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5C2C8-F790-1AC7-788B-1B221796D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58A00DAA-413B-67C1-E1DA-3A69FD957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特殊操作符重载</a:t>
            </a: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090070B2-008E-30F7-CD80-0F07C17D6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3608" y="2017713"/>
            <a:ext cx="7732712" cy="4535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kern="1200" dirty="0"/>
              <a:t>证同测试 </a:t>
            </a:r>
            <a:r>
              <a:rPr lang="en-US" altLang="zh-CN" sz="2400" kern="1200" dirty="0"/>
              <a:t>(identity test)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s = s?</a:t>
            </a:r>
          </a:p>
          <a:p>
            <a:pPr marL="914400" lvl="2" indent="0" eaLnBrk="1" hangingPunct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</a:rPr>
              <a:t>Widget&amp; Widget::operator=(const Widget&amp; </a:t>
            </a:r>
            <a:r>
              <a:rPr lang="en-US" altLang="zh-CN" sz="1800" dirty="0" err="1">
                <a:latin typeface="Arial" panose="020B0604020202090204" pitchFamily="34" charset="0"/>
              </a:rPr>
              <a:t>rhs</a:t>
            </a:r>
            <a:r>
              <a:rPr lang="en-US" altLang="zh-CN" sz="1800" dirty="0">
                <a:latin typeface="Arial" panose="020B0604020202090204" pitchFamily="34" charset="0"/>
              </a:rPr>
              <a:t>) </a:t>
            </a:r>
          </a:p>
          <a:p>
            <a:pPr marL="914400" lvl="2" indent="0" eaLnBrk="1" hangingPunct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</a:rPr>
              <a:t>{ </a:t>
            </a:r>
          </a:p>
          <a:p>
            <a:pPr marL="1371600" lvl="3" indent="0" eaLnBrk="1" hangingPunct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</a:rPr>
              <a:t>if (this == &amp;</a:t>
            </a:r>
            <a:r>
              <a:rPr lang="en-US" altLang="zh-CN" sz="1800" dirty="0" err="1">
                <a:latin typeface="Arial" panose="020B0604020202090204" pitchFamily="34" charset="0"/>
              </a:rPr>
              <a:t>rhs</a:t>
            </a:r>
            <a:r>
              <a:rPr lang="en-US" altLang="zh-CN" sz="1800" dirty="0">
                <a:latin typeface="Arial" panose="020B0604020202090204" pitchFamily="34" charset="0"/>
              </a:rPr>
              <a:t>) return *this; / /</a:t>
            </a:r>
            <a:r>
              <a:rPr lang="zh-CN" altLang="en-US" sz="1800" dirty="0">
                <a:latin typeface="Arial" panose="020B0604020202090204" pitchFamily="34" charset="0"/>
              </a:rPr>
              <a:t>证同测试</a:t>
            </a:r>
          </a:p>
          <a:p>
            <a:pPr marL="1371600" lvl="3" indent="0" eaLnBrk="1" hangingPunct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</a:rPr>
              <a:t>delete pb;</a:t>
            </a:r>
            <a:br>
              <a:rPr lang="en-US" altLang="zh-CN" sz="1800" dirty="0">
                <a:latin typeface="Arial" panose="020B0604020202090204" pitchFamily="34" charset="0"/>
              </a:rPr>
            </a:br>
            <a:r>
              <a:rPr lang="en-US" altLang="zh-CN" sz="1800" dirty="0">
                <a:latin typeface="Arial" panose="020B0604020202090204" pitchFamily="34" charset="0"/>
              </a:rPr>
              <a:t>pb = new Bitmap(*</a:t>
            </a:r>
            <a:r>
              <a:rPr lang="en-US" altLang="zh-CN" sz="1800" dirty="0" err="1">
                <a:latin typeface="Arial" panose="020B0604020202090204" pitchFamily="34" charset="0"/>
              </a:rPr>
              <a:t>rhs.pb</a:t>
            </a:r>
            <a:r>
              <a:rPr lang="en-US" altLang="zh-CN" sz="1800" dirty="0">
                <a:latin typeface="Arial" panose="020B0604020202090204" pitchFamily="34" charset="0"/>
              </a:rPr>
              <a:t>); </a:t>
            </a:r>
          </a:p>
          <a:p>
            <a:pPr marL="1371600" lvl="3" indent="0" eaLnBrk="1" hangingPunct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</a:rPr>
              <a:t>return *this; </a:t>
            </a:r>
          </a:p>
          <a:p>
            <a:pPr marL="914400" lvl="2" indent="0" eaLnBrk="1" hangingPunct="1">
              <a:lnSpc>
                <a:spcPct val="90000"/>
              </a:lnSpc>
              <a:buNone/>
            </a:pPr>
            <a:r>
              <a:rPr lang="en-US" altLang="zh-CN" sz="1800" dirty="0">
                <a:latin typeface="Arial" panose="020B0604020202090204" pitchFamily="34" charset="0"/>
              </a:rPr>
              <a:t>}</a:t>
            </a:r>
          </a:p>
          <a:p>
            <a:pPr lvl="2" eaLnBrk="1" hangingPunct="1">
              <a:lnSpc>
                <a:spcPct val="90000"/>
              </a:lnSpc>
            </a:pPr>
            <a:endParaRPr lang="en-US" altLang="zh-CN" sz="2000" dirty="0"/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zh-CN" altLang="en-US" sz="2800" dirty="0"/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DCB2D466-C205-B56B-7426-CD793F5F8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8472" y="4653136"/>
            <a:ext cx="5051383" cy="2031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FF3300"/>
                </a:solidFill>
                <a:latin typeface="Arial" panose="020B0604020202090204" pitchFamily="34" charset="0"/>
              </a:rPr>
              <a:t>Widget&amp; Widget::operator=(const Widget&amp; </a:t>
            </a:r>
            <a:r>
              <a:rPr lang="en-US" altLang="zh-CN" sz="1800" i="0" dirty="0" err="1">
                <a:solidFill>
                  <a:srgbClr val="FF3300"/>
                </a:solidFill>
                <a:latin typeface="Arial" panose="020B0604020202090204" pitchFamily="34" charset="0"/>
              </a:rPr>
              <a:t>rhs</a:t>
            </a:r>
            <a:r>
              <a:rPr lang="en-US" altLang="zh-CN" sz="1800" i="0" dirty="0">
                <a:solidFill>
                  <a:srgbClr val="FF3300"/>
                </a:solidFill>
                <a:latin typeface="Arial" panose="020B0604020202090204" pitchFamily="34" charset="0"/>
              </a:rPr>
              <a:t>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FF3300"/>
                </a:solidFill>
                <a:latin typeface="Arial" panose="020B0604020202090204" pitchFamily="34" charset="0"/>
              </a:rPr>
              <a:t>{ </a:t>
            </a:r>
          </a:p>
          <a:p>
            <a:pPr lvl="1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 i="0" dirty="0">
                <a:solidFill>
                  <a:srgbClr val="FF3300"/>
                </a:solidFill>
                <a:latin typeface="Arial" panose="020B0604020202090204" pitchFamily="34" charset="0"/>
              </a:rPr>
              <a:t>Bitmap* </a:t>
            </a:r>
            <a:r>
              <a:rPr lang="en-US" altLang="zh-CN" sz="1800" i="0" dirty="0" err="1">
                <a:solidFill>
                  <a:srgbClr val="FF3300"/>
                </a:solidFill>
                <a:latin typeface="Arial" panose="020B0604020202090204" pitchFamily="34" charset="0"/>
              </a:rPr>
              <a:t>pOrig</a:t>
            </a:r>
            <a:r>
              <a:rPr lang="en-US" altLang="zh-CN" sz="1800" i="0" dirty="0">
                <a:solidFill>
                  <a:srgbClr val="FF3300"/>
                </a:solidFill>
                <a:latin typeface="Arial" panose="020B0604020202090204" pitchFamily="34" charset="0"/>
              </a:rPr>
              <a:t> = pb;</a:t>
            </a:r>
          </a:p>
          <a:p>
            <a:pPr lvl="1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 i="0" dirty="0">
                <a:solidFill>
                  <a:srgbClr val="FF3300"/>
                </a:solidFill>
                <a:latin typeface="Arial" panose="020B0604020202090204" pitchFamily="34" charset="0"/>
              </a:rPr>
              <a:t>pb = new Bitmap(*</a:t>
            </a:r>
            <a:r>
              <a:rPr lang="en-US" altLang="zh-CN" sz="1800" i="0" dirty="0" err="1">
                <a:solidFill>
                  <a:srgbClr val="FF3300"/>
                </a:solidFill>
                <a:latin typeface="Arial" panose="020B0604020202090204" pitchFamily="34" charset="0"/>
              </a:rPr>
              <a:t>rhs.pb</a:t>
            </a:r>
            <a:r>
              <a:rPr lang="en-US" altLang="zh-CN" sz="1800" i="0" dirty="0">
                <a:solidFill>
                  <a:srgbClr val="FF3300"/>
                </a:solidFill>
                <a:latin typeface="Arial" panose="020B0604020202090204" pitchFamily="34" charset="0"/>
              </a:rPr>
              <a:t>); </a:t>
            </a:r>
          </a:p>
          <a:p>
            <a:pPr lvl="1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 i="0" dirty="0">
                <a:solidFill>
                  <a:srgbClr val="FF3300"/>
                </a:solidFill>
                <a:latin typeface="Arial" panose="020B0604020202090204" pitchFamily="34" charset="0"/>
              </a:rPr>
              <a:t>delete </a:t>
            </a:r>
            <a:r>
              <a:rPr lang="en-US" altLang="zh-CN" sz="1800" i="0" dirty="0" err="1">
                <a:solidFill>
                  <a:srgbClr val="FF3300"/>
                </a:solidFill>
                <a:latin typeface="Arial" panose="020B0604020202090204" pitchFamily="34" charset="0"/>
              </a:rPr>
              <a:t>pOrig</a:t>
            </a:r>
            <a:r>
              <a:rPr lang="en-US" altLang="zh-CN" sz="1800" i="0" dirty="0">
                <a:solidFill>
                  <a:srgbClr val="FF3300"/>
                </a:solidFill>
                <a:latin typeface="Arial" panose="020B0604020202090204" pitchFamily="34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 i="0" dirty="0">
                <a:solidFill>
                  <a:srgbClr val="FF3300"/>
                </a:solidFill>
                <a:latin typeface="Arial" panose="020B0604020202090204" pitchFamily="34" charset="0"/>
              </a:rPr>
              <a:t>return *this;</a:t>
            </a:r>
            <a:r>
              <a:rPr lang="en-US" altLang="zh-CN" sz="1400" i="0" dirty="0">
                <a:solidFill>
                  <a:srgbClr val="FF3300"/>
                </a:solidFill>
                <a:latin typeface="Arial" panose="020B0604020202090204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FF3300"/>
                </a:solidFill>
                <a:latin typeface="Arial" panose="020B060402020209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42486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特殊操作符重载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32712" cy="445928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GB" altLang="en-US" sz="2400" b="1">
                <a:solidFill>
                  <a:schemeClr val="tx2"/>
                </a:solidFill>
                <a:latin typeface="SimSun" charset="-122"/>
              </a:rPr>
              <a:t>[]</a:t>
            </a:r>
            <a:endParaRPr lang="en-GB" altLang="en-US" sz="2400" b="1">
              <a:solidFill>
                <a:schemeClr val="tx2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sz="2800" b="1"/>
              <a:t>	</a:t>
            </a:r>
            <a:endParaRPr lang="en-US" altLang="zh-CN" sz="2000" i="1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498600" y="2359025"/>
            <a:ext cx="6738938" cy="375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class string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{      char *p;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  public: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	string(char *p1)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            {    p = new char [strlen(p1)+1];  strcpy(p,p1); 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	char</a:t>
            </a:r>
            <a:r>
              <a:rPr lang="en-US" altLang="zh-CN" sz="2000">
                <a:solidFill>
                  <a:srgbClr val="FF0066"/>
                </a:solidFill>
              </a:rPr>
              <a:t>&amp;</a:t>
            </a:r>
            <a:r>
              <a:rPr lang="en-GB" altLang="zh-CN" sz="2000">
                <a:solidFill>
                  <a:srgbClr val="FF0066"/>
                </a:solidFill>
              </a:rPr>
              <a:t> </a:t>
            </a:r>
            <a:r>
              <a:rPr lang="en-GB" altLang="zh-CN" sz="2000">
                <a:solidFill>
                  <a:schemeClr val="folHlink"/>
                </a:solidFill>
              </a:rPr>
              <a:t>operator [](int i)          { return p[i]; 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	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	virtual ~string() { delete[] p;}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};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	…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string s(“aacd”);	    s[2] = ‘b’ ;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438400" y="4357688"/>
            <a:ext cx="57991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rgbClr val="FF0066"/>
                </a:solidFill>
              </a:rPr>
              <a:t>const </a:t>
            </a:r>
            <a:r>
              <a:rPr lang="en-GB" altLang="zh-CN" sz="2000">
                <a:solidFill>
                  <a:schemeClr val="folHlink"/>
                </a:solidFill>
              </a:rPr>
              <a:t>char operator [] (int i) </a:t>
            </a:r>
            <a:r>
              <a:rPr lang="en-GB" altLang="zh-CN" sz="2000">
                <a:solidFill>
                  <a:srgbClr val="FF0066"/>
                </a:solidFill>
              </a:rPr>
              <a:t>const </a:t>
            </a:r>
            <a:r>
              <a:rPr lang="en-GB" altLang="zh-CN" sz="2000">
                <a:solidFill>
                  <a:schemeClr val="folHlink"/>
                </a:solidFill>
              </a:rPr>
              <a:t>{ return p[i]; }</a:t>
            </a:r>
            <a:endParaRPr lang="zh-CN" altLang="en-US" sz="200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476375" y="6072188"/>
            <a:ext cx="49895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folHlink"/>
                </a:solidFill>
              </a:rPr>
              <a:t>const string cs(“const”);    cout &lt;&lt; cs[0]; </a:t>
            </a:r>
            <a:endParaRPr lang="zh-CN" altLang="en-US" sz="2400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081588" y="4011613"/>
            <a:ext cx="7858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FF0066"/>
                </a:solidFill>
              </a:rPr>
              <a:t>const</a:t>
            </a:r>
            <a:endParaRPr lang="zh-CN" altLang="en-US" sz="2000">
              <a:solidFill>
                <a:srgbClr val="FF0066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218238" y="6021388"/>
            <a:ext cx="2170112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FF0000"/>
                </a:solidFill>
              </a:rPr>
              <a:t>cs[0] = 'D’;   ?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 build="allAtOnce"/>
      <p:bldP spid="6" grpId="0" build="allAtOnce"/>
      <p:bldP spid="7" grpId="0" build="allAtOnce"/>
      <p:bldP spid="7" grpId="1" build="allAtOnce"/>
      <p:bldP spid="8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特殊操作符重载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459287"/>
          </a:xfrm>
        </p:spPr>
        <p:txBody>
          <a:bodyPr/>
          <a:lstStyle/>
          <a:p>
            <a:pPr marL="342900" lvl="1" indent="-342900" eaLnBrk="1" hangingPunct="1">
              <a:buClr>
                <a:schemeClr val="folHlink"/>
              </a:buClr>
              <a:buSzPct val="60000"/>
            </a:pPr>
            <a:r>
              <a:rPr lang="zh-CN" altLang="en-US" sz="2400"/>
              <a:t>多维数组  </a:t>
            </a:r>
            <a:r>
              <a:rPr lang="en-US" altLang="zh-CN" sz="2000">
                <a:latin typeface="Arial" panose="020B0604020202090204" pitchFamily="34" charset="0"/>
              </a:rPr>
              <a:t>class Array2D</a:t>
            </a:r>
          </a:p>
          <a:p>
            <a:pPr eaLnBrk="1" hangingPunct="1"/>
            <a:endParaRPr lang="en-US" altLang="zh-CN" sz="2400"/>
          </a:p>
          <a:p>
            <a:pPr eaLnBrk="1" hangingPunct="1"/>
            <a:endParaRPr lang="en-US" altLang="zh-CN" sz="2000"/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zh-CN" sz="2000">
              <a:solidFill>
                <a:schemeClr val="hlink"/>
              </a:solidFill>
              <a:latin typeface="Arial" panose="020B0604020202090204" pitchFamily="34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511425" y="5535613"/>
            <a:ext cx="2420938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70C0"/>
                </a:solidFill>
              </a:rPr>
              <a:t>data.operator[](1)</a:t>
            </a:r>
            <a:r>
              <a:rPr lang="en-US" altLang="zh-CN" sz="1800"/>
              <a:t>[2] </a:t>
            </a:r>
            <a:endParaRPr lang="zh-CN" altLang="en-US" sz="180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482850" y="5805488"/>
            <a:ext cx="3529013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70C0"/>
                </a:solidFill>
              </a:rPr>
              <a:t>data.operator[](1).operator[](2)</a:t>
            </a:r>
            <a:r>
              <a:rPr lang="en-US" altLang="zh-CN" sz="1800"/>
              <a:t> </a:t>
            </a:r>
            <a:endParaRPr lang="zh-CN" altLang="en-US" sz="180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779838" y="4941888"/>
            <a:ext cx="2074862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C00000"/>
                </a:solidFill>
              </a:rPr>
              <a:t>int *</a:t>
            </a:r>
            <a:r>
              <a:rPr lang="en-US" altLang="zh-CN" sz="1600">
                <a:solidFill>
                  <a:srgbClr val="006600"/>
                </a:solidFill>
              </a:rPr>
              <a:t>operator[](int i) </a:t>
            </a:r>
            <a:endParaRPr lang="zh-CN" altLang="en-US" sz="1600">
              <a:solidFill>
                <a:srgbClr val="006600"/>
              </a:solidFill>
            </a:endParaRPr>
          </a:p>
        </p:txBody>
      </p:sp>
      <p:cxnSp>
        <p:nvCxnSpPr>
          <p:cNvPr id="8" name="直接箭头连接符 7"/>
          <p:cNvCxnSpPr>
            <a:cxnSpLocks noChangeShapeType="1"/>
          </p:cNvCxnSpPr>
          <p:nvPr/>
        </p:nvCxnSpPr>
        <p:spPr bwMode="auto">
          <a:xfrm flipH="1">
            <a:off x="3635375" y="5229225"/>
            <a:ext cx="936625" cy="3603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867400" y="2133600"/>
          <a:ext cx="455613" cy="222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0" marR="91420" marT="45733" marB="45733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0" marR="91420" marT="45733" marB="45733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20" marR="91420" marT="45733" marB="45733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endParaRPr lang="zh-CN" altLang="en-US" sz="1800" dirty="0">
                        <a:solidFill>
                          <a:srgbClr val="006600"/>
                        </a:solidFill>
                      </a:endParaRPr>
                    </a:p>
                  </a:txBody>
                  <a:tcPr marL="91420" marR="91420" marT="45733" marB="45733">
                    <a:solidFill>
                      <a:srgbClr val="00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endParaRPr lang="zh-CN" altLang="en-US" sz="1800" dirty="0">
                        <a:solidFill>
                          <a:srgbClr val="006600"/>
                        </a:solidFill>
                      </a:endParaRPr>
                    </a:p>
                  </a:txBody>
                  <a:tcPr marL="91420" marR="91420" marT="45733" marB="45733">
                    <a:solidFill>
                      <a:srgbClr val="00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endParaRPr lang="zh-CN" altLang="en-US" sz="1800" dirty="0">
                        <a:solidFill>
                          <a:srgbClr val="006600"/>
                        </a:solidFill>
                      </a:endParaRPr>
                    </a:p>
                  </a:txBody>
                  <a:tcPr marL="91420" marR="91420" marT="45733" marB="45733">
                    <a:solidFill>
                      <a:srgbClr val="00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右大括号 10"/>
          <p:cNvSpPr/>
          <p:nvPr/>
        </p:nvSpPr>
        <p:spPr bwMode="auto">
          <a:xfrm>
            <a:off x="6372225" y="2060575"/>
            <a:ext cx="144463" cy="1152525"/>
          </a:xfrm>
          <a:prstGeom prst="rightBrace">
            <a:avLst>
              <a:gd name="adj1" fmla="val 831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6459538" y="2492375"/>
            <a:ext cx="9207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400"/>
              <a:t>数量：</a:t>
            </a:r>
            <a:r>
              <a:rPr lang="en-US" altLang="zh-CN" sz="1400"/>
              <a:t>n2</a:t>
            </a:r>
            <a:endParaRPr lang="zh-CN" altLang="en-US" sz="1400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4859338" y="4005263"/>
            <a:ext cx="100488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0070C0"/>
                </a:solidFill>
              </a:rPr>
              <a:t>data[1][2]</a:t>
            </a:r>
            <a:endParaRPr lang="zh-CN" altLang="en-US" sz="1400">
              <a:solidFill>
                <a:srgbClr val="0070C0"/>
              </a:solidFill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932363" y="2205038"/>
            <a:ext cx="10033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>
                <a:solidFill>
                  <a:srgbClr val="0070C0"/>
                </a:solidFill>
              </a:rPr>
              <a:t>data[0][0]</a:t>
            </a:r>
            <a:endParaRPr lang="zh-CN" altLang="en-US" sz="1400">
              <a:solidFill>
                <a:srgbClr val="0070C0"/>
              </a:solidFill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6300788" y="692150"/>
            <a:ext cx="78105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data</a:t>
            </a:r>
            <a:endParaRPr lang="zh-CN" altLang="en-US" sz="2400"/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5364163" y="981075"/>
            <a:ext cx="1573212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new int[n1*n2]</a:t>
            </a:r>
            <a:endParaRPr lang="zh-CN" altLang="en-US" sz="1600">
              <a:solidFill>
                <a:srgbClr val="006600"/>
              </a:solidFill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7164388" y="404813"/>
          <a:ext cx="792162" cy="93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208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n1  </a:t>
                      </a:r>
                      <a:r>
                        <a:rPr lang="en-US" altLang="zh-CN" sz="1200" b="1" dirty="0" err="1">
                          <a:solidFill>
                            <a:srgbClr val="FFFF00"/>
                          </a:solidFill>
                        </a:rPr>
                        <a:t>int</a:t>
                      </a:r>
                      <a:endParaRPr lang="zh-CN" altLang="en-US" sz="1200" b="1" dirty="0">
                        <a:solidFill>
                          <a:srgbClr val="FFFF00"/>
                        </a:solidFill>
                      </a:endParaRPr>
                    </a:p>
                  </a:txBody>
                  <a:tcPr marL="91460" marR="91460" marT="45745" marB="45745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208"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n2</a:t>
                      </a:r>
                      <a:r>
                        <a:rPr lang="en-US" altLang="zh-CN" sz="12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zh-CN" sz="1200" dirty="0"/>
                        <a:t> </a:t>
                      </a:r>
                      <a:r>
                        <a:rPr lang="en-US" altLang="zh-CN" sz="1200" b="1" dirty="0" err="1">
                          <a:solidFill>
                            <a:srgbClr val="FFFF00"/>
                          </a:solidFill>
                        </a:rPr>
                        <a:t>int</a:t>
                      </a:r>
                      <a:r>
                        <a:rPr lang="en-US" altLang="zh-CN" sz="1200" b="1" dirty="0">
                          <a:solidFill>
                            <a:srgbClr val="FFFF00"/>
                          </a:solidFill>
                        </a:rPr>
                        <a:t> </a:t>
                      </a:r>
                      <a:endParaRPr lang="zh-CN" altLang="en-US" sz="1200" b="1" dirty="0">
                        <a:solidFill>
                          <a:srgbClr val="FFFF00"/>
                        </a:solidFill>
                      </a:endParaRPr>
                    </a:p>
                  </a:txBody>
                  <a:tcPr marL="91460" marR="91460" marT="45745" marB="45745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208">
                <a:tc>
                  <a:txBody>
                    <a:bodyPr/>
                    <a:lstStyle/>
                    <a:p>
                      <a:r>
                        <a:rPr lang="en-US" altLang="zh-CN" sz="1200" b="1" dirty="0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en-US" altLang="zh-CN" sz="1200" dirty="0"/>
                        <a:t>   </a:t>
                      </a:r>
                      <a:r>
                        <a:rPr lang="en-US" altLang="zh-CN" sz="1200" b="1" dirty="0" err="1">
                          <a:solidFill>
                            <a:srgbClr val="FFFF00"/>
                          </a:solidFill>
                        </a:rPr>
                        <a:t>int</a:t>
                      </a:r>
                      <a:r>
                        <a:rPr lang="en-US" altLang="zh-CN" sz="1200" b="1" dirty="0">
                          <a:solidFill>
                            <a:srgbClr val="FFFF00"/>
                          </a:solidFill>
                        </a:rPr>
                        <a:t>*</a:t>
                      </a:r>
                      <a:endParaRPr lang="zh-CN" altLang="en-US" sz="1200" b="1" dirty="0">
                        <a:solidFill>
                          <a:srgbClr val="FFFF00"/>
                        </a:solidFill>
                      </a:endParaRPr>
                    </a:p>
                  </a:txBody>
                  <a:tcPr marL="91460" marR="91460" marT="45745" marB="45745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1" name="直接箭头连接符 20"/>
          <p:cNvCxnSpPr>
            <a:cxnSpLocks noChangeShapeType="1"/>
          </p:cNvCxnSpPr>
          <p:nvPr/>
        </p:nvCxnSpPr>
        <p:spPr bwMode="auto">
          <a:xfrm flipH="1">
            <a:off x="6300788" y="1268413"/>
            <a:ext cx="863600" cy="8651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7889875" y="404813"/>
            <a:ext cx="2825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/>
              <a:t>2</a:t>
            </a:r>
            <a:endParaRPr lang="zh-CN" altLang="en-US" sz="1400"/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7889875" y="693738"/>
            <a:ext cx="28257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/>
              <a:t>3</a:t>
            </a:r>
            <a:endParaRPr lang="zh-CN" altLang="en-US" sz="1400"/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4367213" y="3141663"/>
            <a:ext cx="595312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600" b="1">
                <a:solidFill>
                  <a:srgbClr val="0070C0"/>
                </a:solidFill>
              </a:rPr>
              <a:t>期望</a:t>
            </a:r>
          </a:p>
        </p:txBody>
      </p:sp>
      <p:cxnSp>
        <p:nvCxnSpPr>
          <p:cNvPr id="27" name="直接箭头连接符 26"/>
          <p:cNvCxnSpPr>
            <a:cxnSpLocks noChangeShapeType="1"/>
            <a:stCxn id="25" idx="3"/>
          </p:cNvCxnSpPr>
          <p:nvPr/>
        </p:nvCxnSpPr>
        <p:spPr bwMode="auto">
          <a:xfrm flipV="1">
            <a:off x="4962525" y="2565400"/>
            <a:ext cx="401638" cy="7318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直接箭头连接符 30"/>
          <p:cNvCxnSpPr>
            <a:cxnSpLocks noChangeShapeType="1"/>
            <a:stCxn id="25" idx="3"/>
          </p:cNvCxnSpPr>
          <p:nvPr/>
        </p:nvCxnSpPr>
        <p:spPr bwMode="auto">
          <a:xfrm>
            <a:off x="4962525" y="3297238"/>
            <a:ext cx="688975" cy="7794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6804025" y="2924175"/>
            <a:ext cx="1204913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6600"/>
                </a:solidFill>
              </a:rPr>
              <a:t> p+i*n2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600" i="0">
                <a:solidFill>
                  <a:srgbClr val="002060"/>
                </a:solidFill>
              </a:rPr>
              <a:t>类型：</a:t>
            </a:r>
            <a:r>
              <a:rPr lang="en-US" altLang="zh-CN" sz="1600" i="0">
                <a:solidFill>
                  <a:srgbClr val="002060"/>
                </a:solidFill>
              </a:rPr>
              <a:t>int *</a:t>
            </a:r>
            <a:endParaRPr lang="zh-CN" altLang="en-US" sz="1600" i="0">
              <a:solidFill>
                <a:srgbClr val="002060"/>
              </a:solidFill>
            </a:endParaRPr>
          </a:p>
        </p:txBody>
      </p:sp>
      <p:cxnSp>
        <p:nvCxnSpPr>
          <p:cNvPr id="34" name="直接箭头连接符 33"/>
          <p:cNvCxnSpPr>
            <a:cxnSpLocks noChangeShapeType="1"/>
            <a:stCxn id="32" idx="1"/>
          </p:cNvCxnSpPr>
          <p:nvPr/>
        </p:nvCxnSpPr>
        <p:spPr bwMode="auto">
          <a:xfrm flipH="1">
            <a:off x="6300788" y="3230563"/>
            <a:ext cx="503237" cy="1984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直接连接符 35"/>
          <p:cNvCxnSpPr>
            <a:cxnSpLocks noChangeShapeType="1"/>
          </p:cNvCxnSpPr>
          <p:nvPr/>
        </p:nvCxnSpPr>
        <p:spPr bwMode="auto">
          <a:xfrm flipV="1">
            <a:off x="2587625" y="6157913"/>
            <a:ext cx="1873250" cy="0"/>
          </a:xfrm>
          <a:prstGeom prst="line">
            <a:avLst/>
          </a:prstGeom>
          <a:noFill/>
          <a:ln w="41275">
            <a:solidFill>
              <a:srgbClr val="00206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3419475" y="6165850"/>
            <a:ext cx="739775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70C0"/>
                </a:solidFill>
              </a:rPr>
              <a:t>object</a:t>
            </a:r>
            <a:endParaRPr lang="zh-CN" altLang="en-US" sz="1600">
              <a:solidFill>
                <a:srgbClr val="0070C0"/>
              </a:solidFill>
            </a:endParaRP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6323013" y="5516563"/>
            <a:ext cx="1471612" cy="139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class  Array1D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006600"/>
                </a:solidFill>
              </a:rPr>
              <a:t>｛  </a:t>
            </a:r>
            <a:r>
              <a:rPr lang="en-US" altLang="zh-CN" sz="1600">
                <a:solidFill>
                  <a:srgbClr val="006600"/>
                </a:solidFill>
              </a:rPr>
              <a:t>int *q ；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600">
              <a:solidFill>
                <a:srgbClr val="00660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600">
              <a:solidFill>
                <a:srgbClr val="00660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｝</a:t>
            </a:r>
            <a:endParaRPr lang="zh-CN" altLang="en-US" sz="1600">
              <a:solidFill>
                <a:srgbClr val="006600"/>
              </a:solidFill>
            </a:endParaRPr>
          </a:p>
        </p:txBody>
      </p:sp>
      <p:cxnSp>
        <p:nvCxnSpPr>
          <p:cNvPr id="41" name="直接箭头连接符 40"/>
          <p:cNvCxnSpPr>
            <a:cxnSpLocks noChangeShapeType="1"/>
            <a:stCxn id="39" idx="1"/>
            <a:endCxn id="37" idx="3"/>
          </p:cNvCxnSpPr>
          <p:nvPr/>
        </p:nvCxnSpPr>
        <p:spPr bwMode="auto">
          <a:xfrm flipH="1">
            <a:off x="4159250" y="6216650"/>
            <a:ext cx="2163763" cy="1063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右大括号 42"/>
          <p:cNvSpPr/>
          <p:nvPr/>
        </p:nvSpPr>
        <p:spPr bwMode="auto">
          <a:xfrm>
            <a:off x="6372225" y="3284538"/>
            <a:ext cx="215900" cy="1081087"/>
          </a:xfrm>
          <a:prstGeom prst="rightBrace">
            <a:avLst>
              <a:gd name="adj1" fmla="val 8346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/>
          </a:p>
        </p:txBody>
      </p:sp>
      <p:cxnSp>
        <p:nvCxnSpPr>
          <p:cNvPr id="47" name="直接箭头连接符 46"/>
          <p:cNvCxnSpPr>
            <a:cxnSpLocks noChangeShapeType="1"/>
          </p:cNvCxnSpPr>
          <p:nvPr/>
        </p:nvCxnSpPr>
        <p:spPr bwMode="auto">
          <a:xfrm flipH="1" flipV="1">
            <a:off x="6516688" y="3933825"/>
            <a:ext cx="431800" cy="1511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6588125" y="6092825"/>
            <a:ext cx="18224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int&amp;  operator[](j)</a:t>
            </a:r>
            <a:endParaRPr lang="zh-CN" altLang="en-US" sz="1600">
              <a:solidFill>
                <a:srgbClr val="006600"/>
              </a:solidFill>
            </a:endParaRP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522288" y="2420938"/>
            <a:ext cx="3097212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/>
              <a:t>class Array2D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/>
              <a:t>{    int n1, n2;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/>
              <a:t>     int *p;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/>
              <a:t>public: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/>
              <a:t>      Array2D(int l, int c):n1(l),n2(c)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/>
              <a:t>     {  p = new int[n1*n2];  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/>
              <a:t>     virtual ~Array2D() { delete[] p; 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/>
              <a:t>};</a:t>
            </a:r>
            <a:endParaRPr lang="zh-CN" altLang="en-US" sz="1400"/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539750" y="4365625"/>
            <a:ext cx="3381375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/>
              <a:t>int &amp; Array2D::getElem(int i, int j) { ... 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40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/>
              <a:t>Array2D data(2,3);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400"/>
              <a:t>data.getElem(1,2) = 0; </a:t>
            </a:r>
            <a:endParaRPr lang="zh-CN" altLang="en-US" sz="1400"/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179388" y="5445125"/>
            <a:ext cx="17780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rgbClr val="0070C0"/>
                </a:solidFill>
              </a:rPr>
              <a:t>data[1][2] = 0;</a:t>
            </a:r>
            <a:endParaRPr lang="zh-CN" altLang="en-US" sz="1600" b="1">
              <a:solidFill>
                <a:srgbClr val="0070C0"/>
              </a:solidFill>
            </a:endParaRPr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755650" y="5661025"/>
            <a:ext cx="31591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solidFill>
                  <a:srgbClr val="C00000"/>
                </a:solidFill>
              </a:rPr>
              <a:t>?</a:t>
            </a:r>
            <a:endParaRPr lang="zh-CN" altLang="en-US" sz="1800" b="1">
              <a:solidFill>
                <a:srgbClr val="C00000"/>
              </a:solidFill>
            </a:endParaRP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7380288" y="4797425"/>
            <a:ext cx="16525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Array1D(int *p)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     { q = p; }</a:t>
            </a:r>
            <a:endParaRPr lang="zh-CN" altLang="en-US" sz="1600">
              <a:solidFill>
                <a:srgbClr val="006600"/>
              </a:solidFill>
            </a:endParaRP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6511925" y="6308725"/>
            <a:ext cx="16605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{  return q[j]; } </a:t>
            </a:r>
            <a:endParaRPr lang="zh-CN" altLang="en-US" sz="1600">
              <a:solidFill>
                <a:srgbClr val="0066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20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0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0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2000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 build="allAtOnce"/>
      <p:bldP spid="6" grpId="0"/>
      <p:bldP spid="11" grpId="0" animBg="1"/>
      <p:bldP spid="12" grpId="0"/>
      <p:bldP spid="15" grpId="0"/>
      <p:bldP spid="16" grpId="0"/>
      <p:bldP spid="17" grpId="0"/>
      <p:bldP spid="18" grpId="0" build="allAtOnce"/>
      <p:bldP spid="22" grpId="0" build="allAtOnce"/>
      <p:bldP spid="23" grpId="0" build="allAtOnce"/>
      <p:bldP spid="25" grpId="0"/>
      <p:bldP spid="32" grpId="0"/>
      <p:bldP spid="37" grpId="0" build="allAtOnce"/>
      <p:bldP spid="39" grpId="0"/>
      <p:bldP spid="43" grpId="0" animBg="1"/>
      <p:bldP spid="50" grpId="0" build="allAtOnce"/>
      <p:bldP spid="33" grpId="0" build="allAtOnce"/>
      <p:bldP spid="45" grpId="0" build="allAtOnce"/>
      <p:bldP spid="46" grpId="0" build="allAtOnce"/>
      <p:bldP spid="48" grpId="0" build="allAtOnce"/>
      <p:bldP spid="49" grpId="0" build="allAtOnce"/>
      <p:bldP spid="51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ChangeArrowheads="1"/>
          </p:cNvSpPr>
          <p:nvPr/>
        </p:nvSpPr>
        <p:spPr bwMode="auto">
          <a:xfrm>
            <a:off x="1371600" y="1219200"/>
            <a:ext cx="71628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class Array2D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{  public: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class Array1D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{    public: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	Array1D(int *p) { this-&gt;p = p;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	int&amp; operator[ ] (int index) { return p[index];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	</a:t>
            </a:r>
            <a:r>
              <a:rPr lang="en-US" altLang="zh-CN" sz="1600" b="1">
                <a:solidFill>
                  <a:srgbClr val="FF0000"/>
                </a:solidFill>
                <a:latin typeface="Arial" panose="020B0604020202090204" pitchFamily="34" charset="0"/>
              </a:rPr>
              <a:t>const</a:t>
            </a: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 int operator[ ] (int index) </a:t>
            </a:r>
            <a:r>
              <a:rPr lang="en-US" altLang="zh-CN" sz="1600" b="1">
                <a:solidFill>
                  <a:srgbClr val="FF0000"/>
                </a:solidFill>
                <a:latin typeface="Arial" panose="020B0604020202090204" pitchFamily="34" charset="0"/>
              </a:rPr>
              <a:t>const </a:t>
            </a: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{ return p[index];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     private: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	int *p;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};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Array2D(int n1, int n2) { p = new int[n1*n2]; num1 = n1; num2 = n2;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     virtual ~Array2D( ) { delete [ ] p;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Array1D operator[ ] (int index) { return p+index*num2;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</a:t>
            </a:r>
            <a:r>
              <a:rPr lang="en-US" altLang="zh-CN" sz="1600" b="1">
                <a:solidFill>
                  <a:srgbClr val="FF0000"/>
                </a:solidFill>
                <a:latin typeface="Arial" panose="020B0604020202090204" pitchFamily="34" charset="0"/>
              </a:rPr>
              <a:t>const</a:t>
            </a: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 Array1D operator[ ] (int index) </a:t>
            </a:r>
            <a:r>
              <a:rPr lang="en-US" altLang="zh-CN" sz="1600" b="1">
                <a:solidFill>
                  <a:srgbClr val="FF0000"/>
                </a:solidFill>
                <a:latin typeface="Arial" panose="020B0604020202090204" pitchFamily="34" charset="0"/>
              </a:rPr>
              <a:t>const</a:t>
            </a: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 { return p+index*num2;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 private: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int *p;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int num1, num2;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};</a:t>
            </a:r>
          </a:p>
        </p:txBody>
      </p:sp>
      <p:sp>
        <p:nvSpPr>
          <p:cNvPr id="48130" name="Text Box 3"/>
          <p:cNvSpPr txBox="1">
            <a:spLocks noChangeArrowheads="1"/>
          </p:cNvSpPr>
          <p:nvPr/>
        </p:nvSpPr>
        <p:spPr bwMode="auto">
          <a:xfrm>
            <a:off x="4267200" y="642938"/>
            <a:ext cx="16811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0">
                <a:solidFill>
                  <a:srgbClr val="FF3300"/>
                </a:solidFill>
              </a:rPr>
              <a:t>proxy class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0">
                <a:solidFill>
                  <a:srgbClr val="FF3300"/>
                </a:solidFill>
              </a:rPr>
              <a:t>Surrogate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0">
                <a:solidFill>
                  <a:srgbClr val="FF3300"/>
                </a:solidFill>
              </a:rPr>
              <a:t>   多维</a:t>
            </a:r>
            <a:endParaRPr lang="en-US" altLang="zh-CN" sz="2400" i="0">
              <a:solidFill>
                <a:srgbClr val="FF3300"/>
              </a:solidFill>
            </a:endParaRPr>
          </a:p>
        </p:txBody>
      </p:sp>
      <p:sp>
        <p:nvSpPr>
          <p:cNvPr id="48131" name="Line 4"/>
          <p:cNvSpPr>
            <a:spLocks noChangeShapeType="1"/>
          </p:cNvSpPr>
          <p:nvPr/>
        </p:nvSpPr>
        <p:spPr bwMode="auto">
          <a:xfrm flipH="1">
            <a:off x="3276600" y="16002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8132" name="TextBox 4"/>
          <p:cNvSpPr txBox="1">
            <a:spLocks noChangeArrowheads="1"/>
          </p:cNvSpPr>
          <p:nvPr/>
        </p:nvSpPr>
        <p:spPr bwMode="auto">
          <a:xfrm>
            <a:off x="214313" y="4572000"/>
            <a:ext cx="107156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00B050"/>
                </a:solidFill>
              </a:rPr>
              <a:t>int *</a:t>
            </a:r>
            <a:endParaRPr lang="zh-CN" altLang="en-US" sz="2400" b="1">
              <a:solidFill>
                <a:srgbClr val="00B050"/>
              </a:solidFill>
            </a:endParaRPr>
          </a:p>
        </p:txBody>
      </p:sp>
      <p:cxnSp>
        <p:nvCxnSpPr>
          <p:cNvPr id="48133" name="直接箭头连接符 6"/>
          <p:cNvCxnSpPr>
            <a:cxnSpLocks noChangeShapeType="1"/>
          </p:cNvCxnSpPr>
          <p:nvPr/>
        </p:nvCxnSpPr>
        <p:spPr bwMode="auto">
          <a:xfrm>
            <a:off x="1071563" y="4786313"/>
            <a:ext cx="785812" cy="142875"/>
          </a:xfrm>
          <a:prstGeom prst="straightConnector1">
            <a:avLst/>
          </a:prstGeom>
          <a:noFill/>
          <a:ln w="9525">
            <a:solidFill>
              <a:srgbClr val="0066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特殊操作符重载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GB" altLang="en-US" sz="2400" b="1">
                <a:solidFill>
                  <a:schemeClr val="tx2"/>
                </a:solidFill>
                <a:latin typeface="SimSun" charset="-122"/>
              </a:rPr>
              <a:t>( )</a:t>
            </a:r>
            <a:endParaRPr lang="en-GB" altLang="en-US" sz="2400" b="1">
              <a:solidFill>
                <a:schemeClr val="tx2"/>
              </a:solidFill>
            </a:endParaRP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GB" altLang="zh-CN" i="1">
                <a:solidFill>
                  <a:schemeClr val="accent2"/>
                </a:solidFill>
              </a:rPr>
              <a:t>   </a:t>
            </a:r>
            <a:endParaRPr lang="zh-CN" altLang="en-US" sz="2000">
              <a:solidFill>
                <a:schemeClr val="folHlink"/>
              </a:solidFill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-180975" y="2630488"/>
            <a:ext cx="5556250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lvl="2" eaLnBrk="1" hangingPunct="1">
              <a:lnSpc>
                <a:spcPct val="90000"/>
              </a:lnSpc>
              <a:buSzPct val="60000"/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class </a:t>
            </a:r>
            <a:r>
              <a:rPr lang="en-GB" altLang="zh-CN" sz="1600" dirty="0" err="1">
                <a:solidFill>
                  <a:schemeClr val="folHlink"/>
                </a:solidFill>
              </a:rPr>
              <a:t>Func</a:t>
            </a:r>
            <a:endParaRPr lang="en-GB" altLang="zh-CN" sz="1600" dirty="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	{ 	double  para;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		</a:t>
            </a:r>
            <a:r>
              <a:rPr lang="en-GB" altLang="zh-CN" sz="1600" dirty="0" err="1">
                <a:solidFill>
                  <a:schemeClr val="folHlink"/>
                </a:solidFill>
              </a:rPr>
              <a:t>int</a:t>
            </a:r>
            <a:r>
              <a:rPr lang="en-GB" altLang="zh-CN" sz="1600" dirty="0">
                <a:solidFill>
                  <a:schemeClr val="folHlink"/>
                </a:solidFill>
              </a:rPr>
              <a:t>  </a:t>
            </a:r>
            <a:r>
              <a:rPr lang="en-GB" altLang="zh-CN" sz="1600" dirty="0" err="1">
                <a:solidFill>
                  <a:schemeClr val="folHlink"/>
                </a:solidFill>
              </a:rPr>
              <a:t>lowerBound</a:t>
            </a:r>
            <a:r>
              <a:rPr lang="en-GB" altLang="zh-CN" sz="1600" dirty="0">
                <a:solidFill>
                  <a:schemeClr val="folHlink"/>
                </a:solidFill>
              </a:rPr>
              <a:t>, </a:t>
            </a:r>
            <a:r>
              <a:rPr lang="en-GB" altLang="zh-CN" sz="1600" dirty="0" err="1">
                <a:solidFill>
                  <a:schemeClr val="folHlink"/>
                </a:solidFill>
              </a:rPr>
              <a:t>upperBound</a:t>
            </a:r>
            <a:r>
              <a:rPr lang="en-GB" altLang="zh-CN" sz="1600" dirty="0">
                <a:solidFill>
                  <a:schemeClr val="folHlink"/>
                </a:solidFill>
              </a:rPr>
              <a:t>;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	  public: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		double operator () (double, </a:t>
            </a:r>
            <a:r>
              <a:rPr lang="en-GB" altLang="zh-CN" sz="1600" dirty="0" err="1">
                <a:solidFill>
                  <a:schemeClr val="folHlink"/>
                </a:solidFill>
              </a:rPr>
              <a:t>int</a:t>
            </a:r>
            <a:r>
              <a:rPr lang="en-GB" altLang="zh-CN" sz="1600" dirty="0">
                <a:solidFill>
                  <a:schemeClr val="folHlink"/>
                </a:solidFill>
              </a:rPr>
              <a:t>, </a:t>
            </a:r>
            <a:r>
              <a:rPr lang="en-GB" altLang="zh-CN" sz="1600" dirty="0" err="1">
                <a:solidFill>
                  <a:schemeClr val="folHlink"/>
                </a:solidFill>
              </a:rPr>
              <a:t>int</a:t>
            </a:r>
            <a:r>
              <a:rPr lang="en-GB" altLang="zh-CN" sz="1600" dirty="0">
                <a:solidFill>
                  <a:schemeClr val="folHlink"/>
                </a:solidFill>
              </a:rPr>
              <a:t>);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	};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	…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	</a:t>
            </a:r>
            <a:r>
              <a:rPr lang="en-GB" altLang="zh-CN" sz="1600" dirty="0" err="1">
                <a:solidFill>
                  <a:schemeClr val="folHlink"/>
                </a:solidFill>
              </a:rPr>
              <a:t>Func</a:t>
            </a:r>
            <a:r>
              <a:rPr lang="en-GB" altLang="zh-CN" sz="1600" dirty="0">
                <a:solidFill>
                  <a:schemeClr val="folHlink"/>
                </a:solidFill>
              </a:rPr>
              <a:t> f;		//</a:t>
            </a:r>
            <a:r>
              <a:rPr lang="zh-CN" altLang="en-US" sz="1600" dirty="0">
                <a:solidFill>
                  <a:schemeClr val="folHlink"/>
                </a:solidFill>
              </a:rPr>
              <a:t>函数</a:t>
            </a:r>
            <a:r>
              <a:rPr lang="zh-CN" altLang="en-GB" sz="1600" dirty="0">
                <a:solidFill>
                  <a:schemeClr val="folHlink"/>
                </a:solidFill>
              </a:rPr>
              <a:t>对象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	f(2.4, 0, 8);</a:t>
            </a:r>
            <a:endParaRPr lang="zh-CN" altLang="en-US" sz="1600" dirty="0">
              <a:solidFill>
                <a:schemeClr val="folHlink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345113" y="1916113"/>
            <a:ext cx="3511550" cy="370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class Array2D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{    int n1, n2;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     int *p;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public: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      Array2D(int l, int c):n1(l),n2(c)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     {  p = new int[n1*n2];  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     virtual ~Array2D() { delete[] p; 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     int&amp; operator()(int i, int j)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    {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         return  (p+i*n2)[j];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    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};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0D580D-226E-FB90-D02C-A13109FFF100}"/>
              </a:ext>
            </a:extLst>
          </p:cNvPr>
          <p:cNvSpPr txBox="1"/>
          <p:nvPr/>
        </p:nvSpPr>
        <p:spPr>
          <a:xfrm>
            <a:off x="188912" y="5836950"/>
            <a:ext cx="8280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600" dirty="0">
                <a:solidFill>
                  <a:srgbClr val="FF0000"/>
                </a:solidFill>
              </a:rPr>
              <a:t>template &lt;class </a:t>
            </a:r>
            <a:r>
              <a:rPr lang="en" altLang="zh-CN" sz="1600" dirty="0" err="1">
                <a:solidFill>
                  <a:srgbClr val="FF0000"/>
                </a:solidFill>
              </a:rPr>
              <a:t>RandomAccessIterator</a:t>
            </a:r>
            <a:r>
              <a:rPr lang="zh-CN" altLang="en-US" sz="1600" dirty="0">
                <a:solidFill>
                  <a:srgbClr val="FF0000"/>
                </a:solidFill>
              </a:rPr>
              <a:t>, class Compare&gt;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600" dirty="0">
                <a:solidFill>
                  <a:srgbClr val="FF0000"/>
                </a:solidFill>
              </a:rPr>
              <a:t>void sort(</a:t>
            </a:r>
            <a:r>
              <a:rPr lang="en-US" altLang="zh-CN" sz="1600" dirty="0" err="1">
                <a:solidFill>
                  <a:srgbClr val="FF0000"/>
                </a:solidFill>
              </a:rPr>
              <a:t>RandomAccessIterator</a:t>
            </a:r>
            <a:r>
              <a:rPr lang="zh-CN" altLang="en-US" sz="1600" dirty="0">
                <a:solidFill>
                  <a:srgbClr val="FF0000"/>
                </a:solidFill>
              </a:rPr>
              <a:t> first, </a:t>
            </a:r>
            <a:r>
              <a:rPr lang="en" altLang="zh-CN" sz="1600" dirty="0" err="1">
                <a:solidFill>
                  <a:srgbClr val="FF0000"/>
                </a:solidFill>
              </a:rPr>
              <a:t>RandomAccessIterator</a:t>
            </a:r>
            <a:r>
              <a:rPr lang="zh-CN" altLang="en-US" sz="1600" dirty="0">
                <a:solidFill>
                  <a:srgbClr val="FF0000"/>
                </a:solidFill>
              </a:rPr>
              <a:t> last, Compare comp);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 build="allAtOnce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49B2C-2EC2-A866-3124-A03B58E3E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9">
            <a:extLst>
              <a:ext uri="{FF2B5EF4-FFF2-40B4-BE49-F238E27FC236}">
                <a16:creationId xmlns:a16="http://schemas.microsoft.com/office/drawing/2014/main" id="{671A3E8C-4EBD-0CE1-68F2-21D945418707}"/>
              </a:ext>
            </a:extLst>
          </p:cNvPr>
          <p:cNvSpPr txBox="1"/>
          <p:nvPr/>
        </p:nvSpPr>
        <p:spPr>
          <a:xfrm>
            <a:off x="2267744" y="188640"/>
            <a:ext cx="4266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bool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cmpInt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a,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b) {return a &lt; b;}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F1B5EA13-958F-E008-B18A-E0B2600CECB1}"/>
              </a:ext>
            </a:extLst>
          </p:cNvPr>
          <p:cNvSpPr txBox="1"/>
          <p:nvPr/>
        </p:nvSpPr>
        <p:spPr>
          <a:xfrm>
            <a:off x="1145200" y="633462"/>
            <a:ext cx="71287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class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CmpInt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bool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operator()(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const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a,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const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b)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const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return a &lt; b;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6135AC35-EB2C-8895-DBD8-390D97A1DA30}"/>
              </a:ext>
            </a:extLst>
          </p:cNvPr>
          <p:cNvSpPr txBox="1"/>
          <p:nvPr/>
        </p:nvSpPr>
        <p:spPr>
          <a:xfrm>
            <a:off x="539552" y="2386048"/>
            <a:ext cx="80648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main()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std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::vector&lt;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&gt; items { 4, 3, 1, 2 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std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::sort(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items.begin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items.end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(),            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std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::sort(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items.begin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items.end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(),               );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std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::sort(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items.begin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items.end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   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return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1BB35BA3-6296-B540-F217-F47C7E4C20D3}"/>
              </a:ext>
            </a:extLst>
          </p:cNvPr>
          <p:cNvSpPr txBox="1"/>
          <p:nvPr/>
        </p:nvSpPr>
        <p:spPr>
          <a:xfrm>
            <a:off x="249273" y="5103674"/>
            <a:ext cx="892064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template &lt;class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RandomAccessIterator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, class Compare&gt;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void sort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RandomAccessIterator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first,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RandomAccessIterator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last, Compare comp)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//…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if ( comp(*it1, *it2)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//…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}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C36E7094-A6EA-5423-6185-0042081C9869}"/>
              </a:ext>
            </a:extLst>
          </p:cNvPr>
          <p:cNvSpPr txBox="1"/>
          <p:nvPr/>
        </p:nvSpPr>
        <p:spPr>
          <a:xfrm>
            <a:off x="1259632" y="3779748"/>
            <a:ext cx="5361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[](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a,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b) { return a &lt; b; } //Lambda Function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5616C8DA-2C62-D2CF-AB7B-A6F716EFF084}"/>
              </a:ext>
            </a:extLst>
          </p:cNvPr>
          <p:cNvSpPr txBox="1"/>
          <p:nvPr/>
        </p:nvSpPr>
        <p:spPr>
          <a:xfrm>
            <a:off x="4572000" y="2924944"/>
            <a:ext cx="3015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cmpInt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   //Function Pointer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9B1C4ACA-4A29-76C0-04C8-044219CD9F30}"/>
              </a:ext>
            </a:extLst>
          </p:cNvPr>
          <p:cNvSpPr txBox="1"/>
          <p:nvPr/>
        </p:nvSpPr>
        <p:spPr>
          <a:xfrm>
            <a:off x="4627723" y="3203684"/>
            <a:ext cx="4264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CmpInt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()     //Function Object 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Functor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ahoma"/>
              <a:ea typeface="宋体"/>
              <a:cs typeface="+mn-cs"/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E1C997C6-0329-4300-C37B-D3B2F193190C}"/>
              </a:ext>
            </a:extLst>
          </p:cNvPr>
          <p:cNvSpPr txBox="1"/>
          <p:nvPr/>
        </p:nvSpPr>
        <p:spPr>
          <a:xfrm>
            <a:off x="939399" y="5301208"/>
            <a:ext cx="67872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std::function&lt;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bool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)&gt; f1(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cmpInt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std::function&lt;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bool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)&gt; f2(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CmpInt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std::function&lt;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bool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)&gt; f3(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[](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a,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 b) { return a &lt; b;}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宋体"/>
                <a:cs typeface="+mn-c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14750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AF3879D-F7A7-6E95-EE67-4FA2C119CFE4}"/>
              </a:ext>
            </a:extLst>
          </p:cNvPr>
          <p:cNvSpPr txBox="1"/>
          <p:nvPr/>
        </p:nvSpPr>
        <p:spPr>
          <a:xfrm>
            <a:off x="971600" y="1988840"/>
            <a:ext cx="7344816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>
                <a:latin typeface="+mn-lt"/>
                <a:ea typeface="+mn-ea"/>
              </a:defRPr>
            </a:lvl1pPr>
            <a:lvl2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>
                <a:latin typeface="+mn-lt"/>
                <a:ea typeface="+mn-ea"/>
              </a:defRPr>
            </a:lvl2pPr>
            <a:lvl3pPr marL="1143000" lvl="2" indent="-22860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1800">
                <a:latin typeface="Arial" panose="020B0604020202090204" pitchFamily="34" charset="0"/>
                <a:ea typeface="+mn-e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latin typeface="+mn-lt"/>
                <a:ea typeface="+mn-ea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latin typeface="+mn-lt"/>
                <a:ea typeface="+mn-ea"/>
              </a:defRPr>
            </a:lvl9pPr>
          </a:lstStyle>
          <a:p>
            <a:r>
              <a:rPr lang="zh-CN" altLang="en-US" i="0" dirty="0"/>
              <a:t>函数指针</a:t>
            </a:r>
            <a:endParaRPr lang="en-US" altLang="zh-CN" i="0" dirty="0"/>
          </a:p>
          <a:p>
            <a:pPr lvl="1"/>
            <a:r>
              <a:rPr lang="zh-CN" altLang="en-US" i="0" dirty="0"/>
              <a:t>无法保存状态。</a:t>
            </a:r>
            <a:br>
              <a:rPr lang="zh-CN" altLang="en-US" i="0" dirty="0"/>
            </a:br>
            <a:r>
              <a:rPr lang="zh-CN" altLang="en-US" i="0" dirty="0"/>
              <a:t>编译器无法内联优化，效率较低。</a:t>
            </a:r>
          </a:p>
          <a:p>
            <a:r>
              <a:rPr lang="zh-CN" altLang="en-US" i="0" dirty="0"/>
              <a:t>函数对象</a:t>
            </a:r>
            <a:endParaRPr lang="en-US" altLang="zh-CN" i="0" dirty="0"/>
          </a:p>
          <a:p>
            <a:pPr lvl="1"/>
            <a:r>
              <a:rPr lang="zh-CN" altLang="en-US" i="0" dirty="0"/>
              <a:t>对象，可以携带成员变量（状态）。</a:t>
            </a:r>
          </a:p>
          <a:p>
            <a:pPr lvl="1"/>
            <a:r>
              <a:rPr lang="zh-CN" altLang="en-US" i="0" dirty="0"/>
              <a:t>是类，编译器可以内联优化调用，性能高。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6E4F21E-1678-2C30-2117-DC9A34A3DE6C}"/>
              </a:ext>
            </a:extLst>
          </p:cNvPr>
          <p:cNvSpPr txBox="1">
            <a:spLocks noChangeArrowheads="1"/>
          </p:cNvSpPr>
          <p:nvPr/>
        </p:nvSpPr>
        <p:spPr>
          <a:xfrm>
            <a:off x="1115616" y="980728"/>
            <a:ext cx="7793037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804030504040204" charset="0"/>
                <a:ea typeface="SimSun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804030504040204" charset="0"/>
                <a:ea typeface="SimSun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804030504040204" charset="0"/>
                <a:ea typeface="SimSun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804030504040204" charset="0"/>
                <a:ea typeface="SimSun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804030504040204" charset="0"/>
                <a:ea typeface="SimSun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804030504040204" charset="0"/>
                <a:ea typeface="SimSun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804030504040204" charset="0"/>
                <a:ea typeface="SimSun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/>
            <a:r>
              <a:rPr lang="zh-CN" altLang="en-US" i="0" kern="0" dirty="0"/>
              <a:t>函数对象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86AB40E-21C5-9A99-5235-331497EACF20}"/>
              </a:ext>
            </a:extLst>
          </p:cNvPr>
          <p:cNvGrpSpPr/>
          <p:nvPr/>
        </p:nvGrpSpPr>
        <p:grpSpPr>
          <a:xfrm>
            <a:off x="683568" y="4581128"/>
            <a:ext cx="9918848" cy="1754326"/>
            <a:chOff x="683568" y="4581128"/>
            <a:chExt cx="9918848" cy="1754326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B362ED7-CDDE-A503-648D-16E67C86F0E2}"/>
                </a:ext>
              </a:extLst>
            </p:cNvPr>
            <p:cNvSpPr txBox="1"/>
            <p:nvPr/>
          </p:nvSpPr>
          <p:spPr>
            <a:xfrm>
              <a:off x="683568" y="4581128"/>
              <a:ext cx="5256584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800" dirty="0">
                  <a:solidFill>
                    <a:srgbClr val="0070C0"/>
                  </a:solidFill>
                </a:rPr>
                <a:t>class Multiply {</a:t>
              </a:r>
            </a:p>
            <a:p>
              <a:r>
                <a:rPr lang="zh-CN" altLang="en-US" sz="1800" dirty="0">
                  <a:solidFill>
                    <a:srgbClr val="0070C0"/>
                  </a:solidFill>
                </a:rPr>
                <a:t>    int factor;</a:t>
              </a:r>
            </a:p>
            <a:p>
              <a:r>
                <a:rPr lang="zh-CN" altLang="en-US" sz="1800" dirty="0">
                  <a:solidFill>
                    <a:srgbClr val="0070C0"/>
                  </a:solidFill>
                </a:rPr>
                <a:t>public:</a:t>
              </a:r>
            </a:p>
            <a:p>
              <a:r>
                <a:rPr lang="zh-CN" altLang="en-US" sz="1800" dirty="0">
                  <a:solidFill>
                    <a:srgbClr val="0070C0"/>
                  </a:solidFill>
                </a:rPr>
                <a:t>    Multiply(int f): factor(f) {}</a:t>
              </a:r>
            </a:p>
            <a:p>
              <a:r>
                <a:rPr lang="zh-CN" altLang="en-US" sz="1800" dirty="0">
                  <a:solidFill>
                    <a:srgbClr val="0070C0"/>
                  </a:solidFill>
                </a:rPr>
                <a:t>    int operator()(int x) const { return x * factor; }</a:t>
              </a:r>
            </a:p>
            <a:p>
              <a:r>
                <a:rPr lang="zh-CN" altLang="en-US" sz="1800" dirty="0">
                  <a:solidFill>
                    <a:srgbClr val="0070C0"/>
                  </a:solidFill>
                </a:rPr>
                <a:t>};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9E08E39-48AB-0CE4-6555-3FC7AFC19BB5}"/>
                </a:ext>
              </a:extLst>
            </p:cNvPr>
            <p:cNvSpPr txBox="1"/>
            <p:nvPr/>
          </p:nvSpPr>
          <p:spPr>
            <a:xfrm>
              <a:off x="6030416" y="4617031"/>
              <a:ext cx="4572000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800" dirty="0">
                  <a:solidFill>
                    <a:srgbClr val="006600"/>
                  </a:solidFill>
                </a:rPr>
                <a:t>Multiply times2(2);</a:t>
              </a:r>
            </a:p>
            <a:p>
              <a:r>
                <a:rPr lang="zh-CN" altLang="en-US" sz="1800" dirty="0">
                  <a:solidFill>
                    <a:srgbClr val="006600"/>
                  </a:solidFill>
                </a:rPr>
                <a:t>Multiply times5(5);</a:t>
              </a:r>
            </a:p>
            <a:p>
              <a:endParaRPr lang="zh-CN" altLang="en-US" sz="1800" dirty="0">
                <a:solidFill>
                  <a:srgbClr val="006600"/>
                </a:solidFill>
              </a:endParaRPr>
            </a:p>
            <a:p>
              <a:r>
                <a:rPr lang="zh-CN" altLang="en-US" sz="1800" dirty="0">
                  <a:solidFill>
                    <a:srgbClr val="006600"/>
                  </a:solidFill>
                </a:rPr>
                <a:t>cout &lt;&lt; times2(10);  // 20</a:t>
              </a:r>
            </a:p>
            <a:p>
              <a:r>
                <a:rPr lang="zh-CN" altLang="en-US" sz="1800" dirty="0">
                  <a:solidFill>
                    <a:srgbClr val="006600"/>
                  </a:solidFill>
                </a:rPr>
                <a:t>cout &lt;&lt; times5(10);  // 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7739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7624" y="626390"/>
            <a:ext cx="7211144" cy="1143000"/>
          </a:xfrm>
        </p:spPr>
        <p:txBody>
          <a:bodyPr/>
          <a:lstStyle/>
          <a:p>
            <a:r>
              <a:rPr lang="en-US" altLang="zh-CN" dirty="0"/>
              <a:t>Lambda</a:t>
            </a:r>
            <a:r>
              <a:rPr lang="zh-CN" altLang="en-US" dirty="0"/>
              <a:t>函数</a:t>
            </a:r>
            <a:endParaRPr lang="en-US" altLang="zh-CN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1600" y="2060848"/>
            <a:ext cx="9433048" cy="2664296"/>
          </a:xfrm>
        </p:spPr>
        <p:txBody>
          <a:bodyPr/>
          <a:lstStyle/>
          <a:p>
            <a:r>
              <a:rPr lang="zh-CN" altLang="en-US" sz="2800" dirty="0"/>
              <a:t>也叫做</a:t>
            </a:r>
            <a:r>
              <a:rPr lang="en-US" altLang="zh-CN" sz="2800" dirty="0"/>
              <a:t>Lambda</a:t>
            </a:r>
            <a:r>
              <a:rPr lang="zh-CN" altLang="en-US" sz="2800" dirty="0"/>
              <a:t>表达式</a:t>
            </a:r>
            <a:endParaRPr lang="en-US" altLang="zh-CN" sz="2800" dirty="0"/>
          </a:p>
          <a:p>
            <a:r>
              <a:rPr lang="zh-CN" altLang="en-US" sz="2800" dirty="0"/>
              <a:t>创建匿名函数对象的方式</a:t>
            </a:r>
            <a:endParaRPr lang="en-US" altLang="zh-CN" sz="2800" dirty="0"/>
          </a:p>
          <a:p>
            <a:pPr lvl="1"/>
            <a:r>
              <a:rPr lang="en" altLang="zh-CN" sz="2000" dirty="0"/>
              <a:t>Lambda </a:t>
            </a:r>
            <a:r>
              <a:rPr lang="zh-CN" altLang="en-US" sz="2000" dirty="0"/>
              <a:t>表达式是创建函数对象的语法糖（</a:t>
            </a:r>
            <a:r>
              <a:rPr lang="en" altLang="zh-CN" sz="2000" dirty="0"/>
              <a:t>syntactic sugar</a:t>
            </a:r>
            <a:r>
              <a:rPr lang="zh-CN" altLang="en" sz="2000" dirty="0"/>
              <a:t>）</a:t>
            </a:r>
            <a:endParaRPr lang="en-US" altLang="zh-CN" sz="2000" dirty="0"/>
          </a:p>
          <a:p>
            <a:pPr lvl="1"/>
            <a:r>
              <a:rPr lang="zh-CN" altLang="en-US" sz="2000" dirty="0"/>
              <a:t>编译器自动生成一个匿名函数对象类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1C0CEF-63DB-13D7-004C-30EA8729EEC9}"/>
              </a:ext>
            </a:extLst>
          </p:cNvPr>
          <p:cNvSpPr txBox="1"/>
          <p:nvPr/>
        </p:nvSpPr>
        <p:spPr>
          <a:xfrm>
            <a:off x="2035127" y="3933056"/>
            <a:ext cx="551613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int</a:t>
            </a:r>
            <a:r>
              <a:rPr lang="zh-CN" altLang="en-US" sz="1800" dirty="0"/>
              <a:t> add5 = [base = 5](int x) { return x + base; };</a:t>
            </a:r>
          </a:p>
          <a:p>
            <a:r>
              <a:rPr lang="zh-CN" altLang="en-US" sz="1800" dirty="0"/>
              <a:t>cout &lt;&lt; add5(10);   // 输出15</a:t>
            </a:r>
            <a:endParaRPr lang="en-US" altLang="zh-CN" sz="1800" dirty="0"/>
          </a:p>
          <a:p>
            <a:endParaRPr lang="en-US" altLang="zh-CN" sz="1800" dirty="0">
              <a:solidFill>
                <a:srgbClr val="0070C0"/>
              </a:solidFill>
            </a:endParaRPr>
          </a:p>
          <a:p>
            <a:r>
              <a:rPr lang="en" altLang="zh-CN" sz="1800" dirty="0">
                <a:solidFill>
                  <a:srgbClr val="0070C0"/>
                </a:solidFill>
              </a:rPr>
              <a:t>class __lambda_add5 {</a:t>
            </a:r>
          </a:p>
          <a:p>
            <a:r>
              <a:rPr lang="en" altLang="zh-CN" sz="1800" dirty="0">
                <a:solidFill>
                  <a:srgbClr val="0070C0"/>
                </a:solidFill>
              </a:rPr>
              <a:t>    int base;</a:t>
            </a:r>
          </a:p>
          <a:p>
            <a:r>
              <a:rPr lang="en" altLang="zh-CN" sz="1800" dirty="0">
                <a:solidFill>
                  <a:srgbClr val="0070C0"/>
                </a:solidFill>
              </a:rPr>
              <a:t>public:</a:t>
            </a:r>
          </a:p>
          <a:p>
            <a:r>
              <a:rPr lang="en" altLang="zh-CN" sz="1800" dirty="0">
                <a:solidFill>
                  <a:srgbClr val="0070C0"/>
                </a:solidFill>
              </a:rPr>
              <a:t>    __lambda_add5(int _base): base(_base) {}</a:t>
            </a:r>
          </a:p>
          <a:p>
            <a:r>
              <a:rPr lang="en" altLang="zh-CN" sz="1800" dirty="0">
                <a:solidFill>
                  <a:srgbClr val="0070C0"/>
                </a:solidFill>
              </a:rPr>
              <a:t>    int operator()(int x) const { return x + base; }</a:t>
            </a:r>
          </a:p>
          <a:p>
            <a:r>
              <a:rPr lang="en" altLang="zh-CN" sz="1800" dirty="0">
                <a:solidFill>
                  <a:srgbClr val="0070C0"/>
                </a:solidFill>
              </a:rPr>
              <a:t>};</a:t>
            </a:r>
          </a:p>
          <a:p>
            <a:endParaRPr lang="zh-CN" altLang="en-US" sz="1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352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D372E-01C0-24AB-C62C-833B1FBC9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Lambda</a:t>
            </a:r>
            <a:r>
              <a:rPr lang="zh-CN" altLang="en-US" dirty="0"/>
              <a:t>函数</a:t>
            </a:r>
            <a:endParaRPr kumimoji="1"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9716118-3B63-C60C-FE99-731A4C2F8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670891"/>
              </p:ext>
            </p:extLst>
          </p:nvPr>
        </p:nvGraphicFramePr>
        <p:xfrm>
          <a:off x="879258" y="3890657"/>
          <a:ext cx="7772400" cy="2376264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725960">
                  <a:extLst>
                    <a:ext uri="{9D8B030D-6E8A-4147-A177-3AD203B41FA5}">
                      <a16:colId xmlns:a16="http://schemas.microsoft.com/office/drawing/2014/main" val="3424322259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865163944"/>
                    </a:ext>
                  </a:extLst>
                </a:gridCol>
                <a:gridCol w="3094112">
                  <a:extLst>
                    <a:ext uri="{9D8B030D-6E8A-4147-A177-3AD203B41FA5}">
                      <a16:colId xmlns:a16="http://schemas.microsoft.com/office/drawing/2014/main" val="2789649676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λ</a:t>
                      </a:r>
                      <a:r>
                        <a:rPr lang="zh-CN" altLang="en-US"/>
                        <a:t>演算表达式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含义（数学）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C++ </a:t>
                      </a:r>
                      <a:r>
                        <a:rPr lang="zh-CN" altLang="en-US"/>
                        <a:t>对应写法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1370770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λ</a:t>
                      </a:r>
                      <a:r>
                        <a:rPr lang="en"/>
                        <a:t>x. x + 1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定义一个函数 </a:t>
                      </a:r>
                      <a:r>
                        <a:rPr lang="en"/>
                        <a:t>f(x) = x + 1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[](int x){ return x + 1; 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605791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/>
                        <a:t>(λ</a:t>
                      </a:r>
                      <a:r>
                        <a:rPr lang="en" dirty="0"/>
                        <a:t>x. x + 1)(3)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调用该函数，结果是 </a:t>
                      </a:r>
                      <a:r>
                        <a:rPr lang="en-US" altLang="zh-C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/>
                        <a:t>[](int x){ return x + 1; }(3)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4606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FBD4BD9-F6CB-4097-E1AD-3160480D9386}"/>
              </a:ext>
            </a:extLst>
          </p:cNvPr>
          <p:cNvSpPr txBox="1"/>
          <p:nvPr/>
        </p:nvSpPr>
        <p:spPr>
          <a:xfrm>
            <a:off x="755576" y="2236458"/>
            <a:ext cx="8019764" cy="1200329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800" dirty="0">
                <a:solidFill>
                  <a:srgbClr val="0070C0"/>
                </a:solidFill>
              </a:rPr>
              <a:t>数学家阿隆佐</a:t>
            </a:r>
            <a:r>
              <a:rPr lang="en-US" altLang="zh-CN" sz="1800" dirty="0">
                <a:solidFill>
                  <a:srgbClr val="0070C0"/>
                </a:solidFill>
              </a:rPr>
              <a:t>·</a:t>
            </a:r>
            <a:r>
              <a:rPr lang="zh-CN" altLang="en-US" sz="1800" dirty="0">
                <a:solidFill>
                  <a:srgbClr val="0070C0"/>
                </a:solidFill>
              </a:rPr>
              <a:t>丘奇（</a:t>
            </a:r>
            <a:r>
              <a:rPr lang="en" altLang="zh-CN" sz="1800" dirty="0">
                <a:solidFill>
                  <a:srgbClr val="0070C0"/>
                </a:solidFill>
              </a:rPr>
              <a:t>Alonzo Church</a:t>
            </a:r>
            <a:r>
              <a:rPr lang="zh-CN" altLang="en" sz="1800" dirty="0">
                <a:solidFill>
                  <a:srgbClr val="0070C0"/>
                </a:solidFill>
              </a:rPr>
              <a:t>）</a:t>
            </a:r>
            <a:r>
              <a:rPr lang="en" altLang="zh-CN" sz="1800" dirty="0">
                <a:solidFill>
                  <a:srgbClr val="0070C0"/>
                </a:solidFill>
              </a:rPr>
              <a:t> </a:t>
            </a:r>
            <a:r>
              <a:rPr lang="zh-CN" altLang="en-US" sz="1800" dirty="0">
                <a:solidFill>
                  <a:srgbClr val="0070C0"/>
                </a:solidFill>
              </a:rPr>
              <a:t>在 </a:t>
            </a:r>
            <a:r>
              <a:rPr lang="en-US" altLang="zh-CN" sz="1800" dirty="0">
                <a:solidFill>
                  <a:srgbClr val="0070C0"/>
                </a:solidFill>
              </a:rPr>
              <a:t>1930 </a:t>
            </a:r>
            <a:r>
              <a:rPr lang="zh-CN" altLang="en-US" sz="1800" dirty="0">
                <a:solidFill>
                  <a:srgbClr val="0070C0"/>
                </a:solidFill>
              </a:rPr>
              <a:t>年代提出了一套形式化体系，叫做 </a:t>
            </a:r>
            <a:r>
              <a:rPr lang="el-GR" altLang="zh-CN" sz="1800" dirty="0">
                <a:solidFill>
                  <a:srgbClr val="0070C0"/>
                </a:solidFill>
              </a:rPr>
              <a:t>λ</a:t>
            </a:r>
            <a:r>
              <a:rPr lang="zh-CN" altLang="en-US" sz="1800" dirty="0">
                <a:solidFill>
                  <a:srgbClr val="0070C0"/>
                </a:solidFill>
              </a:rPr>
              <a:t>演算（</a:t>
            </a:r>
            <a:r>
              <a:rPr lang="en" altLang="zh-CN" sz="1800" dirty="0">
                <a:solidFill>
                  <a:srgbClr val="0070C0"/>
                </a:solidFill>
              </a:rPr>
              <a:t>lambda calculus</a:t>
            </a:r>
            <a:r>
              <a:rPr lang="zh-CN" altLang="en" sz="1800" dirty="0">
                <a:solidFill>
                  <a:srgbClr val="0070C0"/>
                </a:solidFill>
              </a:rPr>
              <a:t>）</a:t>
            </a:r>
            <a:r>
              <a:rPr lang="zh-CN" altLang="en-US" sz="1800" dirty="0">
                <a:solidFill>
                  <a:srgbClr val="0070C0"/>
                </a:solidFill>
              </a:rPr>
              <a:t>，是描述“函数及其应用”的一种最小化数学系统，奠定了现代编程语言（尤其是函数式语言）的理论基础。在 </a:t>
            </a:r>
            <a:r>
              <a:rPr lang="el-GR" altLang="zh-CN" sz="1800" dirty="0">
                <a:solidFill>
                  <a:srgbClr val="0070C0"/>
                </a:solidFill>
              </a:rPr>
              <a:t>λ </a:t>
            </a:r>
            <a:r>
              <a:rPr lang="zh-CN" altLang="en-US" sz="1800" dirty="0">
                <a:solidFill>
                  <a:srgbClr val="0070C0"/>
                </a:solidFill>
              </a:rPr>
              <a:t>演算中，</a:t>
            </a:r>
            <a:r>
              <a:rPr lang="el-GR" altLang="zh-CN" sz="1800" dirty="0">
                <a:solidFill>
                  <a:srgbClr val="0070C0"/>
                </a:solidFill>
              </a:rPr>
              <a:t>λ </a:t>
            </a:r>
            <a:r>
              <a:rPr lang="zh-CN" altLang="en-US" sz="1800" dirty="0">
                <a:solidFill>
                  <a:srgbClr val="0070C0"/>
                </a:solidFill>
              </a:rPr>
              <a:t>表示“函数的定义”；</a:t>
            </a:r>
            <a:r>
              <a:rPr lang="en-US" altLang="zh-CN" sz="1800" dirty="0">
                <a:solidFill>
                  <a:srgbClr val="0070C0"/>
                </a:solidFill>
              </a:rPr>
              <a:t>(</a:t>
            </a:r>
            <a:r>
              <a:rPr lang="el-GR" altLang="zh-CN" sz="1800" dirty="0">
                <a:solidFill>
                  <a:srgbClr val="0070C0"/>
                </a:solidFill>
              </a:rPr>
              <a:t>λ</a:t>
            </a:r>
            <a:r>
              <a:rPr lang="en" altLang="zh-CN" sz="1800" dirty="0">
                <a:solidFill>
                  <a:srgbClr val="0070C0"/>
                </a:solidFill>
              </a:rPr>
              <a:t>x. x + 1) </a:t>
            </a:r>
            <a:r>
              <a:rPr lang="zh-CN" altLang="en-US" sz="1800" dirty="0">
                <a:solidFill>
                  <a:srgbClr val="0070C0"/>
                </a:solidFill>
              </a:rPr>
              <a:t>表示“一个把 </a:t>
            </a:r>
            <a:r>
              <a:rPr lang="en" altLang="zh-CN" sz="1800" dirty="0">
                <a:solidFill>
                  <a:srgbClr val="0070C0"/>
                </a:solidFill>
              </a:rPr>
              <a:t>x </a:t>
            </a:r>
            <a:r>
              <a:rPr lang="zh-CN" altLang="en-US" sz="1800" dirty="0">
                <a:solidFill>
                  <a:srgbClr val="0070C0"/>
                </a:solidFill>
              </a:rPr>
              <a:t>映射到 </a:t>
            </a:r>
            <a:r>
              <a:rPr lang="en" altLang="zh-CN" sz="1800" dirty="0">
                <a:solidFill>
                  <a:srgbClr val="0070C0"/>
                </a:solidFill>
              </a:rPr>
              <a:t>x+1 </a:t>
            </a:r>
            <a:r>
              <a:rPr lang="zh-CN" altLang="en-US" sz="1800" dirty="0">
                <a:solidFill>
                  <a:srgbClr val="0070C0"/>
                </a:solidFill>
              </a:rPr>
              <a:t>的函数”。</a:t>
            </a:r>
          </a:p>
        </p:txBody>
      </p:sp>
    </p:spTree>
    <p:extLst>
      <p:ext uri="{BB962C8B-B14F-4D97-AF65-F5344CB8AC3E}">
        <p14:creationId xmlns:p14="http://schemas.microsoft.com/office/powerpoint/2010/main" val="83201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Lambda</a:t>
            </a:r>
            <a:r>
              <a:rPr lang="zh-CN" altLang="en-US" dirty="0"/>
              <a:t>捕获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3122190"/>
              </p:ext>
            </p:extLst>
          </p:nvPr>
        </p:nvGraphicFramePr>
        <p:xfrm>
          <a:off x="504119" y="2420887"/>
          <a:ext cx="8460433" cy="2676575"/>
        </p:xfrm>
        <a:graphic>
          <a:graphicData uri="http://schemas.openxmlformats.org/drawingml/2006/table">
            <a:tbl>
              <a:tblPr/>
              <a:tblGrid>
                <a:gridCol w="1494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5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5315"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verdana"/>
                        </a:rPr>
                        <a:t>[]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不捕获任何变量</a:t>
                      </a:r>
                      <a:endParaRPr lang="en-US" dirty="0">
                        <a:effectLst/>
                        <a:latin typeface="verdan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15"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  <a:latin typeface="verdana"/>
                        </a:rPr>
                        <a:t>[&amp;]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以引用方式捕获所有在作用域内被引用的变量</a:t>
                      </a:r>
                      <a:endParaRPr lang="en-US" dirty="0">
                        <a:effectLst/>
                        <a:latin typeface="verdan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15"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verdana"/>
                        </a:rPr>
                        <a:t>[=]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以值拷贝方式捕获所有在作用域内被引用的变量</a:t>
                      </a:r>
                      <a:endParaRPr lang="en-US" dirty="0">
                        <a:effectLst/>
                        <a:latin typeface="verdan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15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verdana"/>
                        </a:rPr>
                        <a:t>[=, &amp;</a:t>
                      </a:r>
                      <a:r>
                        <a:rPr lang="en-US" dirty="0" err="1">
                          <a:effectLst/>
                          <a:latin typeface="verdana"/>
                        </a:rPr>
                        <a:t>foo</a:t>
                      </a:r>
                      <a:r>
                        <a:rPr lang="en-US" dirty="0">
                          <a:effectLst/>
                          <a:latin typeface="verdana"/>
                        </a:rPr>
                        <a:t>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以值拷贝方式捕获所有被引用的变量，但 </a:t>
                      </a:r>
                      <a:r>
                        <a:rPr lang="en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foo</a:t>
                      </a:r>
                      <a:r>
                        <a:rPr lang="en" altLang="zh-CN" dirty="0"/>
                        <a:t> </a:t>
                      </a:r>
                      <a:r>
                        <a:rPr lang="zh-CN" altLang="en-US" dirty="0"/>
                        <a:t>变量以引用方式捕获</a:t>
                      </a:r>
                      <a:endParaRPr lang="en-US" dirty="0">
                        <a:effectLst/>
                        <a:latin typeface="verdan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15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verdana"/>
                        </a:rPr>
                        <a:t>[bar]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仅以值拷贝方式捕获 </a:t>
                      </a:r>
                      <a:r>
                        <a:rPr lang="en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bar</a:t>
                      </a:r>
                      <a:r>
                        <a:rPr lang="zh-CN" altLang="en" dirty="0"/>
                        <a:t>；</a:t>
                      </a:r>
                      <a:r>
                        <a:rPr lang="zh-CN" altLang="en-US" dirty="0"/>
                        <a:t>不捕获任何其他变量</a:t>
                      </a:r>
                      <a:endParaRPr lang="en-US" dirty="0">
                        <a:effectLst/>
                        <a:latin typeface="verdan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1270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536" y="188640"/>
            <a:ext cx="1507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Example</a:t>
            </a:r>
            <a:endParaRPr lang="zh-CN" alt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159115" y="955834"/>
            <a:ext cx="748883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vector&lt;string&gt; </a:t>
            </a:r>
            <a:r>
              <a:rPr lang="en-US" altLang="zh-CN" sz="1800" dirty="0" err="1"/>
              <a:t>str_filter</a:t>
            </a:r>
            <a:r>
              <a:rPr lang="en-US" altLang="zh-CN" sz="1800" dirty="0"/>
              <a:t>(vector&lt;string&gt; &amp;</a:t>
            </a:r>
            <a:r>
              <a:rPr lang="en-US" altLang="zh-CN" sz="1800" dirty="0" err="1"/>
              <a:t>vec</a:t>
            </a:r>
            <a:r>
              <a:rPr lang="en-US" altLang="zh-CN" sz="1800" dirty="0"/>
              <a:t>, function&lt;</a:t>
            </a:r>
            <a:r>
              <a:rPr lang="en-US" altLang="zh-CN" sz="1800" dirty="0" err="1"/>
              <a:t>bool</a:t>
            </a:r>
            <a:r>
              <a:rPr lang="en-US" altLang="zh-CN" sz="1800" dirty="0"/>
              <a:t>(string &amp;)&gt; matched){</a:t>
            </a:r>
          </a:p>
          <a:p>
            <a:r>
              <a:rPr lang="en-US" altLang="zh-CN" sz="1800" dirty="0"/>
              <a:t>    vector&lt;string&gt; result;</a:t>
            </a:r>
          </a:p>
          <a:p>
            <a:r>
              <a:rPr lang="en-US" altLang="zh-CN" sz="1800" dirty="0"/>
              <a:t>    for (string </a:t>
            </a:r>
            <a:r>
              <a:rPr lang="en-US" altLang="zh-CN" sz="1800" dirty="0" err="1"/>
              <a:t>tmp</a:t>
            </a:r>
            <a:r>
              <a:rPr lang="en-US" altLang="zh-CN" sz="1800" dirty="0"/>
              <a:t> : </a:t>
            </a:r>
            <a:r>
              <a:rPr lang="en-US" altLang="zh-CN" sz="1800" dirty="0" err="1"/>
              <a:t>vec</a:t>
            </a:r>
            <a:r>
              <a:rPr lang="en-US" altLang="zh-CN" sz="1800" dirty="0"/>
              <a:t>) {</a:t>
            </a:r>
          </a:p>
          <a:p>
            <a:r>
              <a:rPr lang="en-US" altLang="zh-CN" sz="1800" dirty="0"/>
              <a:t>        if (matched(</a:t>
            </a:r>
            <a:r>
              <a:rPr lang="en-US" altLang="zh-CN" sz="1800" dirty="0" err="1"/>
              <a:t>tmp</a:t>
            </a:r>
            <a:r>
              <a:rPr lang="en-US" altLang="zh-CN" sz="1800" dirty="0"/>
              <a:t>))</a:t>
            </a:r>
          </a:p>
          <a:p>
            <a:r>
              <a:rPr lang="en-US" altLang="zh-CN" sz="1800" dirty="0"/>
              <a:t>            </a:t>
            </a:r>
            <a:r>
              <a:rPr lang="en-US" altLang="zh-CN" sz="1800" dirty="0" err="1"/>
              <a:t>result.push_back</a:t>
            </a:r>
            <a:r>
              <a:rPr lang="en-US" altLang="zh-CN" sz="1800" dirty="0"/>
              <a:t>(</a:t>
            </a:r>
            <a:r>
              <a:rPr lang="en-US" altLang="zh-CN" sz="1800" dirty="0" err="1"/>
              <a:t>tmp</a:t>
            </a:r>
            <a:r>
              <a:rPr lang="en-US" altLang="zh-CN" sz="1800" dirty="0"/>
              <a:t>);</a:t>
            </a:r>
          </a:p>
          <a:p>
            <a:r>
              <a:rPr lang="en-US" altLang="zh-CN" sz="1800" dirty="0"/>
              <a:t>    }</a:t>
            </a:r>
          </a:p>
          <a:p>
            <a:r>
              <a:rPr lang="en-US" altLang="zh-CN" sz="1800" dirty="0"/>
              <a:t>    return result;</a:t>
            </a:r>
          </a:p>
          <a:p>
            <a:r>
              <a:rPr lang="en-US" altLang="zh-CN" sz="1800" dirty="0"/>
              <a:t>}</a:t>
            </a:r>
          </a:p>
          <a:p>
            <a:endParaRPr lang="en-US" altLang="zh-CN" sz="1800" dirty="0"/>
          </a:p>
          <a:p>
            <a:r>
              <a:rPr lang="en-US" altLang="zh-CN" sz="1800" dirty="0" err="1"/>
              <a:t>int</a:t>
            </a:r>
            <a:r>
              <a:rPr lang="en-US" altLang="zh-CN" sz="1800" dirty="0"/>
              <a:t> main(){</a:t>
            </a:r>
          </a:p>
          <a:p>
            <a:r>
              <a:rPr lang="en-US" altLang="zh-CN" sz="1800" dirty="0"/>
              <a:t>    vector&lt;string&gt; </a:t>
            </a:r>
            <a:r>
              <a:rPr lang="en-US" altLang="zh-CN" sz="1800" dirty="0" err="1"/>
              <a:t>vec</a:t>
            </a:r>
            <a:r>
              <a:rPr lang="en-US" altLang="zh-CN" sz="1800" dirty="0"/>
              <a:t> = {"www.baidu.com", "www.kernel.org", "www.google.com"};</a:t>
            </a:r>
          </a:p>
          <a:p>
            <a:r>
              <a:rPr lang="en-US" altLang="zh-CN" sz="1800" dirty="0"/>
              <a:t>    </a:t>
            </a:r>
            <a:r>
              <a:rPr lang="en-US" altLang="zh-CN" sz="1800" dirty="0">
                <a:solidFill>
                  <a:srgbClr val="C00000"/>
                </a:solidFill>
              </a:rPr>
              <a:t>string pattern</a:t>
            </a:r>
            <a:r>
              <a:rPr lang="en-US" altLang="zh-CN" sz="1800" dirty="0"/>
              <a:t> = ".com";</a:t>
            </a:r>
          </a:p>
          <a:p>
            <a:r>
              <a:rPr lang="en-US" altLang="zh-CN" sz="1800" dirty="0"/>
              <a:t>    vector&lt;string&gt; </a:t>
            </a:r>
            <a:r>
              <a:rPr lang="en-US" altLang="zh-CN" sz="1800" dirty="0" err="1"/>
              <a:t>filterd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str_filter</a:t>
            </a:r>
            <a:r>
              <a:rPr lang="en-US" altLang="zh-CN" sz="1800" dirty="0"/>
              <a:t>(</a:t>
            </a:r>
            <a:r>
              <a:rPr lang="en-US" altLang="zh-CN" sz="1800" dirty="0" err="1"/>
              <a:t>vec</a:t>
            </a:r>
            <a:r>
              <a:rPr lang="en-US" altLang="zh-CN" sz="1800" dirty="0"/>
              <a:t>,</a:t>
            </a:r>
          </a:p>
          <a:p>
            <a:r>
              <a:rPr lang="en-US" altLang="zh-CN" sz="1800" dirty="0">
                <a:solidFill>
                  <a:srgbClr val="FF0000"/>
                </a:solidFill>
              </a:rPr>
              <a:t>        </a:t>
            </a:r>
            <a:r>
              <a:rPr lang="en-US" altLang="zh-CN" sz="1800" dirty="0">
                <a:solidFill>
                  <a:srgbClr val="0070C0"/>
                </a:solidFill>
              </a:rPr>
              <a:t>[&amp;](string &amp;</a:t>
            </a:r>
            <a:r>
              <a:rPr lang="en-US" altLang="zh-CN" sz="1800" dirty="0" err="1">
                <a:solidFill>
                  <a:srgbClr val="0070C0"/>
                </a:solidFill>
              </a:rPr>
              <a:t>str</a:t>
            </a:r>
            <a:r>
              <a:rPr lang="en-US" altLang="zh-CN" sz="1800" dirty="0">
                <a:solidFill>
                  <a:srgbClr val="0070C0"/>
                </a:solidFill>
              </a:rPr>
              <a:t>) {</a:t>
            </a:r>
          </a:p>
          <a:p>
            <a:r>
              <a:rPr lang="en-US" altLang="zh-CN" sz="1800" dirty="0">
                <a:solidFill>
                  <a:srgbClr val="0070C0"/>
                </a:solidFill>
              </a:rPr>
              <a:t>        if (</a:t>
            </a:r>
            <a:r>
              <a:rPr lang="en-US" altLang="zh-CN" sz="1800" dirty="0" err="1">
                <a:solidFill>
                  <a:srgbClr val="0070C0"/>
                </a:solidFill>
              </a:rPr>
              <a:t>str.find</a:t>
            </a:r>
            <a:r>
              <a:rPr lang="en-US" altLang="zh-CN" sz="1800" dirty="0">
                <a:solidFill>
                  <a:srgbClr val="0070C0"/>
                </a:solidFill>
              </a:rPr>
              <a:t>(</a:t>
            </a:r>
            <a:r>
              <a:rPr lang="en-US" altLang="zh-CN" sz="1800" dirty="0">
                <a:solidFill>
                  <a:srgbClr val="C00000"/>
                </a:solidFill>
              </a:rPr>
              <a:t>pattern</a:t>
            </a:r>
            <a:r>
              <a:rPr lang="en-US" altLang="zh-CN" sz="1800" dirty="0">
                <a:solidFill>
                  <a:srgbClr val="0070C0"/>
                </a:solidFill>
              </a:rPr>
              <a:t>) != string::</a:t>
            </a:r>
            <a:r>
              <a:rPr lang="en-US" altLang="zh-CN" sz="1800" dirty="0" err="1">
                <a:solidFill>
                  <a:srgbClr val="0070C0"/>
                </a:solidFill>
              </a:rPr>
              <a:t>npos</a:t>
            </a:r>
            <a:r>
              <a:rPr lang="en-US" altLang="zh-CN" sz="1800" dirty="0">
                <a:solidFill>
                  <a:srgbClr val="0070C0"/>
                </a:solidFill>
              </a:rPr>
              <a:t>) </a:t>
            </a:r>
          </a:p>
          <a:p>
            <a:r>
              <a:rPr lang="en-US" altLang="zh-CN" sz="1800" dirty="0">
                <a:solidFill>
                  <a:srgbClr val="0070C0"/>
                </a:solidFill>
              </a:rPr>
              <a:t>            return true;</a:t>
            </a:r>
          </a:p>
          <a:p>
            <a:r>
              <a:rPr lang="en-US" altLang="zh-CN" sz="1800" dirty="0">
                <a:solidFill>
                  <a:srgbClr val="0070C0"/>
                </a:solidFill>
              </a:rPr>
              <a:t>        return false;</a:t>
            </a:r>
          </a:p>
          <a:p>
            <a:r>
              <a:rPr lang="en-US" altLang="zh-CN" sz="1800" dirty="0">
                <a:solidFill>
                  <a:srgbClr val="0070C0"/>
                </a:solidFill>
              </a:rPr>
              <a:t>    }</a:t>
            </a:r>
            <a:r>
              <a:rPr lang="en-US" altLang="zh-CN" sz="1800" dirty="0"/>
              <a:t>);</a:t>
            </a:r>
          </a:p>
          <a:p>
            <a:r>
              <a:rPr lang="en-US" altLang="zh-CN" sz="1800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8673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AB029D-E81D-81B3-8965-626D897B1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std::function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4EC582-51EF-CF2F-B1B7-886A8093D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通用函数封装器</a:t>
            </a:r>
            <a:endParaRPr kumimoji="1" lang="zh-CN" altLang="en" dirty="0"/>
          </a:p>
          <a:p>
            <a:r>
              <a:rPr kumimoji="1" lang="zh-CN" altLang="en-US" dirty="0"/>
              <a:t>能存储并调用任意可调用对象（</a:t>
            </a:r>
            <a:r>
              <a:rPr kumimoji="1" lang="en" altLang="zh-CN" dirty="0"/>
              <a:t>callable object</a:t>
            </a:r>
            <a:r>
              <a:rPr kumimoji="1" lang="zh-CN" altLang="en" dirty="0"/>
              <a:t>）</a:t>
            </a:r>
          </a:p>
          <a:p>
            <a:pPr lvl="1"/>
            <a:r>
              <a:rPr kumimoji="1" lang="zh-CN" altLang="en-US" dirty="0"/>
              <a:t>普通函数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函数指针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成员函数</a:t>
            </a:r>
            <a:endParaRPr kumimoji="1" lang="zh-CN" altLang="en" dirty="0"/>
          </a:p>
          <a:p>
            <a:pPr lvl="1"/>
            <a:r>
              <a:rPr kumimoji="1" lang="zh-CN" altLang="en-US" dirty="0"/>
              <a:t>函数对象</a:t>
            </a:r>
            <a:endParaRPr kumimoji="1" lang="en" altLang="zh-CN" dirty="0"/>
          </a:p>
          <a:p>
            <a:pPr lvl="1"/>
            <a:r>
              <a:rPr kumimoji="1" lang="en" altLang="zh-CN" dirty="0"/>
              <a:t>Lambda </a:t>
            </a:r>
            <a:r>
              <a:rPr kumimoji="1" lang="zh-CN" altLang="en-US" dirty="0"/>
              <a:t>表达式</a:t>
            </a:r>
            <a:endParaRPr kumimoji="1" lang="en-US" altLang="zh-CN" dirty="0"/>
          </a:p>
          <a:p>
            <a:r>
              <a:rPr lang="zh-CN" altLang="en-US" dirty="0"/>
              <a:t>用途：回调注册、事件处理、接口设计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0743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3CA1E6-B725-AAA9-FCD1-8B4C3D9BA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B3AB77-C672-E1B1-DBCC-EAB9B5D80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2125662"/>
            <a:ext cx="3816424" cy="4114800"/>
          </a:xfrm>
          <a:ln w="15875">
            <a:solidFill>
              <a:schemeClr val="tx1"/>
            </a:solidFill>
          </a:ln>
        </p:spPr>
        <p:txBody>
          <a:bodyPr/>
          <a:lstStyle/>
          <a:p>
            <a:pPr marL="0" indent="0">
              <a:spcBef>
                <a:spcPct val="0"/>
              </a:spcBef>
              <a:buNone/>
            </a:pPr>
            <a:r>
              <a:rPr lang="en" altLang="zh-CN" sz="1800" i="1" kern="1200" dirty="0">
                <a:latin typeface="Tahoma" panose="020B0804030504040204" charset="0"/>
                <a:ea typeface="SimSun" charset="-122"/>
              </a:rPr>
              <a:t>#include &lt;iostream&gt;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" altLang="zh-CN" sz="1800" i="1" kern="1200" dirty="0">
                <a:latin typeface="Tahoma" panose="020B0804030504040204" charset="0"/>
                <a:ea typeface="SimSun" charset="-122"/>
              </a:rPr>
              <a:t>#include &lt;functional&gt;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" altLang="zh-CN" sz="1800" i="1" kern="1200" dirty="0">
                <a:latin typeface="Tahoma" panose="020B0804030504040204" charset="0"/>
                <a:ea typeface="SimSun" charset="-122"/>
              </a:rPr>
              <a:t>using namespace std;</a:t>
            </a:r>
          </a:p>
          <a:p>
            <a:pPr marL="0" indent="0">
              <a:spcBef>
                <a:spcPct val="0"/>
              </a:spcBef>
              <a:buNone/>
            </a:pPr>
            <a:endParaRPr lang="en" altLang="zh-CN" sz="1800" i="1" kern="1200" dirty="0">
              <a:latin typeface="Tahoma" panose="020B0804030504040204" charset="0"/>
              <a:ea typeface="SimSun" charset="-122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" altLang="zh-CN" sz="1800" i="1" kern="1200" dirty="0">
                <a:latin typeface="Tahoma" panose="020B0804030504040204" charset="0"/>
                <a:ea typeface="SimSun" charset="-122"/>
              </a:rPr>
              <a:t>void hello() { </a:t>
            </a:r>
            <a:r>
              <a:rPr lang="en" altLang="zh-CN" sz="1800" i="1" kern="1200" dirty="0" err="1">
                <a:latin typeface="Tahoma" panose="020B0804030504040204" charset="0"/>
                <a:ea typeface="SimSun" charset="-122"/>
              </a:rPr>
              <a:t>cout</a:t>
            </a:r>
            <a:r>
              <a:rPr lang="en" altLang="zh-CN" sz="1800" i="1" kern="1200" dirty="0">
                <a:latin typeface="Tahoma" panose="020B0804030504040204" charset="0"/>
                <a:ea typeface="SimSun" charset="-122"/>
              </a:rPr>
              <a:t> &lt;&lt; "Hello!\n"; }</a:t>
            </a:r>
          </a:p>
          <a:p>
            <a:pPr marL="0" indent="0">
              <a:spcBef>
                <a:spcPct val="0"/>
              </a:spcBef>
              <a:buNone/>
            </a:pPr>
            <a:endParaRPr lang="en" altLang="zh-CN" sz="1800" i="1" kern="1200" dirty="0">
              <a:latin typeface="Tahoma" panose="020B0804030504040204" charset="0"/>
              <a:ea typeface="SimSun" charset="-122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" altLang="zh-CN" sz="1800" i="1" kern="1200" dirty="0">
                <a:latin typeface="Tahoma" panose="020B0804030504040204" charset="0"/>
                <a:ea typeface="SimSun" charset="-122"/>
              </a:rPr>
              <a:t>int main() {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" altLang="zh-CN" sz="1800" i="1" kern="1200" dirty="0">
                <a:latin typeface="Tahoma" panose="020B0804030504040204" charset="0"/>
                <a:ea typeface="SimSun" charset="-122"/>
              </a:rPr>
              <a:t>    function&lt;void()&gt; f1 = hello; </a:t>
            </a:r>
            <a:endParaRPr lang="zh-CN" altLang="en-US" sz="1800" i="1" kern="1200" dirty="0">
              <a:latin typeface="Tahoma" panose="020B0804030504040204" charset="0"/>
              <a:ea typeface="SimSun" charset="-122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zh-CN" altLang="en-US" sz="1800" i="1" kern="1200" dirty="0">
                <a:latin typeface="Tahoma" panose="020B0804030504040204" charset="0"/>
                <a:ea typeface="SimSun" charset="-122"/>
              </a:rPr>
              <a:t>    </a:t>
            </a:r>
            <a:r>
              <a:rPr lang="en" altLang="zh-CN" sz="1800" i="1" kern="1200" dirty="0">
                <a:latin typeface="Tahoma" panose="020B0804030504040204" charset="0"/>
                <a:ea typeface="SimSun" charset="-122"/>
              </a:rPr>
              <a:t>function&lt;void()&gt; f2 = []()</a:t>
            </a:r>
          </a:p>
          <a:p>
            <a:pPr marL="0" indent="0">
              <a:spcBef>
                <a:spcPct val="0"/>
              </a:spcBef>
              <a:buNone/>
            </a:pPr>
            <a:r>
              <a:rPr lang="zh-CN" altLang="en-US" sz="1800" i="1" kern="1200" dirty="0">
                <a:latin typeface="Tahoma" panose="020B0804030504040204" charset="0"/>
                <a:ea typeface="SimSun" charset="-122"/>
              </a:rPr>
              <a:t>   </a:t>
            </a:r>
            <a:r>
              <a:rPr lang="en" altLang="zh-CN" sz="1800" i="1" kern="1200" dirty="0">
                <a:latin typeface="Tahoma" panose="020B0804030504040204" charset="0"/>
                <a:ea typeface="SimSun" charset="-122"/>
              </a:rPr>
              <a:t>{ </a:t>
            </a:r>
            <a:r>
              <a:rPr lang="en" altLang="zh-CN" sz="1800" i="1" kern="1200" dirty="0" err="1">
                <a:latin typeface="Tahoma" panose="020B0804030504040204" charset="0"/>
                <a:ea typeface="SimSun" charset="-122"/>
              </a:rPr>
              <a:t>cout</a:t>
            </a:r>
            <a:r>
              <a:rPr lang="en" altLang="zh-CN" sz="1800" i="1" kern="1200" dirty="0">
                <a:latin typeface="Tahoma" panose="020B0804030504040204" charset="0"/>
                <a:ea typeface="SimSun" charset="-122"/>
              </a:rPr>
              <a:t> &lt;&lt; "Hi!\n"; }; </a:t>
            </a:r>
          </a:p>
          <a:p>
            <a:pPr marL="0" indent="0">
              <a:spcBef>
                <a:spcPct val="0"/>
              </a:spcBef>
              <a:buNone/>
            </a:pPr>
            <a:endParaRPr lang="en" altLang="zh-CN" sz="1800" i="1" kern="1200" dirty="0">
              <a:latin typeface="Tahoma" panose="020B0804030504040204" charset="0"/>
              <a:ea typeface="SimSun" charset="-122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" altLang="zh-CN" sz="1800" i="1" kern="1200" dirty="0">
                <a:latin typeface="Tahoma" panose="020B0804030504040204" charset="0"/>
                <a:ea typeface="SimSun" charset="-122"/>
              </a:rPr>
              <a:t>    f1(); 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" altLang="zh-CN" sz="1800" i="1" kern="1200" dirty="0">
                <a:latin typeface="Tahoma" panose="020B0804030504040204" charset="0"/>
                <a:ea typeface="SimSun" charset="-122"/>
              </a:rPr>
              <a:t>    f2();  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" altLang="zh-CN" sz="1800" i="1" kern="1200" dirty="0">
                <a:latin typeface="Tahoma" panose="020B0804030504040204" charset="0"/>
                <a:ea typeface="SimSun" charset="-122"/>
              </a:rPr>
              <a:t>}</a:t>
            </a:r>
          </a:p>
          <a:p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B64420-D2F8-61C3-0EE9-5A15008DEC6B}"/>
              </a:ext>
            </a:extLst>
          </p:cNvPr>
          <p:cNvSpPr txBox="1"/>
          <p:nvPr/>
        </p:nvSpPr>
        <p:spPr>
          <a:xfrm>
            <a:off x="4560597" y="2125662"/>
            <a:ext cx="47518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70C0"/>
                </a:solidFill>
              </a:rPr>
              <a:t>struct _Base {</a:t>
            </a:r>
          </a:p>
          <a:p>
            <a:r>
              <a:rPr lang="zh-CN" altLang="en-US" sz="1800" dirty="0">
                <a:solidFill>
                  <a:srgbClr val="0070C0"/>
                </a:solidFill>
              </a:rPr>
              <a:t>    virtual void call() = 0;</a:t>
            </a:r>
          </a:p>
          <a:p>
            <a:r>
              <a:rPr lang="zh-CN" altLang="en-US" sz="1800" dirty="0">
                <a:solidFill>
                  <a:srgbClr val="0070C0"/>
                </a:solidFill>
              </a:rPr>
              <a:t>    virtual ~_Base() {}</a:t>
            </a:r>
          </a:p>
          <a:p>
            <a:r>
              <a:rPr lang="zh-CN" altLang="en-US" sz="1800" dirty="0">
                <a:solidFill>
                  <a:srgbClr val="0070C0"/>
                </a:solidFill>
              </a:rPr>
              <a:t>};</a:t>
            </a:r>
          </a:p>
          <a:p>
            <a:endParaRPr lang="zh-CN" altLang="en-US" sz="1800" dirty="0">
              <a:solidFill>
                <a:srgbClr val="0070C0"/>
              </a:solidFill>
            </a:endParaRPr>
          </a:p>
          <a:p>
            <a:r>
              <a:rPr lang="zh-CN" altLang="en-US" sz="1800" dirty="0">
                <a:solidFill>
                  <a:srgbClr val="0070C0"/>
                </a:solidFill>
              </a:rPr>
              <a:t>template&lt;class F&gt;</a:t>
            </a:r>
          </a:p>
          <a:p>
            <a:r>
              <a:rPr lang="zh-CN" altLang="en-US" sz="1800" dirty="0">
                <a:solidFill>
                  <a:srgbClr val="0070C0"/>
                </a:solidFill>
              </a:rPr>
              <a:t>struct _Model : _Base {</a:t>
            </a:r>
          </a:p>
          <a:p>
            <a:r>
              <a:rPr lang="zh-CN" altLang="en-US" sz="1800" dirty="0">
                <a:solidFill>
                  <a:srgbClr val="0070C0"/>
                </a:solidFill>
              </a:rPr>
              <a:t>    F f; // 保存可调用对象</a:t>
            </a:r>
          </a:p>
          <a:p>
            <a:r>
              <a:rPr lang="zh-CN" altLang="en-US" sz="1800" dirty="0">
                <a:solidFill>
                  <a:srgbClr val="0070C0"/>
                </a:solidFill>
              </a:rPr>
              <a:t>   </a:t>
            </a:r>
            <a:r>
              <a:rPr lang="en-US" altLang="zh-CN" sz="1800" dirty="0">
                <a:solidFill>
                  <a:srgbClr val="0070C0"/>
                </a:solidFill>
              </a:rPr>
              <a:t>_</a:t>
            </a:r>
            <a:r>
              <a:rPr lang="en" altLang="zh-CN" sz="1800" dirty="0">
                <a:solidFill>
                  <a:srgbClr val="0070C0"/>
                </a:solidFill>
              </a:rPr>
              <a:t>Model(F </a:t>
            </a:r>
            <a:r>
              <a:rPr lang="en" altLang="zh-CN" sz="1800" dirty="0" err="1">
                <a:solidFill>
                  <a:srgbClr val="0070C0"/>
                </a:solidFill>
              </a:rPr>
              <a:t>func</a:t>
            </a:r>
            <a:r>
              <a:rPr lang="en" altLang="zh-CN" sz="1800" dirty="0">
                <a:solidFill>
                  <a:srgbClr val="0070C0"/>
                </a:solidFill>
              </a:rPr>
              <a:t>): f(</a:t>
            </a:r>
            <a:r>
              <a:rPr lang="en" altLang="zh-CN" sz="1800" dirty="0" err="1">
                <a:solidFill>
                  <a:srgbClr val="0070C0"/>
                </a:solidFill>
              </a:rPr>
              <a:t>func</a:t>
            </a:r>
            <a:r>
              <a:rPr lang="en" altLang="zh-CN" sz="1800" dirty="0">
                <a:solidFill>
                  <a:srgbClr val="0070C0"/>
                </a:solidFill>
              </a:rPr>
              <a:t>) {}</a:t>
            </a:r>
          </a:p>
          <a:p>
            <a:r>
              <a:rPr lang="zh-CN" altLang="en-US" sz="1800" dirty="0">
                <a:solidFill>
                  <a:srgbClr val="0070C0"/>
                </a:solidFill>
              </a:rPr>
              <a:t>   void call() override { f(); }  // 多态调用点</a:t>
            </a:r>
          </a:p>
          <a:p>
            <a:r>
              <a:rPr lang="zh-CN" altLang="en-US" sz="1800" dirty="0">
                <a:solidFill>
                  <a:srgbClr val="0070C0"/>
                </a:solidFill>
              </a:rPr>
              <a:t>};</a:t>
            </a:r>
          </a:p>
          <a:p>
            <a:endParaRPr lang="zh-CN" altLang="en-US" sz="1800" dirty="0">
              <a:solidFill>
                <a:srgbClr val="0070C0"/>
              </a:solidFill>
            </a:endParaRPr>
          </a:p>
          <a:p>
            <a:r>
              <a:rPr lang="zh-CN" altLang="en-US" sz="1800" dirty="0">
                <a:solidFill>
                  <a:srgbClr val="0070C0"/>
                </a:solidFill>
              </a:rPr>
              <a:t>_Base* _ptr;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290876-9CDC-CC10-0A0C-C7350FAC0272}"/>
              </a:ext>
            </a:extLst>
          </p:cNvPr>
          <p:cNvSpPr txBox="1"/>
          <p:nvPr/>
        </p:nvSpPr>
        <p:spPr>
          <a:xfrm>
            <a:off x="1547664" y="5158933"/>
            <a:ext cx="17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800" dirty="0">
                <a:solidFill>
                  <a:srgbClr val="FF0000"/>
                </a:solidFill>
              </a:rPr>
              <a:t>f1._ptr-&gt;call();</a:t>
            </a:r>
          </a:p>
          <a:p>
            <a:r>
              <a:rPr lang="en" altLang="zh-CN" sz="1800" dirty="0">
                <a:solidFill>
                  <a:srgbClr val="FF0000"/>
                </a:solidFill>
              </a:rPr>
              <a:t>f2._ptr-&gt;call();</a:t>
            </a:r>
          </a:p>
        </p:txBody>
      </p:sp>
    </p:spTree>
    <p:extLst>
      <p:ext uri="{BB962C8B-B14F-4D97-AF65-F5344CB8AC3E}">
        <p14:creationId xmlns:p14="http://schemas.microsoft.com/office/powerpoint/2010/main" val="60950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特殊操作符重载</a:t>
            </a:r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32712" cy="453548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GB" altLang="en-US" sz="2800">
                <a:latin typeface="SimSun" charset="-122"/>
              </a:rPr>
              <a:t>类型转换运算符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GB" sz="2400">
                <a:latin typeface="SimSun" charset="-122"/>
              </a:rPr>
              <a:t>基本数据类型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GB" altLang="en-US" sz="2400">
                <a:latin typeface="SimSun" charset="-122"/>
              </a:rPr>
              <a:t>自定义类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/>
              <a:t>	</a:t>
            </a:r>
            <a:r>
              <a:rPr lang="en-US" altLang="zh-CN" sz="1800" i="1"/>
              <a:t>class Rational {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	public 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		Rational(int n1, int n2) { n = n1; d = n2; }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		operator double() { return  (double)n/d;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	private: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		int  n, d;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	};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800" i="1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	Rational  r(1,2); 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 	double x = r;  x = x + r; </a:t>
            </a:r>
            <a:endParaRPr lang="zh-CN" altLang="en-US" sz="1800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5643563" y="2286000"/>
            <a:ext cx="25273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B0F0"/>
                </a:solidFill>
              </a:rPr>
              <a:t>ostream f(“abc.txt”);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B0F0"/>
                </a:solidFill>
              </a:rPr>
              <a:t>if (f) ….</a:t>
            </a:r>
            <a:endParaRPr lang="zh-CN" altLang="en-US" sz="2000">
              <a:solidFill>
                <a:srgbClr val="00B0F0"/>
              </a:solidFill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715000" y="3357563"/>
            <a:ext cx="2487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B0F0"/>
                </a:solidFill>
              </a:rPr>
              <a:t>重载  数值型：如 </a:t>
            </a:r>
            <a:r>
              <a:rPr lang="en-US" altLang="zh-CN" sz="2000">
                <a:solidFill>
                  <a:srgbClr val="00B0F0"/>
                </a:solidFill>
              </a:rPr>
              <a:t>int</a:t>
            </a:r>
            <a:endParaRPr lang="zh-CN" altLang="en-US" sz="200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203575" y="5445125"/>
            <a:ext cx="52625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>
                <a:solidFill>
                  <a:srgbClr val="C00000"/>
                </a:solidFill>
              </a:rPr>
              <a:t>减少混合计算中需要定义的操作符重载函数的数量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 build="allAtOnce"/>
      <p:bldP spid="6" grpId="0" build="allAtOnc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C37B3-FD22-A124-7575-904375530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287AB8BE-51EF-0F07-776C-2F5F404A9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特殊操作符重载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418A11FD-F8FA-FABB-A67C-5A5B57D49B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0733" y="1988840"/>
            <a:ext cx="7732712" cy="45354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None/>
            </a:pPr>
            <a:r>
              <a:rPr lang="en-GB" altLang="en-US" sz="2000" i="1" dirty="0"/>
              <a:t>class A {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GB" altLang="en-US" sz="2000" i="1" dirty="0"/>
              <a:t>public: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GB" altLang="en-US" sz="2000" i="1" dirty="0"/>
              <a:t>    operator int() { return 1; }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GB" altLang="en-US" sz="2000" i="1" dirty="0"/>
              <a:t>    operator double() { return 2.0; }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GB" altLang="en-US" sz="2000" i="1" dirty="0"/>
              <a:t>};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GB" altLang="en-US" sz="2000" i="1" dirty="0"/>
              <a:t>A a;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GB" altLang="en-US" sz="2000" i="1" dirty="0" err="1"/>
              <a:t>cout</a:t>
            </a:r>
            <a:r>
              <a:rPr lang="en-GB" altLang="en-US" sz="2000" i="1" dirty="0"/>
              <a:t> &lt;&lt; a + 0;   // </a:t>
            </a:r>
            <a:r>
              <a:rPr lang="zh-CN" altLang="en-US" sz="2000" i="1" dirty="0"/>
              <a:t>该转成 </a:t>
            </a:r>
            <a:r>
              <a:rPr lang="en-GB" altLang="en-US" sz="2000" i="1" dirty="0"/>
              <a:t>int </a:t>
            </a:r>
            <a:r>
              <a:rPr lang="zh-CN" altLang="en-US" sz="2000" i="1" dirty="0"/>
              <a:t>还是 </a:t>
            </a:r>
            <a:r>
              <a:rPr lang="en-GB" altLang="en-US" sz="2000" i="1" dirty="0"/>
              <a:t>double？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GB" altLang="en-US" sz="2000" i="1" dirty="0"/>
              <a:t>	</a:t>
            </a:r>
            <a:endParaRPr lang="zh-CN" altLang="en-US" sz="2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110D9B-88B8-5AF3-30CF-64B573EAF9D3}"/>
              </a:ext>
            </a:extLst>
          </p:cNvPr>
          <p:cNvSpPr txBox="1"/>
          <p:nvPr/>
        </p:nvSpPr>
        <p:spPr>
          <a:xfrm>
            <a:off x="542131" y="299695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explicit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9A4A46-BECB-4F6F-5B6A-5ABAA8626DFA}"/>
              </a:ext>
            </a:extLst>
          </p:cNvPr>
          <p:cNvSpPr txBox="1"/>
          <p:nvPr/>
        </p:nvSpPr>
        <p:spPr>
          <a:xfrm>
            <a:off x="1140732" y="4725144"/>
            <a:ext cx="58075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FF0000"/>
                </a:solidFill>
              </a:rPr>
              <a:t>cout</a:t>
            </a:r>
            <a:r>
              <a:rPr lang="en-US" altLang="zh-CN" sz="2000" dirty="0">
                <a:solidFill>
                  <a:srgbClr val="FF0000"/>
                </a:solidFill>
              </a:rPr>
              <a:t> &lt;&lt; </a:t>
            </a:r>
            <a:r>
              <a:rPr lang="zh-CN" altLang="en-US" sz="2000" dirty="0">
                <a:solidFill>
                  <a:srgbClr val="FF0000"/>
                </a:solidFill>
              </a:rPr>
              <a:t>static_cast&lt;double&gt;(</a:t>
            </a:r>
            <a:r>
              <a:rPr lang="en-US" altLang="zh-CN" sz="2000" dirty="0">
                <a:solidFill>
                  <a:srgbClr val="FF0000"/>
                </a:solidFill>
              </a:rPr>
              <a:t>a</a:t>
            </a:r>
            <a:r>
              <a:rPr lang="zh-CN" altLang="en-US" sz="2000" dirty="0">
                <a:solidFill>
                  <a:srgbClr val="FF0000"/>
                </a:solidFill>
              </a:rPr>
              <a:t>)</a:t>
            </a:r>
            <a:r>
              <a:rPr lang="en-US" altLang="zh-CN" sz="2000" dirty="0">
                <a:solidFill>
                  <a:srgbClr val="FF0000"/>
                </a:solidFill>
              </a:rPr>
              <a:t>+0</a:t>
            </a:r>
            <a:r>
              <a:rPr lang="zh-CN" altLang="en-US" sz="2000" dirty="0">
                <a:solidFill>
                  <a:srgbClr val="FF0000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15038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特殊操作符重载</a:t>
            </a:r>
          </a:p>
        </p:txBody>
      </p:sp>
      <p:sp>
        <p:nvSpPr>
          <p:cNvPr id="5222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GB" altLang="en-US" sz="2800" i="1">
                <a:solidFill>
                  <a:schemeClr val="tx2"/>
                </a:solidFill>
                <a:latin typeface="SimSun" charset="-122"/>
                <a:sym typeface="Wingdings" panose="05000000000000000000" pitchFamily="2" charset="2"/>
              </a:rPr>
              <a:t>  </a:t>
            </a:r>
            <a:r>
              <a:rPr lang="en-GB" altLang="en-US" sz="1800" b="1" i="1">
                <a:solidFill>
                  <a:schemeClr val="tx2"/>
                </a:solidFill>
                <a:latin typeface="SimSun" charset="-122"/>
                <a:sym typeface="Wingdings" panose="05000000000000000000" pitchFamily="2" charset="2"/>
              </a:rPr>
              <a:t>smart pointer</a:t>
            </a:r>
          </a:p>
          <a:p>
            <a:pPr lvl="1" algn="just" eaLnBrk="1" hangingPunct="1"/>
            <a:r>
              <a:rPr lang="en-GB" altLang="en-US" sz="2400" i="1">
                <a:latin typeface="SimSun" charset="-122"/>
                <a:sym typeface="Wingdings" panose="05000000000000000000" pitchFamily="2" charset="2"/>
              </a:rPr>
              <a:t></a:t>
            </a:r>
            <a:r>
              <a:rPr lang="en-GB" altLang="en-US" sz="2400">
                <a:latin typeface="SimSun" charset="-122"/>
              </a:rPr>
              <a:t>为二元运算符</a:t>
            </a:r>
          </a:p>
        </p:txBody>
      </p:sp>
      <p:sp>
        <p:nvSpPr>
          <p:cNvPr id="113671" name="Text Box 7"/>
          <p:cNvSpPr txBox="1">
            <a:spLocks noChangeArrowheads="1"/>
          </p:cNvSpPr>
          <p:nvPr/>
        </p:nvSpPr>
        <p:spPr bwMode="auto">
          <a:xfrm>
            <a:off x="638175" y="3286125"/>
            <a:ext cx="4291013" cy="357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class  CPen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{      int   m_color;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       int   m_width;	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   public: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        void  setColor(int  c){ m_color = c;}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        int getWidth() { return m_width; }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};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class  C</a:t>
            </a:r>
            <a:r>
              <a:rPr lang="en-US" altLang="zh-CN" sz="1600">
                <a:solidFill>
                  <a:schemeClr val="folHlink"/>
                </a:solidFill>
              </a:rPr>
              <a:t>Panel</a:t>
            </a:r>
            <a:endParaRPr lang="en-GB" altLang="zh-CN" sz="1600">
              <a:solidFill>
                <a:schemeClr val="folHlink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{    CPen  m_pen;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      int  m_bkColor;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  public: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     void  setBkColor(int  c) { m_bkColor =c;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}；</a:t>
            </a:r>
            <a:endParaRPr lang="zh-CN" altLang="en-US" sz="1800">
              <a:solidFill>
                <a:schemeClr val="folHlink"/>
              </a:solidFill>
            </a:endParaRPr>
          </a:p>
        </p:txBody>
      </p:sp>
      <p:sp>
        <p:nvSpPr>
          <p:cNvPr id="113672" name="Text Box 8"/>
          <p:cNvSpPr txBox="1">
            <a:spLocks noChangeArrowheads="1"/>
          </p:cNvSpPr>
          <p:nvPr/>
        </p:nvSpPr>
        <p:spPr bwMode="auto">
          <a:xfrm>
            <a:off x="5000625" y="3500438"/>
            <a:ext cx="4143375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1600"/>
              <a:t>CPanel</a:t>
            </a:r>
            <a:r>
              <a:rPr lang="en-GB" altLang="zh-CN" sz="1600">
                <a:latin typeface="Times New Roman" panose="02020603050405020304" charset="0"/>
              </a:rPr>
              <a:t>  c;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GB" altLang="zh-CN" sz="1600" b="1">
                <a:latin typeface="Times New Roman" panose="02020603050405020304" charset="0"/>
              </a:rPr>
              <a:t>c-&gt;setColor(16); 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GB" altLang="zh-CN" sz="1600" b="1">
                <a:latin typeface="Times New Roman" panose="02020603050405020304" charset="0"/>
                <a:sym typeface="Wingdings" panose="05000000000000000000" pitchFamily="2" charset="2"/>
              </a:rPr>
              <a:t>                   // </a:t>
            </a:r>
            <a:r>
              <a:rPr lang="en-GB" altLang="zh-CN" sz="1600" b="1">
                <a:latin typeface="Times New Roman" panose="02020603050405020304" charset="0"/>
              </a:rPr>
              <a:t>c.operator-&gt;()-&gt;setColor(16);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GB" altLang="zh-CN" sz="1600">
                <a:latin typeface="Times New Roman" panose="02020603050405020304" charset="0"/>
              </a:rPr>
              <a:t>	 </a:t>
            </a:r>
            <a:r>
              <a:rPr lang="en-GB" altLang="en-US" sz="1600">
                <a:latin typeface="Times New Roman" panose="02020603050405020304" charset="0"/>
              </a:rPr>
              <a:t>//c</a:t>
            </a:r>
            <a:r>
              <a:rPr lang="en-GB" altLang="zh-CN" sz="1600">
                <a:latin typeface="Times New Roman" panose="02020603050405020304" charset="0"/>
              </a:rPr>
              <a:t>.m_pen.setColor(16)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GB" altLang="zh-CN" sz="1600" b="1">
                <a:latin typeface="Times New Roman" panose="02020603050405020304" charset="0"/>
              </a:rPr>
              <a:t>c-&gt;getWidth();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GB" altLang="zh-CN" sz="1600" b="1">
                <a:latin typeface="Times New Roman" panose="02020603050405020304" charset="0"/>
                <a:sym typeface="Wingdings" panose="05000000000000000000" pitchFamily="2" charset="2"/>
              </a:rPr>
              <a:t>                  // c</a:t>
            </a:r>
            <a:r>
              <a:rPr lang="en-GB" altLang="zh-CN" sz="1600" b="1">
                <a:latin typeface="Times New Roman" panose="02020603050405020304" charset="0"/>
              </a:rPr>
              <a:t>.operator-&gt;()-&gt;getWidth();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GB" altLang="zh-CN" sz="1600">
                <a:latin typeface="Times New Roman" panose="02020603050405020304" charset="0"/>
              </a:rPr>
              <a:t>	//c.m_pen.getWidth()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000625" y="5945188"/>
            <a:ext cx="19351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GB" altLang="zh-CN" sz="1600"/>
              <a:t>CPanel *p=&amp;c;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GB" altLang="zh-CN" sz="1600"/>
              <a:t>p-&gt;setBkColor(10);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859463" y="2071688"/>
            <a:ext cx="2111375" cy="950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Tahoma" panose="020B0804030504040204" charset="0"/>
                <a:ea typeface="SimSun" charset="-122"/>
              </a:rPr>
              <a:t>A  </a:t>
            </a:r>
            <a:r>
              <a:rPr lang="en-US" altLang="zh-CN" sz="1800" dirty="0" err="1">
                <a:solidFill>
                  <a:schemeClr val="accent2">
                    <a:lumMod val="50000"/>
                  </a:schemeClr>
                </a:solidFill>
                <a:latin typeface="Tahoma" panose="020B0804030504040204" charset="0"/>
                <a:ea typeface="SimSun" charset="-122"/>
              </a:rPr>
              <a:t>a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Tahoma" panose="020B0804030504040204" charset="0"/>
                <a:ea typeface="SimSun" charset="-122"/>
              </a:rPr>
              <a:t>;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Tahoma" panose="020B0804030504040204" charset="0"/>
                <a:ea typeface="SimSun" charset="-122"/>
              </a:rPr>
              <a:t>a-&gt;f();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 err="1">
                <a:solidFill>
                  <a:schemeClr val="accent2">
                    <a:lumMod val="50000"/>
                  </a:schemeClr>
                </a:solidFill>
                <a:latin typeface="Tahoma" panose="020B0804030504040204" charset="0"/>
                <a:ea typeface="SimSun" charset="-122"/>
              </a:rPr>
              <a:t>a.operator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Tahoma" panose="020B0804030504040204" charset="0"/>
                <a:ea typeface="SimSun" charset="-122"/>
              </a:rPr>
              <a:t>-&gt;( f) ??</a:t>
            </a:r>
            <a:endParaRPr lang="zh-CN" altLang="en-US" sz="1800" dirty="0">
              <a:solidFill>
                <a:schemeClr val="accent2">
                  <a:lumMod val="50000"/>
                </a:schemeClr>
              </a:solidFill>
              <a:latin typeface="Tahoma" panose="020B0804030504040204" charset="0"/>
              <a:ea typeface="SimSun" charset="-122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714500" y="2928938"/>
            <a:ext cx="7046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marL="0" lvl="1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GB" altLang="en-US" sz="2000" b="1">
                <a:solidFill>
                  <a:srgbClr val="002060"/>
                </a:solidFill>
                <a:latin typeface="SimSun" charset="-122"/>
              </a:rPr>
              <a:t>重载</a:t>
            </a:r>
            <a:r>
              <a:rPr lang="en-GB" altLang="zh-CN" sz="2000" b="1">
                <a:solidFill>
                  <a:srgbClr val="002060"/>
                </a:solidFill>
                <a:latin typeface="SimSun" charset="-122"/>
              </a:rPr>
              <a:t>时</a:t>
            </a:r>
            <a:r>
              <a:rPr lang="zh-CN" altLang="en-GB" sz="2000" b="1">
                <a:solidFill>
                  <a:srgbClr val="002060"/>
                </a:solidFill>
                <a:latin typeface="SimSun" charset="-122"/>
              </a:rPr>
              <a:t>按</a:t>
            </a:r>
            <a:r>
              <a:rPr lang="en-US" altLang="en-GB" sz="2000" b="1">
                <a:solidFill>
                  <a:srgbClr val="002060"/>
                </a:solidFill>
                <a:latin typeface="SimSun" charset="-122"/>
              </a:rPr>
              <a:t>一元操作符</a:t>
            </a:r>
            <a:r>
              <a:rPr lang="en-US" altLang="zh-CN" sz="2000" b="1">
                <a:solidFill>
                  <a:srgbClr val="002060"/>
                </a:solidFill>
                <a:latin typeface="SimSun" charset="-122"/>
              </a:rPr>
              <a:t>重载</a:t>
            </a:r>
            <a:r>
              <a:rPr lang="zh-CN" altLang="en-US" sz="2000" b="1">
                <a:solidFill>
                  <a:srgbClr val="002060"/>
                </a:solidFill>
                <a:latin typeface="SimSun" charset="-122"/>
              </a:rPr>
              <a:t>描述      </a:t>
            </a:r>
            <a:r>
              <a:rPr lang="en-US" altLang="zh-CN" sz="2000" b="1">
                <a:solidFill>
                  <a:srgbClr val="002060"/>
                </a:solidFill>
                <a:latin typeface="SimSun" charset="-122"/>
              </a:rPr>
              <a:t>a.operator -&gt;()</a:t>
            </a:r>
            <a:r>
              <a:rPr lang="en-US" altLang="zh-CN" sz="2000" b="1">
                <a:solidFill>
                  <a:srgbClr val="006600"/>
                </a:solidFill>
                <a:latin typeface="SimSun" charset="-122"/>
              </a:rPr>
              <a:t>-&gt;</a:t>
            </a:r>
            <a:r>
              <a:rPr lang="en-US" altLang="zh-CN" sz="2000" b="1">
                <a:solidFill>
                  <a:srgbClr val="002060"/>
                </a:solidFill>
                <a:latin typeface="SimSun" charset="-122"/>
              </a:rPr>
              <a:t>f()</a:t>
            </a:r>
            <a:endParaRPr lang="zh-CN" altLang="en-US" sz="2000" b="1">
              <a:solidFill>
                <a:srgbClr val="00206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971550" y="5995988"/>
            <a:ext cx="3798888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>
                <a:solidFill>
                  <a:srgbClr val="006600"/>
                </a:solidFill>
              </a:rPr>
              <a:t>CPen* operator -&gt;() { return &amp;m_pen;}</a:t>
            </a:r>
            <a:endParaRPr lang="zh-CN" altLang="en-US" sz="1600">
              <a:solidFill>
                <a:srgbClr val="00660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971550" y="5995988"/>
            <a:ext cx="3300413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/>
              <a:t>CPen* getPen() {return &amp;m_pen;}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5021263" y="3500438"/>
            <a:ext cx="32956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b="1">
                <a:latin typeface="Times New Roman" panose="02020603050405020304" charset="0"/>
              </a:rPr>
              <a:t>CPanel c;  c.getPen()-&gt;setColor(16);</a:t>
            </a:r>
            <a:endParaRPr lang="zh-CN" altLang="en-US" sz="1600" b="1">
              <a:latin typeface="Times New Roman" panose="02020603050405020304" charset="0"/>
            </a:endParaRPr>
          </a:p>
        </p:txBody>
      </p:sp>
      <p:cxnSp>
        <p:nvCxnSpPr>
          <p:cNvPr id="14" name="直接连接符 13"/>
          <p:cNvCxnSpPr>
            <a:cxnSpLocks noChangeShapeType="1"/>
          </p:cNvCxnSpPr>
          <p:nvPr/>
        </p:nvCxnSpPr>
        <p:spPr bwMode="auto">
          <a:xfrm>
            <a:off x="6156325" y="3284538"/>
            <a:ext cx="1584325" cy="0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6190724" y="3284538"/>
            <a:ext cx="2045753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rgbClr val="C00000"/>
                </a:solidFill>
              </a:rPr>
              <a:t>必须返回指针类型？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1" grpId="0"/>
      <p:bldP spid="113672" grpId="0" autoUpdateAnimBg="0"/>
      <p:bldP spid="6" grpId="0" build="allAtOnce"/>
      <p:bldP spid="7" grpId="0" build="allAtOnce"/>
      <p:bldP spid="8" grpId="0" build="allAtOnce"/>
      <p:bldP spid="10" grpId="0" build="p"/>
      <p:bldP spid="11" grpId="0" build="allAtOnce"/>
      <p:bldP spid="11" grpId="1" build="allAtOnce"/>
      <p:bldP spid="12" grpId="0" build="allAtOnce"/>
      <p:bldP spid="12" grpId="1" build="allAtOnce"/>
      <p:bldP spid="15" grpId="0" build="allAtOnce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Prevent memory Leak</a:t>
            </a:r>
            <a:endParaRPr lang="zh-CN" altLang="en-US"/>
          </a:p>
        </p:txBody>
      </p:sp>
      <p:sp>
        <p:nvSpPr>
          <p:cNvPr id="53250" name="TextBox 3"/>
          <p:cNvSpPr txBox="1">
            <a:spLocks noChangeArrowheads="1"/>
          </p:cNvSpPr>
          <p:nvPr/>
        </p:nvSpPr>
        <p:spPr bwMode="auto">
          <a:xfrm>
            <a:off x="277813" y="2205038"/>
            <a:ext cx="2192337" cy="298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class A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{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  public: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  void f();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  int g(double);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  void h(char);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};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/>
          </a:p>
        </p:txBody>
      </p:sp>
      <p:sp>
        <p:nvSpPr>
          <p:cNvPr id="53251" name="TextBox 4"/>
          <p:cNvSpPr txBox="1">
            <a:spLocks noChangeArrowheads="1"/>
          </p:cNvSpPr>
          <p:nvPr/>
        </p:nvSpPr>
        <p:spPr bwMode="auto">
          <a:xfrm>
            <a:off x="2411413" y="2133600"/>
            <a:ext cx="2136775" cy="399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void test()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{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A *p = new A;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……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p-&gt;f();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……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p-&gt;g(1.1);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……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p-&gt;h(‘A’);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……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1800">
              <a:solidFill>
                <a:srgbClr val="002060"/>
              </a:solidFill>
            </a:endParaRP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1800">
              <a:solidFill>
                <a:srgbClr val="00206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}</a:t>
            </a:r>
            <a:endParaRPr lang="zh-CN" altLang="en-US" sz="180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843213" y="5229225"/>
            <a:ext cx="1090612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marL="0"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delete p;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787900" y="3860800"/>
            <a:ext cx="3987800" cy="247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class AWrapper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{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       A* p;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  public: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 AWrapper(A *p) { this-&gt;p = p;}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~AWrapper() { delete p;}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800">
              <a:solidFill>
                <a:srgbClr val="00206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};</a:t>
            </a:r>
            <a:endParaRPr lang="zh-CN" altLang="en-US" sz="240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830513" y="2798763"/>
            <a:ext cx="2389187" cy="342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marL="0"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C00000"/>
                </a:solidFill>
              </a:rPr>
              <a:t>AWrapper  p(new A);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292725" y="5661025"/>
            <a:ext cx="300355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marL="0"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C00000"/>
                </a:solidFill>
              </a:rPr>
              <a:t>A*operator-&gt;() { return p;}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 rot="-454879">
            <a:off x="5386388" y="2071688"/>
            <a:ext cx="128746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i="0">
                <a:solidFill>
                  <a:srgbClr val="C00000"/>
                </a:solidFill>
              </a:rPr>
              <a:t>局限性</a:t>
            </a:r>
            <a:r>
              <a:rPr lang="en-US" altLang="zh-CN" sz="2400" b="1" i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260975" y="2565400"/>
            <a:ext cx="3883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i="0">
                <a:solidFill>
                  <a:srgbClr val="002060"/>
                </a:solidFill>
              </a:rPr>
              <a:t>须符合</a:t>
            </a:r>
            <a:r>
              <a:rPr lang="en-US" altLang="zh-CN" sz="2000" b="1" i="0">
                <a:solidFill>
                  <a:srgbClr val="002060"/>
                </a:solidFill>
              </a:rPr>
              <a:t>compiler</a:t>
            </a:r>
            <a:r>
              <a:rPr lang="zh-CN" altLang="en-US" sz="2000" b="1" i="0">
                <a:solidFill>
                  <a:srgbClr val="002060"/>
                </a:solidFill>
              </a:rPr>
              <a:t>控制的生命周期</a:t>
            </a:r>
            <a:endParaRPr lang="zh-CN" altLang="en-US" sz="2400"/>
          </a:p>
        </p:txBody>
      </p:sp>
      <p:sp>
        <p:nvSpPr>
          <p:cNvPr id="26635" name="TextBox 11"/>
          <p:cNvSpPr txBox="1">
            <a:spLocks noChangeArrowheads="1"/>
          </p:cNvSpPr>
          <p:nvPr/>
        </p:nvSpPr>
        <p:spPr bwMode="auto">
          <a:xfrm>
            <a:off x="5003800" y="4365625"/>
            <a:ext cx="703263" cy="4238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FF0000"/>
                </a:solidFill>
              </a:rPr>
              <a:t>? T 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266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26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6" grpId="1" build="allAtOnce"/>
      <p:bldP spid="7" grpId="0" build="allAtOnce"/>
      <p:bldP spid="8" grpId="0" build="allAtOnce" animBg="1"/>
      <p:bldP spid="9" grpId="0" build="allAtOnce"/>
      <p:bldP spid="10" grpId="0" build="allAtOnce"/>
      <p:bldP spid="11" grpId="0" build="allAtOnce"/>
      <p:bldP spid="26635" grpId="0" build="allAtOnce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特殊操作符重载</a:t>
            </a:r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GB" altLang="zh-CN" sz="2400" i="1"/>
              <a:t>new 、delete</a:t>
            </a:r>
          </a:p>
          <a:p>
            <a:pPr lvl="1" algn="just" eaLnBrk="1" hangingPunct="1"/>
            <a:r>
              <a:rPr lang="en-GB" altLang="zh-CN" sz="2000">
                <a:latin typeface="SimSun" charset="-122"/>
              </a:rPr>
              <a:t>频繁</a:t>
            </a:r>
            <a:r>
              <a:rPr lang="en-GB" altLang="en-US" sz="2000">
                <a:latin typeface="SimSun" charset="-122"/>
              </a:rPr>
              <a:t>调用系统的存储管理</a:t>
            </a:r>
            <a:r>
              <a:rPr lang="en-GB" altLang="zh-CN" sz="2000">
                <a:latin typeface="SimSun" charset="-122"/>
              </a:rPr>
              <a:t>，</a:t>
            </a:r>
            <a:r>
              <a:rPr lang="zh-CN" altLang="en-GB" sz="2000">
                <a:latin typeface="SimSun" charset="-122"/>
              </a:rPr>
              <a:t>影响</a:t>
            </a:r>
            <a:r>
              <a:rPr lang="en-GB" altLang="en-US" sz="2000">
                <a:latin typeface="SimSun" charset="-122"/>
              </a:rPr>
              <a:t>效率</a:t>
            </a:r>
          </a:p>
          <a:p>
            <a:pPr lvl="1" algn="just" eaLnBrk="1" hangingPunct="1"/>
            <a:endParaRPr lang="en-GB" altLang="en-US" sz="2000">
              <a:latin typeface="SimSun" charset="-122"/>
            </a:endParaRPr>
          </a:p>
          <a:p>
            <a:pPr lvl="1" algn="just" eaLnBrk="1" hangingPunct="1"/>
            <a:r>
              <a:rPr lang="en-GB" altLang="zh-CN" sz="2000">
                <a:latin typeface="SimSun" charset="-122"/>
              </a:rPr>
              <a:t>程序</a:t>
            </a:r>
            <a:r>
              <a:rPr lang="en-GB" altLang="en-US" sz="2000">
                <a:latin typeface="SimSun" charset="-122"/>
              </a:rPr>
              <a:t>自</a:t>
            </a:r>
            <a:r>
              <a:rPr lang="en-GB" altLang="zh-CN" sz="2000">
                <a:latin typeface="SimSun" charset="-122"/>
              </a:rPr>
              <a:t>身</a:t>
            </a:r>
            <a:r>
              <a:rPr lang="en-GB" altLang="en-US" sz="2000">
                <a:latin typeface="SimSun" charset="-122"/>
              </a:rPr>
              <a:t>管理内存</a:t>
            </a:r>
            <a:r>
              <a:rPr lang="en-GB" altLang="zh-CN" sz="2000">
                <a:latin typeface="SimSun" charset="-122"/>
              </a:rPr>
              <a:t>，</a:t>
            </a:r>
            <a:r>
              <a:rPr lang="en-GB" altLang="en-US" sz="2000">
                <a:latin typeface="SimSun" charset="-122"/>
              </a:rPr>
              <a:t>提高效率</a:t>
            </a:r>
          </a:p>
          <a:p>
            <a:pPr lvl="1" algn="just" eaLnBrk="1" hangingPunct="1"/>
            <a:endParaRPr lang="en-GB" altLang="zh-CN" sz="2000">
              <a:latin typeface="SimSun" charset="-122"/>
            </a:endParaRPr>
          </a:p>
          <a:p>
            <a:pPr lvl="1" algn="just" eaLnBrk="1" hangingPunct="1"/>
            <a:r>
              <a:rPr lang="en-GB" altLang="zh-CN" sz="2000">
                <a:latin typeface="SimSun" charset="-122"/>
              </a:rPr>
              <a:t>方法</a:t>
            </a:r>
          </a:p>
          <a:p>
            <a:pPr lvl="2" algn="just" eaLnBrk="1" hangingPunct="1"/>
            <a:r>
              <a:rPr lang="en-GB" altLang="en-US" sz="2000">
                <a:latin typeface="SimSun" charset="-122"/>
              </a:rPr>
              <a:t>调用系统存储分配</a:t>
            </a:r>
            <a:r>
              <a:rPr lang="en-GB" altLang="zh-CN" sz="2000">
                <a:latin typeface="SimSun" charset="-122"/>
              </a:rPr>
              <a:t>，</a:t>
            </a:r>
            <a:r>
              <a:rPr lang="en-GB" altLang="en-US" sz="2000">
                <a:latin typeface="SimSun" charset="-122"/>
              </a:rPr>
              <a:t>申请一块较大的内存</a:t>
            </a:r>
          </a:p>
          <a:p>
            <a:pPr lvl="2" algn="just" eaLnBrk="1" hangingPunct="1"/>
            <a:r>
              <a:rPr lang="en-US" altLang="zh-CN" sz="2000">
                <a:latin typeface="SimSun" charset="-122"/>
              </a:rPr>
              <a:t>针对</a:t>
            </a:r>
            <a:r>
              <a:rPr lang="en-GB" altLang="en-US" sz="2000">
                <a:latin typeface="SimSun" charset="-122"/>
              </a:rPr>
              <a:t>该内存</a:t>
            </a:r>
            <a:r>
              <a:rPr lang="en-GB" altLang="zh-CN" sz="2000">
                <a:latin typeface="SimSun" charset="-122"/>
              </a:rPr>
              <a:t>，</a:t>
            </a:r>
            <a:r>
              <a:rPr lang="en-GB" altLang="en-US" sz="2000">
                <a:latin typeface="SimSun" charset="-122"/>
              </a:rPr>
              <a:t>自己</a:t>
            </a:r>
            <a:r>
              <a:rPr lang="en-US" altLang="zh-CN" sz="2000">
                <a:latin typeface="SimSun" charset="-122"/>
              </a:rPr>
              <a:t>管理</a:t>
            </a:r>
            <a:r>
              <a:rPr lang="en-GB" altLang="en-US" sz="2000">
                <a:latin typeface="SimSun" charset="-122"/>
              </a:rPr>
              <a:t>存储分配</a:t>
            </a:r>
            <a:r>
              <a:rPr lang="en-GB" altLang="zh-CN" sz="2000">
                <a:latin typeface="SimSun" charset="-122"/>
              </a:rPr>
              <a:t>、</a:t>
            </a:r>
            <a:r>
              <a:rPr lang="en-GB" altLang="en-US" sz="2000">
                <a:latin typeface="SimSun" charset="-122"/>
              </a:rPr>
              <a:t>去配</a:t>
            </a:r>
          </a:p>
          <a:p>
            <a:pPr lvl="2" algn="just" eaLnBrk="1" hangingPunct="1"/>
            <a:r>
              <a:rPr lang="en-GB" altLang="en-US" sz="2000">
                <a:latin typeface="SimSun" charset="-122"/>
              </a:rPr>
              <a:t>通过重载 </a:t>
            </a:r>
            <a:r>
              <a:rPr lang="en-GB" altLang="zh-CN" sz="2000" i="1"/>
              <a:t>new</a:t>
            </a:r>
            <a:r>
              <a:rPr lang="en-GB" altLang="zh-CN" sz="2000" i="1">
                <a:latin typeface="SimSun" charset="-122"/>
              </a:rPr>
              <a:t> </a:t>
            </a:r>
            <a:r>
              <a:rPr lang="en-GB" altLang="en-US" sz="2000">
                <a:latin typeface="SimSun" charset="-122"/>
              </a:rPr>
              <a:t>与 </a:t>
            </a:r>
            <a:r>
              <a:rPr lang="en-GB" altLang="zh-CN" sz="2000" i="1"/>
              <a:t>delete</a:t>
            </a:r>
            <a:r>
              <a:rPr lang="en-GB" altLang="zh-CN" sz="2000" i="1">
                <a:latin typeface="SimSun" charset="-122"/>
              </a:rPr>
              <a:t> </a:t>
            </a:r>
            <a:r>
              <a:rPr lang="en-GB" altLang="en-US" sz="2000">
                <a:latin typeface="SimSun" charset="-122"/>
              </a:rPr>
              <a:t>来实现</a:t>
            </a:r>
          </a:p>
          <a:p>
            <a:pPr lvl="2" algn="just" eaLnBrk="1" hangingPunct="1"/>
            <a:r>
              <a:rPr lang="en-GB" altLang="en-US" sz="2000">
                <a:latin typeface="SimSun" charset="-122"/>
              </a:rPr>
              <a:t>重载的 </a:t>
            </a:r>
            <a:r>
              <a:rPr lang="en-GB" altLang="zh-CN" sz="2000" i="1"/>
              <a:t>new</a:t>
            </a:r>
            <a:r>
              <a:rPr lang="en-GB" altLang="zh-CN" sz="2000" i="1">
                <a:latin typeface="SimSun" charset="-122"/>
              </a:rPr>
              <a:t> </a:t>
            </a:r>
            <a:r>
              <a:rPr lang="en-GB" altLang="en-US" sz="2000">
                <a:latin typeface="SimSun" charset="-122"/>
              </a:rPr>
              <a:t>和 </a:t>
            </a:r>
            <a:r>
              <a:rPr lang="en-GB" altLang="zh-CN" sz="2000" i="1"/>
              <a:t>delete</a:t>
            </a:r>
            <a:r>
              <a:rPr lang="en-GB" altLang="zh-CN" sz="2000" i="1">
                <a:latin typeface="SimSun" charset="-122"/>
              </a:rPr>
              <a:t> </a:t>
            </a:r>
            <a:r>
              <a:rPr lang="en-GB" altLang="en-US" sz="2000">
                <a:latin typeface="SimSun" charset="-122"/>
              </a:rPr>
              <a:t>是静态成员</a:t>
            </a:r>
          </a:p>
          <a:p>
            <a:pPr lvl="2" algn="just" eaLnBrk="1" hangingPunct="1"/>
            <a:r>
              <a:rPr lang="en-GB" altLang="en-US" sz="2000">
                <a:latin typeface="SimSun" charset="-122"/>
              </a:rPr>
              <a:t>重载的 </a:t>
            </a:r>
            <a:r>
              <a:rPr lang="en-GB" altLang="zh-CN" sz="2000" i="1"/>
              <a:t>new</a:t>
            </a:r>
            <a:r>
              <a:rPr lang="en-GB" altLang="zh-CN" sz="2000" i="1">
                <a:latin typeface="SimSun" charset="-122"/>
              </a:rPr>
              <a:t> </a:t>
            </a:r>
            <a:r>
              <a:rPr lang="en-GB" altLang="en-US" sz="2000">
                <a:latin typeface="SimSun" charset="-122"/>
              </a:rPr>
              <a:t>和 </a:t>
            </a:r>
            <a:r>
              <a:rPr lang="en-GB" altLang="zh-CN" sz="2000" i="1"/>
              <a:t>delete</a:t>
            </a:r>
            <a:r>
              <a:rPr lang="en-GB" altLang="zh-CN" sz="1800" i="1">
                <a:latin typeface="SimSun" charset="-122"/>
              </a:rPr>
              <a:t> </a:t>
            </a:r>
            <a:r>
              <a:rPr lang="zh-CN" altLang="en-US" sz="2000">
                <a:latin typeface="SimSun" charset="-122"/>
              </a:rPr>
              <a:t>遵循类的访问控制，</a:t>
            </a:r>
            <a:r>
              <a:rPr lang="en-GB" altLang="en-US" sz="2000">
                <a:latin typeface="SimSun" charset="-122"/>
              </a:rPr>
              <a:t>可继承</a:t>
            </a:r>
            <a:endParaRPr lang="zh-CN" altLang="en-US" sz="1800">
              <a:latin typeface="SimSun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特殊操作符重载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459287"/>
          </a:xfrm>
        </p:spPr>
        <p:txBody>
          <a:bodyPr/>
          <a:lstStyle/>
          <a:p>
            <a:pPr eaLnBrk="1" hangingPunct="1"/>
            <a:r>
              <a:rPr lang="en-GB" altLang="en-US" sz="2400">
                <a:latin typeface="SimSun" charset="-122"/>
              </a:rPr>
              <a:t>重载 </a:t>
            </a:r>
            <a:r>
              <a:rPr lang="en-GB" altLang="zh-CN" sz="2400" i="1"/>
              <a:t>new</a:t>
            </a:r>
          </a:p>
          <a:p>
            <a:pPr lvl="1" eaLnBrk="1" hangingPunct="1"/>
            <a:r>
              <a:rPr lang="en-GB" altLang="zh-CN" sz="2000" i="1"/>
              <a:t>void *operator new (size_t size,  …)</a:t>
            </a:r>
          </a:p>
          <a:p>
            <a:pPr lvl="2" eaLnBrk="1" hangingPunct="1"/>
            <a:r>
              <a:rPr lang="zh-CN" altLang="en-GB" sz="2000"/>
              <a:t>名</a:t>
            </a:r>
            <a:r>
              <a:rPr lang="zh-CN" altLang="en-GB" sz="2000" i="1"/>
              <a:t>： </a:t>
            </a:r>
            <a:r>
              <a:rPr lang="en-GB" altLang="zh-CN" sz="2000" i="1"/>
              <a:t>operator new</a:t>
            </a:r>
          </a:p>
          <a:p>
            <a:pPr lvl="2" eaLnBrk="1" hangingPunct="1"/>
            <a:r>
              <a:rPr lang="en-GB" altLang="en-US" sz="2000">
                <a:latin typeface="SimSun" charset="-122"/>
              </a:rPr>
              <a:t>返回类型</a:t>
            </a:r>
            <a:r>
              <a:rPr lang="en-GB" altLang="zh-CN" sz="2000">
                <a:latin typeface="SimSun" charset="-122"/>
              </a:rPr>
              <a:t>： </a:t>
            </a:r>
            <a:r>
              <a:rPr lang="en-GB" altLang="zh-CN" sz="2000" i="1"/>
              <a:t>void *</a:t>
            </a:r>
          </a:p>
          <a:p>
            <a:pPr lvl="2" eaLnBrk="1" hangingPunct="1"/>
            <a:r>
              <a:rPr lang="en-GB" altLang="en-US" sz="2000">
                <a:latin typeface="SimSun" charset="-122"/>
              </a:rPr>
              <a:t>第一个参数</a:t>
            </a:r>
            <a:r>
              <a:rPr lang="en-GB" altLang="zh-CN" sz="2000">
                <a:latin typeface="SimSun" charset="-122"/>
              </a:rPr>
              <a:t>：</a:t>
            </a:r>
            <a:r>
              <a:rPr lang="en-GB" altLang="zh-CN" sz="2000" i="1"/>
              <a:t>size_t（unsigned int）</a:t>
            </a:r>
          </a:p>
          <a:p>
            <a:pPr lvl="3" eaLnBrk="1" hangingPunct="1"/>
            <a:r>
              <a:rPr lang="en-GB" altLang="en-US">
                <a:latin typeface="SimSun" charset="-122"/>
              </a:rPr>
              <a:t>系统自动计算对象的大小</a:t>
            </a:r>
            <a:r>
              <a:rPr lang="en-GB" altLang="zh-CN">
                <a:latin typeface="SimSun" charset="-122"/>
              </a:rPr>
              <a:t>，</a:t>
            </a:r>
            <a:r>
              <a:rPr lang="en-GB" altLang="en-US">
                <a:latin typeface="SimSun" charset="-122"/>
              </a:rPr>
              <a:t>并传</a:t>
            </a:r>
            <a:r>
              <a:rPr lang="en-GB" altLang="zh-CN">
                <a:latin typeface="SimSun" charset="-122"/>
              </a:rPr>
              <a:t>值</a:t>
            </a:r>
            <a:r>
              <a:rPr lang="en-GB" altLang="en-US">
                <a:latin typeface="SimSun" charset="-122"/>
              </a:rPr>
              <a:t>给</a:t>
            </a:r>
            <a:r>
              <a:rPr lang="en-GB" altLang="zh-CN">
                <a:latin typeface="SimSun" charset="-122"/>
              </a:rPr>
              <a:t>size</a:t>
            </a:r>
            <a:endParaRPr lang="en-GB" altLang="zh-CN" i="1"/>
          </a:p>
          <a:p>
            <a:pPr lvl="2" eaLnBrk="1" hangingPunct="1"/>
            <a:r>
              <a:rPr lang="en-GB" altLang="en-US" sz="2000">
                <a:latin typeface="SimSun" charset="-122"/>
              </a:rPr>
              <a:t>其它参数</a:t>
            </a:r>
            <a:r>
              <a:rPr lang="en-GB" altLang="zh-CN" sz="2000">
                <a:latin typeface="SimSun" charset="-122"/>
              </a:rPr>
              <a:t>：</a:t>
            </a:r>
            <a:r>
              <a:rPr lang="en-GB" altLang="en-US" sz="2000">
                <a:latin typeface="SimSun" charset="-122"/>
              </a:rPr>
              <a:t>可有可无</a:t>
            </a:r>
          </a:p>
          <a:p>
            <a:pPr lvl="3" eaLnBrk="1" hangingPunct="1"/>
            <a:r>
              <a:rPr lang="en-GB" altLang="zh-CN" i="1"/>
              <a:t>A * p = new (</a:t>
            </a:r>
            <a:r>
              <a:rPr lang="en-GB" altLang="zh-CN" i="1">
                <a:latin typeface="Times New Roman" panose="02020603050405020304" charset="0"/>
              </a:rPr>
              <a:t>…</a:t>
            </a:r>
            <a:r>
              <a:rPr lang="en-GB" altLang="zh-CN" i="1"/>
              <a:t>) A ， </a:t>
            </a:r>
            <a:r>
              <a:rPr lang="en-GB" altLang="en-US">
                <a:latin typeface="Times New Roman" panose="02020603050405020304" charset="0"/>
              </a:rPr>
              <a:t>…</a:t>
            </a:r>
            <a:r>
              <a:rPr lang="en-GB" altLang="en-US">
                <a:latin typeface="SimSun" charset="-122"/>
              </a:rPr>
              <a:t>表示传给</a:t>
            </a:r>
            <a:r>
              <a:rPr lang="en-GB" altLang="zh-CN" i="1"/>
              <a:t>new</a:t>
            </a:r>
            <a:r>
              <a:rPr lang="en-GB" altLang="en-US">
                <a:latin typeface="SimSun" charset="-122"/>
              </a:rPr>
              <a:t>的其它实参</a:t>
            </a:r>
          </a:p>
          <a:p>
            <a:pPr lvl="2" eaLnBrk="1" hangingPunct="1"/>
            <a:endParaRPr lang="en-US" altLang="en-US" sz="2000">
              <a:latin typeface="SimSun" charset="-122"/>
            </a:endParaRPr>
          </a:p>
          <a:p>
            <a:pPr lvl="1" eaLnBrk="1" hangingPunct="1"/>
            <a:r>
              <a:rPr lang="en-GB" altLang="zh-CN" sz="2000" i="1"/>
              <a:t>new </a:t>
            </a:r>
            <a:r>
              <a:rPr lang="en-GB" altLang="en-US" sz="2000">
                <a:latin typeface="SimSun" charset="-122"/>
              </a:rPr>
              <a:t>的重载可以有多个</a:t>
            </a:r>
          </a:p>
          <a:p>
            <a:pPr lvl="1" eaLnBrk="1" hangingPunct="1"/>
            <a:r>
              <a:rPr lang="en-GB" altLang="zh-CN" sz="2000">
                <a:latin typeface="SimSun" charset="-122"/>
              </a:rPr>
              <a:t>如</a:t>
            </a:r>
            <a:r>
              <a:rPr lang="zh-CN" altLang="en-GB" sz="2000">
                <a:latin typeface="SimSun" charset="-122"/>
              </a:rPr>
              <a:t>果</a:t>
            </a:r>
            <a:r>
              <a:rPr lang="en-US" altLang="en-GB" sz="2000">
                <a:latin typeface="SimSun" charset="-122"/>
              </a:rPr>
              <a:t>重载了</a:t>
            </a:r>
            <a:r>
              <a:rPr lang="en-GB" altLang="zh-CN" sz="2000" i="1"/>
              <a:t>new</a:t>
            </a:r>
            <a:r>
              <a:rPr lang="en-GB" altLang="en-US" sz="2000">
                <a:latin typeface="SimSun" charset="-122"/>
              </a:rPr>
              <a:t>，</a:t>
            </a:r>
            <a:r>
              <a:rPr lang="en-GB" altLang="zh-CN" sz="2000">
                <a:latin typeface="SimSun" charset="-122"/>
              </a:rPr>
              <a:t>那么</a:t>
            </a:r>
            <a:r>
              <a:rPr lang="en-GB" altLang="en-US" sz="2000">
                <a:latin typeface="SimSun" charset="-122"/>
              </a:rPr>
              <a:t>通过</a:t>
            </a:r>
            <a:r>
              <a:rPr lang="en-GB" altLang="zh-CN" sz="2000" i="1"/>
              <a:t>new </a:t>
            </a:r>
            <a:r>
              <a:rPr lang="en-GB" altLang="en-US" sz="2000">
                <a:latin typeface="SimSun" charset="-122"/>
              </a:rPr>
              <a:t>动态创建该类的对象时将不再调用内置的（预定义的）</a:t>
            </a:r>
            <a:r>
              <a:rPr lang="en-GB" altLang="zh-CN" sz="2000" i="1"/>
              <a:t>new</a:t>
            </a:r>
            <a:endParaRPr lang="zh-CN" altLang="en-US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FA87B-1723-F0A9-2551-B9E04E6F7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特殊操作符重载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79992F-BFF4-EE58-40FD-6D8BEEF31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2"/>
            <a:ext cx="7772400" cy="4579639"/>
          </a:xfrm>
        </p:spPr>
        <p:txBody>
          <a:bodyPr>
            <a:normAutofit fontScale="92500"/>
          </a:bodyPr>
          <a:lstStyle/>
          <a:p>
            <a:r>
              <a:rPr kumimoji="1" lang="en" altLang="zh-CN" sz="2400" dirty="0"/>
              <a:t>void* operator new(std::</a:t>
            </a:r>
            <a:r>
              <a:rPr kumimoji="1" lang="en" altLang="zh-CN" sz="2400" dirty="0" err="1"/>
              <a:t>size_t</a:t>
            </a:r>
            <a:r>
              <a:rPr kumimoji="1" lang="zh-CN" altLang="en" sz="2400" dirty="0"/>
              <a:t>）</a:t>
            </a:r>
            <a:r>
              <a:rPr kumimoji="1" lang="en" altLang="zh-CN" sz="2400" dirty="0"/>
              <a:t>throw(std::</a:t>
            </a:r>
            <a:r>
              <a:rPr kumimoji="1" lang="en" altLang="zh-CN" sz="2400" dirty="0" err="1"/>
              <a:t>bad_alloc</a:t>
            </a:r>
            <a:r>
              <a:rPr kumimoji="1" lang="en" altLang="zh-CN" sz="2400" dirty="0"/>
              <a:t>); </a:t>
            </a:r>
          </a:p>
          <a:p>
            <a:pPr lvl="1"/>
            <a:r>
              <a:rPr lang="zh-CN" altLang="en-US" sz="2000" dirty="0"/>
              <a:t>标准版本的 </a:t>
            </a:r>
            <a:r>
              <a:rPr lang="en" altLang="zh-CN" sz="2000" dirty="0"/>
              <a:t>operator new</a:t>
            </a:r>
            <a:endParaRPr lang="en-US" altLang="zh-CN" sz="2000" dirty="0"/>
          </a:p>
          <a:p>
            <a:pPr lvl="1"/>
            <a:r>
              <a:rPr lang="zh-CN" altLang="en-US" sz="2000" dirty="0"/>
              <a:t>参数：</a:t>
            </a:r>
            <a:r>
              <a:rPr lang="en" altLang="zh-CN" sz="2000" dirty="0"/>
              <a:t>size </a:t>
            </a:r>
            <a:r>
              <a:rPr lang="zh-CN" altLang="en-US" sz="2000" dirty="0"/>
              <a:t>是要分配的字节数</a:t>
            </a:r>
            <a:endParaRPr lang="en-US" altLang="zh-CN" sz="2000" dirty="0"/>
          </a:p>
          <a:p>
            <a:pPr lvl="1"/>
            <a:r>
              <a:rPr lang="zh-CN" altLang="en-US" sz="2000" dirty="0"/>
              <a:t>返回：分配到的内存地址，如果内存不足，抛出异常 </a:t>
            </a:r>
            <a:r>
              <a:rPr lang="en" altLang="zh-CN" sz="2000" dirty="0"/>
              <a:t>std::</a:t>
            </a:r>
            <a:r>
              <a:rPr lang="en" altLang="zh-CN" sz="2000" dirty="0" err="1"/>
              <a:t>bad_alloc</a:t>
            </a:r>
            <a:endParaRPr kumimoji="1" lang="en" altLang="zh-CN" sz="2000" dirty="0"/>
          </a:p>
          <a:p>
            <a:r>
              <a:rPr kumimoji="1" lang="en" altLang="zh-CN" sz="2400" dirty="0"/>
              <a:t>void* operator new(std::</a:t>
            </a:r>
            <a:r>
              <a:rPr kumimoji="1" lang="en" altLang="zh-CN" sz="2400" dirty="0" err="1"/>
              <a:t>size_t</a:t>
            </a:r>
            <a:r>
              <a:rPr kumimoji="1" lang="en" altLang="zh-CN" sz="2400" dirty="0"/>
              <a:t>, void*) throw(); </a:t>
            </a:r>
          </a:p>
          <a:p>
            <a:pPr lvl="1"/>
            <a:r>
              <a:rPr lang="en" altLang="zh-CN" sz="2100" dirty="0"/>
              <a:t>Placement new</a:t>
            </a:r>
            <a:r>
              <a:rPr lang="zh-CN" altLang="en" sz="2100" dirty="0"/>
              <a:t>（</a:t>
            </a:r>
            <a:r>
              <a:rPr lang="zh-CN" altLang="en-US" sz="2100" dirty="0"/>
              <a:t>定位 </a:t>
            </a:r>
            <a:r>
              <a:rPr lang="en" altLang="zh-CN" sz="2100" dirty="0"/>
              <a:t>new</a:t>
            </a:r>
            <a:r>
              <a:rPr lang="zh-CN" altLang="en" sz="2100" dirty="0"/>
              <a:t>）</a:t>
            </a:r>
            <a:endParaRPr lang="en-US" altLang="zh-CN" sz="2100" dirty="0"/>
          </a:p>
          <a:p>
            <a:pPr lvl="1"/>
            <a:r>
              <a:rPr lang="zh-CN" altLang="en-US" sz="2100" dirty="0"/>
              <a:t>不重新分配内存，直接调用构造函数在已有内存地址上构造对象</a:t>
            </a:r>
            <a:endParaRPr lang="en" altLang="zh-CN" sz="2100" dirty="0"/>
          </a:p>
          <a:p>
            <a:r>
              <a:rPr kumimoji="1" lang="en" altLang="zh-CN" sz="2400" dirty="0"/>
              <a:t>void* operator new (std:: </a:t>
            </a:r>
            <a:r>
              <a:rPr kumimoji="1" lang="en" altLang="zh-CN" sz="2400" dirty="0" err="1"/>
              <a:t>size_t,const</a:t>
            </a:r>
            <a:r>
              <a:rPr kumimoji="1" lang="en" altLang="zh-CN" sz="2400" dirty="0"/>
              <a:t> std:: </a:t>
            </a:r>
            <a:r>
              <a:rPr kumimoji="1" lang="en" altLang="zh-CN" sz="2400" dirty="0" err="1"/>
              <a:t>nothrow_t</a:t>
            </a:r>
            <a:r>
              <a:rPr kumimoji="1" lang="en" altLang="zh-CN" sz="2400" dirty="0"/>
              <a:t>&amp;) throw ();</a:t>
            </a:r>
          </a:p>
          <a:p>
            <a:pPr lvl="1"/>
            <a:r>
              <a:rPr lang="zh-CN" altLang="en-US" sz="2000" dirty="0"/>
              <a:t>不抛异常的 </a:t>
            </a:r>
            <a:r>
              <a:rPr lang="en" altLang="zh-CN" sz="2000" dirty="0"/>
              <a:t>new</a:t>
            </a:r>
          </a:p>
          <a:p>
            <a:pPr lvl="1"/>
            <a:r>
              <a:rPr kumimoji="1" lang="zh-CN" altLang="en-US" sz="2000" dirty="0"/>
              <a:t>如果失败，返回 </a:t>
            </a:r>
            <a:r>
              <a:rPr kumimoji="1" lang="en" altLang="zh-CN" sz="2000" dirty="0" err="1"/>
              <a:t>nullptr</a:t>
            </a:r>
            <a:endParaRPr kumimoji="1" lang="en" altLang="zh-CN" sz="2000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60133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特殊操作符重载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30688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GB" altLang="en-US" sz="2400">
                <a:latin typeface="SimSun" charset="-122"/>
              </a:rPr>
              <a:t>重载 </a:t>
            </a:r>
            <a:r>
              <a:rPr lang="en-GB" altLang="zh-CN" sz="2400" i="1"/>
              <a:t>delete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GB" altLang="zh-CN" sz="2000" i="1"/>
              <a:t>void operator delete(void *p, size_t size)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GB" altLang="en-US" sz="2000">
                <a:latin typeface="SimSun" charset="-122"/>
              </a:rPr>
              <a:t>名</a:t>
            </a:r>
            <a:r>
              <a:rPr lang="en-GB" altLang="zh-CN" sz="2000">
                <a:latin typeface="SimSun" charset="-122"/>
              </a:rPr>
              <a:t>：</a:t>
            </a:r>
            <a:r>
              <a:rPr lang="en-GB" altLang="zh-CN" sz="2000" i="1"/>
              <a:t>operator delete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GB" altLang="en-US" sz="2000">
                <a:latin typeface="SimSun" charset="-122"/>
              </a:rPr>
              <a:t>返回类型</a:t>
            </a:r>
            <a:r>
              <a:rPr lang="en-GB" altLang="zh-CN" sz="2000">
                <a:latin typeface="SimSun" charset="-122"/>
              </a:rPr>
              <a:t>：</a:t>
            </a:r>
            <a:r>
              <a:rPr lang="en-GB" altLang="zh-CN" sz="2000" i="1"/>
              <a:t>void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GB" altLang="en-US" sz="2000">
                <a:latin typeface="SimSun" charset="-122"/>
              </a:rPr>
              <a:t>第一个参数</a:t>
            </a:r>
            <a:r>
              <a:rPr lang="en-GB" altLang="zh-CN" sz="2000">
                <a:latin typeface="SimSun" charset="-122"/>
              </a:rPr>
              <a:t>：</a:t>
            </a:r>
            <a:r>
              <a:rPr lang="en-GB" altLang="zh-CN" sz="2000" i="1"/>
              <a:t>void *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GB" altLang="zh-CN">
                <a:latin typeface="SimSun" charset="-122"/>
              </a:rPr>
              <a:t>被</a:t>
            </a:r>
            <a:r>
              <a:rPr lang="zh-CN" altLang="en-GB">
                <a:latin typeface="SimSun" charset="-122"/>
              </a:rPr>
              <a:t>撤销</a:t>
            </a:r>
            <a:r>
              <a:rPr lang="en-US" altLang="en-GB">
                <a:latin typeface="SimSun" charset="-122"/>
              </a:rPr>
              <a:t>对象的地址</a:t>
            </a:r>
            <a:endParaRPr lang="en-GB" altLang="zh-CN" i="1">
              <a:latin typeface="SimSun" charset="-122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en-GB" altLang="en-US" sz="2000">
                <a:latin typeface="SimSun" charset="-122"/>
              </a:rPr>
              <a:t>第二个参数</a:t>
            </a:r>
            <a:r>
              <a:rPr lang="en-GB" altLang="zh-CN" sz="2000">
                <a:latin typeface="SimSun" charset="-122"/>
              </a:rPr>
              <a:t>：</a:t>
            </a:r>
            <a:r>
              <a:rPr lang="en-GB" altLang="en-US" sz="2000">
                <a:latin typeface="SimSun" charset="-122"/>
              </a:rPr>
              <a:t>可有可无</a:t>
            </a:r>
            <a:r>
              <a:rPr lang="en-GB" altLang="zh-CN" sz="2000">
                <a:latin typeface="SimSun" charset="-122"/>
              </a:rPr>
              <a:t>；</a:t>
            </a:r>
            <a:r>
              <a:rPr lang="en-GB" altLang="en-US" sz="2000">
                <a:latin typeface="SimSun" charset="-122"/>
              </a:rPr>
              <a:t>如果有，则必须是</a:t>
            </a:r>
            <a:r>
              <a:rPr lang="en-GB" altLang="zh-CN" sz="2000" i="1"/>
              <a:t>size_t </a:t>
            </a:r>
            <a:r>
              <a:rPr lang="en-GB" altLang="en-US" sz="2000">
                <a:latin typeface="SimSun" charset="-122"/>
              </a:rPr>
              <a:t>类型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zh-CN">
                <a:latin typeface="SimSun" charset="-122"/>
              </a:rPr>
              <a:t>被</a:t>
            </a:r>
            <a:r>
              <a:rPr lang="en-GB" altLang="en-US">
                <a:latin typeface="SimSun" charset="-122"/>
              </a:rPr>
              <a:t>撤消对象的大小</a:t>
            </a:r>
          </a:p>
          <a:p>
            <a:pPr lvl="3" algn="just" eaLnBrk="1" hangingPunct="1">
              <a:lnSpc>
                <a:spcPct val="90000"/>
              </a:lnSpc>
            </a:pPr>
            <a:endParaRPr lang="en-GB" altLang="en-US">
              <a:latin typeface="SimSun" charset="-122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GB" altLang="zh-CN" sz="2000" i="1"/>
              <a:t>delete </a:t>
            </a:r>
            <a:r>
              <a:rPr lang="en-GB" altLang="en-US" sz="2000">
                <a:latin typeface="SimSun" charset="-122"/>
              </a:rPr>
              <a:t>的重载只能有一个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GB" altLang="zh-CN" sz="2000">
                <a:latin typeface="SimSun" charset="-122"/>
              </a:rPr>
              <a:t>如果</a:t>
            </a:r>
            <a:r>
              <a:rPr lang="en-GB" altLang="en-US" sz="2000">
                <a:latin typeface="SimSun" charset="-122"/>
              </a:rPr>
              <a:t>重载了</a:t>
            </a:r>
            <a:r>
              <a:rPr lang="en-GB" altLang="zh-CN" sz="2000" i="1"/>
              <a:t>delete</a:t>
            </a:r>
            <a:r>
              <a:rPr lang="en-GB" altLang="en-US" sz="2000">
                <a:latin typeface="SimSun" charset="-122"/>
              </a:rPr>
              <a:t>，</a:t>
            </a:r>
            <a:r>
              <a:rPr lang="en-GB" altLang="zh-CN" sz="2000">
                <a:latin typeface="SimSun" charset="-122"/>
              </a:rPr>
              <a:t>那么</a:t>
            </a:r>
            <a:r>
              <a:rPr lang="en-GB" altLang="en-US" sz="2000">
                <a:latin typeface="SimSun" charset="-122"/>
              </a:rPr>
              <a:t>通过</a:t>
            </a:r>
            <a:r>
              <a:rPr lang="en-GB" altLang="zh-CN" sz="2000" i="1"/>
              <a:t>delete </a:t>
            </a:r>
            <a:r>
              <a:rPr lang="en-GB" altLang="en-US" sz="2000">
                <a:latin typeface="SimSun" charset="-122"/>
              </a:rPr>
              <a:t>撤消对象时将不再调用内置的（预定义的）</a:t>
            </a:r>
            <a:r>
              <a:rPr lang="en-GB" altLang="zh-CN" sz="2000" i="1"/>
              <a:t>delete</a:t>
            </a:r>
            <a:endParaRPr lang="zh-CN" altLang="en-US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</a:t>
            </a:r>
            <a:r>
              <a:rPr lang="en-US" altLang="zh-CN" dirty="0"/>
              <a:t>	new/delete</a:t>
            </a:r>
            <a:endParaRPr lang="zh-CN" altLang="en-US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new</a:t>
            </a:r>
            <a:r>
              <a:rPr lang="zh-CN" altLang="en-US" dirty="0"/>
              <a:t>的过程</a:t>
            </a:r>
            <a:endParaRPr lang="en-US" altLang="zh-CN" dirty="0"/>
          </a:p>
          <a:p>
            <a:pPr lvl="1"/>
            <a:r>
              <a:rPr lang="zh-CN" altLang="en-US" dirty="0"/>
              <a:t>获得一块内存空间</a:t>
            </a:r>
            <a:endParaRPr lang="en-US" altLang="zh-CN" dirty="0"/>
          </a:p>
          <a:p>
            <a:pPr lvl="1"/>
            <a:r>
              <a:rPr lang="zh-CN" altLang="en-US" dirty="0"/>
              <a:t>调用构造函数</a:t>
            </a:r>
            <a:endParaRPr lang="en-US" altLang="zh-CN" dirty="0"/>
          </a:p>
          <a:p>
            <a:pPr lvl="1"/>
            <a:r>
              <a:rPr lang="zh-CN" altLang="en-US" dirty="0"/>
              <a:t>返回正确的指针</a:t>
            </a:r>
          </a:p>
          <a:p>
            <a:pPr eaLnBrk="1" hangingPunct="1"/>
            <a:r>
              <a:rPr lang="en-US" altLang="zh-CN" dirty="0"/>
              <a:t>delete</a:t>
            </a:r>
            <a:r>
              <a:rPr lang="zh-CN" altLang="en-US" dirty="0"/>
              <a:t>的过程</a:t>
            </a:r>
            <a:endParaRPr lang="en-US" altLang="zh-CN" dirty="0"/>
          </a:p>
          <a:p>
            <a:pPr lvl="1"/>
            <a:r>
              <a:rPr lang="zh-CN" altLang="en-US" dirty="0"/>
              <a:t>调用析构函数</a:t>
            </a:r>
            <a:endParaRPr lang="en-US" altLang="zh-CN" dirty="0"/>
          </a:p>
          <a:p>
            <a:pPr lvl="1"/>
            <a:r>
              <a:rPr lang="zh-CN" altLang="en-US" dirty="0"/>
              <a:t>确定指向分配空间的指针</a:t>
            </a:r>
            <a:endParaRPr lang="en-US" altLang="zh-CN" dirty="0"/>
          </a:p>
          <a:p>
            <a:pPr lvl="1"/>
            <a:r>
              <a:rPr lang="zh-CN" altLang="en-US" dirty="0"/>
              <a:t>将该空间归还系统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	</a:t>
            </a:r>
            <a:r>
              <a:rPr lang="zh-CN" altLang="en-US" dirty="0"/>
              <a:t>概念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zh-CN" altLang="en-US" dirty="0"/>
              <a:t>管理对象</a:t>
            </a:r>
          </a:p>
          <a:p>
            <a:pPr lvl="1" eaLnBrk="1" hangingPunct="1"/>
            <a:r>
              <a:rPr lang="zh-CN" altLang="en-US" dirty="0"/>
              <a:t>运用</a:t>
            </a:r>
            <a:r>
              <a:rPr lang="en-US" altLang="zh-CN" dirty="0"/>
              <a:t>new</a:t>
            </a:r>
            <a:r>
              <a:rPr lang="zh-CN" altLang="en-US" dirty="0"/>
              <a:t>运算符动态构造的对象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静态分配内存的对象不在范围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	</a:t>
            </a:r>
            <a:r>
              <a:rPr lang="zh-CN" altLang="en-US" dirty="0"/>
              <a:t>（如 </a:t>
            </a:r>
            <a:r>
              <a:rPr lang="en-US" altLang="zh-CN" dirty="0"/>
              <a:t>Object </a:t>
            </a:r>
            <a:r>
              <a:rPr lang="en-US" altLang="zh-CN" dirty="0" err="1"/>
              <a:t>obj</a:t>
            </a:r>
            <a:r>
              <a:rPr lang="en-US" altLang="zh-CN" dirty="0"/>
              <a:t>;</a:t>
            </a:r>
            <a:r>
              <a:rPr lang="zh-CN" altLang="en-US" dirty="0"/>
              <a:t>）</a:t>
            </a:r>
          </a:p>
          <a:p>
            <a:pPr eaLnBrk="1" hangingPunct="1"/>
            <a:r>
              <a:rPr lang="zh-CN" altLang="en-US" dirty="0"/>
              <a:t>方式</a:t>
            </a:r>
          </a:p>
          <a:p>
            <a:pPr lvl="1" eaLnBrk="1" hangingPunct="1"/>
            <a:r>
              <a:rPr lang="en-US" altLang="zh-CN" dirty="0"/>
              <a:t>new</a:t>
            </a:r>
            <a:r>
              <a:rPr lang="zh-CN" altLang="en-US" dirty="0"/>
              <a:t>、</a:t>
            </a:r>
            <a:r>
              <a:rPr lang="en-US" altLang="zh-CN" dirty="0"/>
              <a:t>delete</a:t>
            </a:r>
            <a:r>
              <a:rPr lang="zh-CN" altLang="en-US" dirty="0"/>
              <a:t>重载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实现专有的内存管理</a:t>
            </a:r>
            <a:endParaRPr lang="en-US" altLang="zh-CN" dirty="0"/>
          </a:p>
          <a:p>
            <a:r>
              <a:rPr lang="zh-CN" altLang="en-US" dirty="0"/>
              <a:t>减少</a:t>
            </a:r>
            <a:r>
              <a:rPr lang="en-US" altLang="zh-CN" dirty="0" err="1"/>
              <a:t>malloc</a:t>
            </a:r>
            <a:r>
              <a:rPr lang="zh-CN" altLang="en-US" dirty="0"/>
              <a:t>的次数，提高性能</a:t>
            </a:r>
            <a:endParaRPr lang="en-US" altLang="zh-CN" dirty="0"/>
          </a:p>
          <a:p>
            <a:r>
              <a:rPr lang="zh-CN" altLang="en-US" dirty="0"/>
              <a:t>检测运用上的错误</a:t>
            </a:r>
            <a:endParaRPr lang="en-US" altLang="zh-CN" dirty="0"/>
          </a:p>
          <a:p>
            <a:r>
              <a:rPr lang="zh-CN" altLang="en-US" dirty="0"/>
              <a:t>收集使用上的统计数据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	</a:t>
            </a:r>
            <a:r>
              <a:rPr lang="zh-CN" altLang="en-US" dirty="0"/>
              <a:t>我们需要什么？</a:t>
            </a:r>
          </a:p>
        </p:txBody>
      </p:sp>
      <p:pic>
        <p:nvPicPr>
          <p:cNvPr id="1027" name="Picture 3" descr="C:\Users\softwware\AppData\Roaming\Tencent\Users\405024670\QQ\WinTemp\RichOle\F67IJ3OVQ24GJD0WPDMTIJA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8082" y="2643182"/>
            <a:ext cx="1081072" cy="1714512"/>
          </a:xfrm>
          <a:prstGeom prst="rect">
            <a:avLst/>
          </a:prstGeom>
          <a:noFill/>
        </p:spPr>
      </p:pic>
      <p:sp>
        <p:nvSpPr>
          <p:cNvPr id="8" name="下箭头 7"/>
          <p:cNvSpPr/>
          <p:nvPr/>
        </p:nvSpPr>
        <p:spPr bwMode="auto">
          <a:xfrm rot="5400000">
            <a:off x="6357949" y="3286125"/>
            <a:ext cx="678663" cy="964413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86512" y="2857496"/>
            <a:ext cx="928694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入口</a:t>
            </a:r>
            <a:endParaRPr lang="en-US" altLang="zh-CN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new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下箭头 9"/>
          <p:cNvSpPr/>
          <p:nvPr/>
        </p:nvSpPr>
        <p:spPr bwMode="auto">
          <a:xfrm rot="5400000">
            <a:off x="1643041" y="3357563"/>
            <a:ext cx="678663" cy="964413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28728" y="2857496"/>
            <a:ext cx="1143008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出口</a:t>
            </a:r>
            <a:endParaRPr lang="en-US" altLang="zh-CN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delete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8596" y="5436072"/>
            <a:ext cx="74295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2000" b="1" dirty="0"/>
              <a:t>void* Person::operator new(</a:t>
            </a:r>
            <a:r>
              <a:rPr lang="en-US" altLang="zh-CN" sz="2000" b="1" dirty="0" err="1"/>
              <a:t>size_t</a:t>
            </a:r>
            <a:r>
              <a:rPr lang="en-US" altLang="zh-CN" sz="2000" b="1" dirty="0"/>
              <a:t> size)</a:t>
            </a:r>
          </a:p>
          <a:p>
            <a:pPr algn="l" eaLnBrk="1" hangingPunct="1">
              <a:lnSpc>
                <a:spcPct val="90000"/>
              </a:lnSpc>
              <a:buNone/>
            </a:pPr>
            <a:endParaRPr lang="en-US" altLang="zh-CN" sz="2000" b="1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2000" b="1" dirty="0"/>
              <a:t>void   Person::operator delete(void* del, </a:t>
            </a:r>
            <a:r>
              <a:rPr lang="en-US" altLang="zh-CN" sz="2000" b="1" dirty="0" err="1"/>
              <a:t>size_t</a:t>
            </a:r>
            <a:r>
              <a:rPr lang="en-US" altLang="zh-CN" sz="2000" b="1" dirty="0"/>
              <a:t> s)</a:t>
            </a:r>
            <a:endParaRPr lang="zh-CN" altLang="en-US" sz="2000" b="1" dirty="0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圆角矩形 12"/>
          <p:cNvSpPr/>
          <p:nvPr/>
        </p:nvSpPr>
        <p:spPr bwMode="auto">
          <a:xfrm>
            <a:off x="3143240" y="3143248"/>
            <a:ext cx="2571768" cy="1285884"/>
          </a:xfrm>
          <a:prstGeom prst="roundRect">
            <a:avLst/>
          </a:prstGeom>
          <a:solidFill>
            <a:schemeClr val="accent3">
              <a:lumMod val="65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管理的内存空间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785786" y="3429000"/>
            <a:ext cx="1928826" cy="85725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new person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 bwMode="auto">
          <a:xfrm>
            <a:off x="3000364" y="3857628"/>
            <a:ext cx="357190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004354" y="3214686"/>
            <a:ext cx="1210588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操作符重载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5140" y="3571876"/>
            <a:ext cx="1011815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分配内存</a:t>
            </a:r>
            <a:endParaRPr lang="en-US" altLang="zh-CN" sz="1600" b="1" u="sng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统一管理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/>
      <p:bldP spid="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	</a:t>
            </a:r>
            <a:r>
              <a:rPr lang="zh-CN" altLang="en-US" dirty="0"/>
              <a:t>我们需要什么？</a:t>
            </a:r>
          </a:p>
        </p:txBody>
      </p:sp>
      <p:pic>
        <p:nvPicPr>
          <p:cNvPr id="1027" name="Picture 3" descr="C:\Users\softwware\AppData\Roaming\Tencent\Users\405024670\QQ\WinTemp\RichOle\F67IJ3OVQ24GJD0WPDMTIJA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8082" y="2643182"/>
            <a:ext cx="1081072" cy="1714512"/>
          </a:xfrm>
          <a:prstGeom prst="rect">
            <a:avLst/>
          </a:prstGeom>
          <a:noFill/>
        </p:spPr>
      </p:pic>
      <p:pic>
        <p:nvPicPr>
          <p:cNvPr id="1028" name="Picture 4" descr="C:\Users\softwware\AppData\Roaming\Tencent\Users\405024670\QQ\WinTemp\RichOle\NZ)2L01AJELQ6(R0HPYJTM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15206" y="4857760"/>
            <a:ext cx="1285875" cy="1762125"/>
          </a:xfrm>
          <a:prstGeom prst="rect">
            <a:avLst/>
          </a:prstGeom>
          <a:noFill/>
        </p:spPr>
      </p:pic>
      <p:sp>
        <p:nvSpPr>
          <p:cNvPr id="8" name="下箭头 7"/>
          <p:cNvSpPr/>
          <p:nvPr/>
        </p:nvSpPr>
        <p:spPr bwMode="auto">
          <a:xfrm rot="5400000">
            <a:off x="6357949" y="3286125"/>
            <a:ext cx="678663" cy="964413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86512" y="2857496"/>
            <a:ext cx="928694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入口</a:t>
            </a:r>
            <a:endParaRPr lang="en-US" altLang="zh-CN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new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下箭头 9"/>
          <p:cNvSpPr/>
          <p:nvPr/>
        </p:nvSpPr>
        <p:spPr bwMode="auto">
          <a:xfrm rot="5400000">
            <a:off x="1643041" y="3357563"/>
            <a:ext cx="678663" cy="964413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28728" y="2857496"/>
            <a:ext cx="1143008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出口</a:t>
            </a:r>
            <a:endParaRPr lang="en-US" altLang="zh-CN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delete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29454" y="5429264"/>
            <a:ext cx="428628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800" b="1" dirty="0">
                <a:solidFill>
                  <a:srgbClr val="7030A0"/>
                </a:solidFill>
              </a:rPr>
              <a:t>？？</a:t>
            </a:r>
          </a:p>
        </p:txBody>
      </p:sp>
      <p:sp>
        <p:nvSpPr>
          <p:cNvPr id="15" name="椭圆形标注 14"/>
          <p:cNvSpPr/>
          <p:nvPr/>
        </p:nvSpPr>
        <p:spPr bwMode="auto">
          <a:xfrm>
            <a:off x="7786710" y="4429132"/>
            <a:ext cx="1357290" cy="857256"/>
          </a:xfrm>
          <a:prstGeom prst="wedgeEllipseCallou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空间不足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596" y="5436072"/>
            <a:ext cx="74295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2000" b="1" dirty="0"/>
              <a:t>void* Person::operator new(</a:t>
            </a:r>
            <a:r>
              <a:rPr lang="en-US" altLang="zh-CN" sz="2000" b="1" dirty="0" err="1"/>
              <a:t>size_t</a:t>
            </a:r>
            <a:r>
              <a:rPr lang="en-US" altLang="zh-CN" sz="2000" b="1" dirty="0"/>
              <a:t> size)</a:t>
            </a:r>
          </a:p>
          <a:p>
            <a:pPr algn="l" eaLnBrk="1" hangingPunct="1">
              <a:lnSpc>
                <a:spcPct val="90000"/>
              </a:lnSpc>
              <a:buNone/>
            </a:pPr>
            <a:endParaRPr lang="en-US" altLang="zh-CN" sz="2000" b="1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2000" b="1" dirty="0"/>
              <a:t>void   Person::operator delete(void* del, </a:t>
            </a:r>
            <a:r>
              <a:rPr lang="en-US" altLang="zh-CN" sz="2000" b="1" dirty="0" err="1"/>
              <a:t>size_t</a:t>
            </a:r>
            <a:r>
              <a:rPr lang="en-US" altLang="zh-CN" sz="2000" b="1" dirty="0"/>
              <a:t> s)</a:t>
            </a:r>
            <a:endParaRPr lang="zh-CN" altLang="en-US" sz="2000" b="1" dirty="0"/>
          </a:p>
        </p:txBody>
      </p:sp>
      <p:sp>
        <p:nvSpPr>
          <p:cNvPr id="21" name="圆角矩形 20"/>
          <p:cNvSpPr/>
          <p:nvPr/>
        </p:nvSpPr>
        <p:spPr bwMode="auto">
          <a:xfrm>
            <a:off x="3143240" y="3143248"/>
            <a:ext cx="2571768" cy="1285884"/>
          </a:xfrm>
          <a:prstGeom prst="roundRect">
            <a:avLst/>
          </a:prstGeom>
          <a:solidFill>
            <a:schemeClr val="accent3">
              <a:lumMod val="65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管理的内存空间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softwware\AppData\Roaming\Tencent\Users\405024670\QQ\WinTemp\RichOle\F67IJ3OVQ24GJD0WPDMTIJA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8082" y="2643182"/>
            <a:ext cx="1081072" cy="1714512"/>
          </a:xfrm>
          <a:prstGeom prst="rect">
            <a:avLst/>
          </a:prstGeom>
          <a:noFill/>
        </p:spPr>
      </p:pic>
      <p:pic>
        <p:nvPicPr>
          <p:cNvPr id="1028" name="Picture 4" descr="C:\Users\softwware\AppData\Roaming\Tencent\Users\405024670\QQ\WinTemp\RichOle\NZ)2L01AJELQ6(R0HPYJTM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15206" y="4857760"/>
            <a:ext cx="1285875" cy="1762125"/>
          </a:xfrm>
          <a:prstGeom prst="rect">
            <a:avLst/>
          </a:prstGeom>
          <a:noFill/>
        </p:spPr>
      </p:pic>
      <p:sp>
        <p:nvSpPr>
          <p:cNvPr id="8" name="下箭头 7"/>
          <p:cNvSpPr/>
          <p:nvPr/>
        </p:nvSpPr>
        <p:spPr bwMode="auto">
          <a:xfrm rot="5400000">
            <a:off x="6357949" y="3286125"/>
            <a:ext cx="678663" cy="964413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" name="下箭头 9"/>
          <p:cNvSpPr/>
          <p:nvPr/>
        </p:nvSpPr>
        <p:spPr bwMode="auto">
          <a:xfrm rot="5400000">
            <a:off x="1643041" y="3357563"/>
            <a:ext cx="678663" cy="964413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 rotWithShape="1">
          <a:blip r:embed="rId4" cstate="print"/>
          <a:srcRect b="4998"/>
          <a:stretch/>
        </p:blipFill>
        <p:spPr bwMode="auto">
          <a:xfrm>
            <a:off x="3929058" y="0"/>
            <a:ext cx="1620970" cy="16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9" name="形状 18"/>
          <p:cNvCxnSpPr>
            <a:endCxn id="33794" idx="3"/>
          </p:cNvCxnSpPr>
          <p:nvPr/>
        </p:nvCxnSpPr>
        <p:spPr bwMode="auto">
          <a:xfrm rot="5400000" flipH="1" flipV="1">
            <a:off x="4646689" y="1668405"/>
            <a:ext cx="1757344" cy="49334"/>
          </a:xfrm>
          <a:prstGeom prst="curvedConnector4">
            <a:avLst>
              <a:gd name="adj1" fmla="val 26829"/>
              <a:gd name="adj2" fmla="val 563372"/>
            </a:avLst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43636" y="1357298"/>
            <a:ext cx="178595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dirty="0">
                <a:solidFill>
                  <a:srgbClr val="7030A0"/>
                </a:solidFill>
              </a:rPr>
              <a:t>“要更大的空间”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8794" y="1357298"/>
            <a:ext cx="178595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dirty="0">
                <a:solidFill>
                  <a:srgbClr val="7030A0"/>
                </a:solidFill>
              </a:rPr>
              <a:t>“同意”</a:t>
            </a:r>
          </a:p>
        </p:txBody>
      </p:sp>
      <p:cxnSp>
        <p:nvCxnSpPr>
          <p:cNvPr id="27" name="形状 26"/>
          <p:cNvCxnSpPr/>
          <p:nvPr/>
        </p:nvCxnSpPr>
        <p:spPr bwMode="auto">
          <a:xfrm rot="10800000" flipH="1" flipV="1">
            <a:off x="3571869" y="857244"/>
            <a:ext cx="285752" cy="1714500"/>
          </a:xfrm>
          <a:prstGeom prst="curvedConnector4">
            <a:avLst>
              <a:gd name="adj1" fmla="val -79999"/>
              <a:gd name="adj2" fmla="val 75000"/>
            </a:avLst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071934" y="1714488"/>
            <a:ext cx="1285884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endParaRPr lang="zh-CN" altLang="en-US" sz="1200" dirty="0"/>
          </a:p>
        </p:txBody>
      </p:sp>
      <p:sp>
        <p:nvSpPr>
          <p:cNvPr id="38" name="矩形 37"/>
          <p:cNvSpPr/>
          <p:nvPr/>
        </p:nvSpPr>
        <p:spPr>
          <a:xfrm>
            <a:off x="3571868" y="1691334"/>
            <a:ext cx="207170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800" b="1" cap="none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系统</a:t>
            </a:r>
            <a:endParaRPr lang="zh-CN" altLang="en-US" sz="48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33796" name="Picture 4" descr="C:\Users\softwware\AppData\Roaming\Tencent\Users\405024670\QQ\WinTemp\RichOle\(P80{[2435WN$1~9_S)W@[9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848600" y="500042"/>
            <a:ext cx="1295400" cy="1781175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6286512" y="2857496"/>
            <a:ext cx="928694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入口</a:t>
            </a:r>
            <a:endParaRPr lang="en-US" altLang="zh-CN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new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28728" y="2857496"/>
            <a:ext cx="1143008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出口</a:t>
            </a:r>
            <a:endParaRPr lang="en-US" altLang="zh-CN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delete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3" name="圆角矩形 22"/>
          <p:cNvSpPr/>
          <p:nvPr/>
        </p:nvSpPr>
        <p:spPr bwMode="auto">
          <a:xfrm>
            <a:off x="3143240" y="3143248"/>
            <a:ext cx="2571768" cy="1285884"/>
          </a:xfrm>
          <a:prstGeom prst="roundRect">
            <a:avLst/>
          </a:prstGeom>
          <a:solidFill>
            <a:schemeClr val="accent3">
              <a:lumMod val="65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管理的内存空间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4744" y="4929198"/>
            <a:ext cx="142876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sz="3600" b="1" dirty="0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扩容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8" grpId="0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357158" y="2357430"/>
            <a:ext cx="1928826" cy="85725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new person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 bwMode="auto">
          <a:xfrm>
            <a:off x="2285984" y="2786059"/>
            <a:ext cx="2643206" cy="114300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57554" y="2714620"/>
            <a:ext cx="1210588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操作符重载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6380" y="3571876"/>
            <a:ext cx="1425390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空间足够吗？</a:t>
            </a:r>
          </a:p>
        </p:txBody>
      </p:sp>
      <p:sp>
        <p:nvSpPr>
          <p:cNvPr id="13" name="流程图: 决策 12"/>
          <p:cNvSpPr/>
          <p:nvPr/>
        </p:nvSpPr>
        <p:spPr bwMode="auto">
          <a:xfrm>
            <a:off x="3929058" y="4000504"/>
            <a:ext cx="1928826" cy="928694"/>
          </a:xfrm>
          <a:prstGeom prst="flowChartDecision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scan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14" name="直接箭头连接符 13"/>
          <p:cNvCxnSpPr>
            <a:stCxn id="13" idx="2"/>
          </p:cNvCxnSpPr>
          <p:nvPr/>
        </p:nvCxnSpPr>
        <p:spPr bwMode="auto">
          <a:xfrm rot="5400000">
            <a:off x="4161232" y="4839901"/>
            <a:ext cx="642942" cy="82153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3" idx="2"/>
          </p:cNvCxnSpPr>
          <p:nvPr/>
        </p:nvCxnSpPr>
        <p:spPr bwMode="auto">
          <a:xfrm rot="16200000" flipH="1">
            <a:off x="4982768" y="4839900"/>
            <a:ext cx="642942" cy="82153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286380" y="4857760"/>
            <a:ext cx="598241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足够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86446" y="5786454"/>
            <a:ext cx="1011815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分配内存</a:t>
            </a:r>
            <a:endParaRPr lang="en-US" altLang="zh-CN" sz="1600" b="1" u="sng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存放管理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4612" y="5750989"/>
            <a:ext cx="2045753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向系统要新的空间，</a:t>
            </a:r>
            <a:endParaRPr lang="en-US" altLang="zh-CN" sz="1600" b="1" u="sng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分配后</a:t>
            </a:r>
            <a:r>
              <a:rPr lang="en-US" altLang="zh-CN" sz="1600" b="1" u="sng" dirty="0"/>
              <a:t>person</a:t>
            </a:r>
            <a:r>
              <a:rPr lang="zh-CN" altLang="en-US" sz="1600" b="1" u="sng" dirty="0"/>
              <a:t>存放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14744" y="4857760"/>
            <a:ext cx="598241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不够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3" grpId="0" animBg="1"/>
      <p:bldP spid="20" grpId="0"/>
      <p:bldP spid="21" grpId="0"/>
      <p:bldP spid="22" grpId="0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2.2	</a:t>
            </a:r>
            <a:r>
              <a:rPr lang="zh-CN" altLang="en-US" dirty="0"/>
              <a:t>具体策略的选择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每次有新的</a:t>
            </a:r>
            <a:r>
              <a:rPr lang="en-US" altLang="zh-CN" dirty="0"/>
              <a:t>Person</a:t>
            </a:r>
            <a:r>
              <a:rPr lang="zh-CN" altLang="en-US" dirty="0"/>
              <a:t>都向系统申请内存吗？</a:t>
            </a:r>
            <a:endParaRPr lang="en-US" altLang="zh-CN" dirty="0"/>
          </a:p>
          <a:p>
            <a:pPr lvl="1"/>
            <a:r>
              <a:rPr lang="zh-CN" altLang="en-US" dirty="0"/>
              <a:t>一般一次申请向系统要可以容纳多个</a:t>
            </a:r>
            <a:r>
              <a:rPr lang="en-US" altLang="zh-CN" dirty="0"/>
              <a:t>person</a:t>
            </a:r>
            <a:r>
              <a:rPr lang="zh-CN" altLang="en-US" dirty="0"/>
              <a:t>的容器</a:t>
            </a:r>
            <a:endParaRPr lang="en-US" altLang="zh-CN" dirty="0"/>
          </a:p>
          <a:p>
            <a:pPr lvl="1"/>
            <a:r>
              <a:rPr lang="zh-CN" altLang="en-US" dirty="0"/>
              <a:t>这样的容器可以用单独的数据结构保存</a:t>
            </a:r>
            <a:endParaRPr lang="en-US" altLang="zh-CN" dirty="0"/>
          </a:p>
          <a:p>
            <a:pPr lvl="1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714348" y="2786058"/>
            <a:ext cx="1928826" cy="85725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new person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 bwMode="auto">
          <a:xfrm>
            <a:off x="2643174" y="3143248"/>
            <a:ext cx="2714644" cy="78581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71868" y="2857496"/>
            <a:ext cx="1210588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操作符重载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7884" y="3429000"/>
            <a:ext cx="1425390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空间足够吗？</a:t>
            </a:r>
          </a:p>
        </p:txBody>
      </p:sp>
      <p:sp>
        <p:nvSpPr>
          <p:cNvPr id="13" name="流程图: 决策 12"/>
          <p:cNvSpPr/>
          <p:nvPr/>
        </p:nvSpPr>
        <p:spPr bwMode="auto">
          <a:xfrm>
            <a:off x="4500562" y="3929066"/>
            <a:ext cx="1928826" cy="928694"/>
          </a:xfrm>
          <a:prstGeom prst="flowChartDecision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scan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 bwMode="auto">
          <a:xfrm rot="5400000">
            <a:off x="4732736" y="4768463"/>
            <a:ext cx="642942" cy="82153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 bwMode="auto">
          <a:xfrm rot="16200000" flipH="1">
            <a:off x="5554272" y="4768462"/>
            <a:ext cx="642942" cy="82153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57884" y="4786322"/>
            <a:ext cx="598241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足够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1360" y="5643578"/>
            <a:ext cx="2252540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在可用容器内分配空间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6248" y="4714884"/>
            <a:ext cx="598241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不够</a:t>
            </a:r>
          </a:p>
        </p:txBody>
      </p:sp>
      <p:sp>
        <p:nvSpPr>
          <p:cNvPr id="17" name="矩形 16"/>
          <p:cNvSpPr/>
          <p:nvPr/>
        </p:nvSpPr>
        <p:spPr bwMode="auto">
          <a:xfrm>
            <a:off x="1714480" y="5429264"/>
            <a:ext cx="2786082" cy="785818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create new space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18" name="直接箭头连接符 17"/>
          <p:cNvCxnSpPr>
            <a:endCxn id="21" idx="1"/>
          </p:cNvCxnSpPr>
          <p:nvPr/>
        </p:nvCxnSpPr>
        <p:spPr bwMode="auto">
          <a:xfrm>
            <a:off x="4643438" y="5786454"/>
            <a:ext cx="1247922" cy="1409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4" grpId="0"/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2.2	</a:t>
            </a:r>
            <a:r>
              <a:rPr lang="zh-CN" altLang="en-US" dirty="0"/>
              <a:t>具体策略的选择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容器内的</a:t>
            </a:r>
            <a:r>
              <a:rPr lang="en-US" altLang="zh-CN" dirty="0"/>
              <a:t>Person</a:t>
            </a:r>
            <a:r>
              <a:rPr lang="zh-CN" altLang="en-US" dirty="0"/>
              <a:t>以何种形式存储？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柱形 4"/>
          <p:cNvSpPr/>
          <p:nvPr/>
        </p:nvSpPr>
        <p:spPr bwMode="auto">
          <a:xfrm>
            <a:off x="4429124" y="571480"/>
            <a:ext cx="3643338" cy="5643602"/>
          </a:xfrm>
          <a:prstGeom prst="can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572132" y="1857364"/>
            <a:ext cx="1285884" cy="1143008"/>
          </a:xfrm>
          <a:prstGeom prst="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pic>
        <p:nvPicPr>
          <p:cNvPr id="1026" name="Picture 2" descr="D:\Documents\Pictures\rBACE1NhsZ-j8ojzAADSy8iBDAM37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2714620"/>
            <a:ext cx="2357454" cy="3144843"/>
          </a:xfrm>
          <a:prstGeom prst="rect">
            <a:avLst/>
          </a:prstGeom>
          <a:noFill/>
        </p:spPr>
      </p:pic>
      <p:sp>
        <p:nvSpPr>
          <p:cNvPr id="6" name="椭圆 5"/>
          <p:cNvSpPr/>
          <p:nvPr/>
        </p:nvSpPr>
        <p:spPr bwMode="auto">
          <a:xfrm>
            <a:off x="5643570" y="1857364"/>
            <a:ext cx="1143008" cy="1143008"/>
          </a:xfrm>
          <a:prstGeom prst="ellipse">
            <a:avLst/>
          </a:prstGeom>
          <a:solidFill>
            <a:srgbClr val="0099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572132" y="3000372"/>
            <a:ext cx="1285884" cy="1143008"/>
          </a:xfrm>
          <a:prstGeom prst="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5643570" y="3000372"/>
            <a:ext cx="1143008" cy="1143008"/>
          </a:xfrm>
          <a:prstGeom prst="ellipse">
            <a:avLst/>
          </a:prstGeom>
          <a:solidFill>
            <a:srgbClr val="009900"/>
          </a:solidFill>
          <a:ln w="9525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572132" y="4143380"/>
            <a:ext cx="1285884" cy="1143008"/>
          </a:xfrm>
          <a:prstGeom prst="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5643570" y="4143380"/>
            <a:ext cx="1143008" cy="1143008"/>
          </a:xfrm>
          <a:prstGeom prst="ellipse">
            <a:avLst/>
          </a:prstGeom>
          <a:solidFill>
            <a:srgbClr val="009900"/>
          </a:solidFill>
          <a:ln w="9525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00892" y="2147012"/>
            <a:ext cx="4286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7000892" y="3361458"/>
            <a:ext cx="4286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2</a:t>
            </a:r>
            <a:endParaRPr lang="zh-CN" alt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7000892" y="4643446"/>
            <a:ext cx="4286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3</a:t>
            </a:r>
            <a:endParaRPr lang="zh-CN" alt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571604" y="1071546"/>
            <a:ext cx="235745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b="1" dirty="0"/>
              <a:t>数组形式</a:t>
            </a:r>
          </a:p>
        </p:txBody>
      </p:sp>
      <p:cxnSp>
        <p:nvCxnSpPr>
          <p:cNvPr id="26" name="直接箭头连接符 25"/>
          <p:cNvCxnSpPr/>
          <p:nvPr/>
        </p:nvCxnSpPr>
        <p:spPr bwMode="auto">
          <a:xfrm>
            <a:off x="4500562" y="2428868"/>
            <a:ext cx="1000132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867012" y="2214554"/>
            <a:ext cx="177642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available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柱形 4"/>
          <p:cNvSpPr/>
          <p:nvPr/>
        </p:nvSpPr>
        <p:spPr bwMode="auto">
          <a:xfrm>
            <a:off x="4429124" y="571480"/>
            <a:ext cx="3643338" cy="5643602"/>
          </a:xfrm>
          <a:prstGeom prst="can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572132" y="1857364"/>
            <a:ext cx="1285884" cy="1143008"/>
          </a:xfrm>
          <a:prstGeom prst="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pic>
        <p:nvPicPr>
          <p:cNvPr id="1026" name="Picture 2" descr="D:\Documents\Pictures\rBACE1NhsZ-j8ojzAADSy8iBDAM37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2713025"/>
            <a:ext cx="2357454" cy="3144843"/>
          </a:xfrm>
          <a:prstGeom prst="rect">
            <a:avLst/>
          </a:prstGeom>
          <a:noFill/>
        </p:spPr>
      </p:pic>
      <p:sp>
        <p:nvSpPr>
          <p:cNvPr id="6" name="椭圆 5"/>
          <p:cNvSpPr/>
          <p:nvPr/>
        </p:nvSpPr>
        <p:spPr bwMode="auto">
          <a:xfrm>
            <a:off x="5643570" y="1857364"/>
            <a:ext cx="1143008" cy="1143008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572132" y="3000372"/>
            <a:ext cx="1285884" cy="1143008"/>
          </a:xfrm>
          <a:prstGeom prst="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5643570" y="3000372"/>
            <a:ext cx="1143008" cy="1143008"/>
          </a:xfrm>
          <a:prstGeom prst="ellipse">
            <a:avLst/>
          </a:prstGeom>
          <a:solidFill>
            <a:srgbClr val="009900"/>
          </a:solidFill>
          <a:ln w="9525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572132" y="4143380"/>
            <a:ext cx="1285884" cy="1143008"/>
          </a:xfrm>
          <a:prstGeom prst="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5643570" y="4143380"/>
            <a:ext cx="1143008" cy="1143008"/>
          </a:xfrm>
          <a:prstGeom prst="ellipse">
            <a:avLst/>
          </a:prstGeom>
          <a:solidFill>
            <a:srgbClr val="009900"/>
          </a:solidFill>
          <a:ln w="9525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00892" y="2147012"/>
            <a:ext cx="4286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7000892" y="3361458"/>
            <a:ext cx="4286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2</a:t>
            </a:r>
            <a:endParaRPr lang="zh-CN" alt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7000892" y="4643446"/>
            <a:ext cx="4286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3</a:t>
            </a:r>
            <a:endParaRPr lang="zh-CN" alt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571604" y="1071546"/>
            <a:ext cx="235745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#1</a:t>
            </a:r>
            <a:r>
              <a:rPr lang="zh-CN" altLang="en-US" b="1" dirty="0"/>
              <a:t>被使用</a:t>
            </a:r>
          </a:p>
        </p:txBody>
      </p:sp>
      <p:cxnSp>
        <p:nvCxnSpPr>
          <p:cNvPr id="26" name="直接箭头连接符 25"/>
          <p:cNvCxnSpPr/>
          <p:nvPr/>
        </p:nvCxnSpPr>
        <p:spPr bwMode="auto">
          <a:xfrm>
            <a:off x="4500562" y="3498850"/>
            <a:ext cx="1000132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867012" y="3290020"/>
            <a:ext cx="177642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available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柱形 4"/>
          <p:cNvSpPr/>
          <p:nvPr/>
        </p:nvSpPr>
        <p:spPr bwMode="auto">
          <a:xfrm>
            <a:off x="4429124" y="571480"/>
            <a:ext cx="3643338" cy="5643602"/>
          </a:xfrm>
          <a:prstGeom prst="can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5572132" y="1857364"/>
            <a:ext cx="1285884" cy="1143008"/>
          </a:xfrm>
          <a:prstGeom prst="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pic>
        <p:nvPicPr>
          <p:cNvPr id="1026" name="Picture 2" descr="D:\Documents\Pictures\rBACE1NhsZ-j8ojzAADSy8iBDAM37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2713025"/>
            <a:ext cx="2357454" cy="3144843"/>
          </a:xfrm>
          <a:prstGeom prst="rect">
            <a:avLst/>
          </a:prstGeom>
          <a:noFill/>
        </p:spPr>
      </p:pic>
      <p:sp>
        <p:nvSpPr>
          <p:cNvPr id="6" name="椭圆 5"/>
          <p:cNvSpPr/>
          <p:nvPr/>
        </p:nvSpPr>
        <p:spPr bwMode="auto">
          <a:xfrm>
            <a:off x="5643570" y="1857364"/>
            <a:ext cx="1143008" cy="1143008"/>
          </a:xfrm>
          <a:prstGeom prst="ellipse">
            <a:avLst/>
          </a:prstGeom>
          <a:solidFill>
            <a:srgbClr val="0099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572132" y="3000372"/>
            <a:ext cx="1285884" cy="1143008"/>
          </a:xfrm>
          <a:prstGeom prst="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5643570" y="3000372"/>
            <a:ext cx="1143008" cy="1143008"/>
          </a:xfrm>
          <a:prstGeom prst="ellipse">
            <a:avLst/>
          </a:prstGeom>
          <a:solidFill>
            <a:srgbClr val="009900"/>
          </a:solidFill>
          <a:ln w="9525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572132" y="4143380"/>
            <a:ext cx="1285884" cy="1143008"/>
          </a:xfrm>
          <a:prstGeom prst="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5643570" y="4143380"/>
            <a:ext cx="1143008" cy="1143008"/>
          </a:xfrm>
          <a:prstGeom prst="ellipse">
            <a:avLst/>
          </a:prstGeom>
          <a:solidFill>
            <a:srgbClr val="009900"/>
          </a:solidFill>
          <a:ln w="9525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00892" y="2147012"/>
            <a:ext cx="4286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7000892" y="3361458"/>
            <a:ext cx="4286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2</a:t>
            </a:r>
            <a:endParaRPr lang="zh-CN" alt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7000892" y="4643446"/>
            <a:ext cx="4286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3</a:t>
            </a:r>
            <a:endParaRPr lang="zh-CN" alt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571604" y="1071546"/>
            <a:ext cx="235745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#1</a:t>
            </a:r>
            <a:r>
              <a:rPr lang="zh-CN" altLang="en-US" b="1" dirty="0"/>
              <a:t>被归还</a:t>
            </a:r>
          </a:p>
        </p:txBody>
      </p:sp>
      <p:cxnSp>
        <p:nvCxnSpPr>
          <p:cNvPr id="26" name="直接箭头连接符 25"/>
          <p:cNvCxnSpPr/>
          <p:nvPr/>
        </p:nvCxnSpPr>
        <p:spPr bwMode="auto">
          <a:xfrm>
            <a:off x="4500562" y="3498850"/>
            <a:ext cx="1000132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867012" y="3290020"/>
            <a:ext cx="177642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available</a:t>
            </a:r>
            <a:endParaRPr lang="zh-CN" alt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571472" y="6131502"/>
            <a:ext cx="3857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2000" b="1" u="sng" dirty="0">
                <a:solidFill>
                  <a:srgbClr val="FF0000"/>
                </a:solidFill>
              </a:rPr>
              <a:t>需要额外空间记录当前可用位置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662" y="2214554"/>
            <a:ext cx="3643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2000" b="1" dirty="0">
                <a:solidFill>
                  <a:srgbClr val="7030A0"/>
                </a:solidFill>
              </a:rPr>
              <a:t>当前哪几个位置可用？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柱形 4"/>
          <p:cNvSpPr/>
          <p:nvPr/>
        </p:nvSpPr>
        <p:spPr bwMode="auto">
          <a:xfrm>
            <a:off x="4429124" y="571480"/>
            <a:ext cx="3643338" cy="5643602"/>
          </a:xfrm>
          <a:prstGeom prst="can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pic>
        <p:nvPicPr>
          <p:cNvPr id="1026" name="Picture 2" descr="D:\Documents\Pictures\rBACE1NhsZ-j8ojzAADSy8iBDAM37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2713025"/>
            <a:ext cx="2357454" cy="3144843"/>
          </a:xfrm>
          <a:prstGeom prst="rect">
            <a:avLst/>
          </a:prstGeom>
          <a:noFill/>
        </p:spPr>
      </p:pic>
      <p:sp>
        <p:nvSpPr>
          <p:cNvPr id="6" name="椭圆 5"/>
          <p:cNvSpPr/>
          <p:nvPr/>
        </p:nvSpPr>
        <p:spPr bwMode="auto">
          <a:xfrm>
            <a:off x="5572132" y="1714488"/>
            <a:ext cx="1143008" cy="1143008"/>
          </a:xfrm>
          <a:prstGeom prst="ellipse">
            <a:avLst/>
          </a:prstGeom>
          <a:solidFill>
            <a:srgbClr val="0099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6500826" y="3429000"/>
            <a:ext cx="1143008" cy="1143008"/>
          </a:xfrm>
          <a:prstGeom prst="ellipse">
            <a:avLst/>
          </a:prstGeom>
          <a:solidFill>
            <a:srgbClr val="009900"/>
          </a:solidFill>
          <a:ln w="9525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5072066" y="4714884"/>
            <a:ext cx="1143008" cy="1143008"/>
          </a:xfrm>
          <a:prstGeom prst="ellipse">
            <a:avLst/>
          </a:prstGeom>
          <a:solidFill>
            <a:srgbClr val="009900"/>
          </a:solidFill>
          <a:ln w="9525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71604" y="1071546"/>
            <a:ext cx="235745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b="1" dirty="0"/>
              <a:t>自嵌入链表形式</a:t>
            </a:r>
          </a:p>
        </p:txBody>
      </p:sp>
      <p:cxnSp>
        <p:nvCxnSpPr>
          <p:cNvPr id="26" name="直接箭头连接符 25"/>
          <p:cNvCxnSpPr/>
          <p:nvPr/>
        </p:nvCxnSpPr>
        <p:spPr bwMode="auto">
          <a:xfrm>
            <a:off x="4500562" y="2428868"/>
            <a:ext cx="1000132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867012" y="2214554"/>
            <a:ext cx="177642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available</a:t>
            </a:r>
            <a:endParaRPr lang="zh-CN" altLang="en-US" b="1" dirty="0"/>
          </a:p>
        </p:txBody>
      </p:sp>
      <p:cxnSp>
        <p:nvCxnSpPr>
          <p:cNvPr id="18" name="直接箭头连接符 17"/>
          <p:cNvCxnSpPr/>
          <p:nvPr/>
        </p:nvCxnSpPr>
        <p:spPr bwMode="auto">
          <a:xfrm rot="16200000" flipH="1">
            <a:off x="6393669" y="2893215"/>
            <a:ext cx="571504" cy="50006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 bwMode="auto">
          <a:xfrm rot="5400000">
            <a:off x="6429388" y="4714884"/>
            <a:ext cx="428628" cy="42862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53226" y="2647078"/>
            <a:ext cx="106204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next</a:t>
            </a:r>
            <a:endParaRPr lang="zh-CN" altLang="en-US" b="1" dirty="0"/>
          </a:p>
        </p:txBody>
      </p:sp>
      <p:cxnSp>
        <p:nvCxnSpPr>
          <p:cNvPr id="29" name="直接箭头连接符 28"/>
          <p:cNvCxnSpPr/>
          <p:nvPr/>
        </p:nvCxnSpPr>
        <p:spPr bwMode="auto">
          <a:xfrm rot="5400000">
            <a:off x="4643438" y="5929330"/>
            <a:ext cx="428628" cy="42862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428992" y="6215082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NULL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柱形 4"/>
          <p:cNvSpPr/>
          <p:nvPr/>
        </p:nvSpPr>
        <p:spPr bwMode="auto">
          <a:xfrm>
            <a:off x="4429124" y="571480"/>
            <a:ext cx="3643338" cy="5643602"/>
          </a:xfrm>
          <a:prstGeom prst="can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5572132" y="1714488"/>
            <a:ext cx="1143008" cy="1143008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6500826" y="3429000"/>
            <a:ext cx="1143008" cy="1143008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5072066" y="4714884"/>
            <a:ext cx="1143008" cy="1143008"/>
          </a:xfrm>
          <a:prstGeom prst="ellipse">
            <a:avLst/>
          </a:prstGeom>
          <a:solidFill>
            <a:srgbClr val="009900"/>
          </a:solidFill>
          <a:ln w="9525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71604" y="1071546"/>
            <a:ext cx="235745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#1</a:t>
            </a:r>
            <a:r>
              <a:rPr lang="zh-CN" altLang="en-US" b="1" dirty="0"/>
              <a:t>，</a:t>
            </a:r>
            <a:r>
              <a:rPr lang="en-US" altLang="zh-CN" b="1" dirty="0"/>
              <a:t>2</a:t>
            </a:r>
            <a:r>
              <a:rPr lang="zh-CN" altLang="en-US" b="1" dirty="0"/>
              <a:t>被使用</a:t>
            </a:r>
          </a:p>
        </p:txBody>
      </p:sp>
      <p:cxnSp>
        <p:nvCxnSpPr>
          <p:cNvPr id="26" name="直接箭头连接符 25"/>
          <p:cNvCxnSpPr/>
          <p:nvPr/>
        </p:nvCxnSpPr>
        <p:spPr bwMode="auto">
          <a:xfrm>
            <a:off x="4214810" y="5286388"/>
            <a:ext cx="1000132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643174" y="5147408"/>
            <a:ext cx="177642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available</a:t>
            </a:r>
            <a:endParaRPr lang="zh-CN" altLang="en-US" b="1" dirty="0"/>
          </a:p>
        </p:txBody>
      </p:sp>
      <p:cxnSp>
        <p:nvCxnSpPr>
          <p:cNvPr id="18" name="直接箭头连接符 17"/>
          <p:cNvCxnSpPr/>
          <p:nvPr/>
        </p:nvCxnSpPr>
        <p:spPr bwMode="auto">
          <a:xfrm rot="16200000" flipH="1">
            <a:off x="6393669" y="2893215"/>
            <a:ext cx="571504" cy="50006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 bwMode="auto">
          <a:xfrm rot="5400000">
            <a:off x="6286512" y="4643446"/>
            <a:ext cx="428628" cy="42862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53226" y="2647078"/>
            <a:ext cx="106204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next</a:t>
            </a:r>
            <a:endParaRPr lang="zh-CN" altLang="en-US" b="1" dirty="0"/>
          </a:p>
        </p:txBody>
      </p:sp>
      <p:cxnSp>
        <p:nvCxnSpPr>
          <p:cNvPr id="16" name="直接箭头连接符 15"/>
          <p:cNvCxnSpPr/>
          <p:nvPr/>
        </p:nvCxnSpPr>
        <p:spPr bwMode="auto">
          <a:xfrm rot="5400000">
            <a:off x="4643438" y="5929330"/>
            <a:ext cx="428628" cy="42862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428992" y="6215082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NULL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1472" y="3243374"/>
            <a:ext cx="3286148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available = available-&gt;next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柱形 4"/>
          <p:cNvSpPr/>
          <p:nvPr/>
        </p:nvSpPr>
        <p:spPr bwMode="auto">
          <a:xfrm>
            <a:off x="4429124" y="571480"/>
            <a:ext cx="3643338" cy="5643602"/>
          </a:xfrm>
          <a:prstGeom prst="can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5572132" y="1714488"/>
            <a:ext cx="1143008" cy="1143008"/>
          </a:xfrm>
          <a:prstGeom prst="ellipse">
            <a:avLst/>
          </a:prstGeom>
          <a:solidFill>
            <a:srgbClr val="0099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6500826" y="3429000"/>
            <a:ext cx="1143008" cy="1143008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5072066" y="4714884"/>
            <a:ext cx="1143008" cy="1143008"/>
          </a:xfrm>
          <a:prstGeom prst="ellipse">
            <a:avLst/>
          </a:prstGeom>
          <a:solidFill>
            <a:srgbClr val="009900"/>
          </a:solidFill>
          <a:ln w="9525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71604" y="1071546"/>
            <a:ext cx="235745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#1</a:t>
            </a:r>
            <a:r>
              <a:rPr lang="zh-CN" altLang="en-US" b="1" dirty="0"/>
              <a:t>被归还</a:t>
            </a:r>
          </a:p>
        </p:txBody>
      </p:sp>
      <p:cxnSp>
        <p:nvCxnSpPr>
          <p:cNvPr id="26" name="直接箭头连接符 25"/>
          <p:cNvCxnSpPr/>
          <p:nvPr/>
        </p:nvCxnSpPr>
        <p:spPr bwMode="auto">
          <a:xfrm>
            <a:off x="4429124" y="2355842"/>
            <a:ext cx="1000132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95574" y="2147012"/>
            <a:ext cx="177642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available</a:t>
            </a:r>
            <a:endParaRPr lang="zh-CN" altLang="en-US" b="1" dirty="0"/>
          </a:p>
        </p:txBody>
      </p:sp>
      <p:cxnSp>
        <p:nvCxnSpPr>
          <p:cNvPr id="18" name="直接箭头连接符 17"/>
          <p:cNvCxnSpPr/>
          <p:nvPr/>
        </p:nvCxnSpPr>
        <p:spPr bwMode="auto">
          <a:xfrm rot="5400000">
            <a:off x="5179223" y="3679033"/>
            <a:ext cx="1571636" cy="21431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 bwMode="auto">
          <a:xfrm rot="5400000">
            <a:off x="6286512" y="4572008"/>
            <a:ext cx="428628" cy="42862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929190" y="3790086"/>
            <a:ext cx="106204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next</a:t>
            </a:r>
            <a:endParaRPr lang="zh-CN" altLang="en-US" b="1" dirty="0"/>
          </a:p>
        </p:txBody>
      </p:sp>
      <p:cxnSp>
        <p:nvCxnSpPr>
          <p:cNvPr id="15" name="直接箭头连接符 14"/>
          <p:cNvCxnSpPr/>
          <p:nvPr/>
        </p:nvCxnSpPr>
        <p:spPr bwMode="auto">
          <a:xfrm rot="5400000">
            <a:off x="4643438" y="5929330"/>
            <a:ext cx="428628" cy="42862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28992" y="6215082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NULL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1472" y="3243374"/>
            <a:ext cx="3286148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assume #1 as p</a:t>
            </a:r>
          </a:p>
          <a:p>
            <a:pPr algn="l" eaLnBrk="1" hangingPunct="1">
              <a:lnSpc>
                <a:spcPct val="90000"/>
              </a:lnSpc>
              <a:buNone/>
            </a:pPr>
            <a:endParaRPr lang="en-US" altLang="zh-CN" b="1" dirty="0">
              <a:solidFill>
                <a:srgbClr val="FF0000"/>
              </a:solidFill>
            </a:endParaRP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p-&gt;next = available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available = p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柱形 4"/>
          <p:cNvSpPr/>
          <p:nvPr/>
        </p:nvSpPr>
        <p:spPr bwMode="auto">
          <a:xfrm>
            <a:off x="5419732" y="571480"/>
            <a:ext cx="3643338" cy="5643602"/>
          </a:xfrm>
          <a:prstGeom prst="can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5919798" y="1714488"/>
            <a:ext cx="1143008" cy="1143008"/>
          </a:xfrm>
          <a:prstGeom prst="ellipse">
            <a:avLst/>
          </a:prstGeom>
          <a:solidFill>
            <a:srgbClr val="0099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6848492" y="3429000"/>
            <a:ext cx="1143008" cy="1143008"/>
          </a:xfrm>
          <a:prstGeom prst="ellipse">
            <a:avLst/>
          </a:prstGeom>
          <a:solidFill>
            <a:srgbClr val="009900"/>
          </a:solidFill>
          <a:ln w="9525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7143768" y="4929198"/>
            <a:ext cx="1143008" cy="1143008"/>
          </a:xfrm>
          <a:prstGeom prst="ellipse">
            <a:avLst/>
          </a:prstGeom>
          <a:solidFill>
            <a:srgbClr val="009900"/>
          </a:solidFill>
          <a:ln w="9525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71604" y="1071546"/>
            <a:ext cx="2357454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b="1" dirty="0"/>
              <a:t>自嵌入链表形式</a:t>
            </a:r>
          </a:p>
        </p:txBody>
      </p:sp>
      <p:cxnSp>
        <p:nvCxnSpPr>
          <p:cNvPr id="26" name="直接箭头连接符 25"/>
          <p:cNvCxnSpPr/>
          <p:nvPr/>
        </p:nvCxnSpPr>
        <p:spPr bwMode="auto">
          <a:xfrm rot="10800000" flipV="1">
            <a:off x="7143768" y="2143116"/>
            <a:ext cx="357190" cy="21431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39044" y="1643050"/>
            <a:ext cx="177642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available</a:t>
            </a:r>
            <a:endParaRPr lang="zh-CN" altLang="en-US" b="1" dirty="0"/>
          </a:p>
        </p:txBody>
      </p:sp>
      <p:cxnSp>
        <p:nvCxnSpPr>
          <p:cNvPr id="18" name="直接箭头连接符 17"/>
          <p:cNvCxnSpPr/>
          <p:nvPr/>
        </p:nvCxnSpPr>
        <p:spPr bwMode="auto">
          <a:xfrm rot="16200000" flipH="1">
            <a:off x="6741335" y="2893215"/>
            <a:ext cx="571504" cy="50006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 bwMode="auto">
          <a:xfrm rot="16200000" flipH="1">
            <a:off x="7715272" y="4643446"/>
            <a:ext cx="285752" cy="14287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00892" y="2647078"/>
            <a:ext cx="106204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next</a:t>
            </a:r>
            <a:endParaRPr lang="zh-CN" altLang="en-US" b="1" dirty="0"/>
          </a:p>
        </p:txBody>
      </p:sp>
      <p:cxnSp>
        <p:nvCxnSpPr>
          <p:cNvPr id="29" name="直接箭头连接符 28"/>
          <p:cNvCxnSpPr/>
          <p:nvPr/>
        </p:nvCxnSpPr>
        <p:spPr bwMode="auto">
          <a:xfrm rot="5400000">
            <a:off x="6929454" y="6143644"/>
            <a:ext cx="428628" cy="42862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715008" y="6286520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NULL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1472" y="2357430"/>
            <a:ext cx="314327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endParaRPr lang="zh-CN" altLang="en-US" sz="1200" dirty="0"/>
          </a:p>
        </p:txBody>
      </p:sp>
      <p:pic>
        <p:nvPicPr>
          <p:cNvPr id="22529" name="Picture 1" descr="C:\Users\Administrator\AppData\Roaming\Tencent\Users\405024670\QQ\WinTemp\RichOle\ENW6T06{)58OU@F1VV]6%B7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1785926"/>
            <a:ext cx="4643470" cy="48496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 bwMode="auto">
          <a:xfrm>
            <a:off x="1142976" y="428604"/>
            <a:ext cx="3643338" cy="6072230"/>
          </a:xfrm>
          <a:prstGeom prst="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1214414" y="1071546"/>
            <a:ext cx="3500462" cy="2000264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>
            <a:headEnd type="none" w="med" len="med"/>
            <a:tailEnd type="triangl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1357290" y="1142984"/>
            <a:ext cx="3214710" cy="1143008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Person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1357290" y="2428868"/>
            <a:ext cx="3214710" cy="50006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next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1214414" y="3143248"/>
            <a:ext cx="3500462" cy="2000264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>
            <a:headEnd type="none" w="med" len="med"/>
            <a:tailEnd type="triangl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1357290" y="3214686"/>
            <a:ext cx="3214710" cy="1143008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Person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1" name="矩形 30"/>
          <p:cNvSpPr/>
          <p:nvPr/>
        </p:nvSpPr>
        <p:spPr bwMode="auto">
          <a:xfrm>
            <a:off x="1357290" y="4500570"/>
            <a:ext cx="3214710" cy="50006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next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769051" y="5429264"/>
            <a:ext cx="517065" cy="92869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/>
              <a:t>……</a:t>
            </a:r>
            <a:endParaRPr lang="zh-CN" altLang="en-US" b="1" dirty="0"/>
          </a:p>
        </p:txBody>
      </p:sp>
      <p:pic>
        <p:nvPicPr>
          <p:cNvPr id="10" name="Picture 1" descr="C:\Users\softwware\AppData\Roaming\Tencent\Users\405024670\QQ\WinTemp\RichOle\F%%K)[W3`16PF1T3]197FVJ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428868"/>
            <a:ext cx="4191000" cy="2209800"/>
          </a:xfrm>
          <a:prstGeom prst="rect">
            <a:avLst/>
          </a:prstGeom>
          <a:noFill/>
        </p:spPr>
      </p:pic>
      <p:sp>
        <p:nvSpPr>
          <p:cNvPr id="12" name="矩形 11"/>
          <p:cNvSpPr/>
          <p:nvPr/>
        </p:nvSpPr>
        <p:spPr bwMode="auto">
          <a:xfrm>
            <a:off x="1357290" y="500042"/>
            <a:ext cx="3214710" cy="50006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next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714348" y="2714620"/>
            <a:ext cx="1643074" cy="3286148"/>
            <a:chOff x="1643042" y="1000108"/>
            <a:chExt cx="3643338" cy="5500726"/>
          </a:xfrm>
        </p:grpSpPr>
        <p:sp>
          <p:nvSpPr>
            <p:cNvPr id="17" name="矩形 16"/>
            <p:cNvSpPr/>
            <p:nvPr/>
          </p:nvSpPr>
          <p:spPr bwMode="auto">
            <a:xfrm>
              <a:off x="1643042" y="1000108"/>
              <a:ext cx="3643338" cy="5500726"/>
            </a:xfrm>
            <a:prstGeom prst="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 bwMode="auto">
            <a:xfrm>
              <a:off x="1714480" y="1071546"/>
              <a:ext cx="3500462" cy="2000264"/>
            </a:xfrm>
            <a:prstGeom prst="rect">
              <a:avLst/>
            </a:prstGeom>
            <a:solidFill>
              <a:schemeClr val="accent4">
                <a:lumMod val="50000"/>
                <a:lumOff val="5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3" name="矩形 22"/>
            <p:cNvSpPr/>
            <p:nvPr/>
          </p:nvSpPr>
          <p:spPr bwMode="auto">
            <a:xfrm>
              <a:off x="1857356" y="1142984"/>
              <a:ext cx="3214710" cy="1143008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Person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1857356" y="2428868"/>
              <a:ext cx="3214710" cy="5000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next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1714480" y="3143248"/>
              <a:ext cx="3500462" cy="2000264"/>
            </a:xfrm>
            <a:prstGeom prst="rect">
              <a:avLst/>
            </a:prstGeom>
            <a:solidFill>
              <a:schemeClr val="accent4">
                <a:lumMod val="50000"/>
                <a:lumOff val="5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30" name="矩形 29"/>
            <p:cNvSpPr/>
            <p:nvPr/>
          </p:nvSpPr>
          <p:spPr bwMode="auto">
            <a:xfrm>
              <a:off x="1857356" y="3214686"/>
              <a:ext cx="3214710" cy="1143008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Person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31" name="矩形 30"/>
            <p:cNvSpPr/>
            <p:nvPr/>
          </p:nvSpPr>
          <p:spPr bwMode="auto">
            <a:xfrm>
              <a:off x="1857356" y="4500570"/>
              <a:ext cx="3214710" cy="5000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next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269117" y="5429264"/>
              <a:ext cx="517065" cy="92869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l" eaLnBrk="1" hangingPunct="1">
                <a:lnSpc>
                  <a:spcPct val="90000"/>
                </a:lnSpc>
                <a:buNone/>
              </a:pPr>
              <a:r>
                <a:rPr lang="en-US" altLang="zh-CN" b="1" dirty="0"/>
                <a:t>……</a:t>
              </a:r>
              <a:endParaRPr lang="zh-CN" altLang="en-US" b="1" dirty="0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214678" y="2643182"/>
            <a:ext cx="1643074" cy="3357586"/>
            <a:chOff x="1643042" y="1000108"/>
            <a:chExt cx="3643338" cy="5500726"/>
          </a:xfrm>
        </p:grpSpPr>
        <p:sp>
          <p:nvSpPr>
            <p:cNvPr id="38" name="矩形 37"/>
            <p:cNvSpPr/>
            <p:nvPr/>
          </p:nvSpPr>
          <p:spPr bwMode="auto">
            <a:xfrm>
              <a:off x="1643042" y="1000108"/>
              <a:ext cx="3643338" cy="5500726"/>
            </a:xfrm>
            <a:prstGeom prst="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39" name="矩形 38"/>
            <p:cNvSpPr/>
            <p:nvPr/>
          </p:nvSpPr>
          <p:spPr bwMode="auto">
            <a:xfrm>
              <a:off x="1714480" y="1071546"/>
              <a:ext cx="3500462" cy="2000264"/>
            </a:xfrm>
            <a:prstGeom prst="rect">
              <a:avLst/>
            </a:prstGeom>
            <a:solidFill>
              <a:schemeClr val="accent4">
                <a:lumMod val="50000"/>
                <a:lumOff val="5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0" name="矩形 39"/>
            <p:cNvSpPr/>
            <p:nvPr/>
          </p:nvSpPr>
          <p:spPr bwMode="auto">
            <a:xfrm>
              <a:off x="1857356" y="1142984"/>
              <a:ext cx="3214710" cy="1143008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Person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1" name="矩形 40"/>
            <p:cNvSpPr/>
            <p:nvPr/>
          </p:nvSpPr>
          <p:spPr bwMode="auto">
            <a:xfrm>
              <a:off x="1857356" y="2428868"/>
              <a:ext cx="3214710" cy="5000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next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2" name="矩形 41"/>
            <p:cNvSpPr/>
            <p:nvPr/>
          </p:nvSpPr>
          <p:spPr bwMode="auto">
            <a:xfrm>
              <a:off x="1714480" y="3143248"/>
              <a:ext cx="3500462" cy="2000264"/>
            </a:xfrm>
            <a:prstGeom prst="rect">
              <a:avLst/>
            </a:prstGeom>
            <a:solidFill>
              <a:schemeClr val="accent4">
                <a:lumMod val="50000"/>
                <a:lumOff val="5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1857356" y="3214686"/>
              <a:ext cx="3214710" cy="1143008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Person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4" name="矩形 43"/>
            <p:cNvSpPr/>
            <p:nvPr/>
          </p:nvSpPr>
          <p:spPr bwMode="auto">
            <a:xfrm>
              <a:off x="1857356" y="4500570"/>
              <a:ext cx="3214710" cy="5000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next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269117" y="5429264"/>
              <a:ext cx="517065" cy="92869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l" eaLnBrk="1" hangingPunct="1">
                <a:lnSpc>
                  <a:spcPct val="90000"/>
                </a:lnSpc>
                <a:buNone/>
              </a:pPr>
              <a:r>
                <a:rPr lang="en-US" altLang="zh-CN" b="1" dirty="0"/>
                <a:t>……</a:t>
              </a:r>
              <a:endParaRPr lang="zh-CN" altLang="en-US" b="1" dirty="0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5643570" y="2643182"/>
            <a:ext cx="1643074" cy="3357586"/>
            <a:chOff x="1643042" y="1000108"/>
            <a:chExt cx="3643338" cy="5500726"/>
          </a:xfrm>
        </p:grpSpPr>
        <p:sp>
          <p:nvSpPr>
            <p:cNvPr id="47" name="矩形 46"/>
            <p:cNvSpPr/>
            <p:nvPr/>
          </p:nvSpPr>
          <p:spPr bwMode="auto">
            <a:xfrm>
              <a:off x="1643042" y="1000108"/>
              <a:ext cx="3643338" cy="5500726"/>
            </a:xfrm>
            <a:prstGeom prst="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8" name="矩形 47"/>
            <p:cNvSpPr/>
            <p:nvPr/>
          </p:nvSpPr>
          <p:spPr bwMode="auto">
            <a:xfrm>
              <a:off x="1714480" y="1071546"/>
              <a:ext cx="3500462" cy="2000264"/>
            </a:xfrm>
            <a:prstGeom prst="rect">
              <a:avLst/>
            </a:prstGeom>
            <a:solidFill>
              <a:schemeClr val="accent4">
                <a:lumMod val="50000"/>
                <a:lumOff val="5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" name="矩形 48"/>
            <p:cNvSpPr/>
            <p:nvPr/>
          </p:nvSpPr>
          <p:spPr bwMode="auto">
            <a:xfrm>
              <a:off x="1857356" y="1142984"/>
              <a:ext cx="3214710" cy="1143008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Person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1857356" y="2428868"/>
              <a:ext cx="3214710" cy="5000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next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 bwMode="auto">
            <a:xfrm>
              <a:off x="1714480" y="3143248"/>
              <a:ext cx="3500462" cy="2000264"/>
            </a:xfrm>
            <a:prstGeom prst="rect">
              <a:avLst/>
            </a:prstGeom>
            <a:solidFill>
              <a:schemeClr val="accent4">
                <a:lumMod val="50000"/>
                <a:lumOff val="5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 bwMode="auto">
            <a:xfrm>
              <a:off x="1857356" y="3214686"/>
              <a:ext cx="3214710" cy="1143008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Person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3" name="矩形 52"/>
            <p:cNvSpPr/>
            <p:nvPr/>
          </p:nvSpPr>
          <p:spPr bwMode="auto">
            <a:xfrm>
              <a:off x="1857356" y="4500570"/>
              <a:ext cx="3214710" cy="5000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next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269117" y="5429264"/>
              <a:ext cx="517065" cy="92869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l" eaLnBrk="1" hangingPunct="1">
                <a:lnSpc>
                  <a:spcPct val="90000"/>
                </a:lnSpc>
                <a:buNone/>
              </a:pPr>
              <a:r>
                <a:rPr lang="en-US" altLang="zh-CN" b="1" dirty="0"/>
                <a:t>……</a:t>
              </a:r>
              <a:endParaRPr lang="zh-CN" altLang="en-US" b="1" dirty="0"/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7643834" y="3929066"/>
            <a:ext cx="1285852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400" b="1" dirty="0"/>
              <a:t>。。。。。。</a:t>
            </a:r>
          </a:p>
        </p:txBody>
      </p:sp>
      <p:sp>
        <p:nvSpPr>
          <p:cNvPr id="33" name="矩形 32"/>
          <p:cNvSpPr/>
          <p:nvPr/>
        </p:nvSpPr>
        <p:spPr bwMode="auto">
          <a:xfrm>
            <a:off x="714348" y="2071678"/>
            <a:ext cx="1643074" cy="50006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next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4" name="矩形 33"/>
          <p:cNvSpPr/>
          <p:nvPr/>
        </p:nvSpPr>
        <p:spPr bwMode="auto">
          <a:xfrm>
            <a:off x="3214678" y="2071678"/>
            <a:ext cx="1643074" cy="50006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next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643570" y="2071678"/>
            <a:ext cx="1643074" cy="50006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next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9"/>
          <p:cNvGrpSpPr/>
          <p:nvPr/>
        </p:nvGrpSpPr>
        <p:grpSpPr>
          <a:xfrm>
            <a:off x="785786" y="2643182"/>
            <a:ext cx="1643074" cy="3357586"/>
            <a:chOff x="1643042" y="1000108"/>
            <a:chExt cx="3643338" cy="5500726"/>
          </a:xfrm>
        </p:grpSpPr>
        <p:sp>
          <p:nvSpPr>
            <p:cNvPr id="17" name="矩形 16"/>
            <p:cNvSpPr/>
            <p:nvPr/>
          </p:nvSpPr>
          <p:spPr bwMode="auto">
            <a:xfrm>
              <a:off x="1643042" y="1000108"/>
              <a:ext cx="3643338" cy="5500726"/>
            </a:xfrm>
            <a:prstGeom prst="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 bwMode="auto">
            <a:xfrm>
              <a:off x="1714480" y="1071546"/>
              <a:ext cx="3500462" cy="2000264"/>
            </a:xfrm>
            <a:prstGeom prst="rect">
              <a:avLst/>
            </a:prstGeom>
            <a:solidFill>
              <a:schemeClr val="accent4">
                <a:lumMod val="50000"/>
                <a:lumOff val="5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3" name="矩形 22"/>
            <p:cNvSpPr/>
            <p:nvPr/>
          </p:nvSpPr>
          <p:spPr bwMode="auto">
            <a:xfrm>
              <a:off x="1857356" y="1142984"/>
              <a:ext cx="3214710" cy="1143008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Person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1857356" y="2428868"/>
              <a:ext cx="3214710" cy="5000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next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1714480" y="3143248"/>
              <a:ext cx="3500462" cy="2000264"/>
            </a:xfrm>
            <a:prstGeom prst="rect">
              <a:avLst/>
            </a:prstGeom>
            <a:solidFill>
              <a:schemeClr val="accent4">
                <a:lumMod val="50000"/>
                <a:lumOff val="5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30" name="矩形 29"/>
            <p:cNvSpPr/>
            <p:nvPr/>
          </p:nvSpPr>
          <p:spPr bwMode="auto">
            <a:xfrm>
              <a:off x="1857356" y="3214686"/>
              <a:ext cx="3214710" cy="1143008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Person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31" name="矩形 30"/>
            <p:cNvSpPr/>
            <p:nvPr/>
          </p:nvSpPr>
          <p:spPr bwMode="auto">
            <a:xfrm>
              <a:off x="1857356" y="4500570"/>
              <a:ext cx="3214710" cy="5000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next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269117" y="5429264"/>
              <a:ext cx="517065" cy="92869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l" eaLnBrk="1" hangingPunct="1">
                <a:lnSpc>
                  <a:spcPct val="90000"/>
                </a:lnSpc>
                <a:buNone/>
              </a:pPr>
              <a:r>
                <a:rPr lang="en-US" altLang="zh-CN" b="1" dirty="0"/>
                <a:t>……</a:t>
              </a:r>
              <a:endParaRPr lang="zh-CN" altLang="en-US" b="1" dirty="0"/>
            </a:p>
          </p:txBody>
        </p:sp>
      </p:grpSp>
      <p:grpSp>
        <p:nvGrpSpPr>
          <p:cNvPr id="3" name="组合 36"/>
          <p:cNvGrpSpPr/>
          <p:nvPr/>
        </p:nvGrpSpPr>
        <p:grpSpPr>
          <a:xfrm>
            <a:off x="3714744" y="2643182"/>
            <a:ext cx="1643074" cy="3357586"/>
            <a:chOff x="1643042" y="1000108"/>
            <a:chExt cx="3643338" cy="5500726"/>
          </a:xfrm>
        </p:grpSpPr>
        <p:sp>
          <p:nvSpPr>
            <p:cNvPr id="38" name="矩形 37"/>
            <p:cNvSpPr/>
            <p:nvPr/>
          </p:nvSpPr>
          <p:spPr bwMode="auto">
            <a:xfrm>
              <a:off x="1643042" y="1000108"/>
              <a:ext cx="3643338" cy="5500726"/>
            </a:xfrm>
            <a:prstGeom prst="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39" name="矩形 38"/>
            <p:cNvSpPr/>
            <p:nvPr/>
          </p:nvSpPr>
          <p:spPr bwMode="auto">
            <a:xfrm>
              <a:off x="1714480" y="1071546"/>
              <a:ext cx="3500462" cy="2000264"/>
            </a:xfrm>
            <a:prstGeom prst="rect">
              <a:avLst/>
            </a:prstGeom>
            <a:solidFill>
              <a:schemeClr val="accent4">
                <a:lumMod val="50000"/>
                <a:lumOff val="5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0" name="矩形 39"/>
            <p:cNvSpPr/>
            <p:nvPr/>
          </p:nvSpPr>
          <p:spPr bwMode="auto">
            <a:xfrm>
              <a:off x="1857356" y="1142984"/>
              <a:ext cx="3214710" cy="1143008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Person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1" name="矩形 40"/>
            <p:cNvSpPr/>
            <p:nvPr/>
          </p:nvSpPr>
          <p:spPr bwMode="auto">
            <a:xfrm>
              <a:off x="1857356" y="2428868"/>
              <a:ext cx="3214710" cy="5000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next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2" name="矩形 41"/>
            <p:cNvSpPr/>
            <p:nvPr/>
          </p:nvSpPr>
          <p:spPr bwMode="auto">
            <a:xfrm>
              <a:off x="1714480" y="3143248"/>
              <a:ext cx="3500462" cy="2000264"/>
            </a:xfrm>
            <a:prstGeom prst="rect">
              <a:avLst/>
            </a:prstGeom>
            <a:solidFill>
              <a:schemeClr val="accent4">
                <a:lumMod val="50000"/>
                <a:lumOff val="5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1857356" y="3214686"/>
              <a:ext cx="3214710" cy="1143008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Person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4" name="矩形 43"/>
            <p:cNvSpPr/>
            <p:nvPr/>
          </p:nvSpPr>
          <p:spPr bwMode="auto">
            <a:xfrm>
              <a:off x="1857356" y="4500570"/>
              <a:ext cx="3214710" cy="5000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next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269117" y="5429264"/>
              <a:ext cx="517065" cy="92869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l" eaLnBrk="1" hangingPunct="1">
                <a:lnSpc>
                  <a:spcPct val="90000"/>
                </a:lnSpc>
                <a:buNone/>
              </a:pPr>
              <a:r>
                <a:rPr lang="en-US" altLang="zh-CN" b="1" dirty="0"/>
                <a:t>……</a:t>
              </a:r>
              <a:endParaRPr lang="zh-CN" altLang="en-US" b="1" dirty="0"/>
            </a:p>
          </p:txBody>
        </p:sp>
      </p:grpSp>
      <p:grpSp>
        <p:nvGrpSpPr>
          <p:cNvPr id="4" name="组合 45"/>
          <p:cNvGrpSpPr/>
          <p:nvPr/>
        </p:nvGrpSpPr>
        <p:grpSpPr>
          <a:xfrm>
            <a:off x="6643702" y="2643182"/>
            <a:ext cx="1643074" cy="3357586"/>
            <a:chOff x="1643042" y="1000108"/>
            <a:chExt cx="3643338" cy="5500726"/>
          </a:xfrm>
        </p:grpSpPr>
        <p:sp>
          <p:nvSpPr>
            <p:cNvPr id="47" name="矩形 46"/>
            <p:cNvSpPr/>
            <p:nvPr/>
          </p:nvSpPr>
          <p:spPr bwMode="auto">
            <a:xfrm>
              <a:off x="1643042" y="1000108"/>
              <a:ext cx="3643338" cy="5500726"/>
            </a:xfrm>
            <a:prstGeom prst="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8" name="矩形 47"/>
            <p:cNvSpPr/>
            <p:nvPr/>
          </p:nvSpPr>
          <p:spPr bwMode="auto">
            <a:xfrm>
              <a:off x="1714480" y="1071546"/>
              <a:ext cx="3500462" cy="2000264"/>
            </a:xfrm>
            <a:prstGeom prst="rect">
              <a:avLst/>
            </a:prstGeom>
            <a:solidFill>
              <a:schemeClr val="accent4">
                <a:lumMod val="50000"/>
                <a:lumOff val="5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49" name="矩形 48"/>
            <p:cNvSpPr/>
            <p:nvPr/>
          </p:nvSpPr>
          <p:spPr bwMode="auto">
            <a:xfrm>
              <a:off x="1857356" y="1142984"/>
              <a:ext cx="3214710" cy="1143008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Person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1857356" y="2428868"/>
              <a:ext cx="3214710" cy="5000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next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 bwMode="auto">
            <a:xfrm>
              <a:off x="1714480" y="3143248"/>
              <a:ext cx="3500462" cy="2000264"/>
            </a:xfrm>
            <a:prstGeom prst="rect">
              <a:avLst/>
            </a:prstGeom>
            <a:solidFill>
              <a:schemeClr val="accent4">
                <a:lumMod val="50000"/>
                <a:lumOff val="5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 bwMode="auto">
            <a:xfrm>
              <a:off x="1857356" y="3214686"/>
              <a:ext cx="3214710" cy="1143008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Person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3" name="矩形 52"/>
            <p:cNvSpPr/>
            <p:nvPr/>
          </p:nvSpPr>
          <p:spPr bwMode="auto">
            <a:xfrm>
              <a:off x="1857356" y="4500570"/>
              <a:ext cx="3214710" cy="5000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next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269117" y="5429264"/>
              <a:ext cx="517065" cy="92869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l" eaLnBrk="1" hangingPunct="1">
                <a:lnSpc>
                  <a:spcPct val="90000"/>
                </a:lnSpc>
                <a:buNone/>
              </a:pPr>
              <a:r>
                <a:rPr lang="en-US" altLang="zh-CN" b="1" dirty="0"/>
                <a:t>……</a:t>
              </a:r>
              <a:endParaRPr lang="zh-CN" altLang="en-US" b="1" dirty="0"/>
            </a:p>
          </p:txBody>
        </p:sp>
      </p:grpSp>
      <p:sp>
        <p:nvSpPr>
          <p:cNvPr id="37" name="矩形 36"/>
          <p:cNvSpPr/>
          <p:nvPr/>
        </p:nvSpPr>
        <p:spPr bwMode="auto">
          <a:xfrm>
            <a:off x="785786" y="2071678"/>
            <a:ext cx="1643074" cy="50006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next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6" name="矩形 45"/>
          <p:cNvSpPr/>
          <p:nvPr/>
        </p:nvSpPr>
        <p:spPr bwMode="auto">
          <a:xfrm>
            <a:off x="3714744" y="2071678"/>
            <a:ext cx="1643074" cy="50006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next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5" name="矩形 54"/>
          <p:cNvSpPr/>
          <p:nvPr/>
        </p:nvSpPr>
        <p:spPr bwMode="auto">
          <a:xfrm>
            <a:off x="6643702" y="2071678"/>
            <a:ext cx="1643074" cy="50006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next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56" name="直接箭头连接符 55"/>
          <p:cNvCxnSpPr>
            <a:stCxn id="37" idx="3"/>
            <a:endCxn id="46" idx="1"/>
          </p:cNvCxnSpPr>
          <p:nvPr/>
        </p:nvCxnSpPr>
        <p:spPr bwMode="auto">
          <a:xfrm>
            <a:off x="2428860" y="2321711"/>
            <a:ext cx="1285884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stCxn id="46" idx="3"/>
            <a:endCxn id="55" idx="1"/>
          </p:cNvCxnSpPr>
          <p:nvPr/>
        </p:nvCxnSpPr>
        <p:spPr bwMode="auto">
          <a:xfrm>
            <a:off x="5357818" y="2321711"/>
            <a:ext cx="1285884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1142976" y="642918"/>
            <a:ext cx="1928826" cy="85725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new person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 bwMode="auto">
          <a:xfrm>
            <a:off x="3143240" y="1178704"/>
            <a:ext cx="3500462" cy="11072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00562" y="1000108"/>
            <a:ext cx="1210588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操作符重载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8082" y="2357430"/>
            <a:ext cx="1425390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空间足够吗？</a:t>
            </a:r>
          </a:p>
        </p:txBody>
      </p:sp>
      <p:sp>
        <p:nvSpPr>
          <p:cNvPr id="13" name="流程图: 决策 12"/>
          <p:cNvSpPr/>
          <p:nvPr/>
        </p:nvSpPr>
        <p:spPr bwMode="auto">
          <a:xfrm>
            <a:off x="5715008" y="2357430"/>
            <a:ext cx="1928826" cy="928694"/>
          </a:xfrm>
          <a:prstGeom prst="flowChartDecision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scan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14" name="直接箭头连接符 13"/>
          <p:cNvCxnSpPr>
            <a:stCxn id="13" idx="2"/>
          </p:cNvCxnSpPr>
          <p:nvPr/>
        </p:nvCxnSpPr>
        <p:spPr bwMode="auto">
          <a:xfrm rot="5400000">
            <a:off x="5625711" y="2232414"/>
            <a:ext cx="1588" cy="210742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 bwMode="auto">
          <a:xfrm rot="16200000" flipH="1">
            <a:off x="6804438" y="3196827"/>
            <a:ext cx="642942" cy="82153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15206" y="3286124"/>
            <a:ext cx="598241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足够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5140" y="4357694"/>
            <a:ext cx="2252540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在可用容器内分配空间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29190" y="2928934"/>
            <a:ext cx="598241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不够</a:t>
            </a:r>
          </a:p>
        </p:txBody>
      </p:sp>
      <p:sp>
        <p:nvSpPr>
          <p:cNvPr id="17" name="矩形 16"/>
          <p:cNvSpPr/>
          <p:nvPr/>
        </p:nvSpPr>
        <p:spPr bwMode="auto">
          <a:xfrm>
            <a:off x="1643042" y="2786058"/>
            <a:ext cx="2857520" cy="92869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create new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space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18" name="直接箭头连接符 17"/>
          <p:cNvCxnSpPr/>
          <p:nvPr/>
        </p:nvCxnSpPr>
        <p:spPr bwMode="auto">
          <a:xfrm flipV="1">
            <a:off x="5000628" y="4643446"/>
            <a:ext cx="1571636" cy="42862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 bwMode="auto">
          <a:xfrm>
            <a:off x="1785918" y="4357694"/>
            <a:ext cx="2857520" cy="92869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link action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33" name="直接箭头连接符 32"/>
          <p:cNvCxnSpPr/>
          <p:nvPr/>
        </p:nvCxnSpPr>
        <p:spPr bwMode="auto">
          <a:xfrm rot="5400000">
            <a:off x="2893207" y="4036223"/>
            <a:ext cx="500066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17" grpId="0" animBg="1"/>
      <p:bldP spid="3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1142976" y="642918"/>
            <a:ext cx="1928826" cy="85725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delete person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 bwMode="auto">
          <a:xfrm>
            <a:off x="3143240" y="1178704"/>
            <a:ext cx="3429024" cy="125016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14810" y="1142984"/>
            <a:ext cx="1210588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操作符重载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9454" y="1857364"/>
            <a:ext cx="1632178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在哪个容器中？</a:t>
            </a:r>
          </a:p>
        </p:txBody>
      </p:sp>
      <p:cxnSp>
        <p:nvCxnSpPr>
          <p:cNvPr id="14" name="直接箭头连接符 13"/>
          <p:cNvCxnSpPr>
            <a:stCxn id="19" idx="1"/>
          </p:cNvCxnSpPr>
          <p:nvPr/>
        </p:nvCxnSpPr>
        <p:spPr bwMode="auto">
          <a:xfrm rot="10800000" flipV="1">
            <a:off x="4572796" y="2745577"/>
            <a:ext cx="937423" cy="541342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857752" y="3071810"/>
            <a:ext cx="598241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sz="1600" b="1" u="sng" dirty="0"/>
              <a:t>定位</a:t>
            </a:r>
          </a:p>
        </p:txBody>
      </p:sp>
      <p:sp>
        <p:nvSpPr>
          <p:cNvPr id="17" name="矩形 16"/>
          <p:cNvSpPr/>
          <p:nvPr/>
        </p:nvSpPr>
        <p:spPr bwMode="auto">
          <a:xfrm>
            <a:off x="1643042" y="2786058"/>
            <a:ext cx="2857520" cy="92869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delink</a:t>
            </a:r>
            <a:r>
              <a:rPr kumimoji="1" lang="en-US" altLang="zh-CN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 action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1643042" y="4357694"/>
            <a:ext cx="2857520" cy="928694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free memory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33" name="直接箭头连接符 32"/>
          <p:cNvCxnSpPr/>
          <p:nvPr/>
        </p:nvCxnSpPr>
        <p:spPr bwMode="auto">
          <a:xfrm rot="5400000">
            <a:off x="2893207" y="4036223"/>
            <a:ext cx="500066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 bwMode="auto">
          <a:xfrm>
            <a:off x="5510218" y="2500306"/>
            <a:ext cx="2062178" cy="490542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search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9" grpId="0"/>
      <p:bldP spid="24" grpId="0"/>
      <p:bldP spid="17" grpId="0" animBg="1"/>
      <p:bldP spid="30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 rot="10800000" flipV="1">
            <a:off x="5780151" y="5357825"/>
            <a:ext cx="3221005" cy="928694"/>
          </a:xfrm>
        </p:spPr>
        <p:txBody>
          <a:bodyPr/>
          <a:lstStyle/>
          <a:p>
            <a:r>
              <a:rPr lang="zh-CN" altLang="en-US" sz="4000" dirty="0"/>
              <a:t>内存池架构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1857364"/>
            <a:ext cx="4571229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 descr="C:\Users\softwware\AppData\Roaming\Tencent\Users\405024670\QQ\WinTemp\RichOle\`9X%JH}{N$}ZW~B_V@PKJC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04209" y="142852"/>
            <a:ext cx="6582501" cy="15716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9"/>
          <p:cNvGrpSpPr/>
          <p:nvPr/>
        </p:nvGrpSpPr>
        <p:grpSpPr>
          <a:xfrm>
            <a:off x="785786" y="2643182"/>
            <a:ext cx="1643074" cy="3357586"/>
            <a:chOff x="1643042" y="1000108"/>
            <a:chExt cx="3643338" cy="5500726"/>
          </a:xfrm>
        </p:grpSpPr>
        <p:sp>
          <p:nvSpPr>
            <p:cNvPr id="17" name="矩形 16"/>
            <p:cNvSpPr/>
            <p:nvPr/>
          </p:nvSpPr>
          <p:spPr bwMode="auto">
            <a:xfrm>
              <a:off x="1643042" y="1000108"/>
              <a:ext cx="3643338" cy="5500726"/>
            </a:xfrm>
            <a:prstGeom prst="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 bwMode="auto">
            <a:xfrm>
              <a:off x="1714480" y="1071546"/>
              <a:ext cx="3500462" cy="2000264"/>
            </a:xfrm>
            <a:prstGeom prst="rect">
              <a:avLst/>
            </a:prstGeom>
            <a:solidFill>
              <a:schemeClr val="accent4">
                <a:lumMod val="50000"/>
                <a:lumOff val="5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3" name="矩形 22"/>
            <p:cNvSpPr/>
            <p:nvPr/>
          </p:nvSpPr>
          <p:spPr bwMode="auto">
            <a:xfrm>
              <a:off x="1857356" y="1142984"/>
              <a:ext cx="3214710" cy="1143008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Person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1857356" y="2428868"/>
              <a:ext cx="3214710" cy="5000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next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1714480" y="3143248"/>
              <a:ext cx="3500462" cy="2000264"/>
            </a:xfrm>
            <a:prstGeom prst="rect">
              <a:avLst/>
            </a:prstGeom>
            <a:solidFill>
              <a:schemeClr val="accent4">
                <a:lumMod val="50000"/>
                <a:lumOff val="5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30" name="矩形 29"/>
            <p:cNvSpPr/>
            <p:nvPr/>
          </p:nvSpPr>
          <p:spPr bwMode="auto">
            <a:xfrm>
              <a:off x="1857356" y="3214686"/>
              <a:ext cx="3214710" cy="1143008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Person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31" name="矩形 30"/>
            <p:cNvSpPr/>
            <p:nvPr/>
          </p:nvSpPr>
          <p:spPr bwMode="auto">
            <a:xfrm>
              <a:off x="1857356" y="4500570"/>
              <a:ext cx="3214710" cy="5000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next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269117" y="5429264"/>
              <a:ext cx="517065" cy="92869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l" eaLnBrk="1" hangingPunct="1">
                <a:lnSpc>
                  <a:spcPct val="90000"/>
                </a:lnSpc>
                <a:buNone/>
              </a:pPr>
              <a:r>
                <a:rPr lang="en-US" altLang="zh-CN" b="1" dirty="0"/>
                <a:t>……</a:t>
              </a:r>
              <a:endParaRPr lang="zh-CN" altLang="en-US" b="1" dirty="0"/>
            </a:p>
          </p:txBody>
        </p:sp>
      </p:grpSp>
      <p:sp>
        <p:nvSpPr>
          <p:cNvPr id="33" name="矩形 32"/>
          <p:cNvSpPr/>
          <p:nvPr/>
        </p:nvSpPr>
        <p:spPr bwMode="auto">
          <a:xfrm>
            <a:off x="500034" y="928670"/>
            <a:ext cx="2071702" cy="1000132"/>
          </a:xfrm>
          <a:prstGeom prst="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 err="1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memlist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36" name="直接箭头连接符 35"/>
          <p:cNvCxnSpPr/>
          <p:nvPr/>
        </p:nvCxnSpPr>
        <p:spPr bwMode="auto">
          <a:xfrm rot="5400000">
            <a:off x="1356099" y="2286389"/>
            <a:ext cx="429422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 bwMode="auto">
          <a:xfrm>
            <a:off x="2786050" y="1427148"/>
            <a:ext cx="498478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37" name="Picture 1" descr="C:\Users\softwware\AppData\Roaming\Tencent\Users\405024670\QQ\WinTemp\RichOle\F7%}TYSU(EV)%T@H~SC5WT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9058" y="2071678"/>
            <a:ext cx="4029075" cy="2971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9"/>
          <p:cNvGrpSpPr/>
          <p:nvPr/>
        </p:nvGrpSpPr>
        <p:grpSpPr>
          <a:xfrm>
            <a:off x="785786" y="2643182"/>
            <a:ext cx="1643074" cy="3357586"/>
            <a:chOff x="1643042" y="1000108"/>
            <a:chExt cx="3643338" cy="5500726"/>
          </a:xfrm>
        </p:grpSpPr>
        <p:sp>
          <p:nvSpPr>
            <p:cNvPr id="17" name="矩形 16"/>
            <p:cNvSpPr/>
            <p:nvPr/>
          </p:nvSpPr>
          <p:spPr bwMode="auto">
            <a:xfrm>
              <a:off x="1643042" y="1000108"/>
              <a:ext cx="3643338" cy="5500726"/>
            </a:xfrm>
            <a:prstGeom prst="rect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 bwMode="auto">
            <a:xfrm>
              <a:off x="1714480" y="1071546"/>
              <a:ext cx="3500462" cy="2000264"/>
            </a:xfrm>
            <a:prstGeom prst="rect">
              <a:avLst/>
            </a:prstGeom>
            <a:solidFill>
              <a:schemeClr val="accent4">
                <a:lumMod val="50000"/>
                <a:lumOff val="5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3" name="矩形 22"/>
            <p:cNvSpPr/>
            <p:nvPr/>
          </p:nvSpPr>
          <p:spPr bwMode="auto">
            <a:xfrm>
              <a:off x="1857356" y="1142984"/>
              <a:ext cx="3214710" cy="1143008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Person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1857356" y="2428868"/>
              <a:ext cx="3214710" cy="5000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next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1714480" y="3143248"/>
              <a:ext cx="3500462" cy="2000264"/>
            </a:xfrm>
            <a:prstGeom prst="rect">
              <a:avLst/>
            </a:prstGeom>
            <a:solidFill>
              <a:schemeClr val="accent4">
                <a:lumMod val="50000"/>
                <a:lumOff val="50000"/>
              </a:schemeClr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30" name="矩形 29"/>
            <p:cNvSpPr/>
            <p:nvPr/>
          </p:nvSpPr>
          <p:spPr bwMode="auto">
            <a:xfrm>
              <a:off x="1857356" y="3214686"/>
              <a:ext cx="3214710" cy="1143008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Person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31" name="矩形 30"/>
            <p:cNvSpPr/>
            <p:nvPr/>
          </p:nvSpPr>
          <p:spPr bwMode="auto">
            <a:xfrm>
              <a:off x="1857356" y="4500570"/>
              <a:ext cx="3214710" cy="5000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</a:rPr>
                <a:t>next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269117" y="5429264"/>
              <a:ext cx="517065" cy="92869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l" eaLnBrk="1" hangingPunct="1">
                <a:lnSpc>
                  <a:spcPct val="90000"/>
                </a:lnSpc>
                <a:buNone/>
              </a:pPr>
              <a:r>
                <a:rPr lang="en-US" altLang="zh-CN" b="1" dirty="0"/>
                <a:t>……</a:t>
              </a:r>
              <a:endParaRPr lang="zh-CN" altLang="en-US" b="1" dirty="0"/>
            </a:p>
          </p:txBody>
        </p:sp>
      </p:grpSp>
      <p:sp>
        <p:nvSpPr>
          <p:cNvPr id="33" name="矩形 32"/>
          <p:cNvSpPr/>
          <p:nvPr/>
        </p:nvSpPr>
        <p:spPr bwMode="auto">
          <a:xfrm>
            <a:off x="500034" y="928670"/>
            <a:ext cx="2071702" cy="1000132"/>
          </a:xfrm>
          <a:prstGeom prst="rect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 err="1">
                <a:solidFill>
                  <a:schemeClr val="tx1"/>
                </a:solidFill>
                <a:latin typeface="Tahoma" pitchFamily="34" charset="0"/>
                <a:ea typeface="宋体" pitchFamily="2" charset="-122"/>
              </a:rPr>
              <a:t>memlist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36" name="直接箭头连接符 35"/>
          <p:cNvCxnSpPr/>
          <p:nvPr/>
        </p:nvCxnSpPr>
        <p:spPr bwMode="auto">
          <a:xfrm rot="5400000">
            <a:off x="1356099" y="2286389"/>
            <a:ext cx="429422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 bwMode="auto">
          <a:xfrm>
            <a:off x="2786050" y="1427148"/>
            <a:ext cx="498478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6" name="Picture 2" descr="C:\Users\Administrator\AppData\Roaming\Tencent\Users\405024670\QQ\WinTemp\RichOle\]457_E}FR3LW`)10MFMC1(I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7554" y="1928802"/>
            <a:ext cx="5019675" cy="35433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	</a:t>
            </a:r>
            <a:r>
              <a:rPr lang="zh-CN" altLang="en-US" dirty="0"/>
              <a:t>实现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一个针对类</a:t>
            </a:r>
            <a:r>
              <a:rPr lang="en-US" altLang="zh-CN" dirty="0"/>
              <a:t>Person</a:t>
            </a:r>
            <a:r>
              <a:rPr lang="zh-CN" altLang="en-US" dirty="0"/>
              <a:t>的内存池管理</a:t>
            </a:r>
            <a:endParaRPr lang="en-US" altLang="zh-CN" dirty="0"/>
          </a:p>
          <a:p>
            <a:pPr lvl="1"/>
            <a:r>
              <a:rPr lang="zh-CN" altLang="en-US" dirty="0"/>
              <a:t>内存池类，总体管理</a:t>
            </a:r>
            <a:endParaRPr lang="en-US" altLang="zh-CN" dirty="0"/>
          </a:p>
          <a:p>
            <a:pPr lvl="1"/>
            <a:r>
              <a:rPr lang="zh-CN" altLang="en-US" dirty="0"/>
              <a:t>节点链表类，链表形式串联内存节点</a:t>
            </a:r>
            <a:endParaRPr lang="en-US" altLang="zh-CN" dirty="0"/>
          </a:p>
          <a:p>
            <a:pPr lvl="1"/>
            <a:r>
              <a:rPr lang="zh-CN" altLang="en-US" dirty="0"/>
              <a:t>内存节点类，用于管理内存池申请到的空间，从效率的考虑我们决定一次申请多个</a:t>
            </a:r>
            <a:r>
              <a:rPr lang="en-US" altLang="zh-CN" dirty="0"/>
              <a:t>Person</a:t>
            </a:r>
            <a:r>
              <a:rPr lang="zh-CN" altLang="en-US" dirty="0"/>
              <a:t>的空间</a:t>
            </a:r>
            <a:endParaRPr lang="en-US" altLang="zh-CN" dirty="0"/>
          </a:p>
          <a:p>
            <a:pPr lvl="1"/>
            <a:r>
              <a:rPr lang="en-US" altLang="zh-CN" dirty="0"/>
              <a:t>Object</a:t>
            </a:r>
            <a:r>
              <a:rPr lang="zh-CN" altLang="en-US" dirty="0"/>
              <a:t>类，用于包装</a:t>
            </a:r>
            <a:r>
              <a:rPr lang="en-US" altLang="zh-CN" dirty="0"/>
              <a:t>Person</a:t>
            </a:r>
            <a:r>
              <a:rPr lang="zh-CN" altLang="en-US" dirty="0"/>
              <a:t>，在内存节点中形成链表</a:t>
            </a:r>
            <a:endParaRPr lang="en-US" altLang="zh-CN" dirty="0"/>
          </a:p>
          <a:p>
            <a:pPr lvl="1"/>
            <a:r>
              <a:rPr lang="en-US" altLang="zh-CN" dirty="0"/>
              <a:t>Person</a:t>
            </a:r>
            <a:r>
              <a:rPr lang="zh-CN" altLang="en-US" dirty="0"/>
              <a:t>类运算符重写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57224" y="2143116"/>
            <a:ext cx="2589427" cy="40811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p1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p2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endParaRPr lang="en-US" altLang="zh-CN" sz="1600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p1;</a:t>
            </a:r>
          </a:p>
          <a:p>
            <a:pPr algn="l" eaLnBrk="1" hangingPunct="1">
              <a:lnSpc>
                <a:spcPct val="90000"/>
              </a:lnSpc>
              <a:buNone/>
            </a:pPr>
            <a:endParaRPr lang="en-US" altLang="zh-CN" sz="1600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p3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p4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p5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p3;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p4;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p2;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p5;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357818" y="307181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7224" y="2143116"/>
            <a:ext cx="2589427" cy="40811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p1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p2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endParaRPr lang="en-US" altLang="zh-CN" sz="1600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p1;</a:t>
            </a:r>
          </a:p>
          <a:p>
            <a:pPr algn="l" eaLnBrk="1" hangingPunct="1">
              <a:lnSpc>
                <a:spcPct val="90000"/>
              </a:lnSpc>
              <a:buNone/>
            </a:pPr>
            <a:endParaRPr lang="en-US" altLang="zh-CN" sz="1600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p3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p4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p5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p3;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p4;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p2;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p5;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  <a:endParaRPr lang="zh-CN" altLang="en-US" sz="1600" dirty="0"/>
          </a:p>
        </p:txBody>
      </p:sp>
      <p:sp>
        <p:nvSpPr>
          <p:cNvPr id="4" name="矩形 3"/>
          <p:cNvSpPr/>
          <p:nvPr/>
        </p:nvSpPr>
        <p:spPr bwMode="auto">
          <a:xfrm>
            <a:off x="5429256" y="642918"/>
            <a:ext cx="2000264" cy="428628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pool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572132" y="1500174"/>
            <a:ext cx="1643074" cy="428628"/>
          </a:xfrm>
          <a:prstGeom prst="rect">
            <a:avLst/>
          </a:prstGeom>
          <a:solidFill>
            <a:srgbClr val="C37BC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 err="1"/>
              <a:t>M</a:t>
            </a:r>
            <a:r>
              <a:rPr kumimoji="1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emList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357818" y="2428868"/>
            <a:ext cx="2143140" cy="3929090"/>
          </a:xfrm>
          <a:prstGeom prst="rect">
            <a:avLst/>
          </a:prstGeom>
          <a:noFill/>
          <a:ln w="15875" cap="flat" cmpd="tri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357818" y="2428868"/>
            <a:ext cx="2143140" cy="642942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MemNode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57818" y="3143248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Person 1</a:t>
            </a:r>
            <a:endParaRPr lang="zh-CN" altLang="en-US" sz="2000" dirty="0"/>
          </a:p>
        </p:txBody>
      </p:sp>
      <p:cxnSp>
        <p:nvCxnSpPr>
          <p:cNvPr id="14" name="直接连接符 13"/>
          <p:cNvCxnSpPr>
            <a:stCxn id="10" idx="1"/>
            <a:endCxn id="10" idx="3"/>
          </p:cNvCxnSpPr>
          <p:nvPr/>
        </p:nvCxnSpPr>
        <p:spPr bwMode="auto">
          <a:xfrm rot="10800000" flipH="1">
            <a:off x="5357818" y="3571876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357818" y="363117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sp>
        <p:nvSpPr>
          <p:cNvPr id="28" name="右箭头 27"/>
          <p:cNvSpPr/>
          <p:nvPr/>
        </p:nvSpPr>
        <p:spPr bwMode="auto">
          <a:xfrm>
            <a:off x="357158" y="2143116"/>
            <a:ext cx="428628" cy="214314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31" name="直接箭头连接符 30"/>
          <p:cNvCxnSpPr/>
          <p:nvPr/>
        </p:nvCxnSpPr>
        <p:spPr bwMode="auto">
          <a:xfrm>
            <a:off x="4643438" y="4141792"/>
            <a:ext cx="571504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3643306" y="4000504"/>
            <a:ext cx="100013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200" b="1" dirty="0" err="1"/>
              <a:t>now_avail</a:t>
            </a:r>
            <a:endParaRPr lang="zh-CN" altLang="en-US" sz="1200" b="1" dirty="0"/>
          </a:p>
        </p:txBody>
      </p:sp>
      <p:sp>
        <p:nvSpPr>
          <p:cNvPr id="33" name="矩形 32"/>
          <p:cNvSpPr/>
          <p:nvPr/>
        </p:nvSpPr>
        <p:spPr bwMode="auto">
          <a:xfrm>
            <a:off x="5357818" y="307181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4" name="矩形 33"/>
          <p:cNvSpPr/>
          <p:nvPr/>
        </p:nvSpPr>
        <p:spPr bwMode="auto">
          <a:xfrm>
            <a:off x="5357818" y="2428868"/>
            <a:ext cx="2143140" cy="3929090"/>
          </a:xfrm>
          <a:prstGeom prst="rect">
            <a:avLst/>
          </a:prstGeom>
          <a:noFill/>
          <a:ln w="15875" cap="flat" cmpd="tri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357818" y="2428868"/>
            <a:ext cx="2143140" cy="642942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MemNode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57818" y="3143248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Person 1</a:t>
            </a:r>
            <a:endParaRPr lang="zh-CN" altLang="en-US" sz="2000" dirty="0"/>
          </a:p>
        </p:txBody>
      </p:sp>
      <p:cxnSp>
        <p:nvCxnSpPr>
          <p:cNvPr id="37" name="直接连接符 36"/>
          <p:cNvCxnSpPr>
            <a:stCxn id="33" idx="1"/>
            <a:endCxn id="33" idx="3"/>
          </p:cNvCxnSpPr>
          <p:nvPr/>
        </p:nvCxnSpPr>
        <p:spPr bwMode="auto">
          <a:xfrm rot="10800000" flipH="1">
            <a:off x="5357818" y="3571876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5357818" y="363117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sp>
        <p:nvSpPr>
          <p:cNvPr id="39" name="矩形 38"/>
          <p:cNvSpPr/>
          <p:nvPr/>
        </p:nvSpPr>
        <p:spPr bwMode="auto">
          <a:xfrm>
            <a:off x="5357818" y="414338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357818" y="4202676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empty</a:t>
            </a:r>
            <a:endParaRPr lang="zh-CN" altLang="en-US" sz="2000" dirty="0"/>
          </a:p>
        </p:txBody>
      </p:sp>
      <p:cxnSp>
        <p:nvCxnSpPr>
          <p:cNvPr id="41" name="直接连接符 40"/>
          <p:cNvCxnSpPr/>
          <p:nvPr/>
        </p:nvCxnSpPr>
        <p:spPr bwMode="auto">
          <a:xfrm rot="10800000" flipH="1">
            <a:off x="5357818" y="4641857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5357818" y="470274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sp>
        <p:nvSpPr>
          <p:cNvPr id="43" name="矩形 42"/>
          <p:cNvSpPr/>
          <p:nvPr/>
        </p:nvSpPr>
        <p:spPr bwMode="auto">
          <a:xfrm>
            <a:off x="5357819" y="521495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357819" y="5274246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empty</a:t>
            </a:r>
            <a:endParaRPr lang="zh-CN" altLang="en-US" sz="2000" dirty="0"/>
          </a:p>
        </p:txBody>
      </p:sp>
      <p:cxnSp>
        <p:nvCxnSpPr>
          <p:cNvPr id="45" name="直接连接符 44"/>
          <p:cNvCxnSpPr/>
          <p:nvPr/>
        </p:nvCxnSpPr>
        <p:spPr bwMode="auto">
          <a:xfrm rot="10800000" flipH="1">
            <a:off x="5357819" y="5715016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5357819" y="577431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cxnSp>
        <p:nvCxnSpPr>
          <p:cNvPr id="48" name="曲线连接符 47"/>
          <p:cNvCxnSpPr>
            <a:stCxn id="38" idx="3"/>
            <a:endCxn id="40" idx="3"/>
          </p:cNvCxnSpPr>
          <p:nvPr/>
        </p:nvCxnSpPr>
        <p:spPr bwMode="auto">
          <a:xfrm>
            <a:off x="7500958" y="3815838"/>
            <a:ext cx="1588" cy="571504"/>
          </a:xfrm>
          <a:prstGeom prst="curvedConnector3">
            <a:avLst>
              <a:gd name="adj1" fmla="val 14395466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9" name="曲线连接符 48"/>
          <p:cNvCxnSpPr/>
          <p:nvPr/>
        </p:nvCxnSpPr>
        <p:spPr bwMode="auto">
          <a:xfrm>
            <a:off x="7500958" y="4929198"/>
            <a:ext cx="1588" cy="571504"/>
          </a:xfrm>
          <a:prstGeom prst="curvedConnector3">
            <a:avLst>
              <a:gd name="adj1" fmla="val 14395466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57224" y="2143116"/>
            <a:ext cx="2589427" cy="40811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p1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p2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endParaRPr lang="en-US" altLang="zh-CN" sz="1600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p1;</a:t>
            </a:r>
          </a:p>
          <a:p>
            <a:pPr algn="l" eaLnBrk="1" hangingPunct="1">
              <a:lnSpc>
                <a:spcPct val="90000"/>
              </a:lnSpc>
              <a:buNone/>
            </a:pPr>
            <a:endParaRPr lang="en-US" altLang="zh-CN" sz="1600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p3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p4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p5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p3;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p4;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p2;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p5;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  <a:endParaRPr lang="zh-CN" altLang="en-US" sz="1600" dirty="0"/>
          </a:p>
        </p:txBody>
      </p:sp>
      <p:sp>
        <p:nvSpPr>
          <p:cNvPr id="4" name="矩形 3"/>
          <p:cNvSpPr/>
          <p:nvPr/>
        </p:nvSpPr>
        <p:spPr bwMode="auto">
          <a:xfrm>
            <a:off x="5429256" y="642918"/>
            <a:ext cx="2000264" cy="428628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pool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572132" y="1500174"/>
            <a:ext cx="1643074" cy="428628"/>
          </a:xfrm>
          <a:prstGeom prst="rect">
            <a:avLst/>
          </a:prstGeom>
          <a:solidFill>
            <a:srgbClr val="C37BC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 err="1"/>
              <a:t>M</a:t>
            </a:r>
            <a:r>
              <a:rPr kumimoji="1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emList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8" name="右箭头 27"/>
          <p:cNvSpPr/>
          <p:nvPr/>
        </p:nvSpPr>
        <p:spPr bwMode="auto">
          <a:xfrm>
            <a:off x="357158" y="2428868"/>
            <a:ext cx="428628" cy="214314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33" name="直接箭头连接符 32"/>
          <p:cNvCxnSpPr/>
          <p:nvPr/>
        </p:nvCxnSpPr>
        <p:spPr bwMode="auto">
          <a:xfrm>
            <a:off x="4643438" y="5240582"/>
            <a:ext cx="571504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3643306" y="5099294"/>
            <a:ext cx="100013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200" b="1" dirty="0" err="1"/>
              <a:t>now_avail</a:t>
            </a:r>
            <a:endParaRPr lang="zh-CN" altLang="en-US" sz="1200" b="1" dirty="0"/>
          </a:p>
        </p:txBody>
      </p:sp>
      <p:sp>
        <p:nvSpPr>
          <p:cNvPr id="46" name="矩形 45"/>
          <p:cNvSpPr/>
          <p:nvPr/>
        </p:nvSpPr>
        <p:spPr bwMode="auto">
          <a:xfrm>
            <a:off x="5357818" y="307181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7" name="矩形 46"/>
          <p:cNvSpPr/>
          <p:nvPr/>
        </p:nvSpPr>
        <p:spPr bwMode="auto">
          <a:xfrm>
            <a:off x="5357818" y="2428868"/>
            <a:ext cx="2143140" cy="3929090"/>
          </a:xfrm>
          <a:prstGeom prst="rect">
            <a:avLst/>
          </a:prstGeom>
          <a:noFill/>
          <a:ln w="15875" cap="flat" cmpd="tri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8" name="矩形 47"/>
          <p:cNvSpPr/>
          <p:nvPr/>
        </p:nvSpPr>
        <p:spPr bwMode="auto">
          <a:xfrm>
            <a:off x="5357818" y="2428868"/>
            <a:ext cx="2143140" cy="642942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MemNode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357818" y="3143248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Person 1</a:t>
            </a:r>
            <a:endParaRPr lang="zh-CN" altLang="en-US" sz="2000" dirty="0"/>
          </a:p>
        </p:txBody>
      </p:sp>
      <p:cxnSp>
        <p:nvCxnSpPr>
          <p:cNvPr id="50" name="直接连接符 49"/>
          <p:cNvCxnSpPr>
            <a:stCxn id="46" idx="1"/>
            <a:endCxn id="46" idx="3"/>
          </p:cNvCxnSpPr>
          <p:nvPr/>
        </p:nvCxnSpPr>
        <p:spPr bwMode="auto">
          <a:xfrm rot="10800000" flipH="1">
            <a:off x="5357818" y="3571876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5357818" y="363117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sp>
        <p:nvSpPr>
          <p:cNvPr id="52" name="矩形 51"/>
          <p:cNvSpPr/>
          <p:nvPr/>
        </p:nvSpPr>
        <p:spPr bwMode="auto">
          <a:xfrm>
            <a:off x="5357818" y="414338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357818" y="4202676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Person 2</a:t>
            </a:r>
            <a:endParaRPr lang="zh-CN" altLang="en-US" sz="2000" dirty="0"/>
          </a:p>
        </p:txBody>
      </p:sp>
      <p:cxnSp>
        <p:nvCxnSpPr>
          <p:cNvPr id="54" name="直接连接符 53"/>
          <p:cNvCxnSpPr/>
          <p:nvPr/>
        </p:nvCxnSpPr>
        <p:spPr bwMode="auto">
          <a:xfrm rot="10800000" flipH="1">
            <a:off x="5357818" y="4641857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5357818" y="470274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sp>
        <p:nvSpPr>
          <p:cNvPr id="56" name="矩形 55"/>
          <p:cNvSpPr/>
          <p:nvPr/>
        </p:nvSpPr>
        <p:spPr bwMode="auto">
          <a:xfrm>
            <a:off x="5357819" y="521495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357819" y="5274246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empty</a:t>
            </a:r>
            <a:endParaRPr lang="zh-CN" altLang="en-US" sz="2000" dirty="0"/>
          </a:p>
        </p:txBody>
      </p:sp>
      <p:cxnSp>
        <p:nvCxnSpPr>
          <p:cNvPr id="58" name="直接连接符 57"/>
          <p:cNvCxnSpPr/>
          <p:nvPr/>
        </p:nvCxnSpPr>
        <p:spPr bwMode="auto">
          <a:xfrm rot="10800000" flipH="1">
            <a:off x="5357819" y="5715016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5357819" y="577431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cxnSp>
        <p:nvCxnSpPr>
          <p:cNvPr id="60" name="曲线连接符 59"/>
          <p:cNvCxnSpPr/>
          <p:nvPr/>
        </p:nvCxnSpPr>
        <p:spPr bwMode="auto">
          <a:xfrm>
            <a:off x="7500958" y="3815838"/>
            <a:ext cx="1588" cy="571504"/>
          </a:xfrm>
          <a:prstGeom prst="curvedConnector3">
            <a:avLst>
              <a:gd name="adj1" fmla="val 14395466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1" name="曲线连接符 60"/>
          <p:cNvCxnSpPr/>
          <p:nvPr/>
        </p:nvCxnSpPr>
        <p:spPr bwMode="auto">
          <a:xfrm>
            <a:off x="7500958" y="4929198"/>
            <a:ext cx="1588" cy="571504"/>
          </a:xfrm>
          <a:prstGeom prst="curvedConnector3">
            <a:avLst>
              <a:gd name="adj1" fmla="val 14395466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357818" y="307181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7224" y="2143116"/>
            <a:ext cx="2589427" cy="40811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p1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p2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endParaRPr lang="en-US" altLang="zh-CN" sz="1600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p1;</a:t>
            </a:r>
          </a:p>
          <a:p>
            <a:pPr algn="l" eaLnBrk="1" hangingPunct="1">
              <a:lnSpc>
                <a:spcPct val="90000"/>
              </a:lnSpc>
              <a:buNone/>
            </a:pPr>
            <a:endParaRPr lang="en-US" altLang="zh-CN" sz="1600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p3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p4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p5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p3;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p4;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p2;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p5;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  <a:endParaRPr lang="zh-CN" altLang="en-US" sz="1600" dirty="0"/>
          </a:p>
        </p:txBody>
      </p:sp>
      <p:sp>
        <p:nvSpPr>
          <p:cNvPr id="4" name="矩形 3"/>
          <p:cNvSpPr/>
          <p:nvPr/>
        </p:nvSpPr>
        <p:spPr bwMode="auto">
          <a:xfrm>
            <a:off x="5429256" y="642918"/>
            <a:ext cx="2000264" cy="428628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pool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572132" y="1500174"/>
            <a:ext cx="1643074" cy="428628"/>
          </a:xfrm>
          <a:prstGeom prst="rect">
            <a:avLst/>
          </a:prstGeom>
          <a:solidFill>
            <a:srgbClr val="C37BC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 err="1"/>
              <a:t>M</a:t>
            </a:r>
            <a:r>
              <a:rPr kumimoji="1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emList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357818" y="2428868"/>
            <a:ext cx="2143140" cy="3929090"/>
          </a:xfrm>
          <a:prstGeom prst="rect">
            <a:avLst/>
          </a:prstGeom>
          <a:noFill/>
          <a:ln w="15875" cap="flat" cmpd="tri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357818" y="2428868"/>
            <a:ext cx="2143140" cy="642942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MemNode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57818" y="3143248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empty</a:t>
            </a:r>
            <a:endParaRPr lang="zh-CN" altLang="en-US" sz="2000" dirty="0"/>
          </a:p>
        </p:txBody>
      </p:sp>
      <p:cxnSp>
        <p:nvCxnSpPr>
          <p:cNvPr id="14" name="直接连接符 13"/>
          <p:cNvCxnSpPr>
            <a:stCxn id="10" idx="1"/>
            <a:endCxn id="10" idx="3"/>
          </p:cNvCxnSpPr>
          <p:nvPr/>
        </p:nvCxnSpPr>
        <p:spPr bwMode="auto">
          <a:xfrm rot="10800000" flipH="1">
            <a:off x="5357818" y="3571876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357818" y="363117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sp>
        <p:nvSpPr>
          <p:cNvPr id="20" name="矩形 19"/>
          <p:cNvSpPr/>
          <p:nvPr/>
        </p:nvSpPr>
        <p:spPr bwMode="auto">
          <a:xfrm>
            <a:off x="5357818" y="414338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57818" y="4202676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Person 2</a:t>
            </a:r>
            <a:endParaRPr lang="zh-CN" altLang="en-US" sz="2000" dirty="0"/>
          </a:p>
        </p:txBody>
      </p:sp>
      <p:cxnSp>
        <p:nvCxnSpPr>
          <p:cNvPr id="22" name="直接连接符 21"/>
          <p:cNvCxnSpPr/>
          <p:nvPr/>
        </p:nvCxnSpPr>
        <p:spPr bwMode="auto">
          <a:xfrm rot="10800000" flipH="1">
            <a:off x="5357818" y="4641857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5357818" y="470274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sp>
        <p:nvSpPr>
          <p:cNvPr id="24" name="矩形 23"/>
          <p:cNvSpPr/>
          <p:nvPr/>
        </p:nvSpPr>
        <p:spPr bwMode="auto">
          <a:xfrm>
            <a:off x="5357819" y="521495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57819" y="5274246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empty</a:t>
            </a:r>
            <a:endParaRPr lang="zh-CN" altLang="en-US" sz="2000" dirty="0"/>
          </a:p>
        </p:txBody>
      </p:sp>
      <p:cxnSp>
        <p:nvCxnSpPr>
          <p:cNvPr id="26" name="直接连接符 25"/>
          <p:cNvCxnSpPr/>
          <p:nvPr/>
        </p:nvCxnSpPr>
        <p:spPr bwMode="auto">
          <a:xfrm rot="10800000" flipH="1">
            <a:off x="5357819" y="5715016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5357819" y="577431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sp>
        <p:nvSpPr>
          <p:cNvPr id="28" name="右箭头 27"/>
          <p:cNvSpPr/>
          <p:nvPr/>
        </p:nvSpPr>
        <p:spPr bwMode="auto">
          <a:xfrm>
            <a:off x="357158" y="2857496"/>
            <a:ext cx="428628" cy="214314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29" name="直接箭头连接符 28"/>
          <p:cNvCxnSpPr/>
          <p:nvPr/>
        </p:nvCxnSpPr>
        <p:spPr bwMode="auto">
          <a:xfrm>
            <a:off x="4643438" y="3097442"/>
            <a:ext cx="571504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3643306" y="2956154"/>
            <a:ext cx="100013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200" b="1" dirty="0" err="1"/>
              <a:t>now_avail</a:t>
            </a:r>
            <a:endParaRPr lang="zh-CN" altLang="en-US" sz="1200" b="1" dirty="0"/>
          </a:p>
        </p:txBody>
      </p:sp>
      <p:cxnSp>
        <p:nvCxnSpPr>
          <p:cNvPr id="31" name="曲线连接符 30"/>
          <p:cNvCxnSpPr>
            <a:stCxn id="16" idx="3"/>
            <a:endCxn id="25" idx="3"/>
          </p:cNvCxnSpPr>
          <p:nvPr/>
        </p:nvCxnSpPr>
        <p:spPr bwMode="auto">
          <a:xfrm>
            <a:off x="7500958" y="3815838"/>
            <a:ext cx="1" cy="1643074"/>
          </a:xfrm>
          <a:prstGeom prst="curvedConnector3">
            <a:avLst>
              <a:gd name="adj1" fmla="val 2286010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曲线连接符 31"/>
          <p:cNvCxnSpPr/>
          <p:nvPr/>
        </p:nvCxnSpPr>
        <p:spPr bwMode="auto">
          <a:xfrm>
            <a:off x="7500958" y="4929198"/>
            <a:ext cx="1588" cy="571504"/>
          </a:xfrm>
          <a:prstGeom prst="curvedConnector3">
            <a:avLst>
              <a:gd name="adj1" fmla="val 14395466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357818" y="307181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7224" y="2143116"/>
            <a:ext cx="2589427" cy="40811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p1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p2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endParaRPr lang="en-US" altLang="zh-CN" sz="1600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p1;</a:t>
            </a:r>
          </a:p>
          <a:p>
            <a:pPr algn="l" eaLnBrk="1" hangingPunct="1">
              <a:lnSpc>
                <a:spcPct val="90000"/>
              </a:lnSpc>
              <a:buNone/>
            </a:pPr>
            <a:endParaRPr lang="en-US" altLang="zh-CN" sz="1600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p3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p4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p5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p3;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p4;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p2;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p5;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  <a:endParaRPr lang="zh-CN" altLang="en-US" sz="1600" dirty="0"/>
          </a:p>
        </p:txBody>
      </p:sp>
      <p:sp>
        <p:nvSpPr>
          <p:cNvPr id="4" name="矩形 3"/>
          <p:cNvSpPr/>
          <p:nvPr/>
        </p:nvSpPr>
        <p:spPr bwMode="auto">
          <a:xfrm>
            <a:off x="5429256" y="642918"/>
            <a:ext cx="2000264" cy="428628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pool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572132" y="1500174"/>
            <a:ext cx="1643074" cy="428628"/>
          </a:xfrm>
          <a:prstGeom prst="rect">
            <a:avLst/>
          </a:prstGeom>
          <a:solidFill>
            <a:srgbClr val="C37BC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 err="1"/>
              <a:t>M</a:t>
            </a:r>
            <a:r>
              <a:rPr kumimoji="1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emList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357818" y="2428868"/>
            <a:ext cx="2143140" cy="3929090"/>
          </a:xfrm>
          <a:prstGeom prst="rect">
            <a:avLst/>
          </a:prstGeom>
          <a:noFill/>
          <a:ln w="15875" cap="flat" cmpd="tri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357818" y="2428868"/>
            <a:ext cx="2143140" cy="642942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MemNode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57818" y="3143248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Person 3</a:t>
            </a:r>
            <a:endParaRPr lang="zh-CN" altLang="en-US" sz="2000" dirty="0"/>
          </a:p>
        </p:txBody>
      </p:sp>
      <p:cxnSp>
        <p:nvCxnSpPr>
          <p:cNvPr id="14" name="直接连接符 13"/>
          <p:cNvCxnSpPr>
            <a:stCxn id="10" idx="1"/>
            <a:endCxn id="10" idx="3"/>
          </p:cNvCxnSpPr>
          <p:nvPr/>
        </p:nvCxnSpPr>
        <p:spPr bwMode="auto">
          <a:xfrm rot="10800000" flipH="1">
            <a:off x="5357818" y="3571876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357818" y="363117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sp>
        <p:nvSpPr>
          <p:cNvPr id="20" name="矩形 19"/>
          <p:cNvSpPr/>
          <p:nvPr/>
        </p:nvSpPr>
        <p:spPr bwMode="auto">
          <a:xfrm>
            <a:off x="5357818" y="414338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57818" y="4202676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Person 2</a:t>
            </a:r>
            <a:endParaRPr lang="zh-CN" altLang="en-US" sz="2000" dirty="0"/>
          </a:p>
        </p:txBody>
      </p:sp>
      <p:cxnSp>
        <p:nvCxnSpPr>
          <p:cNvPr id="22" name="直接连接符 21"/>
          <p:cNvCxnSpPr/>
          <p:nvPr/>
        </p:nvCxnSpPr>
        <p:spPr bwMode="auto">
          <a:xfrm rot="10800000" flipH="1">
            <a:off x="5357818" y="4641857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5357818" y="470274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sp>
        <p:nvSpPr>
          <p:cNvPr id="24" name="矩形 23"/>
          <p:cNvSpPr/>
          <p:nvPr/>
        </p:nvSpPr>
        <p:spPr bwMode="auto">
          <a:xfrm>
            <a:off x="5357819" y="521495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57819" y="5274246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Person 4</a:t>
            </a:r>
            <a:endParaRPr lang="zh-CN" altLang="en-US" sz="2000" dirty="0"/>
          </a:p>
        </p:txBody>
      </p:sp>
      <p:cxnSp>
        <p:nvCxnSpPr>
          <p:cNvPr id="26" name="直接连接符 25"/>
          <p:cNvCxnSpPr/>
          <p:nvPr/>
        </p:nvCxnSpPr>
        <p:spPr bwMode="auto">
          <a:xfrm rot="10800000" flipH="1">
            <a:off x="5357819" y="5715016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5357819" y="577431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null</a:t>
            </a:r>
            <a:endParaRPr lang="zh-CN" altLang="en-US" sz="2000" dirty="0"/>
          </a:p>
        </p:txBody>
      </p:sp>
      <p:sp>
        <p:nvSpPr>
          <p:cNvPr id="28" name="右箭头 27"/>
          <p:cNvSpPr/>
          <p:nvPr/>
        </p:nvSpPr>
        <p:spPr bwMode="auto">
          <a:xfrm>
            <a:off x="357158" y="3500438"/>
            <a:ext cx="428628" cy="214314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29" name="直接箭头连接符 28"/>
          <p:cNvCxnSpPr/>
          <p:nvPr/>
        </p:nvCxnSpPr>
        <p:spPr bwMode="auto">
          <a:xfrm>
            <a:off x="4643438" y="6000768"/>
            <a:ext cx="571504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3643306" y="5857892"/>
            <a:ext cx="100013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200" b="1" dirty="0" err="1"/>
              <a:t>now_avail</a:t>
            </a:r>
            <a:endParaRPr lang="zh-CN" altLang="en-US" sz="1200" b="1" dirty="0"/>
          </a:p>
        </p:txBody>
      </p:sp>
      <p:cxnSp>
        <p:nvCxnSpPr>
          <p:cNvPr id="31" name="曲线连接符 30"/>
          <p:cNvCxnSpPr>
            <a:stCxn id="16" idx="3"/>
            <a:endCxn id="25" idx="3"/>
          </p:cNvCxnSpPr>
          <p:nvPr/>
        </p:nvCxnSpPr>
        <p:spPr bwMode="auto">
          <a:xfrm>
            <a:off x="7500958" y="3815838"/>
            <a:ext cx="1" cy="1643074"/>
          </a:xfrm>
          <a:prstGeom prst="curvedConnector3">
            <a:avLst>
              <a:gd name="adj1" fmla="val 2286010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曲线连接符 31"/>
          <p:cNvCxnSpPr/>
          <p:nvPr/>
        </p:nvCxnSpPr>
        <p:spPr bwMode="auto">
          <a:xfrm>
            <a:off x="7500958" y="4929198"/>
            <a:ext cx="1588" cy="571504"/>
          </a:xfrm>
          <a:prstGeom prst="curvedConnector3">
            <a:avLst>
              <a:gd name="adj1" fmla="val 14395466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6357950" y="3060148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3813" y="2143116"/>
            <a:ext cx="2589427" cy="40811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p1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p2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endParaRPr lang="en-US" altLang="zh-CN" sz="1600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p1;</a:t>
            </a:r>
          </a:p>
          <a:p>
            <a:pPr algn="l" eaLnBrk="1" hangingPunct="1">
              <a:lnSpc>
                <a:spcPct val="90000"/>
              </a:lnSpc>
              <a:buNone/>
            </a:pPr>
            <a:endParaRPr lang="en-US" altLang="zh-CN" sz="1600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p3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p4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p5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p3;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p4;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p2;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p5;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  <a:endParaRPr lang="zh-CN" altLang="en-US" sz="1600" dirty="0"/>
          </a:p>
        </p:txBody>
      </p:sp>
      <p:sp>
        <p:nvSpPr>
          <p:cNvPr id="4" name="矩形 3"/>
          <p:cNvSpPr/>
          <p:nvPr/>
        </p:nvSpPr>
        <p:spPr bwMode="auto">
          <a:xfrm>
            <a:off x="3500430" y="642918"/>
            <a:ext cx="2000264" cy="428628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pool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643702" y="1488512"/>
            <a:ext cx="1643074" cy="428628"/>
          </a:xfrm>
          <a:prstGeom prst="rect">
            <a:avLst/>
          </a:prstGeom>
          <a:solidFill>
            <a:srgbClr val="C37BC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 err="1"/>
              <a:t>M</a:t>
            </a:r>
            <a:r>
              <a:rPr kumimoji="1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emList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357950" y="2417206"/>
            <a:ext cx="2143140" cy="3929090"/>
          </a:xfrm>
          <a:prstGeom prst="rect">
            <a:avLst/>
          </a:prstGeom>
          <a:noFill/>
          <a:ln w="15875" cap="flat" cmpd="tri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357950" y="2417206"/>
            <a:ext cx="2143140" cy="642942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MemNode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7950" y="3131586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Person 3</a:t>
            </a:r>
            <a:endParaRPr lang="zh-CN" altLang="en-US" sz="2000" dirty="0"/>
          </a:p>
        </p:txBody>
      </p:sp>
      <p:cxnSp>
        <p:nvCxnSpPr>
          <p:cNvPr id="14" name="直接连接符 13"/>
          <p:cNvCxnSpPr>
            <a:stCxn id="10" idx="1"/>
            <a:endCxn id="10" idx="3"/>
          </p:cNvCxnSpPr>
          <p:nvPr/>
        </p:nvCxnSpPr>
        <p:spPr bwMode="auto">
          <a:xfrm rot="10800000" flipH="1">
            <a:off x="6357950" y="3560214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6357950" y="3619510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sp>
        <p:nvSpPr>
          <p:cNvPr id="20" name="矩形 19"/>
          <p:cNvSpPr/>
          <p:nvPr/>
        </p:nvSpPr>
        <p:spPr bwMode="auto">
          <a:xfrm>
            <a:off x="6357950" y="4131718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57950" y="4191014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Person 2</a:t>
            </a:r>
            <a:endParaRPr lang="zh-CN" altLang="en-US" sz="2000" dirty="0"/>
          </a:p>
        </p:txBody>
      </p:sp>
      <p:cxnSp>
        <p:nvCxnSpPr>
          <p:cNvPr id="22" name="直接连接符 21"/>
          <p:cNvCxnSpPr/>
          <p:nvPr/>
        </p:nvCxnSpPr>
        <p:spPr bwMode="auto">
          <a:xfrm rot="10800000" flipH="1">
            <a:off x="6357950" y="4630195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357950" y="4691080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sp>
        <p:nvSpPr>
          <p:cNvPr id="24" name="矩形 23"/>
          <p:cNvSpPr/>
          <p:nvPr/>
        </p:nvSpPr>
        <p:spPr bwMode="auto">
          <a:xfrm>
            <a:off x="6357951" y="5203288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57951" y="5262584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Person 4</a:t>
            </a:r>
            <a:endParaRPr lang="zh-CN" altLang="en-US" sz="2000" dirty="0"/>
          </a:p>
        </p:txBody>
      </p:sp>
      <p:cxnSp>
        <p:nvCxnSpPr>
          <p:cNvPr id="26" name="直接连接符 25"/>
          <p:cNvCxnSpPr/>
          <p:nvPr/>
        </p:nvCxnSpPr>
        <p:spPr bwMode="auto">
          <a:xfrm rot="10800000" flipH="1">
            <a:off x="6357951" y="5703354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357951" y="5762650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null</a:t>
            </a:r>
            <a:endParaRPr lang="zh-CN" altLang="en-US" sz="2000" dirty="0"/>
          </a:p>
        </p:txBody>
      </p:sp>
      <p:sp>
        <p:nvSpPr>
          <p:cNvPr id="28" name="右箭头 27"/>
          <p:cNvSpPr/>
          <p:nvPr/>
        </p:nvSpPr>
        <p:spPr bwMode="auto">
          <a:xfrm>
            <a:off x="53747" y="3714752"/>
            <a:ext cx="428628" cy="214314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29" name="直接箭头连接符 28"/>
          <p:cNvCxnSpPr/>
          <p:nvPr/>
        </p:nvCxnSpPr>
        <p:spPr bwMode="auto">
          <a:xfrm>
            <a:off x="2714612" y="4284668"/>
            <a:ext cx="571504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1785918" y="4143380"/>
            <a:ext cx="100013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200" b="1" dirty="0" err="1"/>
              <a:t>now_avail</a:t>
            </a:r>
            <a:endParaRPr lang="zh-CN" altLang="en-US" sz="1200" b="1" dirty="0"/>
          </a:p>
        </p:txBody>
      </p:sp>
      <p:cxnSp>
        <p:nvCxnSpPr>
          <p:cNvPr id="31" name="曲线连接符 30"/>
          <p:cNvCxnSpPr>
            <a:stCxn id="16" idx="3"/>
            <a:endCxn id="25" idx="3"/>
          </p:cNvCxnSpPr>
          <p:nvPr/>
        </p:nvCxnSpPr>
        <p:spPr bwMode="auto">
          <a:xfrm>
            <a:off x="8501090" y="3804176"/>
            <a:ext cx="1" cy="1643074"/>
          </a:xfrm>
          <a:prstGeom prst="curvedConnector3">
            <a:avLst>
              <a:gd name="adj1" fmla="val 2286010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曲线连接符 31"/>
          <p:cNvCxnSpPr/>
          <p:nvPr/>
        </p:nvCxnSpPr>
        <p:spPr bwMode="auto">
          <a:xfrm>
            <a:off x="8501090" y="4917536"/>
            <a:ext cx="1588" cy="571504"/>
          </a:xfrm>
          <a:prstGeom prst="curvedConnector3">
            <a:avLst>
              <a:gd name="adj1" fmla="val 14395466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" name="矩形 32"/>
          <p:cNvSpPr/>
          <p:nvPr/>
        </p:nvSpPr>
        <p:spPr bwMode="auto">
          <a:xfrm>
            <a:off x="3428992" y="307181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4" name="矩形 33"/>
          <p:cNvSpPr/>
          <p:nvPr/>
        </p:nvSpPr>
        <p:spPr bwMode="auto">
          <a:xfrm>
            <a:off x="3643306" y="1500174"/>
            <a:ext cx="1643074" cy="428628"/>
          </a:xfrm>
          <a:prstGeom prst="rect">
            <a:avLst/>
          </a:prstGeom>
          <a:solidFill>
            <a:srgbClr val="C37BC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 err="1"/>
              <a:t>M</a:t>
            </a:r>
            <a:r>
              <a:rPr kumimoji="1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emList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3428992" y="2428868"/>
            <a:ext cx="2143140" cy="3929090"/>
          </a:xfrm>
          <a:prstGeom prst="rect">
            <a:avLst/>
          </a:prstGeom>
          <a:noFill/>
          <a:ln w="15875" cap="flat" cmpd="tri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6" name="矩形 35"/>
          <p:cNvSpPr/>
          <p:nvPr/>
        </p:nvSpPr>
        <p:spPr bwMode="auto">
          <a:xfrm>
            <a:off x="3428992" y="2428868"/>
            <a:ext cx="2143140" cy="642942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MemNode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428992" y="3143248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Person 5</a:t>
            </a:r>
            <a:endParaRPr lang="zh-CN" altLang="en-US" sz="2000" dirty="0"/>
          </a:p>
        </p:txBody>
      </p:sp>
      <p:cxnSp>
        <p:nvCxnSpPr>
          <p:cNvPr id="38" name="直接连接符 37"/>
          <p:cNvCxnSpPr>
            <a:stCxn id="33" idx="1"/>
            <a:endCxn id="33" idx="3"/>
          </p:cNvCxnSpPr>
          <p:nvPr/>
        </p:nvCxnSpPr>
        <p:spPr bwMode="auto">
          <a:xfrm rot="10800000" flipH="1">
            <a:off x="3428992" y="3571876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3428992" y="363117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sp>
        <p:nvSpPr>
          <p:cNvPr id="40" name="矩形 39"/>
          <p:cNvSpPr/>
          <p:nvPr/>
        </p:nvSpPr>
        <p:spPr bwMode="auto">
          <a:xfrm>
            <a:off x="3428992" y="414338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428992" y="4202676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empty</a:t>
            </a:r>
            <a:endParaRPr lang="zh-CN" altLang="en-US" sz="2000" dirty="0"/>
          </a:p>
        </p:txBody>
      </p:sp>
      <p:cxnSp>
        <p:nvCxnSpPr>
          <p:cNvPr id="42" name="直接连接符 41"/>
          <p:cNvCxnSpPr/>
          <p:nvPr/>
        </p:nvCxnSpPr>
        <p:spPr bwMode="auto">
          <a:xfrm rot="10800000" flipH="1">
            <a:off x="3428992" y="4641857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3428992" y="470274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sp>
        <p:nvSpPr>
          <p:cNvPr id="44" name="矩形 43"/>
          <p:cNvSpPr/>
          <p:nvPr/>
        </p:nvSpPr>
        <p:spPr bwMode="auto">
          <a:xfrm>
            <a:off x="3428993" y="521495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428993" y="5274246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empty</a:t>
            </a:r>
            <a:endParaRPr lang="zh-CN" altLang="en-US" sz="2000" dirty="0"/>
          </a:p>
        </p:txBody>
      </p:sp>
      <p:cxnSp>
        <p:nvCxnSpPr>
          <p:cNvPr id="46" name="直接连接符 45"/>
          <p:cNvCxnSpPr/>
          <p:nvPr/>
        </p:nvCxnSpPr>
        <p:spPr bwMode="auto">
          <a:xfrm rot="10800000" flipH="1">
            <a:off x="3428993" y="5715016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3428993" y="577431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cxnSp>
        <p:nvCxnSpPr>
          <p:cNvPr id="53" name="曲线连接符 52"/>
          <p:cNvCxnSpPr>
            <a:stCxn id="39" idx="3"/>
            <a:endCxn id="41" idx="3"/>
          </p:cNvCxnSpPr>
          <p:nvPr/>
        </p:nvCxnSpPr>
        <p:spPr bwMode="auto">
          <a:xfrm>
            <a:off x="5572132" y="3815838"/>
            <a:ext cx="1588" cy="571504"/>
          </a:xfrm>
          <a:prstGeom prst="curvedConnector3">
            <a:avLst>
              <a:gd name="adj1" fmla="val 14395466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曲线连接符 55"/>
          <p:cNvCxnSpPr>
            <a:stCxn id="43" idx="3"/>
            <a:endCxn id="45" idx="3"/>
          </p:cNvCxnSpPr>
          <p:nvPr/>
        </p:nvCxnSpPr>
        <p:spPr bwMode="auto">
          <a:xfrm>
            <a:off x="5572132" y="4887408"/>
            <a:ext cx="1" cy="571504"/>
          </a:xfrm>
          <a:prstGeom prst="curvedConnector3">
            <a:avLst>
              <a:gd name="adj1" fmla="val 2286010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1" name="直接箭头连接符 60"/>
          <p:cNvCxnSpPr>
            <a:stCxn id="6" idx="2"/>
            <a:endCxn id="9" idx="0"/>
          </p:cNvCxnSpPr>
          <p:nvPr/>
        </p:nvCxnSpPr>
        <p:spPr bwMode="auto">
          <a:xfrm rot="5400000">
            <a:off x="7197347" y="2149314"/>
            <a:ext cx="500066" cy="35719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3" name="直接箭头连接符 62"/>
          <p:cNvCxnSpPr>
            <a:stCxn id="34" idx="2"/>
          </p:cNvCxnSpPr>
          <p:nvPr/>
        </p:nvCxnSpPr>
        <p:spPr bwMode="auto">
          <a:xfrm rot="16200000" flipH="1">
            <a:off x="4232670" y="2160975"/>
            <a:ext cx="500067" cy="3572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8" name="直接箭头连接符 67"/>
          <p:cNvCxnSpPr>
            <a:stCxn id="34" idx="3"/>
            <a:endCxn id="6" idx="1"/>
          </p:cNvCxnSpPr>
          <p:nvPr/>
        </p:nvCxnSpPr>
        <p:spPr bwMode="auto">
          <a:xfrm flipV="1">
            <a:off x="5286380" y="1702826"/>
            <a:ext cx="1357322" cy="1166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1" name="直接箭头连接符 70"/>
          <p:cNvCxnSpPr>
            <a:stCxn id="4" idx="2"/>
            <a:endCxn id="34" idx="0"/>
          </p:cNvCxnSpPr>
          <p:nvPr/>
        </p:nvCxnSpPr>
        <p:spPr bwMode="auto">
          <a:xfrm rot="5400000">
            <a:off x="4268389" y="1268001"/>
            <a:ext cx="428628" cy="35719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6357950" y="3060148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3813" y="2143116"/>
            <a:ext cx="2589427" cy="40811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p1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p2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endParaRPr lang="en-US" altLang="zh-CN" sz="1600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p1;</a:t>
            </a:r>
          </a:p>
          <a:p>
            <a:pPr algn="l" eaLnBrk="1" hangingPunct="1">
              <a:lnSpc>
                <a:spcPct val="90000"/>
              </a:lnSpc>
              <a:buNone/>
            </a:pPr>
            <a:endParaRPr lang="en-US" altLang="zh-CN" sz="1600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p3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p4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p5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p3;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p4;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p2;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p5;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  <a:endParaRPr lang="zh-CN" altLang="en-US" sz="1600" dirty="0"/>
          </a:p>
        </p:txBody>
      </p:sp>
      <p:sp>
        <p:nvSpPr>
          <p:cNvPr id="4" name="矩形 3"/>
          <p:cNvSpPr/>
          <p:nvPr/>
        </p:nvSpPr>
        <p:spPr bwMode="auto">
          <a:xfrm>
            <a:off x="3500430" y="642918"/>
            <a:ext cx="2000264" cy="428628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pool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643702" y="1488512"/>
            <a:ext cx="1643074" cy="428628"/>
          </a:xfrm>
          <a:prstGeom prst="rect">
            <a:avLst/>
          </a:prstGeom>
          <a:solidFill>
            <a:srgbClr val="C37BC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 err="1"/>
              <a:t>M</a:t>
            </a:r>
            <a:r>
              <a:rPr kumimoji="1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emList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357950" y="2417206"/>
            <a:ext cx="2143140" cy="3929090"/>
          </a:xfrm>
          <a:prstGeom prst="rect">
            <a:avLst/>
          </a:prstGeom>
          <a:noFill/>
          <a:ln w="15875" cap="flat" cmpd="tri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357950" y="2417206"/>
            <a:ext cx="2143140" cy="642942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MemNode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7950" y="3131586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empty</a:t>
            </a:r>
            <a:endParaRPr lang="zh-CN" altLang="en-US" sz="2000" dirty="0"/>
          </a:p>
        </p:txBody>
      </p:sp>
      <p:cxnSp>
        <p:nvCxnSpPr>
          <p:cNvPr id="14" name="直接连接符 13"/>
          <p:cNvCxnSpPr>
            <a:stCxn id="10" idx="1"/>
            <a:endCxn id="10" idx="3"/>
          </p:cNvCxnSpPr>
          <p:nvPr/>
        </p:nvCxnSpPr>
        <p:spPr bwMode="auto">
          <a:xfrm rot="10800000" flipH="1">
            <a:off x="6357950" y="3560214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6357950" y="3619510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null</a:t>
            </a:r>
            <a:endParaRPr lang="zh-CN" altLang="en-US" sz="2000" dirty="0"/>
          </a:p>
        </p:txBody>
      </p:sp>
      <p:sp>
        <p:nvSpPr>
          <p:cNvPr id="20" name="矩形 19"/>
          <p:cNvSpPr/>
          <p:nvPr/>
        </p:nvSpPr>
        <p:spPr bwMode="auto">
          <a:xfrm>
            <a:off x="6357950" y="4131718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57950" y="4191014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Person 2</a:t>
            </a:r>
            <a:endParaRPr lang="zh-CN" altLang="en-US" sz="2000" dirty="0"/>
          </a:p>
        </p:txBody>
      </p:sp>
      <p:cxnSp>
        <p:nvCxnSpPr>
          <p:cNvPr id="22" name="直接连接符 21"/>
          <p:cNvCxnSpPr/>
          <p:nvPr/>
        </p:nvCxnSpPr>
        <p:spPr bwMode="auto">
          <a:xfrm rot="10800000" flipH="1">
            <a:off x="6357950" y="4630195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357950" y="4691080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sp>
        <p:nvSpPr>
          <p:cNvPr id="24" name="矩形 23"/>
          <p:cNvSpPr/>
          <p:nvPr/>
        </p:nvSpPr>
        <p:spPr bwMode="auto">
          <a:xfrm>
            <a:off x="6357951" y="5203288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57951" y="5262584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empty</a:t>
            </a:r>
            <a:endParaRPr lang="zh-CN" altLang="en-US" sz="2000" dirty="0"/>
          </a:p>
        </p:txBody>
      </p:sp>
      <p:cxnSp>
        <p:nvCxnSpPr>
          <p:cNvPr id="26" name="直接连接符 25"/>
          <p:cNvCxnSpPr/>
          <p:nvPr/>
        </p:nvCxnSpPr>
        <p:spPr bwMode="auto">
          <a:xfrm rot="10800000" flipH="1">
            <a:off x="6357951" y="5703354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357951" y="5762650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sp>
        <p:nvSpPr>
          <p:cNvPr id="28" name="右箭头 27"/>
          <p:cNvSpPr/>
          <p:nvPr/>
        </p:nvSpPr>
        <p:spPr bwMode="auto">
          <a:xfrm>
            <a:off x="53747" y="4857760"/>
            <a:ext cx="428628" cy="214314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29" name="直接箭头连接符 28"/>
          <p:cNvCxnSpPr/>
          <p:nvPr/>
        </p:nvCxnSpPr>
        <p:spPr bwMode="auto">
          <a:xfrm>
            <a:off x="2714612" y="4284668"/>
            <a:ext cx="571504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1785918" y="4143380"/>
            <a:ext cx="100013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200" b="1" dirty="0" err="1"/>
              <a:t>now_avail</a:t>
            </a:r>
            <a:endParaRPr lang="zh-CN" altLang="en-US" sz="1200" b="1" dirty="0"/>
          </a:p>
        </p:txBody>
      </p:sp>
      <p:cxnSp>
        <p:nvCxnSpPr>
          <p:cNvPr id="32" name="曲线连接符 31"/>
          <p:cNvCxnSpPr/>
          <p:nvPr/>
        </p:nvCxnSpPr>
        <p:spPr bwMode="auto">
          <a:xfrm>
            <a:off x="8501090" y="4917536"/>
            <a:ext cx="1588" cy="571504"/>
          </a:xfrm>
          <a:prstGeom prst="curvedConnector3">
            <a:avLst>
              <a:gd name="adj1" fmla="val 14395466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2" name="曲线连接符 71"/>
          <p:cNvCxnSpPr>
            <a:stCxn id="27" idx="3"/>
            <a:endCxn id="12" idx="3"/>
          </p:cNvCxnSpPr>
          <p:nvPr/>
        </p:nvCxnSpPr>
        <p:spPr bwMode="auto">
          <a:xfrm flipH="1" flipV="1">
            <a:off x="8501090" y="3316252"/>
            <a:ext cx="1" cy="2631064"/>
          </a:xfrm>
          <a:prstGeom prst="curvedConnector3">
            <a:avLst>
              <a:gd name="adj1" fmla="val -2286000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" name="矩形 32"/>
          <p:cNvSpPr/>
          <p:nvPr/>
        </p:nvSpPr>
        <p:spPr bwMode="auto">
          <a:xfrm>
            <a:off x="3428992" y="307181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4" name="矩形 33"/>
          <p:cNvSpPr/>
          <p:nvPr/>
        </p:nvSpPr>
        <p:spPr bwMode="auto">
          <a:xfrm>
            <a:off x="3643306" y="1500174"/>
            <a:ext cx="1643074" cy="428628"/>
          </a:xfrm>
          <a:prstGeom prst="rect">
            <a:avLst/>
          </a:prstGeom>
          <a:solidFill>
            <a:srgbClr val="C37BC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 err="1"/>
              <a:t>M</a:t>
            </a:r>
            <a:r>
              <a:rPr kumimoji="1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emList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3428992" y="2428868"/>
            <a:ext cx="2143140" cy="3929090"/>
          </a:xfrm>
          <a:prstGeom prst="rect">
            <a:avLst/>
          </a:prstGeom>
          <a:noFill/>
          <a:ln w="15875" cap="flat" cmpd="tri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6" name="矩形 35"/>
          <p:cNvSpPr/>
          <p:nvPr/>
        </p:nvSpPr>
        <p:spPr bwMode="auto">
          <a:xfrm>
            <a:off x="3428992" y="2428868"/>
            <a:ext cx="2143140" cy="642942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MemNode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428992" y="3143248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Person 5</a:t>
            </a:r>
            <a:endParaRPr lang="zh-CN" altLang="en-US" sz="2000" dirty="0"/>
          </a:p>
        </p:txBody>
      </p:sp>
      <p:cxnSp>
        <p:nvCxnSpPr>
          <p:cNvPr id="38" name="直接连接符 37"/>
          <p:cNvCxnSpPr>
            <a:stCxn id="33" idx="1"/>
            <a:endCxn id="33" idx="3"/>
          </p:cNvCxnSpPr>
          <p:nvPr/>
        </p:nvCxnSpPr>
        <p:spPr bwMode="auto">
          <a:xfrm rot="10800000" flipH="1">
            <a:off x="3428992" y="3571876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3428992" y="363117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sp>
        <p:nvSpPr>
          <p:cNvPr id="40" name="矩形 39"/>
          <p:cNvSpPr/>
          <p:nvPr/>
        </p:nvSpPr>
        <p:spPr bwMode="auto">
          <a:xfrm>
            <a:off x="3428992" y="414338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428992" y="4202676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empty</a:t>
            </a:r>
            <a:endParaRPr lang="zh-CN" altLang="en-US" sz="2000" dirty="0"/>
          </a:p>
        </p:txBody>
      </p:sp>
      <p:cxnSp>
        <p:nvCxnSpPr>
          <p:cNvPr id="42" name="直接连接符 41"/>
          <p:cNvCxnSpPr/>
          <p:nvPr/>
        </p:nvCxnSpPr>
        <p:spPr bwMode="auto">
          <a:xfrm rot="10800000" flipH="1">
            <a:off x="3428992" y="4641857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3428992" y="470274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sp>
        <p:nvSpPr>
          <p:cNvPr id="44" name="矩形 43"/>
          <p:cNvSpPr/>
          <p:nvPr/>
        </p:nvSpPr>
        <p:spPr bwMode="auto">
          <a:xfrm>
            <a:off x="3428993" y="521495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428993" y="5274246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empty</a:t>
            </a:r>
            <a:endParaRPr lang="zh-CN" altLang="en-US" sz="2000" dirty="0"/>
          </a:p>
        </p:txBody>
      </p:sp>
      <p:cxnSp>
        <p:nvCxnSpPr>
          <p:cNvPr id="46" name="直接连接符 45"/>
          <p:cNvCxnSpPr/>
          <p:nvPr/>
        </p:nvCxnSpPr>
        <p:spPr bwMode="auto">
          <a:xfrm rot="10800000" flipH="1">
            <a:off x="3428993" y="5715016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3428993" y="577431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cxnSp>
        <p:nvCxnSpPr>
          <p:cNvPr id="53" name="曲线连接符 52"/>
          <p:cNvCxnSpPr>
            <a:stCxn id="39" idx="3"/>
            <a:endCxn id="41" idx="3"/>
          </p:cNvCxnSpPr>
          <p:nvPr/>
        </p:nvCxnSpPr>
        <p:spPr bwMode="auto">
          <a:xfrm>
            <a:off x="5572132" y="3815838"/>
            <a:ext cx="1588" cy="571504"/>
          </a:xfrm>
          <a:prstGeom prst="curvedConnector3">
            <a:avLst>
              <a:gd name="adj1" fmla="val 14395466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曲线连接符 55"/>
          <p:cNvCxnSpPr>
            <a:stCxn id="43" idx="3"/>
            <a:endCxn id="45" idx="3"/>
          </p:cNvCxnSpPr>
          <p:nvPr/>
        </p:nvCxnSpPr>
        <p:spPr bwMode="auto">
          <a:xfrm>
            <a:off x="5572132" y="4887408"/>
            <a:ext cx="1" cy="571504"/>
          </a:xfrm>
          <a:prstGeom prst="curvedConnector3">
            <a:avLst>
              <a:gd name="adj1" fmla="val 2286010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1" name="直接箭头连接符 60"/>
          <p:cNvCxnSpPr>
            <a:stCxn id="6" idx="2"/>
            <a:endCxn id="9" idx="0"/>
          </p:cNvCxnSpPr>
          <p:nvPr/>
        </p:nvCxnSpPr>
        <p:spPr bwMode="auto">
          <a:xfrm rot="5400000">
            <a:off x="7197347" y="2149314"/>
            <a:ext cx="500066" cy="35719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3" name="直接箭头连接符 62"/>
          <p:cNvCxnSpPr>
            <a:stCxn id="34" idx="2"/>
          </p:cNvCxnSpPr>
          <p:nvPr/>
        </p:nvCxnSpPr>
        <p:spPr bwMode="auto">
          <a:xfrm rot="16200000" flipH="1">
            <a:off x="4232670" y="2160975"/>
            <a:ext cx="500067" cy="3572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8" name="直接箭头连接符 67"/>
          <p:cNvCxnSpPr>
            <a:stCxn id="34" idx="3"/>
            <a:endCxn id="6" idx="1"/>
          </p:cNvCxnSpPr>
          <p:nvPr/>
        </p:nvCxnSpPr>
        <p:spPr bwMode="auto">
          <a:xfrm flipV="1">
            <a:off x="5286380" y="1702826"/>
            <a:ext cx="1357322" cy="1166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1" name="直接箭头连接符 70"/>
          <p:cNvCxnSpPr>
            <a:stCxn id="4" idx="2"/>
            <a:endCxn id="34" idx="0"/>
          </p:cNvCxnSpPr>
          <p:nvPr/>
        </p:nvCxnSpPr>
        <p:spPr bwMode="auto">
          <a:xfrm rot="5400000">
            <a:off x="4268389" y="1268001"/>
            <a:ext cx="428628" cy="35719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2" name="直接箭头连接符 51"/>
          <p:cNvCxnSpPr/>
          <p:nvPr/>
        </p:nvCxnSpPr>
        <p:spPr bwMode="auto">
          <a:xfrm>
            <a:off x="5929322" y="5214950"/>
            <a:ext cx="571504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5929322" y="5286388"/>
            <a:ext cx="100013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200" b="1" dirty="0" err="1"/>
              <a:t>now_avail</a:t>
            </a:r>
            <a:endParaRPr lang="zh-CN" altLang="en-US" sz="1200" b="1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53813" y="2143116"/>
            <a:ext cx="2589427" cy="40811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p1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p2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endParaRPr lang="en-US" altLang="zh-CN" sz="1600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p1;</a:t>
            </a:r>
          </a:p>
          <a:p>
            <a:pPr algn="l" eaLnBrk="1" hangingPunct="1">
              <a:lnSpc>
                <a:spcPct val="90000"/>
              </a:lnSpc>
              <a:buNone/>
            </a:pPr>
            <a:endParaRPr lang="en-US" altLang="zh-CN" sz="1600" dirty="0"/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p3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p4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Person* p5 = new Person;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p3;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p4;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p2;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delete p5;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600" dirty="0"/>
              <a:t>	</a:t>
            </a:r>
            <a:endParaRPr lang="zh-CN" altLang="en-US" sz="1600" dirty="0"/>
          </a:p>
        </p:txBody>
      </p:sp>
      <p:sp>
        <p:nvSpPr>
          <p:cNvPr id="4" name="矩形 3"/>
          <p:cNvSpPr/>
          <p:nvPr/>
        </p:nvSpPr>
        <p:spPr bwMode="auto">
          <a:xfrm>
            <a:off x="5641982" y="642918"/>
            <a:ext cx="2000264" cy="428628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pool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28" name="右箭头 27"/>
          <p:cNvSpPr/>
          <p:nvPr/>
        </p:nvSpPr>
        <p:spPr bwMode="auto">
          <a:xfrm>
            <a:off x="53747" y="5214950"/>
            <a:ext cx="428628" cy="214314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cxnSp>
        <p:nvCxnSpPr>
          <p:cNvPr id="29" name="直接箭头连接符 28"/>
          <p:cNvCxnSpPr/>
          <p:nvPr/>
        </p:nvCxnSpPr>
        <p:spPr bwMode="auto">
          <a:xfrm>
            <a:off x="4857752" y="4169012"/>
            <a:ext cx="571504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3929058" y="4027724"/>
            <a:ext cx="100013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1200" b="1" dirty="0" err="1"/>
              <a:t>now_avail</a:t>
            </a:r>
            <a:endParaRPr lang="zh-CN" altLang="en-US" sz="1200" b="1" dirty="0"/>
          </a:p>
        </p:txBody>
      </p:sp>
      <p:sp>
        <p:nvSpPr>
          <p:cNvPr id="33" name="矩形 32"/>
          <p:cNvSpPr/>
          <p:nvPr/>
        </p:nvSpPr>
        <p:spPr bwMode="auto">
          <a:xfrm>
            <a:off x="5570544" y="307181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4" name="矩形 33"/>
          <p:cNvSpPr/>
          <p:nvPr/>
        </p:nvSpPr>
        <p:spPr bwMode="auto">
          <a:xfrm>
            <a:off x="5784858" y="1500174"/>
            <a:ext cx="1643074" cy="428628"/>
          </a:xfrm>
          <a:prstGeom prst="rect">
            <a:avLst/>
          </a:prstGeom>
          <a:solidFill>
            <a:srgbClr val="C37BC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 err="1"/>
              <a:t>M</a:t>
            </a:r>
            <a:r>
              <a:rPr kumimoji="1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emList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5570544" y="2428868"/>
            <a:ext cx="2143140" cy="3929090"/>
          </a:xfrm>
          <a:prstGeom prst="rect">
            <a:avLst/>
          </a:prstGeom>
          <a:noFill/>
          <a:ln w="15875" cap="flat" cmpd="tri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6" name="矩形 35"/>
          <p:cNvSpPr/>
          <p:nvPr/>
        </p:nvSpPr>
        <p:spPr bwMode="auto">
          <a:xfrm>
            <a:off x="5570544" y="2428868"/>
            <a:ext cx="2143140" cy="642942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rPr>
              <a:t>MemNode</a:t>
            </a: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570544" y="3143248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Person 5</a:t>
            </a:r>
            <a:endParaRPr lang="zh-CN" altLang="en-US" sz="2000" dirty="0"/>
          </a:p>
        </p:txBody>
      </p:sp>
      <p:cxnSp>
        <p:nvCxnSpPr>
          <p:cNvPr id="38" name="直接连接符 37"/>
          <p:cNvCxnSpPr>
            <a:stCxn id="33" idx="1"/>
            <a:endCxn id="33" idx="3"/>
          </p:cNvCxnSpPr>
          <p:nvPr/>
        </p:nvCxnSpPr>
        <p:spPr bwMode="auto">
          <a:xfrm rot="10800000" flipH="1">
            <a:off x="5570544" y="3571876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5570544" y="363117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sp>
        <p:nvSpPr>
          <p:cNvPr id="40" name="矩形 39"/>
          <p:cNvSpPr/>
          <p:nvPr/>
        </p:nvSpPr>
        <p:spPr bwMode="auto">
          <a:xfrm>
            <a:off x="5570544" y="414338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570544" y="4202676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empty</a:t>
            </a:r>
            <a:endParaRPr lang="zh-CN" altLang="en-US" sz="2000" dirty="0"/>
          </a:p>
        </p:txBody>
      </p:sp>
      <p:cxnSp>
        <p:nvCxnSpPr>
          <p:cNvPr id="42" name="直接连接符 41"/>
          <p:cNvCxnSpPr/>
          <p:nvPr/>
        </p:nvCxnSpPr>
        <p:spPr bwMode="auto">
          <a:xfrm rot="10800000" flipH="1">
            <a:off x="5570544" y="4641857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5570544" y="470274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sp>
        <p:nvSpPr>
          <p:cNvPr id="44" name="矩形 43"/>
          <p:cNvSpPr/>
          <p:nvPr/>
        </p:nvSpPr>
        <p:spPr bwMode="auto">
          <a:xfrm>
            <a:off x="5570545" y="5214950"/>
            <a:ext cx="2143140" cy="10001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med"/>
          </a:ln>
          <a:effectLst>
            <a:innerShdw blurRad="114300">
              <a:prstClr val="black"/>
            </a:inn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570545" y="5274246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empty</a:t>
            </a:r>
            <a:endParaRPr lang="zh-CN" altLang="en-US" sz="2000" dirty="0"/>
          </a:p>
        </p:txBody>
      </p:sp>
      <p:cxnSp>
        <p:nvCxnSpPr>
          <p:cNvPr id="46" name="直接连接符 45"/>
          <p:cNvCxnSpPr/>
          <p:nvPr/>
        </p:nvCxnSpPr>
        <p:spPr bwMode="auto">
          <a:xfrm rot="10800000" flipH="1">
            <a:off x="5570545" y="5715016"/>
            <a:ext cx="2143140" cy="1588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rgbClr val="00206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5570545" y="5774312"/>
            <a:ext cx="214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next</a:t>
            </a:r>
            <a:endParaRPr lang="zh-CN" altLang="en-US" sz="2000" dirty="0"/>
          </a:p>
        </p:txBody>
      </p:sp>
      <p:cxnSp>
        <p:nvCxnSpPr>
          <p:cNvPr id="53" name="曲线连接符 52"/>
          <p:cNvCxnSpPr>
            <a:stCxn id="39" idx="3"/>
            <a:endCxn id="41" idx="3"/>
          </p:cNvCxnSpPr>
          <p:nvPr/>
        </p:nvCxnSpPr>
        <p:spPr bwMode="auto">
          <a:xfrm>
            <a:off x="7713684" y="3815838"/>
            <a:ext cx="1588" cy="571504"/>
          </a:xfrm>
          <a:prstGeom prst="curvedConnector3">
            <a:avLst>
              <a:gd name="adj1" fmla="val 14395466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曲线连接符 55"/>
          <p:cNvCxnSpPr>
            <a:stCxn id="43" idx="3"/>
            <a:endCxn id="45" idx="3"/>
          </p:cNvCxnSpPr>
          <p:nvPr/>
        </p:nvCxnSpPr>
        <p:spPr bwMode="auto">
          <a:xfrm>
            <a:off x="7713684" y="4887408"/>
            <a:ext cx="1" cy="571504"/>
          </a:xfrm>
          <a:prstGeom prst="curvedConnector3">
            <a:avLst>
              <a:gd name="adj1" fmla="val 22860100000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3" name="直接箭头连接符 62"/>
          <p:cNvCxnSpPr>
            <a:stCxn id="34" idx="2"/>
          </p:cNvCxnSpPr>
          <p:nvPr/>
        </p:nvCxnSpPr>
        <p:spPr bwMode="auto">
          <a:xfrm rot="16200000" flipH="1">
            <a:off x="6374222" y="2160975"/>
            <a:ext cx="500067" cy="3572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1" name="直接箭头连接符 70"/>
          <p:cNvCxnSpPr>
            <a:stCxn id="4" idx="2"/>
            <a:endCxn id="34" idx="0"/>
          </p:cNvCxnSpPr>
          <p:nvPr/>
        </p:nvCxnSpPr>
        <p:spPr bwMode="auto">
          <a:xfrm rot="5400000">
            <a:off x="6409941" y="1268001"/>
            <a:ext cx="428628" cy="35719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这样的</a:t>
            </a:r>
            <a:r>
              <a:rPr lang="en-US" altLang="zh-CN" dirty="0"/>
              <a:t>pool</a:t>
            </a:r>
            <a:r>
              <a:rPr lang="zh-CN" altLang="en-US" dirty="0"/>
              <a:t>能不能为通用的对象服务？如果不行，怎样可以？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06" y="-357214"/>
            <a:ext cx="7793037" cy="1143000"/>
          </a:xfrm>
        </p:spPr>
        <p:txBody>
          <a:bodyPr/>
          <a:lstStyle/>
          <a:p>
            <a:r>
              <a:rPr lang="zh-CN" altLang="en-US" dirty="0"/>
              <a:t>内存池实现（模板）</a:t>
            </a:r>
          </a:p>
        </p:txBody>
      </p:sp>
      <p:pic>
        <p:nvPicPr>
          <p:cNvPr id="2049" name="Picture 1" descr="C:\Users\Administrator\AppData\Roaming\Tencent\Users\405024670\QQ\WinTemp\RichOle\6}TW13]S)7CN_FWT(~PTKXK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1736" y="785794"/>
            <a:ext cx="5886450" cy="2428875"/>
          </a:xfrm>
          <a:prstGeom prst="rect">
            <a:avLst/>
          </a:prstGeom>
          <a:noFill/>
        </p:spPr>
      </p:pic>
      <p:pic>
        <p:nvPicPr>
          <p:cNvPr id="2050" name="Picture 2" descr="C:\Users\Administrator\AppData\Roaming\Tencent\Users\405024670\QQ\WinTemp\RichOle\U}(C%W_Y7BP[@4S4%G%8(X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34" y="3286124"/>
            <a:ext cx="7391400" cy="32956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操作符重载的使用场景</a:t>
            </a:r>
          </a:p>
        </p:txBody>
      </p:sp>
      <p:pic>
        <p:nvPicPr>
          <p:cNvPr id="68610" name="Picture 2" descr="http://img.taopic.com/uploads/allimg/120731/201503-120I12221403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428868"/>
            <a:ext cx="3688374" cy="2714644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357422" y="5357826"/>
            <a:ext cx="121444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zh-CN" altLang="en-US" b="1" dirty="0">
                <a:solidFill>
                  <a:srgbClr val="7030A0"/>
                </a:solidFill>
              </a:rPr>
              <a:t>货架</a:t>
            </a:r>
          </a:p>
        </p:txBody>
      </p:sp>
      <p:pic>
        <p:nvPicPr>
          <p:cNvPr id="68612" name="Picture 4" descr="http://image5.huangye88.com/2013/05/31/13f2a0c56badb99f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16" y="3071810"/>
            <a:ext cx="1785950" cy="1643074"/>
          </a:xfrm>
          <a:prstGeom prst="rect">
            <a:avLst/>
          </a:prstGeom>
          <a:noFill/>
        </p:spPr>
      </p:pic>
      <p:cxnSp>
        <p:nvCxnSpPr>
          <p:cNvPr id="9" name="直接箭头连接符 8"/>
          <p:cNvCxnSpPr/>
          <p:nvPr/>
        </p:nvCxnSpPr>
        <p:spPr bwMode="auto">
          <a:xfrm flipV="1">
            <a:off x="5143504" y="4143380"/>
            <a:ext cx="1357322" cy="1166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直接箭头连接符 9"/>
          <p:cNvCxnSpPr/>
          <p:nvPr/>
        </p:nvCxnSpPr>
        <p:spPr bwMode="auto">
          <a:xfrm rot="10800000">
            <a:off x="5072066" y="3643314"/>
            <a:ext cx="1357322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5357818" y="3143248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new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86380" y="4357694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delete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43504" y="2357430"/>
            <a:ext cx="185738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7030A0"/>
                </a:solidFill>
              </a:rPr>
              <a:t>producer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00628" y="5143512"/>
            <a:ext cx="185738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7030A0"/>
                </a:solidFill>
              </a:rPr>
              <a:t>consumer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操作符重载的使用场景</a:t>
            </a:r>
          </a:p>
        </p:txBody>
      </p: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r>
              <a:rPr lang="zh-CN" altLang="en-US" dirty="0"/>
              <a:t>设备通信</a:t>
            </a:r>
            <a:endParaRPr lang="en-US" altLang="zh-CN" dirty="0"/>
          </a:p>
          <a:p>
            <a:pPr lvl="1"/>
            <a:r>
              <a:rPr lang="zh-CN" altLang="en-US" dirty="0"/>
              <a:t>进程间共享内存</a:t>
            </a:r>
            <a:endParaRPr lang="en-US" altLang="zh-CN" dirty="0"/>
          </a:p>
          <a:p>
            <a:pPr lvl="1"/>
            <a:r>
              <a:rPr lang="zh-CN" altLang="en-US" dirty="0"/>
              <a:t>交互内容放置在指定位置</a:t>
            </a:r>
            <a:endParaRPr lang="en-US" altLang="zh-CN" dirty="0"/>
          </a:p>
          <a:p>
            <a:pPr lvl="1"/>
            <a:r>
              <a:rPr lang="zh-CN" altLang="en-US" dirty="0"/>
              <a:t>信息共享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名掩盖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dirty="0"/>
              <a:t>class Base {</a:t>
            </a:r>
          </a:p>
          <a:p>
            <a:pPr marL="0" indent="0">
              <a:buNone/>
            </a:pPr>
            <a:r>
              <a:rPr lang="en-US" altLang="zh-CN" sz="2400" dirty="0"/>
              <a:t>public:</a:t>
            </a:r>
          </a:p>
          <a:p>
            <a:pPr marL="0" indent="0">
              <a:buNone/>
            </a:pPr>
            <a:r>
              <a:rPr lang="en-US" altLang="zh-CN" sz="2400" dirty="0"/>
              <a:t>  static void* operator new(</a:t>
            </a:r>
            <a:r>
              <a:rPr lang="en-US" altLang="zh-CN" sz="2400" dirty="0" err="1"/>
              <a:t>std</a:t>
            </a:r>
            <a:r>
              <a:rPr lang="en-US" altLang="zh-CN" sz="2400" dirty="0"/>
              <a:t>::</a:t>
            </a:r>
            <a:r>
              <a:rPr lang="en-US" altLang="zh-CN" sz="2400" dirty="0" err="1"/>
              <a:t>size_t</a:t>
            </a:r>
            <a:r>
              <a:rPr lang="en-US" altLang="zh-CN" sz="2400" dirty="0"/>
              <a:t> size, </a:t>
            </a:r>
            <a:r>
              <a:rPr lang="en-US" altLang="zh-CN" sz="2400" dirty="0" err="1"/>
              <a:t>std</a:t>
            </a:r>
            <a:r>
              <a:rPr lang="en-US" altLang="zh-CN" sz="2400" dirty="0"/>
              <a:t>::</a:t>
            </a:r>
            <a:r>
              <a:rPr lang="en-US" altLang="zh-CN" sz="2400" dirty="0" err="1"/>
              <a:t>ostream</a:t>
            </a:r>
            <a:r>
              <a:rPr lang="en-US" altLang="zh-CN" sz="2400" dirty="0"/>
              <a:t>&amp; </a:t>
            </a:r>
            <a:r>
              <a:rPr lang="en-US" altLang="zh-CN" sz="2400" dirty="0" err="1"/>
              <a:t>logStream</a:t>
            </a:r>
            <a:r>
              <a:rPr lang="en-US" altLang="zh-CN" sz="2400" dirty="0"/>
              <a:t>) throw (</a:t>
            </a:r>
            <a:r>
              <a:rPr lang="en-US" altLang="zh-CN" sz="2400" dirty="0" err="1"/>
              <a:t>std</a:t>
            </a:r>
            <a:r>
              <a:rPr lang="en-US" altLang="zh-CN" sz="2400" dirty="0"/>
              <a:t>: :</a:t>
            </a:r>
            <a:r>
              <a:rPr lang="en-US" altLang="zh-CN" sz="2400" dirty="0" err="1"/>
              <a:t>bad_alloc</a:t>
            </a:r>
            <a:r>
              <a:rPr lang="en-US" altLang="zh-CN" sz="2400" dirty="0"/>
              <a:t>);</a:t>
            </a:r>
          </a:p>
          <a:p>
            <a:pPr marL="0" indent="0">
              <a:buNone/>
            </a:pPr>
            <a:r>
              <a:rPr lang="en-US" altLang="zh-CN" sz="2400" dirty="0"/>
              <a:t>}</a:t>
            </a:r>
          </a:p>
          <a:p>
            <a:endParaRPr lang="en-US" altLang="zh-CN" sz="2400" dirty="0"/>
          </a:p>
          <a:p>
            <a:pPr lvl="1"/>
            <a:r>
              <a:rPr lang="en-US" altLang="zh-CN" sz="2000" dirty="0"/>
              <a:t>Base* </a:t>
            </a:r>
            <a:r>
              <a:rPr lang="en-US" altLang="zh-CN" sz="2000" dirty="0" err="1"/>
              <a:t>pb</a:t>
            </a:r>
            <a:r>
              <a:rPr lang="en-US" altLang="zh-CN" sz="2000" dirty="0"/>
              <a:t> = new Base; </a:t>
            </a:r>
          </a:p>
          <a:p>
            <a:pPr lvl="1"/>
            <a:r>
              <a:rPr lang="en-US" altLang="zh-CN" sz="2000" dirty="0"/>
              <a:t>Base* </a:t>
            </a:r>
            <a:r>
              <a:rPr lang="en-US" altLang="zh-CN" sz="2000" dirty="0" err="1"/>
              <a:t>pb</a:t>
            </a:r>
            <a:r>
              <a:rPr lang="en-US" altLang="zh-CN" sz="2000" dirty="0"/>
              <a:t> = new (</a:t>
            </a:r>
            <a:r>
              <a:rPr lang="en-US" altLang="zh-CN" sz="2000" dirty="0" err="1"/>
              <a:t>std</a:t>
            </a:r>
            <a:r>
              <a:rPr lang="en-US" altLang="zh-CN" sz="2000" dirty="0"/>
              <a:t>::</a:t>
            </a:r>
            <a:r>
              <a:rPr lang="en-US" altLang="zh-CN" sz="2000" dirty="0" err="1"/>
              <a:t>cerr</a:t>
            </a:r>
            <a:r>
              <a:rPr lang="en-US" altLang="zh-CN" sz="2000" dirty="0"/>
              <a:t>) Base;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27428" y="4653136"/>
            <a:ext cx="4327660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l">
              <a:lnSpc>
                <a:spcPct val="9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//</a:t>
            </a:r>
            <a:r>
              <a:rPr lang="zh-CN" altLang="en-US" sz="1800" dirty="0">
                <a:solidFill>
                  <a:srgbClr val="FF0000"/>
                </a:solidFill>
              </a:rPr>
              <a:t>错误！正常形式的</a:t>
            </a:r>
            <a:r>
              <a:rPr lang="en-US" altLang="zh-CN" sz="1800" dirty="0">
                <a:solidFill>
                  <a:srgbClr val="FF0000"/>
                </a:solidFill>
              </a:rPr>
              <a:t>operator new </a:t>
            </a:r>
            <a:r>
              <a:rPr lang="zh-CN" altLang="en-US" sz="1800" dirty="0">
                <a:solidFill>
                  <a:srgbClr val="FF0000"/>
                </a:solidFill>
              </a:rPr>
              <a:t>被掩盖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24128" y="4986497"/>
            <a:ext cx="2420406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l">
              <a:lnSpc>
                <a:spcPct val="9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//</a:t>
            </a:r>
            <a:r>
              <a:rPr lang="zh-CN" altLang="en-US" sz="1800" dirty="0">
                <a:solidFill>
                  <a:srgbClr val="FF0000"/>
                </a:solidFill>
              </a:rPr>
              <a:t>正确调用</a:t>
            </a:r>
            <a:r>
              <a:rPr lang="en-US" altLang="zh-CN" sz="1800" dirty="0">
                <a:solidFill>
                  <a:srgbClr val="FF0000"/>
                </a:solidFill>
              </a:rPr>
              <a:t>Base</a:t>
            </a:r>
            <a:r>
              <a:rPr lang="zh-CN" altLang="en-US" sz="1800" dirty="0">
                <a:solidFill>
                  <a:srgbClr val="FF0000"/>
                </a:solidFill>
              </a:rPr>
              <a:t>的</a:t>
            </a:r>
            <a:r>
              <a:rPr lang="en-US" altLang="zh-CN" sz="1800" dirty="0">
                <a:solidFill>
                  <a:srgbClr val="FF0000"/>
                </a:solidFill>
              </a:rPr>
              <a:t>new</a:t>
            </a:r>
          </a:p>
        </p:txBody>
      </p:sp>
    </p:spTree>
    <p:extLst>
      <p:ext uri="{BB962C8B-B14F-4D97-AF65-F5344CB8AC3E}">
        <p14:creationId xmlns:p14="http://schemas.microsoft.com/office/powerpoint/2010/main" val="2670915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名掩盖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dirty="0"/>
              <a:t>class Derived: public Base { </a:t>
            </a:r>
          </a:p>
          <a:p>
            <a:pPr marL="0" indent="0">
              <a:buNone/>
            </a:pPr>
            <a:r>
              <a:rPr lang="en-US" altLang="zh-CN" sz="2400" dirty="0"/>
              <a:t>public:</a:t>
            </a:r>
          </a:p>
          <a:p>
            <a:pPr marL="0" indent="0">
              <a:buNone/>
            </a:pPr>
            <a:r>
              <a:rPr lang="en-US" altLang="zh-CN" sz="2400" dirty="0"/>
              <a:t>  static void* operator new(</a:t>
            </a:r>
            <a:r>
              <a:rPr lang="en-US" altLang="zh-CN" sz="2400" dirty="0" err="1"/>
              <a:t>std</a:t>
            </a:r>
            <a:r>
              <a:rPr lang="en-US" altLang="zh-CN" sz="2400" dirty="0"/>
              <a:t>::</a:t>
            </a:r>
            <a:r>
              <a:rPr lang="en-US" altLang="zh-CN" sz="2400" dirty="0" err="1"/>
              <a:t>size_t</a:t>
            </a:r>
            <a:r>
              <a:rPr lang="en-US" altLang="zh-CN" sz="2400" dirty="0"/>
              <a:t> size) </a:t>
            </a:r>
          </a:p>
          <a:p>
            <a:pPr marL="0" indent="0">
              <a:buNone/>
            </a:pPr>
            <a:r>
              <a:rPr lang="en-US" altLang="zh-CN" sz="2400" dirty="0"/>
              <a:t>       throw (</a:t>
            </a:r>
            <a:r>
              <a:rPr lang="en-US" altLang="zh-CN" sz="2400" dirty="0" err="1"/>
              <a:t>std</a:t>
            </a:r>
            <a:r>
              <a:rPr lang="en-US" altLang="zh-CN" sz="2400" dirty="0"/>
              <a:t>::bad </a:t>
            </a:r>
            <a:r>
              <a:rPr lang="en-US" altLang="zh-CN" sz="2400" dirty="0" err="1"/>
              <a:t>alloc</a:t>
            </a:r>
            <a:r>
              <a:rPr lang="en-US" altLang="zh-CN" sz="2400" dirty="0"/>
              <a:t>) ; //</a:t>
            </a:r>
            <a:r>
              <a:rPr lang="zh-CN" altLang="en-US" sz="2400" dirty="0"/>
              <a:t>重新声明正常形式的</a:t>
            </a:r>
            <a:r>
              <a:rPr lang="en-US" altLang="zh-CN" sz="2400" dirty="0"/>
              <a:t>new</a:t>
            </a:r>
          </a:p>
          <a:p>
            <a:pPr marL="0" indent="0">
              <a:buNone/>
            </a:pPr>
            <a:r>
              <a:rPr lang="en-US" altLang="zh-CN" sz="2400" dirty="0"/>
              <a:t>};</a:t>
            </a:r>
          </a:p>
          <a:p>
            <a:endParaRPr lang="en-US" altLang="zh-CN" sz="2400" dirty="0"/>
          </a:p>
          <a:p>
            <a:pPr lvl="1"/>
            <a:r>
              <a:rPr lang="en-US" altLang="zh-CN" sz="2000" dirty="0"/>
              <a:t>Derived* </a:t>
            </a:r>
            <a:r>
              <a:rPr lang="en-US" altLang="zh-CN" sz="2000" dirty="0" err="1"/>
              <a:t>pd</a:t>
            </a:r>
            <a:r>
              <a:rPr lang="en-US" altLang="zh-CN" sz="2000" dirty="0"/>
              <a:t>= new (</a:t>
            </a:r>
            <a:r>
              <a:rPr lang="en-US" altLang="zh-CN" sz="2000" dirty="0" err="1"/>
              <a:t>std</a:t>
            </a:r>
            <a:r>
              <a:rPr lang="en-US" altLang="zh-CN" sz="2000" dirty="0"/>
              <a:t>::clog) Derived;</a:t>
            </a:r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Base* </a:t>
            </a:r>
            <a:r>
              <a:rPr lang="en-US" altLang="zh-CN" sz="2000" dirty="0" err="1"/>
              <a:t>pb</a:t>
            </a:r>
            <a:r>
              <a:rPr lang="en-US" altLang="zh-CN" sz="2000" dirty="0"/>
              <a:t> = new (</a:t>
            </a:r>
            <a:r>
              <a:rPr lang="en-US" altLang="zh-CN" sz="2000" dirty="0" err="1"/>
              <a:t>std</a:t>
            </a:r>
            <a:r>
              <a:rPr lang="en-US" altLang="zh-CN" sz="2000" dirty="0"/>
              <a:t>::</a:t>
            </a:r>
            <a:r>
              <a:rPr lang="en-US" altLang="zh-CN" sz="2000" dirty="0" err="1"/>
              <a:t>cerr</a:t>
            </a:r>
            <a:r>
              <a:rPr lang="en-US" altLang="zh-CN" sz="2000" dirty="0"/>
              <a:t>) Base;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444208" y="4687094"/>
            <a:ext cx="822661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l">
              <a:lnSpc>
                <a:spcPct val="9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//</a:t>
            </a:r>
            <a:r>
              <a:rPr lang="zh-CN" altLang="en-US" sz="1800" dirty="0">
                <a:solidFill>
                  <a:srgbClr val="FF0000"/>
                </a:solidFill>
              </a:rPr>
              <a:t>错误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96136" y="5409803"/>
            <a:ext cx="822661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l">
              <a:lnSpc>
                <a:spcPct val="90000"/>
              </a:lnSpc>
            </a:pPr>
            <a:r>
              <a:rPr lang="en-US" altLang="zh-CN" sz="1800" dirty="0">
                <a:solidFill>
                  <a:srgbClr val="FF0000"/>
                </a:solidFill>
              </a:rPr>
              <a:t>//</a:t>
            </a:r>
            <a:r>
              <a:rPr lang="zh-CN" altLang="en-US" sz="1800" dirty="0">
                <a:solidFill>
                  <a:srgbClr val="FF0000"/>
                </a:solidFill>
              </a:rPr>
              <a:t>正确</a:t>
            </a:r>
            <a:endParaRPr lang="en-US" altLang="zh-CN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10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using</a:t>
            </a:r>
            <a:r>
              <a:rPr lang="zh-CN" altLang="en-US" dirty="0"/>
              <a:t>声明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14020" y="2276872"/>
            <a:ext cx="8529955" cy="374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class Widget: public 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StandardNewDeleteForms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{ 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public: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  using 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StandardNewDeleteForms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::operator new; 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  using 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StandardNewDeleteForms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::operator delete;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  static void* operator new(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size_t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 size, 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ostream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&amp; 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logStream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) throw(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std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: :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bad_alloc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);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  static void operator delete(void* 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pMemory,std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ostream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&amp; </a:t>
            </a:r>
            <a:r>
              <a:rPr lang="en-US" altLang="zh-CN" dirty="0" err="1">
                <a:solidFill>
                  <a:srgbClr val="0070C0"/>
                </a:solidFill>
                <a:latin typeface="Consolas" panose="020B0609020204030204" pitchFamily="49" charset="0"/>
              </a:rPr>
              <a:t>logStream</a:t>
            </a: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) throw();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  ...</a:t>
            </a:r>
          </a:p>
          <a:p>
            <a:pPr algn="l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0070C0"/>
                </a:solidFill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201646963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just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804030504040204" charset="0"/>
            <a:ea typeface="SimSun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just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804030504040204" charset="0"/>
            <a:ea typeface="SimSun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1127</TotalTime>
  <Words>4372</Words>
  <Application>Microsoft Macintosh PowerPoint</Application>
  <PresentationFormat>全屏显示(4:3)</PresentationFormat>
  <Paragraphs>990</Paragraphs>
  <Slides>65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5" baseType="lpstr">
      <vt:lpstr>黑体</vt:lpstr>
      <vt:lpstr>SimSun</vt:lpstr>
      <vt:lpstr>Arial</vt:lpstr>
      <vt:lpstr>Calibri</vt:lpstr>
      <vt:lpstr>Consolas</vt:lpstr>
      <vt:lpstr>Tahoma</vt:lpstr>
      <vt:lpstr>Times New Roman</vt:lpstr>
      <vt:lpstr>verdana</vt:lpstr>
      <vt:lpstr>Wingdings</vt:lpstr>
      <vt:lpstr>Blends</vt:lpstr>
      <vt:lpstr>特殊操作符重载</vt:lpstr>
      <vt:lpstr>特殊操作符重载</vt:lpstr>
      <vt:lpstr>特殊操作符重载</vt:lpstr>
      <vt:lpstr>特殊操作符重载</vt:lpstr>
      <vt:lpstr>特殊操作符重载</vt:lpstr>
      <vt:lpstr>特殊操作符重载</vt:lpstr>
      <vt:lpstr>PowerPoint 演示文稿</vt:lpstr>
      <vt:lpstr>特殊操作符重载</vt:lpstr>
      <vt:lpstr>PowerPoint 演示文稿</vt:lpstr>
      <vt:lpstr>PowerPoint 演示文稿</vt:lpstr>
      <vt:lpstr>Lambda函数</vt:lpstr>
      <vt:lpstr>Lambda函数</vt:lpstr>
      <vt:lpstr>Lambda捕获</vt:lpstr>
      <vt:lpstr>PowerPoint 演示文稿</vt:lpstr>
      <vt:lpstr>std::function</vt:lpstr>
      <vt:lpstr>多态</vt:lpstr>
      <vt:lpstr>特殊操作符重载</vt:lpstr>
      <vt:lpstr>特殊操作符重载</vt:lpstr>
      <vt:lpstr>特殊操作符重载</vt:lpstr>
      <vt:lpstr>Prevent memory Leak</vt:lpstr>
      <vt:lpstr>特殊操作符重载</vt:lpstr>
      <vt:lpstr>特殊操作符重载</vt:lpstr>
      <vt:lpstr>特殊操作符重载</vt:lpstr>
      <vt:lpstr>特殊操作符重载</vt:lpstr>
      <vt:lpstr>1 new/delete</vt:lpstr>
      <vt:lpstr>2 概念</vt:lpstr>
      <vt:lpstr>2.1 我们需要什么？</vt:lpstr>
      <vt:lpstr>PowerPoint 演示文稿</vt:lpstr>
      <vt:lpstr>2.1 我们需要什么？</vt:lpstr>
      <vt:lpstr>PowerPoint 演示文稿</vt:lpstr>
      <vt:lpstr>PowerPoint 演示文稿</vt:lpstr>
      <vt:lpstr>2.2 具体策略的选择</vt:lpstr>
      <vt:lpstr>PowerPoint 演示文稿</vt:lpstr>
      <vt:lpstr>2.2 具体策略的选择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内存池架构</vt:lpstr>
      <vt:lpstr>PowerPoint 演示文稿</vt:lpstr>
      <vt:lpstr>PowerPoint 演示文稿</vt:lpstr>
      <vt:lpstr>3 实现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思考</vt:lpstr>
      <vt:lpstr>内存池实现（模板）</vt:lpstr>
      <vt:lpstr>操作符重载的使用场景</vt:lpstr>
      <vt:lpstr>操作符重载的使用场景</vt:lpstr>
      <vt:lpstr>名掩盖</vt:lpstr>
      <vt:lpstr>名掩盖</vt:lpstr>
      <vt:lpstr>using声明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面向对象程序设计（part 3）</dc:title>
  <dc:creator>zt</dc:creator>
  <cp:lastModifiedBy>Admin</cp:lastModifiedBy>
  <cp:revision>354</cp:revision>
  <cp:lastPrinted>2019-12-17T01:29:23Z</cp:lastPrinted>
  <dcterms:created xsi:type="dcterms:W3CDTF">2019-12-17T01:29:23Z</dcterms:created>
  <dcterms:modified xsi:type="dcterms:W3CDTF">2025-11-09T13:03:54Z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1033-1.7.0.2743</vt:lpwstr>
  </property>
</Properties>
</file>