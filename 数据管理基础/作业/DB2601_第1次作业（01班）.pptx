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900" r:id="rId3"/>
    <p:sldId id="901" r:id="rId4"/>
  </p:sldIdLst>
  <p:sldSz cx="12192000" cy="6858000"/>
  <p:notesSz cx="6858000" cy="9144000"/>
  <p:embeddedFontLst>
    <p:embeddedFont>
      <p:font typeface="楷体" panose="02010609060101010101" charset="-122"/>
      <p:regular r:id="rId11"/>
    </p:embeddedFont>
    <p:embeddedFont>
      <p:font typeface="华文细黑" panose="02010600040101010101" charset="-122"/>
      <p:regular r:id="rId12"/>
    </p:embeddedFont>
    <p:embeddedFont>
      <p:font typeface="华文楷体" panose="02010600040101010101" charset="-122"/>
      <p:regular r:id="rId13"/>
    </p:embeddedFont>
    <p:embeddedFont>
      <p:font typeface="Calibri" panose="020F0502020204030204" charset="0"/>
      <p:regular r:id="rId14"/>
      <p:bold r:id="rId15"/>
      <p:italic r:id="rId16"/>
      <p:boldItalic r:id="rId17"/>
    </p:embeddedFont>
    <p:embeddedFont>
      <p:font typeface="微软雅黑" panose="020B0503020204020204" charset="-122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4.xml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DB2601-</a:t>
            </a:r>
            <a:r>
              <a:rPr lang="zh-CN" altLang="en-US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关系代数基本运算的应用（数据管理基础</a:t>
            </a:r>
            <a:r>
              <a:rPr lang="en-US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01</a:t>
            </a:r>
            <a:r>
              <a:rPr lang="zh-CN" altLang="en-US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班）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solidFill>
                  <a:srgbClr val="1F2DA8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作业提交：</a:t>
            </a:r>
            <a:endParaRPr lang="zh-CN" altLang="en-US" sz="2800" b="1">
              <a:solidFill>
                <a:srgbClr val="1F2DA8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pPr marL="812165" lvl="1" indent="-35433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solidFill>
                  <a:srgbClr val="FF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PDF</a:t>
            </a:r>
            <a:r>
              <a:rPr lang="zh-CN" altLang="en-US" sz="2800">
                <a:solidFill>
                  <a:srgbClr val="1F2DA8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文件</a:t>
            </a:r>
            <a:endParaRPr lang="en-US" altLang="zh-CN" sz="2800" b="1">
              <a:solidFill>
                <a:srgbClr val="1F2DA8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  <a:p>
            <a:pPr marL="812165" lvl="1" indent="-354330" algn="l">
              <a:lnSpc>
                <a:spcPct val="15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1F2DA8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提交到院本科教学支撑平台</a:t>
            </a:r>
            <a:r>
              <a:rPr lang="en-US" altLang="zh-CN" sz="2800">
                <a:solidFill>
                  <a:srgbClr val="1F2DA8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2" charset="0"/>
                <a:ea typeface="华文细黑" panose="02010600040101010101" charset="-122"/>
                <a:cs typeface="Times New Roman" panose="02020603050405020304" pitchFamily="2" charset="0"/>
                <a:sym typeface="+mn-ea"/>
              </a:rPr>
              <a:t>http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2" charset="0"/>
                <a:ea typeface="华文细黑" panose="02010600040101010101" charset="-122"/>
                <a:cs typeface="Times New Roman" panose="02020603050405020304" pitchFamily="2" charset="0"/>
                <a:sym typeface="+mn-ea"/>
              </a:rPr>
              <a:t>s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2" charset="0"/>
                <a:ea typeface="华文细黑" panose="02010600040101010101" charset="-122"/>
                <a:cs typeface="Times New Roman" panose="02020603050405020304" pitchFamily="2" charset="0"/>
                <a:sym typeface="+mn-ea"/>
              </a:rPr>
              <a:t>://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2" charset="0"/>
                <a:ea typeface="华文细黑" panose="02010600040101010101" charset="-122"/>
                <a:cs typeface="Times New Roman" panose="02020603050405020304" pitchFamily="2" charset="0"/>
                <a:sym typeface="+mn-ea"/>
              </a:rPr>
              <a:t>selearning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2" charset="0"/>
                <a:ea typeface="华文细黑" panose="02010600040101010101" charset="-122"/>
                <a:cs typeface="Times New Roman" panose="02020603050405020304" pitchFamily="2" charset="0"/>
                <a:sym typeface="+mn-ea"/>
              </a:rPr>
              <a:t>.nju.edu.cn</a:t>
            </a:r>
            <a:endParaRPr lang="zh-CN" altLang="en-US" sz="2800" b="1">
              <a:solidFill>
                <a:srgbClr val="1F2DA8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1F2DA8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提交截止时间：</a:t>
            </a:r>
            <a:r>
              <a:rPr lang="en-US" altLang="zh-CN" sz="2800">
                <a:solidFill>
                  <a:srgbClr val="FF0000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2026.03.27</a:t>
            </a:r>
            <a:endParaRPr lang="en-US" altLang="zh-CN" sz="2800">
              <a:solidFill>
                <a:srgbClr val="FF0000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关系代数基本运算的应用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1F2DA8"/>
                </a:solidFill>
                <a:cs typeface="Times New Roman" panose="02020603050405020304" pitchFamily="2" charset="0"/>
                <a:sym typeface="+mn-ea"/>
              </a:rPr>
              <a:t>设有一个公司产品零售数据库，其关系模式如下</a:t>
            </a:r>
            <a:r>
              <a:rPr lang="en-US" altLang="zh-CN" sz="2000">
                <a:solidFill>
                  <a:srgbClr val="1F2DA8"/>
                </a:solidFill>
                <a:cs typeface="楷体" panose="02010609060101010101" charset="-122"/>
                <a:sym typeface="+mn-ea"/>
              </a:rPr>
              <a:t>(</a:t>
            </a:r>
            <a:r>
              <a:rPr lang="zh-CN" altLang="en-US" sz="2000">
                <a:solidFill>
                  <a:srgbClr val="1F2DA8"/>
                </a:solidFill>
                <a:cs typeface="楷体" panose="02010609060101010101" charset="-122"/>
                <a:sym typeface="+mn-ea"/>
              </a:rPr>
              <a:t>带下划线的属性是各个关系的码</a:t>
            </a:r>
            <a:r>
              <a:rPr lang="zh-CN" altLang="en-US" sz="2000">
                <a:solidFill>
                  <a:srgbClr val="1F2DA8"/>
                </a:solidFill>
                <a:cs typeface="Times New Roman" panose="02020603050405020304" pitchFamily="2" charset="0"/>
                <a:sym typeface="+mn-ea"/>
              </a:rPr>
              <a:t>)</a:t>
            </a: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CN" altLang="en-US" sz="2000" dirty="0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2000" u="dbl">
                <a:solidFill>
                  <a:srgbClr val="1F2DA8"/>
                </a:solidFill>
                <a:uFillTx/>
                <a:latin typeface="华文楷体" panose="02010600040101010101" charset="-122"/>
                <a:ea typeface="华文楷体" panose="02010600040101010101" charset="-122"/>
                <a:sym typeface="+mn-ea"/>
              </a:rPr>
              <a:t>仅允许使用关系代数的基本运算</a:t>
            </a:r>
            <a:r>
              <a:rPr lang="zh-CN" altLang="en-US" sz="2000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，请写出下述查询对应的关系代数</a:t>
            </a:r>
            <a:r>
              <a:rPr lang="zh-CN" altLang="en-US" sz="2000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表达式。</a:t>
            </a:r>
            <a:endParaRPr lang="zh-CN" altLang="en-US" sz="2000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4180" y="3737610"/>
            <a:ext cx="11343005" cy="2656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查询满足下述条件的商品的编号和名称：仓库位于苏州市且库存数量低于</a:t>
            </a:r>
            <a:r>
              <a:rPr lang="en-US" altLang="zh-CN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1000</a:t>
            </a: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；</a:t>
            </a:r>
            <a:endParaRPr lang="zh-CN" altLang="en-US" sz="2000" b="1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查询满足下述条件的订单的编号和销售金额：上海市的顾客通过位于苏州市的供应商购买商品；</a:t>
            </a:r>
            <a:endParaRPr lang="zh-CN" altLang="en-US" sz="2000" b="1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查询没有购买过商品的顾客的编号和姓名；</a:t>
            </a:r>
            <a:endParaRPr lang="zh-CN" altLang="en-US" sz="2000" b="1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查询满足下述条件的顾客和供应商：他们位于同一座城市中但相互之间不存在销售订单，结果返回顾客的编号、供应商的编号、他们所在城市的名称；</a:t>
            </a:r>
            <a:endParaRPr lang="zh-CN" altLang="en-US" sz="2000" b="1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对于每一座城市，在位于该城市的所有供应商中，查询佣金比例最高的供应商，结果返回城市名称、该城市中佣金比例最高的供应商的编号。（不需要考虑，没有供应商的城市）</a:t>
            </a:r>
            <a:endParaRPr lang="zh-CN" altLang="en-US" sz="2000" b="1">
              <a:solidFill>
                <a:srgbClr val="1F2DA8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96290" y="1111885"/>
          <a:ext cx="11090275" cy="2063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990"/>
                <a:gridCol w="5031105"/>
                <a:gridCol w="5123180"/>
              </a:tblGrid>
              <a:tr h="303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关系名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属性集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关系模式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84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顾客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顾客编号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姓名, 居住城市, 折扣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 C (</a:t>
                      </a: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cid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cname, city, discnt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)</a:t>
                      </a:r>
                      <a:endParaRPr lang="en-US" altLang="zh-CN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4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供应商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供应商编号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名称, 所在城市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佣金比例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 A (</a:t>
                      </a: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aid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aname, city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percent)</a:t>
                      </a:r>
                      <a:endParaRPr lang="en-US" altLang="zh-CN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35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商品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商品编号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名称, 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仓库所在城市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库存数量, 单价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 P (</a:t>
                      </a: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pid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pname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city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quantity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price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)</a:t>
                      </a:r>
                      <a:endParaRPr lang="en-US" altLang="zh-CN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07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订单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1206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ea"/>
                      </a:pP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订单编号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订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单日期, 顾客编号, 供应商编号, 商品编号, 订购数量, 销售金额</a:t>
                      </a:r>
                      <a:endParaRPr lang="zh-CN" altLang="en-US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1206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ea"/>
                      </a:pP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 O (</a:t>
                      </a:r>
                      <a:r>
                        <a:rPr lang="zh-CN" altLang="en-US" sz="18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ordno</a:t>
                      </a:r>
                      <a:r>
                        <a:rPr lang="zh-CN" altLang="en-US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orddate, cid, aid, pid, qty, dols</a:t>
                      </a:r>
                      <a:r>
                        <a:rPr lang="en-US" altLang="zh-CN" sz="18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)</a:t>
                      </a:r>
                      <a:endParaRPr lang="en-US" altLang="zh-CN" sz="18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4c0002b7-13ac-438f-89e5-d3880e3193ac}"/>
  <p:tag name="TABLE_ENDDRAG_ORIGIN_RECT" val="873*162"/>
  <p:tag name="TABLE_ENDDRAG_RECT" val="62*87*873*162"/>
</p:tagLst>
</file>

<file path=ppt/tags/tag4.xml><?xml version="1.0" encoding="utf-8"?>
<p:tagLst xmlns:p="http://schemas.openxmlformats.org/presentationml/2006/main">
  <p:tag name="commondata" val="eyJoZGlkIjoiNTI5YzE2YjhjOTAyMGY4ZmQ1YzBlZjA5NzU0NTU1NmQifQ=="/>
  <p:tag name="resource_record_key" val="{&quot;70&quot;:[33145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WPS 演示</Application>
  <PresentationFormat>宽屏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楷体</vt:lpstr>
      <vt:lpstr>Wingdings</vt:lpstr>
      <vt:lpstr>华文细黑</vt:lpstr>
      <vt:lpstr>Times New Roman</vt:lpstr>
      <vt:lpstr>华文楷体</vt:lpstr>
      <vt:lpstr>Calibri</vt:lpstr>
      <vt:lpstr>微软雅黑</vt:lpstr>
      <vt:lpstr>Arial Unicode MS</vt:lpstr>
      <vt:lpstr>WPS</vt:lpstr>
      <vt:lpstr>DB2601-关系代数基本运算的应用（数据管理基础01班）</vt:lpstr>
      <vt:lpstr>关系代数基本运算的应用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百老汇</cp:lastModifiedBy>
  <cp:revision>198</cp:revision>
  <dcterms:created xsi:type="dcterms:W3CDTF">2023-08-09T12:44:00Z</dcterms:created>
  <dcterms:modified xsi:type="dcterms:W3CDTF">2026-03-20T14:09:21Z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6E017301A0E142C5B8BEE7454666F2AB_13</vt:lpwstr>
  </property>
  <property fmtid="{D5CDD505-2E9C-101B-9397-08002B2CF9AE}" pid="3" name="KSOProductBuildVer">
    <vt:lpwstr>2052-12.1.0.25225</vt:lpwstr>
  </property>
</Properties>
</file>